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slides/charts/chart1.xml" ContentType="application/vnd.openxmlformats-officedocument.drawingml.chart+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slides/charts/chart2.xml" ContentType="application/vnd.openxmlformats-officedocument.drawingml.chart+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Override PartName="/ppt/slides/slide103.xml" ContentType="application/vnd.openxmlformats-officedocument.presentationml.slide+xml"/>
  <Override PartName="/ppt/notesSlides/notesSlide103.xml" ContentType="application/vnd.openxmlformats-officedocument.presentationml.notesSlide+xml"/>
  <Override PartName="/ppt/slides/slide104.xml" ContentType="application/vnd.openxmlformats-officedocument.presentationml.slide+xml"/>
  <Override PartName="/ppt/notesSlides/notesSlide104.xml" ContentType="application/vnd.openxmlformats-officedocument.presentationml.notesSlide+xml"/>
  <Override PartName="/ppt/slides/slide105.xml" ContentType="application/vnd.openxmlformats-officedocument.presentationml.slide+xml"/>
  <Override PartName="/ppt/notesSlides/notesSlide105.xml" ContentType="application/vnd.openxmlformats-officedocument.presentationml.notesSlide+xml"/>
  <Override PartName="/ppt/slides/slide106.xml" ContentType="application/vnd.openxmlformats-officedocument.presentationml.slide+xml"/>
  <Override PartName="/ppt/notesSlides/notesSlide106.xml" ContentType="application/vnd.openxmlformats-officedocument.presentationml.notesSlide+xml"/>
  <Override PartName="/ppt/slides/slide107.xml" ContentType="application/vnd.openxmlformats-officedocument.presentationml.slide+xml"/>
  <Override PartName="/ppt/notesSlides/notesSlide107.xml" ContentType="application/vnd.openxmlformats-officedocument.presentationml.notesSlide+xml"/>
  <Override PartName="/ppt/slides/slide108.xml" ContentType="application/vnd.openxmlformats-officedocument.presentationml.slide+xml"/>
  <Override PartName="/ppt/notesSlides/notesSlide108.xml" ContentType="application/vnd.openxmlformats-officedocument.presentationml.notesSlide+xml"/>
  <Override PartName="/ppt/slides/slide109.xml" ContentType="application/vnd.openxmlformats-officedocument.presentationml.slide+xml"/>
  <Override PartName="/ppt/notesSlides/notesSlide109.xml" ContentType="application/vnd.openxmlformats-officedocument.presentationml.notesSlide+xml"/>
  <Override PartName="/ppt/slides/slide110.xml" ContentType="application/vnd.openxmlformats-officedocument.presentationml.slide+xml"/>
  <Override PartName="/ppt/notesSlides/notesSlide110.xml" ContentType="application/vnd.openxmlformats-officedocument.presentationml.notesSlide+xml"/>
  <Override PartName="/ppt/slides/slide111.xml" ContentType="application/vnd.openxmlformats-officedocument.presentationml.slide+xml"/>
  <Override PartName="/ppt/notesSlides/notesSlide111.xml" ContentType="application/vnd.openxmlformats-officedocument.presentationml.notesSlide+xml"/>
  <Override PartName="/ppt/slides/slide112.xml" ContentType="application/vnd.openxmlformats-officedocument.presentationml.slide+xml"/>
  <Override PartName="/ppt/notesSlides/notesSlide112.xml" ContentType="application/vnd.openxmlformats-officedocument.presentationml.notesSlide+xml"/>
  <Override PartName="/ppt/slides/slide113.xml" ContentType="application/vnd.openxmlformats-officedocument.presentationml.slide+xml"/>
  <Override PartName="/ppt/notesSlides/notesSlide113.xml" ContentType="application/vnd.openxmlformats-officedocument.presentationml.notesSlide+xml"/>
  <Override PartName="/ppt/slides/slide114.xml" ContentType="application/vnd.openxmlformats-officedocument.presentationml.slide+xml"/>
  <Override PartName="/ppt/notesSlides/notesSlide114.xml" ContentType="application/vnd.openxmlformats-officedocument.presentationml.notesSlide+xml"/>
  <Override PartName="/ppt/slides/slide115.xml" ContentType="application/vnd.openxmlformats-officedocument.presentationml.slide+xml"/>
  <Override PartName="/ppt/notesSlides/notesSlide115.xml" ContentType="application/vnd.openxmlformats-officedocument.presentationml.notesSlide+xml"/>
  <Override PartName="/ppt/slides/slide116.xml" ContentType="application/vnd.openxmlformats-officedocument.presentationml.slide+xml"/>
  <Override PartName="/ppt/notesSlides/notesSlide116.xml" ContentType="application/vnd.openxmlformats-officedocument.presentationml.notesSlide+xml"/>
  <Override PartName="/ppt/slides/slide117.xml" ContentType="application/vnd.openxmlformats-officedocument.presentationml.slide+xml"/>
  <Override PartName="/ppt/notesSlides/notesSlide117.xml" ContentType="application/vnd.openxmlformats-officedocument.presentationml.notesSlide+xml"/>
  <Override PartName="/ppt/slides/slide118.xml" ContentType="application/vnd.openxmlformats-officedocument.presentationml.slide+xml"/>
  <Override PartName="/ppt/notesSlides/notesSlide118.xml" ContentType="application/vnd.openxmlformats-officedocument.presentationml.notesSlide+xml"/>
  <Override PartName="/ppt/slides/slide119.xml" ContentType="application/vnd.openxmlformats-officedocument.presentationml.slide+xml"/>
  <Override PartName="/ppt/notesSlides/notesSlide119.xml" ContentType="application/vnd.openxmlformats-officedocument.presentationml.notesSlide+xml"/>
  <Default Extension="xlsx" ContentType="application/vnd.openxmlformats-officedocument.spreadsheetml.sheet"/>
  <Override PartName="/ppt/slides/slide4.xml" ContentType="application/vnd.openxmlformats-officedocument.presentationml.slide+xml"/>
  <Override PartName="/ppt/notesSlides/notesSlide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15d49f2c30b4e09" /><Relationship Type="http://schemas.openxmlformats.org/officeDocument/2006/relationships/extended-properties" Target="/docProps/app.xml" Id="Rb82cb24fc11f4243" /><Relationship Type="http://schemas.openxmlformats.org/officeDocument/2006/relationships/officeDocument" Target="/ppt/presentation.xml" Id="R949e3de64f0642b9" /></Relationships>
</file>

<file path=ppt/presentation.xml><?xml version="1.0" encoding="utf-8"?>
<p:presentation xmlns:p="http://schemas.openxmlformats.org/presentationml/2006/main">
  <p:sldMasterIdLst>
    <p:sldMasterId xmlns:r="http://schemas.openxmlformats.org/officeDocument/2006/relationships" id="2147483648" r:id="R43dc40031c3f450b"/>
  </p:sldMasterIdLst>
  <p:notesMasterIdLst>
    <p:notesMasterId xmlns:r="http://schemas.openxmlformats.org/officeDocument/2006/relationships" r:id="Ra209d5c2d37c4bc9"/>
  </p:notesMasterIdLst>
  <p:sldIdLst>
    <p:sldId xmlns:r="http://schemas.openxmlformats.org/officeDocument/2006/relationships" id="256" r:id="Rabc8e0faa9e5468a"/>
    <p:sldId xmlns:r="http://schemas.openxmlformats.org/officeDocument/2006/relationships" id="257" r:id="R0a6b400874dc46d0"/>
    <p:sldId xmlns:r="http://schemas.openxmlformats.org/officeDocument/2006/relationships" id="258" r:id="Ra020ca8ebff943c2"/>
    <p:sldId xmlns:r="http://schemas.openxmlformats.org/officeDocument/2006/relationships" id="372" r:id="CopilotTipAfterS03"/>
    <p:sldId xmlns:r="http://schemas.openxmlformats.org/officeDocument/2006/relationships" id="259" r:id="R2b70b9e7f7564224"/>
    <p:sldId xmlns:r="http://schemas.openxmlformats.org/officeDocument/2006/relationships" id="260" r:id="R4f62bbc28baa4b0f"/>
    <p:sldId xmlns:r="http://schemas.openxmlformats.org/officeDocument/2006/relationships" id="261" r:id="R0bd47db5d1c449a8"/>
    <p:sldId xmlns:r="http://schemas.openxmlformats.org/officeDocument/2006/relationships" id="262" r:id="R594442b3f70c4eb3"/>
    <p:sldId xmlns:r="http://schemas.openxmlformats.org/officeDocument/2006/relationships" id="263" r:id="R33418476e50240b5"/>
    <p:sldId xmlns:r="http://schemas.openxmlformats.org/officeDocument/2006/relationships" id="264" r:id="Rc9fa507f76384306"/>
    <p:sldId xmlns:r="http://schemas.openxmlformats.org/officeDocument/2006/relationships" id="265" r:id="R451609b230e443f3"/>
    <p:sldId xmlns:r="http://schemas.openxmlformats.org/officeDocument/2006/relationships" id="266" r:id="R091666bb9a474e79"/>
    <p:sldId xmlns:r="http://schemas.openxmlformats.org/officeDocument/2006/relationships" id="267" r:id="R77b28adbc61a481d"/>
    <p:sldId xmlns:r="http://schemas.openxmlformats.org/officeDocument/2006/relationships" id="268" r:id="R0133ade8173343c3"/>
    <p:sldId xmlns:r="http://schemas.openxmlformats.org/officeDocument/2006/relationships" id="270" r:id="R2324ea7a59984abf"/>
    <p:sldId xmlns:r="http://schemas.openxmlformats.org/officeDocument/2006/relationships" id="271" r:id="Rf88a5bd1ecff4210"/>
    <p:sldId xmlns:r="http://schemas.openxmlformats.org/officeDocument/2006/relationships" id="272" r:id="R1421b08bfab84d0b"/>
    <p:sldId xmlns:r="http://schemas.openxmlformats.org/officeDocument/2006/relationships" id="273" r:id="Red86b0ab0212481f"/>
    <p:sldId xmlns:r="http://schemas.openxmlformats.org/officeDocument/2006/relationships" id="274" r:id="R41b4a79e1bc846f7"/>
    <p:sldId xmlns:r="http://schemas.openxmlformats.org/officeDocument/2006/relationships" id="275" r:id="R3dbb0943ab734dff"/>
    <p:sldId xmlns:r="http://schemas.openxmlformats.org/officeDocument/2006/relationships" id="276" r:id="R96043fbd1ea34e90"/>
    <p:sldId xmlns:r="http://schemas.openxmlformats.org/officeDocument/2006/relationships" id="277" r:id="Rb8c818146ddd40f3"/>
    <p:sldId xmlns:r="http://schemas.openxmlformats.org/officeDocument/2006/relationships" id="278" r:id="R267ceaad1ce848fb"/>
    <p:sldId xmlns:r="http://schemas.openxmlformats.org/officeDocument/2006/relationships" id="279" r:id="R3f5116ae7ea24a19"/>
    <p:sldId xmlns:r="http://schemas.openxmlformats.org/officeDocument/2006/relationships" id="280" r:id="Rd68979a1358147e4"/>
    <p:sldId xmlns:r="http://schemas.openxmlformats.org/officeDocument/2006/relationships" id="281" r:id="Rb19074434f8346ca"/>
    <p:sldId xmlns:r="http://schemas.openxmlformats.org/officeDocument/2006/relationships" id="282" r:id="R7431d4144bfb45e0"/>
    <p:sldId xmlns:r="http://schemas.openxmlformats.org/officeDocument/2006/relationships" id="283" r:id="R5fd00b26e77d4d8a"/>
    <p:sldId xmlns:r="http://schemas.openxmlformats.org/officeDocument/2006/relationships" id="284" r:id="R85f246664a6b4475"/>
    <p:sldId xmlns:r="http://schemas.openxmlformats.org/officeDocument/2006/relationships" id="285" r:id="R02259bf88f1f434a"/>
    <p:sldId xmlns:r="http://schemas.openxmlformats.org/officeDocument/2006/relationships" id="286" r:id="R008ac74c83d248ae"/>
    <p:sldId xmlns:r="http://schemas.openxmlformats.org/officeDocument/2006/relationships" id="287" r:id="R4c6458d3ca354107"/>
    <p:sldId xmlns:r="http://schemas.openxmlformats.org/officeDocument/2006/relationships" id="288" r:id="R5687a354316a49c5"/>
    <p:sldId xmlns:r="http://schemas.openxmlformats.org/officeDocument/2006/relationships" id="289" r:id="Rd0a7c9b7d513408f"/>
    <p:sldId xmlns:r="http://schemas.openxmlformats.org/officeDocument/2006/relationships" id="290" r:id="R06b70f05dae648da"/>
    <p:sldId xmlns:r="http://schemas.openxmlformats.org/officeDocument/2006/relationships" id="291" r:id="Rabf37e1304b44b86"/>
    <p:sldId xmlns:r="http://schemas.openxmlformats.org/officeDocument/2006/relationships" id="292" r:id="Ra1f62a646d394675"/>
    <p:sldId xmlns:r="http://schemas.openxmlformats.org/officeDocument/2006/relationships" id="293" r:id="R872650c42533492c"/>
    <p:sldId xmlns:r="http://schemas.openxmlformats.org/officeDocument/2006/relationships" id="294" r:id="Rf6fdc925b4ff45ad"/>
    <p:sldId xmlns:r="http://schemas.openxmlformats.org/officeDocument/2006/relationships" id="295" r:id="R9da1e5fdd36d426e"/>
    <p:sldId xmlns:r="http://schemas.openxmlformats.org/officeDocument/2006/relationships" id="296" r:id="Re8343b9254ab455d"/>
    <p:sldId xmlns:r="http://schemas.openxmlformats.org/officeDocument/2006/relationships" id="297" r:id="Rebe61671e2cb4992"/>
    <p:sldId xmlns:r="http://schemas.openxmlformats.org/officeDocument/2006/relationships" id="298" r:id="R66e6b1bf27944450"/>
    <p:sldId xmlns:r="http://schemas.openxmlformats.org/officeDocument/2006/relationships" id="299" r:id="R21190c309c1a42b7"/>
    <p:sldId xmlns:r="http://schemas.openxmlformats.org/officeDocument/2006/relationships" id="300" r:id="R024ebead023b47f0"/>
    <p:sldId xmlns:r="http://schemas.openxmlformats.org/officeDocument/2006/relationships" id="301" r:id="Rb349d4f97bb340d5"/>
    <p:sldId xmlns:r="http://schemas.openxmlformats.org/officeDocument/2006/relationships" id="302" r:id="Rd3ee7d1b086e47c2"/>
    <p:sldId xmlns:r="http://schemas.openxmlformats.org/officeDocument/2006/relationships" id="303" r:id="R535a7442298f4e3e"/>
    <p:sldId xmlns:r="http://schemas.openxmlformats.org/officeDocument/2006/relationships" id="304" r:id="Ra282229850754500"/>
    <p:sldId xmlns:r="http://schemas.openxmlformats.org/officeDocument/2006/relationships" id="305" r:id="Re64547d29423440b"/>
    <p:sldId xmlns:r="http://schemas.openxmlformats.org/officeDocument/2006/relationships" id="306" r:id="Rccc98b2c3a0547af"/>
    <p:sldId xmlns:r="http://schemas.openxmlformats.org/officeDocument/2006/relationships" id="307" r:id="R154038c08e0749a2"/>
    <p:sldId xmlns:r="http://schemas.openxmlformats.org/officeDocument/2006/relationships" id="308" r:id="Rd03e5053aad04699"/>
    <p:sldId xmlns:r="http://schemas.openxmlformats.org/officeDocument/2006/relationships" id="309" r:id="Ra6755f3e811642d2"/>
    <p:sldId xmlns:r="http://schemas.openxmlformats.org/officeDocument/2006/relationships" id="373" r:id="AgentsScopeTip1"/>
    <p:sldId xmlns:r="http://schemas.openxmlformats.org/officeDocument/2006/relationships" id="374" r:id="AgentsScopeTip2"/>
    <p:sldId xmlns:r="http://schemas.openxmlformats.org/officeDocument/2006/relationships" id="375" r:id="AgentsScopeTip3"/>
    <p:sldId xmlns:r="http://schemas.openxmlformats.org/officeDocument/2006/relationships" id="310" r:id="R72ff6461cb0746fc"/>
    <p:sldId xmlns:r="http://schemas.openxmlformats.org/officeDocument/2006/relationships" id="311" r:id="R87f28cc747584435"/>
    <p:sldId xmlns:r="http://schemas.openxmlformats.org/officeDocument/2006/relationships" id="312" r:id="R0e388af578a5444a"/>
    <p:sldId xmlns:r="http://schemas.openxmlformats.org/officeDocument/2006/relationships" id="313" r:id="R4e80fc39125a409a"/>
    <p:sldId xmlns:r="http://schemas.openxmlformats.org/officeDocument/2006/relationships" id="314" r:id="Rb7fc36f3748e4e7e"/>
    <p:sldId xmlns:r="http://schemas.openxmlformats.org/officeDocument/2006/relationships" id="315" r:id="Rb594a747736746eb"/>
    <p:sldId xmlns:r="http://schemas.openxmlformats.org/officeDocument/2006/relationships" id="316" r:id="Rf904dae589414f4f"/>
    <p:sldId xmlns:r="http://schemas.openxmlformats.org/officeDocument/2006/relationships" id="317" r:id="R895eb660f69e4832"/>
    <p:sldId xmlns:r="http://schemas.openxmlformats.org/officeDocument/2006/relationships" id="318" r:id="R367ed24082b94b6a"/>
    <p:sldId xmlns:r="http://schemas.openxmlformats.org/officeDocument/2006/relationships" id="319" r:id="R78b603dd886a4965"/>
    <p:sldId xmlns:r="http://schemas.openxmlformats.org/officeDocument/2006/relationships" id="320" r:id="R7ded63a3ac80466c"/>
    <p:sldId xmlns:r="http://schemas.openxmlformats.org/officeDocument/2006/relationships" id="321" r:id="Ra7181b8897284bc1"/>
    <p:sldId xmlns:r="http://schemas.openxmlformats.org/officeDocument/2006/relationships" id="322" r:id="R0fd1a67510f34c5f"/>
    <p:sldId xmlns:r="http://schemas.openxmlformats.org/officeDocument/2006/relationships" id="323" r:id="R9f16bb685f974f5e"/>
    <p:sldId xmlns:r="http://schemas.openxmlformats.org/officeDocument/2006/relationships" id="324" r:id="R5eeb4ae768104820"/>
    <p:sldId xmlns:r="http://schemas.openxmlformats.org/officeDocument/2006/relationships" id="325" r:id="Ref8225c5602949ad"/>
    <p:sldId xmlns:r="http://schemas.openxmlformats.org/officeDocument/2006/relationships" id="326" r:id="R7597ca53a04c459b"/>
    <p:sldId xmlns:r="http://schemas.openxmlformats.org/officeDocument/2006/relationships" id="327" r:id="Rc773ae6f18264ef1"/>
    <p:sldId xmlns:r="http://schemas.openxmlformats.org/officeDocument/2006/relationships" id="328" r:id="R7b53866a56f3425e"/>
    <p:sldId xmlns:r="http://schemas.openxmlformats.org/officeDocument/2006/relationships" id="329" r:id="R2153275503b2476a"/>
    <p:sldId xmlns:r="http://schemas.openxmlformats.org/officeDocument/2006/relationships" id="330" r:id="R608ce4adbdcf4ccb"/>
    <p:sldId xmlns:r="http://schemas.openxmlformats.org/officeDocument/2006/relationships" id="331" r:id="R4678d8fca4c642b9"/>
    <p:sldId xmlns:r="http://schemas.openxmlformats.org/officeDocument/2006/relationships" id="332" r:id="Re835f6281a3e439f"/>
    <p:sldId xmlns:r="http://schemas.openxmlformats.org/officeDocument/2006/relationships" id="333" r:id="Rcacc6d5c4ad749f0"/>
    <p:sldId xmlns:r="http://schemas.openxmlformats.org/officeDocument/2006/relationships" id="334" r:id="R016396d127394e1a"/>
    <p:sldId xmlns:r="http://schemas.openxmlformats.org/officeDocument/2006/relationships" id="335" r:id="R5f303c360e3a43f7"/>
    <p:sldId xmlns:r="http://schemas.openxmlformats.org/officeDocument/2006/relationships" id="336" r:id="R70a347417a0e4436"/>
    <p:sldId xmlns:r="http://schemas.openxmlformats.org/officeDocument/2006/relationships" id="337" r:id="R427f8faf69084bf2"/>
    <p:sldId xmlns:r="http://schemas.openxmlformats.org/officeDocument/2006/relationships" id="338" r:id="R7b1929d697764fed"/>
    <p:sldId xmlns:r="http://schemas.openxmlformats.org/officeDocument/2006/relationships" id="339" r:id="R7b8f7c435d8b461f"/>
    <p:sldId xmlns:r="http://schemas.openxmlformats.org/officeDocument/2006/relationships" id="340" r:id="R507d9a6a7b414991"/>
    <p:sldId xmlns:r="http://schemas.openxmlformats.org/officeDocument/2006/relationships" id="341" r:id="Rae9abd65533e4896"/>
    <p:sldId xmlns:r="http://schemas.openxmlformats.org/officeDocument/2006/relationships" id="342" r:id="R972055e3d0974d3d"/>
    <p:sldId xmlns:r="http://schemas.openxmlformats.org/officeDocument/2006/relationships" id="343" r:id="Rfab2baeaf6c2489e"/>
    <p:sldId xmlns:r="http://schemas.openxmlformats.org/officeDocument/2006/relationships" id="344" r:id="R1a08854b15af4bcd"/>
    <p:sldId xmlns:r="http://schemas.openxmlformats.org/officeDocument/2006/relationships" id="345" r:id="R78079090e17c4a8c"/>
    <p:sldId xmlns:r="http://schemas.openxmlformats.org/officeDocument/2006/relationships" id="346" r:id="R5b1111aade374262"/>
    <p:sldId xmlns:r="http://schemas.openxmlformats.org/officeDocument/2006/relationships" id="347" r:id="Rf817ae0da26b49b8"/>
    <p:sldId xmlns:r="http://schemas.openxmlformats.org/officeDocument/2006/relationships" id="348" r:id="R5cc79f0d8ad94df8"/>
    <p:sldId xmlns:r="http://schemas.openxmlformats.org/officeDocument/2006/relationships" id="349" r:id="R7e79aaa9bff346fa"/>
    <p:sldId xmlns:r="http://schemas.openxmlformats.org/officeDocument/2006/relationships" id="350" r:id="R0063c448f38e4336"/>
    <p:sldId xmlns:r="http://schemas.openxmlformats.org/officeDocument/2006/relationships" id="351" r:id="Rb0627c4a99df4d4f"/>
    <p:sldId xmlns:r="http://schemas.openxmlformats.org/officeDocument/2006/relationships" id="352" r:id="Ra10a0e13a2184135"/>
    <p:sldId xmlns:r="http://schemas.openxmlformats.org/officeDocument/2006/relationships" id="353" r:id="R9b60d9b4a2e44dd3"/>
    <p:sldId xmlns:r="http://schemas.openxmlformats.org/officeDocument/2006/relationships" id="354" r:id="Rc17d36dd79264453"/>
    <p:sldId xmlns:r="http://schemas.openxmlformats.org/officeDocument/2006/relationships" id="355" r:id="R603e33c25b484f54"/>
    <p:sldId xmlns:r="http://schemas.openxmlformats.org/officeDocument/2006/relationships" id="356" r:id="R6fd503a3177f4d06"/>
    <p:sldId xmlns:r="http://schemas.openxmlformats.org/officeDocument/2006/relationships" id="357" r:id="Rd07a9a0a0d094a1f"/>
    <p:sldId xmlns:r="http://schemas.openxmlformats.org/officeDocument/2006/relationships" id="358" r:id="R718f7d508df64340"/>
    <p:sldId xmlns:r="http://schemas.openxmlformats.org/officeDocument/2006/relationships" id="359" r:id="Rb2144a6581f3498a"/>
    <p:sldId xmlns:r="http://schemas.openxmlformats.org/officeDocument/2006/relationships" id="360" r:id="R7e193bf32174419f"/>
    <p:sldId xmlns:r="http://schemas.openxmlformats.org/officeDocument/2006/relationships" id="361" r:id="R3b2b3b2837f345d7"/>
    <p:sldId xmlns:r="http://schemas.openxmlformats.org/officeDocument/2006/relationships" id="362" r:id="Rc8d64c078fdb4e93"/>
    <p:sldId xmlns:r="http://schemas.openxmlformats.org/officeDocument/2006/relationships" id="363" r:id="R14761046fa0449ad"/>
    <p:sldId xmlns:r="http://schemas.openxmlformats.org/officeDocument/2006/relationships" id="364" r:id="R308e5dcf86374f7a"/>
    <p:sldId xmlns:r="http://schemas.openxmlformats.org/officeDocument/2006/relationships" id="365" r:id="Rb70d6e328be74d60"/>
    <p:sldId xmlns:r="http://schemas.openxmlformats.org/officeDocument/2006/relationships" id="366" r:id="Re9f94e65c1024047"/>
    <p:sldId xmlns:r="http://schemas.openxmlformats.org/officeDocument/2006/relationships" id="367" r:id="R44280ecc75ac417f"/>
    <p:sldId xmlns:r="http://schemas.openxmlformats.org/officeDocument/2006/relationships" id="368" r:id="R350e5087273b43f8"/>
    <p:sldId xmlns:r="http://schemas.openxmlformats.org/officeDocument/2006/relationships" id="369" r:id="R99aa14256c364cca"/>
    <p:sldId xmlns:r="http://schemas.openxmlformats.org/officeDocument/2006/relationships" id="370" r:id="Re7befaa2280e40d8"/>
    <p:sldId xmlns:r="http://schemas.openxmlformats.org/officeDocument/2006/relationships" id="371" r:id="Rb72241cc12ab4b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Relationships xmlns="http://schemas.openxmlformats.org/package/2006/relationships"><Relationship Type="http://schemas.openxmlformats.org/officeDocument/2006/relationships/theme" Target="/ppt/theme/theme1.xml" Id="R78a456e39daa422f"/><Relationship Type="http://schemas.openxmlformats.org/officeDocument/2006/relationships/slideMaster" Target="/ppt/slideMasters/slideMaster1.xml" Id="R43dc40031c3f450b"/><Relationship Type="http://schemas.openxmlformats.org/officeDocument/2006/relationships/notesMaster" Target="/ppt/notesMasters/notesMaster1.xml" Id="Ra209d5c2d37c4bc9"/><Relationship Type="http://schemas.openxmlformats.org/officeDocument/2006/relationships/presProps" Target="/ppt/presProps.xml" Id="R4dd8196833fa469a"/><Relationship Type="http://schemas.openxmlformats.org/officeDocument/2006/relationships/tableStyles" Target="/ppt/tableStyles.xml" Id="R4fe68b819c594b6b"/><Relationship Type="http://schemas.openxmlformats.org/officeDocument/2006/relationships/slide" Target="/ppt/slides/slide1.xml" Id="Rabc8e0faa9e5468a"/><Relationship Type="http://schemas.openxmlformats.org/officeDocument/2006/relationships/slide" Target="/ppt/slides/slide2.xml" Id="R0a6b400874dc46d0"/><Relationship Type="http://schemas.openxmlformats.org/officeDocument/2006/relationships/slide" Target="/ppt/slides/slide3.xml" Id="Ra020ca8ebff943c2"/><Relationship Type="http://schemas.openxmlformats.org/officeDocument/2006/relationships/slide" Target="/ppt/slides/slide5.xml" Id="R2b70b9e7f7564224"/><Relationship Type="http://schemas.openxmlformats.org/officeDocument/2006/relationships/slide" Target="/ppt/slides/slide6.xml" Id="R4f62bbc28baa4b0f"/><Relationship Type="http://schemas.openxmlformats.org/officeDocument/2006/relationships/slide" Target="/ppt/slides/slide7.xml" Id="R0bd47db5d1c449a8"/><Relationship Type="http://schemas.openxmlformats.org/officeDocument/2006/relationships/slide" Target="/ppt/slides/slide8.xml" Id="R594442b3f70c4eb3"/><Relationship Type="http://schemas.openxmlformats.org/officeDocument/2006/relationships/slide" Target="/ppt/slides/slide9.xml" Id="R33418476e50240b5"/><Relationship Type="http://schemas.openxmlformats.org/officeDocument/2006/relationships/slide" Target="/ppt/slides/slide10.xml" Id="Rc9fa507f76384306"/><Relationship Type="http://schemas.openxmlformats.org/officeDocument/2006/relationships/slide" Target="/ppt/slides/slide11.xml" Id="R451609b230e443f3"/><Relationship Type="http://schemas.openxmlformats.org/officeDocument/2006/relationships/slide" Target="/ppt/slides/slide12.xml" Id="R091666bb9a474e79"/><Relationship Type="http://schemas.openxmlformats.org/officeDocument/2006/relationships/slide" Target="/ppt/slides/slide13.xml" Id="R77b28adbc61a481d"/><Relationship Type="http://schemas.openxmlformats.org/officeDocument/2006/relationships/slide" Target="/ppt/slides/slide14.xml" Id="R0133ade8173343c3"/><Relationship Type="http://schemas.openxmlformats.org/officeDocument/2006/relationships/slide" Target="/ppt/slides/slide15.xml" Id="R2324ea7a59984abf"/><Relationship Type="http://schemas.openxmlformats.org/officeDocument/2006/relationships/slide" Target="/ppt/slides/slide16.xml" Id="Rf88a5bd1ecff4210"/><Relationship Type="http://schemas.openxmlformats.org/officeDocument/2006/relationships/slide" Target="/ppt/slides/slide17.xml" Id="R1421b08bfab84d0b"/><Relationship Type="http://schemas.openxmlformats.org/officeDocument/2006/relationships/slide" Target="/ppt/slides/slide18.xml" Id="Red86b0ab0212481f"/><Relationship Type="http://schemas.openxmlformats.org/officeDocument/2006/relationships/slide" Target="/ppt/slides/slide19.xml" Id="R41b4a79e1bc846f7"/><Relationship Type="http://schemas.openxmlformats.org/officeDocument/2006/relationships/slide" Target="/ppt/slides/slide20.xml" Id="R3dbb0943ab734dff"/><Relationship Type="http://schemas.openxmlformats.org/officeDocument/2006/relationships/slide" Target="/ppt/slides/slide21.xml" Id="R96043fbd1ea34e90"/><Relationship Type="http://schemas.openxmlformats.org/officeDocument/2006/relationships/slide" Target="/ppt/slides/slide22.xml" Id="Rb8c818146ddd40f3"/><Relationship Type="http://schemas.openxmlformats.org/officeDocument/2006/relationships/slide" Target="/ppt/slides/slide23.xml" Id="R267ceaad1ce848fb"/><Relationship Type="http://schemas.openxmlformats.org/officeDocument/2006/relationships/slide" Target="/ppt/slides/slide24.xml" Id="R3f5116ae7ea24a19"/><Relationship Type="http://schemas.openxmlformats.org/officeDocument/2006/relationships/slide" Target="/ppt/slides/slide25.xml" Id="Rd68979a1358147e4"/><Relationship Type="http://schemas.openxmlformats.org/officeDocument/2006/relationships/slide" Target="/ppt/slides/slide26.xml" Id="Rb19074434f8346ca"/><Relationship Type="http://schemas.openxmlformats.org/officeDocument/2006/relationships/slide" Target="/ppt/slides/slide27.xml" Id="R7431d4144bfb45e0"/><Relationship Type="http://schemas.openxmlformats.org/officeDocument/2006/relationships/slide" Target="/ppt/slides/slide28.xml" Id="R5fd00b26e77d4d8a"/><Relationship Type="http://schemas.openxmlformats.org/officeDocument/2006/relationships/slide" Target="/ppt/slides/slide29.xml" Id="R85f246664a6b4475"/><Relationship Type="http://schemas.openxmlformats.org/officeDocument/2006/relationships/slide" Target="/ppt/slides/slide30.xml" Id="R02259bf88f1f434a"/><Relationship Type="http://schemas.openxmlformats.org/officeDocument/2006/relationships/slide" Target="/ppt/slides/slide31.xml" Id="R008ac74c83d248ae"/><Relationship Type="http://schemas.openxmlformats.org/officeDocument/2006/relationships/slide" Target="/ppt/slides/slide32.xml" Id="R4c6458d3ca354107"/><Relationship Type="http://schemas.openxmlformats.org/officeDocument/2006/relationships/slide" Target="/ppt/slides/slide33.xml" Id="R5687a354316a49c5"/><Relationship Type="http://schemas.openxmlformats.org/officeDocument/2006/relationships/slide" Target="/ppt/slides/slide34.xml" Id="Rd0a7c9b7d513408f"/><Relationship Type="http://schemas.openxmlformats.org/officeDocument/2006/relationships/slide" Target="/ppt/slides/slide35.xml" Id="R06b70f05dae648da"/><Relationship Type="http://schemas.openxmlformats.org/officeDocument/2006/relationships/slide" Target="/ppt/slides/slide36.xml" Id="Rabf37e1304b44b86"/><Relationship Type="http://schemas.openxmlformats.org/officeDocument/2006/relationships/slide" Target="/ppt/slides/slide37.xml" Id="Ra1f62a646d394675"/><Relationship Type="http://schemas.openxmlformats.org/officeDocument/2006/relationships/slide" Target="/ppt/slides/slide38.xml" Id="R872650c42533492c"/><Relationship Type="http://schemas.openxmlformats.org/officeDocument/2006/relationships/slide" Target="/ppt/slides/slide39.xml" Id="Rf6fdc925b4ff45ad"/><Relationship Type="http://schemas.openxmlformats.org/officeDocument/2006/relationships/slide" Target="/ppt/slides/slide40.xml" Id="R9da1e5fdd36d426e"/><Relationship Type="http://schemas.openxmlformats.org/officeDocument/2006/relationships/slide" Target="/ppt/slides/slide41.xml" Id="Re8343b9254ab455d"/><Relationship Type="http://schemas.openxmlformats.org/officeDocument/2006/relationships/slide" Target="/ppt/slides/slide42.xml" Id="Rebe61671e2cb4992"/><Relationship Type="http://schemas.openxmlformats.org/officeDocument/2006/relationships/slide" Target="/ppt/slides/slide43.xml" Id="R66e6b1bf27944450"/><Relationship Type="http://schemas.openxmlformats.org/officeDocument/2006/relationships/slide" Target="/ppt/slides/slide44.xml" Id="R21190c309c1a42b7"/><Relationship Type="http://schemas.openxmlformats.org/officeDocument/2006/relationships/slide" Target="/ppt/slides/slide45.xml" Id="R024ebead023b47f0"/><Relationship Type="http://schemas.openxmlformats.org/officeDocument/2006/relationships/slide" Target="/ppt/slides/slide46.xml" Id="Rb349d4f97bb340d5"/><Relationship Type="http://schemas.openxmlformats.org/officeDocument/2006/relationships/slide" Target="/ppt/slides/slide47.xml" Id="Rd3ee7d1b086e47c2"/><Relationship Type="http://schemas.openxmlformats.org/officeDocument/2006/relationships/slide" Target="/ppt/slides/slide48.xml" Id="R535a7442298f4e3e"/><Relationship Type="http://schemas.openxmlformats.org/officeDocument/2006/relationships/slide" Target="/ppt/slides/slide49.xml" Id="Ra282229850754500"/><Relationship Type="http://schemas.openxmlformats.org/officeDocument/2006/relationships/slide" Target="/ppt/slides/slide50.xml" Id="Re64547d29423440b"/><Relationship Type="http://schemas.openxmlformats.org/officeDocument/2006/relationships/slide" Target="/ppt/slides/slide51.xml" Id="Rccc98b2c3a0547af"/><Relationship Type="http://schemas.openxmlformats.org/officeDocument/2006/relationships/slide" Target="/ppt/slides/slide52.xml" Id="R154038c08e0749a2"/><Relationship Type="http://schemas.openxmlformats.org/officeDocument/2006/relationships/slide" Target="/ppt/slides/slide53.xml" Id="Rd03e5053aad04699"/><Relationship Type="http://schemas.openxmlformats.org/officeDocument/2006/relationships/slide" Target="/ppt/slides/slide54.xml" Id="Ra6755f3e811642d2"/><Relationship Type="http://schemas.openxmlformats.org/officeDocument/2006/relationships/slide" Target="/ppt/slides/slide58.xml" Id="R72ff6461cb0746fc"/><Relationship Type="http://schemas.openxmlformats.org/officeDocument/2006/relationships/slide" Target="/ppt/slides/slide59.xml" Id="R87f28cc747584435"/><Relationship Type="http://schemas.openxmlformats.org/officeDocument/2006/relationships/slide" Target="/ppt/slides/slide60.xml" Id="R0e388af578a5444a"/><Relationship Type="http://schemas.openxmlformats.org/officeDocument/2006/relationships/slide" Target="/ppt/slides/slide61.xml" Id="R4e80fc39125a409a"/><Relationship Type="http://schemas.openxmlformats.org/officeDocument/2006/relationships/slide" Target="/ppt/slides/slide62.xml" Id="Rb7fc36f3748e4e7e"/><Relationship Type="http://schemas.openxmlformats.org/officeDocument/2006/relationships/slide" Target="/ppt/slides/slide63.xml" Id="Rb594a747736746eb"/><Relationship Type="http://schemas.openxmlformats.org/officeDocument/2006/relationships/slide" Target="/ppt/slides/slide64.xml" Id="Rf904dae589414f4f"/><Relationship Type="http://schemas.openxmlformats.org/officeDocument/2006/relationships/slide" Target="/ppt/slides/slide65.xml" Id="R895eb660f69e4832"/><Relationship Type="http://schemas.openxmlformats.org/officeDocument/2006/relationships/slide" Target="/ppt/slides/slide66.xml" Id="R367ed24082b94b6a"/><Relationship Type="http://schemas.openxmlformats.org/officeDocument/2006/relationships/slide" Target="/ppt/slides/slide67.xml" Id="R78b603dd886a4965"/><Relationship Type="http://schemas.openxmlformats.org/officeDocument/2006/relationships/slide" Target="/ppt/slides/slide68.xml" Id="R7ded63a3ac80466c"/><Relationship Type="http://schemas.openxmlformats.org/officeDocument/2006/relationships/slide" Target="/ppt/slides/slide69.xml" Id="Ra7181b8897284bc1"/><Relationship Type="http://schemas.openxmlformats.org/officeDocument/2006/relationships/slide" Target="/ppt/slides/slide70.xml" Id="R0fd1a67510f34c5f"/><Relationship Type="http://schemas.openxmlformats.org/officeDocument/2006/relationships/slide" Target="/ppt/slides/slide71.xml" Id="R9f16bb685f974f5e"/><Relationship Type="http://schemas.openxmlformats.org/officeDocument/2006/relationships/slide" Target="/ppt/slides/slide72.xml" Id="R5eeb4ae768104820"/><Relationship Type="http://schemas.openxmlformats.org/officeDocument/2006/relationships/slide" Target="/ppt/slides/slide73.xml" Id="Ref8225c5602949ad"/><Relationship Type="http://schemas.openxmlformats.org/officeDocument/2006/relationships/slide" Target="/ppt/slides/slide74.xml" Id="R7597ca53a04c459b"/><Relationship Type="http://schemas.openxmlformats.org/officeDocument/2006/relationships/slide" Target="/ppt/slides/slide75.xml" Id="Rc773ae6f18264ef1"/><Relationship Type="http://schemas.openxmlformats.org/officeDocument/2006/relationships/slide" Target="/ppt/slides/slide76.xml" Id="R7b53866a56f3425e"/><Relationship Type="http://schemas.openxmlformats.org/officeDocument/2006/relationships/slide" Target="/ppt/slides/slide77.xml" Id="R2153275503b2476a"/><Relationship Type="http://schemas.openxmlformats.org/officeDocument/2006/relationships/slide" Target="/ppt/slides/slide78.xml" Id="R608ce4adbdcf4ccb"/><Relationship Type="http://schemas.openxmlformats.org/officeDocument/2006/relationships/slide" Target="/ppt/slides/slide79.xml" Id="R4678d8fca4c642b9"/><Relationship Type="http://schemas.openxmlformats.org/officeDocument/2006/relationships/slide" Target="/ppt/slides/slide80.xml" Id="Re835f6281a3e439f"/><Relationship Type="http://schemas.openxmlformats.org/officeDocument/2006/relationships/slide" Target="/ppt/slides/slide81.xml" Id="Rcacc6d5c4ad749f0"/><Relationship Type="http://schemas.openxmlformats.org/officeDocument/2006/relationships/slide" Target="/ppt/slides/slide82.xml" Id="R016396d127394e1a"/><Relationship Type="http://schemas.openxmlformats.org/officeDocument/2006/relationships/slide" Target="/ppt/slides/slide83.xml" Id="R5f303c360e3a43f7"/><Relationship Type="http://schemas.openxmlformats.org/officeDocument/2006/relationships/slide" Target="/ppt/slides/slide84.xml" Id="R70a347417a0e4436"/><Relationship Type="http://schemas.openxmlformats.org/officeDocument/2006/relationships/slide" Target="/ppt/slides/slide85.xml" Id="R427f8faf69084bf2"/><Relationship Type="http://schemas.openxmlformats.org/officeDocument/2006/relationships/slide" Target="/ppt/slides/slide86.xml" Id="R7b1929d697764fed"/><Relationship Type="http://schemas.openxmlformats.org/officeDocument/2006/relationships/slide" Target="/ppt/slides/slide87.xml" Id="R7b8f7c435d8b461f"/><Relationship Type="http://schemas.openxmlformats.org/officeDocument/2006/relationships/slide" Target="/ppt/slides/slide88.xml" Id="R507d9a6a7b414991"/><Relationship Type="http://schemas.openxmlformats.org/officeDocument/2006/relationships/slide" Target="/ppt/slides/slide89.xml" Id="Rae9abd65533e4896"/><Relationship Type="http://schemas.openxmlformats.org/officeDocument/2006/relationships/slide" Target="/ppt/slides/slide90.xml" Id="R972055e3d0974d3d"/><Relationship Type="http://schemas.openxmlformats.org/officeDocument/2006/relationships/slide" Target="/ppt/slides/slide91.xml" Id="Rfab2baeaf6c2489e"/><Relationship Type="http://schemas.openxmlformats.org/officeDocument/2006/relationships/slide" Target="/ppt/slides/slide92.xml" Id="R1a08854b15af4bcd"/><Relationship Type="http://schemas.openxmlformats.org/officeDocument/2006/relationships/slide" Target="/ppt/slides/slide93.xml" Id="R78079090e17c4a8c"/><Relationship Type="http://schemas.openxmlformats.org/officeDocument/2006/relationships/slide" Target="/ppt/slides/slide94.xml" Id="R5b1111aade374262"/><Relationship Type="http://schemas.openxmlformats.org/officeDocument/2006/relationships/slide" Target="/ppt/slides/slide95.xml" Id="Rf817ae0da26b49b8"/><Relationship Type="http://schemas.openxmlformats.org/officeDocument/2006/relationships/slide" Target="/ppt/slides/slide96.xml" Id="R5cc79f0d8ad94df8"/><Relationship Type="http://schemas.openxmlformats.org/officeDocument/2006/relationships/slide" Target="/ppt/slides/slide97.xml" Id="R7e79aaa9bff346fa"/><Relationship Type="http://schemas.openxmlformats.org/officeDocument/2006/relationships/slide" Target="/ppt/slides/slide98.xml" Id="R0063c448f38e4336"/><Relationship Type="http://schemas.openxmlformats.org/officeDocument/2006/relationships/slide" Target="/ppt/slides/slide99.xml" Id="Rb0627c4a99df4d4f"/><Relationship Type="http://schemas.openxmlformats.org/officeDocument/2006/relationships/slide" Target="/ppt/slides/slide100.xml" Id="Ra10a0e13a2184135"/><Relationship Type="http://schemas.openxmlformats.org/officeDocument/2006/relationships/slide" Target="/ppt/slides/slide101.xml" Id="R9b60d9b4a2e44dd3"/><Relationship Type="http://schemas.openxmlformats.org/officeDocument/2006/relationships/slide" Target="/ppt/slides/slide102.xml" Id="Rc17d36dd79264453"/><Relationship Type="http://schemas.openxmlformats.org/officeDocument/2006/relationships/slide" Target="/ppt/slides/slide103.xml" Id="R603e33c25b484f54"/><Relationship Type="http://schemas.openxmlformats.org/officeDocument/2006/relationships/slide" Target="/ppt/slides/slide104.xml" Id="R6fd503a3177f4d06"/><Relationship Type="http://schemas.openxmlformats.org/officeDocument/2006/relationships/slide" Target="/ppt/slides/slide105.xml" Id="Rd07a9a0a0d094a1f"/><Relationship Type="http://schemas.openxmlformats.org/officeDocument/2006/relationships/slide" Target="/ppt/slides/slide106.xml" Id="R718f7d508df64340"/><Relationship Type="http://schemas.openxmlformats.org/officeDocument/2006/relationships/slide" Target="/ppt/slides/slide107.xml" Id="Rb2144a6581f3498a"/><Relationship Type="http://schemas.openxmlformats.org/officeDocument/2006/relationships/slide" Target="/ppt/slides/slide108.xml" Id="R7e193bf32174419f"/><Relationship Type="http://schemas.openxmlformats.org/officeDocument/2006/relationships/slide" Target="/ppt/slides/slide109.xml" Id="R3b2b3b2837f345d7"/><Relationship Type="http://schemas.openxmlformats.org/officeDocument/2006/relationships/slide" Target="/ppt/slides/slide110.xml" Id="Rc8d64c078fdb4e93"/><Relationship Type="http://schemas.openxmlformats.org/officeDocument/2006/relationships/slide" Target="/ppt/slides/slide111.xml" Id="R14761046fa0449ad"/><Relationship Type="http://schemas.openxmlformats.org/officeDocument/2006/relationships/slide" Target="/ppt/slides/slide112.xml" Id="R308e5dcf86374f7a"/><Relationship Type="http://schemas.openxmlformats.org/officeDocument/2006/relationships/slide" Target="/ppt/slides/slide113.xml" Id="Rb70d6e328be74d60"/><Relationship Type="http://schemas.openxmlformats.org/officeDocument/2006/relationships/slide" Target="/ppt/slides/slide114.xml" Id="Re9f94e65c1024047"/><Relationship Type="http://schemas.openxmlformats.org/officeDocument/2006/relationships/slide" Target="/ppt/slides/slide115.xml" Id="R44280ecc75ac417f"/><Relationship Type="http://schemas.openxmlformats.org/officeDocument/2006/relationships/slide" Target="/ppt/slides/slide116.xml" Id="R350e5087273b43f8"/><Relationship Type="http://schemas.openxmlformats.org/officeDocument/2006/relationships/slide" Target="/ppt/slides/slide117.xml" Id="R99aa14256c364cca"/><Relationship Type="http://schemas.openxmlformats.org/officeDocument/2006/relationships/slide" Target="/ppt/slides/slide118.xml" Id="Re7befaa2280e40d8"/><Relationship Type="http://schemas.openxmlformats.org/officeDocument/2006/relationships/slide" Target="/ppt/slides/slide119.xml" Id="Rb72241cc12ab4b73"/><Relationship Id="CopilotTipAfterS03" Type="http://schemas.openxmlformats.org/officeDocument/2006/relationships/slide" Target="/ppt/slides/slide4.xml"/><Relationship Id="AgentsScopeTip1" Type="http://schemas.openxmlformats.org/officeDocument/2006/relationships/slide" Target="/ppt/slides/slide55.xml"/><Relationship Id="AgentsScopeTip2" Type="http://schemas.openxmlformats.org/officeDocument/2006/relationships/slide" Target="/ppt/slides/slide56.xml"/><Relationship Id="AgentsScopeTip3" Type="http://schemas.openxmlformats.org/officeDocument/2006/relationships/slide" Target="/ppt/slides/slide57.xml"/></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3f6fb38348a42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69311295da94f72" /><Relationship Type="http://schemas.openxmlformats.org/officeDocument/2006/relationships/notesMaster" Target="/ppt/notesMasters/notesMaster1.xml" Id="Rf0d17498c56c4426" /></Relationships>
</file>

<file path=ppt/notesSlides/_rels/notesSlide2.xml.rels>&#65279;<?xml version="1.0" encoding="utf-8"?><Relationships xmlns="http://schemas.openxmlformats.org/package/2006/relationships"><Relationship Type="http://schemas.openxmlformats.org/officeDocument/2006/relationships/slide" Target="/ppt/slides/slide2.xml" Id="Rd934ee26824848f4" /><Relationship Type="http://schemas.openxmlformats.org/officeDocument/2006/relationships/notesMaster" Target="/ppt/notesMasters/notesMaster1.xml" Id="R66aedea2a28941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0489f6a2060d425b" /><Relationship Type="http://schemas.openxmlformats.org/officeDocument/2006/relationships/notesMaster" Target="/ppt/notesMasters/notesMaster1.xml" Id="R2cebd7f121d849b4" /></Relationships>
</file>

<file path=ppt/notesSlides/_rels/notesSlide4.xml.rels><?xml version="1.0" encoding="utf-8"?><Relationships xmlns="http://schemas.openxmlformats.org/package/2006/relationships"><Relationship Type="http://schemas.openxmlformats.org/officeDocument/2006/relationships/slide" Target="/ppt/slides/slide4.xml" Id="R6840135136a44c63"/><Relationship Type="http://schemas.openxmlformats.org/officeDocument/2006/relationships/notesMaster" Target="/ppt/notesMasters/notesMaster1.xml" Id="R693e36507b0f4cab"/></Relationships>
</file>

<file path=ppt/notesSlides/_rels/notesSlide5.xml.rels><?xml version="1.0" encoding="utf-8"?><Relationships xmlns="http://schemas.openxmlformats.org/package/2006/relationships"><Relationship Type="http://schemas.openxmlformats.org/officeDocument/2006/relationships/slide" Target="/ppt/slides/slide5.xml" Id="R73aaa04b9a624b2a" /><Relationship Type="http://schemas.openxmlformats.org/officeDocument/2006/relationships/notesMaster" Target="/ppt/notesMasters/notesMaster1.xml" Id="R415cfd43241c4d60" /></Relationships>
</file>

<file path=ppt/notesSlides/_rels/notesSlide6.xml.rels><?xml version="1.0" encoding="utf-8"?><Relationships xmlns="http://schemas.openxmlformats.org/package/2006/relationships"><Relationship Type="http://schemas.openxmlformats.org/officeDocument/2006/relationships/slide" Target="/ppt/slides/slide6.xml" Id="Ra8f725e6439c4844" /><Relationship Type="http://schemas.openxmlformats.org/officeDocument/2006/relationships/notesMaster" Target="/ppt/notesMasters/notesMaster1.xml" Id="Refb7cb72335f4447" /></Relationships>
</file>

<file path=ppt/notesSlides/_rels/notesSlide7.xml.rels><?xml version="1.0" encoding="utf-8"?><Relationships xmlns="http://schemas.openxmlformats.org/package/2006/relationships"><Relationship Type="http://schemas.openxmlformats.org/officeDocument/2006/relationships/slide" Target="/ppt/slides/slide7.xml" Id="R75c01b946d4c4944" /><Relationship Type="http://schemas.openxmlformats.org/officeDocument/2006/relationships/notesMaster" Target="/ppt/notesMasters/notesMaster1.xml" Id="R267a6cda015a4bf0" /></Relationships>
</file>

<file path=ppt/notesSlides/_rels/notesSlide8.xml.rels><?xml version="1.0" encoding="utf-8"?><Relationships xmlns="http://schemas.openxmlformats.org/package/2006/relationships"><Relationship Type="http://schemas.openxmlformats.org/officeDocument/2006/relationships/slide" Target="/ppt/slides/slide8.xml" Id="Rdf68f3d3f7a34535" /><Relationship Type="http://schemas.openxmlformats.org/officeDocument/2006/relationships/notesMaster" Target="/ppt/notesMasters/notesMaster1.xml" Id="Rbe54612653be423c" /></Relationships>
</file>

<file path=ppt/notesSlides/_rels/notesSlide9.xml.rels><?xml version="1.0" encoding="utf-8"?><Relationships xmlns="http://schemas.openxmlformats.org/package/2006/relationships"><Relationship Type="http://schemas.openxmlformats.org/officeDocument/2006/relationships/slide" Target="/ppt/slides/slide9.xml" Id="Rae61b74c2a4c4733" /><Relationship Type="http://schemas.openxmlformats.org/officeDocument/2006/relationships/notesMaster" Target="/ppt/notesMasters/notesMaster1.xml" Id="Rf0cae0b0f6b945e1" /></Relationships>
</file>

<file path=ppt/notesSlides/_rels/notesSlide10.xml.rels><?xml version="1.0" encoding="utf-8"?><Relationships xmlns="http://schemas.openxmlformats.org/package/2006/relationships"><Relationship Type="http://schemas.openxmlformats.org/officeDocument/2006/relationships/slide" Target="/ppt/slides/slide10.xml" Id="Rc2a9753851d34829" /><Relationship Type="http://schemas.openxmlformats.org/officeDocument/2006/relationships/notesMaster" Target="/ppt/notesMasters/notesMaster1.xml" Id="R791eae554bd040c9" /></Relationships>
</file>

<file path=ppt/notesSlides/_rels/notesSlide11.xml.rels><?xml version="1.0" encoding="utf-8"?><Relationships xmlns="http://schemas.openxmlformats.org/package/2006/relationships"><Relationship Type="http://schemas.openxmlformats.org/officeDocument/2006/relationships/slide" Target="/ppt/slides/slide11.xml" Id="R7fa3fd68d5394ed5" /><Relationship Type="http://schemas.openxmlformats.org/officeDocument/2006/relationships/notesMaster" Target="/ppt/notesMasters/notesMaster1.xml" Id="Rcb34db28b7df461a" /></Relationships>
</file>

<file path=ppt/notesSlides/_rels/notesSlide12.xml.rels><?xml version="1.0" encoding="utf-8"?><Relationships xmlns="http://schemas.openxmlformats.org/package/2006/relationships"><Relationship Type="http://schemas.openxmlformats.org/officeDocument/2006/relationships/slide" Target="/ppt/slides/slide12.xml" Id="R91f9742cecde4232" /><Relationship Type="http://schemas.openxmlformats.org/officeDocument/2006/relationships/notesMaster" Target="/ppt/notesMasters/notesMaster1.xml" Id="R5190bb238a524594" /></Relationships>
</file>

<file path=ppt/notesSlides/_rels/notesSlide13.xml.rels><?xml version="1.0" encoding="utf-8"?><Relationships xmlns="http://schemas.openxmlformats.org/package/2006/relationships"><Relationship Type="http://schemas.openxmlformats.org/officeDocument/2006/relationships/slide" Target="/ppt/slides/slide13.xml" Id="R527d7ed45b2b4489" /><Relationship Type="http://schemas.openxmlformats.org/officeDocument/2006/relationships/notesMaster" Target="/ppt/notesMasters/notesMaster1.xml" Id="R3e59a147c03f4fe6" /></Relationships>
</file>

<file path=ppt/notesSlides/_rels/notesSlide14.xml.rels><?xml version="1.0" encoding="utf-8"?><Relationships xmlns="http://schemas.openxmlformats.org/package/2006/relationships"><Relationship Type="http://schemas.openxmlformats.org/officeDocument/2006/relationships/slide" Target="/ppt/slides/slide14.xml" Id="R12546fd6c5104306" /><Relationship Type="http://schemas.openxmlformats.org/officeDocument/2006/relationships/notesMaster" Target="/ppt/notesMasters/notesMaster1.xml" Id="Rdac194ff05354183" /></Relationships>
</file>

<file path=ppt/notesSlides/_rels/notesSlide15.xml.rels><?xml version="1.0" encoding="utf-8"?><Relationships xmlns="http://schemas.openxmlformats.org/package/2006/relationships"><Relationship Type="http://schemas.openxmlformats.org/officeDocument/2006/relationships/slide" Target="/ppt/slides/slide15.xml" Id="R2cf5e4e08ef949c1"/><Relationship Type="http://schemas.openxmlformats.org/officeDocument/2006/relationships/notesMaster" Target="/ppt/notesMasters/notesMaster1.xml" Id="Rb0de13c330b04519"/></Relationships>
</file>

<file path=ppt/notesSlides/_rels/notesSlide16.xml.rels><?xml version="1.0" encoding="utf-8"?><Relationships xmlns="http://schemas.openxmlformats.org/package/2006/relationships"><Relationship Type="http://schemas.openxmlformats.org/officeDocument/2006/relationships/slide" Target="/ppt/slides/slide16.xml" Id="R7301750abf6f4a83"/><Relationship Type="http://schemas.openxmlformats.org/officeDocument/2006/relationships/notesMaster" Target="/ppt/notesMasters/notesMaster1.xml" Id="Rc66635230a774473"/></Relationships>
</file>

<file path=ppt/notesSlides/_rels/notesSlide17.xml.rels><?xml version="1.0" encoding="utf-8"?><Relationships xmlns="http://schemas.openxmlformats.org/package/2006/relationships"><Relationship Type="http://schemas.openxmlformats.org/officeDocument/2006/relationships/slide" Target="/ppt/slides/slide17.xml" Id="Re6fa6a9d378647c4"/><Relationship Type="http://schemas.openxmlformats.org/officeDocument/2006/relationships/notesMaster" Target="/ppt/notesMasters/notesMaster1.xml" Id="Rd04df728b5b1496b"/></Relationships>
</file>

<file path=ppt/notesSlides/_rels/notesSlide18.xml.rels><?xml version="1.0" encoding="utf-8"?><Relationships xmlns="http://schemas.openxmlformats.org/package/2006/relationships"><Relationship Type="http://schemas.openxmlformats.org/officeDocument/2006/relationships/slide" Target="/ppt/slides/slide18.xml" Id="Rc49004c64dcc4114"/><Relationship Type="http://schemas.openxmlformats.org/officeDocument/2006/relationships/notesMaster" Target="/ppt/notesMasters/notesMaster1.xml" Id="R8597ca8eebd94fe2"/></Relationships>
</file>

<file path=ppt/notesSlides/_rels/notesSlide19.xml.rels><?xml version="1.0" encoding="utf-8"?><Relationships xmlns="http://schemas.openxmlformats.org/package/2006/relationships"><Relationship Type="http://schemas.openxmlformats.org/officeDocument/2006/relationships/slide" Target="/ppt/slides/slide19.xml" Id="R029c79815b914f6e"/><Relationship Type="http://schemas.openxmlformats.org/officeDocument/2006/relationships/notesMaster" Target="/ppt/notesMasters/notesMaster1.xml" Id="R3d15e51f2b8c46c6"/></Relationships>
</file>

<file path=ppt/notesSlides/_rels/notesSlide20.xml.rels><?xml version="1.0" encoding="utf-8"?><Relationships xmlns="http://schemas.openxmlformats.org/package/2006/relationships"><Relationship Type="http://schemas.openxmlformats.org/officeDocument/2006/relationships/slide" Target="/ppt/slides/slide20.xml" Id="R9e178c6ca04b403f"/><Relationship Type="http://schemas.openxmlformats.org/officeDocument/2006/relationships/notesMaster" Target="/ppt/notesMasters/notesMaster1.xml" Id="R4bba528c2e944dd4"/></Relationships>
</file>

<file path=ppt/notesSlides/_rels/notesSlide21.xml.rels><?xml version="1.0" encoding="utf-8"?><Relationships xmlns="http://schemas.openxmlformats.org/package/2006/relationships"><Relationship Type="http://schemas.openxmlformats.org/officeDocument/2006/relationships/slide" Target="/ppt/slides/slide21.xml" Id="R73db2b646f9f4c5d"/><Relationship Type="http://schemas.openxmlformats.org/officeDocument/2006/relationships/notesMaster" Target="/ppt/notesMasters/notesMaster1.xml" Id="R8c8e0b0a71694e52"/></Relationships>
</file>

<file path=ppt/notesSlides/_rels/notesSlide22.xml.rels><?xml version="1.0" encoding="utf-8"?><Relationships xmlns="http://schemas.openxmlformats.org/package/2006/relationships"><Relationship Type="http://schemas.openxmlformats.org/officeDocument/2006/relationships/slide" Target="/ppt/slides/slide22.xml" Id="R4ca6d8b892654ee8"/><Relationship Type="http://schemas.openxmlformats.org/officeDocument/2006/relationships/notesMaster" Target="/ppt/notesMasters/notesMaster1.xml" Id="R614a5fd6875b4611"/></Relationships>
</file>

<file path=ppt/notesSlides/_rels/notesSlide23.xml.rels><?xml version="1.0" encoding="utf-8"?><Relationships xmlns="http://schemas.openxmlformats.org/package/2006/relationships"><Relationship Type="http://schemas.openxmlformats.org/officeDocument/2006/relationships/slide" Target="/ppt/slides/slide23.xml" Id="Rd63b94f958c64bfc"/><Relationship Type="http://schemas.openxmlformats.org/officeDocument/2006/relationships/notesMaster" Target="/ppt/notesMasters/notesMaster1.xml" Id="R33ff3b357a2e4278"/></Relationships>
</file>

<file path=ppt/notesSlides/_rels/notesSlide24.xml.rels><?xml version="1.0" encoding="utf-8"?><Relationships xmlns="http://schemas.openxmlformats.org/package/2006/relationships"><Relationship Type="http://schemas.openxmlformats.org/officeDocument/2006/relationships/slide" Target="/ppt/slides/slide24.xml" Id="R8d9284509cb040bf"/><Relationship Type="http://schemas.openxmlformats.org/officeDocument/2006/relationships/notesMaster" Target="/ppt/notesMasters/notesMaster1.xml" Id="R94341f82308244b7"/></Relationships>
</file>

<file path=ppt/notesSlides/_rels/notesSlide25.xml.rels><?xml version="1.0" encoding="utf-8"?><Relationships xmlns="http://schemas.openxmlformats.org/package/2006/relationships"><Relationship Type="http://schemas.openxmlformats.org/officeDocument/2006/relationships/slide" Target="/ppt/slides/slide25.xml" Id="Rf121fc86bf444ad2"/><Relationship Type="http://schemas.openxmlformats.org/officeDocument/2006/relationships/notesMaster" Target="/ppt/notesMasters/notesMaster1.xml" Id="R3478b766b2b34cb1"/></Relationships>
</file>

<file path=ppt/notesSlides/_rels/notesSlide26.xml.rels><?xml version="1.0" encoding="utf-8"?><Relationships xmlns="http://schemas.openxmlformats.org/package/2006/relationships"><Relationship Type="http://schemas.openxmlformats.org/officeDocument/2006/relationships/slide" Target="/ppt/slides/slide26.xml" Id="R7ac060aac17e48a6"/><Relationship Type="http://schemas.openxmlformats.org/officeDocument/2006/relationships/notesMaster" Target="/ppt/notesMasters/notesMaster1.xml" Id="Rda8a433128fa4b16"/></Relationships>
</file>

<file path=ppt/notesSlides/_rels/notesSlide27.xml.rels><?xml version="1.0" encoding="utf-8"?><Relationships xmlns="http://schemas.openxmlformats.org/package/2006/relationships"><Relationship Type="http://schemas.openxmlformats.org/officeDocument/2006/relationships/slide" Target="/ppt/slides/slide27.xml" Id="R30253838b6a944c8"/><Relationship Type="http://schemas.openxmlformats.org/officeDocument/2006/relationships/notesMaster" Target="/ppt/notesMasters/notesMaster1.xml" Id="R92f313188ba24d0c"/></Relationships>
</file>

<file path=ppt/notesSlides/_rels/notesSlide28.xml.rels><?xml version="1.0" encoding="utf-8"?><Relationships xmlns="http://schemas.openxmlformats.org/package/2006/relationships"><Relationship Type="http://schemas.openxmlformats.org/officeDocument/2006/relationships/slide" Target="/ppt/slides/slide28.xml" Id="R64844f16deea4e23"/><Relationship Type="http://schemas.openxmlformats.org/officeDocument/2006/relationships/notesMaster" Target="/ppt/notesMasters/notesMaster1.xml" Id="R1059aaca941e4630"/></Relationships>
</file>

<file path=ppt/notesSlides/_rels/notesSlide29.xml.rels><?xml version="1.0" encoding="utf-8"?><Relationships xmlns="http://schemas.openxmlformats.org/package/2006/relationships"><Relationship Type="http://schemas.openxmlformats.org/officeDocument/2006/relationships/slide" Target="/ppt/slides/slide29.xml" Id="Ra8d2cc47a4194b8f"/><Relationship Type="http://schemas.openxmlformats.org/officeDocument/2006/relationships/notesMaster" Target="/ppt/notesMasters/notesMaster1.xml" Id="R153d5f827a8646a6"/></Relationships>
</file>

<file path=ppt/notesSlides/_rels/notesSlide30.xml.rels><?xml version="1.0" encoding="utf-8"?><Relationships xmlns="http://schemas.openxmlformats.org/package/2006/relationships"><Relationship Type="http://schemas.openxmlformats.org/officeDocument/2006/relationships/slide" Target="/ppt/slides/slide30.xml" Id="R5d7b3273780543a3"/><Relationship Type="http://schemas.openxmlformats.org/officeDocument/2006/relationships/notesMaster" Target="/ppt/notesMasters/notesMaster1.xml" Id="R6fc6def0efcb4d94"/></Relationships>
</file>

<file path=ppt/notesSlides/_rels/notesSlide31.xml.rels><?xml version="1.0" encoding="utf-8"?><Relationships xmlns="http://schemas.openxmlformats.org/package/2006/relationships"><Relationship Type="http://schemas.openxmlformats.org/officeDocument/2006/relationships/slide" Target="/ppt/slides/slide31.xml" Id="R42c1c747efc94d4b"/><Relationship Type="http://schemas.openxmlformats.org/officeDocument/2006/relationships/notesMaster" Target="/ppt/notesMasters/notesMaster1.xml" Id="R5d345cc6a40b4ef8"/></Relationships>
</file>

<file path=ppt/notesSlides/_rels/notesSlide32.xml.rels><?xml version="1.0" encoding="utf-8"?><Relationships xmlns="http://schemas.openxmlformats.org/package/2006/relationships"><Relationship Type="http://schemas.openxmlformats.org/officeDocument/2006/relationships/slide" Target="/ppt/slides/slide32.xml" Id="Rd01433e4a9974d3f"/><Relationship Type="http://schemas.openxmlformats.org/officeDocument/2006/relationships/notesMaster" Target="/ppt/notesMasters/notesMaster1.xml" Id="R6e020c48cfce4997"/></Relationships>
</file>

<file path=ppt/notesSlides/_rels/notesSlide33.xml.rels><?xml version="1.0" encoding="utf-8"?><Relationships xmlns="http://schemas.openxmlformats.org/package/2006/relationships"><Relationship Type="http://schemas.openxmlformats.org/officeDocument/2006/relationships/slide" Target="/ppt/slides/slide33.xml" Id="R292051762edb4e89"/><Relationship Type="http://schemas.openxmlformats.org/officeDocument/2006/relationships/notesMaster" Target="/ppt/notesMasters/notesMaster1.xml" Id="R75de794708ea41ad"/></Relationships>
</file>

<file path=ppt/notesSlides/_rels/notesSlide34.xml.rels><?xml version="1.0" encoding="utf-8"?><Relationships xmlns="http://schemas.openxmlformats.org/package/2006/relationships"><Relationship Type="http://schemas.openxmlformats.org/officeDocument/2006/relationships/slide" Target="/ppt/slides/slide34.xml" Id="R5037d43ddf884859"/><Relationship Type="http://schemas.openxmlformats.org/officeDocument/2006/relationships/notesMaster" Target="/ppt/notesMasters/notesMaster1.xml" Id="R6e1a705c247c45d5"/></Relationships>
</file>

<file path=ppt/notesSlides/_rels/notesSlide35.xml.rels><?xml version="1.0" encoding="utf-8"?><Relationships xmlns="http://schemas.openxmlformats.org/package/2006/relationships"><Relationship Type="http://schemas.openxmlformats.org/officeDocument/2006/relationships/slide" Target="/ppt/slides/slide35.xml" Id="R7f3213dd031e4b59"/><Relationship Type="http://schemas.openxmlformats.org/officeDocument/2006/relationships/notesMaster" Target="/ppt/notesMasters/notesMaster1.xml" Id="R3c74c6a455244d15"/></Relationships>
</file>

<file path=ppt/notesSlides/_rels/notesSlide36.xml.rels><?xml version="1.0" encoding="utf-8"?><Relationships xmlns="http://schemas.openxmlformats.org/package/2006/relationships"><Relationship Type="http://schemas.openxmlformats.org/officeDocument/2006/relationships/slide" Target="/ppt/slides/slide36.xml" Id="R3cf109f7c5a44be6"/><Relationship Type="http://schemas.openxmlformats.org/officeDocument/2006/relationships/notesMaster" Target="/ppt/notesMasters/notesMaster1.xml" Id="Reee8baa74f6e44fc"/></Relationships>
</file>

<file path=ppt/notesSlides/_rels/notesSlide37.xml.rels><?xml version="1.0" encoding="utf-8"?><Relationships xmlns="http://schemas.openxmlformats.org/package/2006/relationships"><Relationship Type="http://schemas.openxmlformats.org/officeDocument/2006/relationships/slide" Target="/ppt/slides/slide37.xml" Id="Ref837ed02f204b7d"/><Relationship Type="http://schemas.openxmlformats.org/officeDocument/2006/relationships/notesMaster" Target="/ppt/notesMasters/notesMaster1.xml" Id="R0a067a864a764a6e"/></Relationships>
</file>

<file path=ppt/notesSlides/_rels/notesSlide38.xml.rels><?xml version="1.0" encoding="utf-8"?><Relationships xmlns="http://schemas.openxmlformats.org/package/2006/relationships"><Relationship Type="http://schemas.openxmlformats.org/officeDocument/2006/relationships/slide" Target="/ppt/slides/slide38.xml" Id="R8d85cfc379044e0c"/><Relationship Type="http://schemas.openxmlformats.org/officeDocument/2006/relationships/notesMaster" Target="/ppt/notesMasters/notesMaster1.xml" Id="R690345a37f2240d5"/></Relationships>
</file>

<file path=ppt/notesSlides/_rels/notesSlide39.xml.rels><?xml version="1.0" encoding="utf-8"?><Relationships xmlns="http://schemas.openxmlformats.org/package/2006/relationships"><Relationship Type="http://schemas.openxmlformats.org/officeDocument/2006/relationships/slide" Target="/ppt/slides/slide39.xml" Id="R57c1475feed6472d"/><Relationship Type="http://schemas.openxmlformats.org/officeDocument/2006/relationships/notesMaster" Target="/ppt/notesMasters/notesMaster1.xml" Id="R9a1b31d13d1e488c"/></Relationships>
</file>

<file path=ppt/notesSlides/_rels/notesSlide40.xml.rels><?xml version="1.0" encoding="utf-8"?><Relationships xmlns="http://schemas.openxmlformats.org/package/2006/relationships"><Relationship Type="http://schemas.openxmlformats.org/officeDocument/2006/relationships/slide" Target="/ppt/slides/slide40.xml" Id="R6f6958abbd7a4c3f"/><Relationship Type="http://schemas.openxmlformats.org/officeDocument/2006/relationships/notesMaster" Target="/ppt/notesMasters/notesMaster1.xml" Id="Rb3c5eb7838514888"/></Relationships>
</file>

<file path=ppt/notesSlides/_rels/notesSlide41.xml.rels><?xml version="1.0" encoding="utf-8"?><Relationships xmlns="http://schemas.openxmlformats.org/package/2006/relationships"><Relationship Type="http://schemas.openxmlformats.org/officeDocument/2006/relationships/slide" Target="/ppt/slides/slide41.xml" Id="R27bd3f62056f43f8"/><Relationship Type="http://schemas.openxmlformats.org/officeDocument/2006/relationships/notesMaster" Target="/ppt/notesMasters/notesMaster1.xml" Id="R1a9e99f102ab47bb"/></Relationships>
</file>

<file path=ppt/notesSlides/_rels/notesSlide42.xml.rels><?xml version="1.0" encoding="utf-8"?><Relationships xmlns="http://schemas.openxmlformats.org/package/2006/relationships"><Relationship Type="http://schemas.openxmlformats.org/officeDocument/2006/relationships/slide" Target="/ppt/slides/slide42.xml" Id="R9fd50eb02b3049c1"/><Relationship Type="http://schemas.openxmlformats.org/officeDocument/2006/relationships/notesMaster" Target="/ppt/notesMasters/notesMaster1.xml" Id="R4932c0f27fd44bfe"/></Relationships>
</file>

<file path=ppt/notesSlides/_rels/notesSlide43.xml.rels><?xml version="1.0" encoding="utf-8"?><Relationships xmlns="http://schemas.openxmlformats.org/package/2006/relationships"><Relationship Type="http://schemas.openxmlformats.org/officeDocument/2006/relationships/slide" Target="/ppt/slides/slide43.xml" Id="R1159c2cb82274f7b"/><Relationship Type="http://schemas.openxmlformats.org/officeDocument/2006/relationships/notesMaster" Target="/ppt/notesMasters/notesMaster1.xml" Id="Rc3d8815449fa4306"/></Relationships>
</file>

<file path=ppt/notesSlides/_rels/notesSlide44.xml.rels><?xml version="1.0" encoding="utf-8"?><Relationships xmlns="http://schemas.openxmlformats.org/package/2006/relationships"><Relationship Type="http://schemas.openxmlformats.org/officeDocument/2006/relationships/slide" Target="/ppt/slides/slide44.xml" Id="Ra3a068cf27c84edc"/><Relationship Type="http://schemas.openxmlformats.org/officeDocument/2006/relationships/notesMaster" Target="/ppt/notesMasters/notesMaster1.xml" Id="Rfed2bd914ede4447"/></Relationships>
</file>

<file path=ppt/notesSlides/_rels/notesSlide45.xml.rels><?xml version="1.0" encoding="utf-8"?><Relationships xmlns="http://schemas.openxmlformats.org/package/2006/relationships"><Relationship Type="http://schemas.openxmlformats.org/officeDocument/2006/relationships/slide" Target="/ppt/slides/slide45.xml" Id="R2f5eb6ea7a5045b7"/><Relationship Type="http://schemas.openxmlformats.org/officeDocument/2006/relationships/notesMaster" Target="/ppt/notesMasters/notesMaster1.xml" Id="R38c9e617f9274904"/></Relationships>
</file>

<file path=ppt/notesSlides/_rels/notesSlide46.xml.rels><?xml version="1.0" encoding="utf-8"?><Relationships xmlns="http://schemas.openxmlformats.org/package/2006/relationships"><Relationship Type="http://schemas.openxmlformats.org/officeDocument/2006/relationships/slide" Target="/ppt/slides/slide46.xml" Id="R38f08979cbdc4aa7"/><Relationship Type="http://schemas.openxmlformats.org/officeDocument/2006/relationships/notesMaster" Target="/ppt/notesMasters/notesMaster1.xml" Id="R998ca9207282418a"/></Relationships>
</file>

<file path=ppt/notesSlides/_rels/notesSlide47.xml.rels><?xml version="1.0" encoding="utf-8"?><Relationships xmlns="http://schemas.openxmlformats.org/package/2006/relationships"><Relationship Type="http://schemas.openxmlformats.org/officeDocument/2006/relationships/slide" Target="/ppt/slides/slide47.xml" Id="R798f62ab99724546"/><Relationship Type="http://schemas.openxmlformats.org/officeDocument/2006/relationships/notesMaster" Target="/ppt/notesMasters/notesMaster1.xml" Id="Rd38075829c4a4204"/></Relationships>
</file>

<file path=ppt/notesSlides/_rels/notesSlide48.xml.rels><?xml version="1.0" encoding="utf-8"?><Relationships xmlns="http://schemas.openxmlformats.org/package/2006/relationships"><Relationship Type="http://schemas.openxmlformats.org/officeDocument/2006/relationships/slide" Target="/ppt/slides/slide48.xml" Id="Rc2c632e10d4d4eda"/><Relationship Type="http://schemas.openxmlformats.org/officeDocument/2006/relationships/notesMaster" Target="/ppt/notesMasters/notesMaster1.xml" Id="Ra035fd65003543d4"/></Relationships>
</file>

<file path=ppt/notesSlides/_rels/notesSlide49.xml.rels><?xml version="1.0" encoding="utf-8"?><Relationships xmlns="http://schemas.openxmlformats.org/package/2006/relationships"><Relationship Type="http://schemas.openxmlformats.org/officeDocument/2006/relationships/slide" Target="/ppt/slides/slide49.xml" Id="Reea3724f70a04c47"/><Relationship Type="http://schemas.openxmlformats.org/officeDocument/2006/relationships/notesMaster" Target="/ppt/notesMasters/notesMaster1.xml" Id="Rff4917388cae47d6"/></Relationships>
</file>

<file path=ppt/notesSlides/_rels/notesSlide50.xml.rels><?xml version="1.0" encoding="utf-8"?><Relationships xmlns="http://schemas.openxmlformats.org/package/2006/relationships"><Relationship Type="http://schemas.openxmlformats.org/officeDocument/2006/relationships/slide" Target="/ppt/slides/slide50.xml" Id="R976db653e93640ce"/><Relationship Type="http://schemas.openxmlformats.org/officeDocument/2006/relationships/notesMaster" Target="/ppt/notesMasters/notesMaster1.xml" Id="Rb201c12cec194cc2"/></Relationships>
</file>

<file path=ppt/notesSlides/_rels/notesSlide51.xml.rels><?xml version="1.0" encoding="utf-8"?><Relationships xmlns="http://schemas.openxmlformats.org/package/2006/relationships"><Relationship Type="http://schemas.openxmlformats.org/officeDocument/2006/relationships/slide" Target="/ppt/slides/slide51.xml" Id="R1a2575755a454006"/><Relationship Type="http://schemas.openxmlformats.org/officeDocument/2006/relationships/notesMaster" Target="/ppt/notesMasters/notesMaster1.xml" Id="R98b78708a46841a7"/></Relationships>
</file>

<file path=ppt/notesSlides/_rels/notesSlide52.xml.rels><?xml version="1.0" encoding="utf-8"?><Relationships xmlns="http://schemas.openxmlformats.org/package/2006/relationships"><Relationship Type="http://schemas.openxmlformats.org/officeDocument/2006/relationships/slide" Target="/ppt/slides/slide52.xml" Id="Rfff9974287694fbd"/><Relationship Type="http://schemas.openxmlformats.org/officeDocument/2006/relationships/notesMaster" Target="/ppt/notesMasters/notesMaster1.xml" Id="R5d4d024401be4f35"/></Relationships>
</file>

<file path=ppt/notesSlides/_rels/notesSlide53.xml.rels><?xml version="1.0" encoding="utf-8"?><Relationships xmlns="http://schemas.openxmlformats.org/package/2006/relationships"><Relationship Type="http://schemas.openxmlformats.org/officeDocument/2006/relationships/slide" Target="/ppt/slides/slide53.xml" Id="R296f2cf620ab4fef"/><Relationship Type="http://schemas.openxmlformats.org/officeDocument/2006/relationships/notesMaster" Target="/ppt/notesMasters/notesMaster1.xml" Id="R2beee451bb4f417e"/></Relationships>
</file>

<file path=ppt/notesSlides/_rels/notesSlide54.xml.rels><?xml version="1.0" encoding="utf-8"?><Relationships xmlns="http://schemas.openxmlformats.org/package/2006/relationships"><Relationship Type="http://schemas.openxmlformats.org/officeDocument/2006/relationships/slide" Target="/ppt/slides/slide54.xml" Id="R2270b65c7d824e97"/><Relationship Type="http://schemas.openxmlformats.org/officeDocument/2006/relationships/notesMaster" Target="/ppt/notesMasters/notesMaster1.xml" Id="Rec895c04a376450f"/></Relationships>
</file>

<file path=ppt/notesSlides/_rels/notesSlide55.xml.rels><?xml version="1.0" encoding="utf-8"?><Relationships xmlns="http://schemas.openxmlformats.org/package/2006/relationships"><Relationship Type="http://schemas.openxmlformats.org/officeDocument/2006/relationships/slide" Target="/ppt/slides/slide55.xml" Id="Rc318f49d3acc4830"/><Relationship Type="http://schemas.openxmlformats.org/officeDocument/2006/relationships/notesMaster" Target="/ppt/notesMasters/notesMaster1.xml" Id="Rab283a938dc64efe"/></Relationships>
</file>

<file path=ppt/notesSlides/_rels/notesSlide56.xml.rels><?xml version="1.0" encoding="utf-8"?><Relationships xmlns="http://schemas.openxmlformats.org/package/2006/relationships"><Relationship Type="http://schemas.openxmlformats.org/officeDocument/2006/relationships/slide" Target="/ppt/slides/slide56.xml" Id="R37b3914b36894636"/><Relationship Type="http://schemas.openxmlformats.org/officeDocument/2006/relationships/notesMaster" Target="/ppt/notesMasters/notesMaster1.xml" Id="Rd01408e265974e05"/></Relationships>
</file>

<file path=ppt/notesSlides/_rels/notesSlide57.xml.rels><?xml version="1.0" encoding="utf-8"?><Relationships xmlns="http://schemas.openxmlformats.org/package/2006/relationships"><Relationship Type="http://schemas.openxmlformats.org/officeDocument/2006/relationships/slide" Target="/ppt/slides/slide57.xml" Id="R04c54d61fbfb4c39"/><Relationship Type="http://schemas.openxmlformats.org/officeDocument/2006/relationships/notesMaster" Target="/ppt/notesMasters/notesMaster1.xml" Id="R50058a4ee4ca4c37"/></Relationships>
</file>

<file path=ppt/notesSlides/_rels/notesSlide58.xml.rels><?xml version="1.0" encoding="utf-8"?><Relationships xmlns="http://schemas.openxmlformats.org/package/2006/relationships"><Relationship Type="http://schemas.openxmlformats.org/officeDocument/2006/relationships/slide" Target="/ppt/slides/slide58.xml" Id="R34c2dfb647954740"/><Relationship Type="http://schemas.openxmlformats.org/officeDocument/2006/relationships/notesMaster" Target="/ppt/notesMasters/notesMaster1.xml" Id="R772b29c6f08a48a9"/></Relationships>
</file>

<file path=ppt/notesSlides/_rels/notesSlide59.xml.rels><?xml version="1.0" encoding="utf-8"?><Relationships xmlns="http://schemas.openxmlformats.org/package/2006/relationships"><Relationship Type="http://schemas.openxmlformats.org/officeDocument/2006/relationships/slide" Target="/ppt/slides/slide59.xml" Id="R34d6c63d743b4d95"/><Relationship Type="http://schemas.openxmlformats.org/officeDocument/2006/relationships/notesMaster" Target="/ppt/notesMasters/notesMaster1.xml" Id="Rc9843874f9a745f4"/></Relationships>
</file>

<file path=ppt/notesSlides/_rels/notesSlide60.xml.rels><?xml version="1.0" encoding="utf-8"?><Relationships xmlns="http://schemas.openxmlformats.org/package/2006/relationships"><Relationship Type="http://schemas.openxmlformats.org/officeDocument/2006/relationships/slide" Target="/ppt/slides/slide60.xml" Id="Rb66f601fa32245e6"/><Relationship Type="http://schemas.openxmlformats.org/officeDocument/2006/relationships/notesMaster" Target="/ppt/notesMasters/notesMaster1.xml" Id="R14cd720d54274fa1"/></Relationships>
</file>

<file path=ppt/notesSlides/_rels/notesSlide61.xml.rels><?xml version="1.0" encoding="utf-8"?><Relationships xmlns="http://schemas.openxmlformats.org/package/2006/relationships"><Relationship Type="http://schemas.openxmlformats.org/officeDocument/2006/relationships/slide" Target="/ppt/slides/slide61.xml" Id="R25ede0acb2394a3e"/><Relationship Type="http://schemas.openxmlformats.org/officeDocument/2006/relationships/notesMaster" Target="/ppt/notesMasters/notesMaster1.xml" Id="R733e545b2c744b6f"/></Relationships>
</file>

<file path=ppt/notesSlides/_rels/notesSlide62.xml.rels><?xml version="1.0" encoding="utf-8"?><Relationships xmlns="http://schemas.openxmlformats.org/package/2006/relationships"><Relationship Type="http://schemas.openxmlformats.org/officeDocument/2006/relationships/slide" Target="/ppt/slides/slide62.xml" Id="Rf7349916333445a4"/><Relationship Type="http://schemas.openxmlformats.org/officeDocument/2006/relationships/notesMaster" Target="/ppt/notesMasters/notesMaster1.xml" Id="R592735f8936f47da"/></Relationships>
</file>

<file path=ppt/notesSlides/_rels/notesSlide63.xml.rels><?xml version="1.0" encoding="utf-8"?><Relationships xmlns="http://schemas.openxmlformats.org/package/2006/relationships"><Relationship Type="http://schemas.openxmlformats.org/officeDocument/2006/relationships/slide" Target="/ppt/slides/slide63.xml" Id="R17b760d51b6e468a"/><Relationship Type="http://schemas.openxmlformats.org/officeDocument/2006/relationships/notesMaster" Target="/ppt/notesMasters/notesMaster1.xml" Id="R8adb15f9dad74c78"/></Relationships>
</file>

<file path=ppt/notesSlides/_rels/notesSlide64.xml.rels><?xml version="1.0" encoding="utf-8"?><Relationships xmlns="http://schemas.openxmlformats.org/package/2006/relationships"><Relationship Type="http://schemas.openxmlformats.org/officeDocument/2006/relationships/slide" Target="/ppt/slides/slide64.xml" Id="Rf6ecd46fd4544049"/><Relationship Type="http://schemas.openxmlformats.org/officeDocument/2006/relationships/notesMaster" Target="/ppt/notesMasters/notesMaster1.xml" Id="Rf406a0ad792440e8"/></Relationships>
</file>

<file path=ppt/notesSlides/_rels/notesSlide65.xml.rels><?xml version="1.0" encoding="utf-8"?><Relationships xmlns="http://schemas.openxmlformats.org/package/2006/relationships"><Relationship Type="http://schemas.openxmlformats.org/officeDocument/2006/relationships/slide" Target="/ppt/slides/slide65.xml" Id="Re0bd13ceb21948cb"/><Relationship Type="http://schemas.openxmlformats.org/officeDocument/2006/relationships/notesMaster" Target="/ppt/notesMasters/notesMaster1.xml" Id="Rfe8ae5366316458c"/></Relationships>
</file>

<file path=ppt/notesSlides/_rels/notesSlide66.xml.rels><?xml version="1.0" encoding="utf-8"?><Relationships xmlns="http://schemas.openxmlformats.org/package/2006/relationships"><Relationship Type="http://schemas.openxmlformats.org/officeDocument/2006/relationships/slide" Target="/ppt/slides/slide66.xml" Id="R4f047f8673e04507"/><Relationship Type="http://schemas.openxmlformats.org/officeDocument/2006/relationships/notesMaster" Target="/ppt/notesMasters/notesMaster1.xml" Id="R733d4ec229824b70"/></Relationships>
</file>

<file path=ppt/notesSlides/_rels/notesSlide67.xml.rels><?xml version="1.0" encoding="utf-8"?><Relationships xmlns="http://schemas.openxmlformats.org/package/2006/relationships"><Relationship Type="http://schemas.openxmlformats.org/officeDocument/2006/relationships/slide" Target="/ppt/slides/slide67.xml" Id="R62d2e02935a7486a"/><Relationship Type="http://schemas.openxmlformats.org/officeDocument/2006/relationships/notesMaster" Target="/ppt/notesMasters/notesMaster1.xml" Id="R150fc5a78fd140b6"/></Relationships>
</file>

<file path=ppt/notesSlides/_rels/notesSlide68.xml.rels><?xml version="1.0" encoding="utf-8"?><Relationships xmlns="http://schemas.openxmlformats.org/package/2006/relationships"><Relationship Type="http://schemas.openxmlformats.org/officeDocument/2006/relationships/slide" Target="/ppt/slides/slide68.xml" Id="Rcad2e2ecdc5646dd"/><Relationship Type="http://schemas.openxmlformats.org/officeDocument/2006/relationships/notesMaster" Target="/ppt/notesMasters/notesMaster1.xml" Id="R886e991404294ab7"/></Relationships>
</file>

<file path=ppt/notesSlides/_rels/notesSlide69.xml.rels><?xml version="1.0" encoding="utf-8"?><Relationships xmlns="http://schemas.openxmlformats.org/package/2006/relationships"><Relationship Type="http://schemas.openxmlformats.org/officeDocument/2006/relationships/slide" Target="/ppt/slides/slide69.xml" Id="R4673147063e34b11"/><Relationship Type="http://schemas.openxmlformats.org/officeDocument/2006/relationships/notesMaster" Target="/ppt/notesMasters/notesMaster1.xml" Id="R63d921fc331b4280"/></Relationships>
</file>

<file path=ppt/notesSlides/_rels/notesSlide70.xml.rels><?xml version="1.0" encoding="utf-8"?><Relationships xmlns="http://schemas.openxmlformats.org/package/2006/relationships"><Relationship Type="http://schemas.openxmlformats.org/officeDocument/2006/relationships/slide" Target="/ppt/slides/slide70.xml" Id="R1e80c3c74e264b95"/><Relationship Type="http://schemas.openxmlformats.org/officeDocument/2006/relationships/notesMaster" Target="/ppt/notesMasters/notesMaster1.xml" Id="R318b408e272c4369"/></Relationships>
</file>

<file path=ppt/notesSlides/_rels/notesSlide71.xml.rels><?xml version="1.0" encoding="utf-8"?><Relationships xmlns="http://schemas.openxmlformats.org/package/2006/relationships"><Relationship Type="http://schemas.openxmlformats.org/officeDocument/2006/relationships/slide" Target="/ppt/slides/slide71.xml" Id="Rd42e793e8c8f4085"/><Relationship Type="http://schemas.openxmlformats.org/officeDocument/2006/relationships/notesMaster" Target="/ppt/notesMasters/notesMaster1.xml" Id="Raa78ffb4470f4114"/></Relationships>
</file>

<file path=ppt/notesSlides/_rels/notesSlide72.xml.rels><?xml version="1.0" encoding="utf-8"?><Relationships xmlns="http://schemas.openxmlformats.org/package/2006/relationships"><Relationship Type="http://schemas.openxmlformats.org/officeDocument/2006/relationships/slide" Target="/ppt/slides/slide72.xml" Id="R9061ea39fbf8475e"/><Relationship Type="http://schemas.openxmlformats.org/officeDocument/2006/relationships/notesMaster" Target="/ppt/notesMasters/notesMaster1.xml" Id="Re69af64665704edd"/></Relationships>
</file>

<file path=ppt/notesSlides/_rels/notesSlide73.xml.rels><?xml version="1.0" encoding="utf-8"?><Relationships xmlns="http://schemas.openxmlformats.org/package/2006/relationships"><Relationship Type="http://schemas.openxmlformats.org/officeDocument/2006/relationships/slide" Target="/ppt/slides/slide73.xml" Id="R27bfc235a3304140"/><Relationship Type="http://schemas.openxmlformats.org/officeDocument/2006/relationships/notesMaster" Target="/ppt/notesMasters/notesMaster1.xml" Id="Rae8aa6d06c57427d"/></Relationships>
</file>

<file path=ppt/notesSlides/_rels/notesSlide74.xml.rels><?xml version="1.0" encoding="utf-8"?><Relationships xmlns="http://schemas.openxmlformats.org/package/2006/relationships"><Relationship Type="http://schemas.openxmlformats.org/officeDocument/2006/relationships/slide" Target="/ppt/slides/slide74.xml" Id="Re5ea548712ec48dd"/><Relationship Type="http://schemas.openxmlformats.org/officeDocument/2006/relationships/notesMaster" Target="/ppt/notesMasters/notesMaster1.xml" Id="R2e5242e14e0a4391"/></Relationships>
</file>

<file path=ppt/notesSlides/_rels/notesSlide75.xml.rels><?xml version="1.0" encoding="utf-8"?><Relationships xmlns="http://schemas.openxmlformats.org/package/2006/relationships"><Relationship Type="http://schemas.openxmlformats.org/officeDocument/2006/relationships/slide" Target="/ppt/slides/slide75.xml" Id="R9547e52616064d1f"/><Relationship Type="http://schemas.openxmlformats.org/officeDocument/2006/relationships/notesMaster" Target="/ppt/notesMasters/notesMaster1.xml" Id="Rbfbf5fb2658247a4"/></Relationships>
</file>

<file path=ppt/notesSlides/_rels/notesSlide76.xml.rels><?xml version="1.0" encoding="utf-8"?><Relationships xmlns="http://schemas.openxmlformats.org/package/2006/relationships"><Relationship Type="http://schemas.openxmlformats.org/officeDocument/2006/relationships/slide" Target="/ppt/slides/slide76.xml" Id="R0b3e933c4e3345fb"/><Relationship Type="http://schemas.openxmlformats.org/officeDocument/2006/relationships/notesMaster" Target="/ppt/notesMasters/notesMaster1.xml" Id="R881e018f7d3a4212"/></Relationships>
</file>

<file path=ppt/notesSlides/_rels/notesSlide77.xml.rels><?xml version="1.0" encoding="utf-8"?><Relationships xmlns="http://schemas.openxmlformats.org/package/2006/relationships"><Relationship Type="http://schemas.openxmlformats.org/officeDocument/2006/relationships/slide" Target="/ppt/slides/slide77.xml" Id="R6163cd5fdb3a40c7"/><Relationship Type="http://schemas.openxmlformats.org/officeDocument/2006/relationships/notesMaster" Target="/ppt/notesMasters/notesMaster1.xml" Id="R74aabc30838745da"/></Relationships>
</file>

<file path=ppt/notesSlides/_rels/notesSlide78.xml.rels><?xml version="1.0" encoding="utf-8"?><Relationships xmlns="http://schemas.openxmlformats.org/package/2006/relationships"><Relationship Type="http://schemas.openxmlformats.org/officeDocument/2006/relationships/slide" Target="/ppt/slides/slide78.xml" Id="R2d64f837e3af43c0"/><Relationship Type="http://schemas.openxmlformats.org/officeDocument/2006/relationships/notesMaster" Target="/ppt/notesMasters/notesMaster1.xml" Id="R98c0d1f05ec04ed7"/></Relationships>
</file>

<file path=ppt/notesSlides/_rels/notesSlide79.xml.rels><?xml version="1.0" encoding="utf-8"?><Relationships xmlns="http://schemas.openxmlformats.org/package/2006/relationships"><Relationship Type="http://schemas.openxmlformats.org/officeDocument/2006/relationships/slide" Target="/ppt/slides/slide79.xml" Id="Race410cb1044427e"/><Relationship Type="http://schemas.openxmlformats.org/officeDocument/2006/relationships/notesMaster" Target="/ppt/notesMasters/notesMaster1.xml" Id="Rda5d90d4963145f2"/></Relationships>
</file>

<file path=ppt/notesSlides/_rels/notesSlide80.xml.rels><?xml version="1.0" encoding="utf-8"?><Relationships xmlns="http://schemas.openxmlformats.org/package/2006/relationships"><Relationship Type="http://schemas.openxmlformats.org/officeDocument/2006/relationships/slide" Target="/ppt/slides/slide80.xml" Id="R21c7f53710cc4461"/><Relationship Type="http://schemas.openxmlformats.org/officeDocument/2006/relationships/notesMaster" Target="/ppt/notesMasters/notesMaster1.xml" Id="R7955f82dd04b405c"/></Relationships>
</file>

<file path=ppt/notesSlides/_rels/notesSlide81.xml.rels><?xml version="1.0" encoding="utf-8"?><Relationships xmlns="http://schemas.openxmlformats.org/package/2006/relationships"><Relationship Type="http://schemas.openxmlformats.org/officeDocument/2006/relationships/slide" Target="/ppt/slides/slide81.xml" Id="R79b12de649d04f9e"/><Relationship Type="http://schemas.openxmlformats.org/officeDocument/2006/relationships/notesMaster" Target="/ppt/notesMasters/notesMaster1.xml" Id="Rf3b67b75301c4e34"/></Relationships>
</file>

<file path=ppt/notesSlides/_rels/notesSlide82.xml.rels><?xml version="1.0" encoding="utf-8"?><Relationships xmlns="http://schemas.openxmlformats.org/package/2006/relationships"><Relationship Type="http://schemas.openxmlformats.org/officeDocument/2006/relationships/slide" Target="/ppt/slides/slide82.xml" Id="R1926d21be99e477c"/><Relationship Type="http://schemas.openxmlformats.org/officeDocument/2006/relationships/notesMaster" Target="/ppt/notesMasters/notesMaster1.xml" Id="R28d9e3e5c7be4691"/></Relationships>
</file>

<file path=ppt/notesSlides/_rels/notesSlide83.xml.rels><?xml version="1.0" encoding="utf-8"?><Relationships xmlns="http://schemas.openxmlformats.org/package/2006/relationships"><Relationship Type="http://schemas.openxmlformats.org/officeDocument/2006/relationships/slide" Target="/ppt/slides/slide83.xml" Id="R84d7346d013f4f98"/><Relationship Type="http://schemas.openxmlformats.org/officeDocument/2006/relationships/notesMaster" Target="/ppt/notesMasters/notesMaster1.xml" Id="R9b6a1a62bcff403c"/></Relationships>
</file>

<file path=ppt/notesSlides/_rels/notesSlide84.xml.rels><?xml version="1.0" encoding="utf-8"?><Relationships xmlns="http://schemas.openxmlformats.org/package/2006/relationships"><Relationship Type="http://schemas.openxmlformats.org/officeDocument/2006/relationships/slide" Target="/ppt/slides/slide84.xml" Id="R7f388a0b87bc41a4"/><Relationship Type="http://schemas.openxmlformats.org/officeDocument/2006/relationships/notesMaster" Target="/ppt/notesMasters/notesMaster1.xml" Id="Raf8067029d9042b1"/></Relationships>
</file>

<file path=ppt/notesSlides/_rels/notesSlide85.xml.rels><?xml version="1.0" encoding="utf-8"?><Relationships xmlns="http://schemas.openxmlformats.org/package/2006/relationships"><Relationship Type="http://schemas.openxmlformats.org/officeDocument/2006/relationships/slide" Target="/ppt/slides/slide85.xml" Id="R7bff9e49879f4dc3"/><Relationship Type="http://schemas.openxmlformats.org/officeDocument/2006/relationships/notesMaster" Target="/ppt/notesMasters/notesMaster1.xml" Id="R2d73c16ab9a64e3a"/></Relationships>
</file>

<file path=ppt/notesSlides/_rels/notesSlide86.xml.rels><?xml version="1.0" encoding="utf-8"?><Relationships xmlns="http://schemas.openxmlformats.org/package/2006/relationships"><Relationship Type="http://schemas.openxmlformats.org/officeDocument/2006/relationships/slide" Target="/ppt/slides/slide86.xml" Id="Rbc671a57a8154956"/><Relationship Type="http://schemas.openxmlformats.org/officeDocument/2006/relationships/notesMaster" Target="/ppt/notesMasters/notesMaster1.xml" Id="Reee7ba3618f64ddd"/></Relationships>
</file>

<file path=ppt/notesSlides/_rels/notesSlide87.xml.rels><?xml version="1.0" encoding="utf-8"?><Relationships xmlns="http://schemas.openxmlformats.org/package/2006/relationships"><Relationship Type="http://schemas.openxmlformats.org/officeDocument/2006/relationships/slide" Target="/ppt/slides/slide87.xml" Id="R7aca11c5c68a4641"/><Relationship Type="http://schemas.openxmlformats.org/officeDocument/2006/relationships/notesMaster" Target="/ppt/notesMasters/notesMaster1.xml" Id="Rc9bcb6b574a24d5c"/></Relationships>
</file>

<file path=ppt/notesSlides/_rels/notesSlide88.xml.rels><?xml version="1.0" encoding="utf-8"?><Relationships xmlns="http://schemas.openxmlformats.org/package/2006/relationships"><Relationship Type="http://schemas.openxmlformats.org/officeDocument/2006/relationships/slide" Target="/ppt/slides/slide88.xml" Id="Redeb9fcbb3244743"/><Relationship Type="http://schemas.openxmlformats.org/officeDocument/2006/relationships/notesMaster" Target="/ppt/notesMasters/notesMaster1.xml" Id="R8b690a0caba34ba7"/></Relationships>
</file>

<file path=ppt/notesSlides/_rels/notesSlide89.xml.rels><?xml version="1.0" encoding="utf-8"?><Relationships xmlns="http://schemas.openxmlformats.org/package/2006/relationships"><Relationship Type="http://schemas.openxmlformats.org/officeDocument/2006/relationships/slide" Target="/ppt/slides/slide89.xml" Id="R3de799a0b79b4526"/><Relationship Type="http://schemas.openxmlformats.org/officeDocument/2006/relationships/notesMaster" Target="/ppt/notesMasters/notesMaster1.xml" Id="Rb8ac526fdffe42d6"/></Relationships>
</file>

<file path=ppt/notesSlides/_rels/notesSlide90.xml.rels><?xml version="1.0" encoding="utf-8"?><Relationships xmlns="http://schemas.openxmlformats.org/package/2006/relationships"><Relationship Type="http://schemas.openxmlformats.org/officeDocument/2006/relationships/slide" Target="/ppt/slides/slide90.xml" Id="R4659f865bd5d4fdb"/><Relationship Type="http://schemas.openxmlformats.org/officeDocument/2006/relationships/notesMaster" Target="/ppt/notesMasters/notesMaster1.xml" Id="R57b5507cc7b3492b"/></Relationships>
</file>

<file path=ppt/notesSlides/_rels/notesSlide91.xml.rels><?xml version="1.0" encoding="utf-8"?><Relationships xmlns="http://schemas.openxmlformats.org/package/2006/relationships"><Relationship Type="http://schemas.openxmlformats.org/officeDocument/2006/relationships/slide" Target="/ppt/slides/slide91.xml" Id="R211db036e4e840df"/><Relationship Type="http://schemas.openxmlformats.org/officeDocument/2006/relationships/notesMaster" Target="/ppt/notesMasters/notesMaster1.xml" Id="R27be2f8e114f43a0"/></Relationships>
</file>

<file path=ppt/notesSlides/_rels/notesSlide92.xml.rels><?xml version="1.0" encoding="utf-8"?><Relationships xmlns="http://schemas.openxmlformats.org/package/2006/relationships"><Relationship Type="http://schemas.openxmlformats.org/officeDocument/2006/relationships/slide" Target="/ppt/slides/slide92.xml" Id="Rb4c0a11d27d9406b"/><Relationship Type="http://schemas.openxmlformats.org/officeDocument/2006/relationships/notesMaster" Target="/ppt/notesMasters/notesMaster1.xml" Id="Rd151ca23e93d4eaf"/></Relationships>
</file>

<file path=ppt/notesSlides/_rels/notesSlide93.xml.rels><?xml version="1.0" encoding="utf-8"?><Relationships xmlns="http://schemas.openxmlformats.org/package/2006/relationships"><Relationship Type="http://schemas.openxmlformats.org/officeDocument/2006/relationships/slide" Target="/ppt/slides/slide93.xml" Id="R691b5c445fe543d4"/><Relationship Type="http://schemas.openxmlformats.org/officeDocument/2006/relationships/notesMaster" Target="/ppt/notesMasters/notesMaster1.xml" Id="R7e6a7ed19e3a40cb"/></Relationships>
</file>

<file path=ppt/notesSlides/_rels/notesSlide94.xml.rels><?xml version="1.0" encoding="utf-8"?><Relationships xmlns="http://schemas.openxmlformats.org/package/2006/relationships"><Relationship Type="http://schemas.openxmlformats.org/officeDocument/2006/relationships/slide" Target="/ppt/slides/slide94.xml" Id="R9d98e90578e745c7"/><Relationship Type="http://schemas.openxmlformats.org/officeDocument/2006/relationships/notesMaster" Target="/ppt/notesMasters/notesMaster1.xml" Id="R7a670bf595fa4529"/></Relationships>
</file>

<file path=ppt/notesSlides/_rels/notesSlide95.xml.rels><?xml version="1.0" encoding="utf-8"?><Relationships xmlns="http://schemas.openxmlformats.org/package/2006/relationships"><Relationship Type="http://schemas.openxmlformats.org/officeDocument/2006/relationships/slide" Target="/ppt/slides/slide95.xml" Id="R5b141234bd884dcf"/><Relationship Type="http://schemas.openxmlformats.org/officeDocument/2006/relationships/notesMaster" Target="/ppt/notesMasters/notesMaster1.xml" Id="R04c69684547247e2"/></Relationships>
</file>

<file path=ppt/notesSlides/_rels/notesSlide96.xml.rels><?xml version="1.0" encoding="utf-8"?><Relationships xmlns="http://schemas.openxmlformats.org/package/2006/relationships"><Relationship Type="http://schemas.openxmlformats.org/officeDocument/2006/relationships/slide" Target="/ppt/slides/slide96.xml" Id="R0127c760534f42a4"/><Relationship Type="http://schemas.openxmlformats.org/officeDocument/2006/relationships/notesMaster" Target="/ppt/notesMasters/notesMaster1.xml" Id="R7ace7c5f8e04458f"/></Relationships>
</file>

<file path=ppt/notesSlides/_rels/notesSlide97.xml.rels><?xml version="1.0" encoding="utf-8"?><Relationships xmlns="http://schemas.openxmlformats.org/package/2006/relationships"><Relationship Type="http://schemas.openxmlformats.org/officeDocument/2006/relationships/slide" Target="/ppt/slides/slide97.xml" Id="R45271ed003694ba9"/><Relationship Type="http://schemas.openxmlformats.org/officeDocument/2006/relationships/notesMaster" Target="/ppt/notesMasters/notesMaster1.xml" Id="R7d1404e76a174da2"/></Relationships>
</file>

<file path=ppt/notesSlides/_rels/notesSlide98.xml.rels><?xml version="1.0" encoding="utf-8"?><Relationships xmlns="http://schemas.openxmlformats.org/package/2006/relationships"><Relationship Type="http://schemas.openxmlformats.org/officeDocument/2006/relationships/slide" Target="/ppt/slides/slide98.xml" Id="R8a7c9e37e6e14582"/><Relationship Type="http://schemas.openxmlformats.org/officeDocument/2006/relationships/notesMaster" Target="/ppt/notesMasters/notesMaster1.xml" Id="R89005aee29154fdf"/></Relationships>
</file>

<file path=ppt/notesSlides/_rels/notesSlide99.xml.rels><?xml version="1.0" encoding="utf-8"?><Relationships xmlns="http://schemas.openxmlformats.org/package/2006/relationships"><Relationship Type="http://schemas.openxmlformats.org/officeDocument/2006/relationships/slide" Target="/ppt/slides/slide99.xml" Id="R0063070daffd43e4"/><Relationship Type="http://schemas.openxmlformats.org/officeDocument/2006/relationships/notesMaster" Target="/ppt/notesMasters/notesMaster1.xml" Id="R7b112601c2a64208"/></Relationships>
</file>

<file path=ppt/notesSlides/_rels/notesSlide100.xml.rels><?xml version="1.0" encoding="utf-8"?><Relationships xmlns="http://schemas.openxmlformats.org/package/2006/relationships"><Relationship Type="http://schemas.openxmlformats.org/officeDocument/2006/relationships/slide" Target="/ppt/slides/slide100.xml" Id="R560a355944224827"/><Relationship Type="http://schemas.openxmlformats.org/officeDocument/2006/relationships/notesMaster" Target="/ppt/notesMasters/notesMaster1.xml" Id="R2956a2047df44dcc"/></Relationships>
</file>

<file path=ppt/notesSlides/_rels/notesSlide101.xml.rels><?xml version="1.0" encoding="utf-8"?><Relationships xmlns="http://schemas.openxmlformats.org/package/2006/relationships"><Relationship Type="http://schemas.openxmlformats.org/officeDocument/2006/relationships/slide" Target="/ppt/slides/slide101.xml" Id="R4df44b7c0ec54bcb"/><Relationship Type="http://schemas.openxmlformats.org/officeDocument/2006/relationships/notesMaster" Target="/ppt/notesMasters/notesMaster1.xml" Id="R8078dc63f9ad408a"/></Relationships>
</file>

<file path=ppt/notesSlides/_rels/notesSlide102.xml.rels><?xml version="1.0" encoding="utf-8"?><Relationships xmlns="http://schemas.openxmlformats.org/package/2006/relationships"><Relationship Type="http://schemas.openxmlformats.org/officeDocument/2006/relationships/slide" Target="/ppt/slides/slide102.xml" Id="R9ec1be889abf4747"/><Relationship Type="http://schemas.openxmlformats.org/officeDocument/2006/relationships/notesMaster" Target="/ppt/notesMasters/notesMaster1.xml" Id="Ra4cbf48a85004011"/></Relationships>
</file>

<file path=ppt/notesSlides/_rels/notesSlide103.xml.rels><?xml version="1.0" encoding="utf-8"?><Relationships xmlns="http://schemas.openxmlformats.org/package/2006/relationships"><Relationship Type="http://schemas.openxmlformats.org/officeDocument/2006/relationships/slide" Target="/ppt/slides/slide103.xml" Id="R4118d3e401d44e6c"/><Relationship Type="http://schemas.openxmlformats.org/officeDocument/2006/relationships/notesMaster" Target="/ppt/notesMasters/notesMaster1.xml" Id="R59b9d3aca398484b"/></Relationships>
</file>

<file path=ppt/notesSlides/_rels/notesSlide104.xml.rels><?xml version="1.0" encoding="utf-8"?><Relationships xmlns="http://schemas.openxmlformats.org/package/2006/relationships"><Relationship Type="http://schemas.openxmlformats.org/officeDocument/2006/relationships/slide" Target="/ppt/slides/slide104.xml" Id="R28d3a752c1654d93"/><Relationship Type="http://schemas.openxmlformats.org/officeDocument/2006/relationships/notesMaster" Target="/ppt/notesMasters/notesMaster1.xml" Id="Ra809662fe7414499"/></Relationships>
</file>

<file path=ppt/notesSlides/_rels/notesSlide105.xml.rels><?xml version="1.0" encoding="utf-8"?><Relationships xmlns="http://schemas.openxmlformats.org/package/2006/relationships"><Relationship Type="http://schemas.openxmlformats.org/officeDocument/2006/relationships/slide" Target="/ppt/slides/slide105.xml" Id="R30e45e9a0633454a"/><Relationship Type="http://schemas.openxmlformats.org/officeDocument/2006/relationships/notesMaster" Target="/ppt/notesMasters/notesMaster1.xml" Id="R789f04a5ee1340b9"/></Relationships>
</file>

<file path=ppt/notesSlides/_rels/notesSlide106.xml.rels><?xml version="1.0" encoding="utf-8"?><Relationships xmlns="http://schemas.openxmlformats.org/package/2006/relationships"><Relationship Type="http://schemas.openxmlformats.org/officeDocument/2006/relationships/slide" Target="/ppt/slides/slide106.xml" Id="R6d958c84c0a24bdb"/><Relationship Type="http://schemas.openxmlformats.org/officeDocument/2006/relationships/notesMaster" Target="/ppt/notesMasters/notesMaster1.xml" Id="R498467402c07474b"/></Relationships>
</file>

<file path=ppt/notesSlides/_rels/notesSlide107.xml.rels><?xml version="1.0" encoding="utf-8"?><Relationships xmlns="http://schemas.openxmlformats.org/package/2006/relationships"><Relationship Type="http://schemas.openxmlformats.org/officeDocument/2006/relationships/slide" Target="/ppt/slides/slide107.xml" Id="R339477906d8e4199"/><Relationship Type="http://schemas.openxmlformats.org/officeDocument/2006/relationships/notesMaster" Target="/ppt/notesMasters/notesMaster1.xml" Id="Rd231d4a707e548bc"/></Relationships>
</file>

<file path=ppt/notesSlides/_rels/notesSlide108.xml.rels><?xml version="1.0" encoding="utf-8"?><Relationships xmlns="http://schemas.openxmlformats.org/package/2006/relationships"><Relationship Type="http://schemas.openxmlformats.org/officeDocument/2006/relationships/slide" Target="/ppt/slides/slide108.xml" Id="R7135a359516b4f01"/><Relationship Type="http://schemas.openxmlformats.org/officeDocument/2006/relationships/notesMaster" Target="/ppt/notesMasters/notesMaster1.xml" Id="R49e2134f87444dec"/></Relationships>
</file>

<file path=ppt/notesSlides/_rels/notesSlide109.xml.rels><?xml version="1.0" encoding="utf-8"?><Relationships xmlns="http://schemas.openxmlformats.org/package/2006/relationships"><Relationship Type="http://schemas.openxmlformats.org/officeDocument/2006/relationships/slide" Target="/ppt/slides/slide109.xml" Id="R73e62c672b6149a9"/><Relationship Type="http://schemas.openxmlformats.org/officeDocument/2006/relationships/notesMaster" Target="/ppt/notesMasters/notesMaster1.xml" Id="Rcf79b18562284a12"/></Relationships>
</file>

<file path=ppt/notesSlides/_rels/notesSlide110.xml.rels><?xml version="1.0" encoding="utf-8"?><Relationships xmlns="http://schemas.openxmlformats.org/package/2006/relationships"><Relationship Type="http://schemas.openxmlformats.org/officeDocument/2006/relationships/slide" Target="/ppt/slides/slide110.xml" Id="Rcbbf893184ea4b4f"/><Relationship Type="http://schemas.openxmlformats.org/officeDocument/2006/relationships/notesMaster" Target="/ppt/notesMasters/notesMaster1.xml" Id="Re73de6cf821b4c89"/></Relationships>
</file>

<file path=ppt/notesSlides/_rels/notesSlide111.xml.rels><?xml version="1.0" encoding="utf-8"?><Relationships xmlns="http://schemas.openxmlformats.org/package/2006/relationships"><Relationship Type="http://schemas.openxmlformats.org/officeDocument/2006/relationships/slide" Target="/ppt/slides/slide111.xml" Id="R7702ee77e1344abd"/><Relationship Type="http://schemas.openxmlformats.org/officeDocument/2006/relationships/notesMaster" Target="/ppt/notesMasters/notesMaster1.xml" Id="R9ce33fbf1e97475c"/></Relationships>
</file>

<file path=ppt/notesSlides/_rels/notesSlide112.xml.rels><?xml version="1.0" encoding="utf-8"?><Relationships xmlns="http://schemas.openxmlformats.org/package/2006/relationships"><Relationship Type="http://schemas.openxmlformats.org/officeDocument/2006/relationships/slide" Target="/ppt/slides/slide112.xml" Id="R7d0b24138dea41be"/><Relationship Type="http://schemas.openxmlformats.org/officeDocument/2006/relationships/notesMaster" Target="/ppt/notesMasters/notesMaster1.xml" Id="Rd6d4f46725ed4448"/></Relationships>
</file>

<file path=ppt/notesSlides/_rels/notesSlide113.xml.rels><?xml version="1.0" encoding="utf-8"?><Relationships xmlns="http://schemas.openxmlformats.org/package/2006/relationships"><Relationship Type="http://schemas.openxmlformats.org/officeDocument/2006/relationships/slide" Target="/ppt/slides/slide113.xml" Id="R45e579cfd1b74751"/><Relationship Type="http://schemas.openxmlformats.org/officeDocument/2006/relationships/notesMaster" Target="/ppt/notesMasters/notesMaster1.xml" Id="Rc6bf7d350d8f400a"/></Relationships>
</file>

<file path=ppt/notesSlides/_rels/notesSlide114.xml.rels><?xml version="1.0" encoding="utf-8"?><Relationships xmlns="http://schemas.openxmlformats.org/package/2006/relationships"><Relationship Type="http://schemas.openxmlformats.org/officeDocument/2006/relationships/slide" Target="/ppt/slides/slide114.xml" Id="Rae043a76808647db"/><Relationship Type="http://schemas.openxmlformats.org/officeDocument/2006/relationships/notesMaster" Target="/ppt/notesMasters/notesMaster1.xml" Id="R67ed9e5ab2d544b5"/></Relationships>
</file>

<file path=ppt/notesSlides/_rels/notesSlide115.xml.rels><?xml version="1.0" encoding="utf-8"?><Relationships xmlns="http://schemas.openxmlformats.org/package/2006/relationships"><Relationship Type="http://schemas.openxmlformats.org/officeDocument/2006/relationships/slide" Target="/ppt/slides/slide115.xml" Id="Redcec79e7d494b53"/><Relationship Type="http://schemas.openxmlformats.org/officeDocument/2006/relationships/notesMaster" Target="/ppt/notesMasters/notesMaster1.xml" Id="R44c72230652f43f5"/></Relationships>
</file>

<file path=ppt/notesSlides/_rels/notesSlide116.xml.rels><?xml version="1.0" encoding="utf-8"?><Relationships xmlns="http://schemas.openxmlformats.org/package/2006/relationships"><Relationship Type="http://schemas.openxmlformats.org/officeDocument/2006/relationships/slide" Target="/ppt/slides/slide116.xml" Id="R58179a36448c4275"/><Relationship Type="http://schemas.openxmlformats.org/officeDocument/2006/relationships/notesMaster" Target="/ppt/notesMasters/notesMaster1.xml" Id="R38560c6956584fa4"/></Relationships>
</file>

<file path=ppt/notesSlides/_rels/notesSlide117.xml.rels><?xml version="1.0" encoding="utf-8"?><Relationships xmlns="http://schemas.openxmlformats.org/package/2006/relationships"><Relationship Type="http://schemas.openxmlformats.org/officeDocument/2006/relationships/slide" Target="/ppt/slides/slide117.xml" Id="Rb745a901479e4157"/><Relationship Type="http://schemas.openxmlformats.org/officeDocument/2006/relationships/notesMaster" Target="/ppt/notesMasters/notesMaster1.xml" Id="R9b2585fdc2c843bb"/></Relationships>
</file>

<file path=ppt/notesSlides/_rels/notesSlide118.xml.rels><?xml version="1.0" encoding="utf-8"?><Relationships xmlns="http://schemas.openxmlformats.org/package/2006/relationships"><Relationship Type="http://schemas.openxmlformats.org/officeDocument/2006/relationships/slide" Target="/ppt/slides/slide118.xml" Id="Re9189c18ad9a47e6"/><Relationship Type="http://schemas.openxmlformats.org/officeDocument/2006/relationships/notesMaster" Target="/ppt/notesMasters/notesMaster1.xml" Id="Rf35708420cc741cc"/></Relationships>
</file>

<file path=ppt/notesSlides/_rels/notesSlide119.xml.rels><?xml version="1.0" encoding="utf-8"?><Relationships xmlns="http://schemas.openxmlformats.org/package/2006/relationships"><Relationship Type="http://schemas.openxmlformats.org/officeDocument/2006/relationships/slide" Target="/ppt/slides/slide119.xml" Id="Rf7e4586e1afd46f0"/><Relationship Type="http://schemas.openxmlformats.org/officeDocument/2006/relationships/notesMaster" Target="/ppt/notesMasters/notesMaster1.xml" Id="R9a58555e79244a2d"/></Relationships>
</file>

<file path=ppt/notesSlides/notesSlide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S01 — AI가 개발 프로젝트를 직접 살펴보게 하기</a:t>
            </a:r>
          </a:p>
          <a:p>
            <a:r>
              <a:t xml:space="preserve"/>
            </a:r>
          </a:p>
          <a:p>
            <a:r>
              <a:t xml:space="preserve">**Slide ID:**</a:t>
            </a:r>
          </a:p>
          <a:p>
            <a:r>
              <a:t xml:space="preserve">S01</a:t>
            </a:r>
          </a:p>
          <a:p>
            <a:r>
              <a:t xml:space="preserve"/>
            </a:r>
          </a:p>
          <a:p>
            <a:r>
              <a:t xml:space="preserve">**Working Title:**</a:t>
            </a:r>
          </a:p>
          <a:p>
            <a:r>
              <a:t xml:space="preserve">AI가 개발 프로젝트를 직접 살펴보게 하기</a:t>
            </a:r>
          </a:p>
          <a:p>
            <a:r>
              <a:t xml:space="preserve"/>
            </a:r>
          </a:p>
          <a:p>
            <a:r>
              <a:t xml:space="preserve">**ACT / Section:**</a:t>
            </a:r>
          </a:p>
          <a:p>
            <a:r>
              <a:t xml:space="preserve">ACT 0 / 0A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개발 프로젝트를 직접 살펴보게 하기 — Chatbot → 개발 프로젝트를 조사하는 Agent. 이 ACT에서 개발 프로젝트는 코드·명세·테스트가 있는 프로젝트 폴더를 뜻한다.</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ACT0 제목 “AI가 개발 프로젝트를 직접 살펴보게 하기”를 가리키며 구간을 연다.</a:t>
            </a:r>
          </a:p>
          <a:p>
            <a:r>
              <a:t xml:space="preserve">2. (0:20–0:40 / Transition) 부제 “Chatbot → 개발 프로젝트를 조사하는 Agent”를 짚고, 여기서 개발 프로젝트는 코드·명세·테스트가 있는 프로젝트 폴더라는 뜻만 짧게 확인한다. ChatGPT의 프로젝트 기능이나 Git 원격 서비스의 이름으로 설명하지 않는다.</a:t>
            </a:r>
          </a:p>
          <a:p>
            <a:r>
              <a:t xml:space="preserve">3. (0:40–1:00 / Transition) S02의 기존 첫 질문으로 이동한다. 기능·도구·성과 소개로 확장하거나 기존 Reflection을 대신하지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S02 — AI에게 지금 무엇을 맡기고 있는가?로 이어간다.</a:t>
            </a:r>
          </a:p>
          <a:p>
            <a:r>
              <a:t xml:space="preserve"/>
            </a:r>
          </a:p>
          <a:p>
            <a:r>
              <a:t xml:space="preserve">**Time Management:**</a:t>
            </a:r>
          </a:p>
          <a:p>
            <a:r>
              <a:t xml:space="preserve">Transition 1분. 기존 본문 시간을 줄이거나 중복 계산하지 않는다. ACT 0 총45분, 전체420분이다. 제목·부제만 안내하고1분에 S02로 넘긴다. 실측 리허설 UNVERIFIED.</a:t>
            </a:r>
          </a:p>
          <a:p>
            <a:r>
              <a:t xml:space="preserve"/>
            </a:r>
          </a:p>
          <a:p>
            <a:r>
              <a:t xml:space="preserve">**Fallback:**</a:t>
            </a:r>
          </a:p>
          <a:p>
            <a:r>
              <a:t xml:space="preserve">LOCAL STATIC ARTIFACT — production/preview/full/S01.png 또는 production/ACT_0.pptx의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S02 — AI에게 지금 무엇을 맡기고 있는가?</a:t>
            </a:r>
          </a:p>
          <a:p>
            <a:r>
              <a:t xml:space="preserve"/>
            </a:r>
          </a:p>
          <a:p>
            <a:r>
              <a:t xml:space="preserve">Slide ID: S02</a:t>
            </a:r>
          </a:p>
          <a:p>
            <a:r>
              <a:t xml:space="preserve"/>
            </a:r>
          </a:p>
          <a:p>
            <a:r>
              <a:t xml:space="preserve">Working Title: AI에게 지금 무엇을 맡기고 있는가?</a:t>
            </a:r>
          </a:p>
          <a:p>
            <a:r>
              <a:t xml:space="preserve"/>
            </a:r>
          </a:p>
          <a:p>
            <a:r>
              <a:t xml:space="preserve">ACT / Section: ACT 0 / 0A</a:t>
            </a:r>
          </a:p>
          <a:p>
            <a:r>
              <a:t xml:space="preserve"/>
            </a:r>
          </a:p>
          <a:p>
            <a:r>
              <a:t xml:space="preserve">Allocated Time: 5 minutes</a:t>
            </a:r>
          </a:p>
          <a:p>
            <a:r>
              <a:t xml:space="preserve"/>
            </a:r>
          </a:p>
          <a:p>
            <a:r>
              <a:t xml:space="preserve">Mode Split: Lecture 1 minute + Reflection 4 minutes</a:t>
            </a:r>
          </a:p>
          <a:p>
            <a:r>
              <a:t xml:space="preserve"/>
            </a:r>
          </a:p>
          <a:p>
            <a:r>
              <a:t xml:space="preserve">Primary Message: 자기 AI 활용을 평가하지 않고, 현재 맡기는 업무 범위를 돌아본다.</a:t>
            </a:r>
          </a:p>
          <a:p>
            <a:r>
              <a:t xml:space="preserve"/>
            </a:r>
          </a:p>
          <a:p>
            <a:r>
              <a:t xml:space="preserve">Opening Question: “나는 지금 AI에게 무엇을 맡기고 있는가?” 화면의 한 줄 안내처럼 최근 AI에 맡긴 일 하나를 떠올리게 한다.</a:t>
            </a:r>
          </a:p>
          <a:p>
            <a:r>
              <a:t xml:space="preserve"/>
            </a:r>
          </a:p>
          <a:p>
            <a:r>
              <a:t xml:space="preserve">Speaker Flow: 1. **OPEN (0:00–0:15 / Lecture):** 기존 제목과 “최근 AI에 맡긴 일 하나를 떠올려보세요”를 읽는다. 사용 수준을 평가하는 자리가 아니며 익숙한 경험 하나면 충분하다고 말한다.</a:t>
            </a:r>
          </a:p>
          <a:p>
            <a:r>
              <a:t xml:space="preserve">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a:r>
              <a:t xml:space="preserve">3. **INVITE (0:45–1:00 / Lecture):** 이 중 최근 자신의 경험과 가까운 일 하나만 조용히 떠올리면 된다고 안내한다. Prompt·Context·Harness·Loop의 이름이나 성숙도 설명을 덧붙이지 않는다.</a:t>
            </a:r>
          </a:p>
          <a:p>
            <a:r>
              <a:t xml:space="preserve">4. **REFLECTION (1:00–5:00):** 네 분의 개인 생각 시간을 보존한다. 응답·기록·공유·실천 약속을 요구하지 않고 예시 설명을 계속하지 않는다.</a:t>
            </a:r>
          </a:p>
          <a:p>
            <a:r>
              <a:t xml:space="preserve"/>
            </a:r>
          </a:p>
          <a:p>
            <a:r>
              <a:t xml:space="preserve">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a:r>
              <a:t xml:space="preserve"/>
            </a:r>
          </a:p>
          <a:p>
            <a:r>
              <a:t xml:space="preserve">보존된 상세 출처: 교육용 사례 삽화 · AI 생성 이미지 · 실제 제품 실행 화면 아님</a:t>
            </a:r>
          </a:p>
          <a:p>
            <a:r>
              <a:t xml:space="preserve"/>
            </a:r>
          </a:p>
          <a:p>
            <a:r>
              <a:t xml:space="preserve">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a:r>
              <a:t xml:space="preserve"/>
            </a:r>
          </a:p>
          <a:p>
            <a:r>
              <a:t xml:space="preserve">보존된 상세 범위: 자신의 경험 하나만 떠올려 보세요. 사용 수준을 평가하는 질문이 아닙니다.</a:t>
            </a:r>
          </a:p>
          <a:p>
            <a:r>
              <a:t xml:space="preserve"/>
            </a:r>
          </a:p>
          <a:p>
            <a:r>
              <a:t xml:space="preserve">Beginner Explanation: 지금 자주 맡기는 작은 일 하나를 떠올리면 충분하다. 아직 해보지 않은 사용법을 아는 척할 필요는 없다.</a:t>
            </a:r>
          </a:p>
          <a:p>
            <a:r>
              <a:t xml:space="preserve"/>
            </a:r>
          </a:p>
          <a:p>
            <a:r>
              <a:t xml:space="preserve">Advanced Insight: 서로 다른 출발점을 같은 문제 중심 Story에서 다룬다. 세 장면으로 익숙한 경험을 떠올리게 하며 다음 단계 이름이나 고급 구성요소를 이 장에서 미리 설명하지 않는다.</a:t>
            </a:r>
          </a:p>
          <a:p>
            <a:r>
              <a:t xml:space="preserve"/>
            </a:r>
          </a:p>
          <a:p>
            <a:r>
              <a:t xml:space="preserve">C++ Vision Bridge: N/A.</a:t>
            </a:r>
          </a:p>
          <a:p>
            <a:r>
              <a:t xml:space="preserve"/>
            </a:r>
          </a:p>
          <a:p>
            <a:r>
              <a:t xml:space="preserve">Demo Operation: N/A. 삽화 세 장면을 강사가 가리키는 도입이다. 실제 제품 조작·새 Trial·실행 결과 시연이 아니다.</a:t>
            </a:r>
          </a:p>
          <a:p>
            <a:r>
              <a:t xml:space="preserve"/>
            </a:r>
          </a:p>
          <a:p>
            <a:r>
              <a:t xml:space="preserve">Audience Interaction: Reflection은 개인적인 생각 시간이다. 답변·기록·공유·실천 약속을 요구하지 않는다. 세 사례 중 경험을 발표하거나 자신의 수준을 고르게 하지 않는다.</a:t>
            </a:r>
          </a:p>
          <a:p>
            <a:r>
              <a:t xml:space="preserve"/>
            </a:r>
          </a:p>
          <a:p>
            <a:r>
              <a:t xml:space="preserve">Transition: 작은 코드나 오류를 질문하는 익숙한 방식부터 인정하며 S03로 간다.</a:t>
            </a:r>
          </a:p>
          <a:p>
            <a:r>
              <a:t xml:space="preserve"/>
            </a:r>
          </a:p>
          <a:p>
            <a:r>
              <a:t xml:space="preserve">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a:r>
              <a:t xml:space="preserve"/>
            </a:r>
          </a:p>
          <a:p>
            <a:r>
              <a:t xml:space="preserve">Fallback: 공식 정적 경로 `production/ACT_0.pptx` S02 또는 `production/preview/act0/S02.png`를 사용한다. 이번 수정본과 PNG의 일치 여부는 제작 단계에서 확인한다. 청중 반응이 없어도 기다린 뒤 다음 장으로 간다. 실제 제품 화면이나 개인 경험 발표로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S03 — 작은 질문에는 Chatbot이 유용하다</a:t>
            </a:r>
          </a:p>
          <a:p>
            <a:r>
              <a:t xml:space="preserve"/>
            </a:r>
          </a:p>
          <a:p>
            <a:r>
              <a:t xml:space="preserve">Slide ID: S03</a:t>
            </a:r>
          </a:p>
          <a:p>
            <a:r>
              <a:t xml:space="preserve"/>
            </a:r>
          </a:p>
          <a:p>
            <a:r>
              <a:t xml:space="preserve">Working Title: 작은 질문에는 Chatbot이 유용하다</a:t>
            </a:r>
          </a:p>
          <a:p>
            <a:r>
              <a:t xml:space="preserve"/>
            </a:r>
          </a:p>
          <a:p>
            <a:r>
              <a:t xml:space="preserve">ACT / Section: ACT 0 / 0B</a:t>
            </a:r>
          </a:p>
          <a:p>
            <a:r>
              <a:t xml:space="preserve"/>
            </a:r>
          </a:p>
          <a:p>
            <a:r>
              <a:t xml:space="preserve">Allocated Time: 5 minutes</a:t>
            </a:r>
          </a:p>
          <a:p>
            <a:r>
              <a:t xml:space="preserve"/>
            </a:r>
          </a:p>
          <a:p>
            <a:r>
              <a:t xml:space="preserve">Mode Split: Lecture 5 minutes</a:t>
            </a:r>
          </a:p>
          <a:p>
            <a:r>
              <a:t xml:space="preserve"/>
            </a:r>
          </a:p>
          <a:p>
            <a:r>
              <a:t xml:space="preserve">Primary Message: 필요한 코드나 오류를 전달해 답을 받는 방식은 작은 질문에서 빠르고 유용할 수 있다.</a:t>
            </a:r>
          </a:p>
          <a:p>
            <a:r>
              <a:t xml:space="preserve"/>
            </a:r>
          </a:p>
          <a:p>
            <a:r>
              <a:t xml:space="preserve">Opening Question: “괄호만 바꾸면 같은 원소가 만들어질까?” `std::vector&lt;int&gt;`의 두 초기화 표현을 작은 코드 질문으로 제시한다.</a:t>
            </a:r>
          </a:p>
          <a:p>
            <a:r>
              <a:t xml:space="preserve"/>
            </a:r>
          </a:p>
          <a:p>
            <a:r>
              <a:t xml:space="preserve">Speaker Flow:</a:t>
            </a:r>
          </a:p>
          <a:p>
            <a:r>
              <a:t xml:space="preserve"/>
            </a:r>
          </a:p>
          <a:p>
            <a:r>
              <a:t xml:space="preserve">1. **OPEN (0:00–0:45):** `std::vector&lt;int&gt; a(3, 1);`과 `std::vector&lt;int&gt; b{3, 1};`을 보여 준다. 같은 숫자라도 괄호가 다르면 어떤 의미가 되는지 묻는 교육용 예시임을 밝힌다. 실제 ChatGPT 대화나 컴파일 실행 화면이 아니다.</a:t>
            </a:r>
          </a:p>
          <a:p>
            <a:r>
              <a:t xml:space="preserve">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a:r>
              <a:t xml:space="preserve">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a:r>
              <a:t xml:space="preserve">4. **INTERPRET (4:15–4:30):** 작은 코드 조각의 혼동을 풀 때 이 질문 방식이 유용할 수 있음을 인정한다.</a:t>
            </a:r>
          </a:p>
          <a:p>
            <a:r>
              <a:t xml:space="preserve">5. **TRANSITION (4:30–5:00):** 질문이 여러 파일과 구현 경로로 커지면 무엇부터 찾아 전달해야 하는지 S05으로 연결한다. 현재 방식을 잘못된 사용법으로 평가하지 않는다.</a:t>
            </a:r>
          </a:p>
          <a:p>
            <a:r>
              <a:t xml:space="preserve"/>
            </a:r>
          </a:p>
          <a:p>
            <a:r>
              <a:t xml:space="preserve">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a:r>
              <a:t xml:space="preserve"/>
            </a:r>
          </a:p>
          <a:p>
            <a:r>
              <a:t xml:space="preserve">보존된 상세 출처: Microsoft C++ 문서 기반 교육 예시 · 실제 ChatGPT 대화·실행 화면 아님</a:t>
            </a:r>
          </a:p>
          <a:p>
            <a:r>
              <a:t xml:space="preserve"/>
            </a:r>
          </a:p>
          <a:p>
            <a:r>
              <a:t xml:space="preserve">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a:r>
              <a:t xml:space="preserve"/>
            </a:r>
          </a:p>
          <a:p>
            <a:r>
              <a:t xml:space="preserve">보존된 상세 범위: 괄호는 개수·값 생성자, 중괄호는 이 예시의 initializer_list 생성자를 사용합니다.</a:t>
            </a:r>
          </a:p>
          <a:p>
            <a:r>
              <a:t xml:space="preserve"/>
            </a:r>
          </a:p>
          <a:p>
            <a:r>
              <a:t xml:space="preserve">Beginner Explanation: 괄호만 다른 짧은 코드도 뜻을 물어볼 만한 질문이다. 두 표현이 각각 어떤 원소를 만드는지 설명을 받고 원래 코드와 맞는지 확인할 수 있다.</a:t>
            </a:r>
          </a:p>
          <a:p>
            <a:r>
              <a:t xml:space="preserve"/>
            </a:r>
          </a:p>
          <a:p>
            <a:r>
              <a:t xml:space="preserve">Advanced Insight: 익숙한 C++ 코드의 생성자 선택도 작은 질문의 대상이다. 이 장의 초점은 문법 강의보다 개발자가 필요한 Context를 선택·전달하고 답을 확인하는 흐름에 있다.</a:t>
            </a:r>
          </a:p>
          <a:p>
            <a:r>
              <a:t xml:space="preserve"/>
            </a:r>
          </a:p>
          <a:p>
            <a:r>
              <a:t xml:space="preserve">C++ Vision Bridge: 일반적인 C++ 코드 질문을 출발점으로 사용한다. 실제 Vision 처리·특정 IDE/컴파일러/Windows 빌드 조건·장비 실행을 추가하는 Demo가 아니다.</a:t>
            </a:r>
          </a:p>
          <a:p>
            <a:r>
              <a:t xml:space="preserve"/>
            </a:r>
          </a:p>
          <a:p>
            <a:r>
              <a:t xml:space="preserve">Demo Operation: N/A. 두 초기화 표현과 원소 도식, IDE → Chatbot → IDE의 연결된 native 흐름을 설명한다. 실제 대화·IDE 자동 연동·컴파일 실행·새 Trial은 없다.</a:t>
            </a:r>
          </a:p>
          <a:p>
            <a:r>
              <a:t xml:space="preserve"/>
            </a:r>
          </a:p>
          <a:p>
            <a:r>
              <a:t xml:space="preserve">Audience Interaction: Opening question은 생각을 여는 질문이다. 코드 작성·실행·손들기·경험 발표나 답변을 요구하지 않는다.</a:t>
            </a:r>
          </a:p>
          <a:p>
            <a:r>
              <a:t xml:space="preserve"/>
            </a:r>
          </a:p>
          <a:p>
            <a:r>
              <a:t xml:space="preserve">Transition: 질문이 여러 파일·구현 경로로 커지면 무엇을 먼저 찾아야 하는지 S05에서 묻는다.</a:t>
            </a:r>
          </a:p>
          <a:p>
            <a:r>
              <a:t xml:space="preserve"/>
            </a:r>
          </a:p>
          <a:p>
            <a:r>
              <a:t xml:space="preserve">Time Management: Lecture 5분 유지. 질문 45초, 초기화·원소 비교 90초, 연결된 세 노드 2분, 작은 질문의 가치 15초, S05 연결 30초로 운영한다. 상세 Prompt 작성법이나 C++ 초기화 문법 전반을 추가하지 않는다. 실제 발화 시간은 미측정이다.</a:t>
            </a:r>
          </a:p>
          <a:p>
            <a:r>
              <a:t xml:space="preserve"/>
            </a:r>
          </a:p>
          <a:p>
            <a:r>
              <a:t xml:space="preserve">Fallback: 공식 정적 경로 `production/ACT_0.pptx` S03 또는 `production/preview/act0/S03.png`의 두 C++ 표현·원소 비교·연결된 세 노드를 설명한다. 이번 수정본과 PNG의 일치 여부는 제작 단계에서 확인한다. 실제 ChatGPT 대화나 즉석 제품 화면으로 대체하지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S04 — 코드 질문은 VS Code의 Copilot Chat에서</a:t>
            </a:r>
          </a:p>
          <a:p>
            <a:r>
              <a:t xml:space="preserve"/>
            </a:r>
          </a:p>
          <a:p>
            <a:r>
              <a:t xml:space="preserve">**Slide ID:**</a:t>
            </a:r>
          </a:p>
          <a:p>
            <a:r>
              <a:t xml:space="preserve">S04</a:t>
            </a:r>
          </a:p>
          <a:p>
            <a:r>
              <a:t xml:space="preserve"/>
            </a:r>
          </a:p>
          <a:p>
            <a:r>
              <a:t xml:space="preserve">**Working Title:**</a:t>
            </a:r>
          </a:p>
          <a:p>
            <a:r>
              <a:t xml:space="preserve">코드 질문은 VS Code의 Copilot Chat에서</a:t>
            </a:r>
          </a:p>
          <a:p>
            <a:r>
              <a:t xml:space="preserve"/>
            </a:r>
          </a:p>
          <a:p>
            <a:r>
              <a:t xml:space="preserve">**ACT / Section:**</a:t>
            </a:r>
          </a:p>
          <a:p>
            <a:r>
              <a:t xml:space="preserve">ACT 0 / 0B</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질문할 코드를 선택해 Copilot Chat의 Context로 첨부하고, 코드 설명을 요청한 뒤 답을 확인한다.</a:t>
            </a:r>
          </a:p>
          <a:p>
            <a:r>
              <a:t xml:space="preserve"/>
            </a:r>
          </a:p>
          <a:p>
            <a:r>
              <a:t xml:space="preserve">**Opening Question:**</a:t>
            </a:r>
          </a:p>
          <a:p>
            <a:r>
              <a:t xml:space="preserve">“앞의 C++ 질문을 회사에서 사용하는 IDE 안에서 어떻게 물어볼까?”</a:t>
            </a:r>
          </a:p>
          <a:p>
            <a:r>
              <a:t xml:space="preserve"/>
            </a:r>
          </a:p>
          <a:p>
            <a:r>
              <a:t xml:space="preserve">**Speaker Flow:**</a:t>
            </a:r>
          </a:p>
          <a:p>
            <a:r>
              <a:t xml:space="preserve">1. (0:00–0:25 / Lecture) S03과 같은 두 vector 초기화 코드를 가리킨다. 회사에서 사용하는 GitHub Copilot과 VS Code 조합으로 이 작은 질문을 이어갈 수 있다.</a:t>
            </a:r>
          </a:p>
          <a:p>
            <a:r>
              <a:t xml:space="preserve">2. (0:25–1:15 / Lecture) 편집기에서 두 줄을 선택하고 Copilot Chat의 Context에 첨부·확인하는 도식을 읽는다. Ask로 “두 vector의 원소 개수와 값이 왜 다른지 설명해줘. 코드는 수정하지 마.”라고 요청한다. 재구성한 화면이며 실제 사용·응답 기록을 보여주는 장이 아니다.</a:t>
            </a:r>
          </a:p>
          <a:p>
            <a:r>
              <a:t xml:space="preserve">3. (1:15–2:00 / Lecture) 답을 코드 의미와 대조해 확인한다. IDE에 열려 있다는 사실과 필요한 정보가 전달됐다는 사실은 구분한다. 다음 장에서 질문이 커질 때 필요한 자료 범주를 살펴본다.</a:t>
            </a:r>
          </a:p>
          <a:p>
            <a:r>
              <a:t xml:space="preserve"/>
            </a:r>
          </a:p>
          <a:p>
            <a:r>
              <a:t xml:space="preserve">**Evidence / Source:**</a:t>
            </a:r>
          </a:p>
          <a:p>
            <a:r>
              <a:t xml:space="preserve">GitHub Docs, Asking GitHub Copilot questions in your IDE: https://docs.github.com/en/copilot/how-tos/copilot-in-your-ide/chat-with-copilot/chat-in-ide?tool=vscode ; VS Code Docs, Add context to chat: https://code.visualstudio.com/docs/chat/copilot-chat-context ; checked2026-10-26. DEC-0101 and explicit user instruction establish the company-used tool combination, not a mandatory company policy.</a:t>
            </a:r>
          </a:p>
          <a:p>
            <a:r>
              <a:t xml:space="preserve"/>
            </a:r>
          </a:p>
          <a:p>
            <a:r>
              <a:t xml:space="preserve">보존된 상세 출처: GitHub Docs · VS Code Docs | 사용 방법을 재구성한 교육용 UI 도식</a:t>
            </a:r>
          </a:p>
          <a:p>
            <a:r>
              <a:t xml:space="preserve"/>
            </a:r>
          </a:p>
          <a:p>
            <a:r>
              <a:t xml:space="preserve">**Claim Boundary:**</a:t>
            </a:r>
          </a:p>
          <a:p>
            <a:r>
              <a:t xml:space="preserve">RESEARCH / TEACHING_MODEL / REQUIRES PRODUCT CHECK — 공식 안내를 각색한 UI 도식과 요청 예시다. 실제 회사 화면·Copilot 응답·선택/첨부/실행 기록이 아니다. 특정 계정의 기능·조직 정책·자동 Context 포함이나 정확성/시간 절감은 검증하지 않았다.</a:t>
            </a:r>
          </a:p>
          <a:p>
            <a:r>
              <a:t xml:space="preserve"/>
            </a:r>
          </a:p>
          <a:p>
            <a:r>
              <a:t xml:space="preserve">보존된 상세 범위: 실제 회사 화면·응답 아님 · 전달할 코드를 확인하고, 답을 다시 확인한다.</a:t>
            </a:r>
          </a:p>
          <a:p>
            <a:r>
              <a:t xml:space="preserve"/>
            </a:r>
          </a:p>
          <a:p>
            <a:r>
              <a:t xml:space="preserve">**Beginner Explanation:**</a:t>
            </a:r>
          </a:p>
          <a:p>
            <a:r>
              <a:t xml:space="preserve">회사에서 사용하는 VS Code에서 관련 코드를 골라 Copilot Chat에 설명을 요청할 수 있다.</a:t>
            </a:r>
          </a:p>
          <a:p>
            <a:r>
              <a:t xml:space="preserve"/>
            </a:r>
          </a:p>
          <a:p>
            <a:r>
              <a:t xml:space="preserve">**Advanced Insight:**</a:t>
            </a:r>
          </a:p>
          <a:p>
            <a:r>
              <a:t xml:space="preserve">IDE 통합과 실제 전달 Context를 구분하고 필요한 코드 첨부 및 응답 확인 책임을 유지한다.</a:t>
            </a:r>
          </a:p>
          <a:p>
            <a:r>
              <a:t xml:space="preserve"/>
            </a:r>
          </a:p>
          <a:p>
            <a:r>
              <a:t xml:space="preserve">**C++ Vision Bridge:**</a:t>
            </a:r>
          </a:p>
          <a:p>
            <a:r>
              <a:t xml:space="preserve">S03의 std::vector 초기화 예제를 그대로 사용한다. 실제 컴파일·실행·C++ 검사 파이프라인 검증은 추가하지 않는다.</a:t>
            </a:r>
          </a:p>
          <a:p>
            <a:r>
              <a:t xml:space="preserve"/>
            </a:r>
          </a:p>
          <a:p>
            <a:r>
              <a:t xml:space="preserve">**Demo Operation:**</a:t>
            </a:r>
          </a:p>
          <a:p>
            <a:r>
              <a:t xml:space="preserve">N/A — 정적 교육용 UI 도식. 회사 계정에 로그인하거나 Copilot을 호출·실행하지 않는다. 설치나 조직 정책 변경도 하지 않는다.</a:t>
            </a:r>
          </a:p>
          <a:p>
            <a:r>
              <a:t xml:space="preserve"/>
            </a:r>
          </a:p>
          <a:p>
            <a:r>
              <a:t xml:space="preserve">**Audience Interaction:**</a:t>
            </a:r>
          </a:p>
          <a:p>
            <a:r>
              <a:t xml:space="preserve">화면의3단계를 짧게 짚는다. 청중에게 설치·로그인·직접 실습이나 공개 답변을 요구하지 않는다.</a:t>
            </a:r>
          </a:p>
          <a:p>
            <a:r>
              <a:t xml:space="preserve"/>
            </a:r>
          </a:p>
          <a:p>
            <a:r>
              <a:t xml:space="preserve">**Transition:**</a:t>
            </a:r>
          </a:p>
          <a:p>
            <a:r>
              <a:t xml:space="preserve">“선택한 코드만으로 설명하기 어려운 문제라면, 어떤 자료가 더 필요할까요?” S05의 기존 Context 수집 문제로 이어간다.</a:t>
            </a:r>
          </a:p>
          <a:p>
            <a:r>
              <a:t xml:space="preserve"/>
            </a:r>
          </a:p>
          <a:p>
            <a:r>
              <a:t xml:space="preserve">**Time Management:**</a:t>
            </a:r>
          </a:p>
          <a:p>
            <a:r>
              <a:t xml:space="preserve">0:00–0:25 같은 예제,0:25–1:15 코드 선택/첨부/Ask 질문,1:15–2:00 답 확인과 다음 Context 질문.2분에 넘긴다. 설정·요금·모델 비교는 이 장의 범위가 아니다. 실제 리허설 UNVERIFIED.</a:t>
            </a:r>
          </a:p>
          <a:p>
            <a:r>
              <a:t xml:space="preserve"/>
            </a:r>
          </a:p>
          <a:p>
            <a:r>
              <a:t xml:space="preserve">**Fallback:**</a:t>
            </a:r>
          </a:p>
          <a:p>
            <a:r>
              <a:t xml:space="preserve">PLANNED until the new local PPT/PNG is rendered and inspected. Default is the reconstructed diagram in production/ACT_0.pptx S04 and production/preview/full/S04.png; no live switch is required.</a:t>
            </a:r>
          </a:p>
          <a:p>
            <a:r>
              <a:t xml:space="preserve"/>
            </a:r>
          </a:p>
          <a:p>
            <a:r>
              <a:t xml:space="preserve">**Validation Status:**</a:t>
            </a:r>
          </a:p>
          <a:p>
            <a:r>
              <a:t xml:space="preserve">Official guidance checked2026-10-26; local export/render validation is recorded separately in production/evaluation/COPILOT_IDE_TIP.md. Company-account execution, Windows, room and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S05 — 질문이 커지면 Context를 모으는 일이 생긴다</a:t>
            </a:r>
          </a:p>
          <a:p>
            <a:r>
              <a:t xml:space="preserve"/>
            </a:r>
          </a:p>
          <a:p>
            <a:r>
              <a:t xml:space="preserve">Slide ID: S05</a:t>
            </a:r>
          </a:p>
          <a:p>
            <a:r>
              <a:t xml:space="preserve"/>
            </a:r>
          </a:p>
          <a:p>
            <a:r>
              <a:t xml:space="preserve">Working Title: 질문이 커지면 Context를 모으는 일이 생긴다</a:t>
            </a:r>
          </a:p>
          <a:p>
            <a:r>
              <a:t xml:space="preserve"/>
            </a:r>
          </a:p>
          <a:p>
            <a:r>
              <a:t xml:space="preserve">ACT / Section: ACT 0 / 0C</a:t>
            </a:r>
          </a:p>
          <a:p>
            <a:r>
              <a:t xml:space="preserve"/>
            </a:r>
          </a:p>
          <a:p>
            <a:r>
              <a:t xml:space="preserve">Allocated Time: 4 minutes</a:t>
            </a:r>
          </a:p>
          <a:p>
            <a:r>
              <a:t xml:space="preserve"/>
            </a:r>
          </a:p>
          <a:p>
            <a:r>
              <a:t xml:space="preserve">Mode Split: Case 4 minutes</a:t>
            </a:r>
          </a:p>
          <a:p>
            <a:r>
              <a:t xml:space="preserve"/>
            </a:r>
          </a:p>
          <a:p>
            <a:r>
              <a:t xml:space="preserve">Primary Message:</a:t>
            </a:r>
          </a:p>
          <a:p>
            <a:r>
              <a:t xml:space="preserve">개발 프로젝트 수준 질문에서는 사람이 관련 구현, 호출 경로, 테스트 결과와 명세서 등 필요한 정보를 찾아 대화에 옮기는 일이 생길 수 있다.</a:t>
            </a:r>
          </a:p>
          <a:p>
            <a:r>
              <a:t xml:space="preserve"/>
            </a:r>
          </a:p>
          <a:p>
            <a:r>
              <a:t xml:space="preserve">Opening Question: “디버깅할 때 우리는 어떤 정보를 살펴보고 있었을까?” 익숙한 Visual Studio 사용 상황을 떠올리게 한다.</a:t>
            </a:r>
          </a:p>
          <a:p>
            <a:r>
              <a:t xml:space="preserve"/>
            </a:r>
          </a:p>
          <a:p>
            <a:r>
              <a:t xml:space="preserve">Speaker Flow:</a:t>
            </a:r>
          </a:p>
          <a:p>
            <a:r>
              <a:t xml:space="preserve"/>
            </a:r>
          </a:p>
          <a:p>
            <a:r>
              <a:t xml:space="preserve">1. **OPEN (0:00–0:30):** 결과가 기대와 다를 때 여러 파일과 정보를 살펴보는 익숙한 상황으로 질문의 범위를 넓힌다. 실제 장애나 Trial 실패를 재현하는 화면이 아니다.</a:t>
            </a:r>
          </a:p>
          <a:p>
            <a:r>
              <a:t xml:space="preserve">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a:r>
              <a:t xml:space="preserve">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a:r>
              <a:t xml:space="preserve">4. **TRANSITION (3:30–4:00):** “파일명을 알려주지 않아도 Agent가 필요한 경로를 찾을까?”라는 S06의 관찰 질문으로 이동한다.</a:t>
            </a:r>
          </a:p>
          <a:p>
            <a:r>
              <a:t xml:space="preserve"/>
            </a:r>
          </a:p>
          <a:p>
            <a:r>
              <a:t xml:space="preserve">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a:r>
              <a:t xml:space="preserve"/>
            </a:r>
          </a:p>
          <a:p>
            <a:r>
              <a:t xml:space="preserve">보존된 상세 출처: Visual Studio 사용자의 디버깅 정보를 설명하는 교육용 병렬 도식</a:t>
            </a:r>
          </a:p>
          <a:p>
            <a:r>
              <a:t xml:space="preserve"/>
            </a:r>
          </a:p>
          <a:p>
            <a:r>
              <a:t xml:space="preserve">Claim Boundary:</a:t>
            </a:r>
          </a:p>
          <a:p>
            <a:r>
              <a:t xml:space="preserve">ACT 0의 문제 모델이다. 특정 Trial의 실제 실패·관찰 순서·모든 개발 프로젝트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a:r>
              <a:t xml:space="preserve"/>
            </a:r>
          </a:p>
          <a:p>
            <a:r>
              <a:t xml:space="preserve">보존된 상세 범위: 특정 Trial의 실제 화면이 아닙니다. 명세서는 IDE 밖에서도 함께 참고하는 문서입니다.</a:t>
            </a:r>
          </a:p>
          <a:p>
            <a:r>
              <a:t xml:space="preserve"/>
            </a:r>
          </a:p>
          <a:p>
            <a:r>
              <a:t xml:space="preserve">Beginner Explanation: 디버깅하면서 이미 보던 테스트 결과·코드·변수 값·명세서가 질문에 필요한 Context가 될 수 있다. 필요한 정보를 골라 묶는다는 점을 알아차리면 충분하다.</a:t>
            </a:r>
          </a:p>
          <a:p>
            <a:r>
              <a:t xml:space="preserve"/>
            </a:r>
          </a:p>
          <a:p>
            <a:r>
              <a:t xml:space="preserve">Advanced Insight: 코드 외에도 런타임 상태, 기대 동작과 입력 조건을 Context로 모으는 일이 별도 부담이 될 수 있다. 병렬 정보 범주는 실제 호출 순서·고정된 조사 절차와 구분한다.</a:t>
            </a:r>
          </a:p>
          <a:p>
            <a:r>
              <a:t xml:space="preserve"/>
            </a:r>
          </a:p>
          <a:p>
            <a:r>
              <a:t xml:space="preserve">C++ Vision Bridge: C++/Visual Studio 사용자에게 익숙한 디버깅 정보 범주를 활용한다. 특정 메뉴·버전·빌드·하드웨어 조작 절차나 실제 C++ 실행을 입증하는 예시는 아니다.</a:t>
            </a:r>
          </a:p>
          <a:p>
            <a:r>
              <a:t xml:space="preserve"/>
            </a:r>
          </a:p>
          <a:p>
            <a:r>
              <a:t xml:space="preserve">Demo Operation: N/A — 다음 장에서 관찰 기준을 제시한다.</a:t>
            </a:r>
          </a:p>
          <a:p>
            <a:r>
              <a:t xml:space="preserve"/>
            </a:r>
          </a:p>
          <a:p>
            <a:r>
              <a:t xml:space="preserve">Audience Interaction: 수사 질문이다. 응답이나 직접 파일 탐색을 요구하지 않는다.</a:t>
            </a:r>
          </a:p>
          <a:p>
            <a:r>
              <a:t xml:space="preserve"/>
            </a:r>
          </a:p>
          <a:p>
            <a:r>
              <a:t xml:space="preserve">Transition: “파일명을 알려주지 않아도 Agent가 필요한 경로를 찾을까?”라고 질문하며 S06의 관찰 기준으로 넘어간다.</a:t>
            </a:r>
          </a:p>
          <a:p>
            <a:r>
              <a:t xml:space="preserve"/>
            </a:r>
          </a:p>
          <a:p>
            <a:r>
              <a:t xml:space="preserve">Time Management: Case 4분 유지. 문제 질문 30초, 병렬 정보 여섯 범주 2분, Context로 묶는 의미 1분, S06 연결 30초로 운영한다. 각 범주의 도구 사용법을 강의하거나 Agent 해결책을 미리 공개하지 않는다.</a:t>
            </a:r>
          </a:p>
          <a:p>
            <a:r>
              <a:t xml:space="preserve"/>
            </a:r>
          </a:p>
          <a:p>
            <a:r>
              <a:t xml:space="preserve">Fallback: `production/preview/full/S05.png` 또는 `production/preview/act0/S05.png`의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a:r>
              <a:t xml:space="preserve"/>
            </a:r>
          </a:p>
          <a:p>
            <a:r>
              <a:t xml:space="preserve">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S06 — 파일명을 주지 않으면 Agent는 어디부터 볼까?</a:t>
            </a:r>
          </a:p>
          <a:p>
            <a:r>
              <a:t xml:space="preserve"/>
            </a:r>
          </a:p>
          <a:p>
            <a:r>
              <a:t xml:space="preserve">**Slide ID:**</a:t>
            </a:r>
          </a:p>
          <a:p>
            <a:r>
              <a:t xml:space="preserve">S06</a:t>
            </a:r>
          </a:p>
          <a:p>
            <a:r>
              <a:t xml:space="preserve"/>
            </a:r>
          </a:p>
          <a:p>
            <a:r>
              <a:t xml:space="preserve">**Working Title:**</a:t>
            </a:r>
          </a:p>
          <a:p>
            <a:r>
              <a:t xml:space="preserve">파일명을 주지 않으면 Agent는 어디부터 볼까?</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Demo에서는 파일을 직접 지정하지 않았을 때의 Search → Read → Trace를 관찰한다.</a:t>
            </a:r>
          </a:p>
          <a:p>
            <a:r>
              <a:t xml:space="preserve"/>
            </a:r>
          </a:p>
          <a:p>
            <a:r>
              <a:t xml:space="preserve">**Opening Question:**</a:t>
            </a:r>
          </a:p>
          <a:p>
            <a:r>
              <a:t xml:space="preserve">“Agent가 Test, 구현, 호출 경로를 어떻게 찾는가?”</a:t>
            </a:r>
          </a:p>
          <a:p>
            <a:r>
              <a:t xml:space="preserve"/>
            </a:r>
          </a:p>
          <a:p>
            <a:r>
              <a:t xml:space="preserve">**Speaker Flow:**</a:t>
            </a:r>
          </a:p>
          <a:p>
            <a:r>
              <a:t xml:space="preserve">1. **READ THE REQUEST (0:00–0:30):** 좌측 입력창 형태로 재구성한 TRIAL-001 요청 원문을 가리킨다. 파일명을 지정하지 않았고 아직 코드를 수정하지 말라고 했다는 점을 짚는다. 입력창은 실제 현재 제품 screenshot이 아니다.</a:t>
            </a:r>
          </a:p>
          <a:p>
            <a:r>
              <a:t xml:space="preserve">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a:r>
              <a:t xml:space="preserve">3. **SET WATCH FOR (1:00–1:45):** 실패 테스트, 관련 구현, 제품 호출 경로의 세 관찰 대상을 차례로 가리킨다. 실제로 발견된 파일명·원인·수정안은 S07–S08에 남긴다. 좌우 패널을 “이 Prompt를 실행해 이 결과가 나왔다”는 인과 화살표로 설명하지 않는다.</a:t>
            </a:r>
          </a:p>
          <a:p>
            <a:r>
              <a:t xml:space="preserve">4. **SCOPE (1:45–2:00):** Codex CLI 0.154.0의 과거 읽기 전용 기록을 볼 것이라고 한 문장으로 제한하고 S07–S08로 넘긴다.</a:t>
            </a:r>
          </a:p>
          <a:p>
            <a:r>
              <a:t xml:space="preserve"/>
            </a:r>
          </a:p>
          <a:p>
            <a:r>
              <a:t xml:space="preserve">**Evidence / Source:**</a:t>
            </a:r>
          </a:p>
          <a:p>
            <a:r>
              <a:t xml:space="preserve">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S07–S08에서 연다.</a:t>
            </a:r>
          </a:p>
          <a:p>
            <a:r>
              <a:t xml:space="preserve"/>
            </a:r>
          </a:p>
          <a:p>
            <a:r>
              <a:t xml:space="preserve">보존된 상세 출처: 실제 요청: TRIAL-001 · Codex CLI 0.154.0 · macOS · 읽기 전용</a:t>
            </a:r>
          </a:p>
          <a:p>
            <a:r>
              <a:t xml:space="preserve"/>
            </a:r>
          </a:p>
          <a:p>
            <a:r>
              <a:t xml:space="preserve">**Claim Boundary:**</a:t>
            </a:r>
          </a:p>
          <a:p>
            <a:r>
              <a:t xml:space="preserve">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a:r>
              <a:t xml:space="preserve"/>
            </a:r>
          </a:p>
          <a:p>
            <a:r>
              <a:t xml:space="preserve">보존된 상세 범위: 우측은 가상 GoogleTest 예시 · 실제 Trial은 Python unittest · 현재 Desktop은 미검증</a:t>
            </a:r>
          </a:p>
          <a:p>
            <a:r>
              <a:t xml:space="preserve"/>
            </a:r>
          </a:p>
          <a:p>
            <a:r>
              <a:t xml:space="preserve">**Beginner Explanation:**</a:t>
            </a:r>
          </a:p>
          <a:p>
            <a:r>
              <a:t xml:space="preserve">익숙한 테스트 목록에서 실패 하나를 보는 문제 상황을 떠올리고, 실제 기록에서는 Agent가 무엇을 찾아냈는지 다음 장에서 확인한다. 그림의 가상 목록과 실제 Trial 근거를 구분한다.</a:t>
            </a:r>
          </a:p>
          <a:p>
            <a:r>
              <a:t xml:space="preserve"/>
            </a:r>
          </a:p>
          <a:p>
            <a:r>
              <a:t xml:space="preserve">**Advanced Insight:**</a:t>
            </a:r>
          </a:p>
          <a:p>
            <a:r>
              <a:t xml:space="preserve">답변뿐 아니라 파일 발견과 호출 경로 추적을 관찰 대상으로 둔다.</a:t>
            </a:r>
          </a:p>
          <a:p>
            <a:r>
              <a:t xml:space="preserve"/>
            </a:r>
          </a:p>
          <a:p>
            <a:r>
              <a:t xml:space="preserve">**C++ Vision Bridge:**</a:t>
            </a:r>
          </a:p>
          <a:p>
            <a:r>
              <a:t xml:space="preserve">GoogleTest 형식을 C++ 청중을 위한 가상 설명 그림에만 사용한다. 실제 Demo repository는 Python unittest이며 C++ 제품 State·실행·측정으로 전환하지 않는다.</a:t>
            </a:r>
          </a:p>
          <a:p>
            <a:r>
              <a:t xml:space="preserve"/>
            </a:r>
          </a:p>
          <a:p>
            <a:r>
              <a:t xml:space="preserve">**Demo Operation:**</a:t>
            </a:r>
          </a:p>
          <a:p>
            <a:r>
              <a:t xml:space="preserve">DEMO-01 / WATCH. 기본 경로는 `production/ACT_0.pptx` S06–S09–S10의 정적 발표다. S06에서는 좌측 실제 요청의 재구성, 우측 가상 GoogleTest UI의 경계, 세 관찰 대상을 설명하고 S07–S08로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S07/S07에4분씩 나뉘며 S09/S09은 별도 Case다.</a:t>
            </a:r>
          </a:p>
          <a:p>
            <a:r>
              <a:t xml:space="preserve"/>
            </a:r>
          </a:p>
          <a:p>
            <a:r>
              <a:t xml:space="preserve">**Audience Interaction:**</a:t>
            </a:r>
          </a:p>
          <a:p>
            <a:r>
              <a:t xml:space="preserve">응답을 요구하지 않는다. 세 관찰 항목을 청중이 마음속으로 따라오게 한다.</a:t>
            </a:r>
          </a:p>
          <a:p>
            <a:r>
              <a:t xml:space="preserve"/>
            </a:r>
          </a:p>
          <a:p>
            <a:r>
              <a:t xml:space="preserve">**Transition:**</a:t>
            </a:r>
          </a:p>
          <a:p>
            <a:r>
              <a:t xml:space="preserve">“먼저 Crop 결과를 보고, 이어서 그 원인을 설명한 근거를 확인하겠습니다.”</a:t>
            </a:r>
          </a:p>
          <a:p>
            <a:r>
              <a:t xml:space="preserve"/>
            </a:r>
          </a:p>
          <a:p>
            <a:r>
              <a:t xml:space="preserve">**Time Management:**</a:t>
            </a:r>
          </a:p>
          <a:p>
            <a:r>
              <a:t xml:space="preserve">Lecture 2분 유지. 요청 30초, 실제/가상 화면 구분 30초, 세 Watch For 45초, 과거 CLI 범위와 S07–S08 전환 15초로 운영한다. 테스트 framework 설명이나 실제 실패 원인 공개를 이 장에 추가하지 않는다.</a:t>
            </a:r>
          </a:p>
          <a:p>
            <a:r>
              <a:t xml:space="preserve"/>
            </a:r>
          </a:p>
          <a:p>
            <a:r>
              <a:t xml:space="preserve">**Fallback:**</a:t>
            </a:r>
          </a:p>
          <a:p>
            <a:r>
              <a:t xml:space="preserve">정적 기본 경로 — `production/ACT_0.pptx` S06 또는 `production/preview/act0/S06.png`. 이번 수정본과 PNG의 일치 여부는 제작 단계에서 확인한다. 화면 사용이 불가능하면 실제 요청의 조건과 세 관찰 항목을 말로 제시하고 S07–S08 기록 설명으로 이동한다. 가상 GoogleTest 설정을 실제 Trial 결과로 대신 말하거나 Live CLI/Desktop을 즉석에서 열지 않는다. Windows·발표 PC·교육장 표시는 UNVERIFIED.</a:t>
            </a:r>
          </a:p>
          <a:p>
            <a:r>
              <a:t xml:space="preserve"/>
            </a:r>
          </a:p>
          <a:p>
            <a:r>
              <a:t xml:space="preserve">**Validation Status:**</a:t>
            </a:r>
          </a:p>
          <a:p>
            <a:r>
              <a:t xml:space="preserve">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S07 — Crop은 기대한 폭보다 한 열을 더 포함했다</a:t>
            </a:r>
          </a:p>
          <a:p>
            <a:r>
              <a:t xml:space="preserve"/>
            </a:r>
          </a:p>
          <a:p>
            <a:r>
              <a:t xml:space="preserve">**Slide ID:**</a:t>
            </a:r>
          </a:p>
          <a:p>
            <a:r>
              <a:t xml:space="preserve">S07</a:t>
            </a:r>
          </a:p>
          <a:p>
            <a:r>
              <a:t xml:space="preserve"/>
            </a:r>
          </a:p>
          <a:p>
            <a:r>
              <a:t xml:space="preserve">**Working Title:**</a:t>
            </a:r>
          </a:p>
          <a:p>
            <a:r>
              <a:t xml:space="preserve">Crop은 기대한 폭보다 한 열을 더 포함했다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crop(image,1,3)의 끝 좌표 제외 명세는 원본 열1·2, 값2·3과 폭2를 기대한다. 기존 구현은 값4까지 포함해 폭3이 됐다.</a:t>
            </a:r>
          </a:p>
          <a:p>
            <a:r>
              <a:t xml:space="preserve"/>
            </a:r>
          </a:p>
          <a:p>
            <a:r>
              <a:t xml:space="preserve">**Opening Question:**</a:t>
            </a:r>
          </a:p>
          <a:p>
            <a:r>
              <a:t xml:space="preserve">“끝 좌표3을 제외해야 한다면 어떤 값이 남아야 하나요?”</a:t>
            </a:r>
          </a:p>
          <a:p>
            <a:r>
              <a:t xml:space="preserve"/>
            </a:r>
          </a:p>
          <a:p>
            <a:r>
              <a:t xml:space="preserve">**Speaker Flow:**</a:t>
            </a:r>
          </a:p>
          <a:p>
            <a:r>
              <a:t xml:space="preserve">1. (0:00–0:30 / Demo) S06에서 관찰할 질문을 이어 받고, 이번에는 먼저 발견한 결과만 본다고 안내한다. 기존 두 Vector 초기화와 공통인 질문은 의도한 개수/범위와 실제 결과의 대조다. C++ 메모리 할당 사건으로 바꾸지 않는다.</a:t>
            </a:r>
          </a:p>
          <a:p>
            <a:r>
              <a:t xml:space="preserve">2. (0:30–2:00 / Demo) 원본 ((1,2,3,4),(5,6,7,8)) 중 첫 행만 발췌했음을 밝힌다. 열index1·2의 값2·3과 폭2가 끝 좌표 제외 명세의 기대다. 구현은 값4까지 포함해 폭3이다. 색은 선택 범위를 나타내며 숫자는 픽셀 값이다.</a:t>
            </a:r>
          </a:p>
          <a:p>
            <a:r>
              <a:t xml:space="preserve">3. (2:00–3:30 / Demo) 기대2·3과 구현2·3·4에서 추가된4만 가리킨다. 구현의 끝 좌표 포함이 현상이라는 결론만 회수하고 상세 Test·호출 경로는 다음 장으로 남긴다.</a:t>
            </a:r>
          </a:p>
          <a:p>
            <a:r>
              <a:t xml:space="preserve">4. (3:30–4:00 / Demo) 새 실행이나 수정이 아닌 TRIAL-001·STATE-00의 재구성이라고 닫고 이 설명을 뒷받침한 자료를 S08에서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STATE-00 테스트·소스의 첫 행을 발췌한 재구성 · CLI 0.154.0</a:t>
            </a:r>
          </a:p>
          <a:p>
            <a:r>
              <a:t xml:space="preserve"/>
            </a:r>
          </a:p>
          <a:p>
            <a:r>
              <a:t xml:space="preserve">**Claim Boundary:**</a:t>
            </a:r>
          </a:p>
          <a:p>
            <a:r>
              <a:t xml:space="preserve">FROZEN WITH SCOPE — TRIAL-001·STATE-00의 Python Crop 한 건. 첫 행 발췌 재구성이며 코드 수정·C++ 할당/오버런·현재 Desktop 검증이 아니다. 새 Trial·Chatbot 비교·환경 복구·성능/비용 효과를 만들지 않는다.</a:t>
            </a:r>
          </a:p>
          <a:p>
            <a:r>
              <a:t xml:space="preserve"/>
            </a:r>
          </a:p>
          <a:p>
            <a:r>
              <a:t xml:space="preserve">보존된 상세 범위: 실제 실행 Screenshot 아님 · 코드 수정 없음 · C++ 할당·capacity·버퍼 오버런 사례 아님</a:t>
            </a:r>
          </a:p>
          <a:p>
            <a:r>
              <a:t xml:space="preserve"/>
            </a:r>
          </a:p>
          <a:p>
            <a:r>
              <a:t xml:space="preserve">**Beginner Explanation:**</a:t>
            </a:r>
          </a:p>
          <a:p>
            <a:r>
              <a:t xml:space="preserve">끝 좌표를 하나 더 포함하면 기대한 폭과 값이 달라지는 현상을 본다.</a:t>
            </a:r>
          </a:p>
          <a:p>
            <a:r>
              <a:t xml:space="preserve"/>
            </a:r>
          </a:p>
          <a:p>
            <a:r>
              <a:t xml:space="preserve">**Advanced Insight:**</a:t>
            </a:r>
          </a:p>
          <a:p>
            <a:r>
              <a:t xml:space="preserve">의도한 범위와 실제 결과를 명세에 대조하고 메모리 할당·capacity 문제로 일반화하지 않는다.</a:t>
            </a:r>
          </a:p>
          <a:p>
            <a:r>
              <a:t xml:space="preserve"/>
            </a:r>
          </a:p>
          <a:p>
            <a:r>
              <a:t xml:space="preserve">**C++ Vision Bridge:**</a:t>
            </a:r>
          </a:p>
          <a:p>
            <a:r>
              <a:t xml:space="preserve">S03의 원소 수 확인 질문만 회수한다. 실제 사례는 Python Crop이며 C++ 실행·할당 오류가 아니다.</a:t>
            </a:r>
          </a:p>
          <a:p>
            <a:r>
              <a:t xml:space="preserve"/>
            </a:r>
          </a:p>
          <a:p>
            <a:r>
              <a:t xml:space="preserve">**Demo Operation:**</a:t>
            </a:r>
          </a:p>
          <a:p>
            <a:r>
              <a:t xml:space="preserve">첫 행 입력1·2·3·4와 열index0–3, 기대2·3/폭2와 구현2·3·4/폭3을 크게 대비한다. 원본 두 행 중 첫 행만 발췌한 도식임을 표시한다. 정적 경로 production/ACT_0.pptx의 S07 / production/preview/act0/S07.png.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차이를 무엇을 근거로 설명했는지, 테스트·명세·구현을 함께 보겠습니다.”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production/preview/full/S07.png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S08 — 테스트·명세·구현을 연결해 원인을 설명했다</a:t>
            </a:r>
          </a:p>
          <a:p>
            <a:r>
              <a:t xml:space="preserve"/>
            </a:r>
          </a:p>
          <a:p>
            <a:r>
              <a:t xml:space="preserve">**Slide ID:**</a:t>
            </a:r>
          </a:p>
          <a:p>
            <a:r>
              <a:t xml:space="preserve">S08</a:t>
            </a:r>
          </a:p>
          <a:p>
            <a:r>
              <a:t xml:space="preserve"/>
            </a:r>
          </a:p>
          <a:p>
            <a:r>
              <a:t xml:space="preserve">**Working Title:**</a:t>
            </a:r>
          </a:p>
          <a:p>
            <a:r>
              <a:t xml:space="preserve">테스트·명세·구현을 연결해 원인을 설명했다</a:t>
            </a:r>
          </a:p>
          <a:p>
            <a:r>
              <a:t xml:space="preserve"/>
            </a:r>
          </a:p>
          <a:p>
            <a:r>
              <a:t xml:space="preserve">**ACT / Section:**</a:t>
            </a:r>
          </a:p>
          <a:p>
            <a:r>
              <a:t xml:space="preserve">ACT 0 / 0D</a:t>
            </a:r>
          </a:p>
          <a:p>
            <a:r>
              <a:t xml:space="preserve"/>
            </a:r>
          </a:p>
          <a:p>
            <a:r>
              <a:t xml:space="preserve">**Allocated Time:**</a:t>
            </a:r>
          </a:p>
          <a:p>
            <a:r>
              <a:t xml:space="preserve">4 minutes</a:t>
            </a:r>
          </a:p>
          <a:p>
            <a:r>
              <a:t xml:space="preserve"/>
            </a:r>
          </a:p>
          <a:p>
            <a:r>
              <a:t xml:space="preserve">**Mode Split:**</a:t>
            </a:r>
          </a:p>
          <a:p>
            <a:r>
              <a:t xml:space="preserve">Demo 4분 (CAPTURED / RECONSTRUCTED)</a:t>
            </a:r>
          </a:p>
          <a:p>
            <a:r>
              <a:t xml:space="preserve"/>
            </a:r>
          </a:p>
          <a:p>
            <a:r>
              <a:t xml:space="preserve">**Primary Message:**</a:t>
            </a:r>
          </a:p>
          <a:p>
            <a:r>
              <a:t xml:space="preserve">실패 테스트와 끝 좌표 제외 명세, 끝 좌표까지 포함한 row[x_start : x_end + 1] 구현을 대조해 실패를 설명했다. 관련 코드는 cli.main→pipeline.process_image→transform.crop 호출 관계로 연결됐다.</a:t>
            </a:r>
          </a:p>
          <a:p>
            <a:r>
              <a:t xml:space="preserve"/>
            </a:r>
          </a:p>
          <a:p>
            <a:r>
              <a:t xml:space="preserve">**Opening Question:**</a:t>
            </a:r>
          </a:p>
          <a:p>
            <a:r>
              <a:t xml:space="preserve">“어떤 자료를 연결했기에 Crop 실패 원인을 설명할 수 있었나요?”</a:t>
            </a:r>
          </a:p>
          <a:p>
            <a:r>
              <a:t xml:space="preserve"/>
            </a:r>
          </a:p>
          <a:p>
            <a:r>
              <a:t xml:space="preserve">**Speaker Flow:**</a:t>
            </a:r>
          </a:p>
          <a:p>
            <a:r>
              <a:t xml:space="preserve">1. (0:00–0:30 / Demo) S07의 폭 차이를 설명한 근거를 확인하는 장임을 밝힌다. 세 열의 화살표는 설명을 위한 관계이며 실제 파일 접근 시간순이 아니다.</a:t>
            </a:r>
          </a:p>
          <a:p>
            <a:r>
              <a:t xml:space="preserve">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a:r>
              <a:t xml:space="preserve">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a:r>
              <a:t xml:space="preserve">4. (3:30–4:00 / Demo) 실패·관련 구현·명세·호출 관계를 연결해 설명했으며 코드 수정은 없었다고 닫는다. 같은 전체 테스트의 다른 오류는 원인이 달랐다는 S09로 이동한다.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 발견한 테스트·명세·구현의 관계를 재구성 · Codex CLI 0.154.0</a:t>
            </a:r>
          </a:p>
          <a:p>
            <a:r>
              <a:t xml:space="preserve"/>
            </a:r>
          </a:p>
          <a:p>
            <a:r>
              <a:t xml:space="preserve">**Claim Boundary:**</a:t>
            </a:r>
          </a:p>
          <a:p>
            <a:r>
              <a:t xml:space="preserve">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a:r>
              <a:t xml:space="preserve"/>
            </a:r>
          </a:p>
          <a:p>
            <a:r>
              <a:t xml:space="preserve">보존된 상세 범위: 자료 관계도이며 Agent의 시간순 접근 로그가 아님 · README에도 결함 안내가 있었음 · 코드 수정 없음</a:t>
            </a:r>
          </a:p>
          <a:p>
            <a:r>
              <a:t xml:space="preserve"/>
            </a:r>
          </a:p>
          <a:p>
            <a:r>
              <a:t xml:space="preserve">**Beginner Explanation:**</a:t>
            </a:r>
          </a:p>
          <a:p>
            <a:r>
              <a:t xml:space="preserve">답만 듣는 대신 테스트·명세·구현이 어떻게 원인 설명을 뒷받침하는지 본다.</a:t>
            </a:r>
          </a:p>
          <a:p>
            <a:r>
              <a:t xml:space="preserve"/>
            </a:r>
          </a:p>
          <a:p>
            <a:r>
              <a:t xml:space="preserve">**Advanced Insight:**</a:t>
            </a:r>
          </a:p>
          <a:p>
            <a:r>
              <a:t xml:space="preserve">코드 호출 관계·근거 연결·Agent 접근 시간순과 독립 발견 주장을 구분한다.</a:t>
            </a:r>
          </a:p>
          <a:p>
            <a:r>
              <a:t xml:space="preserve"/>
            </a:r>
          </a:p>
          <a:p>
            <a:r>
              <a:t xml:space="preserve">**C++ Vision Bridge:**</a:t>
            </a:r>
          </a:p>
          <a:p>
            <a:r>
              <a:t xml:space="preserve">N/A. 실제 Python 조사 근거를 C++ Trial로 바꾸지 않는다.</a:t>
            </a:r>
          </a:p>
          <a:p>
            <a:r>
              <a:t xml:space="preserve"/>
            </a:r>
          </a:p>
          <a:p>
            <a:r>
              <a:t xml:space="preserve">**Demo Operation:**</a:t>
            </a:r>
          </a:p>
          <a:p>
            <a:r>
              <a:t xml:space="preserve">실패 테스트/명세/구현 세 근거를 가로로 연결하고, 하단에 관련 코드 호출 관계를 별도로 둔다. 본문의 연결은 설명 관계이며 실제 탐색 순서가 아니다. 정적 경로 production/ACT_0.pptx의 S08 / production/preview/act0/S08.png.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“같은 전체 테스트 실행에서 나온 다른 오류는, 이 Crop 결함과 원인이 달랐습니다.”</a:t>
            </a:r>
          </a:p>
          <a:p>
            <a:r>
              <a:t xml:space="preserve"/>
            </a:r>
          </a:p>
          <a:p>
            <a:r>
              <a:t xml:space="preserve">**Time Management:**</a:t>
            </a:r>
          </a:p>
          <a:p>
            <a:r>
              <a:t xml:space="preserve">Demo 4분 (CAPTURED / RECONSTRUCTED) = 4분.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production/preview/full/S08.png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S09 — 다른 테스트 오류는 임시 폴더 생성에서 발생했다</a:t>
            </a:r>
          </a:p>
          <a:p>
            <a:r>
              <a:t xml:space="preserve"/>
            </a:r>
          </a:p>
          <a:p>
            <a:r>
              <a:t xml:space="preserve">**Slide ID:**</a:t>
            </a:r>
          </a:p>
          <a:p>
            <a:r>
              <a:t xml:space="preserve">S09</a:t>
            </a:r>
          </a:p>
          <a:p>
            <a:r>
              <a:t xml:space="preserve"/>
            </a:r>
          </a:p>
          <a:p>
            <a:r>
              <a:t xml:space="preserve">**Working Title:**</a:t>
            </a:r>
          </a:p>
          <a:p>
            <a:r>
              <a:t xml:space="preserve">다른 테스트 오류는 임시 폴더 생성에서 발생했다</a:t>
            </a:r>
          </a:p>
          <a:p>
            <a:r>
              <a:t xml:space="preserve"/>
            </a:r>
          </a:p>
          <a:p>
            <a:r>
              <a:t xml:space="preserve">**ACT / Section:**</a:t>
            </a:r>
          </a:p>
          <a:p>
            <a:r>
              <a:t xml:space="preserve">ACT 0 / 0D</a:t>
            </a:r>
          </a:p>
          <a:p>
            <a:r>
              <a:t xml:space="preserve"/>
            </a:r>
          </a:p>
          <a:p>
            <a:r>
              <a:t xml:space="preserve">**Allocated Time:**</a:t>
            </a:r>
          </a:p>
          <a:p>
            <a:r>
              <a:t xml:space="preserve">3 minutes</a:t>
            </a:r>
          </a:p>
          <a:p>
            <a:r>
              <a:t xml:space="preserve"/>
            </a:r>
          </a:p>
          <a:p>
            <a:r>
              <a:t xml:space="preserve">**Mode Split:**</a:t>
            </a:r>
          </a:p>
          <a:p>
            <a:r>
              <a:t xml:space="preserve">Case 3분</a:t>
            </a:r>
          </a:p>
          <a:p>
            <a:r>
              <a:t xml:space="preserve"/>
            </a:r>
          </a:p>
          <a:p>
            <a:r>
              <a:t xml:space="preserve">**Primary Message:**</a:t>
            </a:r>
          </a:p>
          <a:p>
            <a:r>
              <a:t xml:space="preserve">TRIAL-001 전체 테스트의 환경 오류3건은 읽기 전용 실행 조건이 임시 디렉터리 생성을 막아 발생했다. Crop 결함과 별개이며 Agent도 그 권한 제한을 해제하지 않았다.</a:t>
            </a:r>
          </a:p>
          <a:p>
            <a:r>
              <a:t xml:space="preserve"/>
            </a:r>
          </a:p>
          <a:p>
            <a:r>
              <a:t xml:space="preserve">**Opening Question:**</a:t>
            </a:r>
          </a:p>
          <a:p>
            <a:r>
              <a:t xml:space="preserve">“테스트가 임시 폴더를 만들려는데 쓰기 권한이 없으면 어떻게 될까요?”</a:t>
            </a:r>
          </a:p>
          <a:p>
            <a:r>
              <a:t xml:space="preserve"/>
            </a:r>
          </a:p>
          <a:p>
            <a:r>
              <a:t xml:space="preserve">**Speaker Flow:**</a:t>
            </a:r>
          </a:p>
          <a:p>
            <a:r>
              <a:t xml:space="preserve">1. (0:00–0:30 / Case) 같은 전체 테스트 실행 중 나온 환경 오류3건을 별도 사건으로 연다. Crop 실패1건의 추가 증거도 Product 결함3건도 아니라고 화면의 별도 표시로 구분한다.</a:t>
            </a:r>
          </a:p>
          <a:p>
            <a:r>
              <a:t xml:space="preserve">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a:r>
              <a:t xml:space="preserve">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TRIAL-001 전체 테스트 기록의 실행 환경 제한 · Codex CLI 0.154.0</a:t>
            </a:r>
          </a:p>
          <a:p>
            <a:r>
              <a:t xml:space="preserve"/>
            </a:r>
          </a:p>
          <a:p>
            <a:r>
              <a:t xml:space="preserve">**Claim Boundary:**</a:t>
            </a:r>
          </a:p>
          <a:p>
            <a:r>
              <a:t xml:space="preserve">FROZEN WITH SCOPE — TRIAL-001 실행 환경 제한의 관찰. Product/Crop 결함이나 성공한 환경 복구, 현재 Desktop 동작의 근거가 아니다. 새 Trial·Chatbot 비교·환경 복구·성능/비용 효과를 만들지 않는다.</a:t>
            </a:r>
          </a:p>
          <a:p>
            <a:r>
              <a:t xml:space="preserve"/>
            </a:r>
          </a:p>
          <a:p>
            <a:r>
              <a:t xml:space="preserve">보존된 상세 범위: Crop 결함과 별개 · 실행 제한을 관찰했으며 권한을 해제하거나 코드를 수정하지 않음</a:t>
            </a:r>
          </a:p>
          <a:p>
            <a:r>
              <a:t xml:space="preserve"/>
            </a:r>
          </a:p>
          <a:p>
            <a:r>
              <a:t xml:space="preserve">**Beginner Explanation:**</a:t>
            </a:r>
          </a:p>
          <a:p>
            <a:r>
              <a:t xml:space="preserve">테스트가 실패하는 이유에는 코드 결함 외 실행 조건도 있음을 이해한다.</a:t>
            </a:r>
          </a:p>
          <a:p>
            <a:r>
              <a:t xml:space="preserve"/>
            </a:r>
          </a:p>
          <a:p>
            <a:r>
              <a:t xml:space="preserve">**Advanced Insight:**</a:t>
            </a:r>
          </a:p>
          <a:p>
            <a:r>
              <a:t xml:space="preserve">제품 결함과 실행 제한을 분리하고, 제한 관찰과 권한 변경·해결을 구분한다.</a:t>
            </a:r>
          </a:p>
          <a:p>
            <a:r>
              <a:t xml:space="preserve"/>
            </a:r>
          </a:p>
          <a:p>
            <a:r>
              <a:t xml:space="preserve">**C++ Vision Bridge:**</a:t>
            </a:r>
          </a:p>
          <a:p>
            <a:r>
              <a:t xml:space="preserve">N/A. 제조 현장/Windows에서 같은 오류가 관찰된 것으로 바꾸지 않는다.</a:t>
            </a:r>
          </a:p>
          <a:p>
            <a:r>
              <a:t xml:space="preserve"/>
            </a:r>
          </a:p>
          <a:p>
            <a:r>
              <a:t xml:space="preserve">**Demo Operation:**</a:t>
            </a:r>
          </a:p>
          <a:p>
            <a:r>
              <a:t xml:space="preserve">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S09 / production/preview/act0/S09.png.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“두 원인을 판단할 때 필요했던 정보들을 한곳에 모아보겠습니다.”</a:t>
            </a:r>
          </a:p>
          <a:p>
            <a:r>
              <a:t xml:space="preserve"/>
            </a:r>
          </a:p>
          <a:p>
            <a:r>
              <a:t xml:space="preserve">**Time Management:**</a:t>
            </a:r>
          </a:p>
          <a:p>
            <a:r>
              <a:t xml:space="preserve">Case 3분 = 3분.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production/preview/full/S09.png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 — 원인 판단에는 코드와 실행 환경 정보가 필요했다</a:t>
            </a:r>
          </a:p>
          <a:p>
            <a:r>
              <a:t xml:space="preserve"/>
            </a:r>
          </a:p>
          <a:p>
            <a:r>
              <a:t xml:space="preserve">**Slide ID:**</a:t>
            </a:r>
          </a:p>
          <a:p>
            <a:r>
              <a:t xml:space="preserve">S10</a:t>
            </a:r>
          </a:p>
          <a:p>
            <a:r>
              <a:t xml:space="preserve"/>
            </a:r>
          </a:p>
          <a:p>
            <a:r>
              <a:t xml:space="preserve">**Working Title:**</a:t>
            </a:r>
          </a:p>
          <a:p>
            <a:r>
              <a:t xml:space="preserve">원인 판단에는 코드와 실행 환경 정보가 필요했다</a:t>
            </a:r>
          </a:p>
          <a:p>
            <a:r>
              <a:t xml:space="preserve"/>
            </a:r>
          </a:p>
          <a:p>
            <a:r>
              <a:t xml:space="preserve">**ACT / Section:**</a:t>
            </a:r>
          </a:p>
          <a:p>
            <a:r>
              <a:t xml:space="preserve">ACT 0 / 0D</a:t>
            </a:r>
          </a:p>
          <a:p>
            <a:r>
              <a:t xml:space="preserve"/>
            </a:r>
          </a:p>
          <a:p>
            <a:r>
              <a:t xml:space="preserve">**Allocated Time:**</a:t>
            </a:r>
          </a:p>
          <a:p>
            <a:r>
              <a:t xml:space="preserve">2 minutes</a:t>
            </a:r>
          </a:p>
          <a:p>
            <a:r>
              <a:t xml:space="preserve"/>
            </a:r>
          </a:p>
          <a:p>
            <a:r>
              <a:t xml:space="preserve">**Mode Split:**</a:t>
            </a:r>
          </a:p>
          <a:p>
            <a:r>
              <a:t xml:space="preserve">Case 2분</a:t>
            </a:r>
          </a:p>
          <a:p>
            <a:r>
              <a:t xml:space="preserve"/>
            </a:r>
          </a:p>
          <a:p>
            <a:r>
              <a:t xml:space="preserve">**Primary Message:**</a:t>
            </a:r>
          </a:p>
          <a:p>
            <a:r>
              <a:t xml:space="preserve">개발 프로젝트의 테스트·명세·구현/호출 관계와 실행 환경의 로그·권한 정보를 함께 보아 원인을 구분한다. 이번 원인 판단에 쓰는 정보를 Context로 묶는 교육용 도식이다.</a:t>
            </a:r>
          </a:p>
          <a:p>
            <a:r>
              <a:t xml:space="preserve"/>
            </a:r>
          </a:p>
          <a:p>
            <a:r>
              <a:t xml:space="preserve">**Opening Question:**</a:t>
            </a:r>
          </a:p>
          <a:p>
            <a:r>
              <a:t xml:space="preserve">“이번 조사에서는 파일 외에 어떤 정보까지 필요했나요?”</a:t>
            </a:r>
          </a:p>
          <a:p>
            <a:r>
              <a:t xml:space="preserve"/>
            </a:r>
          </a:p>
          <a:p>
            <a:r>
              <a:t xml:space="preserve">**Speaker Flow:**</a:t>
            </a:r>
          </a:p>
          <a:p>
            <a:r>
              <a:t xml:space="preserve">1. (0:00–0:25 / Case) 앞의 두 문제에서 실제로 살펴본 자료를 한 장으로 모은다고 안내한다. 환경 오류의 원인은 재설명하지 않는다.</a:t>
            </a:r>
          </a:p>
          <a:p>
            <a:r>
              <a:t xml:space="preserve">2. (0:25–1:25 / Case) 개발 프로젝트의 실패 테스트·Crop 명세·구현/호출 관계와 실행 환경의 로그·읽기/쓰기 권한을 구분해 읽는다. 파일과 실행 조건은 서로 다른 출처지만 이번 원인 판단에는 함께 쓰였다. 권한 자체가 개발 프로젝트 안에 있거나 저장소를 열면 확대되는 그림으로 읽지 않는다.</a:t>
            </a:r>
          </a:p>
          <a:p>
            <a:r>
              <a:t xml:space="preserve">3. (1:25–2:00 / Case) 원인을 판단하는 데 쓰는 정보를 이번 장에서 Context로 묶는다. ACT2의 저장 범위·Routing·항상 읽을 정보 설계를 여기서 미리 강의하지 않는다. 이제 같은 자료를 누가 찾고 전달하는지 S11로 넘긴다.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a:t>
            </a:r>
          </a:p>
          <a:p>
            <a:r>
              <a:t xml:space="preserve"/>
            </a:r>
          </a:p>
          <a:p>
            <a:r>
              <a:t xml:space="preserve">보존된 상세 출처: TEACHING MODEL · TRIAL-001에서 살펴본 정보를 묶은 교육용 도식</a:t>
            </a:r>
          </a:p>
          <a:p>
            <a:r>
              <a:t xml:space="preserve"/>
            </a:r>
          </a:p>
          <a:p>
            <a:r>
              <a:t xml:space="preserve">**Claim Boundary:**</a:t>
            </a:r>
          </a:p>
          <a:p>
            <a:r>
              <a:t xml:space="preserve">TEACHING MODEL — TRIAL-001에서 살펴본 정보를 묶은 해석이며 새 실행·제품 우열이 아니다. 개발 프로젝트 접근은 실행 권한 확장을 뜻하지 않는다. 새 Trial·Chatbot 비교·환경 복구·성능/비용 효과를 만들지 않는다.</a:t>
            </a:r>
          </a:p>
          <a:p>
            <a:r>
              <a:t xml:space="preserve"/>
            </a:r>
          </a:p>
          <a:p>
            <a:r>
              <a:t xml:space="preserve">보존된 상세 범위: 파일은 Repository에서, 실행 조건은 도구·권한에서 확인 · Repository 접근이 권한을 늘리지는 않음</a:t>
            </a:r>
          </a:p>
          <a:p>
            <a:r>
              <a:t xml:space="preserve"/>
            </a:r>
          </a:p>
          <a:p>
            <a:r>
              <a:t xml:space="preserve">**Beginner Explanation:**</a:t>
            </a:r>
          </a:p>
          <a:p>
            <a:r>
              <a:t xml:space="preserve">Context가 단지 복사한 코드 조각만을 의미하지 않음을 이번 사건으로 이해한다.</a:t>
            </a:r>
          </a:p>
          <a:p>
            <a:r>
              <a:t xml:space="preserve"/>
            </a:r>
          </a:p>
          <a:p>
            <a:r>
              <a:t xml:space="preserve">**Advanced Insight:**</a:t>
            </a:r>
          </a:p>
          <a:p>
            <a:r>
              <a:t xml:space="preserve">저장소에 있는 사실과 도구·권한이 제공하는 실행 조건의 출처를 구분한다.</a:t>
            </a:r>
          </a:p>
          <a:p>
            <a:r>
              <a:t xml:space="preserve"/>
            </a:r>
          </a:p>
          <a:p>
            <a:r>
              <a:t xml:space="preserve">**C++ Vision Bridge:**</a:t>
            </a:r>
          </a:p>
          <a:p>
            <a:r>
              <a:t xml:space="preserve">N/A. 일반화된 새 C++ 규칙·장비 사례는 추가하지 않는다.</a:t>
            </a:r>
          </a:p>
          <a:p>
            <a:r>
              <a:t xml:space="preserve"/>
            </a:r>
          </a:p>
          <a:p>
            <a:r>
              <a:t xml:space="preserve">**Demo Operation:**</a:t>
            </a:r>
          </a:p>
          <a:p>
            <a:r>
              <a:t xml:space="preserve">왼쪽 개발 프로젝트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S10 / production/preview/act0/S10.png. 실제 실행 Screenshot이나 새 Live 결과로 표시하지 않는다. S07/S07만 Demo 각4분이며 S09/S09은 Case, S11/S11은 Lecture다.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“이 자료를 사람이 직접 골라 대화창에 넣는다면, 답을 받기 전에 어떤 일을 해야 할까요?”</a:t>
            </a:r>
          </a:p>
          <a:p>
            <a:r>
              <a:t xml:space="preserve"/>
            </a:r>
          </a:p>
          <a:p>
            <a:r>
              <a:t xml:space="preserve">**Time Management:**</a:t>
            </a:r>
          </a:p>
          <a:p>
            <a:r>
              <a:t xml:space="preserve">Case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production/preview/full/S10.png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 — Chatbot에 이 자료를 직접 전달한다면?</a:t>
            </a:r>
          </a:p>
          <a:p>
            <a:r>
              <a:t xml:space="preserve"/>
            </a:r>
          </a:p>
          <a:p>
            <a:r>
              <a:t xml:space="preserve">**Slide ID:**</a:t>
            </a:r>
          </a:p>
          <a:p>
            <a:r>
              <a:t xml:space="preserve">S11</a:t>
            </a:r>
          </a:p>
          <a:p>
            <a:r>
              <a:t xml:space="preserve"/>
            </a:r>
          </a:p>
          <a:p>
            <a:r>
              <a:t xml:space="preserve">**Working Title:**</a:t>
            </a:r>
          </a:p>
          <a:p>
            <a:r>
              <a:t xml:space="preserve">Chatbot에 이 자료를 직접 전달한다면?</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a:r>
              <a:t xml:space="preserve"/>
            </a:r>
          </a:p>
          <a:p>
            <a:r>
              <a:t xml:space="preserve">**Opening Question:**</a:t>
            </a:r>
          </a:p>
          <a:p>
            <a:r>
              <a:t xml:space="preserve">“답을 받기 전에 누가 필요한 자료를 찾아 골라 전달하나요?”</a:t>
            </a:r>
          </a:p>
          <a:p>
            <a:r>
              <a:t xml:space="preserve"/>
            </a:r>
          </a:p>
          <a:p>
            <a:r>
              <a:t xml:space="preserve">**Speaker Flow:**</a:t>
            </a:r>
          </a:p>
          <a:p>
            <a:r>
              <a:t xml:space="preserve">1. (0:00–0:30 / Lecture) S10의 같은 다섯 자료를 유지하되, 사람이 직접 골라 대화창에 첨부하는 방식이라는 가정을 읽는다. 모든 Chatbot 기능을 정의하거나 실제 비교한 결과가 아니다.</a:t>
            </a:r>
          </a:p>
          <a:p>
            <a:r>
              <a:t xml:space="preserve">2. (0:30–1:30 / Lecture) 왼쪽 자료→가운데 사람의 찾기·선택·전달→오른쪽 ChatGPT 웹 첨부/요청창을 따라간다. UI는 자료 전달 방식을 재구성했으며 실제 Chatbot 응답은 보여 주지 않는다.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a:r>
              <a:t xml:space="preserve">3. (1:30–2:00 / Lecture) 답을 받기 전 관련 자료를 찾아 연결하는 일이 있다는 메시지만 회수한다. 같은 위치·자료 카드를 유지한 다음 S12에서 수집 주체가 달라지는 것을 본다.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TEACHING MODEL · 자료를 직접 선택·첨부하는 대화 방식의 가정</a:t>
            </a:r>
          </a:p>
          <a:p>
            <a:r>
              <a:t xml:space="preserve"/>
            </a:r>
          </a:p>
          <a:p>
            <a:r>
              <a:t xml:space="preserve">DEC-0107의 오른쪽 UI: assets/product-ui/S11-chatgpt-web.png.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TEACHING MODEL — 실제 Chatbot 비교 실행·성능·불가능성 주장이 아니다. 환경 로그·권한 정보까지 전달하면 원인 분석 단서도 전달된다. 새 Trial·Chatbot 비교·환경 복구·성능/비용 효과를 만들지 않는다.</a:t>
            </a:r>
          </a:p>
          <a:p>
            <a:r>
              <a:t xml:space="preserve"/>
            </a:r>
          </a:p>
          <a:p>
            <a:r>
              <a:t xml:space="preserve">보존된 상세 범위: 실제 Chatbot 비교 실행 아님 · 자료 전달 방식의 차이이며 제품 능력·효율 우위를 입증하지 않음</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답변 전에도 사람이 관련 자료를 찾아 연결하는 일이 있음을 본다.</a:t>
            </a:r>
          </a:p>
          <a:p>
            <a:r>
              <a:t xml:space="preserve"/>
            </a:r>
          </a:p>
          <a:p>
            <a:r>
              <a:t xml:space="preserve">**Advanced Insight:**</a:t>
            </a:r>
          </a:p>
          <a:p>
            <a:r>
              <a:t xml:space="preserve">정보가 전달되지 않은 상태와 도구의 문제 해결 능력을 구분한다.</a:t>
            </a:r>
          </a:p>
          <a:p>
            <a:r>
              <a:t xml:space="preserve"/>
            </a:r>
          </a:p>
          <a:p>
            <a:r>
              <a:t xml:space="preserve">**C++ Vision Bridge:**</a:t>
            </a:r>
          </a:p>
          <a:p>
            <a:r>
              <a:t xml:space="preserve">Contextual cue — 큰 저장소에서 필요한 자료를 찾는 상황에만 연결한다.</a:t>
            </a:r>
          </a:p>
          <a:p>
            <a:r>
              <a:t xml:space="preserve"/>
            </a:r>
          </a:p>
          <a:p>
            <a:r>
              <a:t xml:space="preserve">**Demo Operation:**</a:t>
            </a:r>
          </a:p>
          <a:p>
            <a:r>
              <a:t xml:space="preserve">S10의 같은 다섯 자료 이름·색을 왼쪽에 유지하고 사람의 찾기/선택/전달을 거쳐 교육용 대화창으로 들어가는 흐름으로 보여준다. 누락된 자료를 도구 능력 부족으로 표현하지 않는다. 정적 경로 production/ACT_0.pptx의 S11 / production/preview/act0/S11.png. 실제 실행 Screenshot이나 새 Live 결과로 표시하지 않는다. S07/S07만 Demo 각4분이며 S09/S09은 Case, S11/S11은 Lecture다. 기존 도식을 먼저 따라가며, 우측 상단의 왼쪽 장면 삽화는 같은 역할을 보충하는 교육용 그림으로만 짚는다.</a:t>
            </a:r>
          </a:p>
          <a:p>
            <a:r>
              <a:t xml:space="preserve"/>
            </a:r>
          </a:p>
          <a:p>
            <a:r>
              <a:t xml:space="preserve">DEC-0107: 오른쪽 대화창을 ChatGPT 웹 UI 재구성으로 바꾼다. 사람이 골라 둔 코드·테스트·명세와 로그·권한 정보를 첨부하고 crop 오류 설명을 요청하는 모습만 보여 준다. 응답이나 실제 비교 결과를 추가하지 않는다. 왼쪽 다섯 자료·가운데 사람·연결선·우측 상단의 기존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“방금 본 Agent 조사에서는, 이 자료를 찾고 연결하는 일을 일부 맡겼습니다.”</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production/preview/full/S11.png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S12 — Agent가 자료를 직접 찾아 연결했다</a:t>
            </a:r>
          </a:p>
          <a:p>
            <a:r>
              <a:t xml:space="preserve"/>
            </a:r>
          </a:p>
          <a:p>
            <a:r>
              <a:t xml:space="preserve">**Slide ID:**</a:t>
            </a:r>
          </a:p>
          <a:p>
            <a:r>
              <a:t xml:space="preserve">S12</a:t>
            </a:r>
          </a:p>
          <a:p>
            <a:r>
              <a:t xml:space="preserve"/>
            </a:r>
          </a:p>
          <a:p>
            <a:r>
              <a:t xml:space="preserve">**Working Title:**</a:t>
            </a:r>
          </a:p>
          <a:p>
            <a:r>
              <a:t xml:space="preserve">Agent가 자료를 직접 찾아 연결했다</a:t>
            </a:r>
          </a:p>
          <a:p>
            <a:r>
              <a:t xml:space="preserve"/>
            </a:r>
          </a:p>
          <a:p>
            <a:r>
              <a:t xml:space="preserve">**ACT / Section:**</a:t>
            </a:r>
          </a:p>
          <a:p>
            <a:r>
              <a:t xml:space="preserve">ACT 0 / 0E</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TRIAL-001에서 Agent가 허용된 파일·도구 범위의 테스트·코드·명세·실행 결과를 조사하고 Crop 원인과 실행 제한을 구분했다. 목표·검토 책임은 사람에게 남으며 접근 전 승인된 도구·계정·자료·권한 범위를 확인한다.</a:t>
            </a:r>
          </a:p>
          <a:p>
            <a:r>
              <a:t xml:space="preserve"/>
            </a:r>
          </a:p>
          <a:p>
            <a:r>
              <a:t xml:space="preserve">**Opening Question:**</a:t>
            </a:r>
          </a:p>
          <a:p>
            <a:r>
              <a:t xml:space="preserve">“방금 Agent는 허용된 환경에서 어떤 자료를 직접 찾아 연결했나요?”</a:t>
            </a:r>
          </a:p>
          <a:p>
            <a:r>
              <a:t xml:space="preserve"/>
            </a:r>
          </a:p>
          <a:p>
            <a:r>
              <a:t xml:space="preserve">**Speaker Flow:**</a:t>
            </a:r>
          </a:p>
          <a:p>
            <a:r>
              <a:t xml:space="preserve">1. (0:00–0:30 / Lecture) S11의 같은 다섯 자료와 배치를 가리킨다. 가운데 주체가 사람의 선택·전달에서 Agent의 허용된 조사로 바뀌고 오른쪽 Codex UI는 과거 CLI에서 관찰한 조사 내용을 담은 재구성이다. 실제 Desktop 실행 화면이 아니다.</a:t>
            </a:r>
          </a:p>
          <a:p>
            <a:r>
              <a:t xml:space="preserve">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a:r>
              <a:t xml:space="preserve">3. (1:10–1:50 / Lecture) 화면 하단의 접근 전 승인된 도구·계정·자료·권한 확인을 짚는다. 개발 프로젝트 접근과 실제 도구/실행 권한은 별개다. 조직의 실제 허용·금지 목록이나 제품 보안 보장을 새로 확정하지 않는다.</a:t>
            </a:r>
          </a:p>
          <a:p>
            <a:r>
              <a:t xml:space="preserve">4. (1:50–2:00 / Lecture) “이 교육에서는 어디에서 개발 프로젝트를 열까요?”로 S13의 기존 Codex 진입 안내를 연다. Task 의도와 접근의 차이는 S14에 남긴다.</a:t>
            </a:r>
          </a:p>
          <a:p>
            <a:r>
              <a:t xml:space="preserve"/>
            </a:r>
          </a:p>
          <a:p>
            <a:r>
              <a:t xml:space="preserve">**Evidence / Source:**</a:t>
            </a:r>
          </a:p>
          <a:p>
            <a:r>
              <a:t xml:space="preserve">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S09에 보존한다. AI 생성 설명용 삽화이며 실제 실행 캡처·새 Trial 근거가 아니다.</a:t>
            </a:r>
          </a:p>
          <a:p>
            <a:r>
              <a:t xml:space="preserve"/>
            </a:r>
          </a:p>
          <a:p>
            <a:r>
              <a:t xml:space="preserve">보존된 상세 출처: TRIAL-001 단일 CLI 조사와 연결한 교육용 도식 · Codex CLI 0.154.0</a:t>
            </a:r>
          </a:p>
          <a:p>
            <a:r>
              <a:t xml:space="preserve"/>
            </a:r>
          </a:p>
          <a:p>
            <a:r>
              <a:t xml:space="preserve">DEC-0107의 오른쪽 UI: assets/product-ui/S12-codex-project.png. built-in image_gen으로 만든 UI 재구성이며 실제 실행 Screenshot이 아니다. 전체 생성 지시는 assets/product-ui/PROMPTS.md, 시각 참고 범위는 assets/product-ui/README.md에 보존한다. 공식 참고: https://learn.chatgpt.com/docs/quickstart ; https://learn.chatgpt.com/docs/use-chatgpt ; https://learn.chatgpt.com/docs/app (2026-10-27 확인). 자료 첨부·제품 선택·프로젝트 대화의 개념을 참고했으며 계정 화면이나 픽셀 단위의 일치를 검증한 자료가 아니다.</a:t>
            </a:r>
          </a:p>
          <a:p>
            <a:r>
              <a:t xml:space="preserve"/>
            </a:r>
          </a:p>
          <a:p>
            <a:r>
              <a:t xml:space="preserve">**Claim Boundary:**</a:t>
            </a:r>
          </a:p>
          <a:p>
            <a:r>
              <a:t xml:space="preserve">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a:r>
              <a:t xml:space="preserve"/>
            </a:r>
          </a:p>
          <a:p>
            <a:r>
              <a:t xml:space="preserve">보존된 상세 범위: 권한 제한을 해제하지 않음 · 목표·검토 책임은 개발자에게 남음 · 현재 Desktop 미검증</a:t>
            </a:r>
          </a:p>
          <a:p>
            <a:r>
              <a:t xml:space="preserve"/>
            </a:r>
          </a:p>
          <a:p>
            <a:r>
              <a:t xml:space="preserve">오른쪽 UI의 요청 문구·첨부·배치는 이 관계를 설명하는 재구성이다. 실제 TRIAL-001 요청 원문은 S06과 원자료를 따른다. UI 이미지가 새 ChatGPT 비교 실행이나 현재 Codex Desktop 동작의 증거를 추가하지 않는다.</a:t>
            </a:r>
          </a:p>
          <a:p>
            <a:r>
              <a:t xml:space="preserve"/>
            </a:r>
          </a:p>
          <a:p>
            <a:r>
              <a:t xml:space="preserve">**Beginner Explanation:**</a:t>
            </a:r>
          </a:p>
          <a:p>
            <a:r>
              <a:t xml:space="preserve">관련 파일을 모두 직접 복사하기 전에 허용된 개발 프로젝트 조사를 요청할 수 있음을 본다.</a:t>
            </a:r>
          </a:p>
          <a:p>
            <a:r>
              <a:t xml:space="preserve"/>
            </a:r>
          </a:p>
          <a:p>
            <a:r>
              <a:t xml:space="preserve">**Advanced Insight:**</a:t>
            </a:r>
          </a:p>
          <a:p>
            <a:r>
              <a:t xml:space="preserve">Context 수집 역할의 일부와 목표 설정·권한·수용 판단 책임을 분리한다.</a:t>
            </a:r>
          </a:p>
          <a:p>
            <a:r>
              <a:t xml:space="preserve"/>
            </a:r>
          </a:p>
          <a:p>
            <a:r>
              <a:t xml:space="preserve">**C++ Vision Bridge:**</a:t>
            </a:r>
          </a:p>
          <a:p>
            <a:r>
              <a:t xml:space="preserve">Contextual cue — 저장소의 모듈·테스트·명세 조사에만 연결한다.</a:t>
            </a:r>
          </a:p>
          <a:p>
            <a:r>
              <a:t xml:space="preserve"/>
            </a:r>
          </a:p>
          <a:p>
            <a:r>
              <a:t xml:space="preserve">**Demo Operation:**</a:t>
            </a:r>
          </a:p>
          <a:p>
            <a:r>
              <a:t xml:space="preserve">S11와 같은 다섯 자료·수집 주체·출력의 위치를 유지하되, 주체를 Agent와 허용된 조사로 바꾸고 오른쪽에 관찰된 조사 내용을 둔다. 개발 프로젝트 자료와 실행 권한이 별개이며 사람의 목표·검토 책임을 유지한다. 정적 경로 production/ACT_0.pptx의 S12 / production/preview/act0/S12.png. 실제 실행 Screenshot이나 새 Live 결과로 표시하지 않는다. S07/S07만 Demo 각4분이며 S09/S09은 Case, S11/S11은 Lecture다. 기존 도식을 먼저 따라가며, 우측 상단의 오른쪽 장면 삽화는 같은 역할을 보충하는 교육용 그림으로만 짚는다.</a:t>
            </a:r>
          </a:p>
          <a:p>
            <a:r>
              <a:t xml:space="preserve"/>
            </a:r>
          </a:p>
          <a:p>
            <a:r>
              <a:t xml:space="preserve">DEC-0107: 오른쪽 결과 영역을 프로젝트가 열린 Codex UI 재구성으로 바꾼다. 테스트·관련 코드, Crop 명세와 구현 차이, 실행 중 권한 제한이라는 기존 CLI 조사 요약을 담는다. “화면 재구성 · 근거는 CLI 조사 기록”을 바로 아래 표시한다. 실제 Desktop 실행·새 로그·권한 해결을 뜻하지 않는다. 왼쪽 자료·가운데 Agent·연결선·우측 상단 삽화는 유지한다. 오른쪽 UI 안의 문장은 새 결과를 읽는 절차가 아니라 앞서 정리한 자료/관찰을 제품에 익숙한 모습으로 보이는 예다. 새 클릭·Live 실행을 하지 않는다.</a:t>
            </a:r>
          </a:p>
          <a:p>
            <a:r>
              <a:t xml:space="preserve"/>
            </a:r>
          </a:p>
          <a:p>
            <a:r>
              <a:t xml:space="preserve">**Audience Interaction:**</a:t>
            </a:r>
          </a:p>
          <a:p>
            <a:r>
              <a:t xml:space="preserve">한 장의 질문을 따라 관찰·해석하게 한다. 응답·실습·새 실행·공개 제출을 요구하지 않는다.</a:t>
            </a:r>
          </a:p>
          <a:p>
            <a:r>
              <a:t xml:space="preserve"/>
            </a:r>
          </a:p>
          <a:p>
            <a:r>
              <a:t xml:space="preserve">**Transition:**</a:t>
            </a:r>
          </a:p>
          <a:p>
            <a:r>
              <a:t xml:space="preserve">“그렇다면 이 교육에서는 어디에서 개발 프로젝트를 열까요?”</a:t>
            </a:r>
          </a:p>
          <a:p>
            <a:r>
              <a:t xml:space="preserve"/>
            </a:r>
          </a:p>
          <a:p>
            <a:r>
              <a:t xml:space="preserve">**Time Management:**</a:t>
            </a:r>
          </a:p>
          <a:p>
            <a:r>
              <a:t xml:space="preserve">Lecture 2분 = 2분. 위 Speaker Flow의 구간대로 운영하며 한 장의 역할만 설명한다. 초과하면 다음 장 내용을 미리 설명하는 부분을 줄이고 근거 경계를 유지한다. 실측 리허설은 UNVERIFIED.</a:t>
            </a:r>
          </a:p>
          <a:p>
            <a:r>
              <a:t xml:space="preserve"/>
            </a:r>
          </a:p>
          <a:p>
            <a:r>
              <a:t xml:space="preserve">**Fallback:**</a:t>
            </a:r>
          </a:p>
          <a:p>
            <a:r>
              <a:t xml:space="preserve">LOCAL STATIC ARTIFACT — production/preview/full/S12.png 또는 ACT_0.pptx의 같은 Slide. 원자료/과거 CLI/교육용 가정 구분을 유지한다. 현재 Live/HYBRID는 발표 환경 검증 전 비활성이다.</a:t>
            </a:r>
          </a:p>
          <a:p>
            <a:r>
              <a:t xml:space="preserve"/>
            </a:r>
          </a:p>
          <a:p>
            <a:r>
              <a:t xml:space="preserve">**Validation Status:**</a:t>
            </a:r>
          </a:p>
          <a:p>
            <a:r>
              <a:t xml:space="preserve">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S13 — 개발 프로젝트 조사는 Codex에서 시작한다</a:t>
            </a:r>
          </a:p>
          <a:p>
            <a:r>
              <a:t xml:space="preserve"/>
            </a:r>
          </a:p>
          <a:p>
            <a:r>
              <a:t xml:space="preserve">Slide ID: S13</a:t>
            </a:r>
          </a:p>
          <a:p>
            <a:r>
              <a:t xml:space="preserve"/>
            </a:r>
          </a:p>
          <a:p>
            <a:r>
              <a:t xml:space="preserve">Working Title:</a:t>
            </a:r>
          </a:p>
          <a:p>
            <a:r>
              <a:t xml:space="preserve">개발 프로젝트 조사는 Codex에서 시작한다</a:t>
            </a:r>
          </a:p>
          <a:p>
            <a:r>
              <a:t xml:space="preserve"/>
            </a:r>
          </a:p>
          <a:p>
            <a:r>
              <a:t xml:space="preserve">ACT / Section: ACT 0 / 0E</a:t>
            </a:r>
          </a:p>
          <a:p>
            <a:r>
              <a:t xml:space="preserve"/>
            </a:r>
          </a:p>
          <a:p>
            <a:r>
              <a:t xml:space="preserve">Allocated Time: 1 minute</a:t>
            </a:r>
          </a:p>
          <a:p>
            <a:r>
              <a:t xml:space="preserve"/>
            </a:r>
          </a:p>
          <a:p>
            <a:r>
              <a:t xml:space="preserve">Mode Split: Lecture 1 minute</a:t>
            </a:r>
          </a:p>
          <a:p>
            <a:r>
              <a:t xml:space="preserve"/>
            </a:r>
          </a:p>
          <a:p>
            <a:r>
              <a:t xml:space="preserve">Primary Message:</a:t>
            </a:r>
          </a:p>
          <a:p>
            <a:r>
              <a:t xml:space="preserve">이 교육에서 개발 프로젝트를 조사하는 개발 작업은 ChatGPT 데스크톱 앱의 ChatGPT 메뉴에서 Codex를 선택해 시작한다.</a:t>
            </a:r>
          </a:p>
          <a:p>
            <a:r>
              <a:t xml:space="preserve"/>
            </a:r>
          </a:p>
          <a:p>
            <a:r>
              <a:t xml:space="preserve">Opening Question:</a:t>
            </a:r>
          </a:p>
          <a:p>
            <a:r>
              <a:t xml:space="preserve">“개발 프로젝트 작업을 맡기려면 어디로 들어갈까?”</a:t>
            </a:r>
          </a:p>
          <a:p>
            <a:r>
              <a:t xml:space="preserve"/>
            </a:r>
          </a:p>
          <a:p>
            <a:r>
              <a:t xml:space="preserve">**Speaker Flow:**</a:t>
            </a:r>
          </a:p>
          <a:p>
            <a:r>
              <a:t xml:space="preserve">1. **LOCATE (0:00–0:15):** 재구성 UI의 좌측 상단 ChatGPT 메뉴를 가리킨다. 사용자 지정 위치를 보여 주는 교육용 도식이며 실제 계정의 실행 캡처가 아님을 짧게 밝힌다.</a:t>
            </a:r>
          </a:p>
          <a:p>
            <a:r>
              <a:t xml:space="preserve">2. **SELECT (0:15–0:30):** 메뉴의 Codex를 가리킨다. 이 교육에서 코드베이스 조사와 개발 작업을 시작하는 표면을 연결한다.</a:t>
            </a:r>
          </a:p>
          <a:p>
            <a:r>
              <a:t xml:space="preserve">3. **프로젝트 폴더 (0:30–0:45):** 허용된 프로젝트 폴더를 선택하는 흐름을 가리킨다. 앞 장에서 확인한 도구·계정·자료·권한 범위 안의 폴더만 대상이며 실제 선택이나 Live 실행을 하지 않는다.</a:t>
            </a:r>
          </a:p>
          <a:p>
            <a:r>
              <a:t xml:space="preserve">4. **ASK (0:45–1:00):** “먼저 조사해줘”라는 요청으로 S06의 조사 태도를 회수한다. “들어가는 곳을 알았으니, 무엇을 볼 수 있고 누가 최종 결정할지 나눠 보겠습니다”라며 S14로 간다.</a:t>
            </a:r>
          </a:p>
          <a:p>
            <a:r>
              <a:t xml:space="preserve">운영 표시: “실무 적용 팁 · 사용 환경” 배지로 다시 찾아 쓸 기준임을 짚는다. 기존 설명·근거 범위와 배정 시간 안에서 진행하며 요청·예시를 새로 실행하지 않는다.</a:t>
            </a:r>
          </a:p>
          <a:p>
            <a:r>
              <a:t xml:space="preserve"/>
            </a:r>
          </a:p>
          <a:p>
            <a:r>
              <a:t xml:space="preserve">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a:r>
              <a:t xml:space="preserve"/>
            </a:r>
          </a:p>
          <a:p>
            <a:r>
              <a:t xml:space="preserve">보존된 상세 출처: OpenAI Quickstart · 공식 문서 2026-10-21 확인 · 앱 전환 메뉴 재구성</a:t>
            </a:r>
          </a:p>
          <a:p>
            <a:r>
              <a:t xml:space="preserve"/>
            </a:r>
          </a:p>
          <a:p>
            <a:r>
              <a:t xml:space="preserve">Claim Boundary:</a:t>
            </a:r>
          </a:p>
          <a:p>
            <a:r>
              <a:t xml:space="preserve">이 교육의 개발 작업 진입 경로를 안내한다. 모든 개발 프로젝트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a:r>
              <a:t xml:space="preserve"/>
            </a:r>
          </a:p>
          <a:p>
            <a:r>
              <a:t xml:space="preserve">보존된 상세 범위: 교육용 도식입니다. 앱 버전·계정별 표시와 접근 권한은 발표 환경에서 확인합니다.</a:t>
            </a:r>
          </a:p>
          <a:p>
            <a:r>
              <a:t xml:space="preserve"/>
            </a:r>
          </a:p>
          <a:p>
            <a:r>
              <a:t xml:space="preserve">Beginner Explanation:</a:t>
            </a:r>
          </a:p>
          <a:p>
            <a:r>
              <a:t xml:space="preserve">작은 코드 질문을 하던 대화에서 개발 프로젝트 조사로 옮길 때, 이 교육에서는 Codex를 선택하는 진입점을 사용한다.</a:t>
            </a:r>
          </a:p>
          <a:p>
            <a:r>
              <a:t xml:space="preserve"/>
            </a:r>
          </a:p>
          <a:p>
            <a:r>
              <a:t xml:space="preserve">Advanced Insight:</a:t>
            </a:r>
          </a:p>
          <a:p>
            <a:r>
              <a:t xml:space="preserve">제품 표면의 선택, 개발 프로젝트 접근 권한, 이번 Task의 의도는 서로 다른 경계다. 이 장은 진입 경로만 연결하며 제품별 접근 성능이나 독점적 기능을 주장하지 않는다.</a:t>
            </a:r>
          </a:p>
          <a:p>
            <a:r>
              <a:t xml:space="preserve"/>
            </a:r>
          </a:p>
          <a:p>
            <a:r>
              <a:t xml:space="preserve">C++ Vision Bridge: N/A. 언어·IDE별 설정을 추가하지 않는다.</a:t>
            </a:r>
          </a:p>
          <a:p>
            <a:r>
              <a:t xml:space="preserve"/>
            </a:r>
          </a:p>
          <a:p>
            <a:r>
              <a:t xml:space="preserve">Demo Operation: N/A — 공식 자료를 토대로 재구성한 정적 UI 도식이다. 실제 제품 조작·새 Trial·현장 실습은 없다. 대상 계정의 기능이 확인되지 않았으므로 Live 경로로 전환하지 않는다.</a:t>
            </a:r>
          </a:p>
          <a:p>
            <a:r>
              <a:t xml:space="preserve"/>
            </a:r>
          </a:p>
          <a:p>
            <a:r>
              <a:t xml:space="preserve">Audience Interaction: 위치를 함께 보는 1분 안내다. 청중에게 계정 로그인·폴더 선택·응답을 요구하지 않는다.</a:t>
            </a:r>
          </a:p>
          <a:p>
            <a:r>
              <a:t xml:space="preserve"/>
            </a:r>
          </a:p>
          <a:p>
            <a:r>
              <a:t xml:space="preserve">Transition:</a:t>
            </a:r>
          </a:p>
          <a:p>
            <a:r>
              <a:t xml:space="preserve">“개발 프로젝트 안을 함께 볼 수 있어도, 어떤 결과를 받아들일지는 누가 정할까요?”라는 질문으로 S14에 간다.</a:t>
            </a:r>
          </a:p>
          <a:p>
            <a:r>
              <a:t xml:space="preserve"/>
            </a:r>
          </a:p>
          <a:p>
            <a:r>
              <a:t xml:space="preserve">**Time Management:**</a:t>
            </a:r>
          </a:p>
          <a:p>
            <a:r>
              <a:t xml:space="preserve">Lecture 1분. 메뉴 위치 15초, Codex 선택 15초, 허용 폴더 15초, 조사 요청·S14 연결 15초다. 이 장의1분은 보존한다. 현재 ACT 0 45분·전체420분·Lecture186분이며 마지막 팁 찾아보기3분은 ACT5의 별도 배정이다. 설정 tutorial을 추가하지 않는다. 제목6장의 Transition6분은 각 ACT의 별도 배정이다.</a:t>
            </a:r>
          </a:p>
          <a:p>
            <a:r>
              <a:t xml:space="preserve"/>
            </a:r>
          </a:p>
          <a:p>
            <a:r>
              <a:t xml:space="preserve">Fallback:</a:t>
            </a:r>
          </a:p>
          <a:p>
            <a:r>
              <a:t xml:space="preserve">제작 완료 후 production/preview/act0/S13.png 또는 production/preview/full/S13.png의 정적 재구성 도식을 사용한다. 새 PNG와 PPT의 일치는 production/evaluation/CODEX_ENTRY_INSERTION.md에서 확인하기 전까지 미검증이다. 화면을 열 수 없으면 “이 교육에서는 ChatGPT 메뉴에서 Codex를 선택해 허용된 개발 프로젝트 조사를 시작합니다”라고 말하고 S14로 간다. 즉석 계정 시연으로 대체하지 않는다.</a:t>
            </a:r>
          </a:p>
          <a:p>
            <a:r>
              <a:t xml:space="preserve"/>
            </a:r>
          </a:p>
          <a:p>
            <a:r>
              <a:t xml:space="preserve">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S14 — 프로젝트를 봐도, 원하는 작업은 따로 정한다</a:t>
            </a:r>
          </a:p>
          <a:p>
            <a:r>
              <a:t xml:space="preserve"/>
            </a:r>
          </a:p>
          <a:p>
            <a:r>
              <a:t xml:space="preserve">Slide ID: S14</a:t>
            </a:r>
          </a:p>
          <a:p>
            <a:r>
              <a:t xml:space="preserve"/>
            </a:r>
          </a:p>
          <a:p>
            <a:r>
              <a:t xml:space="preserve">Working Title:</a:t>
            </a:r>
          </a:p>
          <a:p>
            <a:r>
              <a:t xml:space="preserve">프로젝트를 봐도, 원하는 작업은 따로 정한다</a:t>
            </a:r>
          </a:p>
          <a:p>
            <a:r>
              <a:t xml:space="preserve"/>
            </a:r>
          </a:p>
          <a:p>
            <a:r>
              <a:t xml:space="preserve">ACT / Section:</a:t>
            </a:r>
          </a:p>
          <a:p>
            <a:r>
              <a:t xml:space="preserve">ACT 0 / 0E–0F</a:t>
            </a:r>
          </a:p>
          <a:p>
            <a:r>
              <a:t xml:space="preserve"/>
            </a:r>
          </a:p>
          <a:p>
            <a:r>
              <a:t xml:space="preserve">Allocated Time:</a:t>
            </a:r>
          </a:p>
          <a:p>
            <a:r>
              <a:t xml:space="preserve">5 minutes</a:t>
            </a:r>
          </a:p>
          <a:p>
            <a:r>
              <a:t xml:space="preserve"/>
            </a:r>
          </a:p>
          <a:p>
            <a:r>
              <a:t xml:space="preserve">Mode Split:</a:t>
            </a:r>
          </a:p>
          <a:p>
            <a:r>
              <a:t xml:space="preserve">Lecture 2 minutes + Q&amp;A 3 minutes</a:t>
            </a:r>
          </a:p>
          <a:p>
            <a:r>
              <a:t xml:space="preserve"/>
            </a:r>
          </a:p>
          <a:p>
            <a:r>
              <a:t xml:space="preserve">Primary Message:</a:t>
            </a:r>
          </a:p>
          <a:p>
            <a:r>
              <a:t xml:space="preserve">개발 프로젝트 탐색은 Context 수집에 도움을 줄 수 있지만, Task의 목표와 완료 조건까지 대신 정하지 않는다.</a:t>
            </a:r>
          </a:p>
          <a:p>
            <a:r>
              <a:t xml:space="preserve"/>
            </a:r>
          </a:p>
          <a:p>
            <a:r>
              <a:t xml:space="preserve">Opening Question:</a:t>
            </a:r>
          </a:p>
          <a:p>
            <a:r>
              <a:t xml:space="preserve">“개발 프로젝트를 볼 수 있으면 원하는 작업도 알게 되는가?”</a:t>
            </a:r>
          </a:p>
          <a:p>
            <a:r>
              <a:t xml:space="preserve"/>
            </a:r>
          </a:p>
          <a:p>
            <a:r>
              <a:t xml:space="preserve">**Speaker Flow:**</a:t>
            </a:r>
          </a:p>
          <a:p>
            <a:r>
              <a:t xml:space="preserve">1. **OPEN (0:00–0:20):** 왼쪽 “볼 수 있는 것”과 오른쪽 “최종 정해야 하는 것”을 나눈다. 바로 앞 S13은 진입 경로, 이 장은 역할과 책임의 구분이다.</a:t>
            </a:r>
          </a:p>
          <a:p>
            <a:r>
              <a:t xml:space="preserve">2. **SHARED ACCESS (0:20–0:50):** 왼쪽 사람+AI Agent 아이콘과 허용된 파일·구현·테스트를 가리킨다. 사람도 Agent도 접근 권한과 제공된 도구 범위 안에서 이 정보를 살필 수 있다는 뜻이다.</a:t>
            </a:r>
          </a:p>
          <a:p>
            <a:r>
              <a:t xml:space="preserve">3. **HUMAN RESPONSIBILITY (0:50–1:30):** 오른쪽 사람 아이콘과 원하는 결과·허용 범위·완료 수용을 짚는다. Agent는 선택지와 근거를 제안할 수 있지만 최종 목표와 변경 승인·수용 책임은 사람에게 둔다.</a:t>
            </a:r>
          </a:p>
          <a:p>
            <a:r>
              <a:t xml:space="preserve">4. **CLOSE (1:30–2:00 / Lecture):** 이전 화면의 마지막 문장 “Agent는 제안하고, 사람은 최종 선택·승인한다”로 역할과 책임을 묶는다. 화면에 별도 요청 작성 문장은 없으며 ACT1의 기법·사례 답을 미리 설명하지 않는다.</a:t>
            </a:r>
          </a:p>
          <a:p>
            <a:r>
              <a:t xml:space="preserve">5. **Q&amp;A (2:00–5:00):** ACT0의 자발적인 질문을 받는다. 질문이 없으면 자료 접근과 사람의 최종 책임 구분을 짧게 회수한다. 응답·실습을 강제하지 않는다. Q&amp;A 종료 후 S15의 ACT1 제목으로 이동한다.</a:t>
            </a:r>
          </a:p>
          <a:p>
            <a:r>
              <a:t xml:space="preserve"/>
            </a:r>
          </a:p>
          <a:p>
            <a:r>
              <a:t xml:space="preserve">Evidence / Source: BEAT-003 next friction, DEMO-01 callback, TRIAL-001; CLM-0002, CLM-0009; DEC-0036. TEACHING_MODEL. 사람·AI Agent 픽토그램: assets/slide-illustrations/human-agent-icons.png, image_gen 교육용 이미지이며 실제 사람 사진·제품 UI·관찰 결과가 아니다.</a:t>
            </a:r>
          </a:p>
          <a:p>
            <a:r>
              <a:t xml:space="preserve"/>
            </a:r>
          </a:p>
          <a:p>
            <a:r>
              <a:t xml:space="preserve">보존된 상세 출처: 이 과정의 교육 모델 · 정보 접근과 최종 결정 책임의 구분 · AI 생성 역할 아이콘</a:t>
            </a:r>
          </a:p>
          <a:p>
            <a:r>
              <a:t xml:space="preserve"/>
            </a:r>
          </a:p>
          <a:p>
            <a:r>
              <a:t xml:space="preserve">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a:r>
              <a:t xml:space="preserve"/>
            </a:r>
          </a:p>
          <a:p>
            <a:r>
              <a:t xml:space="preserve">보존된 상세 범위: Agent는 조사·제안을 할 수 있습니다. 목표·허용 범위·완료 수용의 최종 결정과 책임은 사람에게 있습니다.</a:t>
            </a:r>
          </a:p>
          <a:p>
            <a:r>
              <a:t xml:space="preserve"/>
            </a:r>
          </a:p>
          <a:p>
            <a:r>
              <a:t xml:space="preserve">Beginner Explanation: 사람과 Agent가 같은 파일을 살필 수 있어도, 원하는 결과와 받아들일 변경은 사람이 최종 정한다.</a:t>
            </a:r>
          </a:p>
          <a:p>
            <a:r>
              <a:t xml:space="preserve"/>
            </a:r>
          </a:p>
          <a:p>
            <a:r>
              <a:t xml:space="preserve"/>
            </a:r>
          </a:p>
          <a:p>
            <a:r>
              <a:t xml:space="preserve">Advanced Insight: Context access와 objective/acceptance responsibility는 별도 경계다. Agent의 제안·근거와 사람의 최종 승인 책임을 구분한다.</a:t>
            </a:r>
          </a:p>
          <a:p>
            <a:r>
              <a:t xml:space="preserve"/>
            </a:r>
          </a:p>
          <a:p>
            <a:r>
              <a:t xml:space="preserve"/>
            </a:r>
          </a:p>
          <a:p>
            <a:r>
              <a:t xml:space="preserve">C++ Vision Bridge: N/A.</a:t>
            </a:r>
          </a:p>
          <a:p>
            <a:r>
              <a:t xml:space="preserve"/>
            </a:r>
          </a:p>
          <a:p>
            <a:r>
              <a:t xml:space="preserve">Demo Operation: N/A — DEMO-01 성공 뒤 남는 문제를 설명한다.</a:t>
            </a:r>
          </a:p>
          <a:p>
            <a:r>
              <a:t xml:space="preserve"/>
            </a:r>
          </a:p>
          <a:p>
            <a:r>
              <a:t xml:space="preserve">Audience Interaction:</a:t>
            </a:r>
          </a:p>
          <a:p>
            <a:r>
              <a:t xml:space="preserve">Lecture2분의 역할 구분을 관찰한 뒤 ACT0 Q&amp;A3분을 운영한다. 질문은 선택 사항이며 실습·공개 답변·새 작업 설계를 요구하지 않는다.</a:t>
            </a:r>
          </a:p>
          <a:p>
            <a:r>
              <a:t xml:space="preserve"/>
            </a:r>
          </a:p>
          <a:p>
            <a:r>
              <a:t xml:space="preserve">**Transition:**</a:t>
            </a:r>
          </a:p>
          <a:p>
            <a:r>
              <a:t xml:space="preserve">“이제 원하는 작업을 요청으로 어떻게 전달할지 보겠습니다.”라고 S15의 ACT1 제목을 연 뒤 S16의 기존 모호한 요청 사례로 이어간다.</a:t>
            </a:r>
          </a:p>
          <a:p>
            <a:r>
              <a:t xml:space="preserve"/>
            </a:r>
          </a:p>
          <a:p>
            <a:r>
              <a:t xml:space="preserve">Time Management:</a:t>
            </a:r>
          </a:p>
          <a:p>
            <a:r>
              <a:t xml:space="preserve">Lecture2분 + Q&amp;A3분 = 5분. 기존 S14의 설명2분과 삭제한 이전 S15의 Q&amp;A3분을 합친다. 이전 전환3분은 삭제하여 ACT0는42분, 전체417분이다. 다음 ACT 제목의 Transition1분과 중복 계산하지 않는다. 실측 리허설은 UNVERIFIED.</a:t>
            </a:r>
          </a:p>
          <a:p>
            <a:r>
              <a:t xml:space="preserve"/>
            </a:r>
          </a:p>
          <a:p>
            <a:r>
              <a:t xml:space="preserve">Fallback:</a:t>
            </a:r>
          </a:p>
          <a:p>
            <a:r>
              <a:t xml:space="preserve">production/preview/full/S14.png 또는 production/preview/act0/S14.png의 이전 역할 도식을 사용한다. “자료는 함께 살펴보고, 목표·허용 범위·완료 수용은 사람이 최종 정합니다”라고 설명한 뒤 ACT0 Q&amp;A를 마무리하고 S15로 이동한다. Agent의 제안 가능성과 사람의 최종 책임을 유지한다.</a:t>
            </a:r>
          </a:p>
          <a:p>
            <a:r>
              <a:t xml:space="preserve"/>
            </a:r>
          </a:p>
          <a:p>
            <a:r>
              <a:t xml:space="preserve">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S15 — Prompt를 작업 명세로 만들기</a:t>
            </a:r>
          </a:p>
          <a:p>
            <a:r>
              <a:t xml:space="preserve"/>
            </a:r>
          </a:p>
          <a:p>
            <a:r>
              <a:t xml:space="preserve">**Slide ID:**</a:t>
            </a:r>
          </a:p>
          <a:p>
            <a:r>
              <a:t xml:space="preserve">S15</a:t>
            </a:r>
          </a:p>
          <a:p>
            <a:r>
              <a:t xml:space="preserve"/>
            </a:r>
          </a:p>
          <a:p>
            <a:r>
              <a:t xml:space="preserve">**Working Title:**</a:t>
            </a:r>
          </a:p>
          <a:p>
            <a:r>
              <a:t xml:space="preserve">Prompt를 작업 명세로 만들기</a:t>
            </a:r>
          </a:p>
          <a:p>
            <a:r>
              <a:t xml:space="preserve"/>
            </a:r>
          </a:p>
          <a:p>
            <a:r>
              <a:t xml:space="preserve">**ACT / Section:**</a:t>
            </a:r>
          </a:p>
          <a:p>
            <a:r>
              <a:t xml:space="preserve">ACT 1 / 1A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Prompt를 작업 명세로 만들기 — Prompt Engineering · 요청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1의 제목 “Prompt를 작업 명세로 만들기”을 가리키며 구간을 연다.</a:t>
            </a:r>
          </a:p>
          <a:p>
            <a:r>
              <a:t xml:space="preserve">2. (0:20–0:40 / Transition) 부제 “Prompt Engineering · 요청 설계”는 이번 구간의 관점만 안내한다. 구체적 기능·해결 방법·결과는 앞서 설명하지 않는다.</a:t>
            </a:r>
          </a:p>
          <a:p>
            <a:r>
              <a:t xml:space="preserve">3. (0:40–1:00 / Transition) S16의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S16 — Task에는 무엇이 아직 정해지지 않았을까?로 이어간다.</a:t>
            </a:r>
          </a:p>
          <a:p>
            <a:r>
              <a:t xml:space="preserve"/>
            </a:r>
          </a:p>
          <a:p>
            <a:r>
              <a:t xml:space="preserve">**Time Management:**</a:t>
            </a:r>
          </a:p>
          <a:p>
            <a:r>
              <a:t xml:space="preserve">Transition 1분. 기존 본문 시간을 줄이거나 중복 계산하지 않는다. ACT 1 총64분, 전체420분이다. 제목·부제만 안내하고1분에 S16로 넘긴다. 실측 리허설 UNVERIFIED.</a:t>
            </a:r>
          </a:p>
          <a:p>
            <a:r>
              <a:t xml:space="preserve"/>
            </a:r>
          </a:p>
          <a:p>
            <a:r>
              <a:t xml:space="preserve">**Fallback:**</a:t>
            </a:r>
          </a:p>
          <a:p>
            <a:r>
              <a:t xml:space="preserve">LOCAL STATIC ARTIFACT — production/preview/full/S15.png 또는 production/ACT_1.pptx의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S16 — 이 요청에는 무엇이 빠졌을까?</a:t>
            </a:r>
          </a:p>
          <a:p>
            <a:r>
              <a:t xml:space="preserve"/>
            </a:r>
          </a:p>
          <a:p>
            <a:r>
              <a:t xml:space="preserve">Slide ID:</a:t>
            </a:r>
          </a:p>
          <a:p>
            <a:r>
              <a:t xml:space="preserve">S16</a:t>
            </a:r>
          </a:p>
          <a:p>
            <a:r>
              <a:t xml:space="preserve"/>
            </a:r>
          </a:p>
          <a:p>
            <a:r>
              <a:t xml:space="preserve">Working Title: 이 요청에는 무엇이 빠졌을까?</a:t>
            </a:r>
          </a:p>
          <a:p>
            <a:r>
              <a:t xml:space="preserve"/>
            </a:r>
          </a:p>
          <a:p>
            <a:r>
              <a:t xml:space="preserve">ACT / Section: ACT 1 / 1A</a:t>
            </a:r>
          </a:p>
          <a:p>
            <a:r>
              <a:t xml:space="preserve"/>
            </a:r>
          </a:p>
          <a:p>
            <a:r>
              <a:t xml:space="preserve">Allocated Time: 7 minutes</a:t>
            </a:r>
          </a:p>
          <a:p>
            <a:r>
              <a:t xml:space="preserve"/>
            </a:r>
          </a:p>
          <a:p>
            <a:r>
              <a:t xml:space="preserve">Mode Split: Case 7 minutes</a:t>
            </a:r>
          </a:p>
          <a:p>
            <a:r>
              <a:t xml:space="preserve"/>
            </a:r>
          </a:p>
          <a:p>
            <a:r>
              <a:t xml:space="preserve">Primary Message: crop 수정 목표는 같아도 보존 기준·허용 범위·확인 및 보고할 근거를 요청에서 더 분명히 할 수 있다.</a:t>
            </a:r>
          </a:p>
          <a:p>
            <a:r>
              <a:t xml:space="preserve"/>
            </a:r>
          </a:p>
          <a:p>
            <a:r>
              <a:t xml:space="preserve">Opening Question: “같은 crop 실패를 고칠 때, 지킬 기준·수정 범위·완료 근거 중 무엇을 요청에 더할까?”</a:t>
            </a:r>
          </a:p>
          <a:p>
            <a:r>
              <a:t xml:space="preserve"/>
            </a:r>
          </a:p>
          <a:p>
            <a:r>
              <a:t xml:space="preserve">Speaker Flow:</a:t>
            </a:r>
          </a:p>
          <a:p>
            <a:r>
              <a:t xml:space="preserve">1. **SAME CASE (0:00–1:30):** 앞서 조사한 crop 실패를 고친다는 목표를 회수하고 “crop test 고쳐줘”를 읽는다. S14의 역할 설명과 S15 제목을 다시 설명하지 않는다. 화면은 실제 Trial Prompt가 아닌 교육용 요청이다.</a:t>
            </a:r>
          </a:p>
          <a:p>
            <a:r>
              <a:t xml:space="preserve">2. **SCOPE QUESTIONS (1:30–4:00):** 지킬 기준, 수정 범위, 완료 근거를 짚는다. 명세·구현 위치는 저장소에서 조사할 수 있다. 사람은 어떤 변경을 허용하고 어떤 근거로 수용할지 알려 준다. Agent가 명세를 보고 올바른 수정을 추론할 수 없다는 뜻은 아니다.</a:t>
            </a:r>
          </a:p>
          <a:p>
            <a:r>
              <a:t xml:space="preserve">3. **COST CONCEPT (4:00–5:30):** 기존 토큰·작업 시간 이미지는 재탐색·재시도가 길어질 수 있다는 정성 개념도다. 실측·기하급수 법칙·비용 절감 성과로 설명하지 않는다. 그림은 질문을 보조하며 핵심은 요청의 경계다.</a:t>
            </a:r>
          </a:p>
          <a:p>
            <a:r>
              <a:t xml:space="preserve">4. **COMPARE SCOPE (5:30–7:00):** 같은 crop 요청을 유지한 채 테스트 기대값 변경·구현 수정·추가 확인이 각각 어떤 조건에서 허용되는지 다음 장에서 비교한다.</a:t>
            </a:r>
          </a:p>
          <a:p>
            <a:r>
              <a:t xml:space="preserve"/>
            </a:r>
          </a:p>
          <a:p>
            <a:r>
              <a:t xml:space="preserve">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a:r>
              <a:t xml:space="preserve"/>
            </a:r>
          </a:p>
          <a:p>
            <a:r>
              <a:t xml:space="preserve">보존된 상세 출처: 교육용 구성 사례 · AI 생성 삽화 · 토큰/시간 곡선은 수치 없는 개념도</a:t>
            </a:r>
          </a:p>
          <a:p>
            <a:r>
              <a:t xml:space="preserve"/>
            </a:r>
          </a:p>
          <a:p>
            <a:r>
              <a:t xml:space="preserve">DEC-0110: 같은 crop 요청의 연결을 정리한 편집 결정이며 새 Trial·제품 실행·비용 절감 근거가 아니다.</a:t>
            </a:r>
          </a:p>
          <a:p>
            <a:r>
              <a:t xml:space="preserve"/>
            </a:r>
          </a:p>
          <a:p>
            <a:r>
              <a:t xml:space="preserve">Claim Boundary: 교육용 crop 요청과 정성 비용 도식이다. 실제 Agent 실패·정지·내부 추론·반복 실행·총 토큰/시간 증가나 절감 측정이 아니다. Agent는 저장소 명세와 테스트에서 올바른 수정을 추론하거나 필요한 사항을 질문할 수 있다. 실제 TRIAL-002 Prompt와 구분한다.</a:t>
            </a:r>
          </a:p>
          <a:p>
            <a:r>
              <a:t xml:space="preserve"/>
            </a:r>
          </a:p>
          <a:p>
            <a:r>
              <a:t xml:space="preserve">Beginner Explanation: “crop test 고쳐줘”에 더해 기존 명세·기대값을 지킬지, 구현 중 어디까지 바꿀지, 무엇을 확인하고 보고할지를 분명히 한다. 저장소 사실을 사람이 모두 복사할 필요는 없다.</a:t>
            </a:r>
          </a:p>
          <a:p>
            <a:r>
              <a:t xml:space="preserve"/>
            </a:r>
          </a:p>
          <a:p>
            <a:r>
              <a:t xml:space="preserve">Advanced Insight: Task goal, preserved behavior and acceptance evidence remain distinct from repository access. The rising cost illustration is qualitative; it does not establish measured exponential growth, model incapacity or causal productivity improvement.</a:t>
            </a:r>
          </a:p>
          <a:p>
            <a:r>
              <a:t xml:space="preserve"/>
            </a:r>
          </a:p>
          <a:p>
            <a:r>
              <a:t xml:space="preserve">C++ Vision Bridge: N/A.</a:t>
            </a:r>
          </a:p>
          <a:p>
            <a:r>
              <a:t xml:space="preserve"/>
            </a:r>
          </a:p>
          <a:p>
            <a:r>
              <a:t xml:space="preserve">Demo Operation: N/A. 교육용 프롬프트 재구성·생성 삽화·개념 비용 표시를 보는 정적 Case다. 새 Agent 실행·Trial·제품 동작을 시연하지 않는다.</a:t>
            </a:r>
          </a:p>
          <a:p>
            <a:r>
              <a:t xml:space="preserve"/>
            </a:r>
          </a:p>
          <a:p>
            <a:r>
              <a:t xml:space="preserve">Audience Interaction: 오른쪽 세 질문을 따라 어떤 결정이 비어 있는지 생각하게 한다. 공개 답변·실습·요청문 작성을 요구하지 않는다.</a:t>
            </a:r>
          </a:p>
          <a:p>
            <a:r>
              <a:t xml:space="preserve"/>
            </a:r>
          </a:p>
          <a:p>
            <a:r>
              <a:t xml:space="preserve">Transition:</a:t>
            </a:r>
          </a:p>
          <a:p>
            <a:r>
              <a:t xml:space="preserve">“같은 crop 요청에서, 어떤 변경을 허용한 것인지 비교해 보겠습니다.”라고 S17로 이동한다.</a:t>
            </a:r>
          </a:p>
          <a:p>
            <a:r>
              <a:t xml:space="preserve"/>
            </a:r>
          </a:p>
          <a:p>
            <a:r>
              <a:t xml:space="preserve">Time Management: Case 7분. 같은 요청 1분30초, 세 질문 2분30초, 비용 개념 1분30초, 같은 사례의 범위 비교 1분30초. 다른 filter 성능 사례나 토큰 단가 강의를 추가하지 않는다. 실측 리허설은 UNVERIFIED다.</a:t>
            </a:r>
          </a:p>
          <a:p>
            <a:r>
              <a:t xml:space="preserve"/>
            </a:r>
          </a:p>
          <a:p>
            <a:r>
              <a:t xml:space="preserve">Fallback: 정적 기본 경로 — `production/ACT_1.pptx` S16 또는 `production/preview/act1/S16.png`를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S17 — 어디까지 바꾸라는 요청일까?</a:t>
            </a:r>
          </a:p>
          <a:p>
            <a:r>
              <a:t xml:space="preserve"/>
            </a:r>
          </a:p>
          <a:p>
            <a:r>
              <a:t xml:space="preserve">Slide ID:</a:t>
            </a:r>
          </a:p>
          <a:p>
            <a:r>
              <a:t xml:space="preserve">S17</a:t>
            </a:r>
          </a:p>
          <a:p>
            <a:r>
              <a:t xml:space="preserve"/>
            </a:r>
          </a:p>
          <a:p>
            <a:r>
              <a:t xml:space="preserve">Working Title: 어디까지 바꾸라는 요청일까?</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기존 명세·기대값이 유효한 이 사례에서는 구현을 명세에 맞춘다. 기대값 변경에는 명세 변경의 정당성·승인이 필요하고, 의도와 명세가 충돌하면 먼저 확인한다.</a:t>
            </a:r>
          </a:p>
          <a:p>
            <a:r>
              <a:t xml:space="preserve"/>
            </a:r>
          </a:p>
          <a:p>
            <a:r>
              <a:t xml:space="preserve">Opening Question: “같은 crop 요청에서 어떤 변경을 허용했을까?”</a:t>
            </a:r>
          </a:p>
          <a:p>
            <a:r>
              <a:t xml:space="preserve"/>
            </a:r>
          </a:p>
          <a:p>
            <a:r>
              <a:t xml:space="preserve">Speaker Flow:</a:t>
            </a:r>
          </a:p>
          <a:p>
            <a:r>
              <a:t xml:space="preserve">1. **SAME REQUEST (0:00–0:30):** 앞 장과 동일한 “crop test 고쳐줘”를 그대로 읽는다. 예시나 실행 환경을 바꾸지 않는다. 실제 TRIAL-002 Prompt가 아닌 교육용 구성이다.</a:t>
            </a:r>
          </a:p>
          <a:p>
            <a:r>
              <a:t xml:space="preserve">2. **CONDITIONAL PATHS (0:30–1:20):** 테스트 기대값 변경에는 명세 변경의 정당성과 승인이 필요하다. 기존 명세·기대값이 유효한 이 사례의 수용 경로는 구현 수정이다. 의도와 명세가 충돌하거나 변경 범위가 불분명하면 먼저 질문한다. 세 경로를 동등하게 정당한 답이나 실제 반복 결과로 읽지 않는다.</a:t>
            </a:r>
          </a:p>
          <a:p>
            <a:r>
              <a:t xml:space="preserve">3. **MAKE INTENT EXPLICIT (1:20–2:00):** 아래 다섯 항목은 요청에서 더 분명히 할 정보다. 모두 저장소에 없는 사실이라는 뜻은 아니다. 다음 장에서 기존 명세를 지키고 구현만 고치려는 범위를 명시한다.</a:t>
            </a:r>
          </a:p>
          <a:p>
            <a:r>
              <a:t xml:space="preserve"/>
            </a:r>
          </a:p>
          <a:p>
            <a:r>
              <a:t xml:space="preserve">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병렬 시간선 · 실제 반복 실행·동시 Subagent·분기 확률을 관찰한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평행 경로는 검토할 선택의 조건을 설명한 교육용 도식이며 실제 실행·선택 확률·동시 Subagent가 아니다. 테스트 기대값 변경을 유효한 기존 명세를 어기는 구현 수정과 동등하게 정당화하지 않는다. 정당한 명세 변경·승인이 있으면 테스트도 바뀔 수 있다. Agent가 저장소에서 올바른 수정을 추론하지 못한다는 주장을 하지 않는다.</a:t>
            </a:r>
          </a:p>
          <a:p>
            <a:r>
              <a:t xml:space="preserve"/>
            </a:r>
          </a:p>
          <a:p>
            <a:r>
              <a:t xml:space="preserve">Beginner Explanation: 이 예시에서는 기대값을 유지하고 구현을 맞춘다. 기대값 변경은 명세 자체를 정당하게 바꾸는 경우에 따로 검토하고, 의도나 권한이 충돌하면 확인한다.</a:t>
            </a:r>
          </a:p>
          <a:p>
            <a:r>
              <a:t xml:space="preserve"/>
            </a:r>
          </a:p>
          <a:p>
            <a:r>
              <a:t xml:space="preserve">Advanced Insight: The paths compare change authority and preservation criteria, not measured nondeterminism. Repository evidence can support the correct implementation fix; clarify unresolved intent or conflicting specifications.</a:t>
            </a:r>
          </a:p>
          <a:p>
            <a:r>
              <a:t xml:space="preserve"/>
            </a:r>
          </a:p>
          <a:p>
            <a:r>
              <a:t xml:space="preserve">C++ Vision Bridge: N/A.</a:t>
            </a:r>
          </a:p>
          <a:p>
            <a:r>
              <a:t xml:space="preserve"/>
            </a:r>
          </a:p>
          <a:p>
            <a:r>
              <a:t xml:space="preserve">Demo Operation: N/A. 정적 프롬프트·동일 Agent·가능한 세 경로를 설명한다. 새 Trial·반복 호출·병렬 Subagent를 실행하지 않는다.</a:t>
            </a:r>
          </a:p>
          <a:p>
            <a:r>
              <a:t xml:space="preserve"/>
            </a:r>
          </a:p>
          <a:p>
            <a:r>
              <a:t xml:space="preserve">Audience Interaction: 같은 요청에서 각 변경이 허용될 조건을 눈으로 비교한다. 세 가지를 똑같이 옳은 선택으로 고르게 하거나 응답·실습을 요구하지 않는다.</a:t>
            </a:r>
          </a:p>
          <a:p>
            <a:r>
              <a:t xml:space="preserve"/>
            </a:r>
          </a:p>
          <a:p>
            <a:r>
              <a:t xml:space="preserve">Transition:</a:t>
            </a:r>
          </a:p>
          <a:p>
            <a:r>
              <a:t xml:space="preserve">“이 사례에서는 기존 명세·기대값을 지키고 구현만 고치려 합니다. 그 범위와 확인·보고 조건을 요청에 담아 보겠습니다.”라고 S18로 이동한다.</a:t>
            </a:r>
          </a:p>
          <a:p>
            <a:r>
              <a:t xml:space="preserve"/>
            </a:r>
          </a:p>
          <a:p>
            <a:r>
              <a:t xml:space="preserve">Time Management: Case 2분. 같은 요청 30초, 조건부 경로 비교 50초, 명시할 정보와 다음 요청 연결 40초. S18과 합쳐 Case 4분을 유지한다. 실측 리허설은 UNVERIFIED다.</a:t>
            </a:r>
          </a:p>
          <a:p>
            <a:r>
              <a:t xml:space="preserve"/>
            </a:r>
          </a:p>
          <a:p>
            <a:r>
              <a:t xml:space="preserve">Fallback: 정적 기본 경로 — `production/ACT_1.pptx` S17 또는 `production/preview/act1/S17.png`를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S18 — 원하는 변경 범위를 요청에 담는다</a:t>
            </a:r>
          </a:p>
          <a:p>
            <a:r>
              <a:t xml:space="preserve"/>
            </a:r>
          </a:p>
          <a:p>
            <a:r>
              <a:t xml:space="preserve">Slide ID:</a:t>
            </a:r>
          </a:p>
          <a:p>
            <a:r>
              <a:t xml:space="preserve">S18</a:t>
            </a:r>
          </a:p>
          <a:p>
            <a:r>
              <a:t xml:space="preserve"/>
            </a:r>
          </a:p>
          <a:p>
            <a:r>
              <a:t xml:space="preserve">Working Title: 원하는 변경 범위를 요청에 담는다</a:t>
            </a:r>
          </a:p>
          <a:p>
            <a:r>
              <a:t xml:space="preserve"/>
            </a:r>
          </a:p>
          <a:p>
            <a:r>
              <a:t xml:space="preserve">ACT / Section: ACT 1 / 1B</a:t>
            </a:r>
          </a:p>
          <a:p>
            <a:r>
              <a:t xml:space="preserve"/>
            </a:r>
          </a:p>
          <a:p>
            <a:r>
              <a:t xml:space="preserve">Allocated Time: 2 minutes</a:t>
            </a:r>
          </a:p>
          <a:p>
            <a:r>
              <a:t xml:space="preserve"/>
            </a:r>
          </a:p>
          <a:p>
            <a:r>
              <a:t xml:space="preserve">Mode Split: Case 2 minutes</a:t>
            </a:r>
          </a:p>
          <a:p>
            <a:r>
              <a:t xml:space="preserve"/>
            </a:r>
          </a:p>
          <a:p>
            <a:r>
              <a:t xml:space="preserve">Primary Message: 같은 요청에 기존 명세·기대값 보존, crop 구현 최소 수정, 관련·전체 테스트 확인, 변경·검증·미확인 사항 보고를 담는다. 의도한 경로와 실제 검증 결과는 별개다.</a:t>
            </a:r>
          </a:p>
          <a:p>
            <a:r>
              <a:t xml:space="preserve"/>
            </a:r>
          </a:p>
          <a:p>
            <a:r>
              <a:t xml:space="preserve">Opening Question: “어떤 변경을 원하고, 어떤 근거를 보고 완료를 판단할지 보이나요?”</a:t>
            </a:r>
          </a:p>
          <a:p>
            <a:r>
              <a:t xml:space="preserve"/>
            </a:r>
          </a:p>
          <a:p>
            <a:r>
              <a:t xml:space="preserve">Speaker Flow:</a:t>
            </a:r>
          </a:p>
          <a:p>
            <a:r>
              <a:t xml:space="preserve">1. **NATURAL REQUEST (0:00–0:45):** 같은 “crop test 고쳐줘”에 더한 네 문장을 읽는다. 기존 명세·테스트 기대값 보존, 어긋난 crop 구현 최소 수정, 관련·전체 테스트 확인, 변경·검증·미확인 사항 보고다. 입력창 위 기대값은 끝 좌표를 제외하는 기존 명세를 떠올리는 작은 예시이며 전체 함수 signature가 아니다.</a:t>
            </a:r>
          </a:p>
          <a:p>
            <a:r>
              <a:t xml:space="preserve">2. **INTENDED SCOPE (0:45–1:30):** 오른쪽 구현 수정 경로는 사람이 명시한 변경 범위다. 실제 선택·실행·성공·PASS를 보여주지 않는다. “관련 테스트”는 바뀐 동작과 관련된 검사를 고르는 것이고 “전체 테스트”는 프로젝트 suite다. 이 장에서 CLI·도구 용어를 늘리지 않는다. 명세·코드·테스트 위치는 Agent가 조사할 수 있다.</a:t>
            </a:r>
          </a:p>
          <a:p>
            <a:r>
              <a:t xml:space="preserve">3. **GENERALIZE (1:30–2:00):** S19에서 사람이 정할 질문, S20에서 다섯 항목, S21에서 각 문장의 역할로 정리한다. 실제 TRIAL-002 Prompt와 작업 기록은 S22 이후에 별도로 확인한다.</a:t>
            </a:r>
          </a:p>
          <a:p>
            <a:r>
              <a:t xml:space="preserve"/>
            </a:r>
          </a:p>
          <a:p>
            <a:r>
              <a:t xml:space="preserve">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a:r>
              <a:t xml:space="preserve"/>
            </a:r>
          </a:p>
          <a:p>
            <a:r>
              <a:t xml:space="preserve">보존된 상세 출처: 교육용 Prompt와 목표 경로 · TRIAL-002의 실제 요청·실행 결과가 아님</a:t>
            </a:r>
          </a:p>
          <a:p>
            <a:r>
              <a:t xml:space="preserve"/>
            </a:r>
          </a:p>
          <a:p>
            <a:r>
              <a:t xml:space="preserve">DEC-0110: 같은 crop 요청의 연결을 정리한 편집 결정이며 새 Trial·제품 실행·비용 절감 근거가 아니다.</a:t>
            </a:r>
          </a:p>
          <a:p>
            <a:r>
              <a:t xml:space="preserve"/>
            </a:r>
          </a:p>
          <a:p>
            <a:r>
              <a:t xml:space="preserve">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a:r>
              <a:t xml:space="preserve"/>
            </a:r>
          </a:p>
          <a:p>
            <a:r>
              <a:t xml:space="preserve">보존된 상세 범위: 의도한 경로 표시는 실제 선택·정확성·성공을 보장하지 않습니다. 변경 뒤 검증은 계속 필요합니다.</a:t>
            </a:r>
          </a:p>
          <a:p>
            <a:r>
              <a:t xml:space="preserve"/>
            </a:r>
          </a:p>
          <a:p>
            <a:r>
              <a:t xml:space="preserve">Beginner Explanation: 요청에 지킬 기준·허용 범위·확인·보고 조건을 자연스러운 문장으로 더한다. 강조한 선은 사람이 원하는 경로이며 실제 테스트 통과 결과가 아니다.</a:t>
            </a:r>
          </a:p>
          <a:p>
            <a:r>
              <a:t xml:space="preserve"/>
            </a:r>
          </a:p>
          <a:p>
            <a:r>
              <a:t xml:space="preserve">Advanced Insight: Explicit intent constrains the acceptable solution space; it does not guarantee deterministic behavior or correctness. Preserve verification and distinguish the requested path from the observed path.</a:t>
            </a:r>
          </a:p>
          <a:p>
            <a:r>
              <a:t xml:space="preserve"/>
            </a:r>
          </a:p>
          <a:p>
            <a:r>
              <a:t xml:space="preserve">C++ Vision Bridge: N/A.</a:t>
            </a:r>
          </a:p>
          <a:p>
            <a:r>
              <a:t xml:space="preserve"/>
            </a:r>
          </a:p>
          <a:p>
            <a:r>
              <a:t xml:space="preserve">Demo Operation: N/A. 교육용 프롬프트 재구성과 같은 시간선의 강조 전환을 보는 정적 Case다. 실제 Agent 호출·테스트·반복 실험을 수행하지 않는다.</a:t>
            </a:r>
          </a:p>
          <a:p>
            <a:r>
              <a:t xml:space="preserve"/>
            </a:r>
          </a:p>
          <a:p>
            <a:r>
              <a:t xml:space="preserve">Audience Interaction: 같은 요청에 더해진 네 문장과 구현 수정 범위의 연결을 확인하게 한다. 직접 작성·공유·실습은 요구하지 않는다.</a:t>
            </a:r>
          </a:p>
          <a:p>
            <a:r>
              <a:t xml:space="preserve"/>
            </a:r>
          </a:p>
          <a:p>
            <a:r>
              <a:t xml:space="preserve">Transition:</a:t>
            </a:r>
          </a:p>
          <a:p>
            <a:r>
              <a:t xml:space="preserve">“이제 답을 다시 읽기보다, 다른 요청에서도 개발자가 먼저 결정할 질문을 정리해 보겠습니다.”라고 S19로 연결한다.</a:t>
            </a:r>
          </a:p>
          <a:p>
            <a:r>
              <a:t xml:space="preserve"/>
            </a:r>
          </a:p>
          <a:p>
            <a:r>
              <a:t xml:space="preserve">Time Management: Case 2분. 자연스러운 요청 45초, 변경 범위·검증 경계 45초, 다음 질문으로 연결 30초. S17과 합쳐 Case 4분을 유지한다. 실제 발화·리허설 시간은 UNVERIFIED다.</a:t>
            </a:r>
          </a:p>
          <a:p>
            <a:r>
              <a:t xml:space="preserve"/>
            </a:r>
          </a:p>
          <a:p>
            <a:r>
              <a:t xml:space="preserve">Fallback: 정적 기본 경로 — `production/ACT_1.pptx` S18 또는 `production/preview/act1/S18.png`를 사용한다. 같은 crop 요청의 교육용 예시이며 실제 Trial 실행과 구분한다. 최종 PPT·Notes·PNG 검토는 production/evaluation/ACT1_SINGLE_CROP_REVISION.md를 따른다.</a:t>
            </a:r>
          </a:p>
          <a:p>
            <a:r>
              <a:t xml:space="preserve"/>
            </a:r>
          </a:p>
          <a:p>
            <a:r>
              <a:t xml:space="preserve">Validation Status: ALIGNED — DEC-0110에 따라 같은 crop 요청의 보존 기준·수정 범위·완료 근거를 정렬했다. 로컬 PPT·내장 Notes·렌더 결과는 production/evaluation/ACT1_SINGLE_CROP_REVISION.md에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S19 — 개발자가 정해야 하는 경계</a:t>
            </a:r>
          </a:p>
          <a:p>
            <a:r>
              <a:t xml:space="preserve"/>
            </a:r>
          </a:p>
          <a:p>
            <a:r>
              <a:t xml:space="preserve">Slide ID:</a:t>
            </a:r>
          </a:p>
          <a:p>
            <a:r>
              <a:t xml:space="preserve">S19</a:t>
            </a:r>
          </a:p>
          <a:p>
            <a:r>
              <a:t xml:space="preserve"/>
            </a:r>
          </a:p>
          <a:p>
            <a:r>
              <a:t xml:space="preserve">Working Title: 개발자가 정해야 하는 경계</a:t>
            </a:r>
          </a:p>
          <a:p>
            <a:r>
              <a:t xml:space="preserve"/>
            </a:r>
          </a:p>
          <a:p>
            <a:r>
              <a:t xml:space="preserve">ACT / Section: ACT 1 / 1B</a:t>
            </a:r>
          </a:p>
          <a:p>
            <a:r>
              <a:t xml:space="preserve"/>
            </a:r>
          </a:p>
          <a:p>
            <a:r>
              <a:t xml:space="preserve">Allocated Time: 4 minutes</a:t>
            </a:r>
          </a:p>
          <a:p>
            <a:r>
              <a:t xml:space="preserve"/>
            </a:r>
          </a:p>
          <a:p>
            <a:r>
              <a:t xml:space="preserve">Mode Split: Case 3 minutes + Reflection 1 minute</a:t>
            </a:r>
          </a:p>
          <a:p>
            <a:r>
              <a:t xml:space="preserve"/>
            </a:r>
          </a:p>
          <a:p>
            <a:r>
              <a:t xml:space="preserve">Primary Message: Prompt의 실용적 가치는 문장 장식보다 Task ambiguity reduction에 있다.</a:t>
            </a:r>
          </a:p>
          <a:p>
            <a:r>
              <a:t xml:space="preserve"/>
            </a:r>
          </a:p>
          <a:p>
            <a:r>
              <a:t xml:space="preserve">Opening Question: “다른 요청을 보내기 전, 개발자인 나는 무엇을 결정해야 할까?”</a:t>
            </a:r>
          </a:p>
          <a:p>
            <a:r>
              <a:t xml:space="preserve"/>
            </a:r>
          </a:p>
          <a:p>
            <a:r>
              <a:t xml:space="preserve">Speaker Flow:</a:t>
            </a:r>
          </a:p>
          <a:p>
            <a:r>
              <a:t xml:space="preserve"/>
            </a:r>
          </a:p>
          <a:p>
            <a:r>
              <a:t xml:space="preserve">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a:r>
              <a:t xml:space="preserve">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a:r>
              <a:t xml:space="preserve">3. (3:00–4:00 / Reflection) 익숙한 요청 하나를 조용히 떠올리고 어떤 결정이 비어 있었는지 생각한다. 작성·공유·응답을 요구하지 않는다.</a:t>
            </a:r>
          </a:p>
          <a:p>
            <a:r>
              <a:t xml:space="preserve"/>
            </a:r>
          </a:p>
          <a:p>
            <a:r>
              <a:t xml:space="preserve">Evidence / Source: BEAT-004, CLM-0002. TEACHING_MODEL / CONCEPTUAL. 특정 요청이 특정 실패를 반드시 만든다고 하지 않는다. DEC-0042는 요청 설계와 기존 사례의 연결·용어를 정렬한 결정이며 새로운 실험 근거가 아니다.</a:t>
            </a:r>
          </a:p>
          <a:p>
            <a:r>
              <a:t xml:space="preserve"/>
            </a:r>
          </a:p>
          <a:p>
            <a:r>
              <a:t xml:space="preserve">보존된 상세 출처: 이 과정의 질문 틀 · 정답을 제시하는 분류 시험이 아님</a:t>
            </a:r>
          </a:p>
          <a:p>
            <a:r>
              <a:t xml:space="preserve"/>
            </a:r>
          </a:p>
          <a:p>
            <a:r>
              <a:t xml:space="preserve">Claim Boundary: 다섯 질문은 수업용 질문 프레임이다. 특정한 단일 답이나 제품 기능으로 소개하지 않는다.</a:t>
            </a:r>
          </a:p>
          <a:p>
            <a:r>
              <a:t xml:space="preserve"/>
            </a:r>
          </a:p>
          <a:p>
            <a:r>
              <a:t xml:space="preserve">보존된 상세 범위: 마지막 1분은 익숙한 작업 하나를 조용히 떠올려 보세요.</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Clarify scope, preserved contracts, acceptable change surface, and evidence before delegating.</a:t>
            </a:r>
          </a:p>
          <a:p>
            <a:r>
              <a:t xml:space="preserve"/>
            </a:r>
          </a:p>
          <a:p>
            <a:r>
              <a:t xml:space="preserve">C++ Vision Bridge: N/A.</a:t>
            </a:r>
          </a:p>
          <a:p>
            <a:r>
              <a:t xml:space="preserve"/>
            </a:r>
          </a:p>
          <a:p>
            <a:r>
              <a:t xml:space="preserve">Demo Operation: N/A.</a:t>
            </a:r>
          </a:p>
          <a:p>
            <a:r>
              <a:t xml:space="preserve"/>
            </a:r>
          </a:p>
          <a:p>
            <a:r>
              <a:t xml:space="preserve">Audience Interaction: 마지막 1분은 비공개 Reflection이다. 말하기, 노트북, Prompt 작성은 요구하지 않는다.</a:t>
            </a:r>
          </a:p>
          <a:p>
            <a:r>
              <a:t xml:space="preserve"/>
            </a:r>
          </a:p>
          <a:p>
            <a:r>
              <a:t xml:space="preserve">Transition:</a:t>
            </a:r>
          </a:p>
          <a:p>
            <a:r>
              <a:t xml:space="preserve">“사람이 정할 답과 저장소에서 조사할 사실을 구분해, 다섯 항목의 작업 요청으로 정리해 보겠습니다.”라고 S20로 이동한다.</a:t>
            </a:r>
          </a:p>
          <a:p>
            <a:r>
              <a:t xml:space="preserve"/>
            </a:r>
          </a:p>
          <a:p>
            <a:r>
              <a:t xml:space="preserve">Time Management: Case 3분 후 Reflection 1분을 분리한다. 답을 제공하거나 공개 응답을 받지 않는다.</a:t>
            </a:r>
          </a:p>
          <a:p>
            <a:r>
              <a:t xml:space="preserve"/>
            </a:r>
          </a:p>
          <a:p>
            <a:r>
              <a:t xml:space="preserve">Fallback:</a:t>
            </a:r>
          </a:p>
          <a:p>
            <a:r>
              <a:t xml:space="preserve">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S20 — Task Specification의 다섯 책임</a:t>
            </a:r>
          </a:p>
          <a:p>
            <a:r>
              <a:t xml:space="preserve"/>
            </a:r>
          </a:p>
          <a:p>
            <a:r>
              <a:t xml:space="preserve">Slide ID:</a:t>
            </a:r>
          </a:p>
          <a:p>
            <a:r>
              <a:t xml:space="preserve">S20</a:t>
            </a:r>
          </a:p>
          <a:p>
            <a:r>
              <a:t xml:space="preserve"/>
            </a:r>
          </a:p>
          <a:p>
            <a:r>
              <a:t xml:space="preserve">Working Title: Task Specification의 다섯 책임</a:t>
            </a:r>
          </a:p>
          <a:p>
            <a:r>
              <a:t xml:space="preserve"/>
            </a:r>
          </a:p>
          <a:p>
            <a:r>
              <a:t xml:space="preserve">ACT / Section: ACT 1 / 1C</a:t>
            </a:r>
          </a:p>
          <a:p>
            <a:r>
              <a:t xml:space="preserve"/>
            </a:r>
          </a:p>
          <a:p>
            <a:r>
              <a:t xml:space="preserve">Allocated Time: 4 minutes</a:t>
            </a:r>
          </a:p>
          <a:p>
            <a:r>
              <a:t xml:space="preserve"/>
            </a:r>
          </a:p>
          <a:p>
            <a:r>
              <a:t xml:space="preserve">Mode Split: Lecture 4 minutes</a:t>
            </a:r>
          </a:p>
          <a:p>
            <a:r>
              <a:t xml:space="preserve"/>
            </a:r>
          </a:p>
          <a:p>
            <a:r>
              <a:t xml:space="preserve">Primary Message: Goal, Context, Constraints, Process, Verification은 작업을 구체화하는 교육용 틀이다.</a:t>
            </a:r>
          </a:p>
          <a:p>
            <a:r>
              <a:t xml:space="preserve"/>
            </a:r>
          </a:p>
          <a:p>
            <a:r>
              <a:t xml:space="preserve">Opening Question: “사람이 정할 답과 저장소에서 조사할 사실을 요청에 어떻게 담을까?”</a:t>
            </a:r>
          </a:p>
          <a:p>
            <a:r>
              <a:t xml:space="preserve"/>
            </a:r>
          </a:p>
          <a:p>
            <a:r>
              <a:t xml:space="preserve">Speaker Flow:</a:t>
            </a:r>
          </a:p>
          <a:p>
            <a:r>
              <a:t xml:space="preserve">1. (0:00–0:40) S19의 질문을 이 과정의 Goal / Context / Constraints / Process / Verification 틀로 정리한다고 소개한다. 공식 제품 분류나 새 기능이 아니다.</a:t>
            </a:r>
          </a:p>
          <a:p>
            <a:r>
              <a:t xml:space="preserve">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a:r>
              <a:t xml:space="preserve">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a:r>
              <a:t xml:space="preserve"/>
            </a:r>
          </a:p>
          <a:p>
            <a:r>
              <a:t xml:space="preserve">Evidence / Source: BEAT-005, CLM-0029, OQ-001, OQ-007. TEACHING_MODEL / CONCEPTUAL. DEC-0042는 요청 설계와 기존 사례의 연결·용어를 정렬한 결정이며 새로운 실험 근거가 아니다.</a:t>
            </a:r>
          </a:p>
          <a:p>
            <a:r>
              <a:t xml:space="preserve"/>
            </a:r>
          </a:p>
          <a:p>
            <a:r>
              <a:t xml:space="preserve">보존된 상세 출처: 이 과정의 교육 모델 · 공식 OpenAI 분류나 모든 작업에 대한 법칙이 아님</a:t>
            </a:r>
          </a:p>
          <a:p>
            <a:r>
              <a:t xml:space="preserve"/>
            </a:r>
          </a:p>
          <a:p>
            <a:r>
              <a:t xml:space="preserve">Claim Boundary: 다섯 항목은 과정에서 쓰는 Task Specification 모델이지 공식 OpenAI taxonomy나 universal law가 아니다.</a:t>
            </a:r>
          </a:p>
          <a:p>
            <a:r>
              <a:t xml:space="preserve"/>
            </a:r>
          </a:p>
          <a:p>
            <a:r>
              <a:t xml:space="preserve">보존된 상세 범위: 저장소에서 확인할 사실은 조사하게 하고, 사람이 정할 목표·제약·완료 기준은 요청에 담습니다.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Separate task intent from retained project facts, and identify which judgment remains with the developer.</a:t>
            </a:r>
          </a:p>
          <a:p>
            <a:r>
              <a:t xml:space="preserve"/>
            </a:r>
          </a:p>
          <a:p>
            <a:r>
              <a:t xml:space="preserve">C++ Vision Bridge: N/A.</a:t>
            </a:r>
          </a:p>
          <a:p>
            <a:r>
              <a:t xml:space="preserve"/>
            </a:r>
          </a:p>
          <a:p>
            <a:r>
              <a:t xml:space="preserve">Demo Operation: N/A.</a:t>
            </a:r>
          </a:p>
          <a:p>
            <a:r>
              <a:t xml:space="preserve"/>
            </a:r>
          </a:p>
          <a:p>
            <a:r>
              <a:t xml:space="preserve">Audience Interaction: 설명 중간에 다섯 책임이 줄이는 불확실성을 확인한다. 청중에게 작성 실습을 시키지 않는다.</a:t>
            </a:r>
          </a:p>
          <a:p>
            <a:r>
              <a:t xml:space="preserve"/>
            </a:r>
          </a:p>
          <a:p>
            <a:r>
              <a:t xml:space="preserve">Transition:</a:t>
            </a:r>
          </a:p>
          <a:p>
            <a:r>
              <a:t xml:space="preserve">“이 다섯 항목이 실제 요청 문장의 어디에 들어가는지 보겠습니다.”라고 S21의 교육용 요청 예시로 이동한다.</a:t>
            </a:r>
          </a:p>
          <a:p>
            <a:r>
              <a:t xml:space="preserve"/>
            </a:r>
          </a:p>
          <a:p>
            <a:r>
              <a:t xml:space="preserve">Time Management: 네 분 동안 각 항목을 한 문장으로 설명한다. 별도 Best Practice 목록이나 제품 기능으로 확장하지 않는다.</a:t>
            </a:r>
          </a:p>
          <a:p>
            <a:r>
              <a:t xml:space="preserve"/>
            </a:r>
          </a:p>
          <a:p>
            <a:r>
              <a:t xml:space="preserve">Fallback:</a:t>
            </a:r>
          </a:p>
          <a:p>
            <a:r>
              <a:t xml:space="preserve">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S21 — 더 긴 Prompt보다 분명한 경계</a:t>
            </a:r>
          </a:p>
          <a:p>
            <a:r>
              <a:t xml:space="preserve"/>
            </a:r>
          </a:p>
          <a:p>
            <a:r>
              <a:t xml:space="preserve">Slide ID:</a:t>
            </a:r>
          </a:p>
          <a:p>
            <a:r>
              <a:t xml:space="preserve">S21</a:t>
            </a:r>
          </a:p>
          <a:p>
            <a:r>
              <a:t xml:space="preserve"/>
            </a:r>
          </a:p>
          <a:p>
            <a:r>
              <a:t xml:space="preserve">Working Title: 더 긴 Prompt보다 분명한 경계</a:t>
            </a:r>
          </a:p>
          <a:p>
            <a:r>
              <a:t xml:space="preserve"/>
            </a:r>
          </a:p>
          <a:p>
            <a:r>
              <a:t xml:space="preserve">ACT / Section: ACT 1 / 1C + 1F</a:t>
            </a:r>
          </a:p>
          <a:p>
            <a:r>
              <a:t xml:space="preserve"/>
            </a:r>
          </a:p>
          <a:p>
            <a:r>
              <a:t xml:space="preserve">Allocated Time: 9 minutes</a:t>
            </a:r>
          </a:p>
          <a:p>
            <a:r>
              <a:t xml:space="preserve"/>
            </a:r>
          </a:p>
          <a:p>
            <a:r>
              <a:t xml:space="preserve">Mode Split: Lecture 6 minutes + Case 3 minutes</a:t>
            </a:r>
          </a:p>
          <a:p>
            <a:r>
              <a:t xml:space="preserve"/>
            </a:r>
          </a:p>
          <a:p>
            <a:r>
              <a:t xml:space="preserve">Primary Message: 유용성은 Prompt의 길이보다 Goal과 제약, 과정, 검증 경계가 분명한 데서 나온다.</a:t>
            </a:r>
          </a:p>
          <a:p>
            <a:r>
              <a:t xml:space="preserve"/>
            </a:r>
          </a:p>
          <a:p>
            <a:r>
              <a:t xml:space="preserve">Opening Question: “다섯 항목은 구체적인 요청 문장의 어디에서 드러나는가?”</a:t>
            </a:r>
          </a:p>
          <a:p>
            <a:r>
              <a:t xml:space="preserve"/>
            </a:r>
          </a:p>
          <a:p>
            <a:r>
              <a:t xml:space="preserve">Speaker Flow:</a:t>
            </a:r>
          </a:p>
          <a:p>
            <a:r>
              <a:t xml:space="preserve"/>
            </a:r>
          </a:p>
          <a:p>
            <a:r>
              <a:t xml:space="preserve">1. (0:00–2:00 / Lecture) 짧은 요청과 교육용으로 구체화한 요청을 비교한다. 앞 장의 다섯 항목을 다시 정의하지 않고 어떤 문장이 목표·맥락·제약·과정·검증을 드러내는지 짚는다.</a:t>
            </a:r>
          </a:p>
          <a:p>
            <a:r>
              <a:t xml:space="preserve">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a:r>
              <a:t xml:space="preserve">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a:r>
              <a:t xml:space="preserve">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a:r>
              <a:t xml:space="preserve">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a:r>
              <a:t xml:space="preserve"/>
            </a:r>
          </a:p>
          <a:p>
            <a:r>
              <a:t xml:space="preserve">Evidence / Source: BEAT-005, TRIAL-002, CLM-0029, OQ-001, OQ-007. TEACHING_MODEL / CONCEPTUAL. DEC-0042는 요청 설계와 기존 사례의 연결·용어를 정렬한 결정이며 새로운 실험 근거가 아니다.</a:t>
            </a:r>
          </a:p>
          <a:p>
            <a:r>
              <a:t xml:space="preserve"/>
            </a:r>
          </a:p>
          <a:p>
            <a:r>
              <a:t xml:space="preserve">보존된 상세 출처: 교육용 Before / After · 실제 Trial Prompt나 우월성 비교 실험이 아님</a:t>
            </a:r>
          </a:p>
          <a:p>
            <a:r>
              <a:t xml:space="preserve"/>
            </a:r>
          </a:p>
          <a:p>
            <a:r>
              <a:t xml:space="preserve">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a:r>
              <a:t xml:space="preserve"/>
            </a:r>
          </a:p>
          <a:p>
            <a:r>
              <a:t xml:space="preserve">보존된 상세 범위: 완료 조건과 C++ 적용은 교육용 예시입니다. 특정 Windows·빌드 환경을 검증한 것은 아닙니다.</a:t>
            </a:r>
          </a:p>
          <a:p>
            <a:r>
              <a:t xml:space="preserve"/>
            </a:r>
          </a:p>
          <a:p>
            <a:r>
              <a:t xml:space="preserve">Beginner Explanation: 저장소에서 조사할 수 있는 사실은 확인하도록 맡기고, 사람이 원하는 결과·우선순위·지킬 조건·완료 판단 근거를 정해 요청한다. 모든 Context를 직접 붙여 넣어야 한다는 뜻은 아니다.</a:t>
            </a:r>
          </a:p>
          <a:p>
            <a:r>
              <a:t xml:space="preserve"/>
            </a:r>
          </a:p>
          <a:p>
            <a:r>
              <a:t xml:space="preserve">Advanced Insight: Make the allowed change surface and completion evidence reviewable; do not claim a causal performance advantage.</a:t>
            </a:r>
          </a:p>
          <a:p>
            <a:r>
              <a:t xml:space="preserve"/>
            </a:r>
          </a:p>
          <a:p>
            <a:r>
              <a:t xml:space="preserve">C++ Vision Bridge: SUPPORTING footer strip — 출력·API/ABI의 보존 범위와 Release 검증 조건을 먼저 정하는 사례다. 특정 Windows, shell, IDE, hardware의 실제 사용법이나 검증 결과로 주장하지 않는다.</a:t>
            </a:r>
          </a:p>
          <a:p>
            <a:r>
              <a:t xml:space="preserve"/>
            </a:r>
          </a:p>
          <a:p>
            <a:r>
              <a:t xml:space="preserve">Demo Operation: N/A — the comparison is conceptual and is not the exact Trial-002 Prompt.</a:t>
            </a:r>
          </a:p>
          <a:p>
            <a:r>
              <a:t xml:space="preserve"/>
            </a:r>
          </a:p>
          <a:p>
            <a:r>
              <a:t xml:space="preserve">Audience Interaction: 마지막 Case 3분에는 구체 완료 조건을 90초 동안 따라 읽고, 나머지 90초에 두 요청에서 새로 명시된 책임을 마음속으로 비교한다. 작성 실습이나 발표 응답은 요구하지 않는다.</a:t>
            </a:r>
          </a:p>
          <a:p>
            <a:r>
              <a:t xml:space="preserve"/>
            </a:r>
          </a:p>
          <a:p>
            <a:r>
              <a:t xml:space="preserve">Transition:</a:t>
            </a:r>
          </a:p>
          <a:p>
            <a:r>
              <a:t xml:space="preserve">“여기까지는 교육용 요청 예시였습니다. 이제 실제 기록에서는 어떤 지시를 전달했고, 그 지시와 작업 과정이 어떻게 연결됐는지 보겠습니다.”라고 S22의 TRIAL-002 실제 Prompt 발췌·번역으로 이동한다.</a:t>
            </a:r>
          </a:p>
          <a:p>
            <a:r>
              <a:t xml:space="preserve"/>
            </a:r>
          </a:p>
          <a:p>
            <a:r>
              <a:t xml:space="preserve">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a:r>
              <a:t xml:space="preserve"/>
            </a:r>
          </a:p>
          <a:p>
            <a:r>
              <a:t xml:space="preserve">Fallback:</a:t>
            </a:r>
          </a:p>
          <a:p>
            <a:r>
              <a:t xml:space="preserve">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S22 — 요청한 과정은 기록에도 남았을까?</a:t>
            </a:r>
          </a:p>
          <a:p>
            <a:r>
              <a:t xml:space="preserve"/>
            </a:r>
          </a:p>
          <a:p>
            <a:r>
              <a:t xml:space="preserve">Slide ID:</a:t>
            </a:r>
          </a:p>
          <a:p>
            <a:r>
              <a:t xml:space="preserve">S22</a:t>
            </a:r>
          </a:p>
          <a:p>
            <a:r>
              <a:t xml:space="preserve"/>
            </a:r>
          </a:p>
          <a:p>
            <a:r>
              <a:t xml:space="preserve">Working Title: 요청한 과정은 기록에도 남았을까?</a:t>
            </a:r>
          </a:p>
          <a:p>
            <a:r>
              <a:t xml:space="preserve"/>
            </a:r>
          </a:p>
          <a:p>
            <a:r>
              <a:t xml:space="preserve">ACT / Section: ACT 1 / 1D</a:t>
            </a:r>
          </a:p>
          <a:p>
            <a:r>
              <a:t xml:space="preserve"/>
            </a:r>
          </a:p>
          <a:p>
            <a:r>
              <a:t xml:space="preserve">Allocated Time: 2 minutes</a:t>
            </a:r>
          </a:p>
          <a:p>
            <a:r>
              <a:t xml:space="preserve"/>
            </a:r>
          </a:p>
          <a:p>
            <a:r>
              <a:t xml:space="preserve">Mode Split: Lecture 2 minutes</a:t>
            </a:r>
          </a:p>
          <a:p>
            <a:r>
              <a:t xml:space="preserve"/>
            </a:r>
          </a:p>
          <a:p>
            <a:r>
              <a:t xml:space="preserve">Primary Message: 실제 요청과 관찰 기록을 대응시켜, 부탁한 작업 과정이 어디에 나타났는지 확인한다.</a:t>
            </a:r>
          </a:p>
          <a:p>
            <a:r>
              <a:t xml:space="preserve"/>
            </a:r>
          </a:p>
          <a:p>
            <a:r>
              <a:t xml:space="preserve">Opening Question: “실제로 요청한 재현·조사·수정 전 계획은 기록에 어떻게 남았을까?”</a:t>
            </a:r>
          </a:p>
          <a:p>
            <a:r>
              <a:t xml:space="preserve"/>
            </a:r>
          </a:p>
          <a:p>
            <a:r>
              <a:t xml:space="preserve">Speaker Flow:</a:t>
            </a:r>
          </a:p>
          <a:p>
            <a:r>
              <a:t xml:space="preserve">1. (0:00–0:15) S21은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a:r>
              <a:t xml:space="preserve">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a:r>
              <a:t xml:space="preserve">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a:r>
              <a:t xml:space="preserve">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a:r>
              <a:t xml:space="preserve">5. (1:40–2:00) 화면 하단의 04 최소 수정 내용은 S23, 05 확인·보고 결과는 S24로 남겼음을 가리킨다. “그 조사와 계획 뒤 실제로 무엇을 바꿨을까요?”로 넘어간다. 여기서는 slice diff·너비 변화·테스트 통과 수치를 설명하지 않는다.</a:t>
            </a:r>
          </a:p>
          <a:p>
            <a:r>
              <a:t xml:space="preserve"/>
            </a:r>
          </a:p>
          <a:p>
            <a:r>
              <a:t xml:space="preserve">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a:r>
              <a:t xml:space="preserve"/>
            </a:r>
          </a:p>
          <a:p>
            <a:r>
              <a:t xml:space="preserve">보존된 상세 출처: TRIAL-002 · 요청 발췌·번역 / 관찰 기록 요약 · 2026-09-28 · Codex CLI 0.154.0</a:t>
            </a:r>
          </a:p>
          <a:p>
            <a:r>
              <a:t xml:space="preserve"/>
            </a:r>
          </a:p>
          <a:p>
            <a:r>
              <a:t xml:space="preserve">Claim Boundary:</a:t>
            </a:r>
          </a:p>
          <a:p>
            <a:r>
              <a:t xml:space="preserve">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S21 예시의 실행 결과, Prompt 단독 효과·우월성·결정론적 준수·반복성·현재 Desktop/계정·다른 모델의 근거로 확대하지 않는다. 상태 태그·격리·미커밋 보존 등 전체 제약은 원본 Prompt에 유지한다.</a:t>
            </a:r>
          </a:p>
          <a:p>
            <a:r>
              <a:t xml:space="preserve"/>
            </a:r>
          </a:p>
          <a:p>
            <a:r>
              <a:t xml:space="preserve">보존된 상세 범위: 원문 로그 캡처 아님 · S22 예시의 실행 결과 아님 · 단일 CLI 관찰이며 Prompt 단독 효과는 미입증</a:t>
            </a:r>
          </a:p>
          <a:p>
            <a:r>
              <a:t xml:space="preserve"/>
            </a:r>
          </a:p>
          <a:p>
            <a:r>
              <a:t xml:space="preserve">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a:r>
              <a:t xml:space="preserve"/>
            </a:r>
          </a:p>
          <a:p>
            <a:r>
              <a:t xml:space="preserve">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a:r>
              <a:t xml:space="preserve"/>
            </a:r>
          </a:p>
          <a:p>
            <a:r>
              <a:t xml:space="preserve">C++ Vision Bridge: N/A.</a:t>
            </a:r>
          </a:p>
          <a:p>
            <a:r>
              <a:t xml:space="preserve"/>
            </a:r>
          </a:p>
          <a:p>
            <a:r>
              <a:t xml:space="preserve">Demo Operation:</a:t>
            </a:r>
          </a:p>
          <a:p>
            <a:r>
              <a:t xml:space="preserve">DEMO-05의 정적 도입으로 Lecture2분을 사용한다. 좌우01–03을 같은 번호로 짚고, 04 실제 diff는 S23, 05 실제 검증 결과는 S24에서 확인한다. 실제 Prompt 발췌·번역과 관찰 요약의 구분을 화면에서 유지한다. 새 Trial·현재 Desktop 실행·터미널/계획 원문 캡처를 보여주지 않는다.</a:t>
            </a:r>
          </a:p>
          <a:p>
            <a:r>
              <a:t xml:space="preserve"/>
            </a:r>
          </a:p>
          <a:p>
            <a:r>
              <a:t xml:space="preserve">Audience Interaction: 요청 문장과 오른쪽 근거를 한 행씩 따라오게 한다. 실습·공개 응답을 요구하지 않는다.</a:t>
            </a:r>
          </a:p>
          <a:p>
            <a:r>
              <a:t xml:space="preserve"/>
            </a:r>
          </a:p>
          <a:p>
            <a:r>
              <a:t xml:space="preserve">Transition:</a:t>
            </a:r>
          </a:p>
          <a:p>
            <a:r>
              <a:t xml:space="preserve">“요청한 과정이 기록에 남은 것을 확인했습니다. 이 조사와 계획 뒤 실제로 무엇을 바꿨는지 04 최소 수정 내용을 보겠습니다.”라고 S23로 이동한다. 05 확인·보고 결과는 S24에서 확인한다.</a:t>
            </a:r>
          </a:p>
          <a:p>
            <a:r>
              <a:t xml:space="preserve"/>
            </a:r>
          </a:p>
          <a:p>
            <a:r>
              <a:t xml:space="preserve">Time Management:</a:t>
            </a:r>
          </a:p>
          <a:p>
            <a:r>
              <a:t xml:space="preserve">0:00–0:15 출처 구분, 0:15–0:45 재현, 0:45–1:10 호출 관계, 1:10–1:40 편집 전 계획, 1:40–2:00 다음 결과 연결. Lecture2분을 유지한다. 지시 전문 낭독·일반 디버깅 강의·S23 코드 diff·S24 결과 수치 설명을 추가하지 않는다. 실측 리허설은 UNVERIFIED다.</a:t>
            </a:r>
          </a:p>
          <a:p>
            <a:r>
              <a:t xml:space="preserve"/>
            </a:r>
          </a:p>
          <a:p>
            <a:r>
              <a:t xml:space="preserve">Fallback:</a:t>
            </a:r>
          </a:p>
          <a:p>
            <a:r>
              <a:t xml:space="preserve">production/ACT_1.pptx S22 또는 production/preview/act1/S22.png의 정적 대응 표를 사용한다. 원시 CLI 이벤트 파일이 없어도 확인된 관찰 요약이라는 한계를 밝히고 진행한다. 상세한 변경·검증은 기존 S23/S22로 이어 간다. 최종 로컬 검토는 production/evaluation/S17_REQUEST_ACTION_REVISION.md를 따른다.</a:t>
            </a:r>
          </a:p>
          <a:p>
            <a:r>
              <a:t xml:space="preserve"/>
            </a:r>
          </a:p>
          <a:p>
            <a:r>
              <a:t xml:space="preserve">Validation Status:</a:t>
            </a:r>
          </a:p>
          <a:p>
            <a:r>
              <a:t xml:space="preserve">ALIGNED — DEC-0044에 따라 실제 지시와 관찰 요약의 대응·S23/S22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S23 — 조사에서 한 줄 변경까지</a:t>
            </a:r>
          </a:p>
          <a:p>
            <a:r>
              <a:t xml:space="preserve"/>
            </a:r>
          </a:p>
          <a:p>
            <a:r>
              <a:t xml:space="preserve">Slide ID:</a:t>
            </a:r>
          </a:p>
          <a:p>
            <a:r>
              <a:t xml:space="preserve">S23</a:t>
            </a:r>
          </a:p>
          <a:p>
            <a:r>
              <a:t xml:space="preserve"/>
            </a:r>
          </a:p>
          <a:p>
            <a:r>
              <a:t xml:space="preserve">Working Title: 조사에서 한 줄 변경까지</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failing test와 호출 경로를 확인한 뒤, half-open 범위 계약을 보존하는 최소 변경을 했다.</a:t>
            </a:r>
          </a:p>
          <a:p>
            <a:r>
              <a:t xml:space="preserve"/>
            </a:r>
          </a:p>
          <a:p>
            <a:r>
              <a:t xml:space="preserve">Opening Question: “요청한 조사·보존 조건·최소 변경은 실제 diff에 어떻게 드러났을까?”</a:t>
            </a:r>
          </a:p>
          <a:p>
            <a:r>
              <a:t xml:space="preserve"/>
            </a:r>
          </a:p>
          <a:p>
            <a:r>
              <a:t xml:space="preserve">Speaker Flow:</a:t>
            </a:r>
          </a:p>
          <a:p>
            <a:r>
              <a:t xml:space="preserve">1. (0:00–1:00) S22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a:r>
              <a:t xml:space="preserve">2. (1:00–2:00) 요청에서 보존하라고 한 `[x_start, x_end)` 끝 좌표 제외 명세를 실제 변경의 기준으로 읽는다. 기존 S07–S08의 `crop(image, 1, 3)` 예시를 회수하고 명세를 바꿔 테스트를 맞춘 사례가 아님을 설명한다.</a:t>
            </a:r>
          </a:p>
          <a:p>
            <a:r>
              <a:t xml:space="preserve">3. (2:00–3:15) 04 최소 수정 요청과 실제 Before/After `row[x_start : x_end + 1]` / `row[x_start : x_end]` 한 줄을 대조한다. 무관한 API·의존성을 바꾸지 않은 기존 범위를 유지하며 새 해결 방식을 추가하지 않는다.</a:t>
            </a:r>
          </a:p>
          <a:p>
            <a:r>
              <a:t xml:space="preserve">4. (3:15–4:00) 해당 입력의 너비3이 명세대로2가 되는 변화로 정리하고, 요청에 있던 05 확인·보고의 근거를 다음 장에서 본다고 넘긴다. 정적 diff 재구성이며 새 실행·Screenshot이 아니다.</a:t>
            </a:r>
          </a:p>
          <a:p>
            <a:r>
              <a:t xml:space="preserve"/>
            </a:r>
          </a:p>
          <a:p>
            <a:r>
              <a:t xml:space="preserve">Evidence / Source: BEAT-006, TRIAL-002, INV-MATURITY-011, DEC-0039. OBSERVED_PRODUCT, one recorded CLI run. S23의 번호를 회수하되 기존 한 줄 diff와 끝 좌표 제외 명세를 유지한다. DEC-0042는 요청 설계와 기존 사례의 연결·용어를 정렬한 결정이며 새로운 실험 근거가 아니다.</a:t>
            </a:r>
          </a:p>
          <a:p>
            <a:r>
              <a:t xml:space="preserve"/>
            </a:r>
          </a:p>
          <a:p>
            <a:r>
              <a:t xml:space="preserve">보존된 상세 출처: TRIAL-002 · STATE-00 → STATE-00-FIXED · 실제 diff를 재구성한 도식</a:t>
            </a:r>
          </a:p>
          <a:p>
            <a:r>
              <a:t xml:space="preserve"/>
            </a:r>
          </a:p>
          <a:p>
            <a:r>
              <a:t xml:space="preserve">Claim Boundary: 실제 변경은 `src/graypipe/transform.py`의 crop slice 한 줄이다. 이 기록은 한 번의 Codex CLI 실행에 한정되며 Prompt 우월성, Desktop 동작 또는 일반 성공률을 증명하지 않는다.</a:t>
            </a:r>
          </a:p>
          <a:p>
            <a:r>
              <a:t xml:space="preserve"/>
            </a:r>
          </a:p>
          <a:p>
            <a:r>
              <a:t xml:space="preserve">보존된 상세 범위: src/graypipe/transform.py · 단일 CLI 기록 · 실제 터미널 화면이 아님</a:t>
            </a:r>
          </a:p>
          <a:p>
            <a:r>
              <a:t xml:space="preserve"/>
            </a:r>
          </a:p>
          <a:p>
            <a:r>
              <a:t xml:space="preserve">Beginner Explanation:</a:t>
            </a:r>
          </a:p>
          <a:p>
            <a:r>
              <a:t xml:space="preserve">실패한 Test와 기대 명세를 먼저 맞춘 뒤 꼭 필요한 한 줄만 바꿨다. S22의 02·03이 04 수정과 어떻게 연결되는지 본다.</a:t>
            </a:r>
          </a:p>
          <a:p>
            <a:r>
              <a:t xml:space="preserve"/>
            </a:r>
          </a:p>
          <a:p>
            <a:r>
              <a:t xml:space="preserve">Advanced Insight: The code change matches the half-open public contract and is limited to the recorded diff; the plan checkpoint preceded editing.</a:t>
            </a:r>
          </a:p>
          <a:p>
            <a:r>
              <a:t xml:space="preserve"/>
            </a:r>
          </a:p>
          <a:p>
            <a:r>
              <a:t xml:space="preserve">C++ Vision Bridge: N/A.</a:t>
            </a:r>
          </a:p>
          <a:p>
            <a:r>
              <a:t xml:space="preserve"/>
            </a:r>
          </a:p>
          <a:p>
            <a:r>
              <a:t xml:space="preserve">Demo Operation:</a:t>
            </a:r>
          </a:p>
          <a:p>
            <a:r>
              <a:t xml:space="preserve">DEMO-05 / CAPTURED historical evidence. `production/ACT_1.pptx` S23에서 S22의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a:r>
              <a:t xml:space="preserve"/>
            </a:r>
          </a:p>
          <a:p>
            <a:r>
              <a:t xml:space="preserve">Audience Interaction: 변경 전에 확인한 근거를 청중이 화면 순서대로 따라오게 한다. 참가자의 코드 검토나 답변을 요구하지 않는다.</a:t>
            </a:r>
          </a:p>
          <a:p>
            <a:r>
              <a:t xml:space="preserve"/>
            </a:r>
          </a:p>
          <a:p>
            <a:r>
              <a:t xml:space="preserve">Transition:</a:t>
            </a:r>
          </a:p>
          <a:p>
            <a:r>
              <a:t xml:space="preserve">“요청한 최소 수정까지 확인했습니다. 이제 요청에 적은 05 확인·보고가 어떤 기록으로 남았는지 보겠습니다.”라고 S24로 이동한다.</a:t>
            </a:r>
          </a:p>
          <a:p>
            <a:r>
              <a:t xml:space="preserve"/>
            </a:r>
          </a:p>
          <a:p>
            <a:r>
              <a:t xml:space="preserve">Time Management: 4분 Demo 구간 안에서 관찰과 변경을 요약한다. 전체 로그와 파일을 보여 주지 않고, 다음 장의 검증 시간을 침범하지 않는다.</a:t>
            </a:r>
          </a:p>
          <a:p>
            <a:r>
              <a:t xml:space="preserve"/>
            </a:r>
          </a:p>
          <a:p>
            <a:r>
              <a:t xml:space="preserve">Fallback:</a:t>
            </a:r>
          </a:p>
          <a:p>
            <a:r>
              <a:t xml:space="preserve">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S24 — 변경 결과와 확인 증거</a:t>
            </a:r>
          </a:p>
          <a:p>
            <a:r>
              <a:t xml:space="preserve"/>
            </a:r>
          </a:p>
          <a:p>
            <a:r>
              <a:t xml:space="preserve">Slide ID:</a:t>
            </a:r>
          </a:p>
          <a:p>
            <a:r>
              <a:t xml:space="preserve">S24</a:t>
            </a:r>
          </a:p>
          <a:p>
            <a:r>
              <a:t xml:space="preserve"/>
            </a:r>
          </a:p>
          <a:p>
            <a:r>
              <a:t xml:space="preserve">Working Title: 변경 결과와 확인 증거</a:t>
            </a:r>
          </a:p>
          <a:p>
            <a:r>
              <a:t xml:space="preserve"/>
            </a:r>
          </a:p>
          <a:p>
            <a:r>
              <a:t xml:space="preserve">ACT / Section: ACT 1 / 1D</a:t>
            </a:r>
          </a:p>
          <a:p>
            <a:r>
              <a:t xml:space="preserve"/>
            </a:r>
          </a:p>
          <a:p>
            <a:r>
              <a:t xml:space="preserve">Allocated Time: 4 minutes</a:t>
            </a:r>
          </a:p>
          <a:p>
            <a:r>
              <a:t xml:space="preserve"/>
            </a:r>
          </a:p>
          <a:p>
            <a:r>
              <a:t xml:space="preserve">Mode Split: Demo 4 minutes (CAPTURED)</a:t>
            </a:r>
          </a:p>
          <a:p>
            <a:r>
              <a:t xml:space="preserve"/>
            </a:r>
          </a:p>
          <a:p>
            <a:r>
              <a:t xml:space="preserve">Primary Message: 이 사례의 결과는 생성된 코드뿐 아니라 명시된 검증과 diff 확인을 거친 변경이다.</a:t>
            </a:r>
          </a:p>
          <a:p>
            <a:r>
              <a:t xml:space="preserve"/>
            </a:r>
          </a:p>
          <a:p>
            <a:r>
              <a:t xml:space="preserve">Opening Question: “요청한 확인·보고 사항은 어떤 검증 기록으로 남았을까?”</a:t>
            </a:r>
          </a:p>
          <a:p>
            <a:r>
              <a:t xml:space="preserve"/>
            </a:r>
          </a:p>
          <a:p>
            <a:r>
              <a:t xml:space="preserve">Speaker Flow:</a:t>
            </a:r>
          </a:p>
          <a:p>
            <a:r>
              <a:t xml:space="preserve">1. (0:00–0:45) “05에서 무엇을 확인·보고해 달라고 요청했는가?”를 회수한다. 단일 TRIAL-002의 실제 기록이며 S21 교육용 Prompt를 그대로 실행한 결과가 아니다.</a:t>
            </a:r>
          </a:p>
          <a:p>
            <a:r>
              <a:t xml:space="preserve">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a:r>
              <a:t xml:space="preserve">3. (2:45–3:30) 기록이 뒷받침하는 입력·테스트·변경 범위를 읽고 성능 benchmark는 미실행임을 밝힌다. 요청이 총 토큰·시간을 줄였다거나 성능을 개선했다는 결과로 바꾸지 않는다.</a:t>
            </a:r>
          </a:p>
          <a:p>
            <a:r>
              <a:t xml:space="preserve">4. (3:30–4:00) 확인 결과와 남은 미확인을 받아 사람이 완료를 판단하도록, 어떤 보고를 요청에 담아야 하는지 S25으로 연결한다.</a:t>
            </a:r>
          </a:p>
          <a:p>
            <a:r>
              <a:t xml:space="preserve"/>
            </a:r>
          </a:p>
          <a:p>
            <a:r>
              <a:t xml:space="preserve">Evidence / Source: BEAT-007, INV-VERIFY-001, TRIAL-002, CLM-0029, CLM-0027. OBSERVED_PRODUCT, one Codex CLI run. DEC-0042는 요청 설계와 기존 사례의 연결·용어를 정렬한 결정이며 새로운 실험 근거가 아니다.</a:t>
            </a:r>
          </a:p>
          <a:p>
            <a:r>
              <a:t xml:space="preserve"/>
            </a:r>
          </a:p>
          <a:p>
            <a:r>
              <a:t xml:space="preserve">보존된 상세 출처: TRIAL-002 기록 요약 · 단일 Codex CLI 실행 · STATE-00-FIXED</a:t>
            </a:r>
          </a:p>
          <a:p>
            <a:r>
              <a:t xml:space="preserve"/>
            </a:r>
          </a:p>
          <a:p>
            <a:r>
              <a:t xml:space="preserve">Claim Boundary: Focused test 3/3, full suite 11/11, CLI smoke PASS, diff 1 file / 1 line, and `git diff --check` PASS are the recorded results of TRIAL-002. They do not establish every input, platform, or future product run.</a:t>
            </a:r>
          </a:p>
          <a:p>
            <a:r>
              <a:t xml:space="preserve"/>
            </a:r>
          </a:p>
          <a:p>
            <a:r>
              <a:t xml:space="preserve">보존된 상세 범위: 해당 테스트·입력·수정 범위의 확인입니다. 성능 benchmark는 수행하지 않았습니다.</a:t>
            </a:r>
          </a:p>
          <a:p>
            <a:r>
              <a:t xml:space="preserve"/>
            </a:r>
          </a:p>
          <a:p>
            <a:r>
              <a:t xml:space="preserve">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a:r>
              <a:t xml:space="preserve"/>
            </a:r>
          </a:p>
          <a:p>
            <a:r>
              <a:t xml:space="preserve">Advanced Insight: Each check supports a bounded claim: targeted behavior, existing suite coverage, one sample CLI path, and change scope. No benchmark was run.</a:t>
            </a:r>
          </a:p>
          <a:p>
            <a:r>
              <a:t xml:space="preserve"/>
            </a:r>
          </a:p>
          <a:p>
            <a:r>
              <a:t xml:space="preserve">C++ Vision Bridge: N/A.</a:t>
            </a:r>
          </a:p>
          <a:p>
            <a:r>
              <a:t xml:space="preserve"/>
            </a:r>
          </a:p>
          <a:p>
            <a:r>
              <a:t xml:space="preserve">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a:r>
              <a:t xml:space="preserve"/>
            </a:r>
          </a:p>
          <a:p>
            <a:r>
              <a:t xml:space="preserve">Audience Interaction: 각 Check가 무엇을 뒷받침하는지 읽게 한다. 청중에게 테스트 실행을 요구하지 않는다.</a:t>
            </a:r>
          </a:p>
          <a:p>
            <a:r>
              <a:t xml:space="preserve"/>
            </a:r>
          </a:p>
          <a:p>
            <a:r>
              <a:t xml:space="preserve">Transition:</a:t>
            </a:r>
          </a:p>
          <a:p>
            <a:r>
              <a:t xml:space="preserve">“이 확인 결과와 아직 모르는 점을 받아야 사람이 완료 여부를 판단할 수 있습니다. 무엇을 보고해 달라고 요청해야 할까요?”라고 S25으로 연결한다.</a:t>
            </a:r>
          </a:p>
          <a:p>
            <a:r>
              <a:t xml:space="preserve"/>
            </a:r>
          </a:p>
          <a:p>
            <a:r>
              <a:t xml:space="preserve">Time Management: 세 묶음에 각각 한 가지 확인 범위를 말한다. 다섯 로그를 전문으로 읽지 않는다. 마지막 30초에 생성과 완료의 차이로 전환한다.</a:t>
            </a:r>
          </a:p>
          <a:p>
            <a:r>
              <a:t xml:space="preserve"/>
            </a:r>
          </a:p>
          <a:p>
            <a:r>
              <a:t xml:space="preserve">Fallback:</a:t>
            </a:r>
          </a:p>
          <a:p>
            <a:r>
              <a:t xml:space="preserve">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S25 — Generated ≠ Done</a:t>
            </a:r>
          </a:p>
          <a:p>
            <a:r>
              <a:t xml:space="preserve"/>
            </a:r>
          </a:p>
          <a:p>
            <a:r>
              <a:t xml:space="preserve">Slide ID:</a:t>
            </a:r>
          </a:p>
          <a:p>
            <a:r>
              <a:t xml:space="preserve">S25</a:t>
            </a:r>
          </a:p>
          <a:p>
            <a:r>
              <a:t xml:space="preserve"/>
            </a:r>
          </a:p>
          <a:p>
            <a:r>
              <a:t xml:space="preserve">Working Title: Generated ≠ Done</a:t>
            </a:r>
          </a:p>
          <a:p>
            <a:r>
              <a:t xml:space="preserve"/>
            </a:r>
          </a:p>
          <a:p>
            <a:r>
              <a:t xml:space="preserve">ACT / Section: ACT 1 / 1E</a:t>
            </a:r>
          </a:p>
          <a:p>
            <a:r>
              <a:t xml:space="preserve"/>
            </a:r>
          </a:p>
          <a:p>
            <a:r>
              <a:t xml:space="preserve">Allocated Time: 3 minutes</a:t>
            </a:r>
          </a:p>
          <a:p>
            <a:r>
              <a:t xml:space="preserve"/>
            </a:r>
          </a:p>
          <a:p>
            <a:r>
              <a:t xml:space="preserve">Mode Split: Lecture 3 minutes</a:t>
            </a:r>
          </a:p>
          <a:p>
            <a:r>
              <a:t xml:space="preserve"/>
            </a:r>
          </a:p>
          <a:p>
            <a:r>
              <a:t xml:space="preserve">Primary Message: Task는 결과뿐 아니라 적절한 검증과 review를 포함해야 한다.</a:t>
            </a:r>
          </a:p>
          <a:p>
            <a:r>
              <a:t xml:space="preserve"/>
            </a:r>
          </a:p>
          <a:p>
            <a:r>
              <a:t xml:space="preserve">Opening Question: “무엇을 확인·보고해 달라고 요청해야 완료를 판단할 수 있을까?”</a:t>
            </a:r>
          </a:p>
          <a:p>
            <a:r>
              <a:t xml:space="preserve"/>
            </a:r>
          </a:p>
          <a:p>
            <a:r>
              <a:t xml:space="preserve">Speaker Flow:</a:t>
            </a:r>
          </a:p>
          <a:p>
            <a:r>
              <a:t xml:space="preserve">1. (0:00–0:45) “무엇을 확인·보고해 달라고 요청해야 완료를 판단할 수 있을까?”를 묻는다. 코드 생성 이후의 검증을 별도 테스트 수업으로 시작하지 않고, 요청의 Verification과 결과 보고를 회수한다.</a:t>
            </a:r>
          </a:p>
          <a:p>
            <a:r>
              <a:t xml:space="preserve">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S24 수치는 다시 낭독하지 않는다. 이 형식은 교육용 정리이며 실제 PR·당시 답변 원문이나 사람의 승인 완료 기록이 아니다.</a:t>
            </a:r>
          </a:p>
          <a:p>
            <a:r>
              <a:t xml:space="preserve">3. (2:15–2:45) “더 빨라졌다”는 변화가 목표인 경우에는 그 조건의 성능 측정도 완료 근거로 요청해야 한다는 기존 경계를 짚는다. 이 crop Trial에서 benchmark를 수행했다는 뜻이 아니다.</a:t>
            </a:r>
          </a:p>
          <a:p>
            <a:r>
              <a:t xml:space="preserve">4. (2:45–3:00) 검사 이름만 적는 것과 명세의 기대값을 요청하는 것의 차이를 다음 장에서 본다고 넘긴다.</a:t>
            </a:r>
          </a:p>
          <a:p>
            <a:r>
              <a:t xml:space="preserve"/>
            </a:r>
          </a:p>
          <a:p>
            <a:r>
              <a:t xml:space="preserve">Evidence / Source: BEAT-007, INV-VERIFY-001, TRIAL-002, CLM-0029, CLM-0027. OBSERVED_PRODUCT and separate TEACHING_MODEL. DEC-0042는 요청 설계와 기존 사례의 연결·용어를 정렬한 결정이며 새로운 실험 근거가 아니다.</a:t>
            </a:r>
          </a:p>
          <a:p>
            <a:r>
              <a:t xml:space="preserve"/>
            </a:r>
          </a:p>
          <a:p>
            <a:r>
              <a:t xml:space="preserve">보존된 상세 출처: 교육용 결과 인계 예 · TRIAL-002 기록 재구성 · 실제 PR 원문이 아님</a:t>
            </a:r>
          </a:p>
          <a:p>
            <a:r>
              <a:t xml:space="preserve"/>
            </a:r>
          </a:p>
          <a:p>
            <a:r>
              <a:t xml:space="preserve">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a:r>
              <a:t xml:space="preserve"/>
            </a:r>
          </a:p>
          <a:p>
            <a:r>
              <a:t xml:space="preserve">보존된 상세 범위: 검사는 주장과 위험에 맞춰 선택합니다. TRIAL-002에서 benchmark는 수행하지 않았습니다.</a:t>
            </a:r>
          </a:p>
          <a:p>
            <a:r>
              <a:t xml:space="preserve"/>
            </a:r>
          </a:p>
          <a:p>
            <a:r>
              <a:t xml:space="preserve">Beginner Explanation: 완료를 판단할 수 있도록 변경 내용·확인 결과·미확인 사항을 함께 보고해 달라고 요청한다. 결과를 받아 수용할지는 사람이 결정한다.</a:t>
            </a:r>
          </a:p>
          <a:p>
            <a:r>
              <a:t xml:space="preserve"/>
            </a:r>
          </a:p>
          <a:p>
            <a:r>
              <a:t xml:space="preserve">Advanced Insight: Choose checks from the task’s risk and the exact claim being made; do not demand every check for every task.</a:t>
            </a:r>
          </a:p>
          <a:p>
            <a:r>
              <a:t xml:space="preserve"/>
            </a:r>
          </a:p>
          <a:p>
            <a:r>
              <a:t xml:space="preserve">C++ Vision Bridge:</a:t>
            </a:r>
          </a:p>
          <a:p>
            <a:r>
              <a:t xml:space="preserve">이 장에서는 새 C++ 예시를 추가하지 않는다. S26의 승인된 ON-SCREEN SUPPORTING vector·GoogleTest 도식으로 완료 조건과 검사 범위를 연결한다. 주요 C++ 패턴 전이는 S75에서 이어 간다. 도구 설치·실행 수업으로 확장하지 않는다.</a:t>
            </a:r>
          </a:p>
          <a:p>
            <a:r>
              <a:t xml:space="preserve"/>
            </a:r>
          </a:p>
          <a:p>
            <a:r>
              <a:t xml:space="preserve">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a:r>
              <a:t xml:space="preserve"/>
            </a:r>
          </a:p>
          <a:p>
            <a:r>
              <a:t xml:space="preserve">Audience Interaction: 별도 Q&amp;A 시간은 배정되지 않았다. 청중에게 생각할 질문을 주고 다음 장에서 범위를 보여 준다.</a:t>
            </a:r>
          </a:p>
          <a:p>
            <a:r>
              <a:t xml:space="preserve"/>
            </a:r>
          </a:p>
          <a:p>
            <a:r>
              <a:t xml:space="preserve">Transition:</a:t>
            </a:r>
          </a:p>
          <a:p>
            <a:r>
              <a:t xml:space="preserve">“완료를 판단할 근거를 요청할 때, 어떤 검사와 기대값까지 명시해야 할까요?”라고 S26의 명세 기반 완료 조건으로 이동한다.</a:t>
            </a:r>
          </a:p>
          <a:p>
            <a:r>
              <a:t xml:space="preserve"/>
            </a:r>
          </a:p>
          <a:p>
            <a:r>
              <a:t xml:space="preserve">Time Management:</a:t>
            </a:r>
          </a:p>
          <a:p>
            <a:r>
              <a:t xml:space="preserve">Lecture3분: 완료 판단에 필요한 보고 요청45초, 변경 내용·확인 결과·미확인 사항90초, 성능 주장에 필요한 조건부 근거30초, 구체 완료 조건 연결15초. S24 수치·테스트 용어를 반복 강의하지 않는다. 실제 시간 적합성은 UNVERIFIED다.</a:t>
            </a:r>
          </a:p>
          <a:p>
            <a:r>
              <a:t xml:space="preserve"/>
            </a:r>
          </a:p>
          <a:p>
            <a:r>
              <a:t xml:space="preserve">Fallback:</a:t>
            </a:r>
          </a:p>
          <a:p>
            <a:r>
              <a:t xml:space="preserve">정적 기본 경로 — `production/ACT_1.pptx` S25 또는 `production/preview/act1/S25.png`를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S26 — Check마다 확인하는 범위</a:t>
            </a:r>
          </a:p>
          <a:p>
            <a:r>
              <a:t xml:space="preserve"/>
            </a:r>
          </a:p>
          <a:p>
            <a:r>
              <a:t xml:space="preserve">Slide ID:</a:t>
            </a:r>
          </a:p>
          <a:p>
            <a:r>
              <a:t xml:space="preserve">S26</a:t>
            </a:r>
          </a:p>
          <a:p>
            <a:r>
              <a:t xml:space="preserve"/>
            </a:r>
          </a:p>
          <a:p>
            <a:r>
              <a:t xml:space="preserve">Working Title: Check마다 확인하는 범위</a:t>
            </a:r>
          </a:p>
          <a:p>
            <a:r>
              <a:t xml:space="preserve"/>
            </a:r>
          </a:p>
          <a:p>
            <a:r>
              <a:t xml:space="preserve">ACT / Section: ACT 1 / 1E + 1F</a:t>
            </a:r>
          </a:p>
          <a:p>
            <a:r>
              <a:t xml:space="preserve"/>
            </a:r>
          </a:p>
          <a:p>
            <a:r>
              <a:t xml:space="preserve">Allocated Time: 5 minutes</a:t>
            </a:r>
          </a:p>
          <a:p>
            <a:r>
              <a:t xml:space="preserve"/>
            </a:r>
          </a:p>
          <a:p>
            <a:r>
              <a:t xml:space="preserve">Mode Split: Lecture 4 minutes + Reflection 1 minute</a:t>
            </a:r>
          </a:p>
          <a:p>
            <a:r>
              <a:t xml:space="preserve"/>
            </a:r>
          </a:p>
          <a:p>
            <a:r>
              <a:t xml:space="preserve">Primary Message: Check 하나가 모든 정확성을 증명하지는 않는다.</a:t>
            </a:r>
          </a:p>
          <a:p>
            <a:r>
              <a:t xml:space="preserve"/>
            </a:r>
          </a:p>
          <a:p>
            <a:r>
              <a:t xml:space="preserve">Opening Question: “완료 조건에 어떤 검사와 기대값을 적어야 할까?”</a:t>
            </a:r>
          </a:p>
          <a:p>
            <a:r>
              <a:t xml:space="preserve"/>
            </a:r>
          </a:p>
          <a:p>
            <a:r>
              <a:t xml:space="preserve">Speaker Flow:</a:t>
            </a:r>
          </a:p>
          <a:p>
            <a:r>
              <a:t xml:space="preserve">1. (0:00–0:30) “완료 조건에 어떤 검사와 기대값을 적어야 할까?”를 묻고 S25의 보고 요청을 회수한다. 좌측 표와 우측 도식은 요청할 확인 근거를 고르는 예시다. 실제 TRIAL-002는 Python unittest이며 우측은 교육용 C++ 표현이다.</a:t>
            </a:r>
          </a:p>
          <a:p>
            <a:r>
              <a:t xml:space="preserve">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a:r>
              <a:t xml:space="preserve">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a:r>
              <a:t xml:space="preserve">4. (4:00–5:00 / Reflection) 내가 요청할 완료 근거가 어떤 명세 위반을 구별할지 조용히 떠올린다. 작성·실습·답변을 요구하지 않는다. 요청의 표현 방법을 추가로 살펴본 뒤 반복 조건을 생각하게 한다.</a:t>
            </a:r>
          </a:p>
          <a:p>
            <a:r>
              <a:t xml:space="preserve"/>
            </a:r>
          </a:p>
          <a:p>
            <a:r>
              <a:t xml:space="preserve">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a:r>
              <a:t xml:space="preserve"/>
            </a:r>
          </a:p>
          <a:p>
            <a:r>
              <a:t xml:space="preserve">보존된 상세 출처: TRIAL-002: 관련·전체 테스트 / CLI 샘플 실행 / 변경 확인 · 우측은 C++ 교육용 도식</a:t>
            </a:r>
          </a:p>
          <a:p>
            <a:r>
              <a:t xml:space="preserve"/>
            </a:r>
          </a:p>
          <a:p>
            <a:r>
              <a:t xml:space="preserve">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a:r>
              <a:t xml:space="preserve"/>
            </a:r>
          </a:p>
          <a:p>
            <a:r>
              <a:t xml:space="preserve">보존된 상세 범위: 실제 Trial은 Python unittest입니다. Benchmark 미실행 · 우측은 새 실행·PASS 결과가 아닙니다.</a:t>
            </a:r>
          </a:p>
          <a:p>
            <a:r>
              <a:t xml:space="preserve"/>
            </a:r>
          </a:p>
          <a:p>
            <a:r>
              <a:t xml:space="preserve">Beginner Explanation: “테스트해줘”에서 멈추지 않고 이 입력에서 어떤 개수·값을 기대하며 무엇을 비교해 보고할지 요청에 담는다. 비어 있지 않음은 빈 결과를 찾지만 이 추가 원소 오류는 구별하지 못한다.</a:t>
            </a:r>
          </a:p>
          <a:p>
            <a:r>
              <a:t xml:space="preserve"/>
            </a:r>
          </a:p>
          <a:p>
            <a:r>
              <a:t xml:space="preserve">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a:r>
              <a:t xml:space="preserve"/>
            </a:r>
          </a:p>
          <a:p>
            <a:r>
              <a:t xml:space="preserve">C++ Vision Bridge:</a:t>
            </a:r>
          </a:p>
          <a:p>
            <a:r>
              <a:t xml:space="preserve">ON-SCREEN SUPPORTING 예시: S03와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S75에 유지한다. No Windows, shell, IDE, hardware or new C++ execution is asserted.</a:t>
            </a:r>
          </a:p>
          <a:p>
            <a:r>
              <a:t xml:space="preserve"/>
            </a:r>
          </a:p>
          <a:p>
            <a:r>
              <a:t xml:space="preserve">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a:r>
              <a:t xml:space="preserve"/>
            </a:r>
          </a:p>
          <a:p>
            <a:r>
              <a:t xml:space="preserve">Audience Interaction: 마지막 1분은 각자가 익숙한 Check와 그 조건이 확인하거나 놓칠 수 있는 명세 위반을 조용히 생각한다. 결과 발표나 테스트 작성은 요구하지 않는다.</a:t>
            </a:r>
          </a:p>
          <a:p>
            <a:r>
              <a:t xml:space="preserve"/>
            </a:r>
          </a:p>
          <a:p>
            <a:r>
              <a:t xml:space="preserve">Transition:</a:t>
            </a:r>
          </a:p>
          <a:p>
            <a:r>
              <a:t xml:space="preserve">“요청에 담을 내용은 정했습니다. 이제 상황에 맞게 전달하는 문장 도구를 보겠습니다.”라고 신규 S27로 이동한다. 기존 반복 Context 질문은 새8장 뒤의 S35–S36에서 회수한다.</a:t>
            </a:r>
          </a:p>
          <a:p>
            <a:r>
              <a:t xml:space="preserve"/>
            </a:r>
          </a:p>
          <a:p>
            <a:r>
              <a:t xml:space="preserve">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a:r>
              <a:t xml:space="preserve"/>
            </a:r>
          </a:p>
          <a:p>
            <a:r>
              <a:t xml:space="preserve">Fallback:</a:t>
            </a:r>
          </a:p>
          <a:p>
            <a:r>
              <a:t xml:space="preserve">정적 기본 경로 — `production/ACT_1.pptx` S26 또는 `production/preview/act1/S26.png`를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S27 — 지시와 참고 자료의 구분</a:t>
            </a:r>
          </a:p>
          <a:p>
            <a:r>
              <a:t xml:space="preserve"/>
            </a:r>
          </a:p>
          <a:p>
            <a:r>
              <a:t xml:space="preserve">Slide ID:</a:t>
            </a:r>
          </a:p>
          <a:p>
            <a:r>
              <a:t xml:space="preserve">S27</a:t>
            </a:r>
          </a:p>
          <a:p>
            <a:r>
              <a:t xml:space="preserve"/>
            </a:r>
          </a:p>
          <a:p>
            <a:r>
              <a:t xml:space="preserve">Working Title: 지시와 참고 자료의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제목과 태그로 지시와 분석 자료의 경계를 표시한다.</a:t>
            </a:r>
          </a:p>
          <a:p>
            <a:r>
              <a:t xml:space="preserve"/>
            </a:r>
          </a:p>
          <a:p>
            <a:r>
              <a:t xml:space="preserve">Opening Question: “로그·명세·요청이 섞여 있을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 요청</a:t>
            </a:r>
          </a:p>
          <a:p>
            <a:r>
              <a:t xml:space="preserve">crop 경계 오류의 원인 후보만 설명해줘.</a:t>
            </a:r>
          </a:p>
          <a:p>
            <a:r>
              <a:t xml:space="preserve">코드는 아직 수정하지 마.</a:t>
            </a:r>
          </a:p>
          <a:p>
            <a:r>
              <a:t xml:space="preserve">자료에 없는 내용은 미확인으로 표시해줘.</a:t>
            </a:r>
          </a:p>
          <a:p>
            <a:r>
              <a:t xml:space="preserve"/>
            </a:r>
          </a:p>
          <a:p>
            <a:r>
              <a:t xml:space="preserve"># 참고 자료</a:t>
            </a:r>
          </a:p>
          <a:p>
            <a:r>
              <a:t xml:space="preserve">명세: crop [1,3)의 폭은 2</a:t>
            </a:r>
          </a:p>
          <a:p>
            <a:r>
              <a:t xml:space="preserve">로그 예: expected=2, actual=3</a:t>
            </a:r>
          </a:p>
          <a:p>
            <a:r>
              <a:t xml:space="preserve">```</a:t>
            </a:r>
          </a:p>
          <a:p>
            <a:r>
              <a:t xml:space="preserve"/>
            </a:r>
          </a:p>
          <a:p>
            <a:r>
              <a:t xml:space="preserve">3. (0:45–1:00 ) 화면 하단의 핵심을 회수하고 한계를 짧게 짚는다. 다음은 입력과 기대 결과의 작은 예시의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CLM-0032; official documented recommendations checked 2026-10-21. https://developers.openai.com/api/docs/guides/prompt-engineering. Evidence matrix: references/product/PROMPT_ENGINEERING_2026-10-21.md.</a:t>
            </a:r>
          </a:p>
          <a:p>
            <a:r>
              <a:t xml:space="preserve"/>
            </a:r>
          </a:p>
          <a:p>
            <a:r>
              <a:t xml:space="preserve">보존된 상세 출처: OpenAI Prompt engineering · Markdown / XML 구획 · 2026-10-21 확인</a:t>
            </a:r>
          </a:p>
          <a:p>
            <a:r>
              <a:t xml:space="preserve"/>
            </a:r>
          </a:p>
          <a:p>
            <a:r>
              <a:t xml:space="preserve">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a:r>
              <a:t xml:space="preserve"/>
            </a:r>
          </a:p>
          <a:p>
            <a:r>
              <a:t xml:space="preserve">보존된 상세 범위: 구획은 읽을 경계를 알리는 수단입니다. 보안 격리나 자료의 진위를 보장하지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입력과 기대 결과의 작은 예시의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S27 또는 production/preview/act1/S27.png.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S28 — 입력과 기대 결과의 작은 예시</a:t>
            </a:r>
          </a:p>
          <a:p>
            <a:r>
              <a:t xml:space="preserve"/>
            </a:r>
          </a:p>
          <a:p>
            <a:r>
              <a:t xml:space="preserve">Slide ID:</a:t>
            </a:r>
          </a:p>
          <a:p>
            <a:r>
              <a:t xml:space="preserve">S28</a:t>
            </a:r>
          </a:p>
          <a:p>
            <a:r>
              <a:t xml:space="preserve"/>
            </a:r>
          </a:p>
          <a:p>
            <a:r>
              <a:t xml:space="preserve">Working Title: 입력과 기대 결과의 작은 예시</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Case 1 minute</a:t>
            </a:r>
          </a:p>
          <a:p>
            <a:r>
              <a:t xml:space="preserve"/>
            </a:r>
          </a:p>
          <a:p>
            <a:r>
              <a:t xml:space="preserve">Primary Message: 설명만으로 부족할 때 입력과 원하는 결과를 함께 준다.</a:t>
            </a:r>
          </a:p>
          <a:p>
            <a:r>
              <a:t xml:space="preserve"/>
            </a:r>
          </a:p>
          <a:p>
            <a:r>
              <a:t xml:space="preserve">Opening Question: “범위·출력 패턴의 뜻이 엇갈릴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범위 설명을 아래 형식으로 작성해줘.</a:t>
            </a:r>
          </a:p>
          <a:p>
            <a:r>
              <a:t xml:space="preserve">입력 {1,2,3,4}에 대한 예시:</a:t>
            </a:r>
          </a:p>
          <a:p>
            <a:r>
              <a:t xml:space="preserve">[1,3) ⇒ {2,3}, 폭 2</a:t>
            </a:r>
          </a:p>
          <a:p>
            <a:r>
              <a:t xml:space="preserve">[0,1) ⇒ {1}, 폭 1</a:t>
            </a:r>
          </a:p>
          <a:p>
            <a:r>
              <a:t xml:space="preserve"/>
            </a:r>
          </a:p>
          <a:p>
            <a:r>
              <a:t xml:space="preserve">같은 형식으로 [2,4)를 설명해줘.</a:t>
            </a:r>
          </a:p>
          <a:p>
            <a:r>
              <a:t xml:space="preserve">빈 범위·범위 초과 정책은 만들지 마.</a:t>
            </a:r>
          </a:p>
          <a:p>
            <a:r>
              <a:t xml:space="preserve">```</a:t>
            </a:r>
          </a:p>
          <a:p>
            <a:r>
              <a:t xml:space="preserve"/>
            </a:r>
          </a:p>
          <a:p>
            <a:r>
              <a:t xml:space="preserve">3. (0:45–1:00 ) 화면 하단의 핵심을 회수하고 한계를 짧게 짚는다. 다음은 바로 검토할 수 있는 결과 형식의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CLM-0033; official documented recommendations checked 2026-10-21. https://developers.openai.com/api/docs/guides/prompt-engineering; https://developers.openai.com/api/docs/guides/reasoning-best-practices. Evidence matrix: references/product/PROMPT_ENGINEERING_2026-10-21.md.</a:t>
            </a:r>
          </a:p>
          <a:p>
            <a:r>
              <a:t xml:space="preserve"/>
            </a:r>
          </a:p>
          <a:p>
            <a:r>
              <a:t xml:space="preserve">보존된 상세 출처: OpenAI Prompt engineering · Few-shot / Reasoning best practices · 2026-10-21</a:t>
            </a:r>
          </a:p>
          <a:p>
            <a:r>
              <a:t xml:space="preserve"/>
            </a:r>
          </a:p>
          <a:p>
            <a:r>
              <a:t xml:space="preserve">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a:r>
              <a:t xml:space="preserve"/>
            </a:r>
          </a:p>
          <a:p>
            <a:r>
              <a:t xml:space="preserve">보존된 상세 범위: 예시와 명세를 일치시킵니다. 예시 몇 개가 모든 경계 조건의 명세를 대신하지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바로 검토할 수 있는 결과 형식의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S28 또는 production/preview/act1/S28.png.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S29 — 바로 검토할 수 있는 결과 형식</a:t>
            </a:r>
          </a:p>
          <a:p>
            <a:r>
              <a:t xml:space="preserve"/>
            </a:r>
          </a:p>
          <a:p>
            <a:r>
              <a:t xml:space="preserve">Slide ID:</a:t>
            </a:r>
          </a:p>
          <a:p>
            <a:r>
              <a:t xml:space="preserve">S29</a:t>
            </a:r>
          </a:p>
          <a:p>
            <a:r>
              <a:t xml:space="preserve"/>
            </a:r>
          </a:p>
          <a:p>
            <a:r>
              <a:t xml:space="preserve">Working Title: 바로 검토할 수 있는 결과 형식</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받고 싶은 항목과 길이를 요청에 적는다.</a:t>
            </a:r>
          </a:p>
          <a:p>
            <a:r>
              <a:t xml:space="preserve"/>
            </a:r>
          </a:p>
          <a:p>
            <a:r>
              <a:t xml:space="preserve">Opening Question: “장황한 답을 다시 가공하게 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수정 결과를 다음 순서로 보고해줘.</a:t>
            </a:r>
          </a:p>
          <a:p>
            <a:r>
              <a:t xml:space="preserve">1. 변경 파일과 바꾼 이유</a:t>
            </a:r>
          </a:p>
          <a:p>
            <a:r>
              <a:t xml:space="preserve">2. 실제 실행한 확인 명령과 결과</a:t>
            </a:r>
          </a:p>
          <a:p>
            <a:r>
              <a:t xml:space="preserve">3. 실행하지 못한 확인과 이유</a:t>
            </a:r>
          </a:p>
          <a:p>
            <a:r>
              <a:t xml:space="preserve">4. 남은 위험과 확인이 필요한 결정</a:t>
            </a:r>
          </a:p>
          <a:p>
            <a:r>
              <a:t xml:space="preserve">각 항목은 두 문장 이내로 써줘.</a:t>
            </a:r>
          </a:p>
          <a:p>
            <a:r>
              <a:t xml:space="preserve">실행하지 않은 검사를 통과로 쓰지 마.</a:t>
            </a:r>
          </a:p>
          <a:p>
            <a:r>
              <a:t xml:space="preserve">```</a:t>
            </a:r>
          </a:p>
          <a:p>
            <a:r>
              <a:t xml:space="preserve"/>
            </a:r>
          </a:p>
          <a:p>
            <a:r>
              <a:t xml:space="preserve">3. (0:45–1:00 ) 화면 하단의 핵심을 회수하고 한계를 짧게 짚는다. 다음은 근거가 있는 설명과 미확인의 구분의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CLM-0034; official documented recommendations checked 2026-10-21. https://learn.chatgpt.com/docs/prompting; https://developers.openai.com/api/docs/guides/structured-outputs. Evidence matrix: references/product/PROMPT_ENGINEERING_2026-10-21.md.</a:t>
            </a:r>
          </a:p>
          <a:p>
            <a:r>
              <a:t xml:space="preserve"/>
            </a:r>
          </a:p>
          <a:p>
            <a:r>
              <a:t xml:space="preserve">보존된 상세 출처: OpenAI Prompting / Structured model outputs · 출력 형식·내용 오류 구분 · 2026-10-21</a:t>
            </a:r>
          </a:p>
          <a:p>
            <a:r>
              <a:t xml:space="preserve"/>
            </a:r>
          </a:p>
          <a:p>
            <a:r>
              <a:t xml:space="preserve">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a:r>
              <a:t xml:space="preserve"/>
            </a:r>
          </a:p>
          <a:p>
            <a:r>
              <a:t xml:space="preserve">보존된 상세 범위: 형식이 맞아도 내용은 확인해야 합니다. 채팅의 형식 요청은 API Structured Outputs와 별개입니다.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근거가 있는 설명과 미확인의 구분의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S29 또는 production/preview/act1/S29.png.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S30 — 근거가 있는 설명과 미확인의 구분</a:t>
            </a:r>
          </a:p>
          <a:p>
            <a:r>
              <a:t xml:space="preserve"/>
            </a:r>
          </a:p>
          <a:p>
            <a:r>
              <a:t xml:space="preserve">Slide ID:</a:t>
            </a:r>
          </a:p>
          <a:p>
            <a:r>
              <a:t xml:space="preserve">S30</a:t>
            </a:r>
          </a:p>
          <a:p>
            <a:r>
              <a:t xml:space="preserve"/>
            </a:r>
          </a:p>
          <a:p>
            <a:r>
              <a:t xml:space="preserve">Working Title: 근거가 있는 설명과 미확인의 구분</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결론에 자료 위치를 붙이고, 확인하지 못한 것은 남긴다.</a:t>
            </a:r>
          </a:p>
          <a:p>
            <a:r>
              <a:t xml:space="preserve"/>
            </a:r>
          </a:p>
          <a:p>
            <a:r>
              <a:t xml:space="preserve">Opening Question: “저장소 설명의 출처를 확인해야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crop의 명세·구현·테스트를 찾아 비교해줘.</a:t>
            </a:r>
          </a:p>
          <a:p>
            <a:r>
              <a:t xml:space="preserve">결론마다 실제 파일·함수·줄을 붙여줘.</a:t>
            </a:r>
          </a:p>
          <a:p>
            <a:r>
              <a:t xml:space="preserve">다음 세 상태를 구분해줘.</a:t>
            </a:r>
          </a:p>
          <a:p>
            <a:r>
              <a:t xml:space="preserve">- 자료에서 확인</a:t>
            </a:r>
          </a:p>
          <a:p>
            <a:r>
              <a:t xml:space="preserve">- 코드로부터 추정</a:t>
            </a:r>
          </a:p>
          <a:p>
            <a:r>
              <a:t xml:space="preserve">- 아직 미확인</a:t>
            </a:r>
          </a:p>
          <a:p>
            <a:r>
              <a:t xml:space="preserve">근거가 충돌하면 차이를 먼저 알려줘.</a:t>
            </a:r>
          </a:p>
          <a:p>
            <a:r>
              <a:t xml:space="preserve">찾지 못한 정책은 관례로 채우지 마.</a:t>
            </a:r>
          </a:p>
          <a:p>
            <a:r>
              <a:t xml:space="preserve">```</a:t>
            </a:r>
          </a:p>
          <a:p>
            <a:r>
              <a:t xml:space="preserve"/>
            </a:r>
          </a:p>
          <a:p>
            <a:r>
              <a:t xml:space="preserve">3. (0:45–1:00 ) 화면 하단의 핵심을 회수하고 한계를 짧게 짚는다. 다음은 결과를 바꾸는 결정에서 확인 질문의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CLM-0035; official documented recommendations checked 2026-10-21. https://developers.openai.com/api/docs/guides/prompt-engineering; https://learn.chatgpt.com/docs/prompting. Evidence matrix: references/product/PROMPT_ENGINEERING_2026-10-21.md.</a:t>
            </a:r>
          </a:p>
          <a:p>
            <a:r>
              <a:t xml:space="preserve"/>
            </a:r>
          </a:p>
          <a:p>
            <a:r>
              <a:t xml:space="preserve">보존된 상세 출처: OpenAI Prompt engineering / Prompting · 관련 자료·출처·불확실성 · 2026-10-21</a:t>
            </a:r>
          </a:p>
          <a:p>
            <a:r>
              <a:t xml:space="preserve"/>
            </a:r>
          </a:p>
          <a:p>
            <a:r>
              <a:t xml:space="preserve">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a:r>
              <a:t xml:space="preserve"/>
            </a:r>
          </a:p>
          <a:p>
            <a:r>
              <a:t xml:space="preserve">보존된 상세 범위: 파일·줄 인용도 실제 내용과 대조합니다. 인용이 있다는 사실만으로 정확성이 보장되지는 않습니다.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결과를 바꾸는 결정에서 확인 질문의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S30 또는 production/preview/act1/S30.png.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S31 — 결과를 바꾸는 결정에서 확인 질문</a:t>
            </a:r>
          </a:p>
          <a:p>
            <a:r>
              <a:t xml:space="preserve"/>
            </a:r>
          </a:p>
          <a:p>
            <a:r>
              <a:t xml:space="preserve">Slide ID:</a:t>
            </a:r>
          </a:p>
          <a:p>
            <a:r>
              <a:t xml:space="preserve">S31</a:t>
            </a:r>
          </a:p>
          <a:p>
            <a:r>
              <a:t xml:space="preserve"/>
            </a:r>
          </a:p>
          <a:p>
            <a:r>
              <a:t xml:space="preserve">Working Title: 결과를 바꾸는 결정에서 확인 질문</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조사할 사실과 답을 받아야 할 결정을 구분한다.</a:t>
            </a:r>
          </a:p>
          <a:p>
            <a:r>
              <a:t xml:space="preserve"/>
            </a:r>
          </a:p>
          <a:p>
            <a:r>
              <a:t xml:space="preserve">Opening Question: “정책을 사람이 선택해야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빈 crop 범위의 처리 정책을 조사해줘.</a:t>
            </a:r>
          </a:p>
          <a:p>
            <a:r>
              <a:t xml:space="preserve">문서·테스트·호출부의 근거를 먼저 찾아줘.</a:t>
            </a:r>
          </a:p>
          <a:p>
            <a:r>
              <a:t xml:space="preserve">근거 없이 빈 결과와 오류 중 골라야 하면</a:t>
            </a:r>
          </a:p>
          <a:p>
            <a:r>
              <a:t xml:space="preserve">각 선택의 영향을 적고 질문해줘.</a:t>
            </a:r>
          </a:p>
          <a:p>
            <a:r>
              <a:t xml:space="preserve">그 결정에 의존하는 수정은 답변 뒤 진행해줘.</a:t>
            </a:r>
          </a:p>
          <a:p>
            <a:r>
              <a:t xml:space="preserve">그 선택과 무관한 조사는 계속해줘.</a:t>
            </a:r>
          </a:p>
          <a:p>
            <a:r>
              <a:t xml:space="preserve">```</a:t>
            </a:r>
          </a:p>
          <a:p>
            <a:r>
              <a:t xml:space="preserve"/>
            </a:r>
          </a:p>
          <a:p>
            <a:r>
              <a:t xml:space="preserve">3. (0:45–1:00 ) 화면 하단의 핵심을 회수하고 한계를 짧게 짚는다. 다음은 큰 작업을 검토할 결과물로 나누기의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CLM-0036; official documented recommendations checked 2026-10-21. https://learn.chatgpt.com/guides/best-practices; https://developers.openai.com/api/docs/guides/latest-model. Evidence matrix: references/product/PROMPT_ENGINEERING_2026-10-21.md.</a:t>
            </a:r>
          </a:p>
          <a:p>
            <a:r>
              <a:t xml:space="preserve"/>
            </a:r>
          </a:p>
          <a:p>
            <a:r>
              <a:t xml:space="preserve">보존된 상세 출처: OpenAI Best practices / Latest model · Initiative · 2026-10-21 확인</a:t>
            </a:r>
          </a:p>
          <a:p>
            <a:r>
              <a:t xml:space="preserve"/>
            </a:r>
          </a:p>
          <a:p>
            <a:r>
              <a:t xml:space="preserve">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a:r>
              <a:t xml:space="preserve"/>
            </a:r>
          </a:p>
          <a:p>
            <a:r>
              <a:t xml:space="preserve">보존된 상세 범위: 모든 세부를 질문으로 돌리지 않습니다. 답에 따라 결과가 달라지는 선택에 집중합니다.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큰 작업을 검토할 결과물로 나누기의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S31 또는 production/preview/act1/S31.png.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S32 — 큰 작업을 검토할 결과물로 나누기</a:t>
            </a:r>
          </a:p>
          <a:p>
            <a:r>
              <a:t xml:space="preserve"/>
            </a:r>
          </a:p>
          <a:p>
            <a:r>
              <a:t xml:space="preserve">Slide ID:</a:t>
            </a:r>
          </a:p>
          <a:p>
            <a:r>
              <a:t xml:space="preserve">S32</a:t>
            </a:r>
          </a:p>
          <a:p>
            <a:r>
              <a:t xml:space="preserve"/>
            </a:r>
          </a:p>
          <a:p>
            <a:r>
              <a:t xml:space="preserve">Working Title: 큰 작업을 검토할 결과물로 나누기</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다음 결정을 할 수 있는 작은 결과부터 요청한다.</a:t>
            </a:r>
          </a:p>
          <a:p>
            <a:r>
              <a:t xml:space="preserve"/>
            </a:r>
          </a:p>
          <a:p>
            <a:r>
              <a:t xml:space="preserve">Opening Question: “조사 결과에 따라 구현 범위가 달라질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검사 pipeline에 ROI 설정을 연결하려 한다.</a:t>
            </a:r>
          </a:p>
          <a:p>
            <a:r>
              <a:t xml:space="preserve">이번에는 설정 입력에서 crop까지의 경로만</a:t>
            </a:r>
          </a:p>
          <a:p>
            <a:r>
              <a:t xml:space="preserve">조사하고, 변경 후보·미확인을 표로 정리해줘.</a:t>
            </a:r>
          </a:p>
          <a:p>
            <a:r>
              <a:t xml:space="preserve">코드는 아직 수정하지 마.</a:t>
            </a:r>
          </a:p>
          <a:p>
            <a:r>
              <a:t xml:space="preserve"/>
            </a:r>
          </a:p>
          <a:p>
            <a:r>
              <a:t xml:space="preserve">그 결과를 보고 다음 요청에서</a:t>
            </a:r>
          </a:p>
          <a:p>
            <a:r>
              <a:t xml:space="preserve">파싱·유효성 확인 구현 범위를 정하겠다.</a:t>
            </a:r>
          </a:p>
          <a:p>
            <a:r>
              <a:t xml:space="preserve">```</a:t>
            </a:r>
          </a:p>
          <a:p>
            <a:r>
              <a:t xml:space="preserve"/>
            </a:r>
          </a:p>
          <a:p>
            <a:r>
              <a:t xml:space="preserve">3. (0:45–1:00 ) 화면 하단의 핵심을 회수하고 한계를 짧게 짚는다. 다음은 기준을 지정한 코드 리뷰 요청의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CLM-0037; official documented recommendations checked 2026-10-21. https://learn.chatgpt.com/guides/best-practices; https://developers.openai.com/api/docs/guides/reasoning-best-practices. Evidence matrix: references/product/PROMPT_ENGINEERING_2026-10-21.md.</a:t>
            </a:r>
          </a:p>
          <a:p>
            <a:r>
              <a:t xml:space="preserve"/>
            </a:r>
          </a:p>
          <a:p>
            <a:r>
              <a:t xml:space="preserve">보존된 상세 출처: OpenAI Best practices · Plan first for difficult tasks · 2026-10-21 확인</a:t>
            </a:r>
          </a:p>
          <a:p>
            <a:r>
              <a:t xml:space="preserve"/>
            </a:r>
          </a:p>
          <a:p>
            <a:r>
              <a:t xml:space="preserve">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a:r>
              <a:t xml:space="preserve"/>
            </a:r>
          </a:p>
          <a:p>
            <a:r>
              <a:t xml:space="preserve">보존된 상세 범위: 단계는 작업·산출물의 경계입니다. 숨은 사고 과정을 길게 출력하라는 요청이 아닙니다.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기준을 지정한 코드 리뷰 요청의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S32 또는 production/preview/act1/S32.png.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S33 — 기준을 지정한 코드 리뷰 요청</a:t>
            </a:r>
          </a:p>
          <a:p>
            <a:r>
              <a:t xml:space="preserve"/>
            </a:r>
          </a:p>
          <a:p>
            <a:r>
              <a:t xml:space="preserve">Slide ID:</a:t>
            </a:r>
          </a:p>
          <a:p>
            <a:r>
              <a:t xml:space="preserve">S33</a:t>
            </a:r>
          </a:p>
          <a:p>
            <a:r>
              <a:t xml:space="preserve"/>
            </a:r>
          </a:p>
          <a:p>
            <a:r>
              <a:t xml:space="preserve">Working Title: 기준을 지정한 코드 리뷰 요청</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무엇을 찾을지와 어떤 근거로 보고할지를 지정한다.</a:t>
            </a:r>
          </a:p>
          <a:p>
            <a:r>
              <a:t xml:space="preserve"/>
            </a:r>
          </a:p>
          <a:p>
            <a:r>
              <a:t xml:space="preserve">Opening Question: ““검토해줘”의 범위를 분명히 할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crop 변경안을 코드 리뷰 관점에서 봐줘.</a:t>
            </a:r>
          </a:p>
          <a:p>
            <a:r>
              <a:t xml:space="preserve">검토 기준은 다음과 같아.</a:t>
            </a:r>
          </a:p>
          <a:p>
            <a:r>
              <a:t xml:space="preserve">1. 끝 좌표 제외 명세 보존</a:t>
            </a:r>
          </a:p>
          <a:p>
            <a:r>
              <a:t xml:space="preserve">2. 공개 API와 기존 오류 정책 보존</a:t>
            </a:r>
          </a:p>
          <a:p>
            <a:r>
              <a:t xml:space="preserve">3. 요청과 무관한 변경 없음</a:t>
            </a:r>
          </a:p>
          <a:p>
            <a:r>
              <a:t xml:space="preserve">위반마다 위치·근거·영향·수정 제안을 써줘.</a:t>
            </a:r>
          </a:p>
          <a:p>
            <a:r>
              <a:t xml:space="preserve">자료로 판단 못 하면 미확인으로 남겨줘.</a:t>
            </a:r>
          </a:p>
          <a:p>
            <a:r>
              <a:t xml:space="preserve">이번 요청에서는 코드를 바꾸지 마.</a:t>
            </a:r>
          </a:p>
          <a:p>
            <a:r>
              <a:t xml:space="preserve">```</a:t>
            </a:r>
          </a:p>
          <a:p>
            <a:r>
              <a:t xml:space="preserve"/>
            </a:r>
          </a:p>
          <a:p>
            <a:r>
              <a:t xml:space="preserve">3. (0:45–1:00 ) 화면 하단의 핵심을 회수하고 한계를 짧게 짚는다. 다음은 구체적인 근거로 수정 방향 피드백의 활용 상황을 본다.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CLM-0038; official documented recommendations checked 2026-10-21. https://learn.chatgpt.com/guides/best-practices; https://learn.chatgpt.com/docs/prompting. Evidence matrix: references/product/PROMPT_ENGINEERING_2026-10-21.md.</a:t>
            </a:r>
          </a:p>
          <a:p>
            <a:r>
              <a:t xml:space="preserve"/>
            </a:r>
          </a:p>
          <a:p>
            <a:r>
              <a:t xml:space="preserve">보존된 상세 출처: OpenAI Best practices · Testing and review / Prompting · Custom focus · 2026-10-21</a:t>
            </a:r>
          </a:p>
          <a:p>
            <a:r>
              <a:t xml:space="preserve"/>
            </a:r>
          </a:p>
          <a:p>
            <a:r>
              <a:t xml:space="preserve">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a:r>
              <a:t xml:space="preserve"/>
            </a:r>
          </a:p>
          <a:p>
            <a:r>
              <a:t xml:space="preserve">보존된 상세 범위: 리뷰 답변도 누락할 수 있습니다. 필요한 실행 확인·변경 검토·사람의 완료 판단을 함께 사용합니다.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 다음은 구체적인 근거로 수정 방향 피드백의 활용 상황을 본다.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S33 또는 production/preview/act1/S33.png.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S34 — 구체적인 근거로 수정 방향 피드백</a:t>
            </a:r>
          </a:p>
          <a:p>
            <a:r>
              <a:t xml:space="preserve"/>
            </a:r>
          </a:p>
          <a:p>
            <a:r>
              <a:t xml:space="preserve">Slide ID:</a:t>
            </a:r>
          </a:p>
          <a:p>
            <a:r>
              <a:t xml:space="preserve">S34</a:t>
            </a:r>
          </a:p>
          <a:p>
            <a:r>
              <a:t xml:space="preserve"/>
            </a:r>
          </a:p>
          <a:p>
            <a:r>
              <a:t xml:space="preserve">Working Title: 구체적인 근거로 수정 방향 피드백</a:t>
            </a:r>
          </a:p>
          <a:p>
            <a:r>
              <a:t xml:space="preserve"/>
            </a:r>
          </a:p>
          <a:p>
            <a:r>
              <a:t xml:space="preserve">ACT / Section: ACT 1 / 1H — Practical Prompt Methods</a:t>
            </a:r>
          </a:p>
          <a:p>
            <a:r>
              <a:t xml:space="preserve"/>
            </a:r>
          </a:p>
          <a:p>
            <a:r>
              <a:t xml:space="preserve">Allocated Time: 1 minute</a:t>
            </a:r>
          </a:p>
          <a:p>
            <a:r>
              <a:t xml:space="preserve"/>
            </a:r>
          </a:p>
          <a:p>
            <a:r>
              <a:t xml:space="preserve">Mode Split: Lecture 1 minute</a:t>
            </a:r>
          </a:p>
          <a:p>
            <a:r>
              <a:t xml:space="preserve"/>
            </a:r>
          </a:p>
          <a:p>
            <a:r>
              <a:t xml:space="preserve">Primary Message: 어긋난 지점과 원하는 변경, 유지할 조건을 적는다.</a:t>
            </a:r>
          </a:p>
          <a:p>
            <a:r>
              <a:t xml:space="preserve"/>
            </a:r>
          </a:p>
          <a:p>
            <a:r>
              <a:t xml:space="preserve">Opening Question: “첫 제안의 일부가 의도와 다를 때, 요청을 어떻게 바꾸면 될까?”</a:t>
            </a:r>
          </a:p>
          <a:p>
            <a:r>
              <a:t xml:space="preserve"/>
            </a:r>
          </a:p>
          <a:p>
            <a:r>
              <a:t xml:space="preserve">**Speaker Flow:**</a:t>
            </a:r>
          </a:p>
          <a:p>
            <a:r>
              <a:t xml:space="preserve">1. (0:00–0:15 ) 사용 상황을 한 문장으로 짚는다. 필요한 때 선택하는 문장 도구이며 모든 요청에 여덟 기법을 채울 필요는 없다고 연결한다.</a:t>
            </a:r>
          </a:p>
          <a:p>
            <a:r>
              <a:t xml:space="preserve">2. (0:15–0:45 ) 요청 전문을 낭독하지 않고 이 기법이 드러나는 두세 행만 가리킨다. 아래 문장은 복사해 자기 프로젝트 자료로 바꿔 사용할 교육용 예시다.</a:t>
            </a:r>
          </a:p>
          <a:p>
            <a:r>
              <a:t xml:space="preserve"/>
            </a:r>
          </a:p>
          <a:p>
            <a:r>
              <a:t xml:space="preserve">```text</a:t>
            </a:r>
          </a:p>
          <a:p>
            <a:r>
              <a:t xml:space="preserve">앞선 “테스트 기대 폭을 3으로 바꾸자”는</a:t>
            </a:r>
          </a:p>
          <a:p>
            <a:r>
              <a:t xml:space="preserve">제안을 수정해줘. 원하는 명세는</a:t>
            </a:r>
          </a:p>
          <a:p>
            <a:r>
              <a:t xml:space="preserve">crop [1,3)에서 폭 2야.</a:t>
            </a:r>
          </a:p>
          <a:p>
            <a:r>
              <a:t xml:space="preserve">테스트 기대값은 유지하고,</a:t>
            </a:r>
          </a:p>
          <a:p>
            <a:r>
              <a:t xml:space="preserve">구현의 끝 좌표 처리만 다시 검토해줘.</a:t>
            </a:r>
          </a:p>
          <a:p>
            <a:r>
              <a:t xml:space="preserve">기존 API·의존성은 유지해줘.</a:t>
            </a:r>
          </a:p>
          <a:p>
            <a:r>
              <a:t xml:space="preserve">바꾼 제안과 미확인 사항만 보고해줘.</a:t>
            </a:r>
          </a:p>
          <a:p>
            <a:r>
              <a:t xml:space="preserve">```</a:t>
            </a:r>
          </a:p>
          <a:p>
            <a:r>
              <a:t xml:space="preserve"/>
            </a:r>
          </a:p>
          <a:p>
            <a:r>
              <a:t xml:space="preserve">3. (0:45–1:00 ) 화면 하단의 핵심을 회수하고 한계를 짧게 짚는다. “이 조건 중 다음 작업에도 다시 적게 될 것은 무엇일까요?”라고 기존 S27–S28의 반복 Context 질문으로 연결한다. 현재 기존 두 장은 S35–S36이다.</a:t>
            </a:r>
          </a:p>
          <a:p>
            <a:r>
              <a:t xml:space="preserve">운영 표시: “실무 적용 팁 · 요청 작성” 배지로 다시 찾아 쓸 기준임을 짚는다. 기존 설명·근거 범위와 배정 시간 안에서 진행하며 요청·예시를 새로 실행하지 않는다.</a:t>
            </a:r>
          </a:p>
          <a:p>
            <a:r>
              <a:t xml:space="preserve"/>
            </a:r>
          </a:p>
          <a:p>
            <a:r>
              <a:t xml:space="preserve">Evidence / Source: CLM-0039; official documented recommendations checked 2026-10-21. https://learn.chatgpt.com/docs/prompting. Evidence matrix: references/product/PROMPT_ENGINEERING_2026-10-21.md.</a:t>
            </a:r>
          </a:p>
          <a:p>
            <a:r>
              <a:t xml:space="preserve"/>
            </a:r>
          </a:p>
          <a:p>
            <a:r>
              <a:t xml:space="preserve">보존된 상세 출처: OpenAI Prompting · Improve the result with follow-up messages · 2026-10-21 확인</a:t>
            </a:r>
          </a:p>
          <a:p>
            <a:r>
              <a:t xml:space="preserve"/>
            </a:r>
          </a:p>
          <a:p>
            <a:r>
              <a:t xml:space="preserve">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a:r>
              <a:t xml:space="preserve"/>
            </a:r>
          </a:p>
          <a:p>
            <a:r>
              <a:t xml:space="preserve">보존된 상세 범위: 앞선 제안은 가상 예시입니다. 원하는 답만 반복시키지 말고 명세와 실제 근거로 방향을 고칩니다.</a:t>
            </a:r>
          </a:p>
          <a:p>
            <a:r>
              <a:t xml:space="preserve"/>
            </a:r>
          </a:p>
          <a:p>
            <a:r>
              <a:t xml:space="preserve">Beginner Explanation: “이럴 때 사용” 옆의 상황에 해당하면 예시 문장을 출발점으로 삼고 실제 명세·파일·자료를 맞춰 넣는다. 요청 길이를 늘리는 것 자체가 목적은 아니다.</a:t>
            </a:r>
          </a:p>
          <a:p>
            <a:r>
              <a:t xml:space="preserve"/>
            </a:r>
          </a:p>
          <a:p>
            <a:r>
              <a:t xml:space="preserve">Advanced Insight: Treat the technique as a documented starting point. Check the selected model, workload, available tools, evidence and failure conditions before attributing an outcome to the prompt.</a:t>
            </a:r>
          </a:p>
          <a:p>
            <a:r>
              <a:t xml:space="preserve"/>
            </a:r>
          </a:p>
          <a:p>
            <a:r>
              <a:t xml:space="preserve">C++ Vision Bridge: 기존 crop의 끝 좌표 제외 명세와 제조 검사 pipeline에 적용하는 개념 예시다. 실제 C++ 구현·실행·오류 정책이나 장비 조건은 추가로 확정하지 않는다.</a:t>
            </a:r>
          </a:p>
          <a:p>
            <a:r>
              <a:t xml:space="preserve"/>
            </a:r>
          </a:p>
          <a:p>
            <a:r>
              <a:t xml:space="preserve">Demo Operation: N/A — static conceptual prompt example. No new Trial, model call, code change, benchmark or live surface demonstration.</a:t>
            </a:r>
          </a:p>
          <a:p>
            <a:r>
              <a:t xml:space="preserve"/>
            </a:r>
          </a:p>
          <a:p>
            <a:r>
              <a:t xml:space="preserve">Audience Interaction: 요청 예시를 눈으로 확인하게 하고 핵심 부분만 가리킨다. 작성 실습·공개 답변·의무 응답을 요구하지 않는다.</a:t>
            </a:r>
          </a:p>
          <a:p>
            <a:r>
              <a:t xml:space="preserve"/>
            </a:r>
          </a:p>
          <a:p>
            <a:r>
              <a:t xml:space="preserve">**Transition:**</a:t>
            </a:r>
          </a:p>
          <a:p>
            <a:r>
              <a:t xml:space="preserve">“이 조건 중 다음 작업에도 다시 적게 될 것은 무엇일까요?”라고 기존 S27–S28의 반복 Context 질문으로 연결한다. 현재 기존 두 장은 S35–S36이다.</a:t>
            </a:r>
          </a:p>
          <a:p>
            <a:r>
              <a:t xml:space="preserve"/>
            </a:r>
          </a:p>
          <a:p>
            <a:r>
              <a:t xml:space="preserve">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a:r>
              <a:t xml:space="preserve"/>
            </a:r>
          </a:p>
          <a:p>
            <a:r>
              <a:t xml:space="preserve">Fallback:</a:t>
            </a:r>
          </a:p>
          <a:p>
            <a:r>
              <a:t xml:space="preserve">정적 production/ACT_1.pptx S34 또는 production/preview/act1/S34.png. 교육용 요청·공식 권고·실제 Trial의 경계를 유지한다. 별도8장 검토용 파일은 보조 자료다.</a:t>
            </a:r>
          </a:p>
          <a:p>
            <a:r>
              <a:t xml:space="preserve"/>
            </a:r>
          </a:p>
          <a:p>
            <a:r>
              <a:t xml:space="preserve">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S35 — 이번 Task인가, 계속 유지할 Project 정보인가?</a:t>
            </a:r>
          </a:p>
          <a:p>
            <a:r>
              <a:t xml:space="preserve"/>
            </a:r>
          </a:p>
          <a:p>
            <a:r>
              <a:t xml:space="preserve">Slide ID:</a:t>
            </a:r>
          </a:p>
          <a:p>
            <a:r>
              <a:t xml:space="preserve">S35</a:t>
            </a:r>
          </a:p>
          <a:p>
            <a:r>
              <a:t xml:space="preserve"/>
            </a:r>
          </a:p>
          <a:p>
            <a:r>
              <a:t xml:space="preserve">Working Title: 이번 Task인가, 계속 유지할 Project 정보인가?</a:t>
            </a:r>
          </a:p>
          <a:p>
            <a:r>
              <a:t xml:space="preserve"/>
            </a:r>
          </a:p>
          <a:p>
            <a:r>
              <a:t xml:space="preserve">ACT / Section: ACT 1 / 1G</a:t>
            </a:r>
          </a:p>
          <a:p>
            <a:r>
              <a:t xml:space="preserve"/>
            </a:r>
          </a:p>
          <a:p>
            <a:r>
              <a:t xml:space="preserve">Allocated Time: 3 minutes</a:t>
            </a:r>
          </a:p>
          <a:p>
            <a:r>
              <a:t xml:space="preserve"/>
            </a:r>
          </a:p>
          <a:p>
            <a:r>
              <a:t xml:space="preserve">Mode Split: Reflection 1 minute + Q&amp;A 2 minutes</a:t>
            </a:r>
          </a:p>
          <a:p>
            <a:r>
              <a:t xml:space="preserve"/>
            </a:r>
          </a:p>
          <a:p>
            <a:r>
              <a:t xml:space="preserve">Primary Message: 두 종류의 정보를 구분할 필요가 있음을 먼저 인식한다.</a:t>
            </a:r>
          </a:p>
          <a:p>
            <a:r>
              <a:t xml:space="preserve"/>
            </a:r>
          </a:p>
          <a:p>
            <a:r>
              <a:t xml:space="preserve">Opening Question: “잘 쓴 요청의 테스트 명령과 보존 조건을, 다음 작업에도 다시 적어야 할까?”</a:t>
            </a:r>
          </a:p>
          <a:p>
            <a:r>
              <a:t xml:space="preserve"/>
            </a:r>
          </a:p>
          <a:p>
            <a:r>
              <a:t xml:space="preserve">Speaker Flow:</a:t>
            </a:r>
          </a:p>
          <a:p>
            <a:r>
              <a:t xml:space="preserve">1. (0:00–1:00 / Reflection) S26에서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a:r>
              <a:t xml:space="preserve">2. (1:00–3:00 / Q&amp;A) 자발적인 질문을 받는다. 분류의 정답이나 저장 방식·AGENTS.md를 미리 공개하지 않는다. 침묵도 정상 진행이다.</a:t>
            </a:r>
          </a:p>
          <a:p>
            <a:r>
              <a:t xml:space="preserve">3. (3:00) S36에서 정보의 수명·범위를 후보 예시로 비교하겠다고 넘긴다.</a:t>
            </a:r>
          </a:p>
          <a:p>
            <a:r>
              <a:t xml:space="preserve"/>
            </a:r>
          </a:p>
          <a:p>
            <a:r>
              <a:t xml:space="preserve">Evidence / Source: BEAT-007 → BEAT-008 handoff, CLM-0029, CLM-0027, CLM-0003, CLM-0005. TEACHING_MODEL. DEC-0042는 요청 설계와 기존 사례의 연결·용어를 정렬한 결정이며 새로운 실험 근거가 아니다.</a:t>
            </a:r>
          </a:p>
          <a:p>
            <a:r>
              <a:t xml:space="preserve"/>
            </a:r>
          </a:p>
          <a:p>
            <a:r>
              <a:t xml:space="preserve">보존된 상세 출처: 생각해 보기 · 이 과정의 교육 모델</a:t>
            </a:r>
          </a:p>
          <a:p>
            <a:r>
              <a:t xml:space="preserve"/>
            </a:r>
          </a:p>
          <a:p>
            <a:r>
              <a:t xml:space="preserve">Claim Boundary: 두 Bucket은 Reflection을 위한 과정의 모델이다. 이 장에서는 정답, 제품 기능, AGENTS.md 또는 완전한 분류를 제시하지 않는다.</a:t>
            </a:r>
          </a:p>
          <a:p>
            <a:r>
              <a:t xml:space="preserve"/>
            </a:r>
          </a:p>
          <a:p>
            <a:r>
              <a:t xml:space="preserve">보존된 상세 범위: 1분 동안 개인적으로 생각한 뒤 2분간 자발적인 질문을 받습니다.</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Consider information lifetime and scope without deciding the storage mechanism yet.</a:t>
            </a:r>
          </a:p>
          <a:p>
            <a:r>
              <a:t xml:space="preserve"/>
            </a:r>
          </a:p>
          <a:p>
            <a:r>
              <a:t xml:space="preserve">C++ Vision Bridge: N/A.</a:t>
            </a:r>
          </a:p>
          <a:p>
            <a:r>
              <a:t xml:space="preserve"/>
            </a:r>
          </a:p>
          <a:p>
            <a:r>
              <a:t xml:space="preserve">Demo Operation: N/A.</a:t>
            </a:r>
          </a:p>
          <a:p>
            <a:r>
              <a:t xml:space="preserve"/>
            </a:r>
          </a:p>
          <a:p>
            <a:r>
              <a:t xml:space="preserve">Audience Interaction: 순서: Reflection 1분 후 Q&amp;A 2분. Reflection은 사적 생각 시간이고 공유는 자발적이다. 응답이 없으면 질문을 한 번 더 읽고 진행한다.</a:t>
            </a:r>
          </a:p>
          <a:p>
            <a:r>
              <a:t xml:space="preserve"/>
            </a:r>
          </a:p>
          <a:p>
            <a:r>
              <a:t xml:space="preserve">Transition:</a:t>
            </a:r>
          </a:p>
          <a:p>
            <a:r>
              <a:t xml:space="preserve">“방금 떠올린 반복 문장을 이번 Task 정보와 계속 참고할 Project 정보의 후보로 나눠 보겠습니다.”라고 S36으로 이동한다.</a:t>
            </a:r>
          </a:p>
          <a:p>
            <a:r>
              <a:t xml:space="preserve"/>
            </a:r>
          </a:p>
          <a:p>
            <a:r>
              <a:t xml:space="preserve">Time Management: Reflection 1분, Q&amp;A 2분을 보존한다. 긴 토론이나 개인 업무 공개를 요구하지 않는다.</a:t>
            </a:r>
          </a:p>
          <a:p>
            <a:r>
              <a:t xml:space="preserve"/>
            </a:r>
          </a:p>
          <a:p>
            <a:r>
              <a:t xml:space="preserve">Fallback:</a:t>
            </a:r>
          </a:p>
          <a:p>
            <a:r>
              <a:t xml:space="preserve">정적 기본 경로 — `production/ACT_1.pptx` S35 또는 `production/preview/act1/S35.png`를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S36 — 반복하는 설명을 두 범주로 나누기</a:t>
            </a:r>
          </a:p>
          <a:p>
            <a:r>
              <a:t xml:space="preserve"/>
            </a:r>
          </a:p>
          <a:p>
            <a:r>
              <a:t xml:space="preserve">Slide ID:</a:t>
            </a:r>
          </a:p>
          <a:p>
            <a:r>
              <a:t xml:space="preserve">S36</a:t>
            </a:r>
          </a:p>
          <a:p>
            <a:r>
              <a:t xml:space="preserve"/>
            </a:r>
          </a:p>
          <a:p>
            <a:r>
              <a:t xml:space="preserve">Working Title: 반복하는 설명을 두 범주로 나누기</a:t>
            </a:r>
          </a:p>
          <a:p>
            <a:r>
              <a:t xml:space="preserve"/>
            </a:r>
          </a:p>
          <a:p>
            <a:r>
              <a:t xml:space="preserve">ACT / Section: ACT 1 / 1G</a:t>
            </a:r>
          </a:p>
          <a:p>
            <a:r>
              <a:t xml:space="preserve"/>
            </a:r>
          </a:p>
          <a:p>
            <a:r>
              <a:t xml:space="preserve">Allocated Time: 6 minutes</a:t>
            </a:r>
          </a:p>
          <a:p>
            <a:r>
              <a:t xml:space="preserve"/>
            </a:r>
          </a:p>
          <a:p>
            <a:r>
              <a:t xml:space="preserve">Mode Split: Reflection 1 minute + Transition 3 minutes + Q&amp;A 2 minutes</a:t>
            </a:r>
          </a:p>
          <a:p>
            <a:r>
              <a:t xml:space="preserve"/>
            </a:r>
          </a:p>
          <a:p>
            <a:r>
              <a:t xml:space="preserve">Primary Message: Task 정보와 Project 정보는 수명과 적용 범위가 다르다.</a:t>
            </a:r>
          </a:p>
          <a:p>
            <a:r>
              <a:t xml:space="preserve"/>
            </a:r>
          </a:p>
          <a:p>
            <a:r>
              <a:t xml:space="preserve">Opening Question: “같은 Project 설명을 다음 요청에서도 왜 반복하게 될까?”</a:t>
            </a:r>
          </a:p>
          <a:p>
            <a:r>
              <a:t xml:space="preserve"/>
            </a:r>
          </a:p>
          <a:p>
            <a:r>
              <a:t xml:space="preserve">**Speaker Flow:**</a:t>
            </a:r>
          </a:p>
          <a:p>
            <a:r>
              <a:t xml:space="preserve">1. (0:00–1:00 / Reflection) 앞 장에서 떠올린 반복 문장을 이번 Task 정보와 계속 참고할 Project 정보의 후보로 생각한다. 분류 시험이나 답안 작성은 아니다.</a:t>
            </a:r>
          </a:p>
          <a:p>
            <a:r>
              <a:t xml:space="preserve">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a:r>
              <a:t xml:space="preserve">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S38의 반복 장면이 필요하게 만든다.</a:t>
            </a:r>
          </a:p>
          <a:p>
            <a:r>
              <a:t xml:space="preserve">4. (4:00–6:00 / Q&amp;A) 자발적인 질문을 받고 6분에 ACT 2로 간다. 질문이 없으면 반복 Project 설명이라는 마지막 질문을 한 번 읽고 정시에 넘긴다.</a:t>
            </a:r>
          </a:p>
          <a:p>
            <a:r>
              <a:t xml:space="preserve">기존 연결 질문을 유지한 채 ACT 2 제목 S37를 거쳐 S38의 첫 문제로 이어간다. 제목의 Transition1분은 다음 ACT에 별도로 배정한다.</a:t>
            </a:r>
          </a:p>
          <a:p>
            <a:r>
              <a:t xml:space="preserve"/>
            </a:r>
          </a:p>
          <a:p>
            <a:r>
              <a:t xml:space="preserve">Evidence / Source: BEAT-007, BEAT-008, TRANS-003, CLM-0029, CLM-0027, CLM-0003, CLM-0005. TEACHING_MODEL / CONCEPTUAL. DEC-0042는 요청 설계와 기존 사례의 연결·용어를 정렬한 결정이며 새로운 실험 근거가 아니다.</a:t>
            </a:r>
          </a:p>
          <a:p>
            <a:r>
              <a:t xml:space="preserve"/>
            </a:r>
          </a:p>
          <a:p>
            <a:r>
              <a:t xml:space="preserve">보존된 상세 출처: 교육용 후보 예시 · 모든 프로젝트에 적용되는 유일한 분류가 아님</a:t>
            </a:r>
          </a:p>
          <a:p>
            <a:r>
              <a:t xml:space="preserve"/>
            </a:r>
          </a:p>
          <a:p>
            <a:r>
              <a:t xml:space="preserve">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a:r>
              <a:t xml:space="preserve"/>
            </a:r>
          </a:p>
          <a:p>
            <a:r>
              <a:t xml:space="preserve">보존된 상세 범위: 다음 질문: Project 정보를 왜 매번 Prompt에 다시 적고 있을까요?</a:t>
            </a:r>
          </a:p>
          <a:p>
            <a:r>
              <a:t xml:space="preserve"/>
            </a:r>
          </a:p>
          <a:p>
            <a:r>
              <a:t xml:space="preserve">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a:r>
              <a:t xml:space="preserve"/>
            </a:r>
          </a:p>
          <a:p>
            <a:r>
              <a:t xml:space="preserve">Advanced Insight: Information reuse scope and lifetime may differ; the next ACT will examine the repeated-fact problem before introducing a mechanism.</a:t>
            </a:r>
          </a:p>
          <a:p>
            <a:r>
              <a:t xml:space="preserve"/>
            </a:r>
          </a:p>
          <a:p>
            <a:r>
              <a:t xml:space="preserve">C++ Vision Bridge: N/A.</a:t>
            </a:r>
          </a:p>
          <a:p>
            <a:r>
              <a:t xml:space="preserve"/>
            </a:r>
          </a:p>
          <a:p>
            <a:r>
              <a:t xml:space="preserve">Demo Operation: N/A.</a:t>
            </a:r>
          </a:p>
          <a:p>
            <a:r>
              <a:t xml:space="preserve"/>
            </a:r>
          </a:p>
          <a:p>
            <a:r>
              <a:t xml:space="preserve">Audience Interaction: Reflection 1분 후 map 순서대로 ACT 2 Transition 3분, Q&amp;A 2분. 예시는 후보로만 말하고, 자발적 응답을 받되 정답 분류를 평가하지 않는다.</a:t>
            </a:r>
          </a:p>
          <a:p>
            <a:r>
              <a:t xml:space="preserve"/>
            </a:r>
          </a:p>
          <a:p>
            <a:r>
              <a:t xml:space="preserve">**Transition:**</a:t>
            </a:r>
          </a:p>
          <a:p>
            <a:r>
              <a:t xml:space="preserve">“요청은 구체화했지만, 같은 테스트 명령과 보존 조건은 다음 작업에도 다시 적게 됩니다. Project 설명을 왜 매번 Prompt에 다시 쓰고 있을까요?”라고 S38의 반복 Project Context 문제로 연결한다.</a:t>
            </a:r>
          </a:p>
          <a:p>
            <a:r>
              <a:t xml:space="preserve">기존 연결 질문을 유지한 채 ACT 2 제목 S37를 거쳐 S38의 첫 문제로 이어간다. 제목의 Transition1분은 다음 ACT에 별도로 배정한다.</a:t>
            </a:r>
          </a:p>
          <a:p>
            <a:r>
              <a:t xml:space="preserve"/>
            </a:r>
          </a:p>
          <a:p>
            <a:r>
              <a:t xml:space="preserve">Time Management: 0–1분 Reflection, 1–4분 Transition, 4–6분 Q&amp;A. 기존 Notes의 1–5분 전환/5–6분 Q&amp;A 불일치를 승인된 Mode Split 1+3+2로 정렬한다. Project Context 해결책이나 AGENTS.md는 미리 공개하지 않는다.</a:t>
            </a:r>
          </a:p>
          <a:p>
            <a:r>
              <a:t xml:space="preserve"/>
            </a:r>
          </a:p>
          <a:p>
            <a:r>
              <a:t xml:space="preserve">Fallback:</a:t>
            </a:r>
          </a:p>
          <a:p>
            <a:r>
              <a:t xml:space="preserve">정적 기본 경로 — `production/ACT_1.pptx` S36 또는 `production/preview/act1/S36.png`를 사용한다. 요청 예시·기록·교육 모델의 기존 범위를 유지한다. 최신 렌더·내장 Notes/PNG 정합성은 production/evaluation/ACT_1_REQUEST_DESIGN_REVISION.md를 따른다.</a:t>
            </a:r>
          </a:p>
          <a:p>
            <a:r>
              <a:t xml:space="preserve"/>
            </a:r>
          </a:p>
          <a:p>
            <a:r>
              <a:t xml:space="preserve">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S37 — 필요한 정보를 찾아 쓰게 하기</a:t>
            </a:r>
          </a:p>
          <a:p>
            <a:r>
              <a:t xml:space="preserve"/>
            </a:r>
          </a:p>
          <a:p>
            <a:r>
              <a:t xml:space="preserve">**Slide ID:**</a:t>
            </a:r>
          </a:p>
          <a:p>
            <a:r>
              <a:t xml:space="preserve">S37</a:t>
            </a:r>
          </a:p>
          <a:p>
            <a:r>
              <a:t xml:space="preserve"/>
            </a:r>
          </a:p>
          <a:p>
            <a:r>
              <a:t xml:space="preserve">**Working Title:**</a:t>
            </a:r>
          </a:p>
          <a:p>
            <a:r>
              <a:t xml:space="preserve">필요한 정보를 찾아 쓰게 하기</a:t>
            </a:r>
          </a:p>
          <a:p>
            <a:r>
              <a:t xml:space="preserve"/>
            </a:r>
          </a:p>
          <a:p>
            <a:r>
              <a:t xml:space="preserve">**ACT / Section:**</a:t>
            </a:r>
          </a:p>
          <a:p>
            <a:r>
              <a:t xml:space="preserve">ACT 2 / 2A</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필요한 정보를 찾아 쓰게 하기 — Context Engineering · 정보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2의 제목 “필요한 정보를 찾아 쓰게 하기”을 가리키며 구간을 연다.</a:t>
            </a:r>
          </a:p>
          <a:p>
            <a:r>
              <a:t xml:space="preserve">2. (0:20–0:40 / Transition) 부제 “Context Engineering · 정보 설계”는 이번 구간의 관점만 안내한다. 구체적 기능·해결 방법·결과는 앞서 설명하지 않는다.</a:t>
            </a:r>
          </a:p>
          <a:p>
            <a:r>
              <a:t xml:space="preserve">3. (0:40–1:00 / Transition) S38의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S38 — 다른 Task에 같은 설명이 반복된다로 이어간다.</a:t>
            </a:r>
          </a:p>
          <a:p>
            <a:r>
              <a:t xml:space="preserve"/>
            </a:r>
          </a:p>
          <a:p>
            <a:r>
              <a:t xml:space="preserve">**Time Management:**</a:t>
            </a:r>
          </a:p>
          <a:p>
            <a:r>
              <a:t xml:space="preserve">Transition 1분. 기존 본문 시간을 줄이거나 중복 계산하지 않는다. ACT 2 총90분, 전체420분이다. 제목·부제만 안내하고1분에 S38로 넘긴다. 실측 리허설 UNVERIFIED.</a:t>
            </a:r>
          </a:p>
          <a:p>
            <a:r>
              <a:t xml:space="preserve"/>
            </a:r>
          </a:p>
          <a:p>
            <a:r>
              <a:t xml:space="preserve">**Fallback:**</a:t>
            </a:r>
          </a:p>
          <a:p>
            <a:r>
              <a:t xml:space="preserve">LOCAL STATIC ARTIFACT — production/preview/full/S37.png 또는 production/ACT_2.pptx의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S38 — 다른 Task에 같은 설명이 반복된다</a:t>
            </a:r>
          </a:p>
          <a:p>
            <a:r>
              <a:t xml:space="preserve"/>
            </a:r>
          </a:p>
          <a:p>
            <a:r>
              <a:t xml:space="preserve">Slide ID:</a:t>
            </a:r>
          </a:p>
          <a:p>
            <a:r>
              <a:t xml:space="preserve">S38</a:t>
            </a:r>
          </a:p>
          <a:p>
            <a:r>
              <a:t xml:space="preserve"/>
            </a:r>
          </a:p>
          <a:p>
            <a:r>
              <a:t xml:space="preserve">Working Title: 다른 Task에 같은 설명이 반복된다</a:t>
            </a:r>
          </a:p>
          <a:p>
            <a:r>
              <a:t xml:space="preserve"/>
            </a:r>
          </a:p>
          <a:p>
            <a:r>
              <a:t xml:space="preserve">ACT / Section: ACT 2 / 2A</a:t>
            </a:r>
          </a:p>
          <a:p>
            <a:r>
              <a:t xml:space="preserve"/>
            </a:r>
          </a:p>
          <a:p>
            <a:r>
              <a:t xml:space="preserve">Allocated Time: 5 minutes</a:t>
            </a:r>
          </a:p>
          <a:p>
            <a:r>
              <a:t xml:space="preserve"/>
            </a:r>
          </a:p>
          <a:p>
            <a:r>
              <a:t xml:space="preserve">Mode Split: Lecture 4 minutes + Case 1 minute</a:t>
            </a:r>
          </a:p>
          <a:p>
            <a:r>
              <a:t xml:space="preserve"/>
            </a:r>
          </a:p>
          <a:p>
            <a:r>
              <a:t xml:space="preserve">Primary Message: Bug fix, performance, and README Tasks can repeat the same Project facts because task-specific instructions and durable Project context have different scopes.</a:t>
            </a:r>
          </a:p>
          <a:p>
            <a:r>
              <a:t xml:space="preserve"/>
            </a:r>
          </a:p>
          <a:p>
            <a:r>
              <a:t xml:space="preserve">Opening Question: “Task는 다른데 왜 같은 설명을 계속 복사하고 있지?”</a:t>
            </a:r>
          </a:p>
          <a:p>
            <a:r>
              <a:t xml:space="preserve"/>
            </a:r>
          </a:p>
          <a:p>
            <a:r>
              <a:t xml:space="preserve">Speaker Flow:</a:t>
            </a:r>
          </a:p>
          <a:p>
            <a:r>
              <a:t xml:space="preserve"/>
            </a:r>
          </a:p>
          <a:p>
            <a:r>
              <a:t xml:space="preserve">1. (0:00–2:00) 버그 수정, 성능 조사, README 수정의 서로 다른 목표를 왼쪽부터 가리킨다.</a:t>
            </a:r>
          </a:p>
          <a:p>
            <a:r>
              <a:t xml:space="preserve">2. (2:00–4:00) 아래에 반복된 네 줄을 비교한다. 테스트 실행, 근거가 있을 때 의존성 추가, 로컬 합성 데이터, 기존 동작 보존이다. 세 요청은 교육용 구성 예시이며 Trial 원문이 아니다.</a:t>
            </a:r>
          </a:p>
          <a:p>
            <a:r>
              <a:t xml:space="preserve">3. (4:00–5:00) 같은 설명이 왜 다시 들어가는지 잠시 생각하게 한다. 아직 저장 위치나 기능을 답으로 제시하지 않는다.</a:t>
            </a:r>
          </a:p>
          <a:p>
            <a:r>
              <a:t xml:space="preserve"/>
            </a:r>
          </a:p>
          <a:p>
            <a:r>
              <a:t xml:space="preserve">Evidence / Source: BEAT-008, CLM-0003, CLM-0005. TEACHING_MODEL / CONCEPTUAL; the three cards are a constructed example, not a Trial.</a:t>
            </a:r>
          </a:p>
          <a:p>
            <a:r>
              <a:t xml:space="preserve"/>
            </a:r>
          </a:p>
          <a:p>
            <a:r>
              <a:t xml:space="preserve">보존된 상세 출처: 교육용 구성 사례 · Bug fix / Performance / README 작업</a:t>
            </a:r>
          </a:p>
          <a:p>
            <a:r>
              <a:t xml:space="preserve"/>
            </a:r>
          </a:p>
          <a:p>
            <a:r>
              <a:t xml:space="preserve">Claim Boundary: Repetition can indicate a scope and lifetime question. This slide does not claim a product failure or introduce a repository instruction file as the answer.</a:t>
            </a:r>
          </a:p>
          <a:p>
            <a:r>
              <a:t xml:space="preserve"/>
            </a:r>
          </a:p>
          <a:p>
            <a:r>
              <a:t xml:space="preserve">보존된 상세 범위: 서로 다른 요청에 같은 프로젝트 정보가 반복되는 상황을 보여준다</a:t>
            </a:r>
          </a:p>
          <a:p>
            <a:r>
              <a:t xml:space="preserve"/>
            </a:r>
          </a:p>
          <a:p>
            <a:r>
              <a:t xml:space="preserve">Beginner Explanation: If every Task needs the same Project facts, consider whether those facts belong with the Task or with the Project.</a:t>
            </a:r>
          </a:p>
          <a:p>
            <a:r>
              <a:t xml:space="preserve"/>
            </a:r>
          </a:p>
          <a:p>
            <a:r>
              <a:t xml:space="preserve">Advanced Insight: Separate Task intent from durable constraints before choosing where to maintain them.</a:t>
            </a:r>
          </a:p>
          <a:p>
            <a:r>
              <a:t xml:space="preserve"/>
            </a:r>
          </a:p>
          <a:p>
            <a:r>
              <a:t xml:space="preserve">C++ Vision Bridge: N/A.</a:t>
            </a:r>
          </a:p>
          <a:p>
            <a:r>
              <a:t xml:space="preserve"/>
            </a:r>
          </a:p>
          <a:p>
            <a:r>
              <a:t xml:space="preserve">Demo Operation: N/A.</a:t>
            </a:r>
          </a:p>
          <a:p>
            <a:r>
              <a:t xml:space="preserve"/>
            </a:r>
          </a:p>
          <a:p>
            <a:r>
              <a:t xml:space="preserve">Audience Interaction: Use the final minute as a quiet case prompt. No hands-on activity or public response is required.</a:t>
            </a:r>
          </a:p>
          <a:p>
            <a:r>
              <a:t xml:space="preserve"/>
            </a:r>
          </a:p>
          <a:p>
            <a:r>
              <a:t xml:space="preserve">Transition: “공통 정보를 Prompt 밖에 둘 수 있을까?”</a:t>
            </a:r>
          </a:p>
          <a:p>
            <a:r>
              <a:t xml:space="preserve"/>
            </a:r>
          </a:p>
          <a:p>
            <a:r>
              <a:t xml:space="preserve">Time Management: Spend four minutes on the repeated facts and one minute on the question. Do not preview the solution.</a:t>
            </a:r>
          </a:p>
          <a:p>
            <a:r>
              <a:t xml:space="preserve"/>
            </a:r>
          </a:p>
          <a:p>
            <a:r>
              <a:t xml:space="preserve">Fallback:</a:t>
            </a:r>
          </a:p>
          <a:p>
            <a:r>
              <a:t xml:space="preserve">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S39 — 작은 Project Context의 첫 기록</a:t>
            </a:r>
          </a:p>
          <a:p>
            <a:r>
              <a:t xml:space="preserve"/>
            </a:r>
          </a:p>
          <a:p>
            <a:r>
              <a:t xml:space="preserve">Slide ID:</a:t>
            </a:r>
          </a:p>
          <a:p>
            <a:r>
              <a:t xml:space="preserve">S39</a:t>
            </a:r>
          </a:p>
          <a:p>
            <a:r>
              <a:t xml:space="preserve"/>
            </a:r>
          </a:p>
          <a:p>
            <a:r>
              <a:t xml:space="preserve">Working Title: 작은 Project Context의 첫 기록</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STATE-01의 실제 AGENTS.md에는 반복되는 프로젝트 목적, 실행 방법, 테스트 명령, 기본 제약이 기록되어 있다.</a:t>
            </a:r>
          </a:p>
          <a:p>
            <a:r>
              <a:t xml:space="preserve"/>
            </a:r>
          </a:p>
          <a:p>
            <a:r>
              <a:t xml:space="preserve">Opening Question: “반복되는 Project 정보를 한 번 기록하면 어떤 점이 달라질까?”</a:t>
            </a:r>
          </a:p>
          <a:p>
            <a:r>
              <a:t xml:space="preserve"/>
            </a:r>
          </a:p>
          <a:p>
            <a:r>
              <a:t xml:space="preserve">Speaker Flow:</a:t>
            </a:r>
          </a:p>
          <a:p>
            <a:r>
              <a:t xml:space="preserve">1. (0:00–1:00) STATE-00-FIXED에서 STATE-01로 바뀐 것은 root AGENTS.md 한 파일 추가임을 설명한다.</a:t>
            </a:r>
          </a:p>
          <a:p>
            <a:r>
              <a:t xml:space="preserve">2. (1:00–3:00) 네 발췌를 순서대로 가리킨다. 목적: 로컬 grayscale CLI. 실행: README의 준비된 명령. 테스트: 원문 명령. 제약: 범위를 지키고 관련 동작을 검증. 영어 문장을 모두 낭독하지 않는다.</a:t>
            </a:r>
          </a:p>
          <a:p>
            <a:r>
              <a:t xml:space="preserve">3. (3:00–4:00) Task마다 반복 설명하던 사실을 저장소에 둔 설계 의도를 정리하고, 실제 활용 관찰은 S40로 넘긴다.</a:t>
            </a:r>
          </a:p>
          <a:p>
            <a:r>
              <a:t xml:space="preserve"/>
            </a:r>
          </a:p>
          <a:p>
            <a:r>
              <a:t xml:space="preserve">화면 진행: 한국어 의미를 먼저 읽고 바로 위의 실제 AGENTS.md 발췌와 대조한다. 강조한 CLI 목적·README·범위/검증 문구만 짚고 테스트 명령은 입력 실습이나 CLI 설명으로 확장하지 않는다.</a:t>
            </a:r>
          </a:p>
          <a:p>
            <a:r>
              <a:t xml:space="preserve"/>
            </a:r>
          </a:p>
          <a:p>
            <a:r>
              <a:t xml:space="preserve">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a:r>
              <a:t xml:space="preserve"/>
            </a:r>
          </a:p>
          <a:p>
            <a:r>
              <a:t xml:space="preserve">보존된 상세 출처: OBSERVED PRODUCT  |  STATE-01 · AGENTS.md 실제 원문 발췌</a:t>
            </a:r>
          </a:p>
          <a:p>
            <a:r>
              <a:t xml:space="preserve"/>
            </a:r>
          </a:p>
          <a:p>
            <a:r>
              <a:t xml:space="preserve">Claim Boundary:</a:t>
            </a:r>
          </a:p>
          <a:p>
            <a:r>
              <a:t xml:space="preserve">실제 파일이 그 상태에 존재했다는 근거다. 성능, 정확도, 토큰 절감 또는 AGENTS.md 단독 인과효과를 주장하지 않는다. 제품 코드·테스트·README는 그 상태 전환에서 바뀌지 않았다. S40의 지침 활용 관찰을 이 장의 결과로 앞당기지 않는다. 현재 Desktop 자동 로딩이나 교육 환경을 검증한 것이 아니다.</a:t>
            </a:r>
          </a:p>
          <a:p>
            <a:r>
              <a:t xml:space="preserve"/>
            </a:r>
          </a:p>
          <a:p>
            <a:r>
              <a:t xml:space="preserve">보존된 상세 범위: 파일의 내용과 기록 위치를 보여주는 장 · Agent의 활용 관찰은 다음 장에서 확인</a:t>
            </a:r>
          </a:p>
          <a:p>
            <a:r>
              <a:t xml:space="preserve"/>
            </a:r>
          </a:p>
          <a:p>
            <a:r>
              <a:t xml:space="preserve">Beginner Explanation: A small set of facts that applies across Project Tasks can be written down once in the repository.</a:t>
            </a:r>
          </a:p>
          <a:p>
            <a:r>
              <a:t xml:space="preserve"/>
            </a:r>
          </a:p>
          <a:p>
            <a:r>
              <a:t xml:space="preserve">Advanced Insight: The design choice is about context scope and maintenance ownership, not a measured quality or performance effect.</a:t>
            </a:r>
          </a:p>
          <a:p>
            <a:r>
              <a:t xml:space="preserve"/>
            </a:r>
          </a:p>
          <a:p>
            <a:r>
              <a:t xml:space="preserve">C++ Vision Bridge: N/A.</a:t>
            </a:r>
          </a:p>
          <a:p>
            <a:r>
              <a:t xml:space="preserve"/>
            </a:r>
          </a:p>
          <a:p>
            <a:r>
              <a:t xml:space="preserve">Demo Operation:</a:t>
            </a:r>
          </a:p>
          <a:p>
            <a:r>
              <a:t xml:space="preserve">`production/ACT_2.pptx`의 S39 및 `production/preview/act2/S39.png`에 있는 실제 AGENTS.md 원문 발췌를 가리킨다. 편집기 screenshot이 아니다. Live/HYBRID는 발표 환경 검증 전까지 비활성이다.</a:t>
            </a:r>
          </a:p>
          <a:p>
            <a:r>
              <a:t xml:space="preserve"/>
            </a:r>
          </a:p>
          <a:p>
            <a:r>
              <a:t xml:space="preserve">Audience Interaction: Point out the recurring facts without asking the audience to inspect a repository.</a:t>
            </a:r>
          </a:p>
          <a:p>
            <a:r>
              <a:t xml:space="preserve"/>
            </a:r>
          </a:p>
          <a:p>
            <a:r>
              <a:t xml:space="preserve">Transition: “이 안내가 실제 Task에서 어떻게 사용됐는지 기록을 보겠습니다.”</a:t>
            </a:r>
          </a:p>
          <a:p>
            <a:r>
              <a:t xml:space="preserve"/>
            </a:r>
          </a:p>
          <a:p>
            <a:r>
              <a:t xml:space="preserve">Time Management:</a:t>
            </a:r>
          </a:p>
          <a:p>
            <a:r>
              <a:t xml:space="preserve">Demo 4분 유지. 1분 상태 전환, 2분 네 발췌, 1분 의미와 S40 handoff. 명령어 옵션별 설명은 생략한다.</a:t>
            </a:r>
          </a:p>
          <a:p>
            <a:r>
              <a:t xml:space="preserve"/>
            </a:r>
          </a:p>
          <a:p>
            <a:r>
              <a:t xml:space="preserve">Fallback:</a:t>
            </a:r>
          </a:p>
          <a:p>
            <a:r>
              <a:t xml:space="preserve">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a:r>
              <a:t xml:space="preserve"/>
            </a:r>
          </a:p>
          <a:p>
            <a:r>
              <a:t xml:space="preserve">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S40 — AGENTS.md의 지침대로 검증했다</a:t>
            </a:r>
          </a:p>
          <a:p>
            <a:r>
              <a:t xml:space="preserve"/>
            </a:r>
          </a:p>
          <a:p>
            <a:r>
              <a:t xml:space="preserve">Slide ID:</a:t>
            </a:r>
          </a:p>
          <a:p>
            <a:r>
              <a:t xml:space="preserve">S40</a:t>
            </a:r>
          </a:p>
          <a:p>
            <a:r>
              <a:t xml:space="preserve"/>
            </a:r>
          </a:p>
          <a:p>
            <a:r>
              <a:t xml:space="preserve">Working Title: AGENTS.md의 지침대로 검증했다</a:t>
            </a:r>
          </a:p>
          <a:p>
            <a:r>
              <a:t xml:space="preserve"/>
            </a:r>
          </a:p>
          <a:p>
            <a:r>
              <a:t xml:space="preserve">ACT / Section: ACT 2 / 2B</a:t>
            </a:r>
          </a:p>
          <a:p>
            <a:r>
              <a:t xml:space="preserve"/>
            </a:r>
          </a:p>
          <a:p>
            <a:r>
              <a:t xml:space="preserve">Allocated Time: 4 minutes</a:t>
            </a:r>
          </a:p>
          <a:p>
            <a:r>
              <a:t xml:space="preserve"/>
            </a:r>
          </a:p>
          <a:p>
            <a:r>
              <a:t xml:space="preserve">Mode Split: Demo 4 minutes (HYBRID planned; activation unverified)</a:t>
            </a:r>
          </a:p>
          <a:p>
            <a:r>
              <a:t xml:space="preserve"/>
            </a:r>
          </a:p>
          <a:p>
            <a:r>
              <a:t xml:space="preserve">Primary Message: 이번 기록에서는 Agent가 AGENTS.md의 테스트 지침을 실제 작업에 적용했다. 작업 Prompt에는 검증 근거 보고가 있었지만 테스트 실행 명령은 없었다.</a:t>
            </a:r>
          </a:p>
          <a:p>
            <a:r>
              <a:t xml:space="preserve"/>
            </a:r>
          </a:p>
          <a:p>
            <a:r>
              <a:t xml:space="preserve">Opening Question: “Prompt에 다시 적지 않은 테스트 명령을 Agent는 어디에서 확인했을까?”</a:t>
            </a:r>
          </a:p>
          <a:p>
            <a:r>
              <a:t xml:space="preserve"/>
            </a:r>
          </a:p>
          <a:p>
            <a:r>
              <a:t xml:space="preserve">Speaker Flow:</a:t>
            </a:r>
          </a:p>
          <a:p>
            <a:r>
              <a:t xml:space="preserve">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a:r>
              <a:t xml:space="preserve">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a:r>
              <a:t xml:space="preserve">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a:r>
              <a:t xml:space="preserve">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S41로 연결한다.</a:t>
            </a:r>
          </a:p>
          <a:p>
            <a:r>
              <a:t xml:space="preserve"/>
            </a:r>
          </a:p>
          <a:p>
            <a:r>
              <a:t xml:space="preserve">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a:r>
              <a:t xml:space="preserve"/>
            </a:r>
          </a:p>
          <a:p>
            <a:r>
              <a:t xml:space="preserve">보존된 상세 출처: TRIAL-003 · 실제 요청 발췌·번역 / 실행 기록 요약 · Codex CLI 0.154.0</a:t>
            </a:r>
          </a:p>
          <a:p>
            <a:r>
              <a:t xml:space="preserve"/>
            </a:r>
          </a:p>
          <a:p>
            <a:r>
              <a:t xml:space="preserve">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a:r>
              <a:t xml:space="preserve"/>
            </a:r>
          </a:p>
          <a:p>
            <a:r>
              <a:t xml:space="preserve">보존된 상세 범위: Skills도 실행 · README-only는 Prompt에도 명시 · AGENTS.md 단독 효과·강제 준수 보장은 미입증</a:t>
            </a:r>
          </a:p>
          <a:p>
            <a:r>
              <a:t xml:space="preserve"/>
            </a:r>
          </a:p>
          <a:p>
            <a:r>
              <a:t xml:space="preserve">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a:r>
              <a:t xml:space="preserve"/>
            </a:r>
          </a:p>
          <a:p>
            <a:r>
              <a:t xml:space="preserve">Advanced Insight: Observed use of the repository test instruction is supported. Enforcement, an isolated instruction-loading cause and attribution of README-only scope to AGENTS.md are not established by this run.</a:t>
            </a:r>
          </a:p>
          <a:p>
            <a:r>
              <a:t xml:space="preserve"/>
            </a:r>
          </a:p>
          <a:p>
            <a:r>
              <a:t xml:space="preserve">C++ Vision Bridge: N/A.</a:t>
            </a:r>
          </a:p>
          <a:p>
            <a:r>
              <a:t xml:space="preserve"/>
            </a:r>
          </a:p>
          <a:p>
            <a:r>
              <a:t xml:space="preserve">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a:r>
              <a:t xml:space="preserve"/>
            </a:r>
          </a:p>
          <a:p>
            <a:r>
              <a:t xml:space="preserve">Audience Interaction: Ask the opening question, pause briefly, then reveal the record. Do not require an answer.</a:t>
            </a:r>
          </a:p>
          <a:p>
            <a:r>
              <a:t xml:space="preserve"/>
            </a:r>
          </a:p>
          <a:p>
            <a:r>
              <a:t xml:space="preserve">Transition: “이번 Task의 Prompt와 Project가 계속 유지할 Context는 어떻게 다른가?”</a:t>
            </a:r>
          </a:p>
          <a:p>
            <a:r>
              <a:t xml:space="preserve"/>
            </a:r>
          </a:p>
          <a:p>
            <a:r>
              <a:t xml:space="preserve">Time Management:</a:t>
            </a:r>
          </a:p>
          <a:p>
            <a:r>
              <a:t xml:space="preserve">1분 실제 요청과 외부 주석,1분 프로젝트 작업 지침,1분 테스트 실행·11/11 결과,1분 해석 한계와 S41 연결. Demo4분·기존 Mode는 유지하며 실측 리허설은 UNVERIFIED다.</a:t>
            </a:r>
          </a:p>
          <a:p>
            <a:r>
              <a:t xml:space="preserve"/>
            </a:r>
          </a:p>
          <a:p>
            <a:r>
              <a:t xml:space="preserve">Fallback:</a:t>
            </a:r>
          </a:p>
          <a:p>
            <a:r>
              <a:t xml:space="preserve">production/ACT_2.pptx S40 또는 production/preview/act2/S40.png를 정적 기본 경로로 사용한다. 실제 Prompt 발췌·번역과 원문 밖 주석을 구분한다. 로컬 렌더·내장 Notes 대조는 production/evaluation/S34_GUIDANCE_REVISION.md를 따른다. 원본 Trial 캡처나 새 실행을 만들지 않는다.</a:t>
            </a:r>
          </a:p>
          <a:p>
            <a:r>
              <a:t xml:space="preserve"/>
            </a:r>
          </a:p>
          <a:p>
            <a:r>
              <a:t xml:space="preserve">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S41 — Task Prompt와 Project Context</a:t>
            </a:r>
          </a:p>
          <a:p>
            <a:r>
              <a:t xml:space="preserve"/>
            </a:r>
          </a:p>
          <a:p>
            <a:r>
              <a:t xml:space="preserve">Slide ID:</a:t>
            </a:r>
          </a:p>
          <a:p>
            <a:r>
              <a:t xml:space="preserve">S41</a:t>
            </a:r>
          </a:p>
          <a:p>
            <a:r>
              <a:t xml:space="preserve"/>
            </a:r>
          </a:p>
          <a:p>
            <a:r>
              <a:t xml:space="preserve">Working Title: Task Prompt와 Project Context</a:t>
            </a:r>
          </a:p>
          <a:p>
            <a:r>
              <a:t xml:space="preserve"/>
            </a:r>
          </a:p>
          <a:p>
            <a:r>
              <a:t xml:space="preserve">ACT / Section: ACT 2 / 2C</a:t>
            </a:r>
          </a:p>
          <a:p>
            <a:r>
              <a:t xml:space="preserve"/>
            </a:r>
          </a:p>
          <a:p>
            <a:r>
              <a:t xml:space="preserve">Allocated Time: 5 minutes</a:t>
            </a:r>
          </a:p>
          <a:p>
            <a:r>
              <a:t xml:space="preserve"/>
            </a:r>
          </a:p>
          <a:p>
            <a:r>
              <a:t xml:space="preserve">Mode Split: Lecture 5 minutes</a:t>
            </a:r>
          </a:p>
          <a:p>
            <a:r>
              <a:t xml:space="preserve"/>
            </a:r>
          </a:p>
          <a:p>
            <a:r>
              <a:t xml:space="preserve">Primary Message: 현재 Task의 목표와 지속되는 Project 사실·규칙은 수명과 적용 범위가 다르다.</a:t>
            </a:r>
          </a:p>
          <a:p>
            <a:r>
              <a:t xml:space="preserve"/>
            </a:r>
          </a:p>
          <a:p>
            <a:r>
              <a:t xml:space="preserve">Opening Question: “이 정보는 언제까지 유효한가?”</a:t>
            </a:r>
          </a:p>
          <a:p>
            <a:r>
              <a:t xml:space="preserve"/>
            </a:r>
          </a:p>
          <a:p>
            <a:r>
              <a:t xml:space="preserve">Speaker Flow: 1. (0–2분) 직전 기록의 현재 README 요청과 재참고한 테스트 명령을 나눈다.</a:t>
            </a:r>
          </a:p>
          <a:p>
            <a:r>
              <a:t xml:space="preserve">2. (2–4분) 이번 목표·수정 범위는 요청에, 공통 명령·규칙은 Project 안내에 남는 수명 차이를 짚는다.</a:t>
            </a:r>
          </a:p>
          <a:p>
            <a:r>
              <a:t xml:space="preserve">3. (4–5분) 검증 규칙도 Project 안내에 들어갈 수 있음을 말한다. 이후의 Workflow 문제는 수행 단계의 유지·판단 책임이며 파일 종류의 배타적 구분이 아니다.</a:t>
            </a:r>
          </a:p>
          <a:p>
            <a:r>
              <a:t xml:space="preserve"/>
            </a:r>
          </a:p>
          <a:p>
            <a:r>
              <a:t xml:space="preserve">Evidence / Source: BEAT-009–010, TRANS-003, CLM-0003, CLM-0005, DEC-0047. TEACHING_MODEL / CONCEPTUAL; examples summarize S39–S37. Generated visual provenance and prompts: assets/slide-illustrations/task-context/README.md. No new Trial or product capture.</a:t>
            </a:r>
          </a:p>
          <a:p>
            <a:r>
              <a:t xml:space="preserve"/>
            </a:r>
          </a:p>
          <a:p>
            <a:r>
              <a:t xml:space="preserve">보존된 상세 출처: 교육용 구분 · 창과 문서는 생성 도식이며 실제 제품 화면이 아님</a:t>
            </a:r>
          </a:p>
          <a:p>
            <a:r>
              <a:t xml:space="preserve"/>
            </a:r>
          </a:p>
          <a:p>
            <a:r>
              <a:t xml:space="preserve">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a:r>
              <a:t xml:space="preserve"/>
            </a:r>
          </a:p>
          <a:p>
            <a:r>
              <a:t xml:space="preserve">보존된 상세 범위: C++에서도 프로젝트 공통 제약과 이번 알고리즘 변경 조건은 범위가 다를 수 있다</a:t>
            </a:r>
          </a:p>
          <a:p>
            <a:r>
              <a:t xml:space="preserve"/>
            </a:r>
          </a:p>
          <a:p>
            <a:r>
              <a:t xml:space="preserve">Beginner Explanation: Put the current goal in the Task request and distinguish it from facts the Project keeps using.</a:t>
            </a:r>
          </a:p>
          <a:p>
            <a:r>
              <a:t xml:space="preserve"/>
            </a:r>
          </a:p>
          <a:p>
            <a:r>
              <a:t xml:space="preserve">Advanced Insight: Scope and lifetime are useful dimensions for deciding ownership and update responsibility.</a:t>
            </a:r>
          </a:p>
          <a:p>
            <a:r>
              <a:t xml:space="preserve"/>
            </a:r>
          </a:p>
          <a:p>
            <a:r>
              <a:t xml:space="preserve">C++ Vision Bridge: Briefly distinguish a general Project constraint from a Task-specific algorithm condition; do not list tools or hardware.</a:t>
            </a:r>
          </a:p>
          <a:p>
            <a:r>
              <a:t xml:space="preserve"/>
            </a:r>
          </a:p>
          <a:p>
            <a:r>
              <a:t xml:space="preserve">Demo Operation: N/A.</a:t>
            </a:r>
          </a:p>
          <a:p>
            <a:r>
              <a:t xml:space="preserve"/>
            </a:r>
          </a:p>
          <a:p>
            <a:r>
              <a:t xml:space="preserve">Audience Interaction: Give the audience a brief silent pause to classify the examples mentally. Do not turn it into a hands-on task.</a:t>
            </a:r>
          </a:p>
          <a:p>
            <a:r>
              <a:t xml:space="preserve"/>
            </a:r>
          </a:p>
          <a:p>
            <a:r>
              <a:t xml:space="preserve">Transition: “정확한 정보를 더 많이 넣으면 언제나 괜찮을까?”</a:t>
            </a:r>
          </a:p>
          <a:p>
            <a:r>
              <a:t xml:space="preserve"/>
            </a:r>
          </a:p>
          <a:p>
            <a:r>
              <a:t xml:space="preserve">Time Management: Keep the model to two layers and four examples. Leave research and detailed routing for later slides.</a:t>
            </a:r>
          </a:p>
          <a:p>
            <a:r>
              <a:t xml:space="preserve"/>
            </a:r>
          </a:p>
          <a:p>
            <a:r>
              <a:t xml:space="preserve">Fallback:</a:t>
            </a:r>
          </a:p>
          <a:p>
            <a:r>
              <a:t xml:space="preserve">LOCAL STATIC ARTIFACT — production/ACT_2.pptx의 S41 또는 production/preview/act2/S41.png를 사용한다. 최종 패키지·PNG·Notes 일치는 production/evaluation/S35_CONTEXT_PLACEMENT_REVISION.md와 검증 JSON으로 확인한다.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S42 — 정확한 정보도 계속 늘어난다</a:t>
            </a:r>
          </a:p>
          <a:p>
            <a:r>
              <a:t xml:space="preserve"/>
            </a:r>
          </a:p>
          <a:p>
            <a:r>
              <a:t xml:space="preserve">Slide ID:</a:t>
            </a:r>
          </a:p>
          <a:p>
            <a:r>
              <a:t xml:space="preserve">S42</a:t>
            </a:r>
          </a:p>
          <a:p>
            <a:r>
              <a:t xml:space="preserve"/>
            </a:r>
          </a:p>
          <a:p>
            <a:r>
              <a:t xml:space="preserve">Working Title: 정확한 정보도 계속 늘어난다</a:t>
            </a:r>
          </a:p>
          <a:p>
            <a:r>
              <a:t xml:space="preserve"/>
            </a:r>
          </a:p>
          <a:p>
            <a:r>
              <a:t xml:space="preserve">ACT / Section: ACT 2 / 2D</a:t>
            </a:r>
          </a:p>
          <a:p>
            <a:r>
              <a:t xml:space="preserve"/>
            </a:r>
          </a:p>
          <a:p>
            <a:r>
              <a:t xml:space="preserve">Allocated Time: 4 minutes</a:t>
            </a:r>
          </a:p>
          <a:p>
            <a:r>
              <a:t xml:space="preserve"/>
            </a:r>
          </a:p>
          <a:p>
            <a:r>
              <a:t xml:space="preserve">Mode Split: Case 4 minutes</a:t>
            </a:r>
          </a:p>
          <a:p>
            <a:r>
              <a:t xml:space="preserve"/>
            </a:r>
          </a:p>
          <a:p>
            <a:r>
              <a:t xml:space="preserve">Primary Message: Context가 늘어난 사실만으로 실패를 뜻하지 않는다. 다음 질문은 각 Task에서의 관련성이다.</a:t>
            </a:r>
          </a:p>
          <a:p>
            <a:r>
              <a:t xml:space="preserve"/>
            </a:r>
          </a:p>
          <a:p>
            <a:r>
              <a:t xml:space="preserve">Opening Question: “정확한 Project 정보라면 모든 Task에 늘 넣어도 될까?”</a:t>
            </a:r>
          </a:p>
          <a:p>
            <a:r>
              <a:t xml:space="preserve"/>
            </a:r>
          </a:p>
          <a:p>
            <a:r>
              <a:t xml:space="preserve">Speaker Flow:</a:t>
            </a:r>
          </a:p>
          <a:p>
            <a:r>
              <a:t xml:space="preserve">1. (0:00–1:00) 왼쪽 ‘프로젝트 초기’와 짧은 AGENTS.md를 가리킨다. 목적·실행·테스트·기본 제약처럼 처음의 공통 안내가 담겨 있었다. 저장소 State 번호나 줄 수를 외우게 하지 않는다.</a:t>
            </a:r>
          </a:p>
          <a:p>
            <a:r>
              <a:t xml:space="preserve">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a:r>
              <a:t xml:space="preserve">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a:r>
              <a:t xml:space="preserve">4. (3:00–4:00) ‘이번 작업에도 모두 필요할까?’를 질문한다. 정확한 정보가 추가됐지만 증가 자체가 Agent 오류를 일으켰다는 관찰은 아니다. S43의 작은 README 작업에서 관련성을 확인한다.</a:t>
            </a:r>
          </a:p>
          <a:p>
            <a:r>
              <a:t xml:space="preserve"/>
            </a:r>
          </a:p>
          <a:p>
            <a:r>
              <a:t xml:space="preserve">화면 진행: 초기 문서 → 프로젝트 진행 → 길어진 같은 문서 → 새 정보 네 유형 → 이번 Task의 관련성 질문. 문서 길이는 정보 축적의 생성 도식이며 실제 스크린샷이나 정확한 비율 비교가 아니다.</a:t>
            </a:r>
          </a:p>
          <a:p>
            <a:r>
              <a:t xml:space="preserve"/>
            </a:r>
          </a:p>
          <a:p>
            <a:r>
              <a:t xml:space="preserve">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a:r>
              <a:t xml:space="preserve"/>
            </a:r>
          </a:p>
          <a:p>
            <a:r>
              <a:t xml:space="preserve">보존된 상세 출처: 실제 AGENTS.md 전후 내용을 바탕으로 재구성 · 문서는 교육용 생성 도식</a:t>
            </a:r>
          </a:p>
          <a:p>
            <a:r>
              <a:t xml:space="preserve"/>
            </a:r>
          </a:p>
          <a:p>
            <a:r>
              <a:t xml:space="preserve">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a:r>
              <a:t xml:space="preserve"/>
            </a:r>
          </a:p>
          <a:p>
            <a:r>
              <a:t xml:space="preserve">보존된 상세 범위: 이야기 속 두 시점 비교 · 정보 증가가 실패를 일으켰다는 관찰은 아님</a:t>
            </a:r>
          </a:p>
          <a:p>
            <a:r>
              <a:t xml:space="preserve"/>
            </a:r>
          </a:p>
          <a:p>
            <a:r>
              <a:t xml:space="preserve">Beginner Explanation: More documented facts create a follow-up question: does each Task need all of them?</a:t>
            </a:r>
          </a:p>
          <a:p>
            <a:r>
              <a:t xml:space="preserve"/>
            </a:r>
          </a:p>
          <a:p>
            <a:r>
              <a:t xml:space="preserve">Advanced Insight: Maintenance cost and stale information are review considerations, not observed failures in this comparison.</a:t>
            </a:r>
          </a:p>
          <a:p>
            <a:r>
              <a:t xml:space="preserve"/>
            </a:r>
          </a:p>
          <a:p>
            <a:r>
              <a:t xml:space="preserve">C++ Vision Bridge: N/A.</a:t>
            </a:r>
          </a:p>
          <a:p>
            <a:r>
              <a:t xml:space="preserve"/>
            </a:r>
          </a:p>
          <a:p>
            <a:r>
              <a:t xml:space="preserve">Demo Operation: Use the static before/after document-content reconstruction. No live repository interaction, new Trial or elapsed-time experiment is planned.</a:t>
            </a:r>
          </a:p>
          <a:p>
            <a:r>
              <a:t xml:space="preserve"/>
            </a:r>
          </a:p>
          <a:p>
            <a:r>
              <a:t xml:space="preserve">Audience Interaction: Treat the slide as a case question. Allow a short pause without requiring a public answer.</a:t>
            </a:r>
          </a:p>
          <a:p>
            <a:r>
              <a:t xml:space="preserve"/>
            </a:r>
          </a:p>
          <a:p>
            <a:r>
              <a:t xml:space="preserve">Transition: Slide 37에서 작은 문서 Task가 실제로 어떤 정보를 필요로 했는지 본다.</a:t>
            </a:r>
          </a:p>
          <a:p>
            <a:r>
              <a:t xml:space="preserve"/>
            </a:r>
          </a:p>
          <a:p>
            <a:r>
              <a:t xml:space="preserve">Time Management: 초기 안내1분, 프로젝트 진행과 누적 모습1분, 새 정보 네 유형1분, 관련성 질문1분으로 Case4분을 유지한다. 숫자·용량 해설과 기간 추측을 하지 않고 문서 크기의 인과 효과를 만들지 않는다.</a:t>
            </a:r>
          </a:p>
          <a:p>
            <a:r>
              <a:t xml:space="preserve"/>
            </a:r>
          </a:p>
          <a:p>
            <a:r>
              <a:t xml:space="preserve">Fallback:</a:t>
            </a:r>
          </a:p>
          <a:p>
            <a:r>
              <a:t xml:space="preserve">LOCAL STATIC ARTIFACT — production/ACT_2.pptx의 S42 또는 production/preview/act2/S42.png를 사용한다. 최종 패키지·PNG·Notes 일치는 production/evaluation/S36_CONTEXT_GROWTH_REVISION.md와 검증 JSON을 따른다. 실제 문서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S43 — 정확하지만 이번 작업에는 불필요한 정보</a:t>
            </a:r>
          </a:p>
          <a:p>
            <a:r>
              <a:t xml:space="preserve"/>
            </a:r>
          </a:p>
          <a:p>
            <a:r>
              <a:t xml:space="preserve">Slide ID:</a:t>
            </a:r>
          </a:p>
          <a:p>
            <a:r>
              <a:t xml:space="preserve">S43</a:t>
            </a:r>
          </a:p>
          <a:p>
            <a:r>
              <a:t xml:space="preserve"/>
            </a:r>
          </a:p>
          <a:p>
            <a:r>
              <a:t xml:space="preserve">Working Title: 정확하지만 이번 작업에는 불필요한 정보</a:t>
            </a:r>
          </a:p>
          <a:p>
            <a:r>
              <a:t xml:space="preserve"/>
            </a:r>
          </a:p>
          <a:p>
            <a:r>
              <a:t xml:space="preserve">ACT / Section: ACT 2 / 2D</a:t>
            </a:r>
          </a:p>
          <a:p>
            <a:r>
              <a:t xml:space="preserve"/>
            </a:r>
          </a:p>
          <a:p>
            <a:r>
              <a:t xml:space="preserve">Allocated Time: 4 minutes</a:t>
            </a:r>
          </a:p>
          <a:p>
            <a:r>
              <a:t xml:space="preserve"/>
            </a:r>
          </a:p>
          <a:p>
            <a:r>
              <a:t xml:space="preserve">Mode Split: Demo 2 minutes (CAPTURED) + Reflection 2 minutes</a:t>
            </a:r>
          </a:p>
          <a:p>
            <a:r>
              <a:t xml:space="preserve"/>
            </a:r>
          </a:p>
          <a:p>
            <a:r>
              <a:t xml:space="preserve">Primary Message: TRIAL-004에서는 필요한 정보와 무관한 정보가 함께 있었지만, Agent 혼란이나 Context 관련 실패는 관찰되지 않았다.</a:t>
            </a:r>
          </a:p>
          <a:p>
            <a:r>
              <a:t xml:space="preserve"/>
            </a:r>
          </a:p>
          <a:p>
            <a:r>
              <a:t xml:space="preserve">Opening Question: “README build 안내를 고치는 데 어떤 정보가 필요했을까?”</a:t>
            </a:r>
          </a:p>
          <a:p>
            <a:r>
              <a:t xml:space="preserve"/>
            </a:r>
          </a:p>
          <a:p>
            <a:r>
              <a:t xml:space="preserve">Speaker Flow:</a:t>
            </a:r>
          </a:p>
          <a:p>
            <a:r>
              <a:t xml:space="preserve">1. (0:00–1:00 / Demo) S42의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a:r>
              <a:t xml:space="preserve">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a:r>
              <a:t xml:space="preserve">3. (2:00–4:00 / Reflection) 하단 메시지를 짚고 마지막2분을 개인 생각 시간으로 남긴다. 질문이 달라지면 어떤 Context가 필요해지는지 떠올리게 하되 답변·기록·실습을 요구하지 않는다. S44에서 정보의 범위·제공 시점을 정리한다.</a:t>
            </a:r>
          </a:p>
          <a:p>
            <a:r>
              <a:t xml:space="preserve"/>
            </a:r>
          </a:p>
          <a:p>
            <a:r>
              <a:t xml:space="preserve">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a:r>
              <a:t xml:space="preserve"/>
            </a:r>
          </a:p>
          <a:p>
            <a:r>
              <a:t xml:space="preserve">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a:r>
              <a:t xml:space="preserve"/>
            </a:r>
          </a:p>
          <a:p>
            <a:r>
              <a:t xml:space="preserve">보존된 상세 출처: TRIAL-004 · Codex CLI 0.154.0 · 실제 요청 / AGENTS.md 지침 발췌·번역</a:t>
            </a:r>
          </a:p>
          <a:p>
            <a:r>
              <a:t xml:space="preserve"/>
            </a:r>
          </a:p>
          <a:p>
            <a:r>
              <a:t xml:space="preserve">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a:r>
              <a:t xml:space="preserve"/>
            </a:r>
          </a:p>
          <a:p>
            <a:r>
              <a:t xml:space="preserve">보존된 상세 범위: AGENTS.md도 읽음 · 혼란·Context 관련 실패는 관찰되지 않음 · 성능 효과 미측정</a:t>
            </a:r>
          </a:p>
          <a:p>
            <a:r>
              <a:t xml:space="preserve"/>
            </a:r>
          </a:p>
          <a:p>
            <a:r>
              <a:t xml:space="preserve">Beginner Explanation: Correct information can still be unrelated to the current Task.</a:t>
            </a:r>
          </a:p>
          <a:p>
            <a:r>
              <a:t xml:space="preserve"/>
            </a:r>
          </a:p>
          <a:p>
            <a:r>
              <a:t xml:space="preserve">Advanced Insight: Distinguish context relevance from outcome quality; this Trial does not measure a performance effect.</a:t>
            </a:r>
          </a:p>
          <a:p>
            <a:r>
              <a:t xml:space="preserve"/>
            </a:r>
          </a:p>
          <a:p>
            <a:r>
              <a:t xml:space="preserve">C++ Vision Bridge: N/A.</a:t>
            </a:r>
          </a:p>
          <a:p>
            <a:r>
              <a:t xml:space="preserve"/>
            </a:r>
          </a:p>
          <a:p>
            <a:r>
              <a:t xml:space="preserve">Demo Operation: Use the static native reconstruction of the recorded request and relevance comparison for two minutes. No raw execution screenshot or current live product is shown. Preserve the two-minute Reflection; do not run a new Trial or simulate a failure.</a:t>
            </a:r>
          </a:p>
          <a:p>
            <a:r>
              <a:t xml:space="preserve"/>
            </a:r>
          </a:p>
          <a:p>
            <a:r>
              <a:t xml:space="preserve">Audience Interaction: Use the last two minutes for private reflection: which context was relevant to this Task? No response or written exercise is required.</a:t>
            </a:r>
          </a:p>
          <a:p>
            <a:r>
              <a:t xml:space="preserve"/>
            </a:r>
          </a:p>
          <a:p>
            <a:r>
              <a:t xml:space="preserve">Transition: “필요한 정보를 항상 한 번에 넣지 않는 방법은 무엇일까?”</a:t>
            </a:r>
          </a:p>
          <a:p>
            <a:r>
              <a:t xml:space="preserve"/>
            </a:r>
          </a:p>
          <a:p>
            <a:r>
              <a:t xml:space="preserve">Time Management: Protect the two-minute Reflection. Explicitly state the absence of observed confusion before moving on.</a:t>
            </a:r>
          </a:p>
          <a:p>
            <a:r>
              <a:t xml:space="preserve"/>
            </a:r>
          </a:p>
          <a:p>
            <a:r>
              <a:t xml:space="preserve">Fallback:</a:t>
            </a:r>
          </a:p>
          <a:p>
            <a:r>
              <a:t xml:space="preserve">LOCAL STATIC ARTIFACT — production/ACT_2.pptx의 S43 또는 production/preview/act2/S43.png를 사용한다. 최종 패키지·PNG·Notes 일치는 production/evaluation/S37_AGENTS_CONTEXT_REVISION.md와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S44 — 정보의 범위와 제공 시점</a:t>
            </a:r>
          </a:p>
          <a:p>
            <a:r>
              <a:t xml:space="preserve"/>
            </a:r>
          </a:p>
          <a:p>
            <a:r>
              <a:t xml:space="preserve">Slide ID:</a:t>
            </a:r>
          </a:p>
          <a:p>
            <a:r>
              <a:t xml:space="preserve">S44</a:t>
            </a:r>
          </a:p>
          <a:p>
            <a:r>
              <a:t xml:space="preserve"/>
            </a:r>
          </a:p>
          <a:p>
            <a:r>
              <a:t xml:space="preserve">Working Title: 정보의 범위와 제공 시점</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공통 안내와 작업별 상세는 범위·제공 시점을 나눌 수 있다. 반복되는 수행 절차의 유지 방법은 다음 ACT에서 검토할 질문으로 남긴다.</a:t>
            </a:r>
          </a:p>
          <a:p>
            <a:r>
              <a:t xml:space="preserve"/>
            </a:r>
          </a:p>
          <a:p>
            <a:r>
              <a:t xml:space="preserve">Opening Question: “무엇은 항상 필요하고, 무엇은 Task에 따라 찾아야 할까?”</a:t>
            </a:r>
          </a:p>
          <a:p>
            <a:r>
              <a:t xml:space="preserve"/>
            </a:r>
          </a:p>
          <a:p>
            <a:r>
              <a:t xml:space="preserve">Speaker Flow: 1. (0–1분) 앞 장 AGENTS.md에서 모든 상세가 이번 작업에 필요하지 않았음을 회수한다.</a:t>
            </a:r>
          </a:p>
          <a:p>
            <a:r>
              <a:t xml:space="preserve">2. (1–3분) 공통 안내와 질문별 상세를 필요한 범위·시점으로 나눈다.</a:t>
            </a:r>
          </a:p>
          <a:p>
            <a:r>
              <a:t xml:space="preserve">3. (3–4분) 오른쪽 절차는 아직 남은 질문임을 짚고 해결책을 소개하지 않는다. 다음은 “정보를 넣음”과 “근거를 활용함”의 차이에 관한 연구 질문이다.</a:t>
            </a:r>
          </a:p>
          <a:p>
            <a:r>
              <a:t xml:space="preserve"/>
            </a:r>
          </a:p>
          <a:p>
            <a:r>
              <a:t xml:space="preserve">Evidence / Source: BEAT-012, BEAT-014, STATE-02, CLM-0014, CLM-0015, CLM-0003, CLM-0005, DEC-0051. TEACHING_MODEL / CONCEPTUAL. S44/TRIAL-004의 관련성 관찰을 회수한 설계 모델이다. 도식의 작업별 상세 연결과 성능 절차는 설명용 구성이고 새 Product 관찰·Trial이 아니다.</a:t>
            </a:r>
          </a:p>
          <a:p>
            <a:r>
              <a:t xml:space="preserve"/>
            </a:r>
          </a:p>
          <a:p>
            <a:r>
              <a:t xml:space="preserve">보존된 상세 출처: 교육용 구분 · 정보의 범위와 수행 방법은 서로 다른 축</a:t>
            </a:r>
          </a:p>
          <a:p>
            <a:r>
              <a:t xml:space="preserve"/>
            </a:r>
          </a:p>
          <a:p>
            <a:r>
              <a:t xml:space="preserve">Claim Boundary:</a:t>
            </a:r>
          </a:p>
          <a:p>
            <a:r>
              <a:t xml:space="preserve">FROZEN — 93장 구조·Story·시간·Demo 범위; TEACHING_MODEL; CONCEPTUAL. OpenAI의 공식 분류 체계로 표현하지 않는다. S43의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a:r>
              <a:t xml:space="preserve"/>
            </a:r>
          </a:p>
          <a:p>
            <a:r>
              <a:t xml:space="preserve">보존된 상세 범위: 공식 제품 분류가 아님 · 오른쪽은 다음 ACT의 미해결 질문</a:t>
            </a:r>
          </a:p>
          <a:p>
            <a:r>
              <a:t xml:space="preserve"/>
            </a:r>
          </a:p>
          <a:p>
            <a:r>
              <a:t xml:space="preserve">Beginner Explanation: Some facts apply broadly; details matter for a smaller set of Tasks; a work procedure says how to approach a class of work.</a:t>
            </a:r>
          </a:p>
          <a:p>
            <a:r>
              <a:t xml:space="preserve"/>
            </a:r>
          </a:p>
          <a:p>
            <a:r>
              <a:t xml:space="preserve">Advanced Insight: Keep durable facts, selectively needed details, and workflow responsibility conceptually distinct even when they can all appear outside a Task Prompt.</a:t>
            </a:r>
          </a:p>
          <a:p>
            <a:r>
              <a:t xml:space="preserve"/>
            </a:r>
          </a:p>
          <a:p>
            <a:r>
              <a:t xml:space="preserve">C++ Vision Bridge: N/A.</a:t>
            </a:r>
          </a:p>
          <a:p>
            <a:r>
              <a:t xml:space="preserve"/>
            </a:r>
          </a:p>
          <a:p>
            <a:r>
              <a:t xml:space="preserve">Demo Operation: N/A.</a:t>
            </a:r>
          </a:p>
          <a:p>
            <a:r>
              <a:t xml:space="preserve"/>
            </a:r>
          </a:p>
          <a:p>
            <a:r>
              <a:t xml:space="preserve">Audience Interaction: Ask the audience to notice that information has different scopes; no category-writing exercise is required.</a:t>
            </a:r>
          </a:p>
          <a:p>
            <a:r>
              <a:t xml:space="preserve"/>
            </a:r>
          </a:p>
          <a:p>
            <a:r>
              <a:t xml:space="preserve">Transition: “정보를 제공했다는 사실과 필요한 근거를 활용했다는 사실을 구분해야 할까요? 두 연구가 실제로 확인한 질문을 각각 보겠습니다.”</a:t>
            </a:r>
          </a:p>
          <a:p>
            <a:r>
              <a:t xml:space="preserve"/>
            </a:r>
          </a:p>
          <a:p>
            <a:r>
              <a:t xml:space="preserve">Time Management:</a:t>
            </a:r>
          </a:p>
          <a:p>
            <a:r>
              <a:t xml:space="preserve">S43 회수30초, 공통 안내1분, 요청별 상세1분, 재사용 절차1분, 경계·S45 연결30초로 Lecture4분을 유지한다. 제품 기능이나 Skill 호출 설명으로 확장하지 않는다.</a:t>
            </a:r>
          </a:p>
          <a:p>
            <a:r>
              <a:t xml:space="preserve"/>
            </a:r>
          </a:p>
          <a:p>
            <a:r>
              <a:t xml:space="preserve">Fallback:</a:t>
            </a:r>
          </a:p>
          <a:p>
            <a:r>
              <a:t xml:space="preserve">LOCAL STATIC ARTIFACT — production/ACT_2.pptx의 S44 또는 production/preview/act2/S44.png를 사용한다. 최종 패키지·PNG·Notes 일치는 production/evaluation/S38_CONTEXT_MODEL_REVISION.md와 검증 JSON을 따른다. 실제 Trial 캡처나 현재 제품 실행으로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S45 — 많이 담아도 같은 근거를 똑같이 쓰는가?</a:t>
            </a:r>
          </a:p>
          <a:p>
            <a:r>
              <a:t xml:space="preserve"/>
            </a:r>
          </a:p>
          <a:p>
            <a:r>
              <a:t xml:space="preserve">Slide ID:</a:t>
            </a:r>
          </a:p>
          <a:p>
            <a:r>
              <a:t xml:space="preserve">S45</a:t>
            </a:r>
          </a:p>
          <a:p>
            <a:r>
              <a:t xml:space="preserve"/>
            </a:r>
          </a:p>
          <a:p>
            <a:r>
              <a:t xml:space="preserve">Working Title: 많이 담아도 같은 근거를 똑같이 쓰는가?</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Lost in the Middle은 문서 QA와 key-value 검색에서 근거 위치를 바꿨을 때 일부 당시 모델·과제의 성능이 달라지는 현상을 관찰했다.</a:t>
            </a:r>
          </a:p>
          <a:p>
            <a:r>
              <a:t xml:space="preserve"/>
            </a:r>
          </a:p>
          <a:p>
            <a:r>
              <a:t xml:space="preserve">Opening Question: “같은 근거가 입력의 어디에 있느냐에 따라 결과가 달랐을까?”</a:t>
            </a:r>
          </a:p>
          <a:p>
            <a:r>
              <a:t xml:space="preserve"/>
            </a:r>
          </a:p>
          <a:p>
            <a:r>
              <a:t xml:space="preserve">Speaker Flow:</a:t>
            </a:r>
          </a:p>
          <a:p>
            <a:r>
              <a:t xml:space="preserve">1. (0:00–1:00) 문서 QA와 합성 key-value 검색 과제에서 같은 근거의 위치를 바꾸는 질문을 설명한다.</a:t>
            </a:r>
          </a:p>
          <a:p>
            <a:r>
              <a:t xml:space="preserve">2. (1:00–3:00) 앞/중간/뒤 도식을 가리키고 당시 일부 모델·과제에서 중간 근거 정답률이 낮아진 관찰을 말한다. 수치 없는 구조 그림을 실제 성능 곡선으로 말하지 않는다.</a:t>
            </a:r>
          </a:p>
          <a:p>
            <a:r>
              <a:t xml:space="preserve">3. (3:00–4:00) 현재 Codex의 일반 실패나 Routing 효과로 확대하지 않는다. 마지막에 필요한 코드에 도달했다는 답을 어떤 근거로 확인할지 S46으로 넘긴다.</a:t>
            </a:r>
          </a:p>
          <a:p>
            <a:r>
              <a:t xml:space="preserve"/>
            </a:r>
          </a:p>
          <a:p>
            <a:r>
              <a:t xml:space="preserve">Evidence / Source: Lost in the Middle, Liu et al., TACL2024,12:157–173; https://aclanthology.org/2024.tacl-1.9/; CLM-0014/SRC-0201; DEC-0052/0060. Reconstructed task-position diagram, no numeric score curve.</a:t>
            </a:r>
          </a:p>
          <a:p>
            <a:r>
              <a:t xml:space="preserve"/>
            </a:r>
          </a:p>
          <a:p>
            <a:r>
              <a:t xml:space="preserve">보존된 상세 출처: Liu et al., TACL 2024 · aclanthology.org/2024.tacl-1.9/ · CLM-0014</a:t>
            </a:r>
          </a:p>
          <a:p>
            <a:r>
              <a:t xml:space="preserve"/>
            </a:r>
          </a:p>
          <a:p>
            <a:r>
              <a:t xml:space="preserve">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a:r>
              <a:t xml:space="preserve"/>
            </a:r>
          </a:p>
          <a:p>
            <a:r>
              <a:t xml:space="preserve">보존된 상세 범위: 연구 과제 재구성 · 현재 Codex의 실패율·보편 한계·Routing 효과를 입증하지 않음</a:t>
            </a:r>
          </a:p>
          <a:p>
            <a:r>
              <a:t xml:space="preserve"/>
            </a:r>
          </a:p>
          <a:p>
            <a:r>
              <a:t xml:space="preserve">Beginner Explanation: 정보가 입력에 있다는 사실만으로 답에 같은 수준으로 활용됐다고 가정하지 않는다. 다음 장에서는 코드 탐색 결과를 확인할 때 어떤 근거를 요구할지 생각한다.</a:t>
            </a:r>
          </a:p>
          <a:p>
            <a:r>
              <a:t xml:space="preserve"/>
            </a:r>
          </a:p>
          <a:p>
            <a:r>
              <a:t xml:space="preserve">Advanced Insight: 당시 연구의 과제·모델별 결과와 이번 업무의 교육용 확인 기준을 분리한다. 현재 제품의 내부 활용이나 효과를 이 연구로 확정하지 않는다.</a:t>
            </a:r>
          </a:p>
          <a:p>
            <a:r>
              <a:t xml:space="preserve"/>
            </a:r>
          </a:p>
          <a:p>
            <a:r>
              <a:t xml:space="preserve">C++ Vision Bridge: N/A.</a:t>
            </a:r>
          </a:p>
          <a:p>
            <a:r>
              <a:t xml:space="preserve"/>
            </a:r>
          </a:p>
          <a:p>
            <a:r>
              <a:t xml:space="preserve">Demo Operation: N/A. 논문 과제의 native 재구성 도식이며 실제 Trial/현재 Codex Screenshot이나 결정론적 실패 Demo가 아니다.</a:t>
            </a:r>
          </a:p>
          <a:p>
            <a:r>
              <a:t xml:space="preserve"/>
            </a:r>
          </a:p>
          <a:p>
            <a:r>
              <a:t xml:space="preserve">Audience Interaction: 같은 근거의 위치만 바꾼 세 입력을 차례로 가리킨다. 다음 장의 코드 확인 질문은 예고만 하고 연구 둘을 병렬로 다시 설명하지 않는다.</a:t>
            </a:r>
          </a:p>
          <a:p>
            <a:r>
              <a:t xml:space="preserve"/>
            </a:r>
          </a:p>
          <a:p>
            <a:r>
              <a:t xml:space="preserve">Transition: “코드에서도 필요한 구현을 찾았다는 답을 무엇으로 확인할까요?”</a:t>
            </a:r>
          </a:p>
          <a:p>
            <a:r>
              <a:t xml:space="preserve"/>
            </a:r>
          </a:p>
          <a:p>
            <a:r>
              <a:t xml:space="preserve">Time Management: 도입/과제1분, 위치 비교/관찰2분, 적용 한계/다음 질문1분으로 Lecture4분. RepoQA 설명 시간을 이 장에 다시 넣지 않는다.</a:t>
            </a:r>
          </a:p>
          <a:p>
            <a:r>
              <a:t xml:space="preserve"/>
            </a:r>
          </a:p>
          <a:p>
            <a:r>
              <a:t xml:space="preserve">Fallback:</a:t>
            </a:r>
          </a:p>
          <a:p>
            <a:r>
              <a:t xml:space="preserve">LOCAL STATIC ARTIFACT — production/ACT_2.pptx / S45; production/preview/act2/S45.png.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S46 — AI가 필요한 코드를 찾았다는 것을 무엇으로 확인할까?</a:t>
            </a:r>
          </a:p>
          <a:p>
            <a:r>
              <a:t xml:space="preserve"/>
            </a:r>
          </a:p>
          <a:p>
            <a:r>
              <a:t xml:space="preserve">Slide ID:</a:t>
            </a:r>
          </a:p>
          <a:p>
            <a:r>
              <a:t xml:space="preserve">S46</a:t>
            </a:r>
          </a:p>
          <a:p>
            <a:r>
              <a:t xml:space="preserve"/>
            </a:r>
          </a:p>
          <a:p>
            <a:r>
              <a:t xml:space="preserve">Working Title: AI가 필요한 코드를 찾았다는 것을 무엇으로 확인할까?</a:t>
            </a:r>
          </a:p>
          <a:p>
            <a:r>
              <a:t xml:space="preserve"/>
            </a:r>
          </a:p>
          <a:p>
            <a:r>
              <a:t xml:space="preserve">ACT / Section: ACT 2 / 2E</a:t>
            </a:r>
          </a:p>
          <a:p>
            <a:r>
              <a:t xml:space="preserve"/>
            </a:r>
          </a:p>
          <a:p>
            <a:r>
              <a:t xml:space="preserve">Allocated Time: 4 minutes</a:t>
            </a:r>
          </a:p>
          <a:p>
            <a:r>
              <a:t xml:space="preserve"/>
            </a:r>
          </a:p>
          <a:p>
            <a:r>
              <a:t xml:space="preserve">Mode Split: Lecture 4 minutes</a:t>
            </a:r>
          </a:p>
          <a:p>
            <a:r>
              <a:t xml:space="preserve"/>
            </a:r>
          </a:p>
          <a:p>
            <a:r>
              <a:t xml:space="preserve">Primary Message: 함수 이름이나 찾았다는 답만 받지 말고 파일·함수·관련 줄, 요청 조건과 코드의 대응, 필요한 호출부·테스트 기대값을 확인한다. 세 질문은 이 교육의 업무용 확인 기준이다.</a:t>
            </a:r>
          </a:p>
          <a:p>
            <a:r>
              <a:t xml:space="preserve"/>
            </a:r>
          </a:p>
          <a:p>
            <a:r>
              <a:t xml:space="preserve">Opening Question: “AI가 필요한 코드를 찾았다는 것을 무엇으로 확인할까?”</a:t>
            </a:r>
          </a:p>
          <a:p>
            <a:r>
              <a:t xml:space="preserve"/>
            </a:r>
          </a:p>
          <a:p>
            <a:r>
              <a:t xml:space="preserve">Speaker Flow:</a:t>
            </a:r>
          </a:p>
          <a:p>
            <a:r>
              <a:t xml:space="preserve">1. (0:00–0:40) S45의 “정보가 있다는 것과 활용했다는 것은 다르다”를 받아, 코드에서도 찾았다는 답을 무엇으로 확인할지 묻는다. 왼쪽 요청은 교육용이며 새 탐색 실행이 아니다.</a:t>
            </a:r>
          </a:p>
          <a:p>
            <a:r>
              <a:t xml:space="preserve">2. (0:40–1:20) 01 위치: 파일 경로·함수·관련 줄을 특정한다. 이름만 같은 함수나 파일 경로만 제시한 답으로는 요청과의 관련성을 확인하기 어렵다.</a:t>
            </a:r>
          </a:p>
          <a:p>
            <a:r>
              <a:t xml:space="preserve">3. (1:20–2:20) 02 동작: 보존된 row[x_start : x_end]를 끝 좌표 제외 명세와 대조한다. 새 코드 실행이나 전체 구현 검증을 했다고 말하지 않는다.</a:t>
            </a:r>
          </a:p>
          <a:p>
            <a:r>
              <a:t xml:space="preserve">4. (2:20–3:20) 03 주변 근거: 필요한 호출부와 테스트 기대값을 연결해 확인하도록 요청한다. 한 코드 줄만으로 전체 구현의 정당성을 확정하지 않는다. 새로운 호출부·테스트 결과는 만들지 않는다.</a:t>
            </a:r>
          </a:p>
          <a:p>
            <a:r>
              <a:t xml:space="preserve">5. (3:20–4:00) 아래의 “확인할 근거를 정했다면, 어디서 찾게 할까?”를 가리킨다. S47의 요청→기본 안내→상세 명세 경로로 넘긴다. RepoQA는 선택 참고이며 정규 발표 흐름에서 소개하지 않는다.</a:t>
            </a:r>
          </a:p>
          <a:p>
            <a:r>
              <a:t xml:space="preserve"/>
            </a:r>
          </a:p>
          <a:p>
            <a:r>
              <a:t xml:space="preserve">Evidence / Source: 화면은 TEACHING_MODEL. 관련 연구는 Notes/참고 자료에만 보존한다.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선택 참고 연구: RepoQA(2024), https://arxiv.org/abs/2406.06025 / CLM-0015 / SRC-0204. DEC-0061/DEC-0105. 참고 해설: references/research/repoqa.md. 정규 발표에서는 연구 소개를 생략하며 이 자료를 세 업무용 질문의 직접 검증 근거로 사용하지 않는다.</a:t>
            </a:r>
          </a:p>
          <a:p>
            <a:r>
              <a:t xml:space="preserve"/>
            </a:r>
          </a:p>
          <a:p>
            <a:r>
              <a:t xml:space="preserve">보존된 상세 출처: 교육용 확인 예 · STATE-00-FIXED crop 발췌 / RepoQA(2024): arxiv.org/abs/2406.06025</a:t>
            </a:r>
          </a:p>
          <a:p>
            <a:r>
              <a:t xml:space="preserve"/>
            </a:r>
          </a:p>
          <a:p>
            <a:r>
              <a:t xml:space="preserve">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a:r>
              <a:t xml:space="preserve"/>
            </a:r>
          </a:p>
          <a:p>
            <a:r>
              <a:t xml:space="preserve">보존된 상세 범위: 세 질문은 교육용 기준 · RepoQA가 이 Routing·현재 Codex의 업무 성능을 검증한 것은 아님</a:t>
            </a:r>
          </a:p>
          <a:p>
            <a:r>
              <a:t xml:space="preserve"/>
            </a:r>
          </a:p>
          <a:p>
            <a:r>
              <a:t xml:space="preserve">Beginner Explanation: 찾았다는 답을 받으면 파일 위치와 관련 코드를 확인하고, 내가 물은 조건에 맞는지 대조한다. 필요한 경우 호출부와 관련 테스트의 기대값도 확인한다.</a:t>
            </a:r>
          </a:p>
          <a:p>
            <a:r>
              <a:t xml:space="preserve"/>
            </a:r>
          </a:p>
          <a:p>
            <a:r>
              <a:t xml:space="preserve">Advanced Insight: 선택 참고(정규 발표 제외).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a:r>
              <a:t xml:space="preserve"/>
            </a:r>
          </a:p>
          <a:p>
            <a:r>
              <a:t xml:space="preserve">C++ Vision Bridge: N/A.</a:t>
            </a:r>
          </a:p>
          <a:p>
            <a:r>
              <a:t xml:space="preserve"/>
            </a:r>
          </a:p>
          <a:p>
            <a:r>
              <a:t xml:space="preserve">Demo Operation: N/A — 정적 교육용 확인 예. 보존된 코드 한 줄을 인용하며 새 Trial, 검색, 설치, 테스트 실행, PASS/FAIL, 실제 Agent 응답 캡처를 만들지 않는다.</a:t>
            </a:r>
          </a:p>
          <a:p>
            <a:r>
              <a:t xml:space="preserve"/>
            </a:r>
          </a:p>
          <a:p>
            <a:r>
              <a:t xml:space="preserve">Audience Interaction: “crop 함수입니다라는 이름만 받으면 충분할까요?”를 짧게 던진 뒤 오른쪽 세 질문을 순서대로 가리킨다. 추가 실습·Q&amp;A·소요 시간을 만들지 않는다.</a:t>
            </a:r>
          </a:p>
          <a:p>
            <a:r>
              <a:t xml:space="preserve"/>
            </a:r>
          </a:p>
          <a:p>
            <a:r>
              <a:t xml:space="preserve">Transition: “확인할 근거를 정했다면, 그 명세와 코드를 어디서 찾게 할까요?”</a:t>
            </a:r>
          </a:p>
          <a:p>
            <a:r>
              <a:t xml:space="preserve"/>
            </a:r>
          </a:p>
          <a:p>
            <a:r>
              <a:t xml:space="preserve">Time Management:</a:t>
            </a:r>
          </a:p>
          <a:p>
            <a:r>
              <a:t xml:space="preserve">Lecture4분 유지. S45 연결40초, 위치 확인40초, 명세·코드 대응60초, 주변 근거60초, S47 연결40초. 논문 소개 시간을 추가하지 않는다. 청중 질문이 있을 때만 선택 참고 자료를 안내하며 별도 강의나 새 실험으로 확장하지 않는다. 실제 리허설 UNVERIFIED.</a:t>
            </a:r>
          </a:p>
          <a:p>
            <a:r>
              <a:t xml:space="preserve"/>
            </a:r>
          </a:p>
          <a:p>
            <a:r>
              <a:t xml:space="preserve">Fallback:</a:t>
            </a:r>
          </a:p>
          <a:p>
            <a:r>
              <a:t xml:space="preserve">LOCAL STATIC ARTIFACT — production/ACT_2.pptx / S46; production/preview/act2/S46.png. 화면은 코드 발췌와 교육용 확인 질문이며 실제 Agent 탐색 실행 캡처가 아니다. 현재 PNG/Notes 대조는 production/evaluation/S47_CODE_CHECK_REVISION.md를 따른다. RepoQA는 Notes와 references/research/repoqa.md의 선택 참고다.</a:t>
            </a:r>
          </a:p>
          <a:p>
            <a:r>
              <a:t xml:space="preserve"/>
            </a:r>
          </a:p>
          <a:p>
            <a:r>
              <a:t xml:space="preserve">Validation Status:</a:t>
            </a:r>
          </a:p>
          <a:p>
            <a:r>
              <a:t xml:space="preserve">DEC-0105 — S45→S46→S47 연결, 화면의 세 확인 질문, 코드 출처와 Notes의 관련 연구 경계를 대조한다. 최종 렌더링/패키지 결과는 production/evaluation/S47_CODE_CHECK_REVISION.md에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S47 — 필요한 상세 정보로 가는 길</a:t>
            </a:r>
          </a:p>
          <a:p>
            <a:r>
              <a:t xml:space="preserve"/>
            </a:r>
          </a:p>
          <a:p>
            <a:r>
              <a:t xml:space="preserve">Slide ID:</a:t>
            </a:r>
          </a:p>
          <a:p>
            <a:r>
              <a:t xml:space="preserve">S47</a:t>
            </a:r>
          </a:p>
          <a:p>
            <a:r>
              <a:t xml:space="preserve"/>
            </a:r>
          </a:p>
          <a:p>
            <a:r>
              <a:t xml:space="preserve">Working Title: 필요한 상세 정보로 가는 길</a:t>
            </a:r>
          </a:p>
          <a:p>
            <a:r>
              <a:t xml:space="preserve"/>
            </a:r>
          </a:p>
          <a:p>
            <a:r>
              <a:t xml:space="preserve">ACT / Section: ACT 2 / 2F</a:t>
            </a:r>
          </a:p>
          <a:p>
            <a:r>
              <a:t xml:space="preserve"/>
            </a:r>
          </a:p>
          <a:p>
            <a:r>
              <a:t xml:space="preserve">Allocated Time: 3 minutes</a:t>
            </a:r>
          </a:p>
          <a:p>
            <a:r>
              <a:t xml:space="preserve"/>
            </a:r>
          </a:p>
          <a:p>
            <a:r>
              <a:t xml:space="preserve">Mode Split: Lecture 3 minutes</a:t>
            </a:r>
          </a:p>
          <a:p>
            <a:r>
              <a:t xml:space="preserve"/>
            </a:r>
          </a:p>
          <a:p>
            <a:r>
              <a:t xml:space="preserve">Primary Message: 작업 질문에서 관련 상세 명세까지 도달할 위치를 기본 안내에서 찾게 설계한다.</a:t>
            </a:r>
          </a:p>
          <a:p>
            <a:r>
              <a:t xml:space="preserve"/>
            </a:r>
          </a:p>
          <a:p>
            <a:r>
              <a:t xml:space="preserve">Opening Question: “이 요청은 어떤 문서를 근거로 답해야 할까?”</a:t>
            </a:r>
          </a:p>
          <a:p>
            <a:r>
              <a:t xml:space="preserve"/>
            </a:r>
          </a:p>
          <a:p>
            <a:r>
              <a:t xml:space="preserve">Speaker Flow: 1. (0:00–0:30) “앞 장에서 위치·동작·주변 근거를 확인할 질문을 정했습니다. 이제 그 근거를 어디서 찾게 할까요?”로 시작한다.</a:t>
            </a:r>
          </a:p>
          <a:p>
            <a:r>
              <a:t xml:space="preserve">2. (0:30–2:10) 요청→AGENTS.md 위치 안내→관련 상세 명세의 관계만 가리킨다. 이 그림은 설계 경로이며 실제 읽기 순서가 아니다.</a:t>
            </a:r>
          </a:p>
          <a:p>
            <a:r>
              <a:t xml:space="preserve">3. (2:10–3:00) C++ 알고리즘 명세에도 같은 위치 안내 패턴을 짧게 연결하고 다음 장의 기본 안내/상세 배치 기준으로 넘긴다.</a:t>
            </a:r>
          </a:p>
          <a:p>
            <a:r>
              <a:t xml:space="preserve"/>
            </a:r>
          </a:p>
          <a:p>
            <a:r>
              <a:t xml:space="preserve">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a:r>
              <a:t xml:space="preserve"/>
            </a:r>
          </a:p>
          <a:p>
            <a:r>
              <a:t xml:space="preserve">보존된 상세 출처: 교육용 탐색 경로 · 저장된 명세 기반 재구성 · 실제 읽기 순서가 아님</a:t>
            </a:r>
          </a:p>
          <a:p>
            <a:r>
              <a:t xml:space="preserve"/>
            </a:r>
          </a:p>
          <a:p>
            <a:r>
              <a:t xml:space="preserve">**Claim Boundary:**</a:t>
            </a:r>
          </a:p>
          <a:p>
            <a:r>
              <a:t xml:space="preserve">FROZEN — 93장 구조·Story·시간·Demo 범위; TEACHING_MODEL; REQUIRES PRODUCT CHECK — 구체적 Windows·shell·IDE·hardware 지시를 추가하는 경우; CONCEPTUAL. Routing으로 성능 향상이나 Token 절약이 입증됐다고 주장하지 않는다. S45–S46의 연구에서 과제별 근거 확인으로 돌아온다. 질문·위치 안내·답변 근거의 서로 다른 역할만 짚고, 다음 장의 배치 기준과 그다음 장의 실제 파일 재구성을 미리 해설하지 않는다.</a:t>
            </a:r>
          </a:p>
          <a:p>
            <a:r>
              <a:t xml:space="preserve"/>
            </a:r>
          </a:p>
          <a:p>
            <a:r>
              <a:t xml:space="preserve">보존된 상세 범위: 자동 탐색·완벽한 선택·성능 향상·토큰 절약을 입증한 그림이 아님</a:t>
            </a:r>
          </a:p>
          <a:p>
            <a:r>
              <a:t xml:space="preserve"/>
            </a:r>
          </a:p>
          <a:p>
            <a:r>
              <a:t xml:space="preserve">Beginner Explanation: 작업 요청에는 궁금한 것을 쓰고, AGENTS.md에는 어느 상세 문서를 볼지 안내한다. 구체적인 답에 필요한 규칙은 그 문서의 명세에서 확인한다.</a:t>
            </a:r>
          </a:p>
          <a:p>
            <a:r>
              <a:t xml:space="preserve"/>
            </a:r>
          </a:p>
          <a:p>
            <a:r>
              <a:t xml:space="preserve">Advanced Insight: 위치 안내와 상세 명세를 분리하면 발견성·유지 비용을 설계할 수 있다. 실제로 무엇을 읽고 활용했는지는 별도 관찰·검증 문제이며 이 도식만으로 성공을 보장하지 않는다.</a:t>
            </a:r>
          </a:p>
          <a:p>
            <a:r>
              <a:t xml:space="preserve"/>
            </a:r>
          </a:p>
          <a:p>
            <a:r>
              <a:t xml:space="preserve">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a:r>
              <a:t xml:space="preserve"/>
            </a:r>
          </a:p>
          <a:p>
            <a:r>
              <a:t xml:space="preserve">Demo Operation: N/A. 하나의 native 교육용 안내 관계도다. 실제 STATE-03 문서 분리 구조와 TRIAL-005 접근 기록은 뒤 구간에 남긴다.</a:t>
            </a:r>
          </a:p>
          <a:p>
            <a:r>
              <a:t xml:space="preserve"/>
            </a:r>
          </a:p>
          <a:p>
            <a:r>
              <a:t xml:space="preserve">Audience Interaction: 작업 질문, 위치 안내, 상세 명세를 순서대로 가리켜 각자의 역할을 구분한다. 새 실습이나 토론 시간을 추가하지 않는다.</a:t>
            </a:r>
          </a:p>
          <a:p>
            <a:r>
              <a:t xml:space="preserve"/>
            </a:r>
          </a:p>
          <a:p>
            <a:r>
              <a:t xml:space="preserve">Transition: “그렇다면 기본 안내와 상세를 나눌 기준은 무엇일까요?”</a:t>
            </a:r>
          </a:p>
          <a:p>
            <a:r>
              <a:t xml:space="preserve"/>
            </a:r>
          </a:p>
          <a:p>
            <a:r>
              <a:t xml:space="preserve">Time Management: 도입30초, 관계도100초, C++ 패턴과 다음 질문50초로3분을 유지한다. 시간이 부족하면 C++ 설명을 줄이고 작업 질문·안내·명세의 구분과 실제 읽기 순서가 아니라는 경계를 남긴다.</a:t>
            </a:r>
          </a:p>
          <a:p>
            <a:r>
              <a:t xml:space="preserve"/>
            </a:r>
          </a:p>
          <a:p>
            <a:r>
              <a:t xml:space="preserve">Fallback:</a:t>
            </a:r>
          </a:p>
          <a:p>
            <a:r>
              <a:t xml:space="preserve">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a:r>
              <a:t xml:space="preserve"/>
            </a:r>
          </a:p>
          <a:p>
            <a:r>
              <a:t xml:space="preserve">Validation Status:</a:t>
            </a:r>
          </a:p>
          <a:p>
            <a:r>
              <a:t xml:space="preserve">REVIEWED — DEC-0061의 질문·기존 코드 인용·보조 연구·S45/S44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S48 — AGENTS.md에는 무엇을 남길까?</a:t>
            </a:r>
          </a:p>
          <a:p>
            <a:r>
              <a:t xml:space="preserve"/>
            </a:r>
          </a:p>
          <a:p>
            <a:r>
              <a:t xml:space="preserve">Slide ID:</a:t>
            </a:r>
          </a:p>
          <a:p>
            <a:r>
              <a:t xml:space="preserve">S48</a:t>
            </a:r>
          </a:p>
          <a:p>
            <a:r>
              <a:t xml:space="preserve"/>
            </a:r>
          </a:p>
          <a:p>
            <a:r>
              <a:t xml:space="preserve">Working Title: AGENTS.md에는 무엇을 남길까?</a:t>
            </a:r>
          </a:p>
          <a:p>
            <a:r>
              <a:t xml:space="preserve"/>
            </a:r>
          </a:p>
          <a:p>
            <a:r>
              <a:t xml:space="preserve">ACT / Section: ACT 2 / 2F</a:t>
            </a:r>
          </a:p>
          <a:p>
            <a:r>
              <a:t xml:space="preserve"/>
            </a:r>
          </a:p>
          <a:p>
            <a:r>
              <a:t xml:space="preserve">Allocated Time: 4 minutes</a:t>
            </a:r>
          </a:p>
          <a:p>
            <a:r>
              <a:t xml:space="preserve"/>
            </a:r>
          </a:p>
          <a:p>
            <a:r>
              <a:t xml:space="preserve">Mode Split: Lecture 4 minutes</a:t>
            </a:r>
          </a:p>
          <a:p>
            <a:r>
              <a:t xml:space="preserve"/>
            </a:r>
          </a:p>
          <a:p>
            <a:r>
              <a:t xml:space="preserve">Primary Message: 여러 작업의 출발점이 되는 안내는 공통 위치에, 특정 질문의 깊은 명세는 관련 상세에 두고 참조 위치를 남긴다.</a:t>
            </a:r>
          </a:p>
          <a:p>
            <a:r>
              <a:t xml:space="preserve"/>
            </a:r>
          </a:p>
          <a:p>
            <a:r>
              <a:t xml:space="preserve">Opening Question: “무엇을 항상 읽고, 무엇을 필요할 때 찾게 할까?”</a:t>
            </a:r>
          </a:p>
          <a:p>
            <a:r>
              <a:t xml:space="preserve"/>
            </a:r>
          </a:p>
          <a:p>
            <a:r>
              <a:t xml:space="preserve">**Speaker Flow:**</a:t>
            </a:r>
          </a:p>
          <a:p>
            <a:r>
              <a:t xml:space="preserve">1. (0–1분) 적용 범위가 여러 Task인지 특정 질문인지 비교한다.</a:t>
            </a:r>
          </a:p>
          <a:p>
            <a:r>
              <a:t xml:space="preserve">2. (1–3분) 기본 방향/공통 제약/실행·검증 진입점은 출발점, 깊은 명세/설정은 관련 작업의 상세로 두는 기준을 설명한다.</a:t>
            </a:r>
          </a:p>
          <a:p>
            <a:r>
              <a:t xml:space="preserve">3. (3–4분) C++ 공통 빌드 진입점과 장비별 조건을 짧게 대조한다. 실제 파일 세 개의 이름은 다음 전후 장에서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S50 이후에 구분한다.</a:t>
            </a:r>
          </a:p>
          <a:p>
            <a:r>
              <a:t xml:space="preserve"/>
            </a:r>
          </a:p>
          <a:p>
            <a:r>
              <a:t xml:space="preserve">보존된 상세 출처: 교육용 배치 기준 · 명령·검증 규칙도 Project 안내에 포함될 수 있음</a:t>
            </a:r>
          </a:p>
          <a:p>
            <a:r>
              <a:t xml:space="preserve"/>
            </a:r>
          </a:p>
          <a:p>
            <a:r>
              <a:t xml:space="preserve">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a:r>
              <a:t xml:space="preserve"/>
            </a:r>
          </a:p>
          <a:p>
            <a:r>
              <a:t xml:space="preserve">보존된 상세 범위: 원칙과 상세의 구분은 유지·참조 설계 · 실제 자동 읽기 결과나 제품의 강제 분류가 아님</a:t>
            </a:r>
          </a:p>
          <a:p>
            <a:r>
              <a:t xml:space="preserve"/>
            </a:r>
          </a:p>
          <a:p>
            <a:r>
              <a:t xml:space="preserve">Beginner Explanation: 여러 작업에서 공통으로 필요한 안내와 그 작업을 해결할 때 자세히 볼 규칙을 나눠둔다. AGENTS.md에는 상세 문서의 위치도 남겨 어디서 확인할지 알 수 있게 한다.</a:t>
            </a:r>
          </a:p>
          <a:p>
            <a:r>
              <a:t xml:space="preserve"/>
            </a:r>
          </a:p>
          <a:p>
            <a:r>
              <a:t xml:space="preserve">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a:r>
              <a:t xml:space="preserve"/>
            </a:r>
          </a:p>
          <a:p>
            <a:r>
              <a:t xml:space="preserve">C++ Vision Bridge: 기본 안내의 빌드·검증 진입점/공통 제약과 관련 상세의 알고리즘 명세/하드웨어 조건을 비교한다. 통합1분 범위이며 도구 목록·구체적 환경 명령·C++ 실행 검증을 추가하지 않는다.</a:t>
            </a:r>
          </a:p>
          <a:p>
            <a:r>
              <a:t xml:space="preserve"/>
            </a:r>
          </a:p>
          <a:p>
            <a:r>
              <a:t xml:space="preserve">**Demo Operation:**</a:t>
            </a:r>
          </a:p>
          <a:p>
            <a:r>
              <a:t xml:space="preserve">N/A. 이 장은 native 정보 배치 모델이다. 실제 문서 분리 전후는 S49, 문서 접근의 관찰과 한계는 S51–S53에 남긴다.</a:t>
            </a:r>
          </a:p>
          <a:p>
            <a:r>
              <a:t xml:space="preserve"/>
            </a:r>
          </a:p>
          <a:p>
            <a:r>
              <a:t xml:space="preserve">Audience Interaction: 상단 질문으로 공통 안내와 특정 작업의 상세를 비교하게 한다. 완전한 분류표를 만들게 하거나 실습·별도 토론 시간을 추가하지 않는다.</a:t>
            </a:r>
          </a:p>
          <a:p>
            <a:r>
              <a:t xml:space="preserve"/>
            </a:r>
          </a:p>
          <a:p>
            <a:r>
              <a:t xml:space="preserve">Transition: “이 기준을 보존된 프로젝트 문서에 실제로 적용한 전후를 보겠습니다.”</a:t>
            </a:r>
          </a:p>
          <a:p>
            <a:r>
              <a:t xml:space="preserve"/>
            </a:r>
          </a:p>
          <a:p>
            <a:r>
              <a:t xml:space="preserve">Time Management: 도입30초, 기본 안내60초, 관련 상세90초, C++ 연결과 Transition60초로4분을 유지한다. 시간이 부족하면 상세 예의 반복 설명을 줄이고 기본 안내/상세 범위와 자동 로딩 미보장 경계를 남긴다.</a:t>
            </a:r>
          </a:p>
          <a:p>
            <a:r>
              <a:t xml:space="preserve"/>
            </a:r>
          </a:p>
          <a:p>
            <a:r>
              <a:t xml:space="preserve">Fallback:</a:t>
            </a:r>
          </a:p>
          <a:p>
            <a:r>
              <a:t xml:space="preserve">LOCAL STATIC ARTIFACT — production/ACT_2.pptx의 S48 또는 production/preview/act2/S48.png를 사용한다. 최종 패키지·PNG·Notes 일치는 production/evaluation/S42_CORE_DETAIL_REVISION.md와 검증 JSON을 따른다. 실제 실행 Screenshot이나 자동 로딩 기록으로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S49 — 정보를 지우지 않고 위치를 나누기</a:t>
            </a:r>
          </a:p>
          <a:p>
            <a:r>
              <a:t xml:space="preserve"/>
            </a:r>
          </a:p>
          <a:p>
            <a:r>
              <a:t xml:space="preserve">Slide ID:</a:t>
            </a:r>
          </a:p>
          <a:p>
            <a:r>
              <a:t xml:space="preserve">S49</a:t>
            </a:r>
          </a:p>
          <a:p>
            <a:r>
              <a:t xml:space="preserve"/>
            </a:r>
          </a:p>
          <a:p>
            <a:r>
              <a:t xml:space="preserve">Working Title: 정보를 지우지 않고 위치를 나누기</a:t>
            </a:r>
          </a:p>
          <a:p>
            <a:r>
              <a:t xml:space="preserve"/>
            </a:r>
          </a:p>
          <a:p>
            <a:r>
              <a:t xml:space="preserve">ACT / Section: ACT 2 / 2F</a:t>
            </a:r>
          </a:p>
          <a:p>
            <a:r>
              <a:t xml:space="preserve"/>
            </a:r>
          </a:p>
          <a:p>
            <a:r>
              <a:t xml:space="preserve">Allocated Time: 5 minutes</a:t>
            </a:r>
          </a:p>
          <a:p>
            <a:r>
              <a:t xml:space="preserve"/>
            </a:r>
          </a:p>
          <a:p>
            <a:r>
              <a:t xml:space="preserve">Mode Split: Lecture 2 minutes + Demo 2 minutes (CAPTURED) + Case 1 minute</a:t>
            </a:r>
          </a:p>
          <a:p>
            <a:r>
              <a:t xml:space="preserve"/>
            </a:r>
          </a:p>
          <a:p>
            <a:r>
              <a:t xml:space="preserve">Primary Message: STATE-03은 세부 정보를 삭제하는 변화가 아니라 Scope에 맞는 위치로 옮기는 변화다.</a:t>
            </a:r>
          </a:p>
          <a:p>
            <a:r>
              <a:t xml:space="preserve"/>
            </a:r>
          </a:p>
          <a:p>
            <a:r>
              <a:t xml:space="preserve">Opening Question: “정보를 나누면 무엇이 바뀌고, 무엇을 그대로 보존해야 할까?”</a:t>
            </a:r>
          </a:p>
          <a:p>
            <a:r>
              <a:t xml:space="preserve"/>
            </a:r>
          </a:p>
          <a:p>
            <a:r>
              <a:t xml:space="preserve">Speaker Flow: 1. (0–2분, Lecture) 앞 장의 기준을 실제 문서 변화에 적용했음을 설명한다.</a:t>
            </a:r>
          </a:p>
          <a:p>
            <a:r>
              <a:t xml:space="preserve">2. (2–4분, Demo/CAPTURED) 보존된 State 문서의 A/B/C 핵심 주제가 각 상세 파일로 간 대응과 기본 안내·참조 위치 추가를 확인한다.</a:t>
            </a:r>
          </a:p>
          <a:p>
            <a:r>
              <a:t xml:space="preserve">3. (4–5분, Case) 문자 그대로 복사한 것이 아니라 재서술·상세화도 있었다고 말한다. 정보가 사라지지 않았는지 대조하는 책임을 회수한다.</a:t>
            </a:r>
          </a:p>
          <a:p>
            <a:r>
              <a:t xml:space="preserve"/>
            </a:r>
          </a:p>
          <a:p>
            <a:r>
              <a:t xml:space="preserve">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a:r>
              <a:t xml:space="preserve"/>
            </a:r>
          </a:p>
          <a:p>
            <a:r>
              <a:t xml:space="preserve">보존된 상세 출처: STATE-02 → STATE-03 · 실제 문서 재구성의 요약 · 원본 실행 화면 아님</a:t>
            </a:r>
          </a:p>
          <a:p>
            <a:r>
              <a:t xml:space="preserve"/>
            </a:r>
          </a:p>
          <a:p>
            <a:r>
              <a:t xml:space="preserve">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a:r>
              <a:t xml:space="preserve"/>
            </a:r>
          </a:p>
          <a:p>
            <a:r>
              <a:t xml:space="preserve">보존된 상세 범위: 핵심 정보 보존·재서술/상세화 포함 · 자동 탐색·성능·토큰 효과는 미검증</a:t>
            </a:r>
          </a:p>
          <a:p>
            <a:r>
              <a:t xml:space="preserve"/>
            </a:r>
          </a:p>
          <a:p>
            <a:r>
              <a:t xml:space="preserve">Beginner Explanation: 기본 안내는 남겨두고 자세한 규칙을 주제별 문서로 옮겼다. 기존에 중요했던 정보가 어디로 갔는지 A/B/C를 따라 확인할 수 있다.</a:t>
            </a:r>
          </a:p>
          <a:p>
            <a:r>
              <a:t xml:space="preserve"/>
            </a:r>
          </a:p>
          <a:p>
            <a:r>
              <a:t xml:space="preserve">Advanced Insight: 핵심 사실 보존, 문구 재서술·상세화, 안내 경로 추가를 구분한다. 문서 배치의 변화와 실제 Agent의 근거 접근·활용은 다른 관찰 대상이다.</a:t>
            </a:r>
          </a:p>
          <a:p>
            <a:r>
              <a:t xml:space="preserve"/>
            </a:r>
          </a:p>
          <a:p>
            <a:r>
              <a:t xml:space="preserve">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a:r>
              <a:t xml:space="preserve"/>
            </a:r>
          </a:p>
          <a:p>
            <a:r>
              <a:t xml:space="preserve">**Demo Operation:**</a:t>
            </a:r>
          </a:p>
          <a:p>
            <a:r>
              <a:t xml:space="preserve">CAPTURED / RECONSTRUCTED EVIDENCE — 고정된 STATE-02→STATE-03 문서 구조 기록의 native 재구성 도식을2분간 비교한다. 원본 Screenshot이나 현재 제품 실행이 아니다. 실제 문서 접근 결과는 S51–S53에 남기고 Live 탐색은 하지 않는다.</a:t>
            </a:r>
          </a:p>
          <a:p>
            <a:r>
              <a:t xml:space="preserve"/>
            </a:r>
          </a:p>
          <a:p>
            <a:r>
              <a:t xml:space="preserve">Audience Interaction: Case1분에 정보를 나눠도 무엇이 남아야 하는지 비교 질문을 던진다. 공개 답변 없이 생각해도 되며 실습이나 별도 시간을 추가하지 않는다.</a:t>
            </a:r>
          </a:p>
          <a:p>
            <a:r>
              <a:t xml:space="preserve"/>
            </a:r>
          </a:p>
          <a:p>
            <a:r>
              <a:t xml:space="preserve">Transition: “파일 구조를 나눴으니, 실제 두 요청은 어떤 근거를 열었는지 관찰하겠습니다.”</a:t>
            </a:r>
          </a:p>
          <a:p>
            <a:r>
              <a:t xml:space="preserve"/>
            </a:r>
          </a:p>
          <a:p>
            <a:r>
              <a:t xml:space="preserve">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a:r>
              <a:t xml:space="preserve"/>
            </a:r>
          </a:p>
          <a:p>
            <a:r>
              <a:t xml:space="preserve">Fallback:</a:t>
            </a:r>
          </a:p>
          <a:p>
            <a:r>
              <a:t xml:space="preserve">LOCAL STATIC ARTIFACT — production/ACT_2.pptx의 S49 또는 production/preview/full/S49.png, production/preview/act2/S49.png를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S50 — 서로 다른 두 Task가 무엇을 읽을까?</a:t>
            </a:r>
          </a:p>
          <a:p>
            <a:r>
              <a:t xml:space="preserve"/>
            </a:r>
          </a:p>
          <a:p>
            <a:r>
              <a:t xml:space="preserve">Slide ID:</a:t>
            </a:r>
          </a:p>
          <a:p>
            <a:r>
              <a:t xml:space="preserve">S50</a:t>
            </a:r>
          </a:p>
          <a:p>
            <a:r>
              <a:t xml:space="preserve"/>
            </a:r>
          </a:p>
          <a:p>
            <a:r>
              <a:t xml:space="preserve">Working Title: 서로 다른 두 Task가 무엇을 읽을까?</a:t>
            </a:r>
          </a:p>
          <a:p>
            <a:r>
              <a:t xml:space="preserve"/>
            </a:r>
          </a:p>
          <a:p>
            <a:r>
              <a:t xml:space="preserve">ACT / Section: ACT 2 / 2G</a:t>
            </a:r>
          </a:p>
          <a:p>
            <a:r>
              <a:t xml:space="preserve"/>
            </a:r>
          </a:p>
          <a:p>
            <a:r>
              <a:t xml:space="preserve">Allocated Time: 2 minutes</a:t>
            </a:r>
          </a:p>
          <a:p>
            <a:r>
              <a:t xml:space="preserve"/>
            </a:r>
          </a:p>
          <a:p>
            <a:r>
              <a:t xml:space="preserve">Mode Split: Lecture 2 minutes</a:t>
            </a:r>
          </a:p>
          <a:p>
            <a:r>
              <a:t xml:space="preserve"/>
            </a:r>
          </a:p>
          <a:p>
            <a:r>
              <a:t xml:space="preserve">Primary Message: 관련 정보 접근을 확인하려면 Task별 실제 접근을 살펴봐야 한다.</a:t>
            </a:r>
          </a:p>
          <a:p>
            <a:r>
              <a:t xml:space="preserve"/>
            </a:r>
          </a:p>
          <a:p>
            <a:r>
              <a:t xml:space="preserve">Opening Question: “정답을 말하는 것과 실제 근거 접근을 확인하는 것은 어떻게 다를까?”</a:t>
            </a:r>
          </a:p>
          <a:p>
            <a:r>
              <a:t xml:space="preserve"/>
            </a:r>
          </a:p>
          <a:p>
            <a:r>
              <a:t xml:space="preserve">Speaker Flow: 1. (0–1분) A/B 실제 요청 핵심 발췌·번역과 읽기 전용 조건을 읽는다.</a:t>
            </a:r>
          </a:p>
          <a:p>
            <a:r>
              <a:t xml:space="preserve">2. (1–2분) crop 정답을 맞히는 퀴즈가 아니라 어떤 근거를 열고 답에 연결했는지를 관찰한다고 안내한다. A와 B의 답은 각각 다음 두 장, 접근 차이는 그다음 장에서 회수한다.</a:t>
            </a:r>
          </a:p>
          <a:p>
            <a:r>
              <a:t xml:space="preserve"/>
            </a:r>
          </a:p>
          <a:p>
            <a:r>
              <a:t xml:space="preserve">**Evidence / Source:**</a:t>
            </a:r>
          </a:p>
          <a:p>
            <a:r>
              <a:t xml:space="preserve">OBSERVED_PRODUCT setup; outcomes remain on S52–S53.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a:r>
              <a:t xml:space="preserve"/>
            </a:r>
          </a:p>
          <a:p>
            <a:r>
              <a:t xml:space="preserve">보존된 상세 출처: TRIAL-005A/B · Codex CLI 0.154.0 · 실제 요청의 핵심 발췌·번역</a:t>
            </a:r>
          </a:p>
          <a:p>
            <a:r>
              <a:t xml:space="preserve"/>
            </a:r>
          </a:p>
          <a:p>
            <a:r>
              <a:t xml:space="preserve">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a:r>
              <a:t xml:space="preserve"/>
            </a:r>
          </a:p>
          <a:p>
            <a:r>
              <a:t xml:space="preserve">보존된 상세 범위: 프롬프트창 재구성 · 현재 Desktop 검증 아님 · 문서 접근 결과는 다음 구간에서 확인</a:t>
            </a:r>
          </a:p>
          <a:p>
            <a:r>
              <a:t xml:space="preserve"/>
            </a:r>
          </a:p>
          <a:p>
            <a:r>
              <a:t xml:space="preserve">Beginner Explanation: 질문의 목적이 달라도 실제로 어떤 자료를 확인했는지는 기록을 봐야 한다. A는 이미지 동작, B는 실행에 필요한 의존성을 묻지만 어느 파일을 읽었는지는 아직 답하지 않는다.</a:t>
            </a:r>
          </a:p>
          <a:p>
            <a:r>
              <a:t xml:space="preserve"/>
            </a:r>
          </a:p>
          <a:p>
            <a:r>
              <a:t xml:space="preserve">Advanced Insight: 구조에서 예상하는 경로와 실제 접근/답변 근거를 구분한다. 공통 접근과 요청별 차이, 기록으로 확인할 수 있는 범위에 집중하며 통제된 성능 비교 실험으로 취급하지 않는다.</a:t>
            </a:r>
          </a:p>
          <a:p>
            <a:r>
              <a:t xml:space="preserve"/>
            </a:r>
          </a:p>
          <a:p>
            <a:r>
              <a:t xml:space="preserve">C++ Vision Bridge: N/A.</a:t>
            </a:r>
          </a:p>
          <a:p>
            <a:r>
              <a:t xml:space="preserve"/>
            </a:r>
          </a:p>
          <a:p>
            <a:r>
              <a:t xml:space="preserve">**Demo Operation:**</a:t>
            </a:r>
          </a:p>
          <a:p>
            <a:r>
              <a:t xml:space="preserve">N/A — TRIAL-005A/B 관찰 준비 장이다. 새 요청을 입력하거나 실행하지 않고 정적 프롬프트창2개로 실제 요청의 의미를 비교한다. S51–S53의 기록과 한계를 미리 공개하지 않는다.</a:t>
            </a:r>
          </a:p>
          <a:p>
            <a:r>
              <a:t xml:space="preserve"/>
            </a:r>
          </a:p>
          <a:p>
            <a:r>
              <a:t xml:space="preserve">Audience Interaction: 관찰 질문3개를 기억하도록 안내한다. 특정 문서 선택이나 정답 발표를 요구하지 않으며 별도 실습·토론 시간을 추가하지 않는다.</a:t>
            </a:r>
          </a:p>
          <a:p>
            <a:r>
              <a:t xml:space="preserve"/>
            </a:r>
          </a:p>
          <a:p>
            <a:r>
              <a:t xml:space="preserve">Transition: “먼저 요청 A에서 실제로 읽은 문서와 답변 근거를 확인합니다.”</a:t>
            </a:r>
          </a:p>
          <a:p>
            <a:r>
              <a:t xml:space="preserve"/>
            </a:r>
          </a:p>
          <a:p>
            <a:r>
              <a:t xml:space="preserve">Time Management: 구조/관찰 구분20초, 두 요청60초, 관찰 질문과 전환40초로2분을 유지한다. 시간이 부족하면 원문의 재낭독을 줄이고 읽기 전용/근거 조건과 결과 미공개를 유지한다.</a:t>
            </a:r>
          </a:p>
          <a:p>
            <a:r>
              <a:t xml:space="preserve"/>
            </a:r>
          </a:p>
          <a:p>
            <a:r>
              <a:t xml:space="preserve">Fallback:</a:t>
            </a:r>
          </a:p>
          <a:p>
            <a:r>
              <a:t xml:space="preserve">LOCAL STATIC ARTIFACT — production/ACT_2.pptx의 S50 또는 production/preview/act2/S50.png를 사용한다. 최종 패키지·PNG·Notes 일치는 production/evaluation/S44_PROMPT_WATCH_REVISION.md와 검증 JSON을 따른다. 실제 실행 캡처나 현재 제품의 입력 화면으로 표현하지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S51 — Crop Task에서 관찰한 접근</a:t>
            </a:r>
          </a:p>
          <a:p>
            <a:r>
              <a:t xml:space="preserve"/>
            </a:r>
          </a:p>
          <a:p>
            <a:r>
              <a:t xml:space="preserve">Slide ID:</a:t>
            </a:r>
          </a:p>
          <a:p>
            <a:r>
              <a:t xml:space="preserve">S51</a:t>
            </a:r>
          </a:p>
          <a:p>
            <a:r>
              <a:t xml:space="preserve"/>
            </a:r>
          </a:p>
          <a:p>
            <a:r>
              <a:t xml:space="preserve">Working Title: Crop Task에서 관찰한 접근</a:t>
            </a:r>
          </a:p>
          <a:p>
            <a:r>
              <a:t xml:space="preserve"/>
            </a:r>
          </a:p>
          <a:p>
            <a:r>
              <a:t xml:space="preserve">ACT / Section: ACT 2 / 2G</a:t>
            </a:r>
          </a:p>
          <a:p>
            <a:r>
              <a:t xml:space="preserve"/>
            </a:r>
          </a:p>
          <a:p>
            <a:r>
              <a:t xml:space="preserve">Allocated Time: 5 minutes</a:t>
            </a:r>
          </a:p>
          <a:p>
            <a:r>
              <a:t xml:space="preserve"/>
            </a:r>
          </a:p>
          <a:p>
            <a:r>
              <a:t xml:space="preserve">Mode Split: Case 5 minutes</a:t>
            </a:r>
          </a:p>
          <a:p>
            <a:r>
              <a:t xml:space="preserve"/>
            </a:r>
          </a:p>
          <a:p>
            <a:r>
              <a:t xml:space="preserve">Primary Message: TRIAL-005A의 최종 실행에서 image contract 문서 접근과 함께 정확한 crop 결과를 관찰했다.</a:t>
            </a:r>
          </a:p>
          <a:p>
            <a:r>
              <a:t xml:space="preserve"/>
            </a:r>
          </a:p>
          <a:p>
            <a:r>
              <a:t xml:space="preserve">Opening Question: “Crop 명세를 묻는 Task에서 어떤 문서를 읽었고, 어떤 답을 얻었을까?”</a:t>
            </a:r>
          </a:p>
          <a:p>
            <a:r>
              <a:t xml:space="preserve"/>
            </a:r>
          </a:p>
          <a:p>
            <a:r>
              <a:t xml:space="preserve">Speaker Flow: 1. (0–1분) A 요청의 질문을 짧게 회수한다.</a:t>
            </a:r>
          </a:p>
          <a:p>
            <a:r>
              <a:t xml:space="preserve">2. (1–3분) 실제 접근 문서 요약 중 명세 문서를 가리키고, 그 명세와 기록된 열1·2/폭2/끝3제외 답의 일치를 확인한다.</a:t>
            </a:r>
          </a:p>
          <a:p>
            <a:r>
              <a:t xml:space="preserve">3. (3–5분) 소스·관련 테스트·넓은 문서도 읽었으며 testing.md는 최종 실행에서 관찰했다는 범위를 설명한다. 반개구간 문법 강의·로그 전문 낭독을 하지 않는다.</a:t>
            </a:r>
          </a:p>
          <a:p>
            <a:r>
              <a:t xml:space="preserve"/>
            </a:r>
          </a:p>
          <a:p>
            <a:r>
              <a:t xml:space="preserve">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a:r>
              <a:t xml:space="preserve"/>
            </a:r>
          </a:p>
          <a:p>
            <a:r>
              <a:t xml:space="preserve">보존된 상세 출처: TRIAL-005A 최종 실행 · Codex CLI 0.154.0 · 문서 접근과 답을 요약·재구성</a:t>
            </a:r>
          </a:p>
          <a:p>
            <a:r>
              <a:t xml:space="preserve"/>
            </a:r>
          </a:p>
          <a:p>
            <a:r>
              <a:t xml:space="preserve">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a:r>
              <a:t xml:space="preserve"/>
            </a:r>
          </a:p>
          <a:p>
            <a:r>
              <a:t xml:space="preserve">보존된 상세 범위: * testing.md는 최종 실행에서 관찰(이전 실행과 다름) · 현재 Desktop 검증 아님</a:t>
            </a:r>
          </a:p>
          <a:p>
            <a:r>
              <a:t xml:space="preserve"/>
            </a:r>
          </a:p>
          <a:p>
            <a:r>
              <a:t xml:space="preserve">Beginner Explanation: 문서를 열었다는 기록과 그 문서의 명세, 실제 답을 나란히 확인한다. 끝 좌표는 제외하므로 열1과2 두 개가 남는다는 답이 명세와 일치한다.</a:t>
            </a:r>
          </a:p>
          <a:p>
            <a:r>
              <a:t xml:space="preserve"/>
            </a:r>
          </a:p>
          <a:p>
            <a:r>
              <a:t xml:space="preserve">Advanced Insight: Access evidence and answer agreement are separate observations. Broader reads and test-context variability prevent an exclusive causal or efficiency conclusion. The list is not a chronological trace.</a:t>
            </a:r>
          </a:p>
          <a:p>
            <a:r>
              <a:t xml:space="preserve"/>
            </a:r>
          </a:p>
          <a:p>
            <a:r>
              <a:t xml:space="preserve">C++ Vision Bridge: N/A.</a:t>
            </a:r>
          </a:p>
          <a:p>
            <a:r>
              <a:t xml:space="preserve"/>
            </a:r>
          </a:p>
          <a:p>
            <a:r>
              <a:t xml:space="preserve">Demo Operation:</a:t>
            </a:r>
          </a:p>
          <a:p>
            <a:r>
              <a:t xml:space="preserve">RECONSTRUCTED RECORD — 실제 접근 기록과 명세·답의 요약을 S51 정적 화면으로 보여준다. 입력창 Screenshot이나 실행 로그처럼 꾸미지 않는다. 현재 제품에서 명령을 실행하지 않고 전체 접근 로그를 읽지 않는다. Task B의 접근 차이는 S53에서 확인한다.</a:t>
            </a:r>
          </a:p>
          <a:p>
            <a:r>
              <a:t xml:space="preserve"/>
            </a:r>
          </a:p>
          <a:p>
            <a:r>
              <a:t xml:space="preserve">Audience Interaction: 가운데 명세와 오른쪽 열 번호를 보고 ‘끝 좌표3은 포함될까?’를 짧게 확인한 뒤 기록된 답으로 회수한다. 별도 실습·공유·비교 실험은 없다.</a:t>
            </a:r>
          </a:p>
          <a:p>
            <a:r>
              <a:t xml:space="preserve"/>
            </a:r>
          </a:p>
          <a:p>
            <a:r>
              <a:t xml:space="preserve">Transition: “다른 질문인 실행 의존성 요청에서는 어떤 근거로 어떤 답을 얻었을까요?”</a:t>
            </a:r>
          </a:p>
          <a:p>
            <a:r>
              <a:t xml:space="preserve"/>
            </a:r>
          </a:p>
          <a:p>
            <a:r>
              <a:t xml:space="preserve">Time Management:</a:t>
            </a:r>
          </a:p>
          <a:p>
            <a:r>
              <a:t xml:space="preserve">요청·접근 요약1분, 명세1분, 답 대조1분, 넓은 접근·실행 간 차이1분, 한계 회수·S53 연결1분으로 Case5분을 유지한다. 파일명 전체나 Python 구현 문법 설명이 길어지면 줄이고 명세와 열1·2/폭2/끝 제외를 먼저 회수한다.</a:t>
            </a:r>
          </a:p>
          <a:p>
            <a:r>
              <a:t xml:space="preserve"/>
            </a:r>
          </a:p>
          <a:p>
            <a:r>
              <a:t xml:space="preserve">Fallback:</a:t>
            </a:r>
          </a:p>
          <a:p>
            <a:r>
              <a:t xml:space="preserve">LOCAL STATIC ARTIFACT — production/ACT_2.pptx의 S51 또는 production/preview/act2/S51.png가 발표 기본 경로다. 동일한 Full S51·ACT2 PNG·내장 Notes 대조는 production/evaluation/S45_CROP_EVIDENCE_REVISION.md와 검증 JSON에 기록한다. 과거 기록 재구성이며 실제 실행 캡처나 현재 제품 실행으로 표현하지 않는다. Live 승인을 추가하지 않는다.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S52 — 의존성 질문은 설정과 소스로 답했다</a:t>
            </a:r>
          </a:p>
          <a:p>
            <a:r>
              <a:t xml:space="preserve"/>
            </a:r>
          </a:p>
          <a:p>
            <a:r>
              <a:t xml:space="preserve">Slide ID:</a:t>
            </a:r>
          </a:p>
          <a:p>
            <a:r>
              <a:t xml:space="preserve">S52</a:t>
            </a:r>
          </a:p>
          <a:p>
            <a:r>
              <a:t xml:space="preserve"/>
            </a:r>
          </a:p>
          <a:p>
            <a:r>
              <a:t xml:space="preserve">Working Title: 의존성 질문은 설정과 소스로 답했다</a:t>
            </a:r>
          </a:p>
          <a:p>
            <a:r>
              <a:t xml:space="preserve"/>
            </a:r>
          </a:p>
          <a:p>
            <a:r>
              <a:t xml:space="preserve">ACT / Section: ACT 2 / 2G Structured Context</a:t>
            </a:r>
          </a:p>
          <a:p>
            <a:r>
              <a:t xml:space="preserve"/>
            </a:r>
          </a:p>
          <a:p>
            <a:r>
              <a:t xml:space="preserve">Allocated Time: 4 minutes</a:t>
            </a:r>
          </a:p>
          <a:p>
            <a:r>
              <a:t xml:space="preserve"/>
            </a:r>
          </a:p>
          <a:p>
            <a:r>
              <a:t xml:space="preserve">Mode Split: Case 4 minutes</a:t>
            </a:r>
          </a:p>
          <a:p>
            <a:r>
              <a:t xml:space="preserve"/>
            </a:r>
          </a:p>
          <a:p>
            <a:r>
              <a:t xml:space="preserve">Primary Message: TRIAL-005B는 설정·README·소스 등을 확인해 Python/표준 라이브러리 실행 조건과 별도 빌드 도구를 구분하고 third-party runtime dependency가 없다고 답했다.</a:t>
            </a:r>
          </a:p>
          <a:p>
            <a:r>
              <a:t xml:space="preserve"/>
            </a:r>
          </a:p>
          <a:p>
            <a:r>
              <a:t xml:space="preserve">Opening Question: “실행에 필요한 것과 빌드에만 쓰는 도구는 어떻게 구분했을까?”</a:t>
            </a:r>
          </a:p>
          <a:p>
            <a:r>
              <a:t xml:space="preserve"/>
            </a:r>
          </a:p>
          <a:p>
            <a:r>
              <a:t xml:space="preserve">Speaker Flow:</a:t>
            </a:r>
          </a:p>
          <a:p>
            <a:r>
              <a:t xml:space="preserve">1. (0–1분) S50의 실행 의존성 질문을 회수한다.</a:t>
            </a:r>
          </a:p>
          <a:p>
            <a:r>
              <a:t xml:space="preserve">2. (1–3분) 실제 설정/README/소스 확인과 기록된 답을 연결한다. 실행은 Python3.9+표준 라이브러리, 별도 third-party runtime dependency 없음. setuptools/wheel은 빌드/패키징 도구이며 pip는 문서의 빌드 명령에 사용된다.</a:t>
            </a:r>
          </a:p>
          <a:p>
            <a:r>
              <a:t xml:space="preserve">3. (3–4분) 이미지 명세/testing 문서는 열지 않았지만 다른 공통 문서와 소스는 읽었다고 말한다. 새 설치·검증 결과가 아니다. 다음 장에서 접근 표를 비교한다.</a:t>
            </a:r>
          </a:p>
          <a:p>
            <a:r>
              <a:t xml:space="preserve"/>
            </a:r>
          </a:p>
          <a:p>
            <a:r>
              <a:t xml:space="preserve">Evidence / Source: BEAT-016, TRIAL-005B, STATE-03, CLM-0003, CLM-0005, DEC-0060 / OBSERVED_PRODUCT</a:t>
            </a:r>
          </a:p>
          <a:p>
            <a:r>
              <a:t xml:space="preserve"/>
            </a:r>
          </a:p>
          <a:p>
            <a:r>
              <a:t xml:space="preserve">보존된 상세 출처: TRIAL-005B 최종 실행 · Codex CLI 0.154.0 · 실제 접근/답변 기록 요약</a:t>
            </a:r>
          </a:p>
          <a:p>
            <a:r>
              <a:t xml:space="preserve"/>
            </a:r>
          </a:p>
          <a:p>
            <a:r>
              <a:t xml:space="preserve">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a:r>
              <a:t xml:space="preserve"/>
            </a:r>
          </a:p>
          <a:p>
            <a:r>
              <a:t xml:space="preserve">보존된 상세 범위: 과거 읽기 전용 실행의 재구성 · 새 설치 검사·현재 Desktop 검증 결과가 아님</a:t>
            </a:r>
          </a:p>
          <a:p>
            <a:r>
              <a:t xml:space="preserve"/>
            </a:r>
          </a:p>
          <a:p>
            <a:r>
              <a:t xml:space="preserve">Beginner Explanation: 결과 주장을 repository 근거와 연결해 본다.</a:t>
            </a:r>
          </a:p>
          <a:p>
            <a:r>
              <a:t xml:space="preserve"/>
            </a:r>
          </a:p>
          <a:p>
            <a:r>
              <a:t xml:space="preserve">Advanced Insight: 선택적 접근이 관찰됐어도 접근 범위가 완벽히 좁지는 않았음을 확인한다.</a:t>
            </a:r>
          </a:p>
          <a:p>
            <a:r>
              <a:t xml:space="preserve"/>
            </a:r>
          </a:p>
          <a:p>
            <a:r>
              <a:t xml:space="preserve">C++ Vision Bridge: N/A.</a:t>
            </a:r>
          </a:p>
          <a:p>
            <a:r>
              <a:t xml:space="preserve"/>
            </a:r>
          </a:p>
          <a:p>
            <a:r>
              <a:t xml:space="preserve">Demo Operation: CAPTURED SUMMARY / case only. Historical TRIAL-005B final read-only CLI record; no current-product replay or fresh installation. Read this static slide and stop before interpreting the access comparison.</a:t>
            </a:r>
          </a:p>
          <a:p>
            <a:r>
              <a:t xml:space="preserve"/>
            </a:r>
          </a:p>
          <a:p>
            <a:r>
              <a:t xml:space="preserve">Audience Interaction: N/A.</a:t>
            </a:r>
          </a:p>
          <a:p>
            <a:r>
              <a:t xml:space="preserve"/>
            </a:r>
          </a:p>
          <a:p>
            <a:r>
              <a:t xml:space="preserve">Transition: “이제 A와 B의 답이 아니라 실제 문서 접근 목록을 같은 기준으로 비교합니다.”</a:t>
            </a:r>
          </a:p>
          <a:p>
            <a:r>
              <a:t xml:space="preserve"/>
            </a:r>
          </a:p>
          <a:p>
            <a:r>
              <a:t xml:space="preserve">Time Management: Case4분. 패키지 도구 사용법 강의로 확장하지 않는다.</a:t>
            </a:r>
          </a:p>
          <a:p>
            <a:r>
              <a:t xml:space="preserve"/>
            </a:r>
          </a:p>
          <a:p>
            <a:r>
              <a:t xml:space="preserve">Fallback:</a:t>
            </a:r>
          </a:p>
          <a:p>
            <a:r>
              <a:t xml:space="preserve">LOCAL STATIC ARTIFACT — production/ACT_2.pptx / S52; production/preview/act2/S52.png.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S53 — Task별 접근은 달랐지만 완벽하지는 않다</a:t>
            </a:r>
          </a:p>
          <a:p>
            <a:r>
              <a:t xml:space="preserve"/>
            </a:r>
          </a:p>
          <a:p>
            <a:r>
              <a:t xml:space="preserve">Slide ID:</a:t>
            </a:r>
          </a:p>
          <a:p>
            <a:r>
              <a:t xml:space="preserve">S53</a:t>
            </a:r>
          </a:p>
          <a:p>
            <a:r>
              <a:t xml:space="preserve"/>
            </a:r>
          </a:p>
          <a:p>
            <a:r>
              <a:t xml:space="preserve">Working Title: 두 Task에서 상세 문서 접근이 달랐다</a:t>
            </a:r>
          </a:p>
          <a:p>
            <a:r>
              <a:t xml:space="preserve"/>
            </a:r>
          </a:p>
          <a:p>
            <a:r>
              <a:t xml:space="preserve">ACT / Section: ACT 2 / 2G</a:t>
            </a:r>
          </a:p>
          <a:p>
            <a:r>
              <a:t xml:space="preserve"/>
            </a:r>
          </a:p>
          <a:p>
            <a:r>
              <a:t xml:space="preserve">Allocated Time: 7 minutes</a:t>
            </a:r>
          </a:p>
          <a:p>
            <a:r>
              <a:t xml:space="preserve"/>
            </a:r>
          </a:p>
          <a:p>
            <a:r>
              <a:t xml:space="preserve">Mode Split: Demo 1 minute (CAPTURED) + Case 3 minutes + Reflection 2 minutes + Q&amp;A 1 minute</a:t>
            </a:r>
          </a:p>
          <a:p>
            <a:r>
              <a:t xml:space="preserve"/>
            </a:r>
          </a:p>
          <a:p>
            <a:r>
              <a:t xml:space="preserve">Primary Message: Task에 따른 상세 문서 접근 차이는 관찰됐지만 perfect routing, token saving, 성능 향상은 입증되지 않았다.</a:t>
            </a:r>
          </a:p>
          <a:p>
            <a:r>
              <a:t xml:space="preserve"/>
            </a:r>
          </a:p>
          <a:p>
            <a:r>
              <a:t xml:space="preserve">Opening Question: “Task별 차이를 관찰한 것만으로 완벽한 Routing을 말할 수 있을까?”</a:t>
            </a:r>
          </a:p>
          <a:p>
            <a:r>
              <a:t xml:space="preserve"/>
            </a:r>
          </a:p>
          <a:p>
            <a:r>
              <a:t xml:space="preserve">Speaker Flow: 1. (0–1분, Demo/CAPTURED) 최종 기록을 요약한 비교표임을 밝힌다.</a:t>
            </a:r>
          </a:p>
          <a:p>
            <a:r>
              <a:t xml:space="preserve">2. (1–4분, Case) 양쪽 공통3문서와 다른 상세/설정4행만 비교한다. A/B의 정답과 각 문서 역할은 앞 장 설명을 반복하지 않는다.</a:t>
            </a:r>
          </a:p>
          <a:p>
            <a:r>
              <a:t xml:space="preserve">3. (4–6분, Reflection) “접근 차이”와 “효율 개선”을 같은 주장으로 볼 수 있는지 조용히 생각하게 한다.</a:t>
            </a:r>
          </a:p>
          <a:p>
            <a:r>
              <a:t xml:space="preserve">4. (6–7분, Q&amp;A) 한 질문을 받고 최소 선택·일관된 접근 보장·성능/토큰 효과는 미입증임을 회수한다.</a:t>
            </a:r>
          </a:p>
          <a:p>
            <a:r>
              <a:t xml:space="preserve"/>
            </a:r>
          </a:p>
          <a:p>
            <a:r>
              <a:t xml:space="preserve">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a:r>
              <a:t xml:space="preserve"/>
            </a:r>
          </a:p>
          <a:p>
            <a:r>
              <a:t xml:space="preserve">보존된 상세 출처: TRIAL-005A/B 최종 실행 · Codex CLI 0.154.0 · 실제 접근 기록의 요약·재구성</a:t>
            </a:r>
          </a:p>
          <a:p>
            <a:r>
              <a:t xml:space="preserve"/>
            </a:r>
          </a:p>
          <a:p>
            <a:r>
              <a:t xml:space="preserve">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a:r>
              <a:t xml:space="preserve"/>
            </a:r>
          </a:p>
          <a:p>
            <a:r>
              <a:t xml:space="preserve">보존된 상세 범위: * testing.md는 A 최종 실행에서 관찰(이전 A와 다름) · 현재 Desktop 검증 아님</a:t>
            </a:r>
          </a:p>
          <a:p>
            <a:r>
              <a:t xml:space="preserve"/>
            </a:r>
          </a:p>
          <a:p>
            <a:r>
              <a:t xml:space="preserve">Beginner Explanation: 같은 저장소라도 질문에 따라 읽은 상세 정보가 달랐다. 두 열에서 같은 파일과 달랐던 파일을 비교하되 ‘다르게 읽었다’는 기록과 ‘항상 잘 선택한다’는 보장을 구분한다.</a:t>
            </a:r>
          </a:p>
          <a:p>
            <a:r>
              <a:t xml:space="preserve"/>
            </a:r>
          </a:p>
          <a:p>
            <a:r>
              <a:t xml:space="preserve">Advanced Insight: Compare the actual access sets, broader reads and invocation variability. This is not a controlled attribution experiment or a token/performance benchmark. File access and answer support remain separate observations.</a:t>
            </a:r>
          </a:p>
          <a:p>
            <a:r>
              <a:t xml:space="preserve"/>
            </a:r>
          </a:p>
          <a:p>
            <a:r>
              <a:t xml:space="preserve">C++ Vision Bridge: N/A.</a:t>
            </a:r>
          </a:p>
          <a:p>
            <a:r>
              <a:t xml:space="preserve"/>
            </a:r>
          </a:p>
          <a:p>
            <a:r>
              <a:t xml:space="preserve">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a:r>
              <a:t xml:space="preserve"/>
            </a:r>
          </a:p>
          <a:p>
            <a:r>
              <a:t xml:space="preserve">Audience Interaction: Case3분·개인 Reflection2분·Q&amp;A1분을 보호한다. 무응답 시 질문은 ‘이 기록만으로 문서 선택을 보장할 수 있을까요?’이며 관찰과 해석의 한계를 회수한다.</a:t>
            </a:r>
          </a:p>
          <a:p>
            <a:r>
              <a:t xml:space="preserve"/>
            </a:r>
          </a:p>
          <a:p>
            <a:r>
              <a:t xml:space="preserve">Transition: “이 관찰을 포함해, Context를 정리하며 실제로 확인한 성과를 정리하겠습니다.”</a:t>
            </a:r>
          </a:p>
          <a:p>
            <a:r>
              <a:t xml:space="preserve"/>
            </a:r>
          </a:p>
          <a:p>
            <a:r>
              <a:t xml:space="preserve">Time Management: Demo0–1분, Case1–4분, Reflection4–6분, Q&amp;A6–7분으로7분을 유지한다. 설명이 길어지면 공통 파일명과 build 도구의 부연을 줄인다. 관찰/해석 경계와 Reflection2분을 삭제하지 않는다.</a:t>
            </a:r>
          </a:p>
          <a:p>
            <a:r>
              <a:t xml:space="preserve"/>
            </a:r>
          </a:p>
          <a:p>
            <a:r>
              <a:t xml:space="preserve">Fallback:</a:t>
            </a:r>
          </a:p>
          <a:p>
            <a:r>
              <a:t xml:space="preserve">LOCAL STATIC ARTIFACT — production/ACT_2.pptx의 S53 또는 production/preview/full/S53.png를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S54 — Context 정리에서 확인한 네 가지</a:t>
            </a:r>
          </a:p>
          <a:p>
            <a:r>
              <a:t xml:space="preserve"/>
            </a:r>
          </a:p>
          <a:p>
            <a:r>
              <a:t xml:space="preserve">Slide ID:</a:t>
            </a:r>
          </a:p>
          <a:p>
            <a:r>
              <a:t xml:space="preserve">S54</a:t>
            </a:r>
          </a:p>
          <a:p>
            <a:r>
              <a:t xml:space="preserve"/>
            </a:r>
          </a:p>
          <a:p>
            <a:r>
              <a:t xml:space="preserve">Working Title: Context 정리에서 확인한 네 가지</a:t>
            </a:r>
          </a:p>
          <a:p>
            <a:r>
              <a:t xml:space="preserve"/>
            </a:r>
          </a:p>
          <a:p>
            <a:r>
              <a:t xml:space="preserve">ACT / Section: ACT 2 / 2I Discussion·Transition</a:t>
            </a:r>
          </a:p>
          <a:p>
            <a:r>
              <a:t xml:space="preserve"/>
            </a:r>
          </a:p>
          <a:p>
            <a:r>
              <a:t xml:space="preserve">Allocated Time: 3 minutes</a:t>
            </a:r>
          </a:p>
          <a:p>
            <a:r>
              <a:t xml:space="preserve"/>
            </a:r>
          </a:p>
          <a:p>
            <a:r>
              <a:t xml:space="preserve">Mode Split: Lecture 2 minutes + Reflection 1 minutes</a:t>
            </a:r>
          </a:p>
          <a:p>
            <a:r>
              <a:t xml:space="preserve"/>
            </a:r>
          </a:p>
          <a:p>
            <a:r>
              <a:t xml:space="preserve">Primary Message: 공통 정보의 기록, 지침 활용, 핵심 정보를 보존한 재구성, Task별 상세 접근 차이는 각각의 보존된 근거로 확인했다. 일반적 효율 향상은 측정하지 않았다.</a:t>
            </a:r>
          </a:p>
          <a:p>
            <a:r>
              <a:t xml:space="preserve"/>
            </a:r>
          </a:p>
          <a:p>
            <a:r>
              <a:t xml:space="preserve">Opening Question: “무엇을 바꾸었고, 무엇까지 실제로 확인했을까?”</a:t>
            </a:r>
          </a:p>
          <a:p>
            <a:r>
              <a:t xml:space="preserve"/>
            </a:r>
          </a:p>
          <a:p>
            <a:r>
              <a:t xml:space="preserve">**Speaker Flow:**</a:t>
            </a:r>
          </a:p>
          <a:p>
            <a:r>
              <a:t xml:space="preserve">1. (0–2분, Lecture) 기록/지침 적용/정보 보존 재구성/Task별 접근이라는 네 근거를 짧게 회수한다. 각각의 State/Trial을 가리키되 다시 로그를 낭독하지 않는다.</a:t>
            </a:r>
          </a:p>
          <a:p>
            <a:r>
              <a:t xml:space="preserve">2. (2–3분, Reflection) 팀에서 먼저 정리할 공통 안내 또는 상세 정보 하나를 조용히 떠올린다. 해결한 범위를 성능/정확도/토큰 효과로 확대하지 않고 남은 수행 방법 질문으로 넘긴다.</a:t>
            </a:r>
          </a:p>
          <a:p>
            <a:r>
              <a:t xml:space="preserve"/>
            </a:r>
          </a:p>
          <a:p>
            <a:r>
              <a:t xml:space="preserve">Evidence / Source: STATE-01; TRIAL-003; STATE-02→STATE-03; TRIAL-005A/B; BEAT-009–017; DEC-0060. The four scoped observations remain separate from the teaching recap.</a:t>
            </a:r>
          </a:p>
          <a:p>
            <a:r>
              <a:t xml:space="preserve"/>
            </a:r>
          </a:p>
          <a:p>
            <a:r>
              <a:t xml:space="preserve">보존된 상세 출처: STATE-01 · TRIAL-003 · STATE-02→03 · TRIAL-005A/B의 개별 관찰 요약</a:t>
            </a:r>
          </a:p>
          <a:p>
            <a:r>
              <a:t xml:space="preserve"/>
            </a:r>
          </a:p>
          <a:p>
            <a:r>
              <a:t xml:space="preserve">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a:r>
              <a:t xml:space="preserve"/>
            </a:r>
          </a:p>
          <a:p>
            <a:r>
              <a:t xml:space="preserve">보존된 상세 범위: 개별 관찰의 교육용 정리 · 보편적 정확도/효율 개선·독립적 인과성은 입증하지 않음</a:t>
            </a:r>
          </a:p>
          <a:p>
            <a:r>
              <a:t xml:space="preserve"/>
            </a:r>
          </a:p>
          <a:p>
            <a:r>
              <a:t xml:space="preserve">Beginner Explanation: Context 작업으로 실제 무엇을 했는지 네 가지로 기억한다.</a:t>
            </a:r>
          </a:p>
          <a:p>
            <a:r>
              <a:t xml:space="preserve"/>
            </a:r>
          </a:p>
          <a:p>
            <a:r>
              <a:t xml:space="preserve">Advanced Insight: 구조/행동/효과 측정을 다른 수준의 주장으로 구분한다.</a:t>
            </a:r>
          </a:p>
          <a:p>
            <a:r>
              <a:t xml:space="preserve"/>
            </a:r>
          </a:p>
          <a:p>
            <a:r>
              <a:t xml:space="preserve">C++ Vision Bridge: N/A.</a:t>
            </a:r>
          </a:p>
          <a:p>
            <a:r>
              <a:t xml:space="preserve"/>
            </a:r>
          </a:p>
          <a:p>
            <a:r>
              <a:t xml:space="preserve">Demo Operation: N/A.</a:t>
            </a:r>
          </a:p>
          <a:p>
            <a:r>
              <a:t xml:space="preserve"/>
            </a:r>
          </a:p>
          <a:p>
            <a:r>
              <a:t xml:space="preserve">Audience Interaction: “우리 팀에서 공통 안내와 상세로 나눌 정보 한 가지는?” 조용한 성찰이며 별도 실습·Q&amp;A를 추가하지 않는다.</a:t>
            </a:r>
          </a:p>
          <a:p>
            <a:r>
              <a:t xml:space="preserve"/>
            </a:r>
          </a:p>
          <a:p>
            <a:r>
              <a:t xml:space="preserve">**Transition:**</a:t>
            </a:r>
          </a:p>
          <a:p>
            <a:r>
              <a:t xml:space="preserve">“우리 프로젝트에서는 AGENTS.md를 어디에 두고, 어느 범위의 지침을 확인할까요?” S55–S57의 팁을 거친 뒤 S58의 기존 수행 방법 질문으로 돌아간다.</a:t>
            </a:r>
          </a:p>
          <a:p>
            <a:r>
              <a:t xml:space="preserve"/>
            </a:r>
          </a:p>
          <a:p>
            <a:r>
              <a:t xml:space="preserve">Time Management: Lecture2+Reflection1분. 과거 Trial을 다시 시연하지 않는다.</a:t>
            </a:r>
          </a:p>
          <a:p>
            <a:r>
              <a:t xml:space="preserve"/>
            </a:r>
          </a:p>
          <a:p>
            <a:r>
              <a:t xml:space="preserve">Fallback:</a:t>
            </a:r>
          </a:p>
          <a:p>
            <a:r>
              <a:t xml:space="preserve">LOCAL STATIC ARTIFACT — production/ACT_2.pptx / S54; production/preview/act2/S54.png. A rendered teaching diagram/evidence summary, not a new product screenshot or Trial. Final path/content check pending.</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S55 — AGENTS.md는 어디에 둘까?</a:t>
            </a:r>
          </a:p>
          <a:p>
            <a:r>
              <a:t xml:space="preserve"/>
            </a:r>
          </a:p>
          <a:p>
            <a:r>
              <a:t xml:space="preserve">**Slide ID:**</a:t>
            </a:r>
          </a:p>
          <a:p>
            <a:r>
              <a:t xml:space="preserve">S55</a:t>
            </a:r>
          </a:p>
          <a:p>
            <a:r>
              <a:t xml:space="preserve"/>
            </a:r>
          </a:p>
          <a:p>
            <a:r>
              <a:t xml:space="preserve">**Working Title:**</a:t>
            </a:r>
          </a:p>
          <a:p>
            <a:r>
              <a:t xml:space="preserve">AGENTS.md는 어디에 둘까?</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개인 기본값과 프로젝트 공통 규칙, 모듈별 지침을 구분해 두고 현재 작업에 해당하는 범위를 확인한다.</a:t>
            </a:r>
          </a:p>
          <a:p>
            <a:r>
              <a:t xml:space="preserve"/>
            </a:r>
          </a:p>
          <a:p>
            <a:r>
              <a:t xml:space="preserve">**Opening Question:**</a:t>
            </a:r>
          </a:p>
          <a:p>
            <a:r>
              <a:t xml:space="preserve">“공통 규칙과 특정 모듈 규칙을 어디에 둘까?”</a:t>
            </a:r>
          </a:p>
          <a:p>
            <a:r>
              <a:t xml:space="preserve"/>
            </a:r>
          </a:p>
          <a:p>
            <a:r>
              <a:t xml:space="preserve">**Speaker Flow:**</a:t>
            </a:r>
          </a:p>
          <a:p>
            <a:r>
              <a:t xml:space="preserve">1. (0–1분) S54는 실제 Demo의 Context 정리 회수였다. 여기부터 공식 지침을 적용한 별도 검사 프로젝트 예다. 개인 기본값의 언어/Git 규칙을 가리킨다.</a:t>
            </a:r>
          </a:p>
          <a:p>
            <a:r>
              <a:t xml:space="preserve">2. (1–2분) 루트 공통 API 보존과 vision의 ROI 명세를 폴더 위치에 연결한다. device의 하드웨어 연동 규칙은 형제 모듈 규칙이다.</a:t>
            </a:r>
          </a:p>
          <a:p>
            <a:r>
              <a:t xml:space="preserve">3. (2–3분) crop.cpp가 속한 가지를 짚는다. 이 그림은 적용 범위를 설명하며 전체 하위 파일의 자동 로드를 뜻하지 않는다. 다음은 공통·전용 규칙의 결합이다.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루트의 공통 규칙과 작업 폴더에만 필요한 규칙을 구분한다.</a:t>
            </a:r>
          </a:p>
          <a:p>
            <a:r>
              <a:t xml:space="preserve"/>
            </a:r>
          </a:p>
          <a:p>
            <a:r>
              <a:t xml:space="preserve">**Advanced Insight:**</a:t>
            </a:r>
          </a:p>
          <a:p>
            <a:r>
              <a:t xml:space="preserve">규칙의 논리적 범위와 런타임 수집 여부를 혼동하지 않고 다음 장에서 병합 관계를 본다.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“crop.cpp를 수정할 때, 공통 지침과 vision 지침은 어떻게 함께 적용될까요?” S56로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S55; production/preview/act2/S55.png.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S56 — 공통 지침에 모듈 지침을 더한다</a:t>
            </a:r>
          </a:p>
          <a:p>
            <a:r>
              <a:t xml:space="preserve"/>
            </a:r>
          </a:p>
          <a:p>
            <a:r>
              <a:t xml:space="preserve">**Slide ID:**</a:t>
            </a:r>
          </a:p>
          <a:p>
            <a:r>
              <a:t xml:space="preserve">S56</a:t>
            </a:r>
          </a:p>
          <a:p>
            <a:r>
              <a:t xml:space="preserve"/>
            </a:r>
          </a:p>
          <a:p>
            <a:r>
              <a:t xml:space="preserve">**Working Title:**</a:t>
            </a:r>
          </a:p>
          <a:p>
            <a:r>
              <a:t xml:space="preserve">공통 지침에 모듈 지침을 더한다</a:t>
            </a:r>
          </a:p>
          <a:p>
            <a:r>
              <a:t xml:space="preserve"/>
            </a:r>
          </a:p>
          <a:p>
            <a:r>
              <a:t xml:space="preserve">**ACT / Section:**</a:t>
            </a:r>
          </a:p>
          <a:p>
            <a:r>
              <a:t xml:space="preserve">ACT 2 / 2I Discussion·Transition</a:t>
            </a:r>
          </a:p>
          <a:p>
            <a:r>
              <a:t xml:space="preserve"/>
            </a:r>
          </a:p>
          <a:p>
            <a:r>
              <a:t xml:space="preserve">**Allocated Time:**</a:t>
            </a:r>
          </a:p>
          <a:p>
            <a:r>
              <a:t xml:space="preserve">3 minutes</a:t>
            </a:r>
          </a:p>
          <a:p>
            <a:r>
              <a:t xml:space="preserve"/>
            </a:r>
          </a:p>
          <a:p>
            <a:r>
              <a:t xml:space="preserve">**Mode Split:**</a:t>
            </a:r>
          </a:p>
          <a:p>
            <a:r>
              <a:t xml:space="preserve">Lecture 3 minutes</a:t>
            </a:r>
          </a:p>
          <a:p>
            <a:r>
              <a:t xml:space="preserve"/>
            </a:r>
          </a:p>
          <a:p>
            <a:r>
              <a:t xml:space="preserve">**Primary Message:**</a:t>
            </a:r>
          </a:p>
          <a:p>
            <a:r>
              <a:t xml:space="preserve">공통 지침을 유지하면서 모듈 전용 지침을 더한다. 충돌하는 기본값은 더 가까운 지침을 우선한다.</a:t>
            </a:r>
          </a:p>
          <a:p>
            <a:r>
              <a:t xml:space="preserve"/>
            </a:r>
          </a:p>
          <a:p>
            <a:r>
              <a:t xml:space="preserve">**Opening Question:**</a:t>
            </a:r>
          </a:p>
          <a:p>
            <a:r>
              <a:t xml:space="preserve">“모듈 지침이 있으면 루트 지침은 없어질까?”</a:t>
            </a:r>
          </a:p>
          <a:p>
            <a:r>
              <a:t xml:space="preserve"/>
            </a:r>
          </a:p>
          <a:p>
            <a:r>
              <a:t xml:space="preserve">**Speaker Flow:**</a:t>
            </a:r>
          </a:p>
          <a:p>
            <a:r>
              <a:t xml:space="preserve">1. (0–1분) 수정 대상은 같은 src/vision/crop.cpp다. 루트의 공개 API 유지와 기본 검증 진입점을 읽는다.</a:t>
            </a:r>
          </a:p>
          <a:p>
            <a:r>
              <a:t xml:space="preserve">2. (1–2분) vision의 ROI 명세와 전용 검증 진입점을 더한다. 결합한 목록에서 공개 API 유지가 사라지지 않았음을 확인한다.</a:t>
            </a:r>
          </a:p>
          <a:p>
            <a:r>
              <a:t xml:space="preserve">3. (2–3분) 충돌하는 기본값만 더 가까운 지침을 우선한다. ctest 예시는 기본 진입점 선택이며, 의무적인 전체 회귀 검사를 생략하거나 상위 승인·권한을 우회하는 규칙이 아니다. 다음 장에서 실제 수집을 따로 확인한다.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a:t>
            </a:r>
          </a:p>
          <a:p>
            <a:r>
              <a:t xml:space="preserve"/>
            </a:r>
          </a:p>
          <a:p>
            <a:r>
              <a:t xml:space="preserve">**Beginner Explanation:**</a:t>
            </a:r>
          </a:p>
          <a:p>
            <a:r>
              <a:t xml:space="preserve">모듈 규칙을 추가해도 공통 제약이 남는다는 점을 이해한다.</a:t>
            </a:r>
          </a:p>
          <a:p>
            <a:r>
              <a:t xml:space="preserve"/>
            </a:r>
          </a:p>
          <a:p>
            <a:r>
              <a:t xml:space="preserve">**Advanced Insight:**</a:t>
            </a:r>
          </a:p>
          <a:p>
            <a:r>
              <a:t xml:space="preserve">상속과 충돌 해결을 구별하고 검증 진입점 기본값과 필수 검증 의무를 혼동하지 않는다.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“적용할 규칙을 배치했다면, Codex가 실제로 그 파일을 읽었을까요?” S57로 이어간다.</a:t>
            </a:r>
          </a:p>
          <a:p>
            <a:r>
              <a:t xml:space="preserve"/>
            </a:r>
          </a:p>
          <a:p>
            <a:r>
              <a:t xml:space="preserve">**Time Management:**</a:t>
            </a:r>
          </a:p>
          <a:p>
            <a:r>
              <a:t xml:space="preserve">Lecture 3분. 화면의 질문·도식·다음 질문을 정해진 순서로 짚고 시간에 넘긴다. 실제 리허설 UNVERIFIED.</a:t>
            </a:r>
          </a:p>
          <a:p>
            <a:r>
              <a:t xml:space="preserve"/>
            </a:r>
          </a:p>
          <a:p>
            <a:r>
              <a:t xml:space="preserve">**Fallback:**</a:t>
            </a:r>
          </a:p>
          <a:p>
            <a:r>
              <a:t xml:space="preserve">LOCAL STATIC ARTIFACT — production/ACT_2.pptx / S56; production/preview/act2/S56.png.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S57 — 적용할 지침을 실제로 읽었을까?</a:t>
            </a:r>
          </a:p>
          <a:p>
            <a:r>
              <a:t xml:space="preserve"/>
            </a:r>
          </a:p>
          <a:p>
            <a:r>
              <a:t xml:space="preserve">**Slide ID:**</a:t>
            </a:r>
          </a:p>
          <a:p>
            <a:r>
              <a:t xml:space="preserve">S57</a:t>
            </a:r>
          </a:p>
          <a:p>
            <a:r>
              <a:t xml:space="preserve"/>
            </a:r>
          </a:p>
          <a:p>
            <a:r>
              <a:t xml:space="preserve">**Working Title:**</a:t>
            </a:r>
          </a:p>
          <a:p>
            <a:r>
              <a:t xml:space="preserve">적용할 지침을 실제로 읽었을까?</a:t>
            </a:r>
          </a:p>
          <a:p>
            <a:r>
              <a:t xml:space="preserve"/>
            </a:r>
          </a:p>
          <a:p>
            <a:r>
              <a:t xml:space="preserve">**ACT / Section:**</a:t>
            </a:r>
          </a:p>
          <a:p>
            <a:r>
              <a:t xml:space="preserve">ACT 2 / 2I Discussion·Transition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시작 시 자동 수집은 루트에서 시작 작업 폴더까지의 경로를 따른다. 작업에 필요한 하위 지침은 적용 경로와 본문을 확인해 읽도록 요청한다.</a:t>
            </a:r>
          </a:p>
          <a:p>
            <a:r>
              <a:t xml:space="preserve"/>
            </a:r>
          </a:p>
          <a:p>
            <a:r>
              <a:t xml:space="preserve">**Opening Question:**</a:t>
            </a:r>
          </a:p>
          <a:p>
            <a:r>
              <a:t xml:space="preserve">“파일이 그 위치에 있으면 반드시 읽혔다고 볼 수 있을까?”</a:t>
            </a:r>
          </a:p>
          <a:p>
            <a:r>
              <a:t xml:space="preserve"/>
            </a:r>
          </a:p>
          <a:p>
            <a:r>
              <a:t xml:space="preserve">**Speaker Flow:**</a:t>
            </a:r>
          </a:p>
          <a:p>
            <a:r>
              <a:t xml:space="preserve">1. (0–1분) 같은 폴더 구조에서 시작 위치만 비교한다. 루트 시작은 자동 검색이 루트에서 멈추며, vision에서 시작하면 경로의 모듈 지침까지 포함된다. 전체 하위 폴더를 재귀적으로 자동 수집한다는 뜻은 아니다.</a:t>
            </a:r>
          </a:p>
          <a:p>
            <a:r>
              <a:t xml:space="preserve">2. (1–2분) 화면의 요청을 읽는다. 루트에서 시작해 하위 코드를 다룬다면 적용할 중첩 지침도 찾아 본문을 읽도록 한다. 응답 경로를 실제 파일과 대조하고 필요하면 로드/읽기 기록을 확인한다. 수행 방법 반복 질문으로 돌아간다.</a:t>
            </a:r>
          </a:p>
          <a:p>
            <a:r>
              <a:t xml:space="preserve"/>
            </a:r>
          </a:p>
          <a:p>
            <a:r>
              <a:t xml:space="preserve">**Evidence / Source:**</a:t>
            </a:r>
          </a:p>
          <a:p>
            <a:r>
              <a:t xml:space="preserve">[OpenAI: Custom instructions with AGENTS.md](https://learn.chatgpt.com/docs/agent-configuration/agents-md), checked2026-10-26. [OpenAI: Projects and chats](https://learn.chatgpt.com/docs/projects), checked2026-10-26. DEC-0104; illustrative inspection/ folder and rule examples, not graypipe Trial evidence.</a:t>
            </a:r>
          </a:p>
          <a:p>
            <a:r>
              <a:t xml:space="preserve"/>
            </a:r>
          </a:p>
          <a:p>
            <a:r>
              <a:t xml:space="preserve">**Claim Boundary:**</a:t>
            </a:r>
          </a:p>
          <a:p>
            <a:r>
              <a:t xml:space="preserve">TEACHING MODEL / REQUIRES PRODUCT CHECK — 공식 안내 기반 프로젝트 적용 예. 실제 파일 생성·Codex 실행·새 Trial 관찰이 아니다. 지침 적용 범위와 시작 시 수집 경로를 구분하며, 파일 존재·Agent 자기보고만으로 읽기/준수 완료를 입증하지 않는다. 지침은 권한·CI 강제 수단이 아니다. 시작 시 지침 체인은 새 실행/세션에서 구성된다. 실행 중 터미널 cd만으로 기존 세션이 재수집한다고 말하지 않는다. Desktop의 주 작업 폴더와 추가 첨부 폴더의 자동 발견도 구별한다. 같은 디렉터리의 AGENTS.override.md가 일반 AGENTS.md보다 먼저 선택되고, fallback 이름/크기 설정도 수집에 영향을 줄 수 있다. 상세 설정은 공식 문서로 안내한다.</a:t>
            </a:r>
          </a:p>
          <a:p>
            <a:r>
              <a:t xml:space="preserve"/>
            </a:r>
          </a:p>
          <a:p>
            <a:r>
              <a:t xml:space="preserve">**Beginner Explanation:**</a:t>
            </a:r>
          </a:p>
          <a:p>
            <a:r>
              <a:t xml:space="preserve">파일을 두는 것과 실제로 읽히는 것을 구분하고 확인할 요청을 쓸 수 있다.</a:t>
            </a:r>
          </a:p>
          <a:p>
            <a:r>
              <a:t xml:space="preserve"/>
            </a:r>
          </a:p>
          <a:p>
            <a:r>
              <a:t xml:space="preserve">**Advanced Insight:**</a:t>
            </a:r>
          </a:p>
          <a:p>
            <a:r>
              <a:t xml:space="preserve">시작 시 instruction chain과 이후 명시적 파일 읽기를 구분하며 경로·내용·필요 시 로그를 대조한다.</a:t>
            </a:r>
          </a:p>
          <a:p>
            <a:r>
              <a:t xml:space="preserve"/>
            </a:r>
          </a:p>
          <a:p>
            <a:r>
              <a:t xml:space="preserve">**C++ Vision Bridge:**</a:t>
            </a:r>
          </a:p>
          <a:p>
            <a:r>
              <a:t xml:space="preserve">가상 C++ 검사 프로젝트 inspection/src/vision/crop.cpp. 실제 graypipe 구현/실험 이력과 구분한다.</a:t>
            </a:r>
          </a:p>
          <a:p>
            <a:r>
              <a:t xml:space="preserve"/>
            </a:r>
          </a:p>
          <a:p>
            <a:r>
              <a:t xml:space="preserve">**Demo Operation:**</a:t>
            </a:r>
          </a:p>
          <a:p>
            <a:r>
              <a:t xml:space="preserve">N/A — 정적 폴더·지침 도식과 요청 예. 실제 Codex 실행/환경 설정 변경을 하지 않는다.</a:t>
            </a:r>
          </a:p>
          <a:p>
            <a:r>
              <a:t xml:space="preserve"/>
            </a:r>
          </a:p>
          <a:p>
            <a:r>
              <a:t xml:space="preserve">**Audience Interaction:**</a:t>
            </a:r>
          </a:p>
          <a:p>
            <a:r>
              <a:t xml:space="preserve">화면의 강조 경로와 목록을 하나씩 짚는다. 청중 직접 실습이나 추가 공개 답변 시간은 배정하지 않는다.</a:t>
            </a:r>
          </a:p>
          <a:p>
            <a:r>
              <a:t xml:space="preserve"/>
            </a:r>
          </a:p>
          <a:p>
            <a:r>
              <a:t xml:space="preserve">**Transition:**</a:t>
            </a:r>
          </a:p>
          <a:p>
            <a:r>
              <a:t xml:space="preserve">“지침의 위치와 읽을 범위를 정리해도, 작업마다 같은 수행 절차를 다시 요청하는 문제는 남습니다.” S58의 기존 Harness 질문으로 돌아간다.</a:t>
            </a:r>
          </a:p>
          <a:p>
            <a:r>
              <a:t xml:space="preserve"/>
            </a:r>
          </a:p>
          <a:p>
            <a:r>
              <a:t xml:space="preserve">**Time Management:**</a:t>
            </a:r>
          </a:p>
          <a:p>
            <a:r>
              <a:t xml:space="preserve">Lecture 2분. 화면의 질문·도식·다음 질문을 정해진 순서로 짚고 시간에 넘긴다. 실제 리허설 UNVERIFIED.</a:t>
            </a:r>
          </a:p>
          <a:p>
            <a:r>
              <a:t xml:space="preserve"/>
            </a:r>
          </a:p>
          <a:p>
            <a:r>
              <a:t xml:space="preserve">**Fallback:**</a:t>
            </a:r>
          </a:p>
          <a:p>
            <a:r>
              <a:t xml:space="preserve">LOCAL STATIC ARTIFACT — production/ACT_2.pptx / S57; production/preview/act2/S57.png. Default is an instructional diagram, not an execution capture. Local file readiness is recorded in production/evaluation/AGENTS_SCOPE_TIPS_RESULT.md.</a:t>
            </a:r>
          </a:p>
          <a:p>
            <a:r>
              <a:t xml:space="preserve"/>
            </a:r>
          </a:p>
          <a:p>
            <a:r>
              <a:t xml:space="preserve">**Validation Status:**</a:t>
            </a:r>
          </a:p>
          <a:p>
            <a:r>
              <a:t xml:space="preserve">Official guidance checked2026-10-26. Local package/render/Notes checks recorded separately. Product-account execution, Windows, room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S58 — 지식은 정리됐지만 절차는 반복된다</a:t>
            </a:r>
          </a:p>
          <a:p>
            <a:r>
              <a:t xml:space="preserve"/>
            </a:r>
          </a:p>
          <a:p>
            <a:r>
              <a:t xml:space="preserve">Slide ID:</a:t>
            </a:r>
          </a:p>
          <a:p>
            <a:r>
              <a:t xml:space="preserve">S58</a:t>
            </a:r>
          </a:p>
          <a:p>
            <a:r>
              <a:t xml:space="preserve"/>
            </a:r>
          </a:p>
          <a:p>
            <a:r>
              <a:t xml:space="preserve">Working Title: 지식은 정리됐지만 절차는 반복된다</a:t>
            </a:r>
          </a:p>
          <a:p>
            <a:r>
              <a:t xml:space="preserve"/>
            </a:r>
          </a:p>
          <a:p>
            <a:r>
              <a:t xml:space="preserve">ACT / Section: ACT 2 / 2I</a:t>
            </a:r>
          </a:p>
          <a:p>
            <a:r>
              <a:t xml:space="preserve"/>
            </a:r>
          </a:p>
          <a:p>
            <a:r>
              <a:t xml:space="preserve">Allocated Time: 10 minutes</a:t>
            </a:r>
          </a:p>
          <a:p>
            <a:r>
              <a:t xml:space="preserve"/>
            </a:r>
          </a:p>
          <a:p>
            <a:r>
              <a:t xml:space="preserve">Mode Split: Transition 4 minutes + Q&amp;A 6 minutes</a:t>
            </a:r>
          </a:p>
          <a:p>
            <a:r>
              <a:t xml:space="preserve"/>
            </a:r>
          </a:p>
          <a:p>
            <a:r>
              <a:t xml:space="preserve">Primary Message: Prompt는 현재 원하는 것을, Project Context는 일반적으로 참인 것을, Routing은 관련 상세 정보의 위치를 다룬다. 반복되는 작업 절차는 별도의 문제로 남을 수 있다.</a:t>
            </a:r>
          </a:p>
          <a:p>
            <a:r>
              <a:t xml:space="preserve"/>
            </a:r>
          </a:p>
          <a:p>
            <a:r>
              <a:t xml:space="preserve">Opening Question: “Project 정보를 잘 정리했으면 문제가 끝난 걸까?”</a:t>
            </a:r>
          </a:p>
          <a:p>
            <a:r>
              <a:t xml:space="preserve"/>
            </a:r>
          </a:p>
          <a:p>
            <a:r>
              <a:t xml:space="preserve">**Speaker Flow:**</a:t>
            </a:r>
          </a:p>
          <a:p>
            <a:r>
              <a:t xml:space="preserve">1. (0–1분, Transition) 정보의 위치와 근거 접근을 정리했다는 앞 장 성과를 한 문장으로 회수한다.</a:t>
            </a:r>
          </a:p>
          <a:p>
            <a:r>
              <a:t xml:space="preserve">2. (1–4분, Transition) 하나의 성능 요청에 여전히 조사·검증 절차를 다시 적는 그림을 보여주며 유지 책임을 묻는다. 다음 장의 두 기록 비교를 미리 설명하지 않는다.</a:t>
            </a:r>
          </a:p>
          <a:p>
            <a:r>
              <a:t xml:space="preserve">3. (4–9:40, Q&amp;A) “우리 팀은 어떤 절차를 매번 다시 요청합니까?”로 팀의 방법 반복을 묻는다. 질문이 없으면 변경 전 측정/동일 입력 비교/완료 보고 중 하나를 선택하게 한다.</a:t>
            </a:r>
          </a:p>
          <a:p>
            <a:r>
              <a:t xml:space="preserve">4. (9:40–10분, Q&amp;A 마무리) 두 실제 성능 요청에 반복된 지시를 보겠다고 S60으로 넘긴다.</a:t>
            </a:r>
          </a:p>
          <a:p>
            <a:r>
              <a:t xml:space="preserve">기존 연결 질문을 유지한 채 ACT 3 제목 S59를 거쳐 S60의 첫 문제로 이어간다. 제목의 Transition1분은 다음 ACT에 별도로 배정한다.</a:t>
            </a:r>
          </a:p>
          <a:p>
            <a:r>
              <a:t xml:space="preserve"/>
            </a:r>
          </a:p>
          <a:p>
            <a:r>
              <a:t xml:space="preserve">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a:r>
              <a:t xml:space="preserve"/>
            </a:r>
          </a:p>
          <a:p>
            <a:r>
              <a:t xml:space="preserve">보존된 상세 출처: 교육용 요청 재구성 · 다음 ACT에서 TRIAL-006/007의 실제 기록을 비교</a:t>
            </a:r>
          </a:p>
          <a:p>
            <a:r>
              <a:t xml:space="preserve"/>
            </a:r>
          </a:p>
          <a:p>
            <a:r>
              <a:t xml:space="preserve">Claim Boundary:</a:t>
            </a:r>
          </a:p>
          <a:p>
            <a:r>
              <a:t xml:space="preserve">FROZEN — 93장 구조·Story·시간·Demo 범위; TEACHING_MODEL; Context 정리는 ACT 2의 주제이며, 다음 절차 반복 예시는 ACT 3의 질문이다. Trial Prompt만으로 전체 절차의 원인을 귀속하지 않는다. S54의 성과를 반복 해설하지 않고 수행 방법을 누가 유지할지 질문한다. Transition4 뒤 Q&amp;A6은 팀의 반복되는 방법을 묻고 마지막20초에 다음 기록으로 넘어간다. 두 실제 요청의 대응 기록은 S60에 남겨 역할을 나눈다.</a:t>
            </a:r>
          </a:p>
          <a:p>
            <a:r>
              <a:t xml:space="preserve"/>
            </a:r>
          </a:p>
          <a:p>
            <a:r>
              <a:t xml:space="preserve">보존된 상세 범위: Context 선택 완전 해결 미입증 · 다음 예시도 Prompt 단독 효과로 귀속하지 않음</a:t>
            </a:r>
          </a:p>
          <a:p>
            <a:r>
              <a:t xml:space="preserve"/>
            </a:r>
          </a:p>
          <a:p>
            <a:r>
              <a:t xml:space="preserve">Beginner Explanation: 명세·구조·테스트 안내를 어디서 찾을지 알려두는 것과, 어떤 순서로 조사하고 확인할지 요청하는 것은 책임이 다르다. 현재 목표가 달라도 같은 작업 방법을 다시 적는 부분을 살핀다.</a:t>
            </a:r>
          </a:p>
          <a:p>
            <a:r>
              <a:t xml:space="preserve"/>
            </a:r>
          </a:p>
          <a:p>
            <a:r>
              <a:t xml:space="preserve">Advanced Insight: The screen contrasts information scope/location with repeated procedure ownership. The recorded common workflow motivates a design question; it does not establish isolated Prompt causality or measured Context efficiency.</a:t>
            </a:r>
          </a:p>
          <a:p>
            <a:r>
              <a:t xml:space="preserve"/>
            </a:r>
          </a:p>
          <a:p>
            <a:r>
              <a:t xml:space="preserve">C++ Vision Bridge: N/A.</a:t>
            </a:r>
          </a:p>
          <a:p>
            <a:r>
              <a:t xml:space="preserve"/>
            </a:r>
          </a:p>
          <a:p>
            <a:r>
              <a:t xml:space="preserve">Demo Operation:</a:t>
            </a:r>
          </a:p>
          <a:p>
            <a:r>
              <a:t xml:space="preserve">N/A — native 문서 배치와 두 성능 요청의 압축 요약을 정적으로 보여준다. Prompt 전문·실제 Screenshot·현재 제품 실행으로 표현하지 않는다. 이 장은 새 Trial이나 추가 Demo 시간이 아니다. 다음 S60에서 기록의 반복 구조를 확인한다.</a:t>
            </a:r>
          </a:p>
          <a:p>
            <a:r>
              <a:t xml:space="preserve"/>
            </a:r>
          </a:p>
          <a:p>
            <a:r>
              <a:t xml:space="preserve">Audience Interaction:</a:t>
            </a:r>
          </a:p>
          <a:p>
            <a:r>
              <a:t xml:space="preserve">Q&amp;A6分은 팀에서 반복하는 작업 방법을 묻는다. S53의 근거 주장 해석 Q&amp;A와 구분한다. 무응답 때는 “변경 전 측정, 테스트, 비교·보고 중 무엇을 매번 적습니까?”를 사용한다.</a:t>
            </a:r>
          </a:p>
          <a:p>
            <a:r>
              <a:t xml:space="preserve"/>
            </a:r>
          </a:p>
          <a:p>
            <a:r>
              <a:t xml:space="preserve">**Transition:**</a:t>
            </a:r>
          </a:p>
          <a:p>
            <a:r>
              <a:t xml:space="preserve">“우리 팀은 어떤 절차를 매번 다시 요청합니까? 다음에는 두 성능 Task의 실제 요청 기록에서 반복된 지시를 확인합니다.”</a:t>
            </a:r>
          </a:p>
          <a:p>
            <a:r>
              <a:t xml:space="preserve">기존 연결 질문을 유지한 채 ACT 3 제목 S59를 거쳐 S60의 첫 문제로 이어간다. 제목의 Transition1분은 다음 ACT에 별도로 배정한다.</a:t>
            </a:r>
          </a:p>
          <a:p>
            <a:r>
              <a:t xml:space="preserve"/>
            </a:r>
          </a:p>
          <a:p>
            <a:r>
              <a:t xml:space="preserve">Time Management:</a:t>
            </a:r>
          </a:p>
          <a:p>
            <a:r>
              <a:t xml:space="preserve">Transition4분 후 Q&amp;A6분을 유지한다. 두 실제 요청 전문 비교는 여기서 하지 않는다. 질문은9:40에 마무리하고 마지막20초에 S60으로 handoff한다.</a:t>
            </a:r>
          </a:p>
          <a:p>
            <a:r>
              <a:t xml:space="preserve"/>
            </a:r>
          </a:p>
          <a:p>
            <a:r>
              <a:t xml:space="preserve">Fallback:</a:t>
            </a:r>
          </a:p>
          <a:p>
            <a:r>
              <a:t xml:space="preserve">LOCAL STATIC ARTIFACT — production/ACT_2.pptx의 S58 또는 production/preview/act2/S58.png를 사용한다. Full/ACT2 PNG·내장 Notes 일치는 production/evaluation/S49_WORKFLOW_HANDOFF_REVISION.md와 검증 JSON을 따른다. 실제 실행 캡처나 현재 제품 화면이 아니다. 무응답 시 Audience Interaction의 준비 질문으로 진행한다.</a:t>
            </a:r>
          </a:p>
          <a:p>
            <a:r>
              <a:t xml:space="preserve"/>
            </a:r>
          </a:p>
          <a:p>
            <a:r>
              <a:t xml:space="preserve">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S59 — AI가 일할 방법과 환경 설계하기</a:t>
            </a:r>
          </a:p>
          <a:p>
            <a:r>
              <a:t xml:space="preserve"/>
            </a:r>
          </a:p>
          <a:p>
            <a:r>
              <a:t xml:space="preserve">**Slide ID:**</a:t>
            </a:r>
          </a:p>
          <a:p>
            <a:r>
              <a:t xml:space="preserve">S59</a:t>
            </a:r>
          </a:p>
          <a:p>
            <a:r>
              <a:t xml:space="preserve"/>
            </a:r>
          </a:p>
          <a:p>
            <a:r>
              <a:t xml:space="preserve">**Working Title:**</a:t>
            </a:r>
          </a:p>
          <a:p>
            <a:r>
              <a:t xml:space="preserve">AI가 일할 방법과 환경 설계하기</a:t>
            </a:r>
          </a:p>
          <a:p>
            <a:r>
              <a:t xml:space="preserve"/>
            </a:r>
          </a:p>
          <a:p>
            <a:r>
              <a:t xml:space="preserve">**ACT / Section:**</a:t>
            </a:r>
          </a:p>
          <a:p>
            <a:r>
              <a:t xml:space="preserve">ACT 3 / 3A Repeated Procedure</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AI가 일할 방법과 환경 설계하기 — Harness Engineering · 수행 체계 설계</a:t>
            </a:r>
          </a:p>
          <a:p>
            <a:r>
              <a:t xml:space="preserve"/>
            </a:r>
          </a:p>
          <a:p>
            <a:r>
              <a:t xml:space="preserve">**Opening Question:**</a:t>
            </a:r>
          </a:p>
          <a:p>
            <a:r>
              <a:t xml:space="preserve">“이번 ACT에서는 어떤 관점으로 다음 문제를 살펴볼까?”</a:t>
            </a:r>
          </a:p>
          <a:p>
            <a:r>
              <a:t xml:space="preserve"/>
            </a:r>
          </a:p>
          <a:p>
            <a:r>
              <a:t xml:space="preserve">**Speaker Flow:**</a:t>
            </a:r>
          </a:p>
          <a:p>
            <a:r>
              <a:t xml:space="preserve">1. (0:00–0:20 / Transition) ACT 3의 제목 “AI가 일할 방법과 환경 설계하기”을 가리키며 구간을 연다.</a:t>
            </a:r>
          </a:p>
          <a:p>
            <a:r>
              <a:t xml:space="preserve">2. (0:20–0:40 / Transition) 부제 “Harness Engineering · 수행 체계 설계”는 이번 구간의 관점만 안내한다. 구체적 기능·해결 방법·결과는 앞서 설명하지 않는다.</a:t>
            </a:r>
          </a:p>
          <a:p>
            <a:r>
              <a:t xml:space="preserve">3. (0:40–1:00 / Transition) S60의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“이제 이 관점에서 첫 문제를 보겠습니다.”라고 S60 — 두 실제 요청에 같은 절차가 반복됐다로 이어간다.</a:t>
            </a:r>
          </a:p>
          <a:p>
            <a:r>
              <a:t xml:space="preserve"/>
            </a:r>
          </a:p>
          <a:p>
            <a:r>
              <a:t xml:space="preserve">**Time Management:**</a:t>
            </a:r>
          </a:p>
          <a:p>
            <a:r>
              <a:t xml:space="preserve">Transition 1분. 기존 본문 시간을 줄이거나 중복 계산하지 않는다. ACT 3 총96분, 전체420분이다. 제목·부제만 안내하고1분에 S60로 넘긴다. 실측 리허설 UNVERIFIED.</a:t>
            </a:r>
          </a:p>
          <a:p>
            <a:r>
              <a:t xml:space="preserve"/>
            </a:r>
          </a:p>
          <a:p>
            <a:r>
              <a:t xml:space="preserve">**Fallback:**</a:t>
            </a:r>
          </a:p>
          <a:p>
            <a:r>
              <a:t xml:space="preserve">LOCAL STATIC ARTIFACT — production/preview/full/S59.png 또는 production/ACT_3.pptx의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S60 — 두 실제 요청에 같은 절차가 반복됐다</a:t>
            </a:r>
          </a:p>
          <a:p>
            <a:r>
              <a:t xml:space="preserve"/>
            </a:r>
          </a:p>
          <a:p>
            <a:r>
              <a:t xml:space="preserve">Slide ID:</a:t>
            </a:r>
          </a:p>
          <a:p>
            <a:r>
              <a:t xml:space="preserve">S60</a:t>
            </a:r>
          </a:p>
          <a:p>
            <a:r>
              <a:t xml:space="preserve"/>
            </a:r>
          </a:p>
          <a:p>
            <a:r>
              <a:t xml:space="preserve">Working Title: 두 실제 요청에 같은 절차가 반복됐다</a:t>
            </a:r>
          </a:p>
          <a:p>
            <a:r>
              <a:t xml:space="preserve"/>
            </a:r>
          </a:p>
          <a:p>
            <a:r>
              <a:t xml:space="preserve">ACT / Section: ACT 3 / 3A</a:t>
            </a:r>
          </a:p>
          <a:p>
            <a:r>
              <a:t xml:space="preserve"/>
            </a:r>
          </a:p>
          <a:p>
            <a:r>
              <a:t xml:space="preserve">Allocated Time: 5 minutes</a:t>
            </a:r>
          </a:p>
          <a:p>
            <a:r>
              <a:t xml:space="preserve"/>
            </a:r>
          </a:p>
          <a:p>
            <a:r>
              <a:t xml:space="preserve">Mode Split: Case 5 minutes</a:t>
            </a:r>
          </a:p>
          <a:p>
            <a:r>
              <a:t xml:space="preserve"/>
            </a:r>
          </a:p>
          <a:p>
            <a:r>
              <a:t xml:space="preserve">Primary Message: 서로 다른 두 성능 요청의 조사·계획·변경·검증 지시가 반복됐다. ACT3에서는 이 방법과 실행·검증 환경을 유지하는 문제를 다룬다.</a:t>
            </a:r>
          </a:p>
          <a:p>
            <a:r>
              <a:t xml:space="preserve"/>
            </a:r>
          </a:p>
          <a:p>
            <a:r>
              <a:t xml:space="preserve">Opening Question: “목표가 달라도 왜 같은 작업 방법을 다시 요청할까?”</a:t>
            </a:r>
          </a:p>
          <a:p>
            <a:r>
              <a:t xml:space="preserve"/>
            </a:r>
          </a:p>
          <a:p>
            <a:r>
              <a:t xml:space="preserve">Speaker Flow:</a:t>
            </a:r>
          </a:p>
          <a:p>
            <a:r>
              <a:t xml:space="preserve">1. (0:00–1:00) S58의 절차 유지 질문을 회수하고 Harness를 작업 방법과 실행·검증 환경 설계라고 짧게 안내한다. 완성 구조를 먼저 제시하지 않는다.</a:t>
            </a:r>
          </a:p>
          <a:p>
            <a:r>
              <a:t xml:space="preserve">2. (1:00–4:00) 크기 변경과 픽셀값 정규화의 기존 삽화는 기능 설명용임을 밝히고, A의 실제 요청 발췌 번역과 B의 보존 요청 요약을 세 행으로 대응한다.</a:t>
            </a:r>
          </a:p>
          <a:p>
            <a:r>
              <a:t xml:space="preserve">3. (4:00–5:00) 반복 지시와 관찰 실행을 구분하고 전역 Harness 영향 때문에 Prompt 단독 효과 귀속은 PARTIAL임을 유지한다.</a:t>
            </a:r>
          </a:p>
          <a:p>
            <a:r>
              <a:t xml:space="preserve"/>
            </a:r>
          </a:p>
          <a:p>
            <a:r>
              <a:t xml:space="preserve">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a:r>
              <a:t xml:space="preserve"/>
            </a:r>
          </a:p>
          <a:p>
            <a:r>
              <a:t xml:space="preserve">보존된 상세 출처: TRIAL-006 실제 Prompt 발췌·번역 / TRIAL-007 보존된 Task Prompt 요약 · 그림은 설명용 삽화</a:t>
            </a:r>
          </a:p>
          <a:p>
            <a:r>
              <a:t xml:space="preserve"/>
            </a:r>
          </a:p>
          <a:p>
            <a:r>
              <a:t xml:space="preserve">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a:r>
              <a:t xml:space="preserve"/>
            </a:r>
          </a:p>
          <a:p>
            <a:r>
              <a:t xml:space="preserve">보존된 상세 범위: Global Harness 영향으로 Prompt-only attribution은 PARTIAL · 성능 전후 그림·현재 제품 화면 아님</a:t>
            </a:r>
          </a:p>
          <a:p>
            <a:r>
              <a:t xml:space="preserve"/>
            </a:r>
          </a:p>
          <a:p>
            <a:r>
              <a:t xml:space="preserve">Beginner Explanation: 서로 다른 작업에서도 조사하고 확인하는 순서가 반복될 수 있다.</a:t>
            </a:r>
          </a:p>
          <a:p>
            <a:r>
              <a:t xml:space="preserve"/>
            </a:r>
          </a:p>
          <a:p>
            <a:r>
              <a:t xml:space="preserve">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a:r>
              <a:t xml:space="preserve"/>
            </a:r>
          </a:p>
          <a:p>
            <a:r>
              <a:t xml:space="preserve">C++ Vision Bridge: N/A.</a:t>
            </a:r>
          </a:p>
          <a:p>
            <a:r>
              <a:t xml:space="preserve"/>
            </a:r>
          </a:p>
          <a:p>
            <a:r>
              <a:t xml:space="preserve">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a:r>
              <a:t xml:space="preserve"/>
            </a:r>
          </a:p>
          <a:p>
            <a:r>
              <a:t xml:space="preserve">Audience Interaction: 필수 실습·공개 답변 없이 화면의 핵심 관계를 따라오게 한다. 장별 기존 시간·Mode 안에서 짧은 예측 질문만 사용한다.</a:t>
            </a:r>
          </a:p>
          <a:p>
            <a:r>
              <a:t xml:space="preserve"/>
            </a:r>
          </a:p>
          <a:p>
            <a:r>
              <a:t xml:space="preserve">Transition: “반복된 것은 명령 하나뿐일까요? 그 명령을 언제 쓰고 결과로 무엇을 판단할지도 보겠습니다.”</a:t>
            </a:r>
          </a:p>
          <a:p>
            <a:r>
              <a:t xml:space="preserve"/>
            </a:r>
          </a:p>
          <a:p>
            <a:r>
              <a:t xml:space="preserve">Time Management: Case5분: 방향/과제1, 두 기록 대응3, 한계/전환1.</a:t>
            </a:r>
          </a:p>
          <a:p>
            <a:r>
              <a:t xml:space="preserve"/>
            </a:r>
          </a:p>
          <a:p>
            <a:r>
              <a:t xml:space="preserve">Fallback:</a:t>
            </a:r>
          </a:p>
          <a:p>
            <a:r>
              <a:t xml:space="preserve">LOCAL STATIC ARTIFACT — production/ACT_3.pptx / S60, production/preview/act3/S60.png 및 production/preview/full/S60.png. 실제 캡처·현재 제품 실행이 아닌 표시된 기록 요약/가정/모델의 범위로 설명한다. 최종 파일 대조는 production/evaluation/ACT_3_FLOW_REVISION.md를 따른다.</a:t>
            </a:r>
          </a:p>
          <a:p>
            <a:r>
              <a:t xml:space="preserve"/>
            </a:r>
          </a:p>
          <a:p>
            <a:r>
              <a:t xml:space="preserve">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S61 — 테스트 명령을 언제 쓰고 무엇을 판단할까?</a:t>
            </a:r>
          </a:p>
          <a:p>
            <a:r>
              <a:t xml:space="preserve"/>
            </a:r>
          </a:p>
          <a:p>
            <a:r>
              <a:t xml:space="preserve">Slide ID:</a:t>
            </a:r>
          </a:p>
          <a:p>
            <a:r>
              <a:t xml:space="preserve">S61</a:t>
            </a:r>
          </a:p>
          <a:p>
            <a:r>
              <a:t xml:space="preserve"/>
            </a:r>
          </a:p>
          <a:p>
            <a:r>
              <a:t xml:space="preserve">Working Title: 테스트 명령을 언제 쓰고 무엇을 판단할까?</a:t>
            </a:r>
          </a:p>
          <a:p>
            <a:r>
              <a:t xml:space="preserve"/>
            </a:r>
          </a:p>
          <a:p>
            <a:r>
              <a:t xml:space="preserve">ACT / Section: ACT 3 / 3A</a:t>
            </a:r>
          </a:p>
          <a:p>
            <a:r>
              <a:t xml:space="preserve"/>
            </a:r>
          </a:p>
          <a:p>
            <a:r>
              <a:t xml:space="preserve">Allocated Time: 4 minutes</a:t>
            </a:r>
          </a:p>
          <a:p>
            <a:r>
              <a:t xml:space="preserve"/>
            </a:r>
          </a:p>
          <a:p>
            <a:r>
              <a:t xml:space="preserve">Mode Split: Lecture 4 minutes</a:t>
            </a:r>
          </a:p>
          <a:p>
            <a:r>
              <a:t xml:space="preserve"/>
            </a:r>
          </a:p>
          <a:p>
            <a:r>
              <a:t xml:space="preserve">Primary Message: 테스트 명령·명세·측정 방법을 작업의 어느 시점에 사용하고, 그 결과로 무엇을 판단할지 함께 정한다. 이 수행 방법도 AGENTS.md에 기록할 수 있다.</a:t>
            </a:r>
          </a:p>
          <a:p>
            <a:r>
              <a:t xml:space="preserve"/>
            </a:r>
          </a:p>
          <a:p>
            <a:r>
              <a:t xml:space="preserve">Opening Question: “같은 테스트 명령을 변경 전과 변경 후에 실행하면 각각 무엇을 확인할까?”</a:t>
            </a:r>
          </a:p>
          <a:p>
            <a:r>
              <a:t xml:space="preserve"/>
            </a:r>
          </a:p>
          <a:p>
            <a:r>
              <a:t xml:space="preserve">**Speaker Flow:**</a:t>
            </a:r>
          </a:p>
          <a:p>
            <a:r>
              <a:t xml:space="preserve">1. (0:00–0:45) S60의 두 요청에서 반복된 방법을 회수한다. normalize 성능 조사를 예로 들고 상단의 테스트 실행 방법·동작 명세·측정 방법은 프로젝트에서 확인할 정보임을 짚는다.</a:t>
            </a:r>
          </a:p>
          <a:p>
            <a:r>
              <a:t xml:space="preserve">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a:r>
              <a:t xml:space="preserve">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a:r>
              <a:t xml:space="preserve">4. (3:15–4:00) 명령뿐 아니라 사용 시점과 판단 기준까지 수행 방법에 포함됨을 회수한다. 이 내용도 AGENTS.md에 쓸 수 있다. 저장 위치 선택은 아직 답하지 않고 S62의 이번 목표·프로젝트 기준·수행 방법 결합으로 넘어간다.</a:t>
            </a:r>
          </a:p>
          <a:p>
            <a:r>
              <a:t xml:space="preserve">운영 표시: “실무 적용 팁 · 수행 방법” 배지로 다시 찾아 쓸 기준임을 짚는다. 기존 설명·근거 범위와 배정 시간 안에서 진행하며 요청·예시를 새로 실행하지 않는다.</a:t>
            </a:r>
          </a:p>
          <a:p>
            <a:r>
              <a:t xml:space="preserve"/>
            </a:r>
          </a:p>
          <a:p>
            <a:r>
              <a:t xml:space="preserve">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a:r>
              <a:t xml:space="preserve"/>
            </a:r>
          </a:p>
          <a:p>
            <a:r>
              <a:t xml:space="preserve">보존된 상세 출처: 교육용 수행 예시 · TRIAL-006/007의 반복 요청을 바탕으로 구성</a:t>
            </a:r>
          </a:p>
          <a:p>
            <a:r>
              <a:t xml:space="preserve"/>
            </a:r>
          </a:p>
          <a:p>
            <a:r>
              <a:t xml:space="preserve">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a:r>
              <a:t xml:space="preserve"/>
            </a:r>
          </a:p>
          <a:p>
            <a:r>
              <a:t xml:space="preserve">보존된 상세 범위: 실제 실행 순서·결과의 재현 아님 · 이 방법도 AGENTS.md에 기록할 수 있음</a:t>
            </a:r>
          </a:p>
          <a:p>
            <a:r>
              <a:t xml:space="preserve"/>
            </a:r>
          </a:p>
          <a:p>
            <a:r>
              <a:t xml:space="preserve">Beginner Explanation: 같은 테스트 명령을 실행해도 변경 전에는 원래 상태를, 변경 후에는 내 변경의 영향을 확인한다. 언제 실행하고 무엇을 확인할지도 요청이나 재사용할 방법에 적는다.</a:t>
            </a:r>
          </a:p>
          <a:p>
            <a:r>
              <a:t xml:space="preserve"/>
            </a:r>
          </a:p>
          <a:p>
            <a:r>
              <a:t xml:space="preserve">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a:r>
              <a:t xml:space="preserve"/>
            </a:r>
          </a:p>
          <a:p>
            <a:r>
              <a:t xml:space="preserve">C++ Vision Bridge: N/A.</a:t>
            </a:r>
          </a:p>
          <a:p>
            <a:r>
              <a:t xml:space="preserve"/>
            </a:r>
          </a:p>
          <a:p>
            <a:r>
              <a:t xml:space="preserve">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a:r>
              <a:t xml:space="preserve"/>
            </a:r>
          </a:p>
          <a:p>
            <a:r>
              <a:t xml:space="preserve">Audience Interaction: Opening Question은 발표자가 짧게 던지고 세 시점의 질문으로 설명한다. 답변 대기나 별도 Q&amp;A 시간을 추가하지 않고 Lecture4분 안에서 진행한다.</a:t>
            </a:r>
          </a:p>
          <a:p>
            <a:r>
              <a:t xml:space="preserve"/>
            </a:r>
          </a:p>
          <a:p>
            <a:r>
              <a:t xml:space="preserve">Transition: “지금 본 수행 방법을 이번 요청의 목표, 프로젝트 기준과 함께 놓아 보겠습니다.”</a:t>
            </a:r>
          </a:p>
          <a:p>
            <a:r>
              <a:t xml:space="preserve"/>
            </a:r>
          </a:p>
          <a:p>
            <a:r>
              <a:t xml:space="preserve">Time Management:</a:t>
            </a:r>
          </a:p>
          <a:p>
            <a:r>
              <a:t xml:space="preserve">Lecture4분: 반복 요청·상단 정보0.75, 변경 전/후1.5, 완료 판단1, S62 연결0.75. 시간이 부족하면 기존 실패의 확장 예를 줄이고 같은 명령/다른 질문과 교육용 경계는 유지한다.</a:t>
            </a:r>
          </a:p>
          <a:p>
            <a:r>
              <a:t xml:space="preserve"/>
            </a:r>
          </a:p>
          <a:p>
            <a:r>
              <a:t xml:space="preserve">Fallback:</a:t>
            </a:r>
          </a:p>
          <a:p>
            <a:r>
              <a:t xml:space="preserve">LOCAL STATIC ARTIFACT — production/ACT_3.pptx / S61, production/preview/act3/S61.png 및 production/preview/full/S61.png. 실제 실행 캡처가 아닌 교육용 수행 예시다. 최종 패키지·PNG·내장 Notes 확인은 production/evaluation/S51_COMMAND_WORKFLOW_REVISION.md를 따른다.</a:t>
            </a:r>
          </a:p>
          <a:p>
            <a:r>
              <a:t xml:space="preserve"/>
            </a:r>
          </a:p>
          <a:p>
            <a:r>
              <a:t xml:space="preserve">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S62 — 목표·기준·방법을 한 작업에 적용한다</a:t>
            </a:r>
          </a:p>
          <a:p>
            <a:r>
              <a:t xml:space="preserve"/>
            </a:r>
          </a:p>
          <a:p>
            <a:r>
              <a:t xml:space="preserve">Slide ID:</a:t>
            </a:r>
          </a:p>
          <a:p>
            <a:r>
              <a:t xml:space="preserve">S62</a:t>
            </a:r>
          </a:p>
          <a:p>
            <a:r>
              <a:t xml:space="preserve"/>
            </a:r>
          </a:p>
          <a:p>
            <a:r>
              <a:t xml:space="preserve">Working Title: 목표·기준·방법을 한 작업에 적용한다</a:t>
            </a:r>
          </a:p>
          <a:p>
            <a:r>
              <a:t xml:space="preserve"/>
            </a:r>
          </a:p>
          <a:p>
            <a:r>
              <a:t xml:space="preserve">ACT / Section: ACT 3 / 3B</a:t>
            </a:r>
          </a:p>
          <a:p>
            <a:r>
              <a:t xml:space="preserve"/>
            </a:r>
          </a:p>
          <a:p>
            <a:r>
              <a:t xml:space="preserve">Allocated Time: 5 minutes</a:t>
            </a:r>
          </a:p>
          <a:p>
            <a:r>
              <a:t xml:space="preserve"/>
            </a:r>
          </a:p>
          <a:p>
            <a:r>
              <a:t xml:space="preserve">Mode Split: Lecture 5 minutes</a:t>
            </a:r>
          </a:p>
          <a:p>
            <a:r>
              <a:t xml:space="preserve"/>
            </a:r>
          </a:p>
          <a:p>
            <a:r>
              <a:t xml:space="preserve">Primary Message: normalize 성능 조사라는 이번 목표를, 기존 이미지 동작·공개 명세를 보존하는 범위에서, 재사용할 측정·조사·검증·비교 방법을 적용해 수행한다.</a:t>
            </a:r>
          </a:p>
          <a:p>
            <a:r>
              <a:t xml:space="preserve"/>
            </a:r>
          </a:p>
          <a:p>
            <a:r>
              <a:t xml:space="preserve">Opening Question: “이번 목표를 향해 작업할 때, 무엇을 지키고 어떤 방법으로 진행할까?”</a:t>
            </a:r>
          </a:p>
          <a:p>
            <a:r>
              <a:t xml:space="preserve"/>
            </a:r>
          </a:p>
          <a:p>
            <a:r>
              <a:t xml:space="preserve">Speaker Flow:</a:t>
            </a:r>
          </a:p>
          <a:p>
            <a:r>
              <a:t xml:space="preserve">1. (0:00–1:00) S61에서 명령의 사용 시점·판단 기준까지 정한 방법을 봤음을 한 문장으로 회수한다. 상단 이번 목표 ‘normalize 성능을 조사해줘’를 읽고, 아래 작업 영역으로 들어가는 연결을 짚는다. S61의 전/후 실행을 다시 강의하지 않는다.</a:t>
            </a:r>
          </a:p>
          <a:p>
            <a:r>
              <a:t xml:space="preserve">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a:r>
              <a:t xml:space="preserve">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a:r>
              <a:t xml:space="preserve">4. (4:00–5:00) 목표는 바뀌어도 프로젝트 기준과 같은 수행 방법은 다음 관련 작업에서도 다시 필요할 수 있음을 묻는다. S63에서 반복할 방법을 어디에서 유지할지 선택하도록 연결한다.</a:t>
            </a:r>
          </a:p>
          <a:p>
            <a:r>
              <a:t xml:space="preserve"/>
            </a:r>
          </a:p>
          <a:p>
            <a:r>
              <a:t xml:space="preserve">Evidence / Source: BEAT-019; plan/DEMO_MATRIX.md의 TRIAL-006/007 목표·보존 조건·반복 요청; DEC-0062, DEC-0063, DEC-0064. TEACHING_MODEL / CONCEPTUAL. 실제 요청을 그대로 실행한 기록이나 새로운 normalize Trial이 아니다.</a:t>
            </a:r>
          </a:p>
          <a:p>
            <a:r>
              <a:t xml:space="preserve"/>
            </a:r>
          </a:p>
          <a:p>
            <a:r>
              <a:t xml:space="preserve">보존된 상세 출처: 교육용 적용 예 · TRIAL-006/007의 목표·보존 조건·반복 방법을 한 작업에 연결</a:t>
            </a:r>
          </a:p>
          <a:p>
            <a:r>
              <a:t xml:space="preserve"/>
            </a:r>
          </a:p>
          <a:p>
            <a:r>
              <a:t xml:space="preserve">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a:r>
              <a:t xml:space="preserve"/>
            </a:r>
          </a:p>
          <a:p>
            <a:r>
              <a:t xml:space="preserve">보존된 상세 범위: 관계 설명용 도식 · 실제 실행 기록이나 제품의 공식 분류가 아님</a:t>
            </a:r>
          </a:p>
          <a:p>
            <a:r>
              <a:t xml:space="preserve"/>
            </a:r>
          </a:p>
          <a:p>
            <a:r>
              <a:t xml:space="preserve">Beginner Explanation: 무엇을 할지 정해도 기존 동작과 명세는 지켜야 한다. 그 범위 안에서 이미 정한 조사·확인 방법을 적용하는 것이 화면 중앙의 한 작업이다.</a:t>
            </a:r>
          </a:p>
          <a:p>
            <a:r>
              <a:t xml:space="preserve"/>
            </a:r>
          </a:p>
          <a:p>
            <a:r>
              <a:t xml:space="preserve">Advanced Insight: 목표와 보존할 기준, 재사용할 방법은 함께 적용되지만 수명·갱신 책임은 다를 수 있다. 성능 목표가 공개 명세 변경을 자동 허용하지 않으며, 재사용 절차도 작업에 맞게 선택·적용해야 한다.</a:t>
            </a:r>
          </a:p>
          <a:p>
            <a:r>
              <a:t xml:space="preserve"/>
            </a:r>
          </a:p>
          <a:p>
            <a:r>
              <a:t xml:space="preserve">C++ Vision Bridge: N/A.</a:t>
            </a:r>
          </a:p>
          <a:p>
            <a:r>
              <a:t xml:space="preserve"/>
            </a:r>
          </a:p>
          <a:p>
            <a:r>
              <a:t xml:space="preserve">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a:r>
              <a:t xml:space="preserve"/>
            </a:r>
          </a:p>
          <a:p>
            <a:r>
              <a:t xml:space="preserve">Audience Interaction: 발표자가 ‘이번 목표가 성능 조사라면 기존 동작도 마음대로 바꿔도 될까요?’를 짧게 던진 뒤 기준 테두리로 답한다. 별도 Q&amp;A나 실습을 추가하지 않고 Lecture5분 안에서 진행한다.</a:t>
            </a:r>
          </a:p>
          <a:p>
            <a:r>
              <a:t xml:space="preserve"/>
            </a:r>
          </a:p>
          <a:p>
            <a:r>
              <a:t xml:space="preserve">Transition: “같은 수행 방법이 다음 작업에도 필요하다면, 어디에서 함께 유지할까요?”</a:t>
            </a:r>
          </a:p>
          <a:p>
            <a:r>
              <a:t xml:space="preserve"/>
            </a:r>
          </a:p>
          <a:p>
            <a:r>
              <a:t xml:space="preserve">Time Management:</a:t>
            </a:r>
          </a:p>
          <a:p>
            <a:r>
              <a:t xml:space="preserve">Lecture5분: S61 회수·목표1, 기준·한 작업1.5, 방법 적용1.5, S63 재사용 질문1. 시간이 부족하면 다른 Task 예시는 생략하고 세 요소가 같은 작업에 적용된다는 관계와 교육용 경계를 유지한다.</a:t>
            </a:r>
          </a:p>
          <a:p>
            <a:r>
              <a:t xml:space="preserve"/>
            </a:r>
          </a:p>
          <a:p>
            <a:r>
              <a:t xml:space="preserve">Fallback:</a:t>
            </a:r>
          </a:p>
          <a:p>
            <a:r>
              <a:t xml:space="preserve">LOCAL STATIC ARTIFACT — production/ACT_3.pptx / S62, production/preview/act3/S62.png 및 production/preview/full/S62.png. 실제 실행 캡처가 아닌 교육용 관계 도식이다. 최종 패키지·PNG·내장 Notes 확인은 production/evaluation/S52_TASK_COMPOSITION_REVISION.md를 따른다.</a:t>
            </a:r>
          </a:p>
          <a:p>
            <a:r>
              <a:t xml:space="preserve"/>
            </a:r>
          </a:p>
          <a:p>
            <a:r>
              <a:t xml:space="preserve">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S63 — 반복 절차를 Skill로 모으는 이유</a:t>
            </a:r>
          </a:p>
          <a:p>
            <a:r>
              <a:t xml:space="preserve"/>
            </a:r>
          </a:p>
          <a:p>
            <a:r>
              <a:t xml:space="preserve">Slide ID:</a:t>
            </a:r>
          </a:p>
          <a:p>
            <a:r>
              <a:t xml:space="preserve">S63</a:t>
            </a:r>
          </a:p>
          <a:p>
            <a:r>
              <a:t xml:space="preserve"/>
            </a:r>
          </a:p>
          <a:p>
            <a:r>
              <a:t xml:space="preserve">Working Title: 반복 절차를 Skill로 모으는 이유</a:t>
            </a:r>
          </a:p>
          <a:p>
            <a:r>
              <a:t xml:space="preserve"/>
            </a:r>
          </a:p>
          <a:p>
            <a:r>
              <a:t xml:space="preserve">ACT / Section: ACT 3 / 3C</a:t>
            </a:r>
          </a:p>
          <a:p>
            <a:r>
              <a:t xml:space="preserve"/>
            </a:r>
          </a:p>
          <a:p>
            <a:r>
              <a:t xml:space="preserve">Allocated Time: 4 minutes</a:t>
            </a:r>
          </a:p>
          <a:p>
            <a:r>
              <a:t xml:space="preserve"/>
            </a:r>
          </a:p>
          <a:p>
            <a:r>
              <a:t xml:space="preserve">Mode Split: Lecture 4 minutes</a:t>
            </a:r>
          </a:p>
          <a:p>
            <a:r>
              <a:t xml:space="preserve"/>
            </a:r>
          </a:p>
          <a:p>
            <a:r>
              <a:t xml:space="preserve">Primary Message: 작업마다 달라지는 목표·허용 범위·보존 조건은 이번 요청에 남기고, 같은 수행 방법은 프로젝트 Skill 한 곳에서 관리해 필요한 작업에 다시 연결하려는 선택이다.</a:t>
            </a:r>
          </a:p>
          <a:p>
            <a:r>
              <a:t xml:space="preserve"/>
            </a:r>
          </a:p>
          <a:p>
            <a:r>
              <a:t xml:space="preserve">Opening Question: “다음 작업에도 같은 방법이 필요하다면, 무엇을 다시 쓰고 무엇을 함께 관리할까?”</a:t>
            </a:r>
          </a:p>
          <a:p>
            <a:r>
              <a:t xml:space="preserve"/>
            </a:r>
          </a:p>
          <a:p>
            <a:r>
              <a:t xml:space="preserve">Speaker Flow:</a:t>
            </a:r>
          </a:p>
          <a:p>
            <a:r>
              <a:t xml:space="preserve">1. (0:00–0:45) S62의 ‘같은 수행 방법이 다음 작업에도 필요하다면?’을 회수한다. 왼쪽 resize_nearest와 normalize는 서로 다른 성능 조사 목표이며 요청은 교육용 요약임을 밝힌다.</a:t>
            </a:r>
          </a:p>
          <a:p>
            <a:r>
              <a:t xml:space="preserve">2. (0:45–1:45) 왼쪽 요청마다 이번 목표·허용 범위·추가 보존 조건을 정함을 짚는다. S62의 기존 프로젝트 기준도 계속 적용된다. 오른쪽은 이 두 작업에 필요한 공통 수행 방법을 프로젝트가 함께 관리할 문서다.</a:t>
            </a:r>
          </a:p>
          <a:p>
            <a:r>
              <a:t xml:space="preserve">3. (1:45–3:00) 오른쪽 Skill 문서에서 두 요청으로 갈라지는 연결을 따라간다. 같은 절차를 매번 다시 작성하지 않고 한 곳에서 검토·수정해 필요한 작업에 연결하려는 이유를 설명한다. 단계별 실행 순서는 S61에서 봤으므로 다시 강의하지 않는다. AGENTS.md에도 절차를 둘 수 있고, Skill은 이 사례에서 선택한 구현임을 덧붙인다.</a:t>
            </a:r>
          </a:p>
          <a:p>
            <a:r>
              <a:t xml:space="preserve">4. (3:00–4:00) DEC-0017의 프로젝트 소유 Skill 선택과 성공 검증을 구분한다. 현재 제품 표면·계정·호출 경로는 별도 확인이며 자동 준수를 보장하지 않는다. 다음 S64의 Codex CLI0.154.0 발견·명시 호출·본문 포함 기록으로 넘어간다.</a:t>
            </a:r>
          </a:p>
          <a:p>
            <a:r>
              <a:t xml:space="preserve"/>
            </a:r>
          </a:p>
          <a:p>
            <a:r>
              <a:t xml:space="preserve">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S65에서 확인한다.</a:t>
            </a:r>
          </a:p>
          <a:p>
            <a:r>
              <a:t xml:space="preserve"/>
            </a:r>
          </a:p>
          <a:p>
            <a:r>
              <a:t xml:space="preserve">보존된 상세 출처: DEC-0017 · 프로젝트 Skill을 선택한 설계 의도 · 왼쪽 요청은 교육용 요약</a:t>
            </a:r>
          </a:p>
          <a:p>
            <a:r>
              <a:t xml:space="preserve"/>
            </a:r>
          </a:p>
          <a:p>
            <a:r>
              <a:t xml:space="preserve">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a:r>
              <a:t xml:space="preserve"/>
            </a:r>
          </a:p>
          <a:p>
            <a:r>
              <a:t xml:space="preserve">보존된 상세 범위: 설계 선택이며 성공 증명 아님 · 현재 제품 표면·계정·호출 경로는 별도 확인</a:t>
            </a:r>
          </a:p>
          <a:p>
            <a:r>
              <a:t xml:space="preserve"/>
            </a:r>
          </a:p>
          <a:p>
            <a:r>
              <a:t xml:space="preserve">Beginner Explanation: 작업마다 원하는 일과 범위는 다시 정하되, 필요한 공통 방법은 같은 문서에서 가져다 쓰도록 설계한다. 절차를 고칠 때도 공통 출처 한 곳에서 검토하려는 것이다.</a:t>
            </a:r>
          </a:p>
          <a:p>
            <a:r>
              <a:t xml:space="preserve"/>
            </a:r>
          </a:p>
          <a:p>
            <a:r>
              <a:t xml:space="preserve">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a:r>
              <a:t xml:space="preserve"/>
            </a:r>
          </a:p>
          <a:p>
            <a:r>
              <a:t xml:space="preserve">C++ Vision Bridge: N/A.</a:t>
            </a:r>
          </a:p>
          <a:p>
            <a:r>
              <a:t xml:space="preserve"/>
            </a:r>
          </a:p>
          <a:p>
            <a:r>
              <a:t xml:space="preserve">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a:r>
              <a:t xml:space="preserve"/>
            </a:r>
          </a:p>
          <a:p>
            <a:r>
              <a:t xml:space="preserve">Audience Interaction: ‘같은 검증 절차를 고칠 때 각 요청을 따로 고칠까요, 공통 방법을 함께 검토할까요?’를 짧게 던지고 한 곳에서 관리한다는 문장으로 회수한다. 별도 실습·Q&amp;A 시간을 추가하지 않는다.</a:t>
            </a:r>
          </a:p>
          <a:p>
            <a:r>
              <a:t xml:space="preserve"/>
            </a:r>
          </a:p>
          <a:p>
            <a:r>
              <a:t xml:space="preserve">Transition: “이제 당시 CLI 기록에서 이 Skill이 어떻게 발견되고, 작업 요청과 함께 호출됐는지 확인하겠습니다.”</a:t>
            </a:r>
          </a:p>
          <a:p>
            <a:r>
              <a:t xml:space="preserve"/>
            </a:r>
          </a:p>
          <a:p>
            <a:r>
              <a:t xml:space="preserve">Time Management:</a:t>
            </a:r>
          </a:p>
          <a:p>
            <a:r>
              <a:t xml:space="preserve">Lecture4분: S62 회수0.75, 요청/기준 구분1, 공통 Skill과 관리 이유1.25, 선택 범위/S60 연결1. 시간이 부족하면 절차 항목 설명을 줄이고 Task별 정보·한 곳의 방법·설계 경계는 유지한다.</a:t>
            </a:r>
          </a:p>
          <a:p>
            <a:r>
              <a:t xml:space="preserve"/>
            </a:r>
          </a:p>
          <a:p>
            <a:r>
              <a:t xml:space="preserve">Fallback:</a:t>
            </a:r>
          </a:p>
          <a:p>
            <a:r>
              <a:t xml:space="preserve">LOCAL STATIC ARTIFACT — production/ACT_3.pptx / S63, production/preview/act3/S63.png 및 production/preview/full/S63.png. 실제 실행 캡처가 아닌 교육용 선택·재사용 도식이다. 최종 패키지·PNG·내장 Notes 확인은 production/evaluation/S53_S54_SKILL_EVIDENCE_REVISION.md를 따른다.</a:t>
            </a:r>
          </a:p>
          <a:p>
            <a:r>
              <a:t xml:space="preserve"/>
            </a:r>
          </a:p>
          <a:p>
            <a:r>
              <a:t xml:space="preserve">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S64 — Skill 발견·호출·본문 포함의 근거</a:t>
            </a:r>
          </a:p>
          <a:p>
            <a:r>
              <a:t xml:space="preserve"/>
            </a:r>
          </a:p>
          <a:p>
            <a:r>
              <a:t xml:space="preserve">Slide ID:</a:t>
            </a:r>
          </a:p>
          <a:p>
            <a:r>
              <a:t xml:space="preserve">S64</a:t>
            </a:r>
          </a:p>
          <a:p>
            <a:r>
              <a:t xml:space="preserve"/>
            </a:r>
          </a:p>
          <a:p>
            <a:r>
              <a:t xml:space="preserve">Working Title: Skill 발견·호출·본문 포함의 근거</a:t>
            </a:r>
          </a:p>
          <a:p>
            <a:r>
              <a:t xml:space="preserve"/>
            </a:r>
          </a:p>
          <a:p>
            <a:r>
              <a:t xml:space="preserve">ACT / Section: ACT 3 / 3C</a:t>
            </a:r>
          </a:p>
          <a:p>
            <a:r>
              <a:t xml:space="preserve"/>
            </a:r>
          </a:p>
          <a:p>
            <a:r>
              <a:t xml:space="preserve">Allocated Time: 5 minutes</a:t>
            </a:r>
          </a:p>
          <a:p>
            <a:r>
              <a:t xml:space="preserve"/>
            </a:r>
          </a:p>
          <a:p>
            <a:r>
              <a:t xml:space="preserve">Mode Split: Demo 5 minutes (HYBRID planned; activation unverified)</a:t>
            </a:r>
          </a:p>
          <a:p>
            <a:r>
              <a:t xml:space="preserve"/>
            </a:r>
          </a:p>
          <a:p>
            <a:r>
              <a:t xml:space="preserve">Primary Message: 당시 CLI에서 Skill을 목록으로 찾고 요청에 명시한 사실과, 실행 trace에 이름·경로·전체 본문이 포함된 근거를 각각 확인한다. 본문이 포함된 사실과 실제 지침 수행은 구분한다.</a:t>
            </a:r>
          </a:p>
          <a:p>
            <a:r>
              <a:t xml:space="preserve"/>
            </a:r>
          </a:p>
          <a:p>
            <a:r>
              <a:t xml:space="preserve">Opening Question: “공통 방법을 Skill에 두었다면, 이번 작업에 실제로 포함됐다는 것을 무엇으로 확인할까요?”</a:t>
            </a:r>
          </a:p>
          <a:p>
            <a:r>
              <a:t xml:space="preserve"/>
            </a:r>
          </a:p>
          <a:p>
            <a:r>
              <a:t xml:space="preserve">Speaker Flow:</a:t>
            </a:r>
          </a:p>
          <a:p>
            <a:r>
              <a:t xml:space="preserve">1. (0:00–0:45) S63의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a:r>
              <a:t xml:space="preserve">2. (0:45–1:45) 왼쪽 /skills 목록에서 graypipe-performance 이름과 잘린 설명을 확인한 기록을 짚는다. 목록에는 파일 경로가 없었다. 화면은 제품 UI 캡처가 아닌 보존된 관찰·문구의 재구성이다.</a:t>
            </a:r>
          </a:p>
          <a:p>
            <a:r>
              <a:t xml:space="preserve">3. (1:45–2:45) 가운데 요청 첫 줄의 $graypipe-performance를 가리킨다. 호출 표기는 실제 문구이며 뒤의 한글은 실제 요청의 번역 요약이다. 사용자가 명시한 호출이다. 암묵 호출을 시험한 결과로 설명하지 않는다.</a:t>
            </a:r>
          </a:p>
          <a:p>
            <a:r>
              <a:t xml:space="preserve">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a:r>
              <a:t xml:space="preserve">5. (4:15–5:00) Codex CLI0.154.0의 성공한 실행에서 관찰한 범위를 말한다. 현재 Desktop이나 모든 지침의 준수를 보장하지 않는다. S65에서 Skill의 지침과 실제 작업 기록을 대응하도록 전환한다.</a:t>
            </a:r>
          </a:p>
          <a:p>
            <a:r>
              <a:t xml:space="preserve"/>
            </a:r>
          </a:p>
          <a:p>
            <a:r>
              <a:t xml:space="preserve">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a:r>
              <a:t xml:space="preserve"/>
            </a:r>
          </a:p>
          <a:p>
            <a:r>
              <a:t xml:space="preserve">보존된 상세 출처: TRIAL-008 · Codex CLI 0.154.0 · 기록 발췌·번역·재구성 (실제 UI 캡처 아님)</a:t>
            </a:r>
          </a:p>
          <a:p>
            <a:r>
              <a:t xml:space="preserve"/>
            </a:r>
          </a:p>
          <a:p>
            <a:r>
              <a:t xml:space="preserve">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a:r>
              <a:t xml:space="preserve"/>
            </a:r>
          </a:p>
          <a:p>
            <a:r>
              <a:t xml:space="preserve">보존된 상세 범위: 별도 load 이벤트 없음 · 지침 준수의 보장은 아님 · 현재 Desktop·암묵 호출 미검증</a:t>
            </a:r>
          </a:p>
          <a:p>
            <a:r>
              <a:t xml:space="preserve"/>
            </a:r>
          </a:p>
          <a:p>
            <a:r>
              <a:t xml:space="preserve">Beginner Explanation: 목록에서 찾은 이름을 이번 요청에 직접 적었다. 이후 실행 기록에 그 Skill의 이름뿐 아니라 경로와 전체 지침이 함께 들어왔는지를 확인했다.</a:t>
            </a:r>
          </a:p>
          <a:p>
            <a:r>
              <a:t xml:space="preserve"/>
            </a:r>
          </a:p>
          <a:p>
            <a:r>
              <a:t xml:space="preserve">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a:r>
              <a:t xml:space="preserve"/>
            </a:r>
          </a:p>
          <a:p>
            <a:r>
              <a:t xml:space="preserve">C++ Vision Bridge: N/A.</a:t>
            </a:r>
          </a:p>
          <a:p>
            <a:r>
              <a:t xml:space="preserve"/>
            </a:r>
          </a:p>
          <a:p>
            <a:r>
              <a:t xml:space="preserve">Demo Operation:</a:t>
            </a:r>
          </a:p>
          <a:p>
            <a:r>
              <a:t xml:space="preserve">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S65로 넘긴다.</a:t>
            </a:r>
          </a:p>
          <a:p>
            <a:r>
              <a:t xml:space="preserve"/>
            </a:r>
          </a:p>
          <a:p>
            <a:r>
              <a:t xml:space="preserve">Audience Interaction: “이름이 목록에 보였다는 것만으로, 이번 작업에 전체 지침이 포함됐다고 말할 수 있을까요?”를 던지고 오른쪽 trace 근거로 회수한다. 별도 실습·Q&amp;A 시간을 추가하지 않는다.</a:t>
            </a:r>
          </a:p>
          <a:p>
            <a:r>
              <a:t xml:space="preserve"/>
            </a:r>
          </a:p>
          <a:p>
            <a:r>
              <a:t xml:space="preserve">Transition: “이름과 전체 본문이 포함된 근거는 확인했습니다. 다음은 그 지침과 실제 작업 기록을 대응해 보겠습니다.”</a:t>
            </a:r>
          </a:p>
          <a:p>
            <a:r>
              <a:t xml:space="preserve"/>
            </a:r>
          </a:p>
          <a:p>
            <a:r>
              <a:t xml:space="preserve">Time Management:</a:t>
            </a:r>
          </a:p>
          <a:p>
            <a:r>
              <a:t xml:space="preserve">Demo5분: S63 회수·업무 목적0.75, 목록1, 요청1, trace1.5, 범위·S65 전환0.75. 시간이 부족하면 영문 설명과 경로를 낭독하지 않고 세 근거의 차이를 짚는다. 본문 포함과 실제 준수의 구분은 생략하지 않는다.</a:t>
            </a:r>
          </a:p>
          <a:p>
            <a:r>
              <a:t xml:space="preserve"/>
            </a:r>
          </a:p>
          <a:p>
            <a:r>
              <a:t xml:space="preserve">Fallback:</a:t>
            </a:r>
          </a:p>
          <a:p>
            <a:r>
              <a:t xml:space="preserve">LOCAL STATIC ARTIFACT — production/ACT_3.pptx / S64, production/preview/act3/S64.png 및 production/preview/full/S64.png.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a:r>
              <a:t xml:space="preserve"/>
            </a:r>
          </a:p>
          <a:p>
            <a:r>
              <a:t xml:space="preserve">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S65 — Skill 지침과 실제 작업 기록의 대응</a:t>
            </a:r>
          </a:p>
          <a:p>
            <a:r>
              <a:t xml:space="preserve"/>
            </a:r>
          </a:p>
          <a:p>
            <a:r>
              <a:t xml:space="preserve">Slide ID:</a:t>
            </a:r>
          </a:p>
          <a:p>
            <a:r>
              <a:t xml:space="preserve">S65</a:t>
            </a:r>
          </a:p>
          <a:p>
            <a:r>
              <a:t xml:space="preserve"/>
            </a:r>
          </a:p>
          <a:p>
            <a:r>
              <a:t xml:space="preserve">Working Title: Skill 지침과 실제 작업 기록의 대응</a:t>
            </a:r>
          </a:p>
          <a:p>
            <a:r>
              <a:t xml:space="preserve"/>
            </a:r>
          </a:p>
          <a:p>
            <a:r>
              <a:t xml:space="preserve">ACT / Section: ACT 3 / 3C</a:t>
            </a:r>
          </a:p>
          <a:p>
            <a:r>
              <a:t xml:space="preserve"/>
            </a:r>
          </a:p>
          <a:p>
            <a:r>
              <a:t xml:space="preserve">Allocated Time: 6 minutes</a:t>
            </a:r>
          </a:p>
          <a:p>
            <a:r>
              <a:t xml:space="preserve"/>
            </a:r>
          </a:p>
          <a:p>
            <a:r>
              <a:t xml:space="preserve">Mode Split: Demo 3 minutes (HYBRID planned; activation unverified) + Case 3 minutes</a:t>
            </a:r>
          </a:p>
          <a:p>
            <a:r>
              <a:t xml:space="preserve"/>
            </a:r>
          </a:p>
          <a:p>
            <a:r>
              <a:t xml:space="preserve">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a:r>
              <a:t xml:space="preserve"/>
            </a:r>
          </a:p>
          <a:p>
            <a:r>
              <a:t xml:space="preserve">Opening Question: “Skill의 전체 본문이 포함됐다는 것만으로, 실제로 그 지침을 수행했다고 말할 수 있을까요?”</a:t>
            </a:r>
          </a:p>
          <a:p>
            <a:r>
              <a:t xml:space="preserve"/>
            </a:r>
          </a:p>
          <a:p>
            <a:r>
              <a:t xml:space="preserve">Speaker Flow:</a:t>
            </a:r>
          </a:p>
          <a:p>
            <a:r>
              <a:t xml:space="preserve">1. (0:00–0:30, Demo) 상단 왼쪽에서 S64의 본문 포함 확인을 회수한다. 오른쪽과 표로 이동해 이번에는 밝기 통계 작업의 수행 기록을 보겠다고 안내한다. 화면은 원문 실행 캡처가 아닌 지침 번역·기록 요약이다.</a:t>
            </a:r>
          </a:p>
          <a:p>
            <a:r>
              <a:t xml:space="preserve">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a:r>
              <a:t xml:space="preserve">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a:r>
              <a:t xml:space="preserve">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a:r>
              <a:t xml:space="preserve">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a:r>
              <a:t xml:space="preserve">6. (4:30–6:00, Case) 재사용할 수행 방법을 Skill에 두고 이번 목표·범위는 요청으로 전달한 역할 분담을 정리한다. 다음 S67에서 반복할 절차와 작업마다 근거로 판단할 답을 나눈다. 후보별 수치·선택 결과나 STATE-04-PERF의 성능 비교는 앞당기지 않는다.</a:t>
            </a:r>
          </a:p>
          <a:p>
            <a:r>
              <a:t xml:space="preserve"/>
            </a:r>
          </a:p>
          <a:p>
            <a:r>
              <a:t xml:space="preserve">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a:r>
              <a:t xml:space="preserve"/>
            </a:r>
          </a:p>
          <a:p>
            <a:r>
              <a:t xml:space="preserve">보존된 상세 출처: TRIAL-008 · Codex CLI 0.154.0 · Skill 번역 요약 + 작업 기록 재구성 (실제 캡처 아님)</a:t>
            </a:r>
          </a:p>
          <a:p>
            <a:r>
              <a:t xml:space="preserve"/>
            </a:r>
          </a:p>
          <a:p>
            <a:r>
              <a:t xml:space="preserve">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a:r>
              <a:t xml:space="preserve"/>
            </a:r>
          </a:p>
          <a:p>
            <a:r>
              <a:t xml:space="preserve">보존된 상세 범위: 관찰된 대응 · 전체 지침 준수·Skill 단독 인과성·우월성·토큰/속도 효과는 입증하지 않음</a:t>
            </a:r>
          </a:p>
          <a:p>
            <a:r>
              <a:t xml:space="preserve"/>
            </a:r>
          </a:p>
          <a:p>
            <a:r>
              <a:t xml:space="preserve">Beginner Explanation: 지침을 받았다는 것은 요청서가 전달됐다는 뜻이다. 실제로 수행했는지는 측정 출력, 변경 전 설명, 변경 내용과 테스트 결과 같은 작업 흔적에서 확인한다.</a:t>
            </a:r>
          </a:p>
          <a:p>
            <a:r>
              <a:t xml:space="preserve"/>
            </a:r>
          </a:p>
          <a:p>
            <a:r>
              <a:t xml:space="preserve">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a:r>
              <a:t xml:space="preserve"/>
            </a:r>
          </a:p>
          <a:p>
            <a:r>
              <a:t xml:space="preserve">C++ Vision Bridge: N/A.</a:t>
            </a:r>
          </a:p>
          <a:p>
            <a:r>
              <a:t xml:space="preserve"/>
            </a:r>
          </a:p>
          <a:p>
            <a:r>
              <a:t xml:space="preserve">Demo Operation:</a:t>
            </a:r>
          </a:p>
          <a:p>
            <a:r>
              <a:t xml:space="preserve">LOCAL STATIC RECORD — S64의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S68–S69로 넘긴다.</a:t>
            </a:r>
          </a:p>
          <a:p>
            <a:r>
              <a:t xml:space="preserve"/>
            </a:r>
          </a:p>
          <a:p>
            <a:r>
              <a:t xml:space="preserve">Audience Interaction: “변경 전에 하겠다고 말한 기록과, 실제로 바꾼 내용을 확인하는 근거가 같을까요?”를 던지고02행의 메시지·diff를 각각 가리킨다. 답변을 기다리며 별도 실습·Q&amp;A 시간을 추가하지 않는다.</a:t>
            </a:r>
          </a:p>
          <a:p>
            <a:r>
              <a:t xml:space="preserve"/>
            </a:r>
          </a:p>
          <a:p>
            <a:r>
              <a:t xml:space="preserve">**Transition:**</a:t>
            </a:r>
          </a:p>
          <a:p>
            <a:r>
              <a:t xml:space="preserve">“지침과 실제 작업 기록을 대응했습니다. 우리 절차도 Codex와 대화하며 Skill로 만들 수 있는지 짧게 보겠습니다.” S66 팁 뒤 S67에서 절차와 작업별 답의 경계를 회수한다.</a:t>
            </a:r>
          </a:p>
          <a:p>
            <a:r>
              <a:t xml:space="preserve"/>
            </a:r>
          </a:p>
          <a:p>
            <a:r>
              <a:t xml:space="preserve">Time Management:</a:t>
            </a:r>
          </a:p>
          <a:p>
            <a:r>
              <a:t xml:space="preserve">Demo3분(본문 포함 회수0.5, 기준선0.75, 계획·diff0.75, 검증1) + Case3분(근거 구분·요청 책임1.5, 범위·S67 연결1.5). 지연 시 명령과 테스트 이름을 낭독하지 않고 행별 대응을 짚는다. 조건부 계획, 입력/수행 구분, 단독 효과 미입증은 생략하지 않는다. 6분에 S67으로 이동한다.</a:t>
            </a:r>
          </a:p>
          <a:p>
            <a:r>
              <a:t xml:space="preserve"/>
            </a:r>
          </a:p>
          <a:p>
            <a:r>
              <a:t xml:space="preserve">Fallback:</a:t>
            </a:r>
          </a:p>
          <a:p>
            <a:r>
              <a:t xml:space="preserve">LOCAL STATIC ARTIFACT — production/ACT_3.pptx의 S65, production/preview/act3/S65.png 및 production/preview/full/S65.png.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a:r>
              <a:t xml:space="preserve"/>
            </a:r>
          </a:p>
          <a:p>
            <a:r>
              <a:t xml:space="preserve">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S66 — 대화로 재사용할 Skill 만들기</a:t>
            </a:r>
          </a:p>
          <a:p>
            <a:r>
              <a:t xml:space="preserve"/>
            </a:r>
          </a:p>
          <a:p>
            <a:r>
              <a:t xml:space="preserve">**Slide ID:**</a:t>
            </a:r>
          </a:p>
          <a:p>
            <a:r>
              <a:t xml:space="preserve">S66</a:t>
            </a:r>
          </a:p>
          <a:p>
            <a:r>
              <a:t xml:space="preserve"/>
            </a:r>
          </a:p>
          <a:p>
            <a:r>
              <a:t xml:space="preserve">**Working Title:**</a:t>
            </a:r>
          </a:p>
          <a:p>
            <a:r>
              <a:t xml:space="preserve">대화로 재사용할 Skill 만들기</a:t>
            </a:r>
          </a:p>
          <a:p>
            <a:r>
              <a:t xml:space="preserve"/>
            </a:r>
          </a:p>
          <a:p>
            <a:r>
              <a:t xml:space="preserve">**ACT / Section:**</a:t>
            </a:r>
          </a:p>
          <a:p>
            <a:r>
              <a:t xml:space="preserve">ACT 3 / 3C Reusable Skill</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Codex의 $skill-creator에 반복할 작업과 사용 조건을 대화로 설명해 Skill 초안을 만들 수 있다. 생성된 지침을 확인하고 대표 요청에 사용해 다듬는다.</a:t>
            </a:r>
          </a:p>
          <a:p>
            <a:r>
              <a:t xml:space="preserve"/>
            </a:r>
          </a:p>
          <a:p>
            <a:r>
              <a:t xml:space="preserve">**Opening Question:**</a:t>
            </a:r>
          </a:p>
          <a:p>
            <a:r>
              <a:t xml:space="preserve">“우리 작업 절차도 파일 문법부터 배우지 않고 Skill로 만들 수 있을까요?”</a:t>
            </a:r>
          </a:p>
          <a:p>
            <a:r>
              <a:t xml:space="preserve"/>
            </a:r>
          </a:p>
          <a:p>
            <a:r>
              <a:t xml:space="preserve">**Speaker Flow:**</a:t>
            </a:r>
          </a:p>
          <a:p>
            <a:r>
              <a:t xml:space="preserve">1. (0:00–0:30 / Lecture) 실제 지침/기록 대응을 본 S65에서 제작 방법이라는 짧은 실무 팁으로 전환한다. 새 Trial이나 기존 Skill 제작 과정을 재현하는 Demo가 아니다.</a:t>
            </a:r>
          </a:p>
          <a:p>
            <a:r>
              <a:t xml:space="preserve">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a:r>
              <a:t xml:space="preserve">3. (1:25–2:00 / Lecture) 오른쪽은 생성 문서의 역할을 보여주는 도식이다. 지침을 검토하고 대표 요청으로 시험해야 한다. 절차와 고정 답을 어떻게 나눌지는 S67의 기존 설명으로 회수한다.</a:t>
            </a:r>
          </a:p>
          <a:p>
            <a:r>
              <a:t xml:space="preserve"/>
            </a:r>
          </a:p>
          <a:p>
            <a:r>
              <a:t xml:space="preserve">**Evidence / Source:**</a:t>
            </a:r>
          </a:p>
          <a:p>
            <a:r>
              <a:t xml:space="preserve">SRC-0111 / CLM-0041; https://learn.chatgpt.com/docs/build-skills; 2026-10-25 재확인; DEC-0093. 명시 호출과 초안 제작 안내를 바탕으로 각색한 요청·문서 도식이다.</a:t>
            </a:r>
          </a:p>
          <a:p>
            <a:r>
              <a:t xml:space="preserve"/>
            </a:r>
          </a:p>
          <a:p>
            <a:r>
              <a:t xml:space="preserve">보존된 상세 출처: OpenAI Build skills · 2026-10-25 확인 · 요청과 생성 문서의 교육용 도식</a:t>
            </a:r>
          </a:p>
          <a:p>
            <a:r>
              <a:t xml:space="preserve"/>
            </a:r>
          </a:p>
          <a:p>
            <a:r>
              <a:t xml:space="preserve">**Claim Boundary:**</a:t>
            </a:r>
          </a:p>
          <a:p>
            <a:r>
              <a:t xml:space="preserve">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a:r>
              <a:t xml:space="preserve"/>
            </a:r>
          </a:p>
          <a:p>
            <a:r>
              <a:t xml:space="preserve">보존된 상세 범위: 현재 제품 활용 팁 · TRIAL-008의 제작 이력이 아님 · 생성 뒤 사용 조건·지침을 검토하고 실제 요청으로 확인</a:t>
            </a:r>
          </a:p>
          <a:p>
            <a:r>
              <a:t xml:space="preserve"/>
            </a:r>
          </a:p>
          <a:p>
            <a:r>
              <a:t xml:space="preserve">**Beginner Explanation:**</a:t>
            </a:r>
          </a:p>
          <a:p>
            <a:r>
              <a:t xml:space="preserve">Skill 파일의 문법부터 직접 외울 필요 없이 Codex에 원하는 작업 방법을 설명해 제작을 시작할 수 있다.</a:t>
            </a:r>
          </a:p>
          <a:p>
            <a:r>
              <a:t xml:space="preserve"/>
            </a:r>
          </a:p>
          <a:p>
            <a:r>
              <a:t xml:space="preserve">**Advanced Insight:**</a:t>
            </a:r>
          </a:p>
          <a:p>
            <a:r>
              <a:t xml:space="preserve">사용 조건·입출력·수행 방법의 범위를 좁히고 생성 지침의 검토와 대표 요청 평가를 구분한다. 좋은 실행 결과·정확성·효율을 자동 보장하지 않는다.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“만드는 시작은 대화로 할 수 있습니다. 그러면 이 Skill에는 어떤 절차를 고정하고 어떤 답을 남겨 둬야 할까요?” 기존 S66이 이동한 S67로 이어간다.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S66 / production/preview/full/S66.png.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S67 — 절차는 재사용하고, 답은 근거로 정한다</a:t>
            </a:r>
          </a:p>
          <a:p>
            <a:r>
              <a:t xml:space="preserve"/>
            </a:r>
          </a:p>
          <a:p>
            <a:r>
              <a:t xml:space="preserve">Slide ID:</a:t>
            </a:r>
          </a:p>
          <a:p>
            <a:r>
              <a:t xml:space="preserve">S67</a:t>
            </a:r>
          </a:p>
          <a:p>
            <a:r>
              <a:t xml:space="preserve"/>
            </a:r>
          </a:p>
          <a:p>
            <a:r>
              <a:t xml:space="preserve">Working Title: 절차는 재사용하고, 답은 근거로 정한다</a:t>
            </a:r>
          </a:p>
          <a:p>
            <a:r>
              <a:t xml:space="preserve"/>
            </a:r>
          </a:p>
          <a:p>
            <a:r>
              <a:t xml:space="preserve">ACT / Section: ACT 3 / 3D</a:t>
            </a:r>
          </a:p>
          <a:p>
            <a:r>
              <a:t xml:space="preserve"/>
            </a:r>
          </a:p>
          <a:p>
            <a:r>
              <a:t xml:space="preserve">Allocated Time: 3 minutes</a:t>
            </a:r>
          </a:p>
          <a:p>
            <a:r>
              <a:t xml:space="preserve"/>
            </a:r>
          </a:p>
          <a:p>
            <a:r>
              <a:t xml:space="preserve">Mode Split: Lecture 3 minutes</a:t>
            </a:r>
          </a:p>
          <a:p>
            <a:r>
              <a:t xml:space="preserve"/>
            </a:r>
          </a:p>
          <a:p>
            <a:r>
              <a:t xml:space="preserve">Primary Message: Skill은 편집 전 재현 가능한 기준선, 검증·비교와 변경 보류 조건을 담는다. 알고리즘·측정값·trade-off는 Task별 근거로 결정하고 정답이나 Trial 수치를 미리 넣지 않는다.</a:t>
            </a:r>
          </a:p>
          <a:p>
            <a:r>
              <a:t xml:space="preserve"/>
            </a:r>
          </a:p>
          <a:p>
            <a:r>
              <a:t xml:space="preserve">Opening Question: “앞 장에서 확인한 것 중, 다음 작업에도 쓸 방법과 이번 기록으로 답해야 할 것은 각각 무엇일까요?”</a:t>
            </a:r>
          </a:p>
          <a:p>
            <a:r>
              <a:t xml:space="preserve"/>
            </a:r>
          </a:p>
          <a:p>
            <a:r>
              <a:t xml:space="preserve">**Speaker Flow:**</a:t>
            </a:r>
          </a:p>
          <a:p>
            <a:r>
              <a:t xml:space="preserve">1. (0:00–0:35) S66에서 대화로 Skill 초안을 만들 수 있음을 봤다. 이제 그 지침 안에서 다음 작업에도 유지할 수행 절차와 이번 Task의 근거로 결정할 답을 나눈다. 앞의 S65 실제 지침/기록 대응을 짧게 회수하되 제작 방법을 반복하지 않는다.</a:t>
            </a:r>
          </a:p>
          <a:p>
            <a:r>
              <a:t xml:space="preserve">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a:r>
              <a:t xml:space="preserve">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a:r>
              <a:t xml:space="preserve">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S68에서 실제 밝기 통계 후보 선택을 확인한다.</a:t>
            </a:r>
          </a:p>
          <a:p>
            <a:r>
              <a:t xml:space="preserve"/>
            </a:r>
          </a:p>
          <a:p>
            <a:r>
              <a:t xml:space="preserve">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a:r>
              <a:t xml:space="preserve"/>
            </a:r>
          </a:p>
          <a:p>
            <a:r>
              <a:t xml:space="preserve">보존된 상세 출처: STATE-04 SKILL.md 번역 요약 + 교육용 질문·판단 경로 · 새 실행 결과가 아님</a:t>
            </a:r>
          </a:p>
          <a:p>
            <a:r>
              <a:t xml:space="preserve"/>
            </a:r>
          </a:p>
          <a:p>
            <a:r>
              <a:t xml:space="preserve">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a:r>
              <a:t xml:space="preserve"/>
            </a:r>
          </a:p>
          <a:p>
            <a:r>
              <a:t xml:space="preserve">보존된 상세 범위: 특정 구현·Trial 수치를 미리 넣지 않았음 · 보류는 허용된 경로이며 TRIAL-008의 관찰 결과 아님</a:t>
            </a:r>
          </a:p>
          <a:p>
            <a:r>
              <a:t xml:space="preserve"/>
            </a:r>
          </a:p>
          <a:p>
            <a:r>
              <a:t xml:space="preserve">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a:r>
              <a:t xml:space="preserve"/>
            </a:r>
          </a:p>
          <a:p>
            <a:r>
              <a:t xml:space="preserve">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a:r>
              <a:t xml:space="preserve"/>
            </a:r>
          </a:p>
          <a:p>
            <a:r>
              <a:t xml:space="preserve">C++ Vision Bridge: N/A.</a:t>
            </a:r>
          </a:p>
          <a:p>
            <a:r>
              <a:t xml:space="preserve"/>
            </a:r>
          </a:p>
          <a:p>
            <a:r>
              <a:t xml:space="preserve">Demo Operation:</a:t>
            </a:r>
          </a:p>
          <a:p>
            <a:r>
              <a:t xml:space="preserve">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S68/S64보다 앞서 공개하지 않는다.</a:t>
            </a:r>
          </a:p>
          <a:p>
            <a:r>
              <a:t xml:space="preserve"/>
            </a:r>
          </a:p>
          <a:p>
            <a:r>
              <a:t xml:space="preserve">Audience Interaction: “같은 Skill을 썼다면 항상 같은 구현을 골라야 할까요?”를 짧게 던진 뒤 오른쪽 근거와 질문으로 회수한다. 공개 답변·실습을 요구하거나 별도 Q&amp;A 시간을 추가하지 않는다.</a:t>
            </a:r>
          </a:p>
          <a:p>
            <a:r>
              <a:t xml:space="preserve"/>
            </a:r>
          </a:p>
          <a:p>
            <a:r>
              <a:t xml:space="preserve">Transition: “그렇다면 밝기 통계의 구현 후보는 어떤 근거로 선택했을까요?”</a:t>
            </a:r>
          </a:p>
          <a:p>
            <a:r>
              <a:t xml:space="preserve"/>
            </a:r>
          </a:p>
          <a:p>
            <a:r>
              <a:t xml:space="preserve">Time Management:</a:t>
            </a:r>
          </a:p>
          <a:p>
            <a:r>
              <a:t xml:space="preserve">Lecture3분: S65 회수0.5, 재사용 방법0.75, 이번 근거·답1, 채택/보류와 S68 연결0.75. 지연 시 지침 원문과 세 질문을 전부 낭독하지 않는다. 허용된 보류와 실제 결과의 구분은 생략하지 않고3분에 S68으로 이동한다.</a:t>
            </a:r>
          </a:p>
          <a:p>
            <a:r>
              <a:t xml:space="preserve"/>
            </a:r>
          </a:p>
          <a:p>
            <a:r>
              <a:t xml:space="preserve">Fallback:</a:t>
            </a:r>
          </a:p>
          <a:p>
            <a:r>
              <a:t xml:space="preserve">LOCAL STATIC ARTIFACT — production/ACT_3.pptx의 S67, production/preview/act3/S67.png 및 production/preview/full/S67.png. 실제 Skill 요약과 교육용 판단 경로를 구분해 설명한다. 현재 제품이나 Demo repository를 실행하지 않는다. 최종 패키지·PNG·내장 Notes 대조는 production/evaluation/S56_REUSABLE_PROCEDURE_REVISION.md를 따른다.</a:t>
            </a:r>
          </a:p>
          <a:p>
            <a:r>
              <a:t xml:space="preserve"/>
            </a:r>
          </a:p>
          <a:p>
            <a:r>
              <a:t xml:space="preserve">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S68 — 밝기 통계 계산의 성능 개선 후보</a:t>
            </a:r>
          </a:p>
          <a:p>
            <a:r>
              <a:t xml:space="preserve"/>
            </a:r>
          </a:p>
          <a:p>
            <a:r>
              <a:t xml:space="preserve">Slide ID:</a:t>
            </a:r>
          </a:p>
          <a:p>
            <a:r>
              <a:t xml:space="preserve">S68</a:t>
            </a:r>
          </a:p>
          <a:p>
            <a:r>
              <a:t xml:space="preserve"/>
            </a:r>
          </a:p>
          <a:p>
            <a:r>
              <a:t xml:space="preserve">Working Title: 밝기 통계 계산의 성능 개선 후보</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TRIAL-008에서는 결과 6항목을 보존한 후보들의 실행시간과 traced allocation을 함께 봤다. 느린 수동 순회는 제외하고 낮은 할당량과 더 나은 실행시간의 행 단위 reduction을 선택했다.</a:t>
            </a:r>
          </a:p>
          <a:p>
            <a:r>
              <a:t xml:space="preserve"/>
            </a:r>
          </a:p>
          <a:p>
            <a:r>
              <a:t xml:space="preserve">Opening Question: “밝기 통계의 결과를 유지하면서, 어떤 계산 방식을 선택했을까요?”</a:t>
            </a:r>
          </a:p>
          <a:p>
            <a:r>
              <a:t xml:space="preserve"/>
            </a:r>
          </a:p>
          <a:p>
            <a:r>
              <a:t xml:space="preserve">Speaker Flow:</a:t>
            </a:r>
          </a:p>
          <a:p>
            <a:r>
              <a:t xml:space="preserve">1. (0:00–0:45) S67의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a:r>
              <a:t xml:space="preserve">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a:r>
              <a:t xml:space="preserve">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a:r>
              <a:t xml:space="preserve">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a:r>
              <a:t xml:space="preserve">5. (4:15–5:00) Skill에 정답 알고리즘을 미리 넣은 사례가 아니다. 절차를 따라 얻은 조사·측정·검증 기록으로 구현을 선택했다. 다음 S69은 이 후보 비교와 별도로 실제 제품 상태에 반영한 변경을 확인한 기록이다.</a:t>
            </a:r>
          </a:p>
          <a:p>
            <a:r>
              <a:t xml:space="preserve"/>
            </a:r>
          </a:p>
          <a:p>
            <a:r>
              <a:t xml:space="preserve">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a:r>
              <a:t xml:space="preserve"/>
            </a:r>
          </a:p>
          <a:p>
            <a:r>
              <a:t xml:space="preserve">보존된 상세 출처: TRIAL-008 기록 요약·구현 도식 · 합성1024×768 · CPython3.9.6 / macOS arm64</a:t>
            </a:r>
          </a:p>
          <a:p>
            <a:r>
              <a:t xml:space="preserve"/>
            </a:r>
          </a:p>
          <a:p>
            <a:r>
              <a:t xml:space="preserve">Claim Boundary:</a:t>
            </a:r>
          </a:p>
          <a:p>
            <a:r>
              <a:t xml:space="preserve">S68에는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S69의 formal STATE-04/STATE-04-PERF 측정과 섞지 않는다. Skill 단독 인과성·알고리즘 제공·현재 Desktop 재현·일반 성능 보장은 주장하지 않는다.</a:t>
            </a:r>
          </a:p>
          <a:p>
            <a:r>
              <a:t xml:space="preserve"/>
            </a:r>
          </a:p>
          <a:p>
            <a:r>
              <a:t xml:space="preserve">보존된 상세 범위: 임시 메모리: Python 할당 피크 · 다음 장의 제품 상태 측정과 별개 · Skill 단독 효과 미입증</a:t>
            </a:r>
          </a:p>
          <a:p>
            <a:r>
              <a:t xml:space="preserve"/>
            </a:r>
          </a:p>
          <a:p>
            <a:r>
              <a:t xml:space="preserve">Beginner Explanation: 같은 통계를 구해도 계산 중에 큰 임시 리스트를 만들 수 있다. 이 리스트 없이 계산한 두 방법 모두 결과와 메모리를 확인했고, 두 방법의 실행시간도 비교해서 골랐다.</a:t>
            </a:r>
          </a:p>
          <a:p>
            <a:r>
              <a:t xml:space="preserve"/>
            </a:r>
          </a:p>
          <a:p>
            <a:r>
              <a:t xml:space="preserve">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a:r>
              <a:t xml:space="preserve"/>
            </a:r>
          </a:p>
          <a:p>
            <a:r>
              <a:t xml:space="preserve">C++ Vision Bridge: N/A.</a:t>
            </a:r>
          </a:p>
          <a:p>
            <a:r>
              <a:t xml:space="preserve"/>
            </a:r>
          </a:p>
          <a:p>
            <a:r>
              <a:t xml:space="preserve">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a:r>
              <a:t xml:space="preserve"/>
            </a:r>
          </a:p>
          <a:p>
            <a:r>
              <a:t xml:space="preserve">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a:r>
              <a:t xml:space="preserve"/>
            </a:r>
          </a:p>
          <a:p>
            <a:r>
              <a:t xml:space="preserve">Transition: “선택한 행 단위 계산을 제품 코드에 반영한 뒤, 실행시간·임시 메모리·동작을 다시 확인한 기록을 보겠습니다.”</a:t>
            </a:r>
          </a:p>
          <a:p>
            <a:r>
              <a:t xml:space="preserve"/>
            </a:r>
          </a:p>
          <a:p>
            <a:r>
              <a:t xml:space="preserve">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a:r>
              <a:t xml:space="preserve"/>
            </a:r>
          </a:p>
          <a:p>
            <a:r>
              <a:t xml:space="preserve">Fallback:</a:t>
            </a:r>
          </a:p>
          <a:p>
            <a:r>
              <a:t xml:space="preserve">LOCAL STATIC ARTIFACT — production/ACT_3.pptx의 S68, production/preview/act3/S68.png 및 production/preview/full/S68.png. 보존된 후보 비교와 구현 구조를 재구성한 도식이다. 현재 제품이나 Demo repository를 실행하지 않는다. 최신 대조는 production/evaluation/S57_S58_TASK_RESULT_REVISION.md를 따른다.</a:t>
            </a:r>
          </a:p>
          <a:p>
            <a:r>
              <a:t xml:space="preserve"/>
            </a:r>
          </a:p>
          <a:p>
            <a:r>
              <a:t xml:space="preserve">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S69 — 선택한 변경의 시간·메모리·동작 확인</a:t>
            </a:r>
          </a:p>
          <a:p>
            <a:r>
              <a:t xml:space="preserve"/>
            </a:r>
          </a:p>
          <a:p>
            <a:r>
              <a:t xml:space="preserve">Slide ID:</a:t>
            </a:r>
          </a:p>
          <a:p>
            <a:r>
              <a:t xml:space="preserve">S69</a:t>
            </a:r>
          </a:p>
          <a:p>
            <a:r>
              <a:t xml:space="preserve"/>
            </a:r>
          </a:p>
          <a:p>
            <a:r>
              <a:t xml:space="preserve">Working Title: 선택한 변경의 시간·메모리·동작 확인</a:t>
            </a:r>
          </a:p>
          <a:p>
            <a:r>
              <a:t xml:space="preserve"/>
            </a:r>
          </a:p>
          <a:p>
            <a:r>
              <a:t xml:space="preserve">ACT / Section: ACT 3 / 3D</a:t>
            </a:r>
          </a:p>
          <a:p>
            <a:r>
              <a:t xml:space="preserve"/>
            </a:r>
          </a:p>
          <a:p>
            <a:r>
              <a:t xml:space="preserve">Allocated Time: 5 minutes</a:t>
            </a:r>
          </a:p>
          <a:p>
            <a:r>
              <a:t xml:space="preserve"/>
            </a:r>
          </a:p>
          <a:p>
            <a:r>
              <a:t xml:space="preserve">Mode Split: Case 5 minutes</a:t>
            </a:r>
          </a:p>
          <a:p>
            <a:r>
              <a:t xml:space="preserve"/>
            </a:r>
          </a:p>
          <a:p>
            <a:r>
              <a:t xml:space="preserve">Primary Message: STATE-04→STATE-04-PERF 밝기 통계 변경은 기록된 입력·환경에서 동작 검사와 같은 조건의 측정을 거쳤다. 기존 수치와 검사 결과를 유지하고 Harness/Skill의 단독 인과효과와 구분한다.</a:t>
            </a:r>
          </a:p>
          <a:p>
            <a:r>
              <a:t xml:space="preserve"/>
            </a:r>
          </a:p>
          <a:p>
            <a:r>
              <a:t xml:space="preserve">Opening Question: “선택한 변경을 제품에 반영한 뒤, 시간·메모리·동작은 각각 어떻게 확인됐을까요?”</a:t>
            </a:r>
          </a:p>
          <a:p>
            <a:r>
              <a:t xml:space="preserve"/>
            </a:r>
          </a:p>
          <a:p>
            <a:r>
              <a:t xml:space="preserve">Speaker Flow:</a:t>
            </a:r>
          </a:p>
          <a:p>
            <a:r>
              <a:t xml:space="preserve">1. (0:00–0:45) S68에서 선택한 ‘큰 임시 리스트 없이 행마다 내장 min/max/sum 계산’을 위쪽 문장으로 회수한다. 이제 후보 비교가 아니라 정식 제품 코드 변경 전후의 별도 측정 기록이다.</a:t>
            </a:r>
          </a:p>
          <a:p>
            <a:r>
              <a:t xml:space="preserve">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a:r>
              <a:t xml:space="preserve">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a:r>
              <a:t xml:space="preserve">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a:r>
              <a:t xml:space="preserve">5. (4:15–5:00) 재사용 절차 안에서 변경과 검증을 마친 사례로 회수한다. Harness/Skill이 단독으로 개선을 일으켰다는 실험은 아니다. 다음에는 이 작업에 독립 조사를 나누는 구조까지 필요했는지 질문한다.</a:t>
            </a:r>
          </a:p>
          <a:p>
            <a:r>
              <a:t xml:space="preserve"/>
            </a:r>
          </a:p>
          <a:p>
            <a:r>
              <a:t xml:space="preserve">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a:r>
              <a:t xml:space="preserve"/>
            </a:r>
          </a:p>
          <a:p>
            <a:r>
              <a:t xml:space="preserve">보존된 상세 출처: STATE-04 → STATE-04-PERF · 동일 합성1024×768 · CPython3.9.6 / macOS arm64</a:t>
            </a:r>
          </a:p>
          <a:p>
            <a:r>
              <a:t xml:space="preserve"/>
            </a:r>
          </a:p>
          <a:p>
            <a:r>
              <a:t xml:space="preserve">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a:r>
              <a:t xml:space="preserve"/>
            </a:r>
          </a:p>
          <a:p>
            <a:r>
              <a:t xml:space="preserve">보존된 상세 범위: 이 입력·환경의 코드 변경 결과 · Python 할당 피크는 RSS 아님 · Harness/Skill 단독 효과 미입증</a:t>
            </a:r>
          </a:p>
          <a:p>
            <a:r>
              <a:t xml:space="preserve"/>
            </a:r>
          </a:p>
          <a:p>
            <a:r>
              <a:t xml:space="preserve">Beginner Explanation: 바뀐 코드가 빨라졌는지만 보지 않았다. 같은 입력에서 걸린 시간, 계산 중 임시로 할당한 메모리, 같은 답과 테스트 결과를 함께 확인했다.</a:t>
            </a:r>
          </a:p>
          <a:p>
            <a:r>
              <a:t xml:space="preserve"/>
            </a:r>
          </a:p>
          <a:p>
            <a:r>
              <a:t xml:space="preserve">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a:r>
              <a:t xml:space="preserve"/>
            </a:r>
          </a:p>
          <a:p>
            <a:r>
              <a:t xml:space="preserve">C++ Vision Bridge: N/A.</a:t>
            </a:r>
          </a:p>
          <a:p>
            <a:r>
              <a:t xml:space="preserve"/>
            </a:r>
          </a:p>
          <a:p>
            <a:r>
              <a:t xml:space="preserve">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a:r>
              <a:t xml:space="preserve"/>
            </a:r>
          </a:p>
          <a:p>
            <a:r>
              <a:t xml:space="preserve">Audience Interaction: 세 영역을 가리키며 Opening Question을 짧게 던진다. 결과가 공개된 정적 기록으로 설명하고 추가 실습이나 공개 답변 시간을 요구하지 않는다.</a:t>
            </a:r>
          </a:p>
          <a:p>
            <a:r>
              <a:t xml:space="preserve"/>
            </a:r>
          </a:p>
          <a:p>
            <a:r>
              <a:t xml:space="preserve">Transition: “이 작업에 더 필요했던 구조도 있었을까요? 역할을 나누는 선택부터 검토하겠습니다.”</a:t>
            </a:r>
          </a:p>
          <a:p>
            <a:r>
              <a:t xml:space="preserve"/>
            </a:r>
          </a:p>
          <a:p>
            <a:r>
              <a:t xml:space="preserve">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a:r>
              <a:t xml:space="preserve"/>
            </a:r>
          </a:p>
          <a:p>
            <a:r>
              <a:t xml:space="preserve">Fallback:</a:t>
            </a:r>
          </a:p>
          <a:p>
            <a:r>
              <a:t xml:space="preserve">LOCAL STATIC ARTIFACT — production/ACT_3.pptx의 S69, production/preview/act3/S69.png 및 production/preview/full/S69.png. 보존된 제품 전후 측정·검증 기록의 재구성이다. 현재 실행 캡처가 아니다. 최신 파일 대조는 production/evaluation/S57_S58_TASK_RESULT_REVISION.md를 따른다.</a:t>
            </a:r>
          </a:p>
          <a:p>
            <a:r>
              <a:t xml:space="preserve"/>
            </a:r>
          </a:p>
          <a:p>
            <a:r>
              <a:t xml:space="preserve">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S70 — 한 Agent 조사와 Subagent 역할 분리</a:t>
            </a:r>
          </a:p>
          <a:p>
            <a:r>
              <a:t xml:space="preserve"/>
            </a:r>
          </a:p>
          <a:p>
            <a:r>
              <a:t xml:space="preserve">Slide ID:</a:t>
            </a:r>
          </a:p>
          <a:p>
            <a:r>
              <a:t xml:space="preserve">S70</a:t>
            </a:r>
          </a:p>
          <a:p>
            <a:r>
              <a:t xml:space="preserve"/>
            </a:r>
          </a:p>
          <a:p>
            <a:r>
              <a:t xml:space="preserve">Working Title: 한 Agent 조사와 Subagent 역할 분리</a:t>
            </a:r>
          </a:p>
          <a:p>
            <a:r>
              <a:t xml:space="preserve"/>
            </a:r>
          </a:p>
          <a:p>
            <a:r>
              <a:t xml:space="preserve">ACT / Section: ACT 3 / 3E</a:t>
            </a:r>
          </a:p>
          <a:p>
            <a:r>
              <a:t xml:space="preserve"/>
            </a:r>
          </a:p>
          <a:p>
            <a:r>
              <a:t xml:space="preserve">Allocated Time: 4 minutes</a:t>
            </a:r>
          </a:p>
          <a:p>
            <a:r>
              <a:t xml:space="preserve"/>
            </a:r>
          </a:p>
          <a:p>
            <a:r>
              <a:t xml:space="preserve">Mode Split: Demo 3 minutes (VISUAL) + Q&amp;A 1 minute</a:t>
            </a:r>
          </a:p>
          <a:p>
            <a:r>
              <a:t xml:space="preserve"/>
            </a:r>
          </a:p>
          <a:p>
            <a:r>
              <a:t xml:space="preserve">Primary Message: 독립 조사와 별도 Context의 가치가 있고 결과 형식·전달 지점·통합 책임을 정할 수 있다면 역할 분리를 검토한다. C++ Vision 사례는 교육용 가정이며 조정·중복·전달·통합 비용을 함께 본다.</a:t>
            </a:r>
          </a:p>
          <a:p>
            <a:r>
              <a:t xml:space="preserve"/>
            </a:r>
          </a:p>
          <a:p>
            <a:r>
              <a:t xml:space="preserve">Opening Question: “성능·빌드·테스트 조사가 서로 기다리지 않아도 된다면?”</a:t>
            </a:r>
          </a:p>
          <a:p>
            <a:r>
              <a:t xml:space="preserve"/>
            </a:r>
          </a:p>
          <a:p>
            <a:r>
              <a:t xml:space="preserve">Speaker Flow:</a:t>
            </a:r>
          </a:p>
          <a:p>
            <a:r>
              <a:t xml:space="preserve">1. (0:00–0:30 / Demo) S69의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a:r>
              <a:t xml:space="preserve">2. (0:30–1:15 / Demo) 왼쪽 한 Agent가 세 조사와 결과 종합을 모두 맡는 모습을 짚는다. 성능은 소스·측정, 빌드는 환경·설정, 테스트는 테스트·명세를 본다. 단일 Agent 방식이 실패하거나 느리다는 뜻은 아니다.</a:t>
            </a:r>
          </a:p>
          <a:p>
            <a:r>
              <a:t xml:space="preserve">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a:r>
              <a:t xml:space="preserve">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a:r>
              <a:t xml:space="preserve">5. (3:00–4:00 / Q&amp;A) “빌드 조사 결과가 나와야 성능 조사를 시작할 수 있다면, 이 구성을 그대로 쓸 수 있을까요?”로 독립성 판단을 받는다. 무질문이면 이 질문을 발표자가 짧게 회수한다. 3:45에 질문을 닫고 S72의 실제 밝기 통계 작업 판단으로 이동한다.</a:t>
            </a:r>
          </a:p>
          <a:p>
            <a:r>
              <a:t xml:space="preserve"/>
            </a:r>
          </a:p>
          <a:p>
            <a:r>
              <a:t xml:space="preserve">Evidence / Source: CONCEPTUAL / TEACHING_MODEL — 기존 C++ 성능 경로·빌드 환경·테스트 구조의 독립 조사 가정, BEAT-023–025 / INV-MATURITY-007, plan/DEMO_ARCHITECTURE.md와 plan/DEMO_MATRIX.md의 DEMO-07, DEC-0062/0071. DEC-0018의 실제 추가하지 않음 판단은 S73에 유지한다. 새 Subagent 실행이나 비교 실험은 없다.; DEC-0080.</a:t>
            </a:r>
          </a:p>
          <a:p>
            <a:r>
              <a:t xml:space="preserve"/>
            </a:r>
          </a:p>
          <a:p>
            <a:r>
              <a:t xml:space="preserve">보존된 상세 출처: CONCEPTUAL · C++ 검사 프로젝트의 독립 조사 가정 · 실제 Subagent 실행 아님</a:t>
            </a:r>
          </a:p>
          <a:p>
            <a:r>
              <a:t xml:space="preserve"/>
            </a:r>
          </a:p>
          <a:p>
            <a:r>
              <a:t xml:space="preserve">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a:r>
              <a:t xml:space="preserve"/>
            </a:r>
          </a:p>
          <a:p>
            <a:r>
              <a:t xml:space="preserve">보존된 상세 범위: 역할별로 필요한 정보 분리 · 조정·중복·전달·통합 비용 존재 · 시간·품질 이득 미측정</a:t>
            </a:r>
          </a:p>
          <a:p>
            <a:r>
              <a:t xml:space="preserve"/>
            </a:r>
          </a:p>
          <a:p>
            <a:r>
              <a:t xml:space="preserve">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a:r>
              <a:t xml:space="preserve"/>
            </a:r>
          </a:p>
          <a:p>
            <a:r>
              <a:t xml:space="preserve">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a:r>
              <a:t xml:space="preserve"/>
            </a:r>
          </a:p>
          <a:p>
            <a:r>
              <a:t xml:space="preserve">C++ Vision Bridge: CONTEXTUAL — 기존 C++ 검사 프로젝트의 성능 경로·빌드 환경·테스트 구조 조사 가정이다. 실제 C++ 구현이나 Subagent 실행이 아니다.</a:t>
            </a:r>
          </a:p>
          <a:p>
            <a:r>
              <a:t xml:space="preserve"/>
            </a:r>
          </a:p>
          <a:p>
            <a:r>
              <a:t xml:space="preserve">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a:r>
              <a:t xml:space="preserve"/>
            </a:r>
          </a:p>
          <a:p>
            <a:r>
              <a:t xml:space="preserve">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a:r>
              <a:t xml:space="preserve"/>
            </a:r>
          </a:p>
          <a:p>
            <a:r>
              <a:t xml:space="preserve">**Transition:**</a:t>
            </a:r>
          </a:p>
          <a:p>
            <a:r>
              <a:t xml:space="preserve">“독립 조사 역할을 나눌 수 있다면, 그 역할은 Codex에서 어떻게 만들어 다시 쓸까요?” S71 제작 팁을 거친 뒤 S72의 실제 밝기 통계 판단으로 돌아온다.</a:t>
            </a:r>
          </a:p>
          <a:p>
            <a:r>
              <a:t xml:space="preserve"/>
            </a:r>
          </a:p>
          <a:p>
            <a:r>
              <a:t xml:space="preserve">Time Management:</a:t>
            </a:r>
          </a:p>
          <a:p>
            <a:r>
              <a:t xml:space="preserve">Demo3분(VISUAL): 앞 장 회수·가정0.5, 단일 Agent0.75, 역할 분담1, 통합·비용0.75. Q&amp;A1분: 질문·회수0.75, cutoff·전환0.25. 지연 시 조사별 세부 자료 낭독을 줄이고 독립성, 같은 주 Agent의 통합 책임, 가정이라는 경계를 유지한다. 4분에 S72으로 이동한다.</a:t>
            </a:r>
          </a:p>
          <a:p>
            <a:r>
              <a:t xml:space="preserve"/>
            </a:r>
          </a:p>
          <a:p>
            <a:r>
              <a:t xml:space="preserve">Fallback:</a:t>
            </a:r>
          </a:p>
          <a:p>
            <a:r>
              <a:t xml:space="preserve">LOCAL STATIC ARTIFACT — production/ACT_3.pptx의 S70, production/preview/act3/S70.png 및 production/preview/full/S70.png. 표시된 CONCEPTUAL 역할 도식이며 실제 실행 캡처가 아니다. 현재 파일·경로·내용 대조는 production/evaluation/S59_ROLE_SPLIT_REVISION.md와 demos/runbooks/FALLBACK_MANIFEST.md를 따른다. 실제 발표 PC의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S71 — 대화로 조사 Agent 만들기</a:t>
            </a:r>
          </a:p>
          <a:p>
            <a:r>
              <a:t xml:space="preserve"/>
            </a:r>
          </a:p>
          <a:p>
            <a:r>
              <a:t xml:space="preserve">**Slide ID:**</a:t>
            </a:r>
          </a:p>
          <a:p>
            <a:r>
              <a:t xml:space="preserve">S71</a:t>
            </a:r>
          </a:p>
          <a:p>
            <a:r>
              <a:t xml:space="preserve"/>
            </a:r>
          </a:p>
          <a:p>
            <a:r>
              <a:t xml:space="preserve">**Working Title:**</a:t>
            </a:r>
          </a:p>
          <a:p>
            <a:r>
              <a:t xml:space="preserve">대화로 조사 Agent 만들기</a:t>
            </a:r>
          </a:p>
          <a:p>
            <a:r>
              <a:t xml:space="preserve"/>
            </a:r>
          </a:p>
          <a:p>
            <a:r>
              <a:t xml:space="preserve">**ACT / Section:**</a:t>
            </a:r>
          </a:p>
          <a:p>
            <a:r>
              <a:t xml:space="preserve">ACT 3 / 3E Conditional Subagent Decision</a:t>
            </a:r>
          </a:p>
          <a:p>
            <a:r>
              <a:t xml:space="preserve"/>
            </a:r>
          </a:p>
          <a:p>
            <a:r>
              <a:t xml:space="preserve">**Allocated Time:**</a:t>
            </a:r>
          </a:p>
          <a:p>
            <a:r>
              <a:t xml:space="preserve">2 minutes</a:t>
            </a:r>
          </a:p>
          <a:p>
            <a:r>
              <a:t xml:space="preserve"/>
            </a:r>
          </a:p>
          <a:p>
            <a:r>
              <a:t xml:space="preserve">**Mode Split:**</a:t>
            </a:r>
          </a:p>
          <a:p>
            <a:r>
              <a:t xml:space="preserve">Lecture 2 minutes</a:t>
            </a:r>
          </a:p>
          <a:p>
            <a:r>
              <a:t xml:space="preserve"/>
            </a:r>
          </a:p>
          <a:p>
            <a:r>
              <a:t xml:space="preserve">**Primary Message:**</a:t>
            </a:r>
          </a:p>
          <a:p>
            <a:r>
              <a:t xml:space="preserve">Codex에 역할·사용 조건·보고 범위를 설명해 프로젝트용 Custom Agent TOML 작성을 요청할 수 있다. 파일의 역할 지침을 확인하고 다음 요청에서 그 이름의 Subagent로 조사를 명시한다.</a:t>
            </a:r>
          </a:p>
          <a:p>
            <a:r>
              <a:t xml:space="preserve"/>
            </a:r>
          </a:p>
          <a:p>
            <a:r>
              <a:t xml:space="preserve">**Opening Question:**</a:t>
            </a:r>
          </a:p>
          <a:p>
            <a:r>
              <a:t xml:space="preserve">“반복해서 맡기는 조사 역할을 Codex에서 어떻게 만들어 다시 쓸까요?”</a:t>
            </a:r>
          </a:p>
          <a:p>
            <a:r>
              <a:t xml:space="preserve"/>
            </a:r>
          </a:p>
          <a:p>
            <a:r>
              <a:t xml:space="preserve">**Speaker Flow:**</a:t>
            </a:r>
          </a:p>
          <a:p>
            <a:r>
              <a:t xml:space="preserve">1. (0:00–0:30 / Lecture) S70의 독립 조사 분담 가정에서 실제 Codex 활용 방법으로 잠시 전환한다. 일회성 분담은 요청만으로 시작할 수 있고 이 장은 같은 역할을 다시 쓰려는 Custom Agent 설정 예시임을 설명한다.</a:t>
            </a:r>
          </a:p>
          <a:p>
            <a:r>
              <a:t xml:space="preserve">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a:r>
              <a:t xml:space="preserve">3. (1:25–2:00 / Lecture) 하단 요청에서 이름과 Subagent 분담을 명시하고 주 Agent가 결과를 기다려 근거를 확인·종합한다. 권한은 부모 설정을 따르며 코드 수정 금지 지침 자체가 권한 격리는 아니다. 실제 실행은 하지 않고 S72의 왜 분담하지 않았는지로 돌아온다.</a:t>
            </a:r>
          </a:p>
          <a:p>
            <a:r>
              <a:t xml:space="preserve"/>
            </a:r>
          </a:p>
          <a:p>
            <a:r>
              <a:t xml:space="preserve">**Evidence / Source:**</a:t>
            </a:r>
          </a:p>
          <a:p>
            <a:r>
              <a:t xml:space="preserve">SRC-0112 / CLM-0042; https://learn.chatgpt.com/docs/agent-configuration/subagents; 2026-10-25 재확인; DEC-0093. 공식 Custom agents의 프로젝트 .codex/agents/*.toml 및 name/description/developer_instructions와 명시적 분담 요청을 바탕으로 각색했다.</a:t>
            </a:r>
          </a:p>
          <a:p>
            <a:r>
              <a:t xml:space="preserve"/>
            </a:r>
          </a:p>
          <a:p>
            <a:r>
              <a:t xml:space="preserve">보존된 상세 출처: OpenAI Subagents · 2026-10-25 확인 · Custom Agent 설정·사용 요청의 교육용 도식</a:t>
            </a:r>
          </a:p>
          <a:p>
            <a:r>
              <a:t xml:space="preserve"/>
            </a:r>
          </a:p>
          <a:p>
            <a:r>
              <a:t xml:space="preserve">**Claim Boundary:**</a:t>
            </a:r>
          </a:p>
          <a:p>
            <a:r>
              <a:t xml:space="preserve">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a:r>
              <a:t xml:space="preserve"/>
            </a:r>
          </a:p>
          <a:p>
            <a:r>
              <a:t xml:space="preserve">보존된 상세 범위: 일회성 분담은 요청만으로 가능 · 반복 역할은 설정으로 재사용 · 실제 생성·실행 결과가 아니며 대상 환경에서 확인</a:t>
            </a:r>
          </a:p>
          <a:p>
            <a:r>
              <a:t xml:space="preserve"/>
            </a:r>
          </a:p>
          <a:p>
            <a:r>
              <a:t xml:space="preserve">**Beginner Explanation:**</a:t>
            </a:r>
          </a:p>
          <a:p>
            <a:r>
              <a:t xml:space="preserve">어떤 조사를 언제 맡기고 무엇을 받으려는지 Codex에 설명하면 재사용할 역할 설정부터 작성하도록 요청할 수 있다.</a:t>
            </a:r>
          </a:p>
          <a:p>
            <a:r>
              <a:t xml:space="preserve"/>
            </a:r>
          </a:p>
          <a:p>
            <a:r>
              <a:t xml:space="preserve">**Advanced Insight:**</a:t>
            </a:r>
          </a:p>
          <a:p>
            <a:r>
              <a:t xml:space="preserve">임시 분담과 재사용 가능한 역할 정의를 구분한다. 설정 파일의 필수 필드·역할 범위와 부모 권한의 상속, 주 Agent의 근거 검토·통합 책임을 분리한다.</a:t>
            </a:r>
          </a:p>
          <a:p>
            <a:r>
              <a:t xml:space="preserve"/>
            </a:r>
          </a:p>
          <a:p>
            <a:r>
              <a:t xml:space="preserve">**C++ Vision Bridge:**</a:t>
            </a:r>
          </a:p>
          <a:p>
            <a:r>
              <a:t xml:space="preserve">없음. 제작 경로와 역할 범위를 설명하며 C++ 도구 목록을 추가하지 않는다.</a:t>
            </a:r>
          </a:p>
          <a:p>
            <a:r>
              <a:t xml:space="preserve"/>
            </a:r>
          </a:p>
          <a:p>
            <a:r>
              <a:t xml:space="preserve">**Demo Operation:**</a:t>
            </a:r>
          </a:p>
          <a:p>
            <a:r>
              <a:t xml:space="preserve">N/A — 정적 교육용 요청/문서 도식. 실제 Skill/Agent를 만들거나 호출하지 않는다. 현재 로컬 사용자 환경·Demo 저장소의 설정도 바꾸지 않는다.</a:t>
            </a:r>
          </a:p>
          <a:p>
            <a:r>
              <a:t xml:space="preserve"/>
            </a:r>
          </a:p>
          <a:p>
            <a:r>
              <a:t xml:space="preserve">**Audience Interaction:**</a:t>
            </a:r>
          </a:p>
          <a:p>
            <a:r>
              <a:t xml:space="preserve">Lecture2분. 질문은 생각을 돕기 위한 것이며 실습·파일 생성·공개 답변을 요구하지 않는다.</a:t>
            </a:r>
          </a:p>
          <a:p>
            <a:r>
              <a:t xml:space="preserve"/>
            </a:r>
          </a:p>
          <a:p>
            <a:r>
              <a:t xml:space="preserve">**Transition:**</a:t>
            </a:r>
          </a:p>
          <a:p>
            <a:r>
              <a:t xml:space="preserve">“필요할 때 역할을 만들어 쓸 수 있습니다. 하지만 이 밝기 통계 작업에서도 나눌 필요가 있었을까요?” 이전 S70이 이동한 S72에서 실제 보류 판단을 회수한다.</a:t>
            </a:r>
          </a:p>
          <a:p>
            <a:r>
              <a:t xml:space="preserve"/>
            </a:r>
          </a:p>
          <a:p>
            <a:r>
              <a:t xml:space="preserve">**Time Management:**</a:t>
            </a:r>
          </a:p>
          <a:p>
            <a:r>
              <a:t xml:space="preserve">0–0:30 제작 질문,0:30–1:25 요청/생성 문서,1:25–2:00 검토·사용/다음 본문으로 복귀.2분에 다음 장으로 넘기며 긴 설치·환경·TOML/Markdown 문법 강의는 하지 않는다. 실제 리허설 UNVERIFIED.</a:t>
            </a:r>
          </a:p>
          <a:p>
            <a:r>
              <a:t xml:space="preserve"/>
            </a:r>
          </a:p>
          <a:p>
            <a:r>
              <a:t xml:space="preserve">**Fallback:**</a:t>
            </a:r>
          </a:p>
          <a:p>
            <a:r>
              <a:t xml:space="preserve">LOCAL STATIC ARTIFACT — production/ACT_3.pptx의 S71 / production/preview/full/S71.png. 제품/계정이 미확인인 경우 이 요청 예시를 설명하며 Live로 전환하지 않는다.</a:t>
            </a:r>
          </a:p>
          <a:p>
            <a:r>
              <a:t xml:space="preserve"/>
            </a:r>
          </a:p>
          <a:p>
            <a:r>
              <a:t xml:space="preserve">**Validation Status:**</a:t>
            </a:r>
          </a:p>
          <a:p>
            <a:r>
              <a:t xml:space="preserve">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S72 — 밝기 통계 작업을 나누지 않은 이유</a:t>
            </a:r>
          </a:p>
          <a:p>
            <a:r>
              <a:t xml:space="preserve"/>
            </a:r>
          </a:p>
          <a:p>
            <a:r>
              <a:t xml:space="preserve">Slide ID:</a:t>
            </a:r>
          </a:p>
          <a:p>
            <a:r>
              <a:t xml:space="preserve">S72</a:t>
            </a:r>
          </a:p>
          <a:p>
            <a:r>
              <a:t xml:space="preserve"/>
            </a:r>
          </a:p>
          <a:p>
            <a:r>
              <a:t xml:space="preserve">Working Title: 밝기 통계 작업을 나누지 않은 이유</a:t>
            </a:r>
          </a:p>
          <a:p>
            <a:r>
              <a:t xml:space="preserve"/>
            </a:r>
          </a:p>
          <a:p>
            <a:r>
              <a:t xml:space="preserve">ACT / Section: ACT 3 / 3E</a:t>
            </a:r>
          </a:p>
          <a:p>
            <a:r>
              <a:t xml:space="preserve"/>
            </a:r>
          </a:p>
          <a:p>
            <a:r>
              <a:t xml:space="preserve">Allocated Time: 4 minutes</a:t>
            </a:r>
          </a:p>
          <a:p>
            <a:r>
              <a:t xml:space="preserve"/>
            </a:r>
          </a:p>
          <a:p>
            <a:r>
              <a:t xml:space="preserve">Mode Split: Lecture 1 minute + Demo 2 minutes (VISUAL) + Q&amp;A 1 minute</a:t>
            </a:r>
          </a:p>
          <a:p>
            <a:r>
              <a:t xml:space="preserve"/>
            </a:r>
          </a:p>
          <a:p>
            <a:r>
              <a:t xml:space="preserve">Primary Message: 현재 작업은 같은 성능 경로·명세를 공유하고 조사→변경→검증의 의존성이 높았다. 별도 Context 이득과 결과 통합 비용을 검토한 결과 Subagent를 추가하지 않았다.</a:t>
            </a:r>
          </a:p>
          <a:p>
            <a:r>
              <a:t xml:space="preserve"/>
            </a:r>
          </a:p>
          <a:p>
            <a:r>
              <a:t xml:space="preserve">Opening Question:</a:t>
            </a:r>
          </a:p>
          <a:p>
            <a:r>
              <a:t xml:space="preserve">“S70의 독립 조사 기준을 이 밝기 통계 작업에도 적용할 수 있었을까요?”</a:t>
            </a:r>
          </a:p>
          <a:p>
            <a:r>
              <a:t xml:space="preserve"/>
            </a:r>
          </a:p>
          <a:p>
            <a:r>
              <a:t xml:space="preserve">Speaker Flow:</a:t>
            </a:r>
          </a:p>
          <a:p>
            <a:r>
              <a:t xml:space="preserve">1. (0:00–1:00 / Lecture) S70에서는 성능·빌드·테스트 조사가 서로 기다리지 않아도 된다고 가정했다. 이제 S68/S64의 실제 밝기 통계 작업으로 돌아온다. 화면 위 ‘같은 함수·같은 출력 명세’를 짚는다. 여기서는 무엇을 나눌지보다 각 단계가 앞의 어떤 결과를 받아야 하는지 먼저 본다.</a:t>
            </a:r>
          </a:p>
          <a:p>
            <a:r>
              <a:t xml:space="preserve">2. (1:00–1:40 / Demo) 왼쪽 조사는 기존 계산과 보존할 출력 명세, 변경 후보를 확인한 단계다. 기존 전체 픽셀 임시 리스트와 후보 비교는 S68에서 봤다. 가운데로 가는 ‘조사 결과’ 화살표를 따라, 조사한 후보를 근거로 계산 코드를 변경했음을 설명한다.</a:t>
            </a:r>
          </a:p>
          <a:p>
            <a:r>
              <a:t xml:space="preserve">3. (1:40–2:20 / Demo) 가운데 변경에서 오른쪽 검증으로 전달하는 것은 ‘바뀐 코드’다. 그 코드의 출력·테스트와 같은 조건의 시간·Python 할당량을 확인했다. 실제 수치와 검사 결과는 S69에 보존돼 있으므로 다시 낭독하지 않는다. 단계를 이름만 바꿔 독립 조사라고 부를 수는 없다.</a:t>
            </a:r>
          </a:p>
          <a:p>
            <a:r>
              <a:t xml:space="preserve">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a:r>
              <a:t xml:space="preserve">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a:r>
              <a:t xml:space="preserve"/>
            </a:r>
          </a:p>
          <a:p>
            <a:r>
              <a:t xml:space="preserve">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a:r>
              <a:t xml:space="preserve"/>
            </a:r>
          </a:p>
          <a:p>
            <a:r>
              <a:t xml:space="preserve">보존된 상세 출처: DEC-0018 · 실제 작업의 판단을 재구성 · Subagent 실행 없음</a:t>
            </a:r>
          </a:p>
          <a:p>
            <a:r>
              <a:t xml:space="preserve"/>
            </a:r>
          </a:p>
          <a:p>
            <a:r>
              <a:t xml:space="preserve">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a:r>
              <a:t xml:space="preserve"/>
            </a:r>
          </a:p>
          <a:p>
            <a:r>
              <a:t xml:space="preserve">보존된 상세 범위: 이 작업의 판단 · 역할 분리의 시간·품질 이득은 비교 실험하지 않음</a:t>
            </a:r>
          </a:p>
          <a:p>
            <a:r>
              <a:t xml:space="preserve"/>
            </a:r>
          </a:p>
          <a:p>
            <a:r>
              <a:t xml:space="preserve">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a:r>
              <a:t xml:space="preserve"/>
            </a:r>
          </a:p>
          <a:p>
            <a:r>
              <a:t xml:space="preserve">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a:r>
              <a:t xml:space="preserve"/>
            </a:r>
          </a:p>
          <a:p>
            <a:r>
              <a:t xml:space="preserve">C++ Vision Bridge:</a:t>
            </a:r>
          </a:p>
          <a:p>
            <a:r>
              <a:t xml:space="preserve">S70의 C++ 독립 조사 가정과 이 Python 밝기 통계 작업을 같은 관찰로 섞지 않는다. 이번 화면은 실제 작업 판단만 보여준다.</a:t>
            </a:r>
          </a:p>
          <a:p>
            <a:r>
              <a:t xml:space="preserve"/>
            </a:r>
          </a:p>
          <a:p>
            <a:r>
              <a:t xml:space="preserve">Demo Operation:</a:t>
            </a:r>
          </a:p>
          <a:p>
            <a:r>
              <a:t xml:space="preserve">LOCAL STATIC VISUAL — 상단 같은 함수·명세 → 왼쪽 조사 → 조사 결과 화살표 → 가운데 코드 변경 → 바뀐 코드 화살표 → 오른쪽 출력·테스트·시간·할당량 확인 → 아래 한 Agent 유지 판단. S70의 분기/합류 대신 실제 의존관계를 읽는2분이다. Agent·benchmark·Demo repository를 실행하지 않으며 추가 Subagent 창을 열지 않는다.</a:t>
            </a:r>
          </a:p>
          <a:p>
            <a:r>
              <a:t xml:space="preserve"/>
            </a:r>
          </a:p>
          <a:p>
            <a:r>
              <a:t xml:space="preserve">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a:r>
              <a:t xml:space="preserve"/>
            </a:r>
          </a:p>
          <a:p>
            <a:r>
              <a:t xml:space="preserve">Transition: “역할 분리의 필요성을 판단했습니다. 다음 작업에 별도로 남길 지식도 있었을까요?”</a:t>
            </a:r>
          </a:p>
          <a:p>
            <a:r>
              <a:t xml:space="preserve"/>
            </a:r>
          </a:p>
          <a:p>
            <a:r>
              <a:t xml:space="preserve">Time Management:</a:t>
            </a:r>
          </a:p>
          <a:p>
            <a:r>
              <a:t xml:space="preserve">Lecture1분(S70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S73로 이동한다.</a:t>
            </a:r>
          </a:p>
          <a:p>
            <a:r>
              <a:t xml:space="preserve"/>
            </a:r>
          </a:p>
          <a:p>
            <a:r>
              <a:t xml:space="preserve">Fallback:</a:t>
            </a:r>
          </a:p>
          <a:p>
            <a:r>
              <a:t xml:space="preserve">LOCAL STATIC ARTIFACT — production/ACT_3.pptx의 S72, production/preview/act3/S72.png 및 production/preview/full/S72.png. 보존된 실제 작업과 판단을 재구성한 정적 도식이며 실행 캡처가 아니다. 현재 파일 대조는 production/evaluation/S60_TASK_DEPENDENCY_REVISION.md와 demos/runbooks/FALLBACK_MANIFEST.md를 따른다. 실제 발표 PC 재생은 UNVERIFIED다.</a:t>
            </a:r>
          </a:p>
          <a:p>
            <a:r>
              <a:t xml:space="preserve"/>
            </a:r>
          </a:p>
          <a:p>
            <a:r>
              <a:t xml:space="preserve">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S73 — 이번 Context와 다시 쓸 지식</a:t>
            </a:r>
          </a:p>
          <a:p>
            <a:r>
              <a:t xml:space="preserve"/>
            </a:r>
          </a:p>
          <a:p>
            <a:r>
              <a:t xml:space="preserve">Slide ID:</a:t>
            </a:r>
          </a:p>
          <a:p>
            <a:r>
              <a:t xml:space="preserve">S73</a:t>
            </a:r>
          </a:p>
          <a:p>
            <a:r>
              <a:t xml:space="preserve"/>
            </a:r>
          </a:p>
          <a:p>
            <a:r>
              <a:t xml:space="preserve">Working Title: 이번 Context와 다시 쓸 지식</a:t>
            </a:r>
          </a:p>
          <a:p>
            <a:r>
              <a:t xml:space="preserve"/>
            </a:r>
          </a:p>
          <a:p>
            <a:r>
              <a:t xml:space="preserve">ACT / Section: ACT 3 / 3F</a:t>
            </a:r>
          </a:p>
          <a:p>
            <a:r>
              <a:t xml:space="preserve"/>
            </a:r>
          </a:p>
          <a:p>
            <a:r>
              <a:t xml:space="preserve">Allocated Time: 4 minutes</a:t>
            </a:r>
          </a:p>
          <a:p>
            <a:r>
              <a:t xml:space="preserve"/>
            </a:r>
          </a:p>
          <a:p>
            <a:r>
              <a:t xml:space="preserve">Mode Split: Demo 2 minutes (VISUAL) + Case 2 minutes</a:t>
            </a:r>
          </a:p>
          <a:p>
            <a:r>
              <a:t xml:space="preserve"/>
            </a:r>
          </a:p>
          <a:p>
            <a:r>
              <a:t xml:space="preserve">Primary Message: 현재 Task에 필요한 Context와 다음 Task에도 보존할 가치가 있는 지식을 구분한다. 출처·적용 범위·갱신 조건을 관리하고 기존 문서에 있으면 그 출처를 참조한다.</a:t>
            </a:r>
          </a:p>
          <a:p>
            <a:r>
              <a:t xml:space="preserve"/>
            </a:r>
          </a:p>
          <a:p>
            <a:r>
              <a:t xml:space="preserve">Opening Question: “이번 작업에서 확인한 내용 중, 다음 작업에도 다시 찾게 될 것은 무엇일까요?”</a:t>
            </a:r>
          </a:p>
          <a:p>
            <a:r>
              <a:t xml:space="preserve"/>
            </a:r>
          </a:p>
          <a:p>
            <a:r>
              <a:t xml:space="preserve">**Speaker Flow:**</a:t>
            </a:r>
          </a:p>
          <a:p>
            <a:r>
              <a:t xml:space="preserve">1. (0:00–0:30 / Demo) S72에서는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a:r>
              <a:t xml:space="preserve">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a:r>
              <a:t xml:space="preserve">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a:r>
              <a:t xml:space="preserve">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a:r>
              <a:t xml:space="preserve">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S74에서는 실제 Demo 지식이 이미 어디에 있었는지와 별도 후보 유무를 확인한다.</a:t>
            </a:r>
          </a:p>
          <a:p>
            <a:r>
              <a:t xml:space="preserve">운영 표시: “실무 적용 팁 · Context 관리” 배지로 다시 찾아 쓸 기준임을 짚는다. 기존 설명·근거 범위와 배정 시간 안에서 진행하며 요청·예시를 새로 실행하지 않는다.</a:t>
            </a:r>
          </a:p>
          <a:p>
            <a:r>
              <a:t xml:space="preserve"/>
            </a:r>
          </a:p>
          <a:p>
            <a:r>
              <a:t xml:space="preserve">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S75에 유지한다.; DEC-0080.</a:t>
            </a:r>
          </a:p>
          <a:p>
            <a:r>
              <a:t xml:space="preserve"/>
            </a:r>
          </a:p>
          <a:p>
            <a:r>
              <a:t xml:space="preserve">보존된 상세 출처: CONCEPTUAL · 재현 조건을 다음 작업에도 쓴다는 가정 · 실제 Memory 사용 아님</a:t>
            </a:r>
          </a:p>
          <a:p>
            <a:r>
              <a:t xml:space="preserve"/>
            </a:r>
          </a:p>
          <a:p>
            <a:r>
              <a:t xml:space="preserve">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a:r>
              <a:t xml:space="preserve"/>
            </a:r>
          </a:p>
          <a:p>
            <a:r>
              <a:t xml:space="preserve">보존된 상세 범위: 이미 문서에 있으면 그 출처를 참조 · 제품의 자동 저장·회수를 확인한 사례가 아님</a:t>
            </a:r>
          </a:p>
          <a:p>
            <a:r>
              <a:t xml:space="preserve"/>
            </a:r>
          </a:p>
          <a:p>
            <a:r>
              <a:t xml:space="preserve">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a:r>
              <a:t xml:space="preserve"/>
            </a:r>
          </a:p>
          <a:p>
            <a:r>
              <a:t xml:space="preserve">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a:r>
              <a:t xml:space="preserve"/>
            </a:r>
          </a:p>
          <a:p>
            <a:r>
              <a:t xml:space="preserve">C++ Vision Bridge: N/A.</a:t>
            </a:r>
          </a:p>
          <a:p>
            <a:r>
              <a:t xml:space="preserve"/>
            </a:r>
          </a:p>
          <a:p>
            <a:r>
              <a:t xml:space="preserve">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a:r>
              <a:t xml:space="preserve"/>
            </a:r>
          </a:p>
          <a:p>
            <a:r>
              <a:t xml:space="preserve">Audience Interaction: Demo2분 뒤 Case2분 안에서 ‘이미 문서에 있는 조건이라면?’을 짧게 묻고 원래 출처 참조로 회수할 수 있다. 별도 Q&amp;A 시간을 추가하거나 공개 답변·실습을 요구하지 않는다.</a:t>
            </a:r>
          </a:p>
          <a:p>
            <a:r>
              <a:t xml:space="preserve"/>
            </a:r>
          </a:p>
          <a:p>
            <a:r>
              <a:t xml:space="preserve">Transition: “이제 원래 출처와 보존 기준을 놓고, 현재 Demo에 별도 후보가 있었는지 보겠습니다.”</a:t>
            </a:r>
          </a:p>
          <a:p>
            <a:r>
              <a:t xml:space="preserve"/>
            </a:r>
          </a:p>
          <a:p>
            <a:r>
              <a:t xml:space="preserve">Time Management:</a:t>
            </a:r>
          </a:p>
          <a:p>
            <a:r>
              <a:t xml:space="preserve">Demo2분: S72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S74로 이동한다.</a:t>
            </a:r>
          </a:p>
          <a:p>
            <a:r>
              <a:t xml:space="preserve"/>
            </a:r>
          </a:p>
          <a:p>
            <a:r>
              <a:t xml:space="preserve">Fallback:</a:t>
            </a:r>
          </a:p>
          <a:p>
            <a:r>
              <a:t xml:space="preserve">LOCAL STATIC ARTIFACT — production/ACT_3.pptx의 S73, production/preview/act3/S73.png 및 production/preview/full/S73.png. 표시된 작업 간 지식 재사용 가정의 도식이며 실제 실행 캡처가 아니다. 현재 파일 대조는 production/evaluation/S61_CONTEXT_RETENTION_REVISION.md와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S74 — 실제 Demo 지식의 원래 출처</a:t>
            </a:r>
          </a:p>
          <a:p>
            <a:r>
              <a:t xml:space="preserve"/>
            </a:r>
          </a:p>
          <a:p>
            <a:r>
              <a:t xml:space="preserve">Slide ID:</a:t>
            </a:r>
          </a:p>
          <a:p>
            <a:r>
              <a:t xml:space="preserve">S74</a:t>
            </a:r>
          </a:p>
          <a:p>
            <a:r>
              <a:t xml:space="preserve"/>
            </a:r>
          </a:p>
          <a:p>
            <a:r>
              <a:t xml:space="preserve">Working Title: 실제 Demo 지식의 원래 출처</a:t>
            </a:r>
          </a:p>
          <a:p>
            <a:r>
              <a:t xml:space="preserve"/>
            </a:r>
          </a:p>
          <a:p>
            <a:r>
              <a:t xml:space="preserve">ACT / Section: ACT 3 / 3F</a:t>
            </a:r>
          </a:p>
          <a:p>
            <a:r>
              <a:t xml:space="preserve"/>
            </a:r>
          </a:p>
          <a:p>
            <a:r>
              <a:t xml:space="preserve">Allocated Time: 4 minutes</a:t>
            </a:r>
          </a:p>
          <a:p>
            <a:r>
              <a:t xml:space="preserve"/>
            </a:r>
          </a:p>
          <a:p>
            <a:r>
              <a:t xml:space="preserve">Mode Split: Lecture 4 minutes</a:t>
            </a:r>
          </a:p>
          <a:p>
            <a:r>
              <a:t xml:space="preserve"/>
            </a:r>
          </a:p>
          <a:p>
            <a:r>
              <a:t xml:space="preserve">Primary Message: 재발견 비용·다음 작업 재사용·출처와 적용 범위·갱신 조건을 보고 기존 출처를 먼저 확인한다. 현재 계약/구조/절차/측정 기록은 각각 근거가 있어 별도 Memory 후보를 찾지 못했다.</a:t>
            </a:r>
          </a:p>
          <a:p>
            <a:r>
              <a:t xml:space="preserve"/>
            </a:r>
          </a:p>
          <a:p>
            <a:r>
              <a:t xml:space="preserve">Opening Question:</a:t>
            </a:r>
          </a:p>
          <a:p>
            <a:r>
              <a:t xml:space="preserve">“S73의 보존 기준으로 실제 Demo를 보면, 새로 남길 지식은 어디에 있었을까요?”</a:t>
            </a:r>
          </a:p>
          <a:p>
            <a:r>
              <a:t xml:space="preserve"/>
            </a:r>
          </a:p>
          <a:p>
            <a:r>
              <a:t xml:space="preserve">Speaker Flow:</a:t>
            </a:r>
          </a:p>
          <a:p>
            <a:r>
              <a:t xml:space="preserve">1. (0:00–0:30) S73의 재현 조건은 교육용 가정이었다고 짚고, 이제 실제 Demo의 기존 출처 감사로 돌아온다. 네 개 상자는 새로 만든 저장소나 Memory가 아니라 이미 지식이 있던 위치다.</a:t>
            </a:r>
          </a:p>
          <a:p>
            <a:r>
              <a:t xml:space="preserve">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a:r>
              <a:t xml:space="preserve">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a:r>
              <a:t xml:space="preserve">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a:r>
              <a:t xml:space="preserve">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a:r>
              <a:t xml:space="preserve">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a:r>
              <a:t xml:space="preserve"/>
            </a:r>
          </a:p>
          <a:p>
            <a:r>
              <a:t xml:space="preserve">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a:r>
              <a:t xml:space="preserve"/>
            </a:r>
          </a:p>
          <a:p>
            <a:r>
              <a:t xml:space="preserve">보존된 상세 출처: DEC-0018 · 기존 Demo 지식 출처 감사 요약 · 제품 Memory 사용 기록 아님</a:t>
            </a:r>
          </a:p>
          <a:p>
            <a:r>
              <a:t xml:space="preserve"/>
            </a:r>
          </a:p>
          <a:p>
            <a:r>
              <a:t xml:space="preserve">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a:r>
              <a:t xml:space="preserve"/>
            </a:r>
          </a:p>
          <a:p>
            <a:r>
              <a:t xml:space="preserve">보존된 상세 범위: 이 Demo에서 별도 후보를 찾지 못한 판단 · Memory의 일반적 불필요성을 주장하지 않음</a:t>
            </a:r>
          </a:p>
          <a:p>
            <a:r>
              <a:t xml:space="preserve"/>
            </a:r>
          </a:p>
          <a:p>
            <a:r>
              <a:t xml:space="preserve">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a:r>
              <a:t xml:space="preserve"/>
            </a:r>
          </a:p>
          <a:p>
            <a:r>
              <a:t xml:space="preserve">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a:r>
              <a:t xml:space="preserve"/>
            </a:r>
          </a:p>
          <a:p>
            <a:r>
              <a:t xml:space="preserve">C++ Vision Bridge: N/A.</a:t>
            </a:r>
          </a:p>
          <a:p>
            <a:r>
              <a:t xml:space="preserve"/>
            </a:r>
          </a:p>
          <a:p>
            <a:r>
              <a:t xml:space="preserve">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a:r>
              <a:t xml:space="preserve"/>
            </a:r>
          </a:p>
          <a:p>
            <a:r>
              <a:t xml:space="preserve">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a:r>
              <a:t xml:space="preserve"/>
            </a:r>
          </a:p>
          <a:p>
            <a:r>
              <a:t xml:space="preserve">Transition: “이 선택들을 모으면 이번 문제를 위해 실제로 사용한 구조는 무엇이었을까요?”</a:t>
            </a:r>
          </a:p>
          <a:p>
            <a:r>
              <a:t xml:space="preserve"/>
            </a:r>
          </a:p>
          <a:p>
            <a:r>
              <a:t xml:space="preserve">Time Management:</a:t>
            </a:r>
          </a:p>
          <a:p>
            <a:r>
              <a:t xml:space="preserve">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S75으로 이동한다.</a:t>
            </a:r>
          </a:p>
          <a:p>
            <a:r>
              <a:t xml:space="preserve"/>
            </a:r>
          </a:p>
          <a:p>
            <a:r>
              <a:t xml:space="preserve">Fallback:</a:t>
            </a:r>
          </a:p>
          <a:p>
            <a:r>
              <a:t xml:space="preserve">LOCAL STATIC ARTIFACT — production/ACT_3.pptx의 S74, production/preview/act3/S74.png 및 production/preview/full/S74.png. 보존된 지식 출처 감사의 재구성이며 실제 Memory·검색 실행 캡처가 아니다. 현재 파일 대조는 production/evaluation/S62_KNOWLEDGE_SOURCES_REVISION.md와 demos/runbooks/FALLBACK_MANIFEST.md를 따른다. 실제 발표 PC 재생은 UNVERIFIED다.</a:t>
            </a:r>
          </a:p>
          <a:p>
            <a:r>
              <a:t xml:space="preserve"/>
            </a:r>
          </a:p>
          <a:p>
            <a:r>
              <a:t xml:space="preserve">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S75 — 밝기 통계 작업에 쓰인 구성의 역할</a:t>
            </a:r>
          </a:p>
          <a:p>
            <a:r>
              <a:t xml:space="preserve"/>
            </a:r>
          </a:p>
          <a:p>
            <a:r>
              <a:t xml:space="preserve">Slide ID:</a:t>
            </a:r>
          </a:p>
          <a:p>
            <a:r>
              <a:t xml:space="preserve">S75</a:t>
            </a:r>
          </a:p>
          <a:p>
            <a:r>
              <a:t xml:space="preserve"/>
            </a:r>
          </a:p>
          <a:p>
            <a:r>
              <a:t xml:space="preserve">Working Title: 밝기 통계 작업에 쓰인 구성의 역할</a:t>
            </a:r>
          </a:p>
          <a:p>
            <a:r>
              <a:t xml:space="preserve"/>
            </a:r>
          </a:p>
          <a:p>
            <a:r>
              <a:t xml:space="preserve">ACT / Section: ACT 3 / 3G</a:t>
            </a:r>
          </a:p>
          <a:p>
            <a:r>
              <a:t xml:space="preserve"/>
            </a:r>
          </a:p>
          <a:p>
            <a:r>
              <a:t xml:space="preserve">Allocated Time: 3 minutes</a:t>
            </a:r>
          </a:p>
          <a:p>
            <a:r>
              <a:t xml:space="preserve"/>
            </a:r>
          </a:p>
          <a:p>
            <a:r>
              <a:t xml:space="preserve">Mode Split: Demo 3 minutes (CAPTURED)</a:t>
            </a:r>
          </a:p>
          <a:p>
            <a:r>
              <a:t xml:space="preserve"/>
            </a:r>
          </a:p>
          <a:p>
            <a:r>
              <a:t xml:space="preserve">Primary Message: 밝기 통계 목표/범위, AGENTS.md와 상세 문서, 재사용 Skill, 테스트·benchmark·실행 조건이 각각 목표·지식·방법·완료 근거를 맡았다. Subagent와 별도 Memory는 추가하지 않았다.</a:t>
            </a:r>
          </a:p>
          <a:p>
            <a:r>
              <a:t xml:space="preserve"/>
            </a:r>
          </a:p>
          <a:p>
            <a:r>
              <a:t xml:space="preserve">Opening Question:</a:t>
            </a:r>
          </a:p>
          <a:p>
            <a:r>
              <a:t xml:space="preserve">“S74에서 본 자료들이 실제 밝기 통계 작업에서는 각각 무엇을 맡았을까요?”</a:t>
            </a:r>
          </a:p>
          <a:p>
            <a:r>
              <a:t xml:space="preserve"/>
            </a:r>
          </a:p>
          <a:p>
            <a:r>
              <a:t xml:space="preserve">Speaker Flow:</a:t>
            </a:r>
          </a:p>
          <a:p>
            <a:r>
              <a:t xml:space="preserve">1. (0:00–0:30 / Demo) S74의 출처 감사에서 실제 밝기 통계 작업으로 돌아온다. 이번 장은 각 자료가 이 한 작업에서 맡은 역할의 회수다. 재구성 도식이며 시간순 실행 trace가 아니다.</a:t>
            </a:r>
          </a:p>
          <a:p>
            <a:r>
              <a:t xml:space="preserve">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S64/S61에서 확인했으므로 다시 강의하지 않는다.</a:t>
            </a:r>
          </a:p>
          <a:p>
            <a:r>
              <a:t xml:space="preserve">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S69처럼 다시 읽지 않는다. 모든 동작의 정확성이나 각 요소의 단독 효과가 입증된 것은 아니다.</a:t>
            </a:r>
          </a:p>
          <a:p>
            <a:r>
              <a:t xml:space="preserve">4. (2:30–3:00 / Demo) Subagent·별도 Memory를 추가하지 않은 범위의 실제 구성을 회수한다. 다음 장은 요소 목록을 반복하는 대신 실행 조건과 사람의 검토 책임까지 연결한 Harness 모델로 확장한다.</a:t>
            </a:r>
          </a:p>
          <a:p>
            <a:r>
              <a:t xml:space="preserve"/>
            </a:r>
          </a:p>
          <a:p>
            <a:r>
              <a:t xml:space="preserve">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a:r>
              <a:t xml:space="preserve"/>
            </a:r>
          </a:p>
          <a:p>
            <a:r>
              <a:t xml:space="preserve">보존된 상세 출처: STATE-04-PERF · 실제 구성·작업 기록 요약 · 도식 재구성</a:t>
            </a:r>
          </a:p>
          <a:p>
            <a:r>
              <a:t xml:space="preserve"/>
            </a:r>
          </a:p>
          <a:p>
            <a:r>
              <a:t xml:space="preserve">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a:r>
              <a:t xml:space="preserve"/>
            </a:r>
          </a:p>
          <a:p>
            <a:r>
              <a:t xml:space="preserve">보존된 상세 범위: Subagent·별도 Memory는 추가하지 않음 · 각 요소의 단독 성능 효과는 입증하지 않음</a:t>
            </a:r>
          </a:p>
          <a:p>
            <a:r>
              <a:t xml:space="preserve"/>
            </a:r>
          </a:p>
          <a:p>
            <a:r>
              <a:t xml:space="preserve">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a:r>
              <a:t xml:space="preserve"/>
            </a:r>
          </a:p>
          <a:p>
            <a:r>
              <a:t xml:space="preserve">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a:r>
              <a:t xml:space="preserve"/>
            </a:r>
          </a:p>
          <a:p>
            <a:r>
              <a:t xml:space="preserve">**C++ Vision Bridge:**</a:t>
            </a:r>
          </a:p>
          <a:p>
            <a:r>
              <a:t xml:space="preserve">N/A — 이전 독립 C++ 전이 장은 DEC-0091에서 삭제했다. 실제 구성 회고와 Harness 재사용 설명으로 연결한다.</a:t>
            </a:r>
          </a:p>
          <a:p>
            <a:r>
              <a:t xml:space="preserve"/>
            </a:r>
          </a:p>
          <a:p>
            <a:r>
              <a:t xml:space="preserve">Demo Operation:</a:t>
            </a:r>
          </a:p>
          <a:p>
            <a:r>
              <a:t xml:space="preserve">CAPTURED 정적 기본 경로 — S74의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S76에서 회수한다. 제품·Agent·benchmark·Demo repository를 실행하지 않으며 새 Trial·비교 측정을 만들지 않는다.</a:t>
            </a:r>
          </a:p>
          <a:p>
            <a:r>
              <a:t xml:space="preserve"/>
            </a:r>
          </a:p>
          <a:p>
            <a:r>
              <a:t xml:space="preserve">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a:r>
              <a:t xml:space="preserve"/>
            </a:r>
          </a:p>
          <a:p>
            <a:r>
              <a:t xml:space="preserve">Transition: “이 파일과 도구들이 어떤 관계로 작동하는지 전체 작업 환경으로 묶겠습니다.”</a:t>
            </a:r>
          </a:p>
          <a:p>
            <a:r>
              <a:t xml:space="preserve"/>
            </a:r>
          </a:p>
          <a:p>
            <a:r>
              <a:t xml:space="preserve">Time Management:</a:t>
            </a:r>
          </a:p>
          <a:p>
            <a:r>
              <a:t xml:space="preserve">Demo3분(CAPTURED 정적 요약): 실제 작업으로 복귀0.5, 입력 역할을 함께 회수1, 검증 근거1, 실행 조건·검토 책임으로 연결0.5. S64–S69의 지침·수치 설명을 반복하지 않는다. 실제3분 리허설은 UNVERIFIED다.</a:t>
            </a:r>
          </a:p>
          <a:p>
            <a:r>
              <a:t xml:space="preserve"/>
            </a:r>
          </a:p>
          <a:p>
            <a:r>
              <a:t xml:space="preserve">Fallback:</a:t>
            </a:r>
          </a:p>
          <a:p>
            <a:r>
              <a:t xml:space="preserve">LOCAL STATIC ARTIFACT — production/ACT_3.pptx의 S75, production/preview/act3/S75.png 및 production/preview/full/S75.png.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S76 — 함께 작동하는 작업 환경, Harness</a:t>
            </a:r>
          </a:p>
          <a:p>
            <a:r>
              <a:t xml:space="preserve"/>
            </a:r>
          </a:p>
          <a:p>
            <a:r>
              <a:t xml:space="preserve">Slide ID:</a:t>
            </a:r>
          </a:p>
          <a:p>
            <a:r>
              <a:t xml:space="preserve">S76</a:t>
            </a:r>
          </a:p>
          <a:p>
            <a:r>
              <a:t xml:space="preserve"/>
            </a:r>
          </a:p>
          <a:p>
            <a:r>
              <a:t xml:space="preserve">Working Title: 함께 작동하는 작업 환경, Harness</a:t>
            </a:r>
          </a:p>
          <a:p>
            <a:r>
              <a:t xml:space="preserve"/>
            </a:r>
          </a:p>
          <a:p>
            <a:r>
              <a:t xml:space="preserve">ACT / Section: ACT 3 / 3G</a:t>
            </a:r>
          </a:p>
          <a:p>
            <a:r>
              <a:t xml:space="preserve"/>
            </a:r>
          </a:p>
          <a:p>
            <a:r>
              <a:t xml:space="preserve">Allocated Time: 6 minutes</a:t>
            </a:r>
          </a:p>
          <a:p>
            <a:r>
              <a:t xml:space="preserve"/>
            </a:r>
          </a:p>
          <a:p>
            <a:r>
              <a:t xml:space="preserve">Mode Split: Lecture 4 minutes + Demo 2 minutes (CAPTURED)</a:t>
            </a:r>
          </a:p>
          <a:p>
            <a:r>
              <a:t xml:space="preserve"/>
            </a:r>
          </a:p>
          <a:p>
            <a:r>
              <a:t xml:space="preserve">Primary Message: 이 과정에서 Harness는 Agent가 신뢰성 있게 일하도록 목표·Context·재사용 절차·실행 도구·검증·검토 조건을 연결한 작업 환경과 방법의 운영 모델이다.</a:t>
            </a:r>
          </a:p>
          <a:p>
            <a:r>
              <a:t xml:space="preserve"/>
            </a:r>
          </a:p>
          <a:p>
            <a:r>
              <a:t xml:space="preserve">Opening Question:</a:t>
            </a:r>
          </a:p>
          <a:p>
            <a:r>
              <a:t xml:space="preserve">“S75의 구성에 실행·검증 환경까지 함께 연결하면, Agent가 일하는 전체 구조는 어떻게 보일까요?”</a:t>
            </a:r>
          </a:p>
          <a:p>
            <a:r>
              <a:t xml:space="preserve"/>
            </a:r>
          </a:p>
          <a:p>
            <a:r>
              <a:t xml:space="preserve">**Speaker Flow:**</a:t>
            </a:r>
          </a:p>
          <a:p>
            <a:r>
              <a:t xml:space="preserve">1. (0:00–0:30 / Lecture) S75의 실제 구성과 같은 배치임을 짚는다. 목표·Context·Skill의 정의를 다시 차례로 설명하지 않고, 이 작업이 가능하도록 실행 조건과 사람의 검토 책임까지 설계하는 관계로 확장한다.</a:t>
            </a:r>
          </a:p>
          <a:p>
            <a:r>
              <a:t xml:space="preserve">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a:r>
              <a:t xml:space="preserve">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a:r>
              <a:t xml:space="preserve">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a:r>
              <a:t xml:space="preserve">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a:r>
              <a:t xml:space="preserve">6. (5:30–6:00 / Demo) 실제 성공을 보존하고 ‘만든 작업 체계를 다음 프로젝트에서도 쓸 수 있을까요?’로 S77–S78를 연다. 제품이나 새 명령을 실행하지 않는다.</a:t>
            </a:r>
          </a:p>
          <a:p>
            <a:r>
              <a:t xml:space="preserve">마지막 연결은 다음 프로젝트에서도 사용할 기반의 가치다. 실행 조건의 세부는 S79–S83에서 단계별로 다룬다.</a:t>
            </a:r>
          </a:p>
          <a:p>
            <a:r>
              <a:t xml:space="preserve"/>
            </a:r>
          </a:p>
          <a:p>
            <a:r>
              <a:t xml:space="preserve">Evidence / Source: DEC-0023의 이 과정 Harness 운영 정의; BEAT-035/036; STATE-04-PERF; DEC-0062/0075/0076; DEMO-09. OBSERVED_PRODUCT / TEACHING_MODEL. plan/DEMO_MATRIX.md의 Current Harness 및 §§191–200 Working Harness Success, S76의 실제 구성 대응을 사용한다. AGENTS.md·상세 문서·repository Skill·테스트·benchmark는 보존된 실제 근거이며 환경 전체의 완전한 감사 증거는 아니다.; DEC-0080.</a:t>
            </a:r>
          </a:p>
          <a:p>
            <a:r>
              <a:t xml:space="preserve"/>
            </a:r>
          </a:p>
          <a:p>
            <a:r>
              <a:t xml:space="preserve">보존된 상세 출처: 교육용 Harness 모델 · 사례 대응: AGENTS.md · docs · Skill · tests · benchmark</a:t>
            </a:r>
          </a:p>
          <a:p>
            <a:r>
              <a:t xml:space="preserve"/>
            </a:r>
          </a:p>
          <a:p>
            <a:r>
              <a:t xml:space="preserve">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a:r>
              <a:t xml:space="preserve"/>
            </a:r>
          </a:p>
          <a:p>
            <a:r>
              <a:t xml:space="preserve">보존된 상세 범위: 공식 정의·필수 목록이 아님 · 모든 실행 조건의 감사·각 요소의 단독 성능 효과는 미입증</a:t>
            </a:r>
          </a:p>
          <a:p>
            <a:r>
              <a:t xml:space="preserve"/>
            </a:r>
          </a:p>
          <a:p>
            <a:r>
              <a:t xml:space="preserve">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a:r>
              <a:t xml:space="preserve"/>
            </a:r>
          </a:p>
          <a:p>
            <a:r>
              <a:t xml:space="preserve">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a:r>
              <a:t xml:space="preserve"/>
            </a:r>
          </a:p>
          <a:p>
            <a:r>
              <a:t xml:space="preserve">**C++ Vision Bridge:**</a:t>
            </a:r>
          </a:p>
          <a:p>
            <a:r>
              <a:t xml:space="preserve">N/A — 다음 S77–S78은 여러 프로젝트에 적용할 공통 기반과 프로젝트별 조건의 교육용 설계다.</a:t>
            </a:r>
          </a:p>
          <a:p>
            <a:r>
              <a:t xml:space="preserve"/>
            </a:r>
          </a:p>
          <a:p>
            <a:r>
              <a:t xml:space="preserve">Demo Operation:</a:t>
            </a:r>
          </a:p>
          <a:p>
            <a:r>
              <a:t xml:space="preserve">Lecture4분에는 왼쪽 세 입력 → Agent → 검증·사람의 검토, 아래 실행 환경 → 작업/검증의 관계를 설명한다. 이후 Demo2분은 기존 S75/STATE-04-PERF의 AGENTS.md·docs·Skill·tests·benchmark와 기록된 입력/실행 조건을 같은 도식에 대응하는 CAPTURED 정적 요약이다. 실제 실행 캡처가 아니며 제품·Agent·benchmark·Demo repository를 실행하거나 새 Trial을 만들지 않는다. S75 Demo3분과 중복 계산하지 않는다.</a:t>
            </a:r>
          </a:p>
          <a:p>
            <a:r>
              <a:t xml:space="preserve"/>
            </a:r>
          </a:p>
          <a:p>
            <a:r>
              <a:t xml:space="preserve">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a:r>
              <a:t xml:space="preserve"/>
            </a:r>
          </a:p>
          <a:p>
            <a:r>
              <a:t xml:space="preserve">**Transition:**</a:t>
            </a:r>
          </a:p>
          <a:p>
            <a:r>
              <a:t xml:space="preserve">“이렇게 만든 작업 체계를 다음 프로젝트에서도 출발점으로 쓸 수 있을까요?”</a:t>
            </a:r>
          </a:p>
          <a:p>
            <a:r>
              <a:t xml:space="preserve"/>
            </a:r>
          </a:p>
          <a:p>
            <a:r>
              <a:t xml:space="preserve">**Time Management:**</a:t>
            </a:r>
          </a:p>
          <a:p>
            <a:r>
              <a:t xml:space="preserve">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a:r>
              <a:t xml:space="preserve"/>
            </a:r>
          </a:p>
          <a:p>
            <a:r>
              <a:t xml:space="preserve">Fallback:</a:t>
            </a:r>
          </a:p>
          <a:p>
            <a:r>
              <a:t xml:space="preserve">LOCAL STATIC ARTIFACT — production/ACT_3.pptx의 S76, production/preview/act3/S76.png 및 production/preview/full/S76.png. 교육용 Harness 관계도와 기존 실제 구성의 대응이며 raw 실행 캡처가 아니다. 파일 대조는 production/evaluation/S64_HARNESS_STRUCTURE_REVISION.md와 demos/runbooks/FALLBACK_MANIFEST.md를 따른다. 실제 발표 PC 재생은 UNVERIFIED다.</a:t>
            </a:r>
          </a:p>
          <a:p>
            <a:r>
              <a:t xml:space="preserve"/>
            </a:r>
          </a:p>
          <a:p>
            <a:r>
              <a:t xml:space="preserve">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S77 — 만든 Harness를 다음 프로젝트의 기반으로</a:t>
            </a:r>
          </a:p>
          <a:p>
            <a:r>
              <a:t xml:space="preserve"/>
            </a:r>
          </a:p>
          <a:p>
            <a:r>
              <a:t xml:space="preserve">**Slide ID:**</a:t>
            </a:r>
          </a:p>
          <a:p>
            <a:r>
              <a:t xml:space="preserve">S77</a:t>
            </a:r>
          </a:p>
          <a:p>
            <a:r>
              <a:t xml:space="preserve"/>
            </a:r>
          </a:p>
          <a:p>
            <a:r>
              <a:t xml:space="preserve">**Working Title:**</a:t>
            </a:r>
          </a:p>
          <a:p>
            <a:r>
              <a:t xml:space="preserve">만든 Harness를 다음 프로젝트의 기반으로</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검토해 둔 조사·변경·검증 절차와 도구 연결·보고 방식을 공통 기반으로 남겨 다음 프로젝트의 출발점으로 쓸 수 있다.</a:t>
            </a:r>
          </a:p>
          <a:p>
            <a:r>
              <a:t xml:space="preserve"/>
            </a:r>
          </a:p>
          <a:p>
            <a:r>
              <a:t xml:space="preserve">**Opening Question:**</a:t>
            </a:r>
          </a:p>
          <a:p>
            <a:r>
              <a:t xml:space="preserve">“프로젝트가 바뀔 때마다 작업 방법까지 처음부터 다시 만들 필요가 있을까요?”</a:t>
            </a:r>
          </a:p>
          <a:p>
            <a:r>
              <a:t xml:space="preserve"/>
            </a:r>
          </a:p>
          <a:p>
            <a:r>
              <a:t xml:space="preserve">**Speaker Flow:**</a:t>
            </a:r>
          </a:p>
          <a:p>
            <a:r>
              <a:t xml:space="preserve">1. (0:00–0:35 / Lecture) S76의 전체 작업 환경에서 검토해 둔 수행 체계라는 왼쪽 기반을 짚는다.</a:t>
            </a:r>
          </a:p>
          <a:p>
            <a:r>
              <a:t xml:space="preserve">2. (0:35–1:25 / Lecture) 같은 기반이 A/B/C로 이어지는 가지를 가리킨다. 각 프로젝트에서 사용 가능한 출발점의 설계이며 실제 이식 시험 결과가 아니다.</a:t>
            </a:r>
          </a:p>
          <a:p>
            <a:r>
              <a:t xml:space="preserve">3. (1:25–2:00 / Lecture) 어떤 부분은 공통이고 어떤 부분은 달라지는지 다음 장으로 넘긴다.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재사용 설계 예 · 조사·검증 방법과 도구 연결 방식을 축적</a:t>
            </a:r>
          </a:p>
          <a:p>
            <a:r>
              <a:t xml:space="preserve"/>
            </a:r>
          </a:p>
          <a:p>
            <a:r>
              <a:t xml:space="preserve">**Claim Boundary:**</a:t>
            </a:r>
          </a:p>
          <a:p>
            <a:r>
              <a:t xml:space="preserve">TEACHING MODEL — 재사용의 설계 가치다. 다른 프로젝트에서 실행·검증한 Demo나 시간·성능 개선 성과가 아니다.</a:t>
            </a:r>
          </a:p>
          <a:p>
            <a:r>
              <a:t xml:space="preserve"/>
            </a:r>
          </a:p>
          <a:p>
            <a:r>
              <a:t xml:space="preserve">보존된 상세 범위: 다른 프로젝트로 옮겨 실행한 Demo는 아님 · 프로젝트별 적용 조건은 다음 장에서 연결</a:t>
            </a:r>
          </a:p>
          <a:p>
            <a:r>
              <a:t xml:space="preserve"/>
            </a:r>
          </a:p>
          <a:p>
            <a:r>
              <a:t xml:space="preserve">**Beginner Explanation:**</a:t>
            </a:r>
          </a:p>
          <a:p>
            <a:r>
              <a:t xml:space="preserve">한 번 정리한 일하는 방법을 다음 프로젝트에서 출발점으로 삼을 수 있다.</a:t>
            </a:r>
          </a:p>
          <a:p>
            <a:r>
              <a:t xml:space="preserve"/>
            </a:r>
          </a:p>
          <a:p>
            <a:r>
              <a:t xml:space="preserve">**Advanced Insight:**</a:t>
            </a:r>
          </a:p>
          <a:p>
            <a:r>
              <a:t xml:space="preserve">공통 수행 틀을 축적하고 프로젝트별 명세·도구·권한의 연결을 분리한다.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“그 기반에서 무엇을 다시 쓰고, 무엇을 프로젝트에 맞게 연결해야 할까요?”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S77 또는 production/preview/full/S77.png.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S78 — 공통 기반에 프로젝트 기준을 연결한다</a:t>
            </a:r>
          </a:p>
          <a:p>
            <a:r>
              <a:t xml:space="preserve"/>
            </a:r>
          </a:p>
          <a:p>
            <a:r>
              <a:t xml:space="preserve">**Slide ID:**</a:t>
            </a:r>
          </a:p>
          <a:p>
            <a:r>
              <a:t xml:space="preserve">S78</a:t>
            </a:r>
          </a:p>
          <a:p>
            <a:r>
              <a:t xml:space="preserve"/>
            </a:r>
          </a:p>
          <a:p>
            <a:r>
              <a:t xml:space="preserve">**Working Title:**</a:t>
            </a:r>
          </a:p>
          <a:p>
            <a:r>
              <a:t xml:space="preserve">공통 기반에 프로젝트 기준을 연결한다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조사·변경·검증의 흐름과 도구 연결·보고 틀은 재사용하고, 목표·명세·Context·실제 명령·허용 권한은 새 프로젝트에 맞춘다.</a:t>
            </a:r>
          </a:p>
          <a:p>
            <a:r>
              <a:t xml:space="preserve"/>
            </a:r>
          </a:p>
          <a:p>
            <a:r>
              <a:t xml:space="preserve">**Opening Question:**</a:t>
            </a:r>
          </a:p>
          <a:p>
            <a:r>
              <a:t xml:space="preserve">“같은 작업 체계를 쓰더라도, 새 프로젝트에서 무엇을 연결해야 할까요?”</a:t>
            </a:r>
          </a:p>
          <a:p>
            <a:r>
              <a:t xml:space="preserve"/>
            </a:r>
          </a:p>
          <a:p>
            <a:r>
              <a:t xml:space="preserve">**Speaker Flow:**</a:t>
            </a:r>
          </a:p>
          <a:p>
            <a:r>
              <a:t xml:space="preserve">1. (0:00–0:35 / Lecture) 왼쪽은 조사·변경·검증 흐름, 도구 연결 방식, 기록 항목이라는 공통 틀이다.</a:t>
            </a:r>
          </a:p>
          <a:p>
            <a:r>
              <a:t xml:space="preserve">2. (0:35–1:25 / Lecture) 오른쪽은 새 프로젝트의 목표·명세·Context, 실제 명령, 허용 범위다. 프로젝트 사실 전체를 공통 지침으로 복사하지 않는다.</a:t>
            </a:r>
          </a:p>
          <a:p>
            <a:r>
              <a:t xml:space="preserve">3. (1:25–2:00 / Lecture) 공통 기반과 프로젝트 기준 연결의 가치를 유지한다. 운영 중 사람이 새로 확인·보정할 점을 발견하면 그 경험이 다음 작업에 남는지 S79의 질문으로 넘긴다. 외부 권한 오류를 다음 중심 사례로 예고하지 않는다.</a:t>
            </a:r>
          </a:p>
          <a:p>
            <a:r>
              <a:t xml:space="preserve"/>
            </a:r>
          </a:p>
          <a:p>
            <a:r>
              <a:t xml:space="preserve">**Evidence / Source:**</a:t>
            </a:r>
          </a:p>
          <a:p>
            <a:r>
              <a:t xml:space="preserve">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a:r>
              <a:t xml:space="preserve"/>
            </a:r>
          </a:p>
          <a:p>
            <a:r>
              <a:t xml:space="preserve">보존된 상세 출처: 교육용 Harness 적용 모델 · 공통 수행 틀 + 프로젝트별 기준</a:t>
            </a:r>
          </a:p>
          <a:p>
            <a:r>
              <a:t xml:space="preserve"/>
            </a:r>
          </a:p>
          <a:p>
            <a:r>
              <a:t xml:space="preserve">**Claim Boundary:**</a:t>
            </a:r>
          </a:p>
          <a:p>
            <a:r>
              <a:t xml:space="preserve">TEACHING MODEL — 공통 틀과 프로젝트별 조건을 나누는 설계다. 전체 Harness를 그대로 복사하면 작동한다는 보장·이식 성공·절감 측정은 없다.</a:t>
            </a:r>
          </a:p>
          <a:p>
            <a:r>
              <a:t xml:space="preserve"/>
            </a:r>
          </a:p>
          <a:p>
            <a:r>
              <a:t xml:space="preserve">보존된 상세 범위: 전체 구성을 그대로 복사해도 작동한다는 보장이 아님 · 이식 결과·시간 절감은 미측정</a:t>
            </a:r>
          </a:p>
          <a:p>
            <a:r>
              <a:t xml:space="preserve"/>
            </a:r>
          </a:p>
          <a:p>
            <a:r>
              <a:t xml:space="preserve">**Beginner Explanation:**</a:t>
            </a:r>
          </a:p>
          <a:p>
            <a:r>
              <a:t xml:space="preserve">방법은 가져오되 프로젝트의 사실과 사용할 명령은 다시 연결한다.</a:t>
            </a:r>
          </a:p>
          <a:p>
            <a:r>
              <a:t xml:space="preserve"/>
            </a:r>
          </a:p>
          <a:p>
            <a:r>
              <a:t xml:space="preserve">**Advanced Insight:**</a:t>
            </a:r>
          </a:p>
          <a:p>
            <a:r>
              <a:t xml:space="preserve">재사용 단위와 프로젝트 결합 지점을 나누고 실제 명령·권한·검증 기준을 확인한다.</a:t>
            </a:r>
          </a:p>
          <a:p>
            <a:r>
              <a:t xml:space="preserve"/>
            </a:r>
          </a:p>
          <a:p>
            <a:r>
              <a:t xml:space="preserve">**C++ Vision Bridge:**</a:t>
            </a:r>
          </a:p>
          <a:p>
            <a:r>
              <a:t xml:space="preserve">N/A — 독립 C++ 전이 장을 삭제했다. 프로젝트별 명세·도구 연결의 일반 원리만 설명한다.</a:t>
            </a:r>
          </a:p>
          <a:p>
            <a:r>
              <a:t xml:space="preserve"/>
            </a:r>
          </a:p>
          <a:p>
            <a:r>
              <a:t xml:space="preserve">**Demo Operation:**</a:t>
            </a:r>
          </a:p>
          <a:p>
            <a:r>
              <a:t xml:space="preserve">N/A — Lecture2분. 정적 기록 재구성 또는 교육용 도식만 설명한다. CLI·제품 실행·새 Trial을 시작하지 않는다. 실제 DEMO-04B의 평가·보고 개선 사례는 ACT4에 그대로 남긴다.</a:t>
            </a:r>
          </a:p>
          <a:p>
            <a:r>
              <a:t xml:space="preserve"/>
            </a:r>
          </a:p>
          <a:p>
            <a:r>
              <a:t xml:space="preserve">**Audience Interaction:**</a:t>
            </a:r>
          </a:p>
          <a:p>
            <a:r>
              <a:t xml:space="preserve">Opening Question은 짧은 생각을 돕는 질문이다. 참가자 실습·개인 작성·공개 답변을 요구하지 않는다.</a:t>
            </a:r>
          </a:p>
          <a:p>
            <a:r>
              <a:t xml:space="preserve"/>
            </a:r>
          </a:p>
          <a:p>
            <a:r>
              <a:t xml:space="preserve">**Transition:**</a:t>
            </a:r>
          </a:p>
          <a:p>
            <a:r>
              <a:t xml:space="preserve">“이 기반으로 작업하는 동안 사람이 새로 확인할 부분을 찾는다면, 그 경험은 다음 작업에 어떻게 남을까요?”</a:t>
            </a:r>
          </a:p>
          <a:p>
            <a:r>
              <a:t xml:space="preserve"/>
            </a:r>
          </a:p>
          <a:p>
            <a:r>
              <a:t xml:space="preserve">**Time Management:**</a:t>
            </a:r>
          </a:p>
          <a:p>
            <a:r>
              <a:t xml:space="preserve">Lecture2분.0:35까지 질문과 도식의 출발점,1:25까지 핵심 관계,2:00에 다음 질문으로 이동한다. 추가 도구 설치·환경 설명으로 늘리지 않는다. 실측 리허설 UNVERIFIED.</a:t>
            </a:r>
          </a:p>
          <a:p>
            <a:r>
              <a:t xml:space="preserve"/>
            </a:r>
          </a:p>
          <a:p>
            <a:r>
              <a:t xml:space="preserve">**Fallback:**</a:t>
            </a:r>
          </a:p>
          <a:p>
            <a:r>
              <a:t xml:space="preserve">LOCAL STATIC ARTIFACT — production/ACT_3.pptx의 S78 또는 production/preview/full/S78.png. 재구성은 실제 실행 Screenshot이 아니며 현재 Desktop Live로 대체하지 않는다.</a:t>
            </a:r>
          </a:p>
          <a:p>
            <a:r>
              <a:t xml:space="preserve"/>
            </a:r>
          </a:p>
          <a:p>
            <a:r>
              <a:t xml:space="preserve">**Validation Status:**</a:t>
            </a:r>
          </a:p>
          <a:p>
            <a:r>
              <a:t xml:space="preserve">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S79 — 이번 성공만으로 다음 작업까지 확인되지는 않는다</a:t>
            </a:r>
          </a:p>
          <a:p>
            <a:r>
              <a:t xml:space="preserve"/>
            </a:r>
          </a:p>
          <a:p>
            <a:r>
              <a:t xml:space="preserve">**Slide ID:**</a:t>
            </a:r>
          </a:p>
          <a:p>
            <a:r>
              <a:t xml:space="preserve">S79</a:t>
            </a:r>
          </a:p>
          <a:p>
            <a:r>
              <a:t xml:space="preserve"/>
            </a:r>
          </a:p>
          <a:p>
            <a:r>
              <a:t xml:space="preserve">**Working Title:**</a:t>
            </a:r>
          </a:p>
          <a:p>
            <a:r>
              <a:t xml:space="preserve">이번 성공만으로 다음 작업까지 확인되지는 않는다</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밝기 통계 작업의 성공은 기록된 명세·코드·입력·환경에서 확인한 결과다. 그 성공만으로 이후 모든 작업의 요구와 검증 범위를 확인한 것은 아니다.</a:t>
            </a:r>
          </a:p>
          <a:p>
            <a:r>
              <a:t xml:space="preserve"/>
            </a:r>
          </a:p>
          <a:p>
            <a:r>
              <a:t xml:space="preserve">**Opening Question:**</a:t>
            </a:r>
          </a:p>
          <a:p>
            <a:r>
              <a:t xml:space="preserve">“검증한 Harness를 다시 쓰면, 이후 작업에서 사람이 확인할 점은 모두 사라질까요?”</a:t>
            </a:r>
          </a:p>
          <a:p>
            <a:r>
              <a:t xml:space="preserve"/>
            </a:r>
          </a:p>
          <a:p>
            <a:r>
              <a:t xml:space="preserve">**Speaker Flow:**</a:t>
            </a:r>
          </a:p>
          <a:p>
            <a:r>
              <a:t xml:space="preserve">1. (0:00–0:35 / Lecture) S78의 공통 기반과 프로젝트 기준 연결을 받아, 실제 밝기 통계 작업의 확인한 성공을 왼쪽에서 짚는다. 숫자·검증 절차를 다시 강의하지 않는다.</a:t>
            </a:r>
          </a:p>
          <a:p>
            <a:r>
              <a:t xml:space="preserve">2. (0:35–1:25 / Lecture) 오른쪽 다음 작업은 관찰 결과가 아니라 질문이다. 새 요구·입력·확인 범위가 있을 수 있으며 현재 성공으로 모든 후속 작업을 검증했다고 말할 수 없음을 설명한다.</a:t>
            </a:r>
          </a:p>
          <a:p>
            <a:r>
              <a:t xml:space="preserve">3. (1:25–2:00 / Lecture) 운영 중 사람이 추가 확인할 점을 발견하는 교육용 상황으로 전환한다. Harness가 이미 실패했다거나 외부 설정이 원인이라고 예고하지 않는다.</a:t>
            </a:r>
          </a:p>
          <a:p>
            <a:r>
              <a:t xml:space="preserve"/>
            </a:r>
          </a:p>
          <a:p>
            <a:r>
              <a:t xml:space="preserve">**Evidence / Source:**</a:t>
            </a:r>
          </a:p>
          <a:p>
            <a:r>
              <a:t xml:space="preserve">plan/MASTER_PLAN.md §§5.7–5.9; plan/DEMO_MATRIX.md STATE-04-PERF의 검증 결과; DEC-0092. 실제 Product endpoint의 성공을 보존한다. 과거 TRIAL-001의 권한 오류는 S09과 원기록에 유지하며 새 보정 시나리오의 원인으로 사용하지 않는다.</a:t>
            </a:r>
          </a:p>
          <a:p>
            <a:r>
              <a:t xml:space="preserve"/>
            </a:r>
          </a:p>
          <a:p>
            <a:r>
              <a:t xml:space="preserve">보존된 상세 출처: OBSERVED_PRODUCT · STATE-04-PERF의 성공 회수 / 오른쪽은 다음 작업에 대한 질문</a:t>
            </a:r>
          </a:p>
          <a:p>
            <a:r>
              <a:t xml:space="preserve"/>
            </a:r>
          </a:p>
          <a:p>
            <a:r>
              <a:t xml:space="preserve">**Claim Boundary:**</a:t>
            </a:r>
          </a:p>
          <a:p>
            <a:r>
              <a:t xml:space="preserve">FROZEN WITH SCOPE / TEACHING MODEL — STATE-04-PERF의 성공 범위만 회수한다. 오른쪽 다음 작업은 질문이며 실제 후속 실패·반복 보정·새 Product State가 아니다.</a:t>
            </a:r>
          </a:p>
          <a:p>
            <a:r>
              <a:t xml:space="preserve"/>
            </a:r>
          </a:p>
          <a:p>
            <a:r>
              <a:t xml:space="preserve">보존된 상세 범위: 기록된 코드·입력·환경에서 확인한 결과 · 이후 모든 작업의 성공이나 실패를 관찰한 것은 아님</a:t>
            </a:r>
          </a:p>
          <a:p>
            <a:r>
              <a:t xml:space="preserve"/>
            </a:r>
          </a:p>
          <a:p>
            <a:r>
              <a:t xml:space="preserve">**Beginner Explanation:**</a:t>
            </a:r>
          </a:p>
          <a:p>
            <a:r>
              <a:t xml:space="preserve">작동하는 기반을 만들었어도, 다음 작업에서 새로 확인할 점은 생길 수 있다.</a:t>
            </a:r>
          </a:p>
          <a:p>
            <a:r>
              <a:t xml:space="preserve"/>
            </a:r>
          </a:p>
          <a:p>
            <a:r>
              <a:t xml:space="preserve">**Advanced Insight:**</a:t>
            </a:r>
          </a:p>
          <a:p>
            <a:r>
              <a:t xml:space="preserve">한정된 성공과 보편적인 수행 적합성 보장을 구분하고, 운영에서 얻을 추가 관찰의 필요를 연다.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N/A — Lecture2분. 실제 제품·CLI를 실행하거나 가상 보정을 실제 수행한 것처럼 보여주지 않는다. 각 장은 정적 의미 재구성/교육용 상황도다.</a:t>
            </a:r>
          </a:p>
          <a:p>
            <a:r>
              <a:t xml:space="preserve"/>
            </a:r>
          </a:p>
          <a:p>
            <a:r>
              <a:t xml:space="preserve">**Audience Interaction:**</a:t>
            </a:r>
          </a:p>
          <a:p>
            <a:r>
              <a:t xml:space="preserve">Opening Question은 생각을 돕는 질문이다. 참가자 실습·작성·공개 답변을 요구하지 않는다.</a:t>
            </a:r>
          </a:p>
          <a:p>
            <a:r>
              <a:t xml:space="preserve"/>
            </a:r>
          </a:p>
          <a:p>
            <a:r>
              <a:t xml:space="preserve">**Transition:**</a:t>
            </a:r>
          </a:p>
          <a:p>
            <a:r>
              <a:t xml:space="preserve">확인된 성공은 기록된 범위로 보존한다. 새 작업의 첫 결과 뒤에도 남은 문제가 있을 수 있다는 별도 가정으로 S80을 연다.</a:t>
            </a:r>
          </a:p>
          <a:p>
            <a:r>
              <a:t xml:space="preserve"/>
            </a:r>
          </a:p>
          <a:p>
            <a:r>
              <a:t xml:space="preserve">**Time Management:**</a:t>
            </a:r>
          </a:p>
          <a:p>
            <a:r>
              <a:t xml:space="preserve">Lecture2분.0:35까지 질문·장면,1:25까지 핵심 차이,2:00에 다음 장의 질문으로 이동한다. 환경·도구 설정 강의나 ACT4의 구체적 개선·평가를 미리 설명하지 않는다. 실측 리허설 UNVERIFIED.</a:t>
            </a:r>
          </a:p>
          <a:p>
            <a:r>
              <a:t xml:space="preserve"/>
            </a:r>
          </a:p>
          <a:p>
            <a:r>
              <a:t xml:space="preserve">**Fallback:**</a:t>
            </a:r>
          </a:p>
          <a:p>
            <a:r>
              <a:t xml:space="preserve">LOCAL STATIC ARTIFACT — production/ACT_3.pptx의 S79 또는 production/preview/full/S79.png. 실제 실행 Screenshot·Trial·새 관찰 결과로 표현하지 않는다.</a:t>
            </a:r>
          </a:p>
          <a:p>
            <a:r>
              <a:t xml:space="preserve"/>
            </a:r>
          </a:p>
          <a:p>
            <a:r>
              <a:t xml:space="preserve">**Validation Status:**</a:t>
            </a:r>
          </a:p>
          <a:p>
            <a:r>
              <a:t xml:space="preserve">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S80 — 첫 결과 뒤에도, 확인할 일이 남는다면?</a:t>
            </a:r>
          </a:p>
          <a:p>
            <a:r>
              <a:t xml:space="preserve"/>
            </a:r>
          </a:p>
          <a:p>
            <a:r>
              <a:t xml:space="preserve">**Slide ID:**</a:t>
            </a:r>
          </a:p>
          <a:p>
            <a:r>
              <a:t xml:space="preserve">S80</a:t>
            </a:r>
          </a:p>
          <a:p>
            <a:r>
              <a:t xml:space="preserve"/>
            </a:r>
          </a:p>
          <a:p>
            <a:r>
              <a:t xml:space="preserve">**Working Title:**</a:t>
            </a:r>
          </a:p>
          <a:p>
            <a:r>
              <a:t xml:space="preserve">첫 결과 뒤에도, 확인할 일이 남는다면?</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첫 결과가 나와도 완료 기준의 미충족 항목이 남을 수 있다는 가상 상황을 연다.</a:t>
            </a:r>
          </a:p>
          <a:p>
            <a:r>
              <a:t xml:space="preserve"/>
            </a:r>
          </a:p>
          <a:p>
            <a:r>
              <a:t xml:space="preserve">**Opening Question:**</a:t>
            </a:r>
          </a:p>
          <a:p>
            <a:r>
              <a:t xml:space="preserve">첫 결과 뒤에 무엇이 아직 남았는지는 누가 확인할까?</a:t>
            </a:r>
          </a:p>
          <a:p>
            <a:r>
              <a:t xml:space="preserve"/>
            </a:r>
          </a:p>
          <a:p>
            <a:r>
              <a:t xml:space="preserve">**Speaker Flow:**</a:t>
            </a:r>
          </a:p>
          <a:p>
            <a:r>
              <a:t xml:space="preserve">1. (0:00–1:00 / Lecture) 첫 결과가 나와도 완료 기준의 미충족 항목이 남을 수 있다는 가상 상황을 연다. 화면의 근거 등급을 짚고 실제 Trial의 반복 실패 기록과 구분한다.</a:t>
            </a:r>
          </a:p>
          <a:p>
            <a:r>
              <a:t xml:space="preserve">2. (1:00–2:00 / Lecture) 첫 변경 결과를 사람이 검토하고 수정 요청으로 잇는 S81로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상황 · 실제 밝기 통계의 실패나 검토 누락 이력이 아님</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앞의 실제 성공과 별개의 가정 · 새 실행·검토 결과 없음</a:t>
            </a:r>
          </a:p>
          <a:p>
            <a:r>
              <a:t xml:space="preserve"/>
            </a:r>
          </a:p>
          <a:p>
            <a:r>
              <a:t xml:space="preserve">**Beginner Explanation:**</a:t>
            </a:r>
          </a:p>
          <a:p>
            <a:r>
              <a:t xml:space="preserve">첫 결과가 나와도 완료 기준의 미충족 항목이 남을 수 있다는 가상 상황을 연다.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첫 변경 결과를 사람이 검토하고 수정 요청으로 잇는 S81로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S80; production/preview/act3/S80.png 및 production/preview/full/S80.png.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S81 — 남은 문제를 다음 수정으로 이어주는 사람</a:t>
            </a:r>
          </a:p>
          <a:p>
            <a:r>
              <a:t xml:space="preserve"/>
            </a:r>
          </a:p>
          <a:p>
            <a:r>
              <a:t xml:space="preserve">**Slide ID:**</a:t>
            </a:r>
          </a:p>
          <a:p>
            <a:r>
              <a:t xml:space="preserve">S81</a:t>
            </a:r>
          </a:p>
          <a:p>
            <a:r>
              <a:t xml:space="preserve"/>
            </a:r>
          </a:p>
          <a:p>
            <a:r>
              <a:t xml:space="preserve">**Working Title:**</a:t>
            </a:r>
          </a:p>
          <a:p>
            <a:r>
              <a:t xml:space="preserve">남은 문제를 다음 수정으로 이어주는 사람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같은 목표 안에서 검토·수정·재확인을 사람이 매번 다시 요청하는 상황을 설명한다.</a:t>
            </a:r>
          </a:p>
          <a:p>
            <a:r>
              <a:t xml:space="preserve"/>
            </a:r>
          </a:p>
          <a:p>
            <a:r>
              <a:t xml:space="preserve">**Opening Question:**</a:t>
            </a:r>
          </a:p>
          <a:p>
            <a:r>
              <a:t xml:space="preserve">같은 목표인데 왜 다음 단계는 다시 요청해야 할까?</a:t>
            </a:r>
          </a:p>
          <a:p>
            <a:r>
              <a:t xml:space="preserve"/>
            </a:r>
          </a:p>
          <a:p>
            <a:r>
              <a:t xml:space="preserve">**Speaker Flow:**</a:t>
            </a:r>
          </a:p>
          <a:p>
            <a:r>
              <a:t xml:space="preserve">1. (0:00–1:00 / Lecture) 같은 목표 안에서 검토·수정·재확인을 사람이 매번 다시 요청하는 상황을 설명한다. 화면의 근거 등급을 짚고 실제 Trial의 반복 실패 기록과 구분한다.</a:t>
            </a:r>
          </a:p>
          <a:p>
            <a:r>
              <a:t xml:space="preserve">2. (1:00–2:00 / Lecture) 이 연결에서 수행 방법과 다음 행동 판단을 구분하는 S82로 넘긴다.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요청 예 · 같은 작업의 검토·수정을 사람이 연결하는 가정</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실제 비교 실험·반복 횟수·시간·토큰·실패를 관찰한 결과가 아님</a:t>
            </a:r>
          </a:p>
          <a:p>
            <a:r>
              <a:t xml:space="preserve"/>
            </a:r>
          </a:p>
          <a:p>
            <a:r>
              <a:t xml:space="preserve">**Beginner Explanation:**</a:t>
            </a:r>
          </a:p>
          <a:p>
            <a:r>
              <a:t xml:space="preserve">같은 목표 안에서 검토·수정·재확인을 사람이 매번 다시 요청하는 상황을 설명한다.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이 연결에서 수행 방법과 다음 행동 판단을 구분하는 S82로 넘긴다.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S81; production/preview/act3/S81.png 및 production/preview/full/S81.png.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S82 — 같은 목표의 수정과 검토가 끊기지 않게</a:t>
            </a:r>
          </a:p>
          <a:p>
            <a:r>
              <a:t xml:space="preserve"/>
            </a:r>
          </a:p>
          <a:p>
            <a:r>
              <a:t xml:space="preserve">**Slide ID:**</a:t>
            </a:r>
          </a:p>
          <a:p>
            <a:r>
              <a:t xml:space="preserve">S82</a:t>
            </a:r>
          </a:p>
          <a:p>
            <a:r>
              <a:t xml:space="preserve"/>
            </a:r>
          </a:p>
          <a:p>
            <a:r>
              <a:t xml:space="preserve">**Working Title:**</a:t>
            </a:r>
          </a:p>
          <a:p>
            <a:r>
              <a:t xml:space="preserve">같은 목표의 수정과 검토가 끊기지 않게</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Harness의 수행 방법·도구를 활용하며 검토 지적을 다음 수정으로 돌리는 제어가 필요하다.</a:t>
            </a:r>
          </a:p>
          <a:p>
            <a:r>
              <a:t xml:space="preserve"/>
            </a:r>
          </a:p>
          <a:p>
            <a:r>
              <a:t xml:space="preserve">**Opening Question:**</a:t>
            </a:r>
          </a:p>
          <a:p>
            <a:r>
              <a:t xml:space="preserve">어떻게 일할지와 다음에 무엇을 고칠지는 같은 질문일까?</a:t>
            </a:r>
          </a:p>
          <a:p>
            <a:r>
              <a:t xml:space="preserve"/>
            </a:r>
          </a:p>
          <a:p>
            <a:r>
              <a:t xml:space="preserve">**Speaker Flow:**</a:t>
            </a:r>
          </a:p>
          <a:p>
            <a:r>
              <a:t xml:space="preserve">1. (0:00–1:00 / Lecture) Harness의 수행 방법·도구를 활용하며 검토 지적을 다음 수정으로 돌리는 제어가 필요하다. 화면의 근거 등급을 짚고 실제 Trial의 반복 실패 기록과 구분한다.</a:t>
            </a:r>
          </a:p>
          <a:p>
            <a:r>
              <a:t xml:space="preserve">2. (1:00–2:00 / Lecture) 같은 목표의 다음 수정이 이어받을 상태를 S83에서 살펴본다.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교육용 운영 설계 · Harness의 방법·도구를 반복 수행에 사용</a:t>
            </a:r>
          </a:p>
          <a:p>
            <a:r>
              <a:t xml:space="preserve"/>
            </a:r>
          </a:p>
          <a:p>
            <a:r>
              <a:t xml:space="preserve">**Claim Boundary:**</a:t>
            </a:r>
          </a:p>
          <a:p>
            <a:r>
              <a:t xml:space="preserve">CONCEPTUAL — 실제 반복 이력·제품 기능·새 성과 없음. 같은 목표 안의 수행 루프 진입을 위한 설명 모델.</a:t>
            </a:r>
          </a:p>
          <a:p>
            <a:r>
              <a:t xml:space="preserve"/>
            </a:r>
          </a:p>
          <a:p>
            <a:r>
              <a:t xml:space="preserve">보존된 상세 범위: Harness에 원래 피드백이 없다는 뜻이 아님 · 자동 실행 제품 기능을 검증한 자료가 아님</a:t>
            </a:r>
          </a:p>
          <a:p>
            <a:r>
              <a:t xml:space="preserve"/>
            </a:r>
          </a:p>
          <a:p>
            <a:r>
              <a:t xml:space="preserve">**Beginner Explanation:**</a:t>
            </a:r>
          </a:p>
          <a:p>
            <a:r>
              <a:t xml:space="preserve">Harness의 수행 방법·도구를 활용하며 검토 지적을 다음 수정으로 돌리는 제어가 필요하다.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같은 목표의 다음 수정이 이어받을 상태를 S83에서 살펴본다.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S82; production/preview/act3/S82.png 및 production/preview/full/S82.png.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S83 — 다음 수정에 넘길 기록</a:t>
            </a:r>
          </a:p>
          <a:p>
            <a:r>
              <a:t xml:space="preserve"/>
            </a:r>
          </a:p>
          <a:p>
            <a:r>
              <a:t xml:space="preserve">**Slide ID:**</a:t>
            </a:r>
          </a:p>
          <a:p>
            <a:r>
              <a:t xml:space="preserve">S83</a:t>
            </a:r>
          </a:p>
          <a:p>
            <a:r>
              <a:t xml:space="preserve"/>
            </a:r>
          </a:p>
          <a:p>
            <a:r>
              <a:t xml:space="preserve">**Working Title:**</a:t>
            </a:r>
          </a:p>
          <a:p>
            <a:r>
              <a:t xml:space="preserve">다음 수정에 넘길 기록</a:t>
            </a:r>
          </a:p>
          <a:p>
            <a:r>
              <a:t xml:space="preserve"/>
            </a:r>
          </a:p>
          <a:p>
            <a:r>
              <a:t xml:space="preserve">**ACT / Section:**</a:t>
            </a:r>
          </a:p>
          <a:p>
            <a:r>
              <a:t xml:space="preserve">ACT 3 / 3G Minimum Effective Harness 완성</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목표·완료 기준, 현재 변경·검사 기록, 남은 검토 지적을 다음 수정에 전달한다.</a:t>
            </a:r>
          </a:p>
          <a:p>
            <a:r>
              <a:t xml:space="preserve"/>
            </a:r>
          </a:p>
          <a:p>
            <a:r>
              <a:t xml:space="preserve">**Opening Question:**</a:t>
            </a:r>
          </a:p>
          <a:p>
            <a:r>
              <a:t xml:space="preserve">다음 수정이 무엇을 이어받아야 할까?</a:t>
            </a:r>
          </a:p>
          <a:p>
            <a:r>
              <a:t xml:space="preserve"/>
            </a:r>
          </a:p>
          <a:p>
            <a:r>
              <a:t xml:space="preserve">**Speaker Flow:**</a:t>
            </a:r>
          </a:p>
          <a:p>
            <a:r>
              <a:t xml:space="preserve">1. (0:00–1:00 / Lecture) 목표·완료 기준, 현재 변경·검사 기록, 남은 검토 지적을 다음 수정에 전달한다. 화면의 근거 등급을 짚고 실제 Trial의 반복 실패 기록과 구분한다.</a:t>
            </a:r>
          </a:p>
          <a:p>
            <a:r>
              <a:t xml:space="preserve">2. (1:00–2:00 / Lecture) S84에서 내가 계속 이어 주는 다음 요청 하나를 떠올리게 한다.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TEACHING_MODEL · 실제 새 기록 파일·Memory를 생성한 결과가 아님</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기존 지식의 출처는 유지 · 별도 Memory 시스템이나 새 도구를 필수로 요구하지 않음</a:t>
            </a:r>
          </a:p>
          <a:p>
            <a:r>
              <a:t xml:space="preserve"/>
            </a:r>
          </a:p>
          <a:p>
            <a:r>
              <a:t xml:space="preserve">**Beginner Explanation:**</a:t>
            </a:r>
          </a:p>
          <a:p>
            <a:r>
              <a:t xml:space="preserve">목표·완료 기준, 현재 변경·검사 기록, 남은 검토 지적을 다음 수정에 전달한다.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S84에서 내가 계속 이어 주는 다음 요청 하나를 떠올리게 한다.</a:t>
            </a:r>
          </a:p>
          <a:p>
            <a:r>
              <a:t xml:space="preserve"/>
            </a:r>
          </a:p>
          <a:p>
            <a:r>
              <a:t xml:space="preserve">**Time Management:**</a:t>
            </a:r>
          </a:p>
          <a:p>
            <a:r>
              <a:t xml:space="preserve">Lecture 2분 = 2분.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S83; production/preview/act3/S83.png 및 production/preview/full/S83.png.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S84 — 내가 매번 이어 주는 다음 단계는 무엇일까?</a:t>
            </a:r>
          </a:p>
          <a:p>
            <a:r>
              <a:t xml:space="preserve"/>
            </a:r>
          </a:p>
          <a:p>
            <a:r>
              <a:t xml:space="preserve">**Slide ID:**</a:t>
            </a:r>
          </a:p>
          <a:p>
            <a:r>
              <a:t xml:space="preserve">S84</a:t>
            </a:r>
          </a:p>
          <a:p>
            <a:r>
              <a:t xml:space="preserve"/>
            </a:r>
          </a:p>
          <a:p>
            <a:r>
              <a:t xml:space="preserve">**Working Title:**</a:t>
            </a:r>
          </a:p>
          <a:p>
            <a:r>
              <a:t xml:space="preserve">내가 매번 이어 주는 다음 단계는 무엇일까?</a:t>
            </a:r>
          </a:p>
          <a:p>
            <a:r>
              <a:t xml:space="preserve"/>
            </a:r>
          </a:p>
          <a:p>
            <a:r>
              <a:t xml:space="preserve">**ACT / Section:**</a:t>
            </a:r>
          </a:p>
          <a:p>
            <a:r>
              <a:t xml:space="preserve">ACT 3 / 3I Discussion / Reflection / Transition</a:t>
            </a:r>
          </a:p>
          <a:p>
            <a:r>
              <a:t xml:space="preserve"/>
            </a:r>
          </a:p>
          <a:p>
            <a:r>
              <a:t xml:space="preserve">**Allocated Time:**</a:t>
            </a:r>
          </a:p>
          <a:p>
            <a:r>
              <a:t xml:space="preserve">10 minutes</a:t>
            </a:r>
          </a:p>
          <a:p>
            <a:r>
              <a:t xml:space="preserve"/>
            </a:r>
          </a:p>
          <a:p>
            <a:r>
              <a:t xml:space="preserve">**Mode Split:**</a:t>
            </a:r>
          </a:p>
          <a:p>
            <a:r>
              <a:t xml:space="preserve">Reflection 3분 + Q&amp;A 5분 + Transition 2분</a:t>
            </a:r>
          </a:p>
          <a:p>
            <a:r>
              <a:t xml:space="preserve"/>
            </a:r>
          </a:p>
          <a:p>
            <a:r>
              <a:t xml:space="preserve">**Primary Message:**</a:t>
            </a:r>
          </a:p>
          <a:p>
            <a:r>
              <a:t xml:space="preserve">내 업무의 검토·수정·완료 판단 중 반복해서 연결하는 요청을 생각하고 ACT4 수행 루프로 넘긴다.</a:t>
            </a:r>
          </a:p>
          <a:p>
            <a:r>
              <a:t xml:space="preserve"/>
            </a:r>
          </a:p>
          <a:p>
            <a:r>
              <a:t xml:space="preserve">**Opening Question:**</a:t>
            </a:r>
          </a:p>
          <a:p>
            <a:r>
              <a:t xml:space="preserve">내가 매번 이어 주는 검토·수정·확인 요청은 무엇일까?</a:t>
            </a:r>
          </a:p>
          <a:p>
            <a:r>
              <a:t xml:space="preserve"/>
            </a:r>
          </a:p>
          <a:p>
            <a:r>
              <a:t xml:space="preserve">**Speaker Flow:**</a:t>
            </a:r>
          </a:p>
          <a:p>
            <a:r>
              <a:t xml:space="preserve">1. (0:00–3:00 / Reflection) 검토·수정·완료 중 내가 계속 이어 주는 요청 하나를 마음속으로 고른다. 기록·발표를 요구하지 않는다.</a:t>
            </a:r>
          </a:p>
          <a:p>
            <a:r>
              <a:t xml:space="preserve">2. (3:00–8:00 / Q&amp;A) 질문을 받는다. 없으면 “검토가 끝난 뒤 다음 수정은 누가 이어 주나요?”를 사용한다. 완료 기준과 사람의 책임을 유지하고 제품 기능을 단정하지 않는다.</a:t>
            </a:r>
          </a:p>
          <a:p>
            <a:r>
              <a:t xml:space="preserve">3. (8:00–10:00 / Transition) S85의 목표 기반 실행·검토 시스템 제목을 거쳐 S86의 사람의 연결 문제로 이어간다.</a:t>
            </a:r>
          </a:p>
          <a:p>
            <a:r>
              <a:t xml:space="preserve"/>
            </a:r>
          </a:p>
          <a:p>
            <a:r>
              <a:t xml:space="preserve">**Evidence / Source:**</a:t>
            </a:r>
          </a:p>
          <a:p>
            <a:r>
              <a:t xml:space="preserve">BEAT-073; DEC-0097; INV-LOOP-001; INV-VERIFY-001. CASE-LOOP-01의 교육용 설계. 실제 자료와 설계를 구분한다.</a:t>
            </a:r>
          </a:p>
          <a:p>
            <a:r>
              <a:t xml:space="preserve"/>
            </a:r>
          </a:p>
          <a:p>
            <a:r>
              <a:t xml:space="preserve">보존된 상세 출처: 개인 성찰 · 기록·제출·공유는 선택 · 새 Trial 없음</a:t>
            </a:r>
          </a:p>
          <a:p>
            <a:r>
              <a:t xml:space="preserve"/>
            </a:r>
          </a:p>
          <a:p>
            <a:r>
              <a:t xml:space="preserve">**Claim Boundary:**</a:t>
            </a:r>
          </a:p>
          <a:p>
            <a:r>
              <a:t xml:space="preserve">TEACHING_MODEL — 실제 반복 이력·제품 기능·새 성과 없음. 같은 목표 안의 수행 루프 진입을 위한 설명 모델.</a:t>
            </a:r>
          </a:p>
          <a:p>
            <a:r>
              <a:t xml:space="preserve"/>
            </a:r>
          </a:p>
          <a:p>
            <a:r>
              <a:t xml:space="preserve">보존된 상세 범위: 다음 ACT는 같은 목표의 구현·검토·수정 반복을 다룸 · 완전자율 성공을 보장하지 않음</a:t>
            </a:r>
          </a:p>
          <a:p>
            <a:r>
              <a:t xml:space="preserve"/>
            </a:r>
          </a:p>
          <a:p>
            <a:r>
              <a:t xml:space="preserve">**Beginner Explanation:**</a:t>
            </a:r>
          </a:p>
          <a:p>
            <a:r>
              <a:t xml:space="preserve">내 업무의 검토·수정·완료 판단 중 반복해서 연결하는 요청을 생각하고 ACT4 수행 루프로 넘긴다.</a:t>
            </a:r>
          </a:p>
          <a:p>
            <a:r>
              <a:t xml:space="preserve"/>
            </a:r>
          </a:p>
          <a:p>
            <a:r>
              <a:t xml:space="preserve">**Advanced Insight:**</a:t>
            </a:r>
          </a:p>
          <a:p>
            <a:r>
              <a:t xml:space="preserve">같은 목표의 상태와 반복 제어를 수행 방법과 연결하되 별도 Memory·완전자율화를 필수로 요구하지 않는다.</a:t>
            </a:r>
          </a:p>
          <a:p>
            <a:r>
              <a:t xml:space="preserve"/>
            </a:r>
          </a:p>
          <a:p>
            <a:r>
              <a:t xml:space="preserve">**C++ Vision Bridge:**</a:t>
            </a:r>
          </a:p>
          <a:p>
            <a:r>
              <a:t xml:space="preserve">N/A — 일반적인 업무 보정·근거·개선의 질문이다. 기존 다른 C++ 사례는 유지한다.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내가 매번 이어 주는 검토·수정·확인 요청은 무엇일까? 공유·기록·실습은 요구하지 않는다.</a:t>
            </a:r>
          </a:p>
          <a:p>
            <a:r>
              <a:t xml:space="preserve"/>
            </a:r>
          </a:p>
          <a:p>
            <a:r>
              <a:t xml:space="preserve">**Transition:**</a:t>
            </a:r>
          </a:p>
          <a:p>
            <a:r>
              <a:t xml:space="preserve">S85의 목표 기반 실행·검토 시스템 제목을 거쳐 S86의 사람의 연결 문제로 이어간다.</a:t>
            </a:r>
          </a:p>
          <a:p>
            <a:r>
              <a:t xml:space="preserve"/>
            </a:r>
          </a:p>
          <a:p>
            <a:r>
              <a:t xml:space="preserve">**Time Management:**</a:t>
            </a:r>
          </a:p>
          <a:p>
            <a:r>
              <a:t xml:space="preserve">Reflection 3분 + Q&amp;A 5분 + Transition 2분 = 10분.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production/ACT_3.pptx의 S84; production/preview/act3/S84.png 및 production/preview/full/S84.png.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S85 — 목표를 이룰 때까지 수정하고 검토하기</a:t>
            </a:r>
          </a:p>
          <a:p>
            <a:r>
              <a:t xml:space="preserve"/>
            </a:r>
          </a:p>
          <a:p>
            <a:r>
              <a:t xml:space="preserve">**Slide ID:**</a:t>
            </a:r>
          </a:p>
          <a:p>
            <a:r>
              <a:t xml:space="preserve">S85</a:t>
            </a:r>
          </a:p>
          <a:p>
            <a:r>
              <a:t xml:space="preserve"/>
            </a:r>
          </a:p>
          <a:p>
            <a:r>
              <a:t xml:space="preserve">**Working Title:**</a:t>
            </a:r>
          </a:p>
          <a:p>
            <a:r>
              <a:t xml:space="preserve">목표를 이룰 때까지 수정하고 검토하기</a:t>
            </a:r>
          </a:p>
          <a:p>
            <a:r>
              <a:t xml:space="preserve"/>
            </a:r>
          </a:p>
          <a:p>
            <a:r>
              <a:t xml:space="preserve">**ACT / Section:**</a:t>
            </a:r>
          </a:p>
          <a:p>
            <a:r>
              <a:t xml:space="preserve">ACT 4 / 4R1 Goal-loop entry</a:t>
            </a:r>
          </a:p>
          <a:p>
            <a:r>
              <a:t xml:space="preserve"/>
            </a:r>
          </a:p>
          <a:p>
            <a:r>
              <a:t xml:space="preserve">**Allocated Time:**</a:t>
            </a:r>
          </a:p>
          <a:p>
            <a:r>
              <a:t xml:space="preserve">1 minutes</a:t>
            </a:r>
          </a:p>
          <a:p>
            <a:r>
              <a:t xml:space="preserve"/>
            </a:r>
          </a:p>
          <a:p>
            <a:r>
              <a:t xml:space="preserve">**Mode Split:**</a:t>
            </a:r>
          </a:p>
          <a:p>
            <a:r>
              <a:t xml:space="preserve">Transition 1분</a:t>
            </a:r>
          </a:p>
          <a:p>
            <a:r>
              <a:t xml:space="preserve"/>
            </a:r>
          </a:p>
          <a:p>
            <a:r>
              <a:t xml:space="preserve">**Primary Message:**</a:t>
            </a:r>
          </a:p>
          <a:p>
            <a:r>
              <a:t xml:space="preserve">Loop Engineering은 같은 목표의 구현·검토·수정을 피드백으로 연결하는 시스템 설계다.</a:t>
            </a:r>
          </a:p>
          <a:p>
            <a:r>
              <a:t xml:space="preserve"/>
            </a:r>
          </a:p>
          <a:p>
            <a:r>
              <a:t xml:space="preserve">**Opening Question:**</a:t>
            </a:r>
          </a:p>
          <a:p>
            <a:r>
              <a:t xml:space="preserve">다음 수정과 검토까지 작업 시스템이 이어가려면 무엇이 필요할까?</a:t>
            </a:r>
          </a:p>
          <a:p>
            <a:r>
              <a:t xml:space="preserve"/>
            </a:r>
          </a:p>
          <a:p>
            <a:r>
              <a:t xml:space="preserve">**Speaker Flow:**</a:t>
            </a:r>
          </a:p>
          <a:p>
            <a:r>
              <a:t xml:space="preserve">1. (0:00–1:00 / Transition) ACT3의 마지막 질문을 받아 제목과 부제만 안내한다. 목표·완료 기준이 반복을 이끈다는 관점을 예고하고 S86으로 넘긴다.</a:t>
            </a:r>
          </a:p>
          <a:p>
            <a:r>
              <a:t xml:space="preserve"/>
            </a:r>
          </a:p>
          <a:p>
            <a:r>
              <a:t xml:space="preserve">**Evidence / Source:**</a:t>
            </a:r>
          </a:p>
          <a:p>
            <a:r>
              <a:t xml:space="preserve">DEC-0097; BEAT-072; CASE-LOOP-01; CLM-0021. CASE-LOOP-01의 교육용 설계. 실제 자료와 설계를 구분한다.</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**Beginner Explanation:**</a:t>
            </a:r>
          </a:p>
          <a:p>
            <a:r>
              <a:t xml:space="preserve">Loop Engineering은 같은 목표의 구현·검토·수정을 피드백으로 연결하는 시스템 설계다.</a:t>
            </a:r>
          </a:p>
          <a:p>
            <a:r>
              <a:t xml:space="preserve"/>
            </a:r>
          </a:p>
          <a:p>
            <a:r>
              <a:t xml:space="preserve">**Advanced Insight:**</a:t>
            </a:r>
          </a:p>
          <a:p>
            <a:r>
              <a:t xml:space="preserve">이번 교육의 운영 정의다. 특정 제품의 기능명이나 보편 표준 분류로 주장하지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N/A — ACT 제목 안내.</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다음 수정도 사람이 매번 이어줘야 할까?의 질문으로 이어간다.</a:t>
            </a:r>
          </a:p>
          <a:p>
            <a:r>
              <a:t xml:space="preserve"/>
            </a:r>
          </a:p>
          <a:p>
            <a:r>
              <a:t xml:space="preserve">**Time Management:**</a:t>
            </a:r>
          </a:p>
          <a:p>
            <a:r>
              <a:t xml:space="preserve">Transition 1분 = 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S85; production/preview/act4/S85.png 및 production/preview/full/S85.png.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S86 — 다음 수정도 사람이 매번 이어줘야 할까?</a:t>
            </a:r>
          </a:p>
          <a:p>
            <a:r>
              <a:t xml:space="preserve"/>
            </a:r>
          </a:p>
          <a:p>
            <a:r>
              <a:t xml:space="preserve">**Slide ID:**</a:t>
            </a:r>
          </a:p>
          <a:p>
            <a:r>
              <a:t xml:space="preserve">S86</a:t>
            </a:r>
          </a:p>
          <a:p>
            <a:r>
              <a:t xml:space="preserve"/>
            </a:r>
          </a:p>
          <a:p>
            <a:r>
              <a:t xml:space="preserve">**Working Title:**</a:t>
            </a:r>
          </a:p>
          <a:p>
            <a:r>
              <a:t xml:space="preserve">다음 수정도 사람이 매번 이어줘야 할까?</a:t>
            </a:r>
          </a:p>
          <a:p>
            <a:r>
              <a:t xml:space="preserve"/>
            </a:r>
          </a:p>
          <a:p>
            <a:r>
              <a:t xml:space="preserve">**ACT / Section:**</a:t>
            </a:r>
          </a:p>
          <a:p>
            <a:r>
              <a:t xml:space="preserve">ACT 4 / 4R1 Goal-loop entry</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한 목표를 마치는 동안 사람이 검토·수정·재확인의 다음 요청을 계속 연결하는 문제를 드러낸다.</a:t>
            </a:r>
          </a:p>
          <a:p>
            <a:r>
              <a:t xml:space="preserve"/>
            </a:r>
          </a:p>
          <a:p>
            <a:r>
              <a:t xml:space="preserve">**Opening Question:**</a:t>
            </a:r>
          </a:p>
          <a:p>
            <a:r>
              <a:t xml:space="preserve">작업 방법이 있어도 다음 단계는 매번 사람이 다시 요청해야 할까?</a:t>
            </a:r>
          </a:p>
          <a:p>
            <a:r>
              <a:t xml:space="preserve"/>
            </a:r>
          </a:p>
          <a:p>
            <a:r>
              <a:t xml:space="preserve">**Speaker Flow:**</a:t>
            </a:r>
          </a:p>
          <a:p>
            <a:r>
              <a:t xml:space="preserve">1. (0:00–2:00 / Lecture) S84의 질문을 회수한다. 앞 ACT의 Harness는 수행 방법과 도구를 제공한다. 이 장의 세 요청은 실제 Trial이 아닌 가상 상황이며 같은 목표 안의 연속 단계라고 설명한다.</a:t>
            </a:r>
          </a:p>
          <a:p>
            <a:r>
              <a:t xml:space="preserve">2. (2:00–4:00 / Case) ACT3의 세 요청을 다시 나열하지 않고, 사람이 모아 전달하던 검토 의견이 다음 수정의 입력으로 들어가는 두 영역을 짚는다. 목표는 유지하고 남은 문제를 시스템 안에서 넘길 수 있겠다는 질문으로 S87의 완료 기준을 연다.</a:t>
            </a:r>
          </a:p>
          <a:p>
            <a:r>
              <a:t xml:space="preserve"/>
            </a:r>
          </a:p>
          <a:p>
            <a:r>
              <a:t xml:space="preserve">**Evidence / Source:**</a:t>
            </a:r>
          </a:p>
          <a:p>
            <a:r>
              <a:t xml:space="preserve">DEC-0097; BEAT-073;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한 목표를 마치는 동안 사람이 검토·수정·재확인의 다음 요청을 계속 연결하는 문제를 드러낸다.</a:t>
            </a:r>
          </a:p>
          <a:p>
            <a:r>
              <a:t xml:space="preserve"/>
            </a:r>
          </a:p>
          <a:p>
            <a:r>
              <a:t xml:space="preserve">**Advanced Insight:**</a:t>
            </a:r>
          </a:p>
          <a:p>
            <a:r>
              <a:t xml:space="preserve">Harness와 Loop를 배타적인 제품 단계로 구분하지 않는다. 여기서는 반복의 상태·피드백·다음 행동 제어라는 추가 설계 책임을 드러낸다.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먼저, 무엇이 되면 완료인지 정한다의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S86; production/preview/act4/S86.png 및 production/preview/full/S86.png.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S87 — 먼저, 무엇이 되면 완료인지 정한다</a:t>
            </a:r>
          </a:p>
          <a:p>
            <a:r>
              <a:t xml:space="preserve"/>
            </a:r>
          </a:p>
          <a:p>
            <a:r>
              <a:t xml:space="preserve">**Slide ID:**</a:t>
            </a:r>
          </a:p>
          <a:p>
            <a:r>
              <a:t xml:space="preserve">S87</a:t>
            </a:r>
          </a:p>
          <a:p>
            <a:r>
              <a:t xml:space="preserve"/>
            </a:r>
          </a:p>
          <a:p>
            <a:r>
              <a:t xml:space="preserve">**Working Title:**</a:t>
            </a:r>
          </a:p>
          <a:p>
            <a:r>
              <a:t xml:space="preserve">먼저, 무엇이 되면 완료인지 정한다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밝기 통계의 출력·동작, 임시 할당, 실행시간 조건을 처음부터 완료 기준으로 두고 반복 중 유지한다.</a:t>
            </a:r>
          </a:p>
          <a:p>
            <a:r>
              <a:t xml:space="preserve"/>
            </a:r>
          </a:p>
          <a:p>
            <a:r>
              <a:t xml:space="preserve">**Opening Question:**</a:t>
            </a:r>
          </a:p>
          <a:p>
            <a:r>
              <a:t xml:space="preserve">이 최적화 작업은 무엇을 확인하면 완료라고 할 수 있을까?</a:t>
            </a:r>
          </a:p>
          <a:p>
            <a:r>
              <a:t xml:space="preserve"/>
            </a:r>
          </a:p>
          <a:p>
            <a:r>
              <a:t xml:space="preserve">**Speaker Flow:**</a:t>
            </a:r>
          </a:p>
          <a:p>
            <a:r>
              <a:t xml:space="preserve">1. (0:00–2:00 / Lecture) 별도 교육용 최적화 상황임을 먼저 밝힌다. 실제 명세의 여섯 출력은 width, height, pixel_count, minimum, maximum, mean이다. 기능 보존과 자원 조건을 함께 제시한다.</a:t>
            </a:r>
          </a:p>
          <a:p>
            <a:r>
              <a:t xml:space="preserve">2. (2:00–4:00 / Case) 반복할 때에도 같은 입력·환경·측정 기준을 사용한다. 수치·대표 입력은 실행 전에 확정해야 하며 현재 TBD다. 과거 측정값을 새 완료 기준이나 새 결과로 가져오지 않는다.</a:t>
            </a:r>
          </a:p>
          <a:p>
            <a:r>
              <a:t xml:space="preserve"/>
            </a:r>
          </a:p>
          <a:p>
            <a:r>
              <a:t xml:space="preserve">**Evidence / Source:**</a:t>
            </a:r>
          </a:p>
          <a:p>
            <a:r>
              <a:t xml:space="preserve">DEC-0097; BEAT-074; CASE-LOOP-01; existing six-field specification in DEMO_MATRIX.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할당량 목표·실행시간 상한·대표 입력은 실행 전에 확정 · 현재 수치는 TBD</a:t>
            </a:r>
          </a:p>
          <a:p>
            <a:r>
              <a:t xml:space="preserve"/>
            </a:r>
          </a:p>
          <a:p>
            <a:r>
              <a:t xml:space="preserve">**Beginner Explanation:**</a:t>
            </a:r>
          </a:p>
          <a:p>
            <a:r>
              <a:t xml:space="preserve">밝기 통계의 출력·동작, 임시 할당, 실행시간 조건을 처음부터 완료 기준으로 두고 반복 중 유지한다.</a:t>
            </a:r>
          </a:p>
          <a:p>
            <a:r>
              <a:t xml:space="preserve"/>
            </a:r>
          </a:p>
          <a:p>
            <a:r>
              <a:t xml:space="preserve">**Advanced Insight:**</a:t>
            </a:r>
          </a:p>
          <a:p>
            <a:r>
              <a:t xml:space="preserve">모델의 판단에 따라 목표나 테스트 기대값을 낮추지 않는다. 요구 변경이 필요하면 사람이 명시적으로 승인한다.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A가 첫 변경 후보를 만든다의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S87; production/preview/act4/S87.png 및 production/preview/full/S87.png.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S88 — 모델 A가 첫 변경 후보를 만든다</a:t>
            </a:r>
          </a:p>
          <a:p>
            <a:r>
              <a:t xml:space="preserve"/>
            </a:r>
          </a:p>
          <a:p>
            <a:r>
              <a:t xml:space="preserve">**Slide ID:**</a:t>
            </a:r>
          </a:p>
          <a:p>
            <a:r>
              <a:t xml:space="preserve">S88</a:t>
            </a:r>
          </a:p>
          <a:p>
            <a:r>
              <a:t xml:space="preserve"/>
            </a:r>
          </a:p>
          <a:p>
            <a:r>
              <a:t xml:space="preserve">**Working Title:**</a:t>
            </a:r>
          </a:p>
          <a:p>
            <a:r>
              <a:t xml:space="preserve">모델 A가 첫 변경 후보를 만든다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첫 구현은 검토할 후보이며 완료가 아니다. 가상 v1은 전체 값 복사가 남아 있는 계산 방식이다.</a:t>
            </a:r>
          </a:p>
          <a:p>
            <a:r>
              <a:t xml:space="preserve"/>
            </a:r>
          </a:p>
          <a:p>
            <a:r>
              <a:t xml:space="preserve">**Opening Question:**</a:t>
            </a:r>
          </a:p>
          <a:p>
            <a:r>
              <a:t xml:space="preserve">코드 초안이 나왔다는 사실만으로 할당량 목표를 이뤘다고 할 수 있을까?</a:t>
            </a:r>
          </a:p>
          <a:p>
            <a:r>
              <a:t xml:space="preserve"/>
            </a:r>
          </a:p>
          <a:p>
            <a:r>
              <a:t xml:space="preserve">**Speaker Flow:**</a:t>
            </a:r>
          </a:p>
          <a:p>
            <a:r>
              <a:t xml:space="preserve">1. (0:00–1:00 / Case) 고정된 목표 띠를 다시 짚고 모델 A가 첫 후보를 만드는 단계임을 보인다. 실제 STATE-04-PERF 이후의 회귀나 새 코드 실행이 아니다.</a:t>
            </a:r>
          </a:p>
          <a:p>
            <a:r>
              <a:t xml:space="preserve">2. (1:00–3:00 / Case) 가정한 v1의 전체 값 복사를 짚는다. 통계 결과가 맞아 보이는 것과 임시 할당 감소를 확인하는 것은 별개다. 실제 메모리·시간 수치를 표시하지 않는다.</a:t>
            </a:r>
          </a:p>
          <a:p>
            <a:r>
              <a:t xml:space="preserve">3. (3:00–4:00 / Case) 후보가 나온 시점에서 확인할 자료가 필요하다고 닫는다. 다음 장은 검사할 항목이며 실제 PASS/FAIL을 보여주는 장이 아니다.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첫 구현은 검토할 후보이며 완료가 아니다. 가상 v1은 전체 값 복사가 남아 있는 계산 방식이다.</a:t>
            </a:r>
          </a:p>
          <a:p>
            <a:r>
              <a:t xml:space="preserve"/>
            </a:r>
          </a:p>
          <a:p>
            <a:r>
              <a:t xml:space="preserve">**Advanced Insight:**</a:t>
            </a:r>
          </a:p>
          <a:p>
            <a:r>
              <a:t xml:space="preserve">후보 생성·실제 동작·자원 측정을 서로 다른 사건으로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실제 동작과 비용은 도구로 확인한다의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S88; production/preview/act4/S88.png 및 production/preview/full/S88.png.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S89 — 실제 동작과 비용은 도구로 확인한다</a:t>
            </a:r>
          </a:p>
          <a:p>
            <a:r>
              <a:t xml:space="preserve"/>
            </a:r>
          </a:p>
          <a:p>
            <a:r>
              <a:t xml:space="preserve">**Slide ID:**</a:t>
            </a:r>
          </a:p>
          <a:p>
            <a:r>
              <a:t xml:space="preserve">S89</a:t>
            </a:r>
          </a:p>
          <a:p>
            <a:r>
              <a:t xml:space="preserve"/>
            </a:r>
          </a:p>
          <a:p>
            <a:r>
              <a:t xml:space="preserve">**Working Title:**</a:t>
            </a:r>
          </a:p>
          <a:p>
            <a:r>
              <a:t xml:space="preserve">실제 동작과 비용은 도구로 확인한다</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Lecture 2분 + Case 3분</a:t>
            </a:r>
          </a:p>
          <a:p>
            <a:r>
              <a:t xml:space="preserve"/>
            </a:r>
          </a:p>
          <a:p>
            <a:r>
              <a:t xml:space="preserve">**Primary Message:**</a:t>
            </a:r>
          </a:p>
          <a:p>
            <a:r>
              <a:t xml:space="preserve">모델의 설명을 실제 검사·측정 기록으로 대조하도록 검증을 설계한다.</a:t>
            </a:r>
          </a:p>
          <a:p>
            <a:r>
              <a:t xml:space="preserve"/>
            </a:r>
          </a:p>
          <a:p>
            <a:r>
              <a:t xml:space="preserve">**Opening Question:**</a:t>
            </a:r>
          </a:p>
          <a:p>
            <a:r>
              <a:t xml:space="preserve">완료 기준의 각 항목을 어떤 자료로 확인해야 할까?</a:t>
            </a:r>
          </a:p>
          <a:p>
            <a:r>
              <a:t xml:space="preserve"/>
            </a:r>
          </a:p>
          <a:p>
            <a:r>
              <a:t xml:space="preserve">**Speaker Flow:**</a:t>
            </a:r>
          </a:p>
          <a:p>
            <a:r>
              <a:t xml:space="preserve">1. (0:00–2:00 / Lecture) 출력과 동작은 명세를 확인하는 테스트, 할당량은 대표 입력의 측정, 시간은 같은 환경에서의 반복 측정으로 확인한다고 연결한다.</a:t>
            </a:r>
          </a:p>
          <a:p>
            <a:r>
              <a:t xml:space="preserve">2. (2:00–5:00 / Case) 검사를 계획했다는 것과 실행 결과를 얻었다는 것을 구분한다. 이 장에는 실행 결과가 없다. 실제 운영에서는 입력·환경·명령·결과·미확인을 검토 모델에게 함께 넘긴다.</a:t>
            </a:r>
          </a:p>
          <a:p>
            <a:r>
              <a:t xml:space="preserve"/>
            </a:r>
          </a:p>
          <a:p>
            <a:r>
              <a:t xml:space="preserve">**Evidence / Source:**</a:t>
            </a:r>
          </a:p>
          <a:p>
            <a:r>
              <a:t xml:space="preserve">DEC-0097; BEAT-075;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검사할 항목의 설계 · 실제 명령 실행·측정값·통과 결과를 제시하는 장이 아님</a:t>
            </a:r>
          </a:p>
          <a:p>
            <a:r>
              <a:t xml:space="preserve"/>
            </a:r>
          </a:p>
          <a:p>
            <a:r>
              <a:t xml:space="preserve">**Beginner Explanation:**</a:t>
            </a:r>
          </a:p>
          <a:p>
            <a:r>
              <a:t xml:space="preserve">모델의 설명을 실제 검사·측정 기록으로 대조하도록 검증을 설계한다.</a:t>
            </a:r>
          </a:p>
          <a:p>
            <a:r>
              <a:t xml:space="preserve"/>
            </a:r>
          </a:p>
          <a:p>
            <a:r>
              <a:t xml:space="preserve">**Advanced Insight:**</a:t>
            </a:r>
          </a:p>
          <a:p>
            <a:r>
              <a:t xml:space="preserve">테스트 통과도 확인한 범위의 근거다. 모든 결함 부재나 숨은 요구 충족을 보장하지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모델 B는 무엇을 근거로 검토할까?의 질문으로 이어간다.</a:t>
            </a:r>
          </a:p>
          <a:p>
            <a:r>
              <a:t xml:space="preserve"/>
            </a:r>
          </a:p>
          <a:p>
            <a:r>
              <a:t xml:space="preserve">**Time Management:**</a:t>
            </a:r>
          </a:p>
          <a:p>
            <a:r>
              <a:t xml:space="preserve">Lecture 2분 + Case 3분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S89; production/preview/act4/S89.png 및 production/preview/full/S89.png.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S90 — 모델 B는 무엇을 근거로 검토할까?</a:t>
            </a:r>
          </a:p>
          <a:p>
            <a:r>
              <a:t xml:space="preserve"/>
            </a:r>
          </a:p>
          <a:p>
            <a:r>
              <a:t xml:space="preserve">**Slide ID:**</a:t>
            </a:r>
          </a:p>
          <a:p>
            <a:r>
              <a:t xml:space="preserve">S90</a:t>
            </a:r>
          </a:p>
          <a:p>
            <a:r>
              <a:t xml:space="preserve"/>
            </a:r>
          </a:p>
          <a:p>
            <a:r>
              <a:t xml:space="preserve">**Working Title:**</a:t>
            </a:r>
          </a:p>
          <a:p>
            <a:r>
              <a:t xml:space="preserve">모델 B는 무엇을 근거로 검토할까?</a:t>
            </a:r>
          </a:p>
          <a:p>
            <a:r>
              <a:t xml:space="preserve"/>
            </a:r>
          </a:p>
          <a:p>
            <a:r>
              <a:t xml:space="preserve">**ACT / Section:**</a:t>
            </a:r>
          </a:p>
          <a:p>
            <a:r>
              <a:t xml:space="preserve">ACT 4 / 4R2 One-goal walkthrough</a:t>
            </a:r>
          </a:p>
          <a:p>
            <a:r>
              <a:t xml:space="preserve"/>
            </a:r>
          </a:p>
          <a:p>
            <a:r>
              <a:t xml:space="preserve">**Allocated Time:**</a:t>
            </a:r>
          </a:p>
          <a:p>
            <a:r>
              <a:t xml:space="preserve">5 minutes</a:t>
            </a:r>
          </a:p>
          <a:p>
            <a:r>
              <a:t xml:space="preserve"/>
            </a:r>
          </a:p>
          <a:p>
            <a:r>
              <a:t xml:space="preserve">**Mode Split:**</a:t>
            </a:r>
          </a:p>
          <a:p>
            <a:r>
              <a:t xml:space="preserve">Case 5분</a:t>
            </a:r>
          </a:p>
          <a:p>
            <a:r>
              <a:t xml:space="preserve"/>
            </a:r>
          </a:p>
          <a:p>
            <a:r>
              <a:t xml:space="preserve">**Primary Message:**</a:t>
            </a:r>
          </a:p>
          <a:p>
            <a:r>
              <a:t xml:space="preserve">다른 모델 B는 목표·명세·diff·검사 기록을 근거로 구체적인 검토 지적을 만든다.</a:t>
            </a:r>
          </a:p>
          <a:p>
            <a:r>
              <a:t xml:space="preserve"/>
            </a:r>
          </a:p>
          <a:p>
            <a:r>
              <a:t xml:space="preserve">**Opening Question:**</a:t>
            </a:r>
          </a:p>
          <a:p>
            <a:r>
              <a:t xml:space="preserve">잘 검토해 달라는 말에 무엇을 함께 전달해야 할까?</a:t>
            </a:r>
          </a:p>
          <a:p>
            <a:r>
              <a:t xml:space="preserve"/>
            </a:r>
          </a:p>
          <a:p>
            <a:r>
              <a:t xml:space="preserve">**Speaker Flow:**</a:t>
            </a:r>
          </a:p>
          <a:p>
            <a:r>
              <a:t xml:space="preserve">1. (0:00–2:00 / Case) 왼쪽의 명세·완료 기준, 후보 변경, 검사 기록을 짚는다. 모델 A가 잘 됐다고 요약한 말만 넘기는 대신 검토 가능한 원자료를 제공한다.</a:t>
            </a:r>
          </a:p>
          <a:p>
            <a:r>
              <a:t xml:space="preserve">2. (2:00–4:00 / Case) 가상 v1에서 임시 목록이 남았다는 지적과 대표 입력의 확인 자료가 없다는 지적을 구분한다. 두 번째는 동작 실패가 관찰됐다는 뜻이 아니다.</a:t>
            </a:r>
          </a:p>
          <a:p>
            <a:r>
              <a:t xml:space="preserve">3. (4:00–5:00 / Case) 검토 결과에는 파일·위치, 위반 기준, 근거와 다음에 확인할 것을 담는다. 모델 B는 다른 모델 역할의 설계이며 실제 조합이나 실행 기록은 아직 없다.</a:t>
            </a:r>
          </a:p>
          <a:p>
            <a:r>
              <a:t xml:space="preserve"/>
            </a:r>
          </a:p>
          <a:p>
            <a:r>
              <a:t xml:space="preserve">**Evidence / Source:**</a:t>
            </a:r>
          </a:p>
          <a:p>
            <a:r>
              <a:t xml:space="preserve">DEC-0097; BEAT-076;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다른 모델 B는 목표·명세·diff·검사 기록을 근거로 구체적인 검토 지적을 만든다.</a:t>
            </a:r>
          </a:p>
          <a:p>
            <a:r>
              <a:t xml:space="preserve"/>
            </a:r>
          </a:p>
          <a:p>
            <a:r>
              <a:t xml:space="preserve">**Advanced Insight:**</a:t>
            </a:r>
          </a:p>
          <a:p>
            <a:r>
              <a:t xml:space="preserve">검토자는 구현 모델의 결론을 반복하는 대신 명세와 변경·검사 기록을 독립적으로 대조하도록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지적이 다음 수정으로 이어진다의 질문으로 이어간다.</a:t>
            </a:r>
          </a:p>
          <a:p>
            <a:r>
              <a:t xml:space="preserve"/>
            </a:r>
          </a:p>
          <a:p>
            <a:r>
              <a:t xml:space="preserve">**Time Management:**</a:t>
            </a:r>
          </a:p>
          <a:p>
            <a:r>
              <a:t xml:space="preserve">Case 5분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S90; production/preview/act4/S90.png 및 production/preview/full/S90.png.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S91 — 지적이 다음 수정으로 이어진다</a:t>
            </a:r>
          </a:p>
          <a:p>
            <a:r>
              <a:t xml:space="preserve"/>
            </a:r>
          </a:p>
          <a:p>
            <a:r>
              <a:t xml:space="preserve">**Slide ID:**</a:t>
            </a:r>
          </a:p>
          <a:p>
            <a:r>
              <a:t xml:space="preserve">S91</a:t>
            </a:r>
          </a:p>
          <a:p>
            <a:r>
              <a:t xml:space="preserve"/>
            </a:r>
          </a:p>
          <a:p>
            <a:r>
              <a:t xml:space="preserve">**Working Title:**</a:t>
            </a:r>
          </a:p>
          <a:p>
            <a:r>
              <a:t xml:space="preserve">지적이 다음 수정으로 이어진다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검토 지적의 번호를 유지해 다음 변경 후보가 무엇을 고치는지 연결한다.</a:t>
            </a:r>
          </a:p>
          <a:p>
            <a:r>
              <a:t xml:space="preserve"/>
            </a:r>
          </a:p>
          <a:p>
            <a:r>
              <a:t xml:space="preserve">**Opening Question:**</a:t>
            </a:r>
          </a:p>
          <a:p>
            <a:r>
              <a:t xml:space="preserve">검토에서 찾은 문제는 다음 변경의 어느 부분으로 이어졌을까?</a:t>
            </a:r>
          </a:p>
          <a:p>
            <a:r>
              <a:t xml:space="preserve"/>
            </a:r>
          </a:p>
          <a:p>
            <a:r>
              <a:t xml:space="preserve">**Speaker Flow:**</a:t>
            </a:r>
          </a:p>
          <a:p>
            <a:r>
              <a:t xml:space="preserve">1. (0:00–1:00 / Case) 앞 장의 지적 ①과 ②를 같은 번호로 이어 받는다. 새 목표를 추가하는 장이 아니다.</a:t>
            </a:r>
          </a:p>
          <a:p>
            <a:r>
              <a:t xml:space="preserve">2. (1:00–3:00 / Case) ① 전체 값 복사 제거, ② 같은 결과 검사 추가라는 후보 변경을 각각 연결한다. 실행하지 않은 수정·테스트를 실제 이력으로 말하지 않는다.</a:t>
            </a:r>
          </a:p>
          <a:p>
            <a:r>
              <a:t xml:space="preserve">3. (3:00–4:00 / Case) 지적은 검증 후 수용·기각할 수 있다. 지금 그림은 지적이 타당하다고 가정한 설계이며 수정 후에는 같은 기준으로 다시 확인해야 한다고 넘긴다.</a:t>
            </a:r>
          </a:p>
          <a:p>
            <a:r>
              <a:t xml:space="preserve"/>
            </a:r>
          </a:p>
          <a:p>
            <a:r>
              <a:t xml:space="preserve">**Evidence / Source:**</a:t>
            </a:r>
          </a:p>
          <a:p>
            <a:r>
              <a:t xml:space="preserve">DEC-0097; BEAT-077;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후보·지적·수정은 설명용 설계 · 실제 실행·측정·PASS/FAIL 결과 없음</a:t>
            </a:r>
          </a:p>
          <a:p>
            <a:r>
              <a:t xml:space="preserve"/>
            </a:r>
          </a:p>
          <a:p>
            <a:r>
              <a:t xml:space="preserve">**Beginner Explanation:**</a:t>
            </a:r>
          </a:p>
          <a:p>
            <a:r>
              <a:t xml:space="preserve">검토 지적의 번호를 유지해 다음 변경 후보가 무엇을 고치는지 연결한다.</a:t>
            </a:r>
          </a:p>
          <a:p>
            <a:r>
              <a:t xml:space="preserve"/>
            </a:r>
          </a:p>
          <a:p>
            <a:r>
              <a:t xml:space="preserve">**Advanced Insight:**</a:t>
            </a:r>
          </a:p>
          <a:p>
            <a:r>
              <a:t xml:space="preserve">각 변경의 이유와 검토 항목을 연결하면 다음 검토자가 해결·미해결 여부를 추적할 수 있다.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고쳤다면, 같은 기준으로 다시 본다의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S91; production/preview/act4/S91.png 및 production/preview/full/S91.png.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S92 — 고쳤다면, 같은 기준으로 다시 본다</a:t>
            </a:r>
          </a:p>
          <a:p>
            <a:r>
              <a:t xml:space="preserve"/>
            </a:r>
          </a:p>
          <a:p>
            <a:r>
              <a:t xml:space="preserve">**Slide ID:**</a:t>
            </a:r>
          </a:p>
          <a:p>
            <a:r>
              <a:t xml:space="preserve">S92</a:t>
            </a:r>
          </a:p>
          <a:p>
            <a:r>
              <a:t xml:space="preserve"/>
            </a:r>
          </a:p>
          <a:p>
            <a:r>
              <a:t xml:space="preserve">**Working Title:**</a:t>
            </a:r>
          </a:p>
          <a:p>
            <a:r>
              <a:t xml:space="preserve">고쳤다면, 같은 기준으로 다시 본다</a:t>
            </a:r>
          </a:p>
          <a:p>
            <a:r>
              <a:t xml:space="preserve"/>
            </a:r>
          </a:p>
          <a:p>
            <a:r>
              <a:t xml:space="preserve">**ACT / Section:**</a:t>
            </a:r>
          </a:p>
          <a:p>
            <a:r>
              <a:t xml:space="preserve">ACT 4 / 4R2 One-goal walkthrough</a:t>
            </a:r>
          </a:p>
          <a:p>
            <a:r>
              <a:t xml:space="preserve"/>
            </a:r>
          </a:p>
          <a:p>
            <a:r>
              <a:t xml:space="preserve">**Allocated Time:**</a:t>
            </a:r>
          </a:p>
          <a:p>
            <a:r>
              <a:t xml:space="preserve">4 minutes</a:t>
            </a:r>
          </a:p>
          <a:p>
            <a:r>
              <a:t xml:space="preserve"/>
            </a:r>
          </a:p>
          <a:p>
            <a:r>
              <a:t xml:space="preserve">**Mode Split:**</a:t>
            </a:r>
          </a:p>
          <a:p>
            <a:r>
              <a:t xml:space="preserve">Case 4분</a:t>
            </a:r>
          </a:p>
          <a:p>
            <a:r>
              <a:t xml:space="preserve"/>
            </a:r>
          </a:p>
          <a:p>
            <a:r>
              <a:t xml:space="preserve">**Primary Message:**</a:t>
            </a:r>
          </a:p>
          <a:p>
            <a:r>
              <a:t xml:space="preserve">후보 v2를 같은 기준으로 재검증·재검토하고 남은 지적은 다음 수정으로 되돌린다.</a:t>
            </a:r>
          </a:p>
          <a:p>
            <a:r>
              <a:t xml:space="preserve"/>
            </a:r>
          </a:p>
          <a:p>
            <a:r>
              <a:t xml:space="preserve">**Opening Question:**</a:t>
            </a:r>
          </a:p>
          <a:p>
            <a:r>
              <a:t xml:space="preserve">지적한 부분을 고쳤다면 바로 끝내도 될까?</a:t>
            </a:r>
          </a:p>
          <a:p>
            <a:r>
              <a:t xml:space="preserve"/>
            </a:r>
          </a:p>
          <a:p>
            <a:r>
              <a:t xml:space="preserve">**Speaker Flow:**</a:t>
            </a:r>
          </a:p>
          <a:p>
            <a:r>
              <a:t xml:space="preserve">1. (0:00–2:00 / Case) 후보 v2와 갱신된 기록을 같은 목표 띠 아래에서 보여준다. 출력·할당량·시간 조건을 다시 대조하며 기존 동작의 회귀도 확인한다.</a:t>
            </a:r>
          </a:p>
          <a:p>
            <a:r>
              <a:t xml:space="preserve">2. (2:00–3:00 / Case) 조건을 충족했다는 근거가 있으면 완료 판단으로, 남은 문제가 있으면 다음 후보로 이어지는 분기를 짚는다. 실제 v2 성공·v3 실행은 관찰하지 않았다.</a:t>
            </a:r>
          </a:p>
          <a:p>
            <a:r>
              <a:t xml:space="preserve">3. (3:00–4:00 / Case) 완료 기준을 낮춰서 끝내지 않는다고 회수한다. 지금까지 단계별로 본 연결을 다음 장에서 하나의 루프로 묶는다.</a:t>
            </a:r>
          </a:p>
          <a:p>
            <a:r>
              <a:t xml:space="preserve"/>
            </a:r>
          </a:p>
          <a:p>
            <a:r>
              <a:t xml:space="preserve">**Evidence / Source:**</a:t>
            </a:r>
          </a:p>
          <a:p>
            <a:r>
              <a:t xml:space="preserve">DEC-0097; BEAT-078; CASE-LOOP-01; CLM-0021. CASE-LOOP-01의 교육용 설계. 실제 자료와 설계를 구분한다.</a:t>
            </a:r>
          </a:p>
          <a:p>
            <a:r>
              <a:t xml:space="preserve"/>
            </a:r>
          </a:p>
          <a:p>
            <a:r>
              <a:t xml:space="preserve">보존된 상세 출처: 밝기 통계 최적화의 가상 진행 예 · 실제 Trial 또는 실행 캡처 아님</a:t>
            </a:r>
          </a:p>
          <a:p>
            <a:r>
              <a:t xml:space="preserve"/>
            </a:r>
          </a:p>
          <a:p>
            <a:r>
              <a:t xml:space="preserve">**Claim Boundary:**</a:t>
            </a:r>
          </a:p>
          <a:p>
            <a:r>
              <a:t xml:space="preserve">CONCEPTUAL — 교육용 설계이며 실제 구현·검토·재실행·측정·완료 결과가 없다. 기존 Product/Meta Trial을 이 루프의 실행 증거로 바꾸지 않는다.</a:t>
            </a:r>
          </a:p>
          <a:p>
            <a:r>
              <a:t xml:space="preserve"/>
            </a:r>
          </a:p>
          <a:p>
            <a:r>
              <a:t xml:space="preserve">보존된 상세 범위: 재검증·재검토의 운영 설계 · 후보 v2가 성공했다는 실제 결과는 없음</a:t>
            </a:r>
          </a:p>
          <a:p>
            <a:r>
              <a:t xml:space="preserve"/>
            </a:r>
          </a:p>
          <a:p>
            <a:r>
              <a:t xml:space="preserve">**Beginner Explanation:**</a:t>
            </a:r>
          </a:p>
          <a:p>
            <a:r>
              <a:t xml:space="preserve">후보 v2를 같은 기준으로 재검증·재검토하고 남은 지적은 다음 수정으로 되돌린다.</a:t>
            </a:r>
          </a:p>
          <a:p>
            <a:r>
              <a:t xml:space="preserve"/>
            </a:r>
          </a:p>
          <a:p>
            <a:r>
              <a:t xml:space="preserve">**Advanced Insight:**</a:t>
            </a:r>
          </a:p>
          <a:p>
            <a:r>
              <a:t xml:space="preserve">새 수정이 이전의 유효한 동작을 깨뜨릴 수 있다. 확인된 후보와 시도 이력을 남겨 되돌릴 수 있도록 설계한다.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같은 목표의 구현·검토 루프의 질문으로 이어간다.</a:t>
            </a:r>
          </a:p>
          <a:p>
            <a:r>
              <a:t xml:space="preserve"/>
            </a:r>
          </a:p>
          <a:p>
            <a:r>
              <a:t xml:space="preserve">**Time Management:**</a:t>
            </a:r>
          </a:p>
          <a:p>
            <a:r>
              <a:t xml:space="preserve">Case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S92; production/preview/act4/S92.png 및 production/preview/full/S92.png.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S93 — 같은 목표의 구현·검토 루프</a:t>
            </a:r>
          </a:p>
          <a:p>
            <a:r>
              <a:t xml:space="preserve"/>
            </a:r>
          </a:p>
          <a:p>
            <a:r>
              <a:t xml:space="preserve">**Slide ID:**</a:t>
            </a:r>
          </a:p>
          <a:p>
            <a:r>
              <a:t xml:space="preserve">S93</a:t>
            </a:r>
          </a:p>
          <a:p>
            <a:r>
              <a:t xml:space="preserve"/>
            </a:r>
          </a:p>
          <a:p>
            <a:r>
              <a:t xml:space="preserve">**Working Title:**</a:t>
            </a:r>
          </a:p>
          <a:p>
            <a:r>
              <a:t xml:space="preserve">같은 목표의 구현·검토 루프</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목표·완료 기준 아래 구현, 도구 근거, 다른 모델의 검토와 다음 수정 판단을 하나의 닫힌 경로로 설계한다.</a:t>
            </a:r>
          </a:p>
          <a:p>
            <a:r>
              <a:t xml:space="preserve"/>
            </a:r>
          </a:p>
          <a:p>
            <a:r>
              <a:t xml:space="preserve">**Opening Question:**</a:t>
            </a:r>
          </a:p>
          <a:p>
            <a:r>
              <a:t xml:space="preserve">지금 본 여러 단계가 어떻게 하나의 시스템으로 연결될까?</a:t>
            </a:r>
          </a:p>
          <a:p>
            <a:r>
              <a:t xml:space="preserve"/>
            </a:r>
          </a:p>
          <a:p>
            <a:r>
              <a:t xml:space="preserve">**Speaker Flow:**</a:t>
            </a:r>
          </a:p>
          <a:p>
            <a:r>
              <a:t xml:space="preserve">1. (0:00–3:00 / Lecture) 위쪽의 구현·검사·검토를 따라간 뒤 아래쪽의 판단·피드백을 통해 같은 목표의 구현으로 돌아간다. Loop는 Harness의 방법·도구를 활용하며 가중치를 학습한다는 뜻이 아니다.</a:t>
            </a:r>
          </a:p>
          <a:p>
            <a:r>
              <a:t xml:space="preserve">2. (3:00–5:00 / Case) 앞의 지적 ①을 한 번만 전체 경로에 대응시킨다. 도구와 모델 검토의 선후·병렬 여부는 작업 의존관계에 따라 정하며 이 그림은 성능·병렬 실행의 실측 기록이 아니다.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목표와 근거를 다음 수정에 연결하는 시스템</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구체적 제품 기능·자동 실행 이력·모델 학습·완료 성과를 관찰한 결과가 아님</a:t>
            </a:r>
          </a:p>
          <a:p>
            <a:r>
              <a:t xml:space="preserve"/>
            </a:r>
          </a:p>
          <a:p>
            <a:r>
              <a:t xml:space="preserve">**Beginner Explanation:**</a:t>
            </a:r>
          </a:p>
          <a:p>
            <a:r>
              <a:t xml:space="preserve">목표·완료 기준 아래 구현, 도구 근거, 다른 모델의 검토와 다음 수정 판단을 하나의 닫힌 경로로 설계한다.</a:t>
            </a:r>
          </a:p>
          <a:p>
            <a:r>
              <a:t xml:space="preserve"/>
            </a:r>
          </a:p>
          <a:p>
            <a:r>
              <a:t xml:space="preserve">**Advanced Insight:**</a:t>
            </a:r>
          </a:p>
          <a:p>
            <a:r>
              <a:t xml:space="preserve">반복의 제어는 반드시 별도 모델이 맡아야 하는 것은 아니다. 목표·상태·피드백 전달·다음 행동을 정하는 운영 로직이 핵심이다.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언제 계속하고, 언제 끝낼까?의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S93; production/preview/act4/S93.png 및 production/preview/full/S93.png.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S94 — 언제 계속하고, 언제 끝낼까?</a:t>
            </a:r>
          </a:p>
          <a:p>
            <a:r>
              <a:t xml:space="preserve"/>
            </a:r>
          </a:p>
          <a:p>
            <a:r>
              <a:t xml:space="preserve">**Slide ID:**</a:t>
            </a:r>
          </a:p>
          <a:p>
            <a:r>
              <a:t xml:space="preserve">S94</a:t>
            </a:r>
          </a:p>
          <a:p>
            <a:r>
              <a:t xml:space="preserve"/>
            </a:r>
          </a:p>
          <a:p>
            <a:r>
              <a:t xml:space="preserve">**Working Title:**</a:t>
            </a:r>
          </a:p>
          <a:p>
            <a:r>
              <a:t xml:space="preserve">언제 계속하고, 언제 끝낼까?</a:t>
            </a:r>
          </a:p>
          <a:p>
            <a:r>
              <a:t xml:space="preserve"/>
            </a:r>
          </a:p>
          <a:p>
            <a:r>
              <a:t xml:space="preserve">**ACT / Section:**</a:t>
            </a:r>
          </a:p>
          <a:p>
            <a:r>
              <a:t xml:space="preserve">ACT 4 / 4R3 Feedback and control</a:t>
            </a:r>
          </a:p>
          <a:p>
            <a:r>
              <a:t xml:space="preserve"/>
            </a:r>
          </a:p>
          <a:p>
            <a:r>
              <a:t xml:space="preserve">**Allocated Time:**</a:t>
            </a:r>
          </a:p>
          <a:p>
            <a:r>
              <a:t xml:space="preserve">5 minutes</a:t>
            </a:r>
          </a:p>
          <a:p>
            <a:r>
              <a:t xml:space="preserve"/>
            </a:r>
          </a:p>
          <a:p>
            <a:r>
              <a:t xml:space="preserve">**Mode Split:**</a:t>
            </a:r>
          </a:p>
          <a:p>
            <a:r>
              <a:t xml:space="preserve">Lecture 3분 + Reflection 2분</a:t>
            </a:r>
          </a:p>
          <a:p>
            <a:r>
              <a:t xml:space="preserve"/>
            </a:r>
          </a:p>
          <a:p>
            <a:r>
              <a:t xml:space="preserve">**Primary Message:**</a:t>
            </a:r>
          </a:p>
          <a:p>
            <a:r>
              <a:t xml:space="preserve">근거에 따라 완료, 다음 수정, 미완료 중단·사람 확인을 구분한다.</a:t>
            </a:r>
          </a:p>
          <a:p>
            <a:r>
              <a:t xml:space="preserve"/>
            </a:r>
          </a:p>
          <a:p>
            <a:r>
              <a:t xml:space="preserve">**Opening Question:**</a:t>
            </a:r>
          </a:p>
          <a:p>
            <a:r>
              <a:t xml:space="preserve">계속 돌리고 있다는 사실과 목표를 달성했다는 사실은 어떻게 구분할까?</a:t>
            </a:r>
          </a:p>
          <a:p>
            <a:r>
              <a:t xml:space="preserve"/>
            </a:r>
          </a:p>
          <a:p>
            <a:r>
              <a:t xml:space="preserve">**Speaker Flow:**</a:t>
            </a:r>
          </a:p>
          <a:p>
            <a:r>
              <a:t xml:space="preserve">1. (0:00–3:00 / Lecture) 세 갈래를 조건부터 읽는다. 기준 충족은 확인 범위를 보고하고 완료한다. 수정 가능하면 남은 문제를 전달한다. 근거 부족·정체·한도 도달은 미완료 상태를 보존해 사람에게 묻는다.</a:t>
            </a:r>
          </a:p>
          <a:p>
            <a:r>
              <a:t xml:space="preserve">2. (3:00–5:00 / Reflection) 우리 작업의 완료 근거와 중단 뒤 사람에게 넘길 질문 하나를 마음속으로 생각하게 한다. 공유·실습은 요구하지 않으며 숫자 한도는 실행 환경에 맞춰 정한다고 닫는다.</a:t>
            </a:r>
          </a:p>
          <a:p>
            <a:r>
              <a:t xml:space="preserve"/>
            </a:r>
          </a:p>
          <a:p>
            <a:r>
              <a:t xml:space="preserve">**Evidence / Source:**</a:t>
            </a:r>
          </a:p>
          <a:p>
            <a:r>
              <a:t xml:space="preserve">DEC-0097; BEAT-079; CASE-LOOP-01; CLM-0021. CASE-LOOP-01의 교육용 설계. 실제 자료와 설계를 구분한다.</a:t>
            </a:r>
          </a:p>
          <a:p>
            <a:r>
              <a:t xml:space="preserve"/>
            </a:r>
          </a:p>
          <a:p>
            <a:r>
              <a:t xml:space="preserve">보존된 상세 출처: TEACHING_MODEL · 반복의 종료와 다음 행동을 정하는 기준</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미완료 중단은 목표 달성과 다름 · 반복·시간·비용 한도 수치는 실행 전에 정함</a:t>
            </a:r>
          </a:p>
          <a:p>
            <a:r>
              <a:t xml:space="preserve"/>
            </a:r>
          </a:p>
          <a:p>
            <a:r>
              <a:t xml:space="preserve">**Beginner Explanation:**</a:t>
            </a:r>
          </a:p>
          <a:p>
            <a:r>
              <a:t xml:space="preserve">근거에 따라 완료, 다음 수정, 미완료 중단·사람 확인을 구분한다.</a:t>
            </a:r>
          </a:p>
          <a:p>
            <a:r>
              <a:t xml:space="preserve"/>
            </a:r>
          </a:p>
          <a:p>
            <a:r>
              <a:t xml:space="preserve">**Advanced Insight:**</a:t>
            </a:r>
          </a:p>
          <a:p>
            <a:r>
              <a:t xml:space="preserve">회수 제한이나 예산 소진은 성공 판정이 아니다. 검토 항목의 해결 여부와 명세·검사 결과를 함께 확인한다.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 계속 돌리고 있다는 사실과 목표를 달성했다는 사실은 어떻게 구분할까? 공유·기록·실습은 요구하지 않는다.</a:t>
            </a:r>
          </a:p>
          <a:p>
            <a:r>
              <a:t xml:space="preserve"/>
            </a:r>
          </a:p>
          <a:p>
            <a:r>
              <a:t xml:space="preserve">**Transition:**</a:t>
            </a:r>
          </a:p>
          <a:p>
            <a:r>
              <a:t xml:space="preserve">다음은 구현한 모델에게 다시 물으면 충분할까?의 질문으로 이어간다.</a:t>
            </a:r>
          </a:p>
          <a:p>
            <a:r>
              <a:t xml:space="preserve"/>
            </a:r>
          </a:p>
          <a:p>
            <a:r>
              <a:t xml:space="preserve">**Time Management:**</a:t>
            </a:r>
          </a:p>
          <a:p>
            <a:r>
              <a:t xml:space="preserve">Lecture 3분 + Reflection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S94; production/preview/act4/S94.png 및 production/preview/full/S94.png.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S95 — 구현한 모델에게 다시 물으면 충분할까?</a:t>
            </a:r>
          </a:p>
          <a:p>
            <a:r>
              <a:t xml:space="preserve"/>
            </a:r>
          </a:p>
          <a:p>
            <a:r>
              <a:t xml:space="preserve">**Slide ID:**</a:t>
            </a:r>
          </a:p>
          <a:p>
            <a:r>
              <a:t xml:space="preserve">S95</a:t>
            </a:r>
          </a:p>
          <a:p>
            <a:r>
              <a:t xml:space="preserve"/>
            </a:r>
          </a:p>
          <a:p>
            <a:r>
              <a:t xml:space="preserve">**Working Title:**</a:t>
            </a:r>
          </a:p>
          <a:p>
            <a:r>
              <a:t xml:space="preserve">구현한 모델에게 다시 물으면 충분할까?</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자기 피드백으로 개선된 연구와 외부 근거 없는 자기 교정의 한계 연구를 조건과 함께 설명한다.</a:t>
            </a:r>
          </a:p>
          <a:p>
            <a:r>
              <a:t xml:space="preserve"/>
            </a:r>
          </a:p>
          <a:p>
            <a:r>
              <a:t xml:space="preserve">**Opening Question:**</a:t>
            </a:r>
          </a:p>
          <a:p>
            <a:r>
              <a:t xml:space="preserve">같은 모델에게 다시 생각해 달라고 하면 언제나 좋아질까?</a:t>
            </a:r>
          </a:p>
          <a:p>
            <a:r>
              <a:t xml:space="preserve"/>
            </a:r>
          </a:p>
          <a:p>
            <a:r>
              <a:t xml:space="preserve">**Speaker Flow:**</a:t>
            </a:r>
          </a:p>
          <a:p>
            <a:r>
              <a:t xml:space="preserve">1. (0:00–2:00 / Lecture) Self-Refine은 같은 LLM이 생성·피드백·수정을 반복하고 여러 과제에서 개선을 보고했다. 다중 모델 비교 연구가 아니라는 점을 명시한다.</a:t>
            </a:r>
          </a:p>
          <a:p>
            <a:r>
              <a:t xml:space="preserve">2. (2:00–4:00 / Lecture) Huang 등의 ICLR 2024 연구는 대상 추론 과제에서 외부 피드백 없는 자기 교정의 어려움과 악화 사례를 보고했다. 서로 다른 실험을 모순으로 단순화하지 않고 피드백의 근거·방법을 설계할 필요로 연결한다.</a:t>
            </a:r>
          </a:p>
          <a:p>
            <a:r>
              <a:t xml:space="preserve"/>
            </a:r>
          </a:p>
          <a:p>
            <a:r>
              <a:t xml:space="preserve">**Evidence / Source:**</a:t>
            </a:r>
          </a:p>
          <a:p>
            <a:r>
              <a:t xml:space="preserve">DEC-0097; BEAT-080; SRC-0223; SRC-0239; CLM-0045. Primary sources checked 2026-10-25: https://arxiv.org/abs/2303.17651; https://arxiv.org/abs/2310.01798</a:t>
            </a:r>
          </a:p>
          <a:p>
            <a:r>
              <a:t xml:space="preserve"/>
            </a:r>
          </a:p>
          <a:p>
            <a:r>
              <a:t xml:space="preserve">보존된 상세 출처: Self-Refine (2023) / Huang et al., ICLR 2024 · 서로 다른 실험 조건의 연구</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과거 연구 대상의 결과 · 현재 모든 모델의 자기 검토 능력이나 다중 모델 우월성을 뜻하지 않음</a:t>
            </a:r>
          </a:p>
          <a:p>
            <a:r>
              <a:t xml:space="preserve"/>
            </a:r>
          </a:p>
          <a:p>
            <a:r>
              <a:t xml:space="preserve">**Beginner Explanation:**</a:t>
            </a:r>
          </a:p>
          <a:p>
            <a:r>
              <a:t xml:space="preserve">자기 피드백으로 개선된 연구와 외부 근거 없는 자기 교정의 한계 연구를 조건과 함께 설명한다.</a:t>
            </a:r>
          </a:p>
          <a:p>
            <a:r>
              <a:t xml:space="preserve"/>
            </a:r>
          </a:p>
          <a:p>
            <a:r>
              <a:t xml:space="preserve">**Advanced Insight:**</a:t>
            </a:r>
          </a:p>
          <a:p>
            <a:r>
              <a:t xml:space="preserve">2023–2024년의 특정 모델·과제·방법에 관한 결과다. 현재 모든 모델이 자기 교정에 실패한다는 일반화는 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다른 모델의 관점이 도움이 된 실험의 질문으로 이어간다.</a:t>
            </a:r>
          </a:p>
          <a:p>
            <a:r>
              <a:t xml:space="preserve"/>
            </a:r>
          </a:p>
          <a:p>
            <a:r>
              <a:t xml:space="preserve">**Time Management:**</a:t>
            </a:r>
          </a:p>
          <a:p>
            <a:r>
              <a:t xml:space="preserve">Lecture 4분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S95; production/preview/act4/S95.png 및 production/preview/full/S95.png.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S96 — 다른 모델의 관점이 도움이 된 실험</a:t>
            </a:r>
          </a:p>
          <a:p>
            <a:r>
              <a:t xml:space="preserve"/>
            </a:r>
          </a:p>
          <a:p>
            <a:r>
              <a:t xml:space="preserve">**Slide ID:**</a:t>
            </a:r>
          </a:p>
          <a:p>
            <a:r>
              <a:t xml:space="preserve">S96</a:t>
            </a:r>
          </a:p>
          <a:p>
            <a:r>
              <a:t xml:space="preserve"/>
            </a:r>
          </a:p>
          <a:p>
            <a:r>
              <a:t xml:space="preserve">**Working Title:**</a:t>
            </a:r>
          </a:p>
          <a:p>
            <a:r>
              <a:t xml:space="preserve">다른 모델의 관점이 도움이 된 실험</a:t>
            </a:r>
          </a:p>
          <a:p>
            <a:r>
              <a:t xml:space="preserve"/>
            </a:r>
          </a:p>
          <a:p>
            <a:r>
              <a:t xml:space="preserve">**ACT / Section:**</a:t>
            </a:r>
          </a:p>
          <a:p>
            <a:r>
              <a:t xml:space="preserve">ACT 4 / 4R4 Research and model choice</a:t>
            </a:r>
          </a:p>
          <a:p>
            <a:r>
              <a:t xml:space="preserve"/>
            </a:r>
          </a:p>
          <a:p>
            <a:r>
              <a:t xml:space="preserve">**Allocated Time:**</a:t>
            </a:r>
          </a:p>
          <a:p>
            <a:r>
              <a:t xml:space="preserve">5 minutes</a:t>
            </a:r>
          </a:p>
          <a:p>
            <a:r>
              <a:t xml:space="preserve"/>
            </a:r>
          </a:p>
          <a:p>
            <a:r>
              <a:t xml:space="preserve">**Mode Split:**</a:t>
            </a:r>
          </a:p>
          <a:p>
            <a:r>
              <a:t xml:space="preserve">Lecture 3분 + Case 2분</a:t>
            </a:r>
          </a:p>
          <a:p>
            <a:r>
              <a:t xml:space="preserve"/>
            </a:r>
          </a:p>
          <a:p>
            <a:r>
              <a:t xml:space="preserve">**Primary Message:**</a:t>
            </a:r>
          </a:p>
          <a:p>
            <a:r>
              <a:t xml:space="preserve">ReConcile의 StrategyQA 실험에서 여러 모델 조합과 같은 ChatGPT 세 Agent 구성을 비교한 결과를 설명한다.</a:t>
            </a:r>
          </a:p>
          <a:p>
            <a:r>
              <a:t xml:space="preserve"/>
            </a:r>
          </a:p>
          <a:p>
            <a:r>
              <a:t xml:space="preserve">**Opening Question:**</a:t>
            </a:r>
          </a:p>
          <a:p>
            <a:r>
              <a:t xml:space="preserve">같은 모델을 여러 번 쓰는 것과 다른 모델을 조합하는 것은 같을까?</a:t>
            </a:r>
          </a:p>
          <a:p>
            <a:r>
              <a:t xml:space="preserve"/>
            </a:r>
          </a:p>
          <a:p>
            <a:r>
              <a:t xml:space="preserve">**Speaker Flow:**</a:t>
            </a:r>
          </a:p>
          <a:p>
            <a:r>
              <a:t xml:space="preserve">1. (0:00–3:00 / Lecture) ReConcile은 여러 모델의 토론과 합의를 평가한 연구다. Table 7에서 StrategyQA 정확도는 여러 모델 구성 79.0±1.6, ChatGPT만 사용하는 세 Agent 구성 72.2±2.1이다. 화면의 막대는 평균이고 ±값은 원문의 함께 보고된 값으로 Notes에서 보존한다.</a:t>
            </a:r>
          </a:p>
          <a:p>
            <a:r>
              <a:t xml:space="preserve">2. (3:00–5:00 / Case) 차이는 6.8 percentage points다. 모델 구성 변경에는 모델별 능력 차이도 포함된다. 코딩 반복 작업이나 현재 Codex에서 같은 향상·비용 절감이 입증됐다고 말하지 않는다.</a:t>
            </a:r>
          </a:p>
          <a:p>
            <a:r>
              <a:t xml:space="preserve"/>
            </a:r>
          </a:p>
          <a:p>
            <a:r>
              <a:t xml:space="preserve">**Evidence / Source:**</a:t>
            </a:r>
          </a:p>
          <a:p>
            <a:r>
              <a:t xml:space="preserve">DEC-0097; BEAT-081; SRC-0237; CLM-0043; ReConcile Table 7. Primary sources checked 2026-10-25: https://aclanthology.org/2024.acl-long.381.pdf (Table 7)</a:t>
            </a:r>
          </a:p>
          <a:p>
            <a:r>
              <a:t xml:space="preserve"/>
            </a:r>
          </a:p>
          <a:p>
            <a:r>
              <a:t xml:space="preserve">보존된 상세 출처: ReConcile · ACL 2024 · Table 7 · StrategyQA의 토론·합의 실험</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코드 수정 실험이 아님 · 현재 모델의 일반 성능·비용 개선으로 확대하지 않음</a:t>
            </a:r>
          </a:p>
          <a:p>
            <a:r>
              <a:t xml:space="preserve"/>
            </a:r>
          </a:p>
          <a:p>
            <a:r>
              <a:t xml:space="preserve">**Beginner Explanation:**</a:t>
            </a:r>
          </a:p>
          <a:p>
            <a:r>
              <a:t xml:space="preserve">ReConcile의 StrategyQA 실험에서 여러 모델 조합과 같은 ChatGPT 세 Agent 구성을 비교한 결과를 설명한다.</a:t>
            </a:r>
          </a:p>
          <a:p>
            <a:r>
              <a:t xml:space="preserve"/>
            </a:r>
          </a:p>
          <a:p>
            <a:r>
              <a:t xml:space="preserve">**Advanced Insight:**</a:t>
            </a:r>
          </a:p>
          <a:p>
            <a:r>
              <a:t xml:space="preserve">모델 다양성의 가능성을 보여주는 제한된 근거다. 토론·합의 프로토콜 전체와 모델 조합의 영향을 구분한다.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잘 만드는 능력과 잘 검토하는 능력의 질문으로 이어간다.</a:t>
            </a:r>
          </a:p>
          <a:p>
            <a:r>
              <a:t xml:space="preserve"/>
            </a:r>
          </a:p>
          <a:p>
            <a:r>
              <a:t xml:space="preserve">**Time Management:**</a:t>
            </a:r>
          </a:p>
          <a:p>
            <a:r>
              <a:t xml:space="preserve">Lecture 3분 + Case 2분 = 5분.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S96; production/preview/act4/S96.png 및 production/preview/full/S96.png.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S97 — 잘 만드는 능력과 잘 검토하는 능력</a:t>
            </a:r>
          </a:p>
          <a:p>
            <a:r>
              <a:t xml:space="preserve"/>
            </a:r>
          </a:p>
          <a:p>
            <a:r>
              <a:t xml:space="preserve">**Slide ID:**</a:t>
            </a:r>
          </a:p>
          <a:p>
            <a:r>
              <a:t xml:space="preserve">S97</a:t>
            </a:r>
          </a:p>
          <a:p>
            <a:r>
              <a:t xml:space="preserve"/>
            </a:r>
          </a:p>
          <a:p>
            <a:r>
              <a:t xml:space="preserve">**Working Title:**</a:t>
            </a:r>
          </a:p>
          <a:p>
            <a:r>
              <a:t xml:space="preserve">잘 만드는 능력과 잘 검토하는 능력</a:t>
            </a:r>
          </a:p>
          <a:p>
            <a:r>
              <a:t xml:space="preserve"/>
            </a:r>
          </a:p>
          <a:p>
            <a:r>
              <a:t xml:space="preserve">**ACT / Section:**</a:t>
            </a:r>
          </a:p>
          <a:p>
            <a:r>
              <a:t xml:space="preserve">ACT 4 / 4R4 Research and model choice</a:t>
            </a:r>
          </a:p>
          <a:p>
            <a:r>
              <a:t xml:space="preserve"/>
            </a:r>
          </a:p>
          <a:p>
            <a:r>
              <a:t xml:space="preserve">**Allocated Time:**</a:t>
            </a:r>
          </a:p>
          <a:p>
            <a:r>
              <a:t xml:space="preserve">4 minutes</a:t>
            </a:r>
          </a:p>
          <a:p>
            <a:r>
              <a:t xml:space="preserve"/>
            </a:r>
          </a:p>
          <a:p>
            <a:r>
              <a:t xml:space="preserve">**Mode Split:**</a:t>
            </a:r>
          </a:p>
          <a:p>
            <a:r>
              <a:t xml:space="preserve">Lecture 3분 + Case 1분</a:t>
            </a:r>
          </a:p>
          <a:p>
            <a:r>
              <a:t xml:space="preserve"/>
            </a:r>
          </a:p>
          <a:p>
            <a:r>
              <a:t xml:space="preserve">**Primary Message:**</a:t>
            </a:r>
          </a:p>
          <a:p>
            <a:r>
              <a:t xml:space="preserve">CriticBench의 생성·검토·수정 능력과 교차 모델 검토 결과를 근거로 검토자 선택을 따로 평가할 이유를 설명한다.</a:t>
            </a:r>
          </a:p>
          <a:p>
            <a:r>
              <a:t xml:space="preserve"/>
            </a:r>
          </a:p>
          <a:p>
            <a:r>
              <a:t xml:space="preserve">**Opening Question:**</a:t>
            </a:r>
          </a:p>
          <a:p>
            <a:r>
              <a:t xml:space="preserve">코드를 잘 생성하는 모델이 그 결과의 가장 좋은 검토자일까?</a:t>
            </a:r>
          </a:p>
          <a:p>
            <a:r>
              <a:t xml:space="preserve"/>
            </a:r>
          </a:p>
          <a:p>
            <a:r>
              <a:t xml:space="preserve">**Speaker Flow:**</a:t>
            </a:r>
          </a:p>
          <a:p>
            <a:r>
              <a:t xml:space="preserve">1. (0:00–3:00 / Lecture) CriticBench는 수학·상식·기호·코딩·알고리즘의 다섯 영역에서 17개 모델의 생성·검토·수정을 평가했다. 세 능력이 항상 일치하지 않았고 §4.2.5는 일부 다른 모델의 검토가 대상 모델의 자기 검토보다 나은 경우를 보고한다.</a:t>
            </a:r>
          </a:p>
          <a:p>
            <a:r>
              <a:t xml:space="preserve">2. (3:00–4:00 / Case) 약한 모델이 언제나 더 좋은 검토자라는 뜻은 아니다. 이 결과로 검토자 역할을 따로 평가할 이유를 설명하고 다음 장의 모델 배치 설계로 연결한다.</a:t>
            </a:r>
          </a:p>
          <a:p>
            <a:r>
              <a:t xml:space="preserve"/>
            </a:r>
          </a:p>
          <a:p>
            <a:r>
              <a:t xml:space="preserve">**Evidence / Source:**</a:t>
            </a:r>
          </a:p>
          <a:p>
            <a:r>
              <a:t xml:space="preserve">DEC-0097; BEAT-081; SRC-0238; CLM-0044; CriticBench section 4.2.5. Primary sources checked 2026-10-25: https://aclanthology.org/2024.findings-acl.91.pdf (section 4.2.5)</a:t>
            </a:r>
          </a:p>
          <a:p>
            <a:r>
              <a:t xml:space="preserve"/>
            </a:r>
          </a:p>
          <a:p>
            <a:r>
              <a:t xml:space="preserve">보존된 상세 출처: CriticBench · Findings of ACL 2024 · 17개 모델 / §4.2.5 교차 모델 검토</a:t>
            </a:r>
          </a:p>
          <a:p>
            <a:r>
              <a:t xml:space="preserve"/>
            </a:r>
          </a:p>
          <a:p>
            <a:r>
              <a:t xml:space="preserve">**Claim Boundary:**</a:t>
            </a:r>
          </a:p>
          <a:p>
            <a:r>
              <a:t xml:space="preserve">FROZEN WITH SCOPE — 해당 연구의 모델·과제·방법과 조건에 한정. 현재 Codex의 일반 성능·비용이나 새 코드 루프 성과로 확장하지 않는다.</a:t>
            </a:r>
          </a:p>
          <a:p>
            <a:r>
              <a:t xml:space="preserve"/>
            </a:r>
          </a:p>
          <a:p>
            <a:r>
              <a:t xml:space="preserve">보존된 상세 범위: 일부 모델·과제에서의 결과 · 이 교육의 코드 루프 완료율·비용 개선을 측정한 연구가 아님</a:t>
            </a:r>
          </a:p>
          <a:p>
            <a:r>
              <a:t xml:space="preserve"/>
            </a:r>
          </a:p>
          <a:p>
            <a:r>
              <a:t xml:space="preserve">**Beginner Explanation:**</a:t>
            </a:r>
          </a:p>
          <a:p>
            <a:r>
              <a:t xml:space="preserve">CriticBench의 생성·검토·수정 능력과 교차 모델 검토 결과를 근거로 검토자 선택을 따로 평가할 이유를 설명한다.</a:t>
            </a:r>
          </a:p>
          <a:p>
            <a:r>
              <a:t xml:space="preserve"/>
            </a:r>
          </a:p>
          <a:p>
            <a:r>
              <a:t xml:space="preserve">**Advanced Insight:**</a:t>
            </a:r>
          </a:p>
          <a:p>
            <a:r>
              <a:t xml:space="preserve">검토 정확도와 전체 개발 루프의 완료율·코스트는 다른 평가다. 이 교육의 모델 조합을 검증한 수치로 쓰지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구현과 검토에 모델을 어떻게 나눌까?의 질문으로 이어간다.</a:t>
            </a:r>
          </a:p>
          <a:p>
            <a:r>
              <a:t xml:space="preserve"/>
            </a:r>
          </a:p>
          <a:p>
            <a:r>
              <a:t xml:space="preserve">**Time Management:**</a:t>
            </a:r>
          </a:p>
          <a:p>
            <a:r>
              <a:t xml:space="preserve">Lecture 3분 + Case 1분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S97; production/preview/act4/S97.png 및 production/preview/full/S97.png.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S98 — 구현과 검토에 모델을 어떻게 나눌까?</a:t>
            </a:r>
          </a:p>
          <a:p>
            <a:r>
              <a:t xml:space="preserve"/>
            </a:r>
          </a:p>
          <a:p>
            <a:r>
              <a:t xml:space="preserve">**Slide ID:**</a:t>
            </a:r>
          </a:p>
          <a:p>
            <a:r>
              <a:t xml:space="preserve">S98</a:t>
            </a:r>
          </a:p>
          <a:p>
            <a:r>
              <a:t xml:space="preserve"/>
            </a:r>
          </a:p>
          <a:p>
            <a:r>
              <a:t xml:space="preserve">**Working Title:**</a:t>
            </a:r>
          </a:p>
          <a:p>
            <a:r>
              <a:t xml:space="preserve">구현과 검토에 모델을 어떻게 나눌까?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같은 모델의 역할 분리와 다른 모델의 구현·검토 조합을 구분하고 실제 작업에서 효과를 평가한다.</a:t>
            </a:r>
          </a:p>
          <a:p>
            <a:r>
              <a:t xml:space="preserve"/>
            </a:r>
          </a:p>
          <a:p>
            <a:r>
              <a:t xml:space="preserve">**Opening Question:**</a:t>
            </a:r>
          </a:p>
          <a:p>
            <a:r>
              <a:t xml:space="preserve">역할을 두 개 만들면 서로 다른 모델을 사용하는 셈일까?</a:t>
            </a:r>
          </a:p>
          <a:p>
            <a:r>
              <a:t xml:space="preserve"/>
            </a:r>
          </a:p>
          <a:p>
            <a:r>
              <a:t xml:space="preserve">**Speaker Flow:**</a:t>
            </a:r>
          </a:p>
          <a:p>
            <a:r>
              <a:t xml:space="preserve">1. (0:00–2:00 / Lecture) 같은 모델의 두 세션·Agent에 다른 역할을 주는 것과 서로 다른 모델을 선택하는 것은 다르다. 오른쪽 A/B 구성이 이번 교육에서 검토하는 다중 모델 설계라고 설명한다.</a:t>
            </a:r>
          </a:p>
          <a:p>
            <a:r>
              <a:t xml:space="preserve">2. (2:00–4:00 / Case) 실제로는 역할별 오류 탐지, 최종 동작, 지연·비용을 확인해야 한다. 모델·계정·실행 표면은 TBD이며 자동 연결 기능이나 성능 향상을 이미 확인한 것처럼 말하지 않는다.</a:t>
            </a:r>
          </a:p>
          <a:p>
            <a:r>
              <a:t xml:space="preserve"/>
            </a:r>
          </a:p>
          <a:p>
            <a:r>
              <a:t xml:space="preserve">**Evidence / Source:**</a:t>
            </a:r>
          </a:p>
          <a:p>
            <a:r>
              <a:t xml:space="preserve">DEC-0097; BEAT-082; CLM-0043; CLM-0044; CASE-LOOP-01. CASE-LOOP-01의 교육용 설계. 실제 자료와 설계를 구분한다.</a:t>
            </a:r>
          </a:p>
          <a:p>
            <a:r>
              <a:t xml:space="preserve"/>
            </a:r>
          </a:p>
          <a:p>
            <a:r>
              <a:t xml:space="preserve">보존된 상세 출처: 연구를 참고한 개발 작업의 역할 배치 제안 · 현재 제품의 자동 배치 기능 설명 아님</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같은 모델의 역할 분리와 서로 다른 모델 조합을 구분 · 실제 조합의 효과는 별도 평가</a:t>
            </a:r>
          </a:p>
          <a:p>
            <a:r>
              <a:t xml:space="preserve"/>
            </a:r>
          </a:p>
          <a:p>
            <a:r>
              <a:t xml:space="preserve">**Beginner Explanation:**</a:t>
            </a:r>
          </a:p>
          <a:p>
            <a:r>
              <a:t xml:space="preserve">같은 모델의 역할 분리와 다른 모델의 구현·검토 조합을 구분하고 실제 작업에서 효과를 평가한다.</a:t>
            </a:r>
          </a:p>
          <a:p>
            <a:r>
              <a:t xml:space="preserve"/>
            </a:r>
          </a:p>
          <a:p>
            <a:r>
              <a:t xml:space="preserve">**Advanced Insight:**</a:t>
            </a:r>
          </a:p>
          <a:p>
            <a:r>
              <a:t xml:space="preserve">Reviewer에게 구현 모델의 자신감만 전달하지 않고 독립적으로 대조할 명세·diff·원래 검사 기록을 제공한다.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검토 모델의 말도 확인해야 한다의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S98; production/preview/act4/S98.png 및 production/preview/full/S98.png.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S99 — 검토 모델의 말도 확인해야 한다</a:t>
            </a:r>
          </a:p>
          <a:p>
            <a:r>
              <a:t xml:space="preserve"/>
            </a:r>
          </a:p>
          <a:p>
            <a:r>
              <a:t xml:space="preserve">**Slide ID:**</a:t>
            </a:r>
          </a:p>
          <a:p>
            <a:r>
              <a:t xml:space="preserve">S99</a:t>
            </a:r>
          </a:p>
          <a:p>
            <a:r>
              <a:t xml:space="preserve"/>
            </a:r>
          </a:p>
          <a:p>
            <a:r>
              <a:t xml:space="preserve">**Working Title:**</a:t>
            </a:r>
          </a:p>
          <a:p>
            <a:r>
              <a:t xml:space="preserve">검토 모델의 말도 확인해야 한다</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검토 모델의 지적도 명세와 검사 근거로 대조해 수용·기각·추가 확인을 결정한다.</a:t>
            </a:r>
          </a:p>
          <a:p>
            <a:r>
              <a:t xml:space="preserve"/>
            </a:r>
          </a:p>
          <a:p>
            <a:r>
              <a:t xml:space="preserve">**Opening Question:**</a:t>
            </a:r>
          </a:p>
          <a:p>
            <a:r>
              <a:t xml:space="preserve">검토 모델이 고치라고 하면 무조건 따라야 할까?</a:t>
            </a:r>
          </a:p>
          <a:p>
            <a:r>
              <a:t xml:space="preserve"/>
            </a:r>
          </a:p>
          <a:p>
            <a:r>
              <a:t xml:space="preserve">**Speaker Flow:**</a:t>
            </a:r>
          </a:p>
          <a:p>
            <a:r>
              <a:t xml:space="preserve">1. (0:00–2:00 / Lecture) 검토 모델도 틀릴 수 있다. 지적의 위치·위반 기준·근거가 실제 변경과 맞는지 대조하고, 동의만으로 완료하지 않는다고 설명한다.</a:t>
            </a:r>
          </a:p>
          <a:p>
            <a:r>
              <a:t xml:space="preserve">2. (2:00–4:00 / Case) 지적이 타당하면 수정, 틀리면 기각 이유를 남긴다. 명세가 모호하거나 검증이 불가능하면 사람에게 판단을 요청한다. 모델 다수결을 객관적 정답으로 대체하지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검토 지적의 수용·기각과 추가 확인</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모델 동의·다수결만으로 완료하지 않음 · 검토 모델도 틀릴 수 있음</a:t>
            </a:r>
          </a:p>
          <a:p>
            <a:r>
              <a:t xml:space="preserve"/>
            </a:r>
          </a:p>
          <a:p>
            <a:r>
              <a:t xml:space="preserve">**Beginner Explanation:**</a:t>
            </a:r>
          </a:p>
          <a:p>
            <a:r>
              <a:t xml:space="preserve">검토 모델의 지적도 명세와 검사 근거로 대조해 수용·기각·추가 확인을 결정한다.</a:t>
            </a:r>
          </a:p>
          <a:p>
            <a:r>
              <a:t xml:space="preserve"/>
            </a:r>
          </a:p>
          <a:p>
            <a:r>
              <a:t xml:space="preserve">**Advanced Insight:**</a:t>
            </a:r>
          </a:p>
          <a:p>
            <a:r>
              <a:t xml:space="preserve">잘못된 지적을 반복 반영해 정상 동작을 깨뜨리는 회귀와 무한 수정을 막는 제어도 Loop 설계의 일부다.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반복하려면 무엇을 이어받아야 할까?의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S99; production/preview/act4/S99.png 및 production/preview/full/S99.png.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S100 — 반복하려면 무엇을 이어받아야 할까?</a:t>
            </a:r>
          </a:p>
          <a:p>
            <a:r>
              <a:t xml:space="preserve"/>
            </a:r>
          </a:p>
          <a:p>
            <a:r>
              <a:t xml:space="preserve">**Slide ID:**</a:t>
            </a:r>
          </a:p>
          <a:p>
            <a:r>
              <a:t xml:space="preserve">S100</a:t>
            </a:r>
          </a:p>
          <a:p>
            <a:r>
              <a:t xml:space="preserve"/>
            </a:r>
          </a:p>
          <a:p>
            <a:r>
              <a:t xml:space="preserve">**Working Title:**</a:t>
            </a:r>
          </a:p>
          <a:p>
            <a:r>
              <a:t xml:space="preserve">반복하려면 무엇을 이어받아야 할까?</a:t>
            </a:r>
          </a:p>
          <a:p>
            <a:r>
              <a:t xml:space="preserve"/>
            </a:r>
          </a:p>
          <a:p>
            <a:r>
              <a:t xml:space="preserve">**ACT / Section:**</a:t>
            </a:r>
          </a:p>
          <a:p>
            <a:r>
              <a:t xml:space="preserve">ACT 4 / 4R5 Engineering the loop</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고정 목표, 현재 후보·검토·검사, 남은 문제와 한도를 다음 시도가 이어받도록 설계한다.</a:t>
            </a:r>
          </a:p>
          <a:p>
            <a:r>
              <a:t xml:space="preserve"/>
            </a:r>
          </a:p>
          <a:p>
            <a:r>
              <a:t xml:space="preserve">**Opening Question:**</a:t>
            </a:r>
          </a:p>
          <a:p>
            <a:r>
              <a:t xml:space="preserve">다음 시도가 처음부터 다시 시작하지 않게 하려면 무엇을 남길까?</a:t>
            </a:r>
          </a:p>
          <a:p>
            <a:r>
              <a:t xml:space="preserve"/>
            </a:r>
          </a:p>
          <a:p>
            <a:r>
              <a:t xml:space="preserve">**Speaker Flow:**</a:t>
            </a:r>
          </a:p>
          <a:p>
            <a:r>
              <a:t xml:space="preserve">1. (0:00–2:00 / Lecture) 목표·완료 기준은 고정하고 후보 버전·지적·검사 결과를 갱신한다. 검토 항목의 수용·기각, 현재 남은 문제와 시도 기록을 보존한다.</a:t>
            </a:r>
          </a:p>
          <a:p>
            <a:r>
              <a:t xml:space="preserve">2. (2:00–4:00 / Case) 반복·시간·비용 한도, 같은 실패의 정체, 회귀를 만나면 어떻게 멈추고 재개할지 정한다. 별도 Memory·프레임워크가 필수라는 주장이나 숫자 기본값을 만들지 않는다.</a:t>
            </a:r>
          </a:p>
          <a:p>
            <a:r>
              <a:t xml:space="preserve"/>
            </a:r>
          </a:p>
          <a:p>
            <a:r>
              <a:t xml:space="preserve">**Evidence / Source:**</a:t>
            </a:r>
          </a:p>
          <a:p>
            <a:r>
              <a:t xml:space="preserve">DEC-0097; BEAT-082; CASE-LOOP-01; CLM-0021. CASE-LOOP-01의 교육용 설계. 실제 자료와 설계를 구분한다.</a:t>
            </a:r>
          </a:p>
          <a:p>
            <a:r>
              <a:t xml:space="preserve"/>
            </a:r>
          </a:p>
          <a:p>
            <a:r>
              <a:t xml:space="preserve">보존된 상세 출처: TEACHING_MODEL · 같은 목표의 다음 시도를 위한 최소 기록</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새 Memory·프레임워크가 필수인 것은 아님 · 한도와 중단 후 재개는 별도 운영 기준</a:t>
            </a:r>
          </a:p>
          <a:p>
            <a:r>
              <a:t xml:space="preserve"/>
            </a:r>
          </a:p>
          <a:p>
            <a:r>
              <a:t xml:space="preserve">**Beginner Explanation:**</a:t>
            </a:r>
          </a:p>
          <a:p>
            <a:r>
              <a:t xml:space="preserve">고정 목표, 현재 후보·검토·검사, 남은 문제와 한도를 다음 시도가 이어받도록 설계한다.</a:t>
            </a:r>
          </a:p>
          <a:p>
            <a:r>
              <a:t xml:space="preserve"/>
            </a:r>
          </a:p>
          <a:p>
            <a:r>
              <a:t xml:space="preserve">**Advanced Insight:**</a:t>
            </a:r>
          </a:p>
          <a:p>
            <a:r>
              <a:t xml:space="preserve">목표의 상태와 실행의 상태를 분리한다. 실행이 중단됐다는 이유로 목표가 완료된 것으로 기록하지 않는다.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다음은 확인한 근거와 아직 실행하지 않은 설계의 질문으로 이어간다.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S100; production/preview/act4/S100.png 및 production/preview/full/S100.png.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S101 — 확인한 근거와 아직 실행하지 않은 설계</a:t>
            </a:r>
          </a:p>
          <a:p>
            <a:r>
              <a:t xml:space="preserve"/>
            </a:r>
          </a:p>
          <a:p>
            <a:r>
              <a:t xml:space="preserve">**Slide ID:**</a:t>
            </a:r>
          </a:p>
          <a:p>
            <a:r>
              <a:t xml:space="preserve">S101</a:t>
            </a:r>
          </a:p>
          <a:p>
            <a:r>
              <a:t xml:space="preserve"/>
            </a:r>
          </a:p>
          <a:p>
            <a:r>
              <a:t xml:space="preserve">**Working Title:**</a:t>
            </a:r>
          </a:p>
          <a:p>
            <a:r>
              <a:t xml:space="preserve">확인한 근거와 아직 실행하지 않은 설계</a:t>
            </a:r>
          </a:p>
          <a:p>
            <a:r>
              <a:t xml:space="preserve"/>
            </a:r>
          </a:p>
          <a:p>
            <a:r>
              <a:t xml:space="preserve">**ACT / Section:**</a:t>
            </a:r>
          </a:p>
          <a:p>
            <a:r>
              <a:t xml:space="preserve">ACT 4 / 4R6 Evidence and transfer</a:t>
            </a:r>
          </a:p>
          <a:p>
            <a:r>
              <a:t xml:space="preserve"/>
            </a:r>
          </a:p>
          <a:p>
            <a:r>
              <a:t xml:space="preserve">**Allocated Time:**</a:t>
            </a:r>
          </a:p>
          <a:p>
            <a:r>
              <a:t xml:space="preserve">4 minutes</a:t>
            </a:r>
          </a:p>
          <a:p>
            <a:r>
              <a:t xml:space="preserve"/>
            </a:r>
          </a:p>
          <a:p>
            <a:r>
              <a:t xml:space="preserve">**Mode Split:**</a:t>
            </a:r>
          </a:p>
          <a:p>
            <a:r>
              <a:t xml:space="preserve">Lecture 2분 + Case 2분</a:t>
            </a:r>
          </a:p>
          <a:p>
            <a:r>
              <a:t xml:space="preserve"/>
            </a:r>
          </a:p>
          <a:p>
            <a:r>
              <a:t xml:space="preserve">**Primary Message:**</a:t>
            </a:r>
          </a:p>
          <a:p>
            <a:r>
              <a:t xml:space="preserve">기존 제품 Trial, 인용 연구, 이번 루프 설계의 세 근거 범위를 구분한다.</a:t>
            </a:r>
          </a:p>
          <a:p>
            <a:r>
              <a:t xml:space="preserve"/>
            </a:r>
          </a:p>
          <a:p>
            <a:r>
              <a:t xml:space="preserve">**Opening Question:**</a:t>
            </a:r>
          </a:p>
          <a:p>
            <a:r>
              <a:t xml:space="preserve">우리가 실제로 확인한 것은 어디까지일까?</a:t>
            </a:r>
          </a:p>
          <a:p>
            <a:r>
              <a:t xml:space="preserve"/>
            </a:r>
          </a:p>
          <a:p>
            <a:r>
              <a:t xml:space="preserve">**Speaker Flow:**</a:t>
            </a:r>
          </a:p>
          <a:p>
            <a:r>
              <a:t xml:space="preserve">1. (0:00–2:00 / Lecture) 실제 밝기 통계의 변경·출력·측정 근거는 기존 코드·입력·환경에 한정한다. 논문은 연구된 모델·과제·방법의 결과다.</a:t>
            </a:r>
          </a:p>
          <a:p>
            <a:r>
              <a:t xml:space="preserve">2. (2:00–4:00 / Case) 이번 A/B 루프는 설계이며 새 실행·완료율·시간·비용을 측정하지 않았다. 과거 평가·보고 기준 Meta 기록도 다중 모델 구현·검토의 실측 성과로 바꾸지 않는다. 실제 운영 확인은 별도 검증 대상으로 유지한다.</a:t>
            </a:r>
          </a:p>
          <a:p>
            <a:r>
              <a:t xml:space="preserve"/>
            </a:r>
          </a:p>
          <a:p>
            <a:r>
              <a:t xml:space="preserve">**Evidence / Source:**</a:t>
            </a:r>
          </a:p>
          <a:p>
            <a:r>
              <a:t xml:space="preserve">DEC-0097; BEAT-083; STATE-04-PERF; TRIAL-008; SRC-0237; SRC-0238; CASE-LOOP-01. Primary sources checked 2026-10-25: https://aclanthology.org/2024.acl-long.381.pdf (Table 7); https://aclanthology.org/2024.findings-acl.91.pdf (section 4.2.5)</a:t>
            </a:r>
          </a:p>
          <a:p>
            <a:r>
              <a:t xml:space="preserve"/>
            </a:r>
          </a:p>
          <a:p>
            <a:r>
              <a:t xml:space="preserve">보존된 상세 출처: 기존 Product Trial / 인용한 연구 / CASE-LOOP-01 설계의 근거 경계</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기존 Trial을 다중 모델 루프의 실행 증거로 사용하지 않음 · 새 모델 조합·완료 성과 미검증</a:t>
            </a:r>
          </a:p>
          <a:p>
            <a:r>
              <a:t xml:space="preserve"/>
            </a:r>
          </a:p>
          <a:p>
            <a:r>
              <a:t xml:space="preserve">**Beginner Explanation:**</a:t>
            </a:r>
          </a:p>
          <a:p>
            <a:r>
              <a:t xml:space="preserve">기존 제품 Trial, 인용 연구, 이번 루프 설계의 세 근거 범위를 구분한다.</a:t>
            </a:r>
          </a:p>
          <a:p>
            <a:r>
              <a:t xml:space="preserve"/>
            </a:r>
          </a:p>
          <a:p>
            <a:r>
              <a:t xml:space="preserve">**Advanced Insight:**</a:t>
            </a:r>
          </a:p>
          <a:p>
            <a:r>
              <a:t xml:space="preserve">설계의 타당성, 실행의 존재, 결과의 품질, 비교 효과를 서로 다른 근거 단계로 평가한다.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N/A — 필수 응답·실습 없이 관찰할 질문만 제시한다.</a:t>
            </a:r>
          </a:p>
          <a:p>
            <a:r>
              <a:t xml:space="preserve"/>
            </a:r>
          </a:p>
          <a:p>
            <a:r>
              <a:t xml:space="preserve">**Transition:**</a:t>
            </a:r>
          </a:p>
          <a:p>
            <a:r>
              <a:t xml:space="preserve">설계·논문·실제 기록을 구분했습니다. 이어서 목표를 유지하며 작업을 계속하는 공식 Goal 기능을 실무 팁으로 살펴봅니다.</a:t>
            </a:r>
          </a:p>
          <a:p>
            <a:r>
              <a:t xml:space="preserve"/>
            </a:r>
          </a:p>
          <a:p>
            <a:r>
              <a:t xml:space="preserve">**Time Management:**</a:t>
            </a:r>
          </a:p>
          <a:p>
            <a:r>
              <a:t xml:space="preserve">Lecture 2분 + Case 2분 = 4분.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S101; production/preview/act4/S101.png 및 production/preview/full/S101.png.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S102 — Goal이 목표와 다음 작업을 이어준다</a:t>
            </a:r>
          </a:p>
          <a:p>
            <a:r>
              <a:t xml:space="preserve"/>
            </a:r>
          </a:p>
          <a:p>
            <a:r>
              <a:t xml:space="preserve">**Slide ID:**</a:t>
            </a:r>
          </a:p>
          <a:p>
            <a:r>
              <a:t xml:space="preserve">S102</a:t>
            </a:r>
          </a:p>
          <a:p>
            <a:r>
              <a:t xml:space="preserve"/>
            </a:r>
          </a:p>
          <a:p>
            <a:r>
              <a:t xml:space="preserve">**Working Title:**</a:t>
            </a:r>
          </a:p>
          <a:p>
            <a:r>
              <a:t xml:space="preserve">Goal이 목표와 다음 작업을 이어준다</a:t>
            </a:r>
          </a:p>
          <a:p>
            <a:r>
              <a:t xml:space="preserve"/>
            </a:r>
          </a:p>
          <a:p>
            <a:r>
              <a:t xml:space="preserve">**ACT / Section:**</a:t>
            </a:r>
          </a:p>
          <a:p>
            <a:r>
              <a:t xml:space="preserve">ACT 4 / 4T1 Goal continuation</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Goal은 턴을 넘어 목표·상태를 유지하고 근거 확인 뒤 계속 수행을 연결한다. 완료 기준과 검증·검토 역할은 작업에 맞게 설계한다.</a:t>
            </a:r>
          </a:p>
          <a:p>
            <a:r>
              <a:t xml:space="preserve"/>
            </a:r>
          </a:p>
          <a:p>
            <a:r>
              <a:t xml:space="preserve">**Opening Question:**</a:t>
            </a:r>
          </a:p>
          <a:p>
            <a:r>
              <a:t xml:space="preserve">매번 계속하라고 요청하지 않고, 같은 목표를 이어갈 수 있을까?</a:t>
            </a:r>
          </a:p>
          <a:p>
            <a:r>
              <a:t xml:space="preserve"/>
            </a:r>
          </a:p>
          <a:p>
            <a:r>
              <a:t xml:space="preserve">**Speaker Flow:**</a:t>
            </a:r>
          </a:p>
          <a:p>
            <a:r>
              <a:t xml:space="preserve">1. (0:00–0:35 / Lecture) ChatGPT 데스크톱의 /goal 입력 경로를 짚는다. 현재 화면은 사용법을 설명하는 도식이고 실행 캡처가 아님을 확인한다.</a:t>
            </a:r>
          </a:p>
          <a:p>
            <a:r>
              <a:t xml:space="preserve">2. (0:35–1:20 / Lecture) 목표가 턴을 넘어 유지되고 작업 뒤 근거를 보아 계속/완료를 판단하는 경로를 읽는다. 실제 제어는 앱의 안전한 작업 경계에서 이루어지며 무한 실행·목표 달성 보장을 뜻하지 않는다.</a:t>
            </a:r>
          </a:p>
          <a:p>
            <a:r>
              <a:t xml:space="preserve">3. (1:20–2:00 / Lecture) Goal의 계속 수행 기능과 별도 검증·다른 모델 검토 역할을 구분한다. 교육 계정의 기능 노출과 실행 환경은 후속 확인 대상으로 남긴다.</a:t>
            </a:r>
          </a:p>
          <a:p>
            <a:r>
              <a:t xml:space="preserve"/>
            </a:r>
          </a:p>
          <a:p>
            <a:r>
              <a:t xml:space="preserve">**Evidence / Source:**</a:t>
            </a:r>
          </a:p>
          <a:p>
            <a:r>
              <a:t xml:space="preserve">SRC-0240; SRC-0241; SRC-0242; CLM-0046;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공식 Goal 안내 · 2026-10-25 확인 · 사용법을 설명하는 도식</a:t>
            </a:r>
          </a:p>
          <a:p>
            <a:r>
              <a:t xml:space="preserve"/>
            </a:r>
          </a:p>
          <a:p>
            <a:r>
              <a:t xml:space="preserve">**Claim Boundary:**</a:t>
            </a:r>
          </a:p>
          <a:p>
            <a:r>
              <a:t xml:space="preserve">FROZEN WITH SCOPE — 공식 문서로 확인한 기능·안내와 교육용 도식. 사내 계정/버전/설정의 사용 가능 여부는 REQUIRES PRODUCT CHECK. 자동 다중 모델 배정·완료 보장·시간/비용 절감을 주장하지 않는다.</a:t>
            </a:r>
          </a:p>
          <a:p>
            <a:r>
              <a:t xml:space="preserve"/>
            </a:r>
          </a:p>
          <a:p>
            <a:r>
              <a:t xml:space="preserve">보존된 상세 범위: 실제 화면·실행 결과 아님 · 다른 모델 검토자는 별도 설계 · 사내 환경에서 사용 가능 여부 확인</a:t>
            </a:r>
          </a:p>
          <a:p>
            <a:r>
              <a:t xml:space="preserve"/>
            </a:r>
          </a:p>
          <a:p>
            <a:r>
              <a:t xml:space="preserve">**Beginner Explanation:**</a:t>
            </a:r>
          </a:p>
          <a:p>
            <a:r>
              <a:t xml:space="preserve">Goal은 턴을 넘어 목표·상태를 유지하고 근거 확인 뒤 계속 수행을 연결한다. 완료 기준과 검증·검토 역할은 작업에 맞게 설계한다.</a:t>
            </a:r>
          </a:p>
          <a:p>
            <a:r>
              <a:t xml:space="preserve"/>
            </a:r>
          </a:p>
          <a:p>
            <a:r>
              <a:t xml:space="preserve">**Advanced Insight:**</a:t>
            </a:r>
          </a:p>
          <a:p>
            <a:r>
              <a:t xml:space="preserve">Goal은 대화 범위의 목표·상태와 계속 수행 제어다. 권한을 확대하지 않으며 다른 모델의 코드 검토자를 자동 배정한다는 근거로 쓰지 않는다. 일반 요청 안에서도 수정·테스트가 반복될 수 있다.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기능이 계속 수행을 연결하더라도, 무엇이 완료인지 요청에 적어야 합니다. 다음은 Goal 작성 예시입니다.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S102, production/preview/full/S102.png.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S103 — Goal에는 완료 근거와 멈출 조건을 담는다</a:t>
            </a:r>
          </a:p>
          <a:p>
            <a:r>
              <a:t xml:space="preserve"/>
            </a:r>
          </a:p>
          <a:p>
            <a:r>
              <a:t xml:space="preserve">**Slide ID:**</a:t>
            </a:r>
          </a:p>
          <a:p>
            <a:r>
              <a:t xml:space="preserve">S103</a:t>
            </a:r>
          </a:p>
          <a:p>
            <a:r>
              <a:t xml:space="preserve"/>
            </a:r>
          </a:p>
          <a:p>
            <a:r>
              <a:t xml:space="preserve">**Working Title:**</a:t>
            </a:r>
          </a:p>
          <a:p>
            <a:r>
              <a:t xml:space="preserve">Goal에는 완료 근거와 멈출 조건을 담는다</a:t>
            </a:r>
          </a:p>
          <a:p>
            <a:r>
              <a:t xml:space="preserve"/>
            </a:r>
          </a:p>
          <a:p>
            <a:r>
              <a:t xml:space="preserve">**ACT / Section:**</a:t>
            </a:r>
          </a:p>
          <a:p>
            <a:r>
              <a:t xml:space="preserve">ACT 4 / 4T2 Goal request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Goal 요청에는 원하는 변화, 보존 조건, 완료를 확인할 근거와 막혔을 때 보고할 조건을 담는다. 같은 기준으로 진행을 판단한다.</a:t>
            </a:r>
          </a:p>
          <a:p>
            <a:r>
              <a:t xml:space="preserve"/>
            </a:r>
          </a:p>
          <a:p>
            <a:r>
              <a:t xml:space="preserve">**Opening Question:**</a:t>
            </a:r>
          </a:p>
          <a:p>
            <a:r>
              <a:t xml:space="preserve">언제 끝내고 언제 미완료를 보고할지, Goal에 무엇을 적을까?</a:t>
            </a:r>
          </a:p>
          <a:p>
            <a:r>
              <a:t xml:space="preserve"/>
            </a:r>
          </a:p>
          <a:p>
            <a:r>
              <a:t xml:space="preserve">**Speaker Flow:**</a:t>
            </a:r>
          </a:p>
          <a:p>
            <a:r>
              <a:t xml:space="preserve">1. (0:00–0:25 / Lecture) 막연한 성능 개선 Goal에는 완료 근거가 없음을 짚는다.</a:t>
            </a:r>
          </a:p>
          <a:p>
            <a:r>
              <a:t xml:space="preserve">2. (0:25–1:30 / Lecture) 요청창을 위에서 아래로 읽는다. 할당량 감소 목표와 출력 보존, 같은 입력의 테스트·벤치마크, 실행시간 회귀 조건을 대응시킨다. 기준판·대표 입력·측정 방법은 실행 전에 확정하고 승인받을 범위 안에서 사용한다.</a:t>
            </a:r>
          </a:p>
          <a:p>
            <a:r>
              <a:t xml:space="preserve">3. (1:30–2:00 / Lecture) 검증 불가·반복 실패는 미완료 사유와 필요한 판단을 보고하도록 요청한다. 다른 모델 검토가 필요한지는 별도로 설계하며 이 예시를 실행하지 않는다.</a:t>
            </a:r>
          </a:p>
          <a:p>
            <a:r>
              <a:t xml:space="preserve"/>
            </a:r>
          </a:p>
          <a:p>
            <a:r>
              <a:t xml:space="preserve">**Evidence / Source:**</a:t>
            </a:r>
          </a:p>
          <a:p>
            <a:r>
              <a:t xml:space="preserve">SRC-0240; SRC-0241; CLM-0047; DEC-0098. Official pages checked2026-10-25: https://learn.chatgpt.com/docs/long-running-work; https://developers.openai.com/cookbook/examples/codex/using_goals_in_codex; https://learn.chatgpt.com/docs/reference/slash-commands. 교육용 요청·도식이며 실행 캡처나 기존 Trial의 생성 이력이 아니다.</a:t>
            </a:r>
          </a:p>
          <a:p>
            <a:r>
              <a:t xml:space="preserve"/>
            </a:r>
          </a:p>
          <a:p>
            <a:r>
              <a:t xml:space="preserve">보존된 상세 출처: OpenAI Goals 작성 안내를 밝기 통계 작업으로 각색 · 실제 실행 요청·결과 아님</a:t>
            </a:r>
          </a:p>
          <a:p>
            <a:r>
              <a:t xml:space="preserve"/>
            </a:r>
          </a:p>
          <a:p>
            <a:r>
              <a:t xml:space="preserve">**Claim Boundary:**</a:t>
            </a:r>
          </a:p>
          <a:p>
            <a:r>
              <a:t xml:space="preserve">FROZEN WITH SCOPE — 공식 작성 안내를 각색한 교육용 Goal 예시이며 활성화·명령 실행·측정·완료 결과가 아니다. 기준판·대표 입력·측정 방법을 실제 사용 전에 확정한다. 현재 다중 모델 조합의 성과를 증명하지 않는다.</a:t>
            </a:r>
          </a:p>
          <a:p>
            <a:r>
              <a:t xml:space="preserve"/>
            </a:r>
          </a:p>
          <a:p>
            <a:r>
              <a:t xml:space="preserve">보존된 상세 범위: 기준판·대표 입력·측정 방법을 먼저 확정 · 완료 보장 없음 · 다중 모델 검토를 자동 구성한다는 뜻 아님</a:t>
            </a:r>
          </a:p>
          <a:p>
            <a:r>
              <a:t xml:space="preserve"/>
            </a:r>
          </a:p>
          <a:p>
            <a:r>
              <a:t xml:space="preserve">**Beginner Explanation:**</a:t>
            </a:r>
          </a:p>
          <a:p>
            <a:r>
              <a:t xml:space="preserve">Goal 요청에는 원하는 변화, 보존 조건, 완료를 확인할 근거와 막혔을 때 보고할 조건을 담는다. 같은 기준으로 진행을 판단한다.</a:t>
            </a:r>
          </a:p>
          <a:p>
            <a:r>
              <a:t xml:space="preserve"/>
            </a:r>
          </a:p>
          <a:p>
            <a:r>
              <a:t xml:space="preserve">**Advanced Insight:**</a:t>
            </a:r>
          </a:p>
          <a:p>
            <a:r>
              <a:t xml:space="preserve">측정값 자체보다 어떤 기준판·대표 입력·환경·측정 방법을 고정할지가 중요하다. 검토 모델의 동의나 Goal의 완료 표시가 도구 근거와 최종 수용을 대신하지 않는다.</a:t>
            </a:r>
          </a:p>
          <a:p>
            <a:r>
              <a:t xml:space="preserve"/>
            </a:r>
          </a:p>
          <a:p>
            <a:r>
              <a:t xml:space="preserve">**C++ Vision Bridge:**</a:t>
            </a:r>
          </a:p>
          <a:p>
            <a:r>
              <a:t xml:space="preserve">N/A — C++ 명령·새 사례를 추가하지 않는다.</a:t>
            </a:r>
          </a:p>
          <a:p>
            <a:r>
              <a:t xml:space="preserve"/>
            </a:r>
          </a:p>
          <a:p>
            <a:r>
              <a:t xml:space="preserve">**Demo Operation:**</a:t>
            </a:r>
          </a:p>
          <a:p>
            <a:r>
              <a:t xml:space="preserve">N/A — 정적 제품 안내 도식. 명령을 입력하거나 Goal을 활성화하지 않는다. 사내 환경의 기능 노출·계정·권한·실행 상태는 후속 확인 대상이다.</a:t>
            </a:r>
          </a:p>
          <a:p>
            <a:r>
              <a:t xml:space="preserve"/>
            </a:r>
          </a:p>
          <a:p>
            <a:r>
              <a:t xml:space="preserve">**Audience Interaction:**</a:t>
            </a:r>
          </a:p>
          <a:p>
            <a:r>
              <a:t xml:space="preserve">필수 응답·실습 없음. 예시에서 완료 근거와 미완료 보고 조건을 눈으로 확인하게 한다.</a:t>
            </a:r>
          </a:p>
          <a:p>
            <a:r>
              <a:t xml:space="preserve"/>
            </a:r>
          </a:p>
          <a:p>
            <a:r>
              <a:t xml:space="preserve">**Transition:**</a:t>
            </a:r>
          </a:p>
          <a:p>
            <a:r>
              <a:t xml:space="preserve">이 기능을 활용하더라도 우리 작업의 목표·검증·검토 판단은 남습니다. S104에서 필요한 루프를 정리한 뒤 ACT5의 조합과 덜어내기로 넘어갑니다.</a:t>
            </a:r>
          </a:p>
          <a:p>
            <a:r>
              <a:t xml:space="preserve"/>
            </a:r>
          </a:p>
          <a:p>
            <a:r>
              <a:t xml:space="preserve">**Time Management:**</a:t>
            </a:r>
          </a:p>
          <a:p>
            <a:r>
              <a:t xml:space="preserve">Lecture2분. 제품 설정 강의나 실제 실행으로 확장하지 않는다. 초과 시 부가 설명을 줄이고 기능/검증의 구분과 다음 전환을 유지한다. 실제 리허설 UNVERIFIED.</a:t>
            </a:r>
          </a:p>
          <a:p>
            <a:r>
              <a:t xml:space="preserve"/>
            </a:r>
          </a:p>
          <a:p>
            <a:r>
              <a:t xml:space="preserve">**Fallback:**</a:t>
            </a:r>
          </a:p>
          <a:p>
            <a:r>
              <a:t xml:space="preserve">LOCAL STATIC ARTIFACT — production/ACT_4.pptx의 S103, production/preview/full/S103.png. 설명용 도식이며 원본 제품 캡처로 표현하지 않는다. 실제 발표 PC 재생은 UNVERIFIED.</a:t>
            </a:r>
          </a:p>
          <a:p>
            <a:r>
              <a:t xml:space="preserve"/>
            </a:r>
          </a:p>
          <a:p>
            <a:r>
              <a:t xml:space="preserve">**Validation Status:**</a:t>
            </a:r>
          </a:p>
          <a:p>
            <a:r>
              <a:t xml:space="preserve">CONTENT ALIGNED — DEC-0098. 문서 근거 확인과 로컬 제작 검토는 별개이며 최종 렌더·Notes 대조 결과는 GOAL_TIPS_AND_ACT5_HANDOFF.md에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S104 — 우리 작업에는 어떤 루프가 필요할까?</a:t>
            </a:r>
          </a:p>
          <a:p>
            <a:r>
              <a:t xml:space="preserve"/>
            </a:r>
          </a:p>
          <a:p>
            <a:r>
              <a:t xml:space="preserve">**Slide ID:**</a:t>
            </a:r>
          </a:p>
          <a:p>
            <a:r>
              <a:t xml:space="preserve">S104</a:t>
            </a:r>
          </a:p>
          <a:p>
            <a:r>
              <a:t xml:space="preserve"/>
            </a:r>
          </a:p>
          <a:p>
            <a:r>
              <a:t xml:space="preserve">**Working Title:**</a:t>
            </a:r>
          </a:p>
          <a:p>
            <a:r>
              <a:t xml:space="preserve">우리 작업에는 어떤 루프가 필요할까?</a:t>
            </a:r>
          </a:p>
          <a:p>
            <a:r>
              <a:t xml:space="preserve"/>
            </a:r>
          </a:p>
          <a:p>
            <a:r>
              <a:t xml:space="preserve">**ACT / Section:**</a:t>
            </a:r>
          </a:p>
          <a:p>
            <a:r>
              <a:t xml:space="preserve">ACT 4 / 4R6 Evidence and transfer</a:t>
            </a:r>
          </a:p>
          <a:p>
            <a:r>
              <a:t xml:space="preserve"/>
            </a:r>
          </a:p>
          <a:p>
            <a:r>
              <a:t xml:space="preserve">**Allocated Time:**</a:t>
            </a:r>
          </a:p>
          <a:p>
            <a:r>
              <a:t xml:space="preserve">11 minutes</a:t>
            </a:r>
          </a:p>
          <a:p>
            <a:r>
              <a:t xml:space="preserve"/>
            </a:r>
          </a:p>
          <a:p>
            <a:r>
              <a:t xml:space="preserve">**Mode Split:**</a:t>
            </a:r>
          </a:p>
          <a:p>
            <a:r>
              <a:t xml:space="preserve">Reflection 2분 + Q&amp;A 7분 + Transition 2분</a:t>
            </a:r>
          </a:p>
          <a:p>
            <a:r>
              <a:t xml:space="preserve"/>
            </a:r>
          </a:p>
          <a:p>
            <a:r>
              <a:t xml:space="preserve">**Primary Message:**</a:t>
            </a:r>
          </a:p>
          <a:p>
            <a:r>
              <a:t xml:space="preserve">Goal의 계속 수행 기능을 활용하되 내 업무에 필요한 목표·근거·검토 역할을 정리하고 ACT5의 조합·통합·제거로 이어간다.</a:t>
            </a:r>
          </a:p>
          <a:p>
            <a:r>
              <a:t xml:space="preserve"/>
            </a:r>
          </a:p>
          <a:p>
            <a:r>
              <a:t xml:space="preserve">**Opening Question:**</a:t>
            </a:r>
          </a:p>
          <a:p>
            <a:r>
              <a:t xml:space="preserve">내 작업에서 검토 결과가 다음 수정으로 돌아가려면 무엇이 필요할까?</a:t>
            </a:r>
          </a:p>
          <a:p>
            <a:r>
              <a:t xml:space="preserve"/>
            </a:r>
          </a:p>
          <a:p>
            <a:r>
              <a:t xml:space="preserve">**Speaker Flow:**</a:t>
            </a:r>
          </a:p>
          <a:p>
            <a:r>
              <a:t xml:space="preserve">1. (0:00–2:00 / Reflection) Goal이 맡는 계속 수행과, 내 업무에서 여전히 정할 목표·검증·검토를 구분해 생각하게 한다. 기존 목표·피드백·운영의 세 질문을 한 번씩 가리킨다.</a:t>
            </a:r>
          </a:p>
          <a:p>
            <a:r>
              <a:t xml:space="preserve">2. (2:00–9:00 / Q&amp;A) 질문을 받는다. 무질문이면 두 모델의 동의와 테스트 실패가 충돌할 때의 판단 또는 Goal이 완료를 보고했지만 측정이 빠진 상황을 묻는다. 새 기능 실행이나 정답 발표는 요구하지 않는다.</a:t>
            </a:r>
          </a:p>
          <a:p>
            <a:r>
              <a:t xml:space="preserve">3. (9:00–11:00 / Transition) 플랫폼 기능을 활용하되 필요한 기준과 검토를 조합한다는 문장으로 회수한다. S105의 ACT5 제목을 거쳐 S106의 대응 선택으로 넘긴다.</a:t>
            </a:r>
          </a:p>
          <a:p>
            <a:r>
              <a:t xml:space="preserve"/>
            </a:r>
          </a:p>
          <a:p>
            <a:r>
              <a:t xml:space="preserve">**Evidence / Source:**</a:t>
            </a:r>
          </a:p>
          <a:p>
            <a:r>
              <a:t xml:space="preserve">DEC-0097; BEAT-083; CASE-LOOP-01; CLM-0021. CASE-LOOP-01의 교육용 설계. 실제 자료와 설계를 구분한다.</a:t>
            </a:r>
          </a:p>
          <a:p>
            <a:r>
              <a:t xml:space="preserve"/>
            </a:r>
          </a:p>
          <a:p>
            <a:r>
              <a:t xml:space="preserve">보존된 상세 출처: 개인 성찰과 Q&amp;A · 실습·제출·구현 요구 없음</a:t>
            </a:r>
          </a:p>
          <a:p>
            <a:r>
              <a:t xml:space="preserve"/>
            </a:r>
          </a:p>
          <a:p>
            <a:r>
              <a:t xml:space="preserve">**Claim Boundary:**</a:t>
            </a:r>
          </a:p>
          <a:p>
            <a:r>
              <a:t xml:space="preserve">TEACHING_MODEL — 교육용 설계이며 실제 구현·검토·재실행·측정·완료 결과가 없다. 기존 Product/Meta Trial을 이 루프의 실행 증거로 바꾸지 않는다.</a:t>
            </a:r>
          </a:p>
          <a:p>
            <a:r>
              <a:t xml:space="preserve"/>
            </a:r>
          </a:p>
          <a:p>
            <a:r>
              <a:t xml:space="preserve">보존된 상세 범위: 목표·판단·검증·책임은 유지 · 다음 ACT에서 조합·통합·제거를 검토</a:t>
            </a:r>
          </a:p>
          <a:p>
            <a:r>
              <a:t xml:space="preserve"/>
            </a:r>
          </a:p>
          <a:p>
            <a:r>
              <a:t xml:space="preserve">**Beginner Explanation:**</a:t>
            </a:r>
          </a:p>
          <a:p>
            <a:r>
              <a:t xml:space="preserve">내 업무의 목표·피드백·운영 판단을 떠올리고 ACT5의 조합·통합·제거로 이어간다.</a:t>
            </a:r>
          </a:p>
          <a:p>
            <a:r>
              <a:t xml:space="preserve"/>
            </a:r>
          </a:p>
          <a:p>
            <a:r>
              <a:t xml:space="preserve">**Advanced Insight:**</a:t>
            </a:r>
          </a:p>
          <a:p>
            <a:r>
              <a:t xml:space="preserve">ACT5에서 현재 문제와 비용·효과를 보고 필요한 구성을 유지·통합·제거할 수 있게 한다.</a:t>
            </a:r>
          </a:p>
          <a:p>
            <a:r>
              <a:t xml:space="preserve"/>
            </a:r>
          </a:p>
          <a:p>
            <a:r>
              <a:t xml:space="preserve">**C++ Vision Bridge:**</a:t>
            </a:r>
          </a:p>
          <a:p>
            <a:r>
              <a:t xml:space="preserve">N/A — 같은 명세·검사·검토 원리를 적용할 수 있으나 별도 GPU 사례나 미실행 C++ 코드를 추가하지 않는다.</a:t>
            </a:r>
          </a:p>
          <a:p>
            <a:r>
              <a:t xml:space="preserve"/>
            </a:r>
          </a:p>
          <a:p>
            <a:r>
              <a:t xml:space="preserve">**Demo Operation:**</a:t>
            </a:r>
          </a:p>
          <a:p>
            <a:r>
              <a:t xml:space="preserve">정적 화면을 위에서 아래, 왼쪽에서 오른쪽으로 짚는다. 교육용 진행 예/논문/실제 과거 기록의 표시를 먼저 확인한다. 새 명령·모델 호출·Live Trial은 실행하지 않는다.</a:t>
            </a:r>
          </a:p>
          <a:p>
            <a:r>
              <a:t xml:space="preserve"/>
            </a:r>
          </a:p>
          <a:p>
            <a:r>
              <a:t xml:space="preserve">**Audience Interaction:**</a:t>
            </a:r>
          </a:p>
          <a:p>
            <a:r>
              <a:t xml:space="preserve">Reflection2분→Q&amp;A7분→Transition2분. 무질문이면 “Goal은 완료라고 했는데 측정 근거가 없다면?”을 사용한다. 9분에 전환으로 들어가고 11분에 마친다.</a:t>
            </a:r>
          </a:p>
          <a:p>
            <a:r>
              <a:t xml:space="preserve"/>
            </a:r>
          </a:p>
          <a:p>
            <a:r>
              <a:t xml:space="preserve">**Transition:**</a:t>
            </a:r>
          </a:p>
          <a:p>
            <a:r>
              <a:t xml:space="preserve">Goal의 계속 수행을 활용해도 검증과 역할을 모두 직접 구현할 필요는 없습니다. S105의 ACT5 제목을 거쳐 S106에서 필요한 대응의 조합을 생각합니다.</a:t>
            </a:r>
          </a:p>
          <a:p>
            <a:r>
              <a:t xml:space="preserve"/>
            </a:r>
          </a:p>
          <a:p>
            <a:r>
              <a:t xml:space="preserve">**Time Management:**</a:t>
            </a:r>
          </a:p>
          <a:p>
            <a:r>
              <a:t xml:space="preserve">Reflection 2분 + Q&amp;A 7분 + Transition 2분 = 11분. 위 Speaker Flow의 Mode 경계를 유지한다. 초과 시 Advanced Insight를 줄이고 핵심 그림·근거 범위·다음 전환은 보존한다. 실제 리허설은 UNVERIFIED다.</a:t>
            </a:r>
          </a:p>
          <a:p>
            <a:r>
              <a:t xml:space="preserve"/>
            </a:r>
          </a:p>
          <a:p>
            <a:r>
              <a:t xml:space="preserve">**Fallback:**</a:t>
            </a:r>
          </a:p>
          <a:p>
            <a:r>
              <a:t xml:space="preserve">LOCAL STATIC ARTIFACT — production/ACT_4.pptx의 S104; production/preview/act4/S104.png 및 production/preview/full/S104.png. 이 구간은 Live 실행을 전제하지 않는다. 실제 발표 PC 재생은 UNVERIFIED다.</a:t>
            </a:r>
          </a:p>
          <a:p>
            <a:r>
              <a:t xml:space="preserve"/>
            </a:r>
          </a:p>
          <a:p>
            <a:r>
              <a:t xml:space="preserve">**Validation Status:**</a:t>
            </a:r>
          </a:p>
          <a:p>
            <a:r>
              <a:t xml:space="preserve">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S105 — 내 업무에 맞게 조합하고 덜어내기</a:t>
            </a:r>
          </a:p>
          <a:p>
            <a:r>
              <a:t xml:space="preserve"/>
            </a:r>
          </a:p>
          <a:p>
            <a:r>
              <a:t xml:space="preserve">**Slide ID:**</a:t>
            </a:r>
          </a:p>
          <a:p>
            <a:r>
              <a:t xml:space="preserve">S105</a:t>
            </a:r>
          </a:p>
          <a:p>
            <a:r>
              <a:t xml:space="preserve"/>
            </a:r>
          </a:p>
          <a:p>
            <a:r>
              <a:t xml:space="preserve">**Working Title:**</a:t>
            </a:r>
          </a:p>
          <a:p>
            <a:r>
              <a:t xml:space="preserve">내 업무에 맞게 조합하고 덜어내기</a:t>
            </a:r>
          </a:p>
          <a:p>
            <a:r>
              <a:t xml:space="preserve"/>
            </a:r>
          </a:p>
          <a:p>
            <a:r>
              <a:t xml:space="preserve">**ACT / Section:**</a:t>
            </a:r>
          </a:p>
          <a:p>
            <a:r>
              <a:t xml:space="preserve">ACT 5 / 5A Full Story Recap</a:t>
            </a:r>
          </a:p>
          <a:p>
            <a:r>
              <a:t xml:space="preserve"/>
            </a:r>
          </a:p>
          <a:p>
            <a:r>
              <a:t xml:space="preserve">**Allocated Time:**</a:t>
            </a:r>
          </a:p>
          <a:p>
            <a:r>
              <a:t xml:space="preserve">1 minute</a:t>
            </a:r>
          </a:p>
          <a:p>
            <a:r>
              <a:t xml:space="preserve"/>
            </a:r>
          </a:p>
          <a:p>
            <a:r>
              <a:t xml:space="preserve">**Mode Split:**</a:t>
            </a:r>
          </a:p>
          <a:p>
            <a:r>
              <a:t xml:space="preserve">Transition 1분</a:t>
            </a:r>
          </a:p>
          <a:p>
            <a:r>
              <a:t xml:space="preserve"/>
            </a:r>
          </a:p>
          <a:p>
            <a:r>
              <a:t xml:space="preserve">**Primary Message:**</a:t>
            </a:r>
          </a:p>
          <a:p>
            <a:r>
              <a:t xml:space="preserve">내 업무에 맞게 조합하고 덜어내기 — AI-Native Development · 업무 방식의 재설계</a:t>
            </a:r>
          </a:p>
          <a:p>
            <a:r>
              <a:t xml:space="preserve"/>
            </a:r>
          </a:p>
          <a:p>
            <a:r>
              <a:t xml:space="preserve">**Opening Question:**</a:t>
            </a:r>
          </a:p>
          <a:p>
            <a:r>
              <a:t xml:space="preserve">“제품 기능을 활용하면서, 우리 업무에는 무엇을 조합하고 덜어낼까요?”</a:t>
            </a:r>
          </a:p>
          <a:p>
            <a:r>
              <a:t xml:space="preserve"/>
            </a:r>
          </a:p>
          <a:p>
            <a:r>
              <a:t xml:space="preserve">**Speaker Flow:**</a:t>
            </a:r>
          </a:p>
          <a:p>
            <a:r>
              <a:t xml:space="preserve">1. (0:00–0:20 / Transition) ACT 5의 제목 “내 업무에 맞게 조합하고 덜어내기”을 가리키며 구간을 연다.</a:t>
            </a:r>
          </a:p>
          <a:p>
            <a:r>
              <a:t xml:space="preserve">2. (0:20–0:40 / Transition) 부제 “AI-Native Development · 업무 방식의 재설계”는 이번 구간의 관점만 안내한다. 구체적 기능·해결 방법·결과는 앞서 설명하지 않는다.</a:t>
            </a:r>
          </a:p>
          <a:p>
            <a:r>
              <a:t xml:space="preserve">3. (0:40–1:00 / Transition) S106의 기존 첫 문제로 이동한다. 본문의 질문·성찰을 이 장에서 대신 진행하지 않는다.</a:t>
            </a:r>
          </a:p>
          <a:p>
            <a:r>
              <a:t xml:space="preserve"/>
            </a:r>
          </a:p>
          <a:p>
            <a:r>
              <a:t xml:space="preserve">**Evidence / Source:**</a:t>
            </a:r>
          </a:p>
          <a:p>
            <a:r>
              <a:t xml:space="preserve">DEC-0090. 사용자가 승인한 ACT 제목·부제, plan/MASTER_PLAN.md의 여정과 현행 plan/SLIDE_MAP.md. 새 Trial·연구·제품 검증은 없다.</a:t>
            </a:r>
          </a:p>
          <a:p>
            <a:r>
              <a:t xml:space="preserve"/>
            </a:r>
          </a:p>
          <a:p>
            <a:r>
              <a:t xml:space="preserve">**Claim Boundary:**</a:t>
            </a:r>
          </a:p>
          <a:p>
            <a:r>
              <a:t xml:space="preserve">TEACHING MODEL — ACT 주제 안내이며 새 제품 기능·Trial·성과·현재 제품 지원을 주장하지 않는다.</a:t>
            </a:r>
          </a:p>
          <a:p>
            <a:r>
              <a:t xml:space="preserve"/>
            </a:r>
          </a:p>
          <a:p>
            <a:r>
              <a:t xml:space="preserve">**Beginner Explanation:**</a:t>
            </a:r>
          </a:p>
          <a:p>
            <a:r>
              <a:t xml:space="preserve">지금부터 살펴볼 주제와 앞 구간과의 경계를 알아본다.</a:t>
            </a:r>
          </a:p>
          <a:p>
            <a:r>
              <a:t xml:space="preserve"/>
            </a:r>
          </a:p>
          <a:p>
            <a:r>
              <a:t xml:space="preserve">**Advanced Insight:**</a:t>
            </a:r>
          </a:p>
          <a:p>
            <a:r>
              <a:t xml:space="preserve">해당 ACT가 다루는 설계 책임의 범위를 짧게 확인한다.</a:t>
            </a:r>
          </a:p>
          <a:p>
            <a:r>
              <a:t xml:space="preserve"/>
            </a:r>
          </a:p>
          <a:p>
            <a:r>
              <a:t xml:space="preserve">**C++ Vision Bridge:**</a:t>
            </a:r>
          </a:p>
          <a:p>
            <a:r>
              <a:t xml:space="preserve">N/A — 기존 본문에 있는 C++ 연결을 유지한다.</a:t>
            </a:r>
          </a:p>
          <a:p>
            <a:r>
              <a:t xml:space="preserve"/>
            </a:r>
          </a:p>
          <a:p>
            <a:r>
              <a:t xml:space="preserve">**Demo Operation:**</a:t>
            </a:r>
          </a:p>
          <a:p>
            <a:r>
              <a:t xml:space="preserve">N/A — 정적 제목 화면. 새 Demo 또는 실행을 시작하지 않는다.</a:t>
            </a:r>
          </a:p>
          <a:p>
            <a:r>
              <a:t xml:space="preserve"/>
            </a:r>
          </a:p>
          <a:p>
            <a:r>
              <a:t xml:space="preserve">**Audience Interaction:**</a:t>
            </a:r>
          </a:p>
          <a:p>
            <a:r>
              <a:t xml:space="preserve">N/A — 본문의 질문·성찰을 이 장에서 중복 운영하지 않는다.</a:t>
            </a:r>
          </a:p>
          <a:p>
            <a:r>
              <a:t xml:space="preserve"/>
            </a:r>
          </a:p>
          <a:p>
            <a:r>
              <a:t xml:space="preserve">**Transition:**</a:t>
            </a:r>
          </a:p>
          <a:p>
            <a:r>
              <a:t xml:space="preserve">S106에서 질문·답변에서 기준에 따른 작업으로 맡기는 범위가 넓어졌음을 회수한다. Demo의 내부 이력을 전제하지 않는다.</a:t>
            </a:r>
          </a:p>
          <a:p>
            <a:r>
              <a:t xml:space="preserve"/>
            </a:r>
          </a:p>
          <a:p>
            <a:r>
              <a:t xml:space="preserve">**Time Management:**</a:t>
            </a:r>
          </a:p>
          <a:p>
            <a:r>
              <a:t xml:space="preserve">Transition 1분. 기존 본문 시간을 줄이거나 중복 계산하지 않는다. ACT 5 총40분, 전체420분이다. 제목·부제만 안내하고1분에 S106로 넘긴다. 실측 리허설 UNVERIFIED.</a:t>
            </a:r>
          </a:p>
          <a:p>
            <a:r>
              <a:t xml:space="preserve"/>
            </a:r>
          </a:p>
          <a:p>
            <a:r>
              <a:t xml:space="preserve">**Fallback:**</a:t>
            </a:r>
          </a:p>
          <a:p>
            <a:r>
              <a:t xml:space="preserve">LOCAL STATIC ARTIFACT — production/preview/full/S105.png 또는 production/ACT_5.pptx의 같은 제목 장. 실제 제품 실행으로 대체하지 않는다.</a:t>
            </a:r>
          </a:p>
          <a:p>
            <a:r>
              <a:t xml:space="preserve"/>
            </a:r>
          </a:p>
          <a:p>
            <a:r>
              <a:t xml:space="preserve">**Validation Status:**</a:t>
            </a:r>
          </a:p>
          <a:p>
            <a:r>
              <a:t xml:space="preserve">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S106 — AI에게 맡기는 범위가 넓어졌다</a:t>
            </a:r>
          </a:p>
          <a:p>
            <a:r>
              <a:t xml:space="preserve"/>
            </a:r>
          </a:p>
          <a:p>
            <a:r>
              <a:t xml:space="preserve">**Slide ID:**</a:t>
            </a:r>
          </a:p>
          <a:p>
            <a:r>
              <a:t xml:space="preserve">S106</a:t>
            </a:r>
          </a:p>
          <a:p>
            <a:r>
              <a:t xml:space="preserve"/>
            </a:r>
          </a:p>
          <a:p>
            <a:r>
              <a:t xml:space="preserve">**Working Title:**</a:t>
            </a:r>
          </a:p>
          <a:p>
            <a:r>
              <a:t xml:space="preserve">AI에게 맡기는 범위가 넓어졌다</a:t>
            </a:r>
          </a:p>
          <a:p>
            <a:r>
              <a:t xml:space="preserve"/>
            </a:r>
          </a:p>
          <a:p>
            <a:r>
              <a:t xml:space="preserve">**ACT / Section:**</a:t>
            </a:r>
          </a:p>
          <a:p>
            <a:r>
              <a:t xml:space="preserve">ACT 5 / 5A Full Story Recap</a:t>
            </a:r>
          </a:p>
          <a:p>
            <a:r>
              <a:t xml:space="preserve"/>
            </a:r>
          </a:p>
          <a:p>
            <a:r>
              <a:t xml:space="preserve">**Allocated Time:**</a:t>
            </a:r>
          </a:p>
          <a:p>
            <a:r>
              <a:t xml:space="preserve">4 minutes</a:t>
            </a:r>
          </a:p>
          <a:p>
            <a:r>
              <a:t xml:space="preserve"/>
            </a:r>
          </a:p>
          <a:p>
            <a:r>
              <a:t xml:space="preserve">**Mode Split:**</a:t>
            </a:r>
          </a:p>
          <a:p>
            <a:r>
              <a:t xml:space="preserve">Lecture 4분</a:t>
            </a:r>
          </a:p>
          <a:p>
            <a:r>
              <a:t xml:space="preserve"/>
            </a:r>
          </a:p>
          <a:p>
            <a:r>
              <a:t xml:space="preserve">**Primary Message:**</a:t>
            </a:r>
          </a:p>
          <a:p>
            <a:r>
              <a:t xml:space="preserve">Chatbot에서 Prompt·Context·Harness·Loop로, 질문에 답하는 범위에서 기준에 따라 작업하고 검토·수정하는 범위로 넓어졌다.</a:t>
            </a:r>
          </a:p>
          <a:p>
            <a:r>
              <a:t xml:space="preserve"/>
            </a:r>
          </a:p>
          <a:p>
            <a:r>
              <a:t xml:space="preserve">**Opening Question:**</a:t>
            </a:r>
          </a:p>
          <a:p>
            <a:r>
              <a:t xml:space="preserve">“이번 교육에서 AI에게 맡기는 범위는 어떻게 달라졌을까요?”</a:t>
            </a:r>
          </a:p>
          <a:p>
            <a:r>
              <a:t xml:space="preserve"/>
            </a:r>
          </a:p>
          <a:p>
            <a:r>
              <a:t xml:space="preserve">**Speaker Flow:**</a:t>
            </a:r>
          </a:p>
          <a:p>
            <a:r>
              <a:t xml:space="preserve">1. (0:00–0:50 / Lecture) 질문과 답변에서 출발했음을 회수한다. 새로운 업무나 개인 선택 질문을 열지 않는다.</a:t>
            </a:r>
          </a:p>
          <a:p>
            <a:r>
              <a:t xml:space="preserve">2. (0:50–3:10 / Lecture) Prompt의 목표·제약, Context의 정보·명세, Harness의 수행 방법·환경, Loop의 검토·수정·재검토로 맡기는 범위가 넓어졌음을 읽는다. 각 기능을 다시 가르치거나 필수 도입 단계를 제시하지 않는다.</a:t>
            </a:r>
          </a:p>
          <a:p>
            <a:r>
              <a:t xml:space="preserve">3. (3:10–4:00 / Lecture) 한 번의 답변에서 근거를 확인하며 작업을 맡기는 관점으로 변했음을 정리하고 S107의 전체 작업 흐름으로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개념의 범위 확대와 모든 구성요소의 도입 의무를 구분한다. 개인 문제 선택과 다음 행동은 S114/S115에서만 진행한다.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다섯 단계와 질문·목표/제약·정보/명세·수행 환경·검토/수정의 범위를 순서대로 표시한다. 개인 문제나 도구 선택 메뉴를 만들지 않는다.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그 범위가 실제 작업 흐름에서는 어떻게 연결될까요? 다음은 저장소 이력을 몰라도 읽을 수 있는 작업 구조입니다.</a:t>
            </a:r>
          </a:p>
          <a:p>
            <a:r>
              <a:t xml:space="preserve"/>
            </a:r>
          </a:p>
          <a:p>
            <a:r>
              <a:t xml:space="preserve">**Time Management:**</a:t>
            </a:r>
          </a:p>
          <a:p>
            <a:r>
              <a:t xml:space="preserve">Lecture4분.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S106와 production/preview/act5/S106.png.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S107 — 작업은 요청부터 검토·수정까지 이어진다</a:t>
            </a:r>
          </a:p>
          <a:p>
            <a:r>
              <a:t xml:space="preserve"/>
            </a:r>
          </a:p>
          <a:p>
            <a:r>
              <a:t xml:space="preserve">**Slide ID:**</a:t>
            </a:r>
          </a:p>
          <a:p>
            <a:r>
              <a:t xml:space="preserve">S107</a:t>
            </a:r>
          </a:p>
          <a:p>
            <a:r>
              <a:t xml:space="preserve"/>
            </a:r>
          </a:p>
          <a:p>
            <a:r>
              <a:t xml:space="preserve">**Working Title:**</a:t>
            </a:r>
          </a:p>
          <a:p>
            <a:r>
              <a:t xml:space="preserve">작업은 요청부터 검토·수정까지 이어진다</a:t>
            </a:r>
          </a:p>
          <a:p>
            <a:r>
              <a:t xml:space="preserve"/>
            </a:r>
          </a:p>
          <a:p>
            <a:r>
              <a:t xml:space="preserve">**ACT / Section:**</a:t>
            </a:r>
          </a:p>
          <a:p>
            <a:r>
              <a:t xml:space="preserve">ACT 5 / 5A End-to-end Work Structure</a:t>
            </a:r>
          </a:p>
          <a:p>
            <a:r>
              <a:t xml:space="preserve"/>
            </a:r>
          </a:p>
          <a:p>
            <a:r>
              <a:t xml:space="preserve">**Allocated Time:**</a:t>
            </a:r>
          </a:p>
          <a:p>
            <a:r>
              <a:t xml:space="preserve">3 minutes</a:t>
            </a:r>
          </a:p>
          <a:p>
            <a:r>
              <a:t xml:space="preserve"/>
            </a:r>
          </a:p>
          <a:p>
            <a:r>
              <a:t xml:space="preserve">**Mode Split:**</a:t>
            </a:r>
          </a:p>
          <a:p>
            <a:r>
              <a:t xml:space="preserve">Lecture 1분 + Case 2분</a:t>
            </a:r>
          </a:p>
          <a:p>
            <a:r>
              <a:t xml:space="preserve"/>
            </a:r>
          </a:p>
          <a:p>
            <a:r>
              <a:t xml:space="preserve">**Primary Message:**</a:t>
            </a:r>
          </a:p>
          <a:p>
            <a:r>
              <a:t xml:space="preserve">같은 목표·완료 기준 아래 요청·조사·변경·확인·판단을 연결하고, 남은 지적과 근거를 다음 수정으로 넘긴다.</a:t>
            </a:r>
          </a:p>
          <a:p>
            <a:r>
              <a:t xml:space="preserve"/>
            </a:r>
          </a:p>
          <a:p>
            <a:r>
              <a:t xml:space="preserve">**Opening Question:**</a:t>
            </a:r>
          </a:p>
          <a:p>
            <a:r>
              <a:t xml:space="preserve">“AI에게 맡긴 작업은 요청 이후 어떤 흐름으로 이어질까요?”</a:t>
            </a:r>
          </a:p>
          <a:p>
            <a:r>
              <a:t xml:space="preserve"/>
            </a:r>
          </a:p>
          <a:p>
            <a:r>
              <a:t xml:space="preserve">**Speaker Flow:**</a:t>
            </a:r>
          </a:p>
          <a:p>
            <a:r>
              <a:t xml:space="preserve">1. (0:00–1:00 / Lecture) 목표와 완료 기준을 고정한 설명용 구조임을 밝힌다. 실제 저장소 State·Trial 이력이나 새 실행 결과를 재현하지 않는다.</a:t>
            </a:r>
          </a:p>
          <a:p>
            <a:r>
              <a:t xml:space="preserve">2. (1:00–2:20 / Case) 다섯 노드를 왼쪽부터 따라간다. 조사에서 필요한 자료를 찾고 정한 범위를 변경하며 테스트와 검토의 근거를 확인한다. 모델의 의견과 도구의 확인 근거를 합치지 않는다.</a:t>
            </a:r>
          </a:p>
          <a:p>
            <a:r>
              <a:t xml:space="preserve">3. (2:20–3:00 / Case) 남은 지적을 수정에 넘기는 귀환선과 완료/수정/중단 판단을 읽는다. 검증할 수 없어 멈춘 것은 목표 충족 완료가 아니다. 개인 다음 행동은 정하지 않고 S108의 작업 조건으로 넘긴다.</a:t>
            </a:r>
          </a:p>
          <a:p>
            <a:r>
              <a:t xml:space="preserve"/>
            </a:r>
          </a:p>
          <a:p>
            <a:r>
              <a:t xml:space="preserve">**Evidence / Source:**</a:t>
            </a:r>
          </a:p>
          <a:p>
            <a:r>
              <a:t xml:space="preserve">TEACHING_MODEL · DEC-0099 · 기존 교육의 관점과 연결을 종합한다. BEAT-060.</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여기서 보여 주는 것은 작업·피드백의 관계다. 특정 제품의 자동 실행 경로나 다중 모델 배정·반복 성과를 주장하지 않는다.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요청→조사→변경→확인→판단의 다섯 노드를 연결한다. 판단에서 남은 지적·근거를 변경으로 되돌린다. 완료·수정·미충족 중단을 구분한다.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이 흐름이 이어지려면 Agent가 무엇을 참고하고 어떤 방법과 도구를 사용할 수 있어야 할까요?</a:t>
            </a:r>
          </a:p>
          <a:p>
            <a:r>
              <a:t xml:space="preserve"/>
            </a:r>
          </a:p>
          <a:p>
            <a:r>
              <a:t xml:space="preserve">**Time Management:**</a:t>
            </a:r>
          </a:p>
          <a:p>
            <a:r>
              <a:t xml:space="preserve">Lecture1분+Case2분.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S107와 production/preview/act5/S107.png.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S108 — 작업 흐름에는 정보·절차·도구가 연결된다</a:t>
            </a:r>
          </a:p>
          <a:p>
            <a:r>
              <a:t xml:space="preserve"/>
            </a:r>
          </a:p>
          <a:p>
            <a:r>
              <a:t xml:space="preserve">**Slide ID:**</a:t>
            </a:r>
          </a:p>
          <a:p>
            <a:r>
              <a:t xml:space="preserve">S108</a:t>
            </a:r>
          </a:p>
          <a:p>
            <a:r>
              <a:t xml:space="preserve"/>
            </a:r>
          </a:p>
          <a:p>
            <a:r>
              <a:t xml:space="preserve">**Working Title:**</a:t>
            </a:r>
          </a:p>
          <a:p>
            <a:r>
              <a:t xml:space="preserve">작업 흐름에는 정보·절차·도구가 연결된다</a:t>
            </a:r>
          </a:p>
          <a:p>
            <a:r>
              <a:t xml:space="preserve"/>
            </a:r>
          </a:p>
          <a:p>
            <a:r>
              <a:t xml:space="preserve">**ACT / Section:**</a:t>
            </a:r>
          </a:p>
          <a:p>
            <a:r>
              <a:t xml:space="preserve">ACT 5 / 5A Work Conditions</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프로젝트 정보와 명세, 재사용할 수행 방법, 테스트·측정 도구를 Agent의 작업에 연결해 변경 내용·확인 근거·미해결 항목을 남긴다.</a:t>
            </a:r>
          </a:p>
          <a:p>
            <a:r>
              <a:t xml:space="preserve"/>
            </a:r>
          </a:p>
          <a:p>
            <a:r>
              <a:t xml:space="preserve">**Opening Question:**</a:t>
            </a:r>
          </a:p>
          <a:p>
            <a:r>
              <a:t xml:space="preserve">“이 작업 흐름은 어떤 정보와 수행 조건에 연결되어 있을까요?”</a:t>
            </a:r>
          </a:p>
          <a:p>
            <a:r>
              <a:t xml:space="preserve"/>
            </a:r>
          </a:p>
          <a:p>
            <a:r>
              <a:t xml:space="preserve">**Speaker Flow:**</a:t>
            </a:r>
          </a:p>
          <a:p>
            <a:r>
              <a:t xml:space="preserve">1. (0:00–0:30 / Lecture) S107의 작업 흐름에 연결되는 조건을 설명한다. 특정 Demo나 코드의 사전 지식 없이 읽는다.</a:t>
            </a:r>
          </a:p>
          <a:p>
            <a:r>
              <a:t xml:space="preserve">2. (0:30–1:30 / Lecture) 프로젝트 정보는 코드·명세·프로젝트 지식, 수행 방법은 조사·변경·검증 순서, 검증 도구는 테스트·측정·결과 비교의 역할임을 짚는다. Skill이나 도구 사용법을 재강의하지 않고 연결 관계만 보여 준다.</a:t>
            </a:r>
          </a:p>
          <a:p>
            <a:r>
              <a:t xml:space="preserve">3. (1:30–2:00 / Lecture) 결과에 변경 내용·확인 근거·미해결 항목을 남기는 이유를 회수한다. Subagent/Memory 채택·보류나 개인 행동을 선택시키지 않고 S109의 수용 판단으로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Context의 사실, Workflow의 방법, 도구가 제공하는 근거는 책임이 다르다. 모든 작업의 필수 구현·저장 방식이나 특정 구성이 더 우월하다는 결과를 제시하지 않는다.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상단 세 입력인 프로젝트 정보·재사용 수행 방법·검증 도구를 가운데 Agent 작업으로 연결한다. 하단에 변경 내용·확인 근거·미해결 항목을 표시한다. 구성요소 채택·보류 메뉴를 만들지 않는다.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그렇게 얻은 결과를 완료 보고만으로 받아들일 수 있을까요? S109에서 사람의 수용 판단을 봅니다.</a:t>
            </a:r>
          </a:p>
          <a:p>
            <a:r>
              <a:t xml:space="preserve"/>
            </a:r>
          </a:p>
          <a:p>
            <a:r>
              <a:t xml:space="preserve">**Time Management:**</a:t>
            </a:r>
          </a:p>
          <a:p>
            <a:r>
              <a:t xml:space="preserve">Lecture2분.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S108와 production/preview/act5/S108.png.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S109 — 결과를 수용할지는 사람이 판단한다</a:t>
            </a:r>
          </a:p>
          <a:p>
            <a:r>
              <a:t xml:space="preserve"/>
            </a:r>
          </a:p>
          <a:p>
            <a:r>
              <a:t xml:space="preserve">**Slide ID:**</a:t>
            </a:r>
          </a:p>
          <a:p>
            <a:r>
              <a:t xml:space="preserve">S109</a:t>
            </a:r>
          </a:p>
          <a:p>
            <a:r>
              <a:t xml:space="preserve"/>
            </a:r>
          </a:p>
          <a:p>
            <a:r>
              <a:t xml:space="preserve">**Working Title:**</a:t>
            </a:r>
          </a:p>
          <a:p>
            <a:r>
              <a:t xml:space="preserve">결과를 수용할지는 사람이 판단한다</a:t>
            </a:r>
          </a:p>
          <a:p>
            <a:r>
              <a:t xml:space="preserve"/>
            </a:r>
          </a:p>
          <a:p>
            <a:r>
              <a:t xml:space="preserve">**ACT / Section:**</a:t>
            </a:r>
          </a:p>
          <a:p>
            <a:r>
              <a:t xml:space="preserve">ACT 5 / 5A Developer Responsibility</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작업 완료 보고 뒤에도 사람은 목표·선택·검증 근거·남은 위험을 확인해 결과를 수용한다.</a:t>
            </a:r>
          </a:p>
          <a:p>
            <a:r>
              <a:t xml:space="preserve"/>
            </a:r>
          </a:p>
          <a:p>
            <a:r>
              <a:t xml:space="preserve">**Opening Question:**</a:t>
            </a:r>
          </a:p>
          <a:p>
            <a:r>
              <a:t xml:space="preserve">“작업 완료 보고 뒤에 사람이 확인할 것은 무엇일까요?”</a:t>
            </a:r>
          </a:p>
          <a:p>
            <a:r>
              <a:t xml:space="preserve"/>
            </a:r>
          </a:p>
          <a:p>
            <a:r>
              <a:t xml:space="preserve">**Speaker Flow:**</a:t>
            </a:r>
          </a:p>
          <a:p>
            <a:r>
              <a:t xml:space="preserve">1. (0:00–0:35 / Lecture) S108에서 남긴 변경 내용·확인 근거·미해결 항목을 사람의 수용 판단에 연결한다. Agent나 Goal의 완료 보고 자체를 검증 결과로 취급하지 않는다.</a:t>
            </a:r>
          </a:p>
          <a:p>
            <a:r>
              <a:t xml:space="preserve">2. (0:35–2:30 / Lecture) 목표·제약에 맞는지, 선택이 적절한지, 근거로 확인했는지, 남은 위험을 수용할지의 네 질문을 한 번씩 설명한다. 새 실패 사례나 실제 PASS/FAIL을 추가하지 않는다.</a:t>
            </a:r>
          </a:p>
          <a:p>
            <a:r>
              <a:t xml:space="preserve">3. (2:30–3:00 / Lecture) 사람이 직접 모든 단계를 수행한다는 뜻이 아니라 중요한 기준과 최종 수용 책임을 유지한다는 의미를 남기고 S110로 넘긴다.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위임한 작업과 사람이 보유할 목표·중요 판단·위험 수용 책임을 구분한다. 현재 제품의 완료 오류율이나 검토 성과를 관찰한 주장이 아니다.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AI의 변경·실행·검사·비교 기록과 사람이 확인할 목표·판단·검증·책임의 네 질문을 연결한다. Goal 한 기능에 한정하지 않는다.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이 수용 판단까지 연결되도록 작업 조건을 설계하고 운영하는 관점을 S110에서 정리합니다.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S109와 production/preview/act5/S109.png.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0.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S110 — AI가 일할 조건과 확인 경로를 설계한다</a:t>
            </a:r>
          </a:p>
          <a:p>
            <a:r>
              <a:t xml:space="preserve"/>
            </a:r>
          </a:p>
          <a:p>
            <a:r>
              <a:t xml:space="preserve">**Slide ID:**</a:t>
            </a:r>
          </a:p>
          <a:p>
            <a:r>
              <a:t xml:space="preserve">S110</a:t>
            </a:r>
          </a:p>
          <a:p>
            <a:r>
              <a:t xml:space="preserve"/>
            </a:r>
          </a:p>
          <a:p>
            <a:r>
              <a:t xml:space="preserve">**Working Title:**</a:t>
            </a:r>
          </a:p>
          <a:p>
            <a:r>
              <a:t xml:space="preserve">AI가 일할 조건과 확인 경로를 설계한다</a:t>
            </a:r>
          </a:p>
          <a:p>
            <a:r>
              <a:t xml:space="preserve"/>
            </a:r>
          </a:p>
          <a:p>
            <a:r>
              <a:t xml:space="preserve">**ACT / Section:**</a:t>
            </a:r>
          </a:p>
          <a:p>
            <a:r>
              <a:t xml:space="preserve">ACT 5 / 5A AI-Native Development</a:t>
            </a:r>
          </a:p>
          <a:p>
            <a:r>
              <a:t xml:space="preserve"/>
            </a:r>
          </a:p>
          <a:p>
            <a:r>
              <a:t xml:space="preserve">**Allocated Time:**</a:t>
            </a:r>
          </a:p>
          <a:p>
            <a:r>
              <a:t xml:space="preserve">3 minutes</a:t>
            </a:r>
          </a:p>
          <a:p>
            <a:r>
              <a:t xml:space="preserve"/>
            </a:r>
          </a:p>
          <a:p>
            <a:r>
              <a:t xml:space="preserve">**Mode Split:**</a:t>
            </a:r>
          </a:p>
          <a:p>
            <a:r>
              <a:t xml:space="preserve">Lecture 3분</a:t>
            </a:r>
          </a:p>
          <a:p>
            <a:r>
              <a:t xml:space="preserve"/>
            </a:r>
          </a:p>
          <a:p>
            <a:r>
              <a:t xml:space="preserve">**Primary Message:**</a:t>
            </a:r>
          </a:p>
          <a:p>
            <a:r>
              <a:t xml:space="preserve">맡길 범위와 일할 조건, 검증·수정·재검토와 사람의 수용 판단을 연결해 개발 방식을 설계하고 운영한다.</a:t>
            </a:r>
          </a:p>
          <a:p>
            <a:r>
              <a:t xml:space="preserve"/>
            </a:r>
          </a:p>
          <a:p>
            <a:r>
              <a:t xml:space="preserve">**Opening Question:**</a:t>
            </a:r>
          </a:p>
          <a:p>
            <a:r>
              <a:t xml:space="preserve">“우리가 설계한 것은 어떤 개발 방식이었을까요?”</a:t>
            </a:r>
          </a:p>
          <a:p>
            <a:r>
              <a:t xml:space="preserve"/>
            </a:r>
          </a:p>
          <a:p>
            <a:r>
              <a:t xml:space="preserve">**Speaker Flow:**</a:t>
            </a:r>
          </a:p>
          <a:p>
            <a:r>
              <a:t xml:space="preserve">1. (0:00–0:35 / Lecture) S106의 범위 확대, S107의 작업 흐름, S108의 수행 조건과 S109의 수용 판단을 하나의 개발 방식으로 회수한다.</a:t>
            </a:r>
          </a:p>
          <a:p>
            <a:r>
              <a:t xml:space="preserve">2. (0:35–2:10 / Lecture) 맡길 범위는 목표·제약·완료 기준, 일할 조건은 정보·수행 방법·도구·검토 역할, 확인과 책임은 검증·수정·재검토와 사람의 수용이다. 이 과정에서 사용하는 AI-Native Development의 관점이며 보편 공식 정의가 아니다.</a:t>
            </a:r>
          </a:p>
          <a:p>
            <a:r>
              <a:t xml:space="preserve">3. (2:10–3:00 / Lecture) 모델·플랫폼이 달라져도 지금의 구성이 모두 필요할지 질문한다. 통합·제거의 상세 기준은 S111–S113에, 개인 문제와 다음 행동은 S114–S115에 남긴다.</a:t>
            </a:r>
          </a:p>
          <a:p>
            <a:r>
              <a:t xml:space="preserve"/>
            </a:r>
          </a:p>
          <a:p>
            <a:r>
              <a:t xml:space="preserve">**Evidence / Source:**</a:t>
            </a:r>
          </a:p>
          <a:p>
            <a:r>
              <a:t xml:space="preserve">TEACHING_MODEL · DEC-0099 · 기존 교육의 관점과 연결을 종합한다. BEAT-061–062. 실제 Product 이력과 DEC-0018은 당시 관찰·판단으로 보존하며 이 도식의 실행 근거로 쓰지 않는다.</a:t>
            </a:r>
          </a:p>
          <a:p>
            <a:r>
              <a:t xml:space="preserve"/>
            </a:r>
          </a:p>
          <a:p>
            <a:r>
              <a:t xml:space="preserve">보존된 상세 출처: 교육에서 배운 관점의 종합 · TEACHING MODEL</a:t>
            </a:r>
          </a:p>
          <a:p>
            <a:r>
              <a:t xml:space="preserve"/>
            </a:r>
          </a:p>
          <a:p>
            <a:r>
              <a:t xml:space="preserve">**Claim Boundary:**</a:t>
            </a:r>
          </a:p>
          <a:p>
            <a:r>
              <a:t xml:space="preserve">TEACHING_MODEL — 기존 교육 내용의 설명용 종합이며 실제 실행·비교·측정 결과가 아니다. Goal·다중 모델 루프·새 제품 기능을 실행 검증한 근거로 쓰지 않는다.</a:t>
            </a:r>
          </a:p>
          <a:p>
            <a:r>
              <a:t xml:space="preserve"/>
            </a:r>
          </a:p>
          <a:p>
            <a:r>
              <a:t xml:space="preserve">보존된 상세 범위: 설명용 도식 · 실제 실행·측정 결과나 모든 작업의 필수 구성표가 아님</a:t>
            </a:r>
          </a:p>
          <a:p>
            <a:r>
              <a:t xml:space="preserve"/>
            </a:r>
          </a:p>
          <a:p>
            <a:r>
              <a:t xml:space="preserve">**Beginner Explanation:**</a:t>
            </a:r>
          </a:p>
          <a:p>
            <a:r>
              <a:t xml:space="preserve">저장소 이름·State·Trial을 몰라도 화면의 역할과 연결을 따라간다.</a:t>
            </a:r>
          </a:p>
          <a:p>
            <a:r>
              <a:t xml:space="preserve"/>
            </a:r>
          </a:p>
          <a:p>
            <a:r>
              <a:t xml:space="preserve">**Advanced Insight:**</a:t>
            </a:r>
          </a:p>
          <a:p>
            <a:r>
              <a:t xml:space="preserve">특정 제품 기능이나 모든 구성요소를 반드시 도입하는 목록과 개발 방식의 설계 관점을 구분한다. 무엇을 제거할지는 다음 구간에서 근거를 보고 판단한다.</a:t>
            </a:r>
          </a:p>
          <a:p>
            <a:r>
              <a:t xml:space="preserve"/>
            </a:r>
          </a:p>
          <a:p>
            <a:r>
              <a:t xml:space="preserve">**C++ Vision Bridge:**</a:t>
            </a:r>
          </a:p>
          <a:p>
            <a:r>
              <a:t xml:space="preserve">개별 기술 사례·성과를 새로 넣지 않는다. 개인 업무 적용은 S114/S115에 남긴다.</a:t>
            </a:r>
          </a:p>
          <a:p>
            <a:r>
              <a:t xml:space="preserve"/>
            </a:r>
          </a:p>
          <a:p>
            <a:r>
              <a:t xml:space="preserve">**Demo Operation:**</a:t>
            </a:r>
          </a:p>
          <a:p>
            <a:r>
              <a:t xml:space="preserve">새 Trial·Live·실행 캡처 없음. 맡길 범위·일할 조건·확인과 책임의 세 영역을 연결한다. 이 교육의 AI-Native Development 관점임을 밝히고 모델·플랫폼 변화 시 현재 구성의 필요성을 묻는다.</a:t>
            </a:r>
          </a:p>
          <a:p>
            <a:r>
              <a:t xml:space="preserve"/>
            </a:r>
          </a:p>
          <a:p>
            <a:r>
              <a:t xml:space="preserve">**Audience Interaction:**</a:t>
            </a:r>
          </a:p>
          <a:p>
            <a:r>
              <a:t xml:space="preserve">설명을 위한 질문이며 개인 문제·도구·다음 행동을 고르게 하지 않는다. 개인 선택과 성찰은 S114/S115에 남긴다.</a:t>
            </a:r>
          </a:p>
          <a:p>
            <a:r>
              <a:t xml:space="preserve"/>
            </a:r>
          </a:p>
          <a:p>
            <a:r>
              <a:t xml:space="preserve">**Transition:**</a:t>
            </a:r>
          </a:p>
          <a:p>
            <a:r>
              <a:t xml:space="preserve">이렇게 설계한 작업 방식도 모델·플랫폼이 달라지면 그대로 필요할까요? S111부터 기존 구조의 통합·제거를 재평가합니다.</a:t>
            </a:r>
          </a:p>
          <a:p>
            <a:r>
              <a:t xml:space="preserve"/>
            </a:r>
          </a:p>
          <a:p>
            <a:r>
              <a:t xml:space="preserve">**Time Management:**</a:t>
            </a:r>
          </a:p>
          <a:p>
            <a:r>
              <a:t xml:space="preserve">Lecture3분. 기존 장별 총시간을 유지한다. 상세 기법을 재강의하지 않고 실제 리허설은 UNVERIFIED로 둔다.</a:t>
            </a:r>
          </a:p>
          <a:p>
            <a:r>
              <a:t xml:space="preserve"/>
            </a:r>
          </a:p>
          <a:p>
            <a:r>
              <a:t xml:space="preserve">**Fallback:**</a:t>
            </a:r>
          </a:p>
          <a:p>
            <a:r>
              <a:t xml:space="preserve">LOCAL STATIC ARTIFACT — production/ACT_5.pptx의 S110와 production/preview/act5/S110.png. 설명용 도식이며 실행 캡처가 아니다. 현재 검토는 production/evaluation/ACT5_SYNTHESIS_REVISION.md를 따른다.</a:t>
            </a:r>
          </a:p>
          <a:p>
            <a:r>
              <a:t xml:space="preserve"/>
            </a:r>
          </a:p>
          <a:p>
            <a:r>
              <a:t xml:space="preserve">**Validation Status:**</a:t>
            </a:r>
          </a:p>
          <a:p>
            <a:r>
              <a:t xml:space="preserve">CONTENT ALIGNED — DEC-0099. 최종 파일·Notes·렌더링 검사는 ACT5_SYNTHESIS_REVISION.md에 별도 기록한다. Windows PowerPoint·제품/계정·교육장·실측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1.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S111 — 모델·플랫폼이 바뀌면 Harness도 다시 본다</a:t>
            </a:r>
          </a:p>
          <a:p>
            <a:r>
              <a:t xml:space="preserve"/>
            </a:r>
          </a:p>
          <a:p>
            <a:r>
              <a:t xml:space="preserve">**Slide ID:**</a:t>
            </a:r>
          </a:p>
          <a:p>
            <a:r>
              <a:t xml:space="preserve">S111</a:t>
            </a:r>
          </a:p>
          <a:p>
            <a:r>
              <a:t xml:space="preserve"/>
            </a:r>
          </a:p>
          <a:p>
            <a:r>
              <a:t xml:space="preserve">**Working Title:**</a:t>
            </a:r>
          </a:p>
          <a:p>
            <a:r>
              <a:t xml:space="preserve">모델·플랫폼이 바뀌면 Harness도 다시 본다</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a:r>
              <a:t xml:space="preserve"/>
            </a:r>
          </a:p>
          <a:p>
            <a:r>
              <a:t xml:space="preserve">**Opening Question:**</a:t>
            </a:r>
          </a:p>
          <a:p>
            <a:r>
              <a:t xml:space="preserve">“Goal처럼 플랫폼이 일부 역할을 제공한다면, 이전에 만든 보조 장치도 계속 필요할까요?”</a:t>
            </a:r>
          </a:p>
          <a:p>
            <a:r>
              <a:t xml:space="preserve"/>
            </a:r>
          </a:p>
          <a:p>
            <a:r>
              <a:t xml:space="preserve">**Speaker Flow:**</a:t>
            </a:r>
          </a:p>
          <a:p>
            <a:r>
              <a:t xml:space="preserve">1. (0:00–0:25 / Lecture) S110의 설계 관점에서 “그때 필요했던 보조 장치가 지금도 필요한가?”를 묻는다. 앞 구간은 작업 체계의 구조를 설명했고, 여기서는 과거 필요했던 구성의 후속 재평가를 다룬다.</a:t>
            </a:r>
          </a:p>
          <a:p>
            <a:r>
              <a:t xml:space="preserve">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a:r>
              <a:t xml:space="preserve">3. (1:25–2:00 / Lecture) 새 모델이나 플랫폼이면 무조건 합치라는 뜻이 아니며 우리 Demo의 통합·비용·품질 비교 실험도 아니라고 한정한다. 외부 수치나 모델명 성능을 추가하지 않고 S112의 판단 기준으로 넘긴다.</a:t>
            </a:r>
          </a:p>
          <a:p>
            <a:r>
              <a:t xml:space="preserve"/>
            </a:r>
          </a:p>
          <a:p>
            <a:r>
              <a:t xml:space="preserve">**Evidence / Source:**</a:t>
            </a:r>
          </a:p>
          <a:p>
            <a:r>
              <a:t xml:space="preserve">RESEARCH / TEACHING_MODEL · SRC-0236, CLM-0040, BEAT-061, BEAT-069, DEC-0083. references/engineering/harness-reassessment.md에 출처·해석·한계를 분리한다.</a:t>
            </a:r>
          </a:p>
          <a:p>
            <a:r>
              <a:t xml:space="preserve"/>
            </a:r>
          </a:p>
          <a:p>
            <a:r>
              <a:t xml:space="preserve">보존된 상세 출처: SRC-0236 · Anthropic, 2026-10-22 · 일부 기업 Agent의 통합 사례를 각색</a:t>
            </a:r>
          </a:p>
          <a:p>
            <a:r>
              <a:t xml:space="preserve"/>
            </a:r>
          </a:p>
          <a:p>
            <a:r>
              <a:t xml:space="preserve">**Claim Boundary:**</a:t>
            </a:r>
          </a:p>
          <a:p>
            <a:r>
              <a:t xml:space="preserve">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a:r>
              <a:t xml:space="preserve"/>
            </a:r>
          </a:p>
          <a:p>
            <a:r>
              <a:t xml:space="preserve">보존된 상세 범위: 우리 Demo의 관찰·효과 측정이 아님 · 새 모델이면 무조건 통합한다는 뜻은 아님</a:t>
            </a:r>
          </a:p>
          <a:p>
            <a:r>
              <a:t xml:space="preserve"/>
            </a:r>
          </a:p>
          <a:p>
            <a:r>
              <a:t xml:space="preserve">**Beginner Explanation:**</a:t>
            </a:r>
          </a:p>
          <a:p>
            <a:r>
              <a:t xml:space="preserve">처음에는 필요했던 장치도 조건이 달라지면 다시 볼 수 있음을 이해한다.</a:t>
            </a:r>
          </a:p>
          <a:p>
            <a:r>
              <a:t xml:space="preserve"/>
            </a:r>
          </a:p>
          <a:p>
            <a:r>
              <a:t xml:space="preserve">**Advanced Insight:**</a:t>
            </a:r>
          </a:p>
          <a:p>
            <a:r>
              <a:t xml:space="preserve">Goal은 앞 ACT의 OpenAI 공식 기능 안내다. 이 화면의 Anthropic 기업 Agent 통합 사례는 별도 출처이며 같은 실험·제품·효과로 합치지 않는다. 통합/제거는 실제 대표 작업의 결과와 회귀를 확인한 뒤 판단한다.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S114/S113에 남긴다.</a:t>
            </a:r>
          </a:p>
          <a:p>
            <a:r>
              <a:t xml:space="preserve"/>
            </a:r>
          </a:p>
          <a:p>
            <a:r>
              <a:t xml:space="preserve">**Transition:**</a:t>
            </a:r>
          </a:p>
          <a:p>
            <a:r>
              <a:t xml:space="preserve">“그렇다면 무엇을 보존하고, 어떤 부분을 합치거나 제거할 후보로 볼까요?”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S111와 production/preview/act5/S111.png.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2.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S112 — 무엇을 남기고, 무엇을 덜어낼까?</a:t>
            </a:r>
          </a:p>
          <a:p>
            <a:r>
              <a:t xml:space="preserve"/>
            </a:r>
          </a:p>
          <a:p>
            <a:r>
              <a:t xml:space="preserve">**Slide ID:**</a:t>
            </a:r>
          </a:p>
          <a:p>
            <a:r>
              <a:t xml:space="preserve">S112</a:t>
            </a:r>
          </a:p>
          <a:p>
            <a:r>
              <a:t xml:space="preserve"/>
            </a:r>
          </a:p>
          <a:p>
            <a:r>
              <a:t xml:space="preserve">**Working Title:**</a:t>
            </a:r>
          </a:p>
          <a:p>
            <a:r>
              <a:t xml:space="preserve">무엇을 남기고, 무엇을 덜어낼까?</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목표·명세·검증 요구는 보존하고, 겹치는 지침·역할은 통합하며, 효용이 사라진 우회 절차는 제거 후보로 검토한다. 독립 병렬 조사·권한 분리처럼 유효한 이유가 있으면 구성은 유지할 수 있다.</a:t>
            </a:r>
          </a:p>
          <a:p>
            <a:r>
              <a:t xml:space="preserve"/>
            </a:r>
          </a:p>
          <a:p>
            <a:r>
              <a:t xml:space="preserve">**Opening Question:**</a:t>
            </a:r>
          </a:p>
          <a:p>
            <a:r>
              <a:t xml:space="preserve">“이 요소가 맡은 이유는 현재도 유효한가요?”</a:t>
            </a:r>
          </a:p>
          <a:p>
            <a:r>
              <a:t xml:space="preserve"/>
            </a:r>
          </a:p>
          <a:p>
            <a:r>
              <a:t xml:space="preserve">**Speaker Flow:**</a:t>
            </a:r>
          </a:p>
          <a:p>
            <a:r>
              <a:t xml:space="preserve">1. (0:00–0:25 / Lecture) S111의 조건 변화가 기존 요소의 존재 이유를 재확인하는 계기라고 연결한다. 이 장은 공급사 결과표가 아니라 이 교육의 판단 기준이다.</a:t>
            </a:r>
          </a:p>
          <a:p>
            <a:r>
              <a:t xml:space="preserve">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a:r>
              <a:t xml:space="preserve">3. (1:25–2:00 / Lecture) 통합·제거는 후보이며 아직 품질이 유지됐다는 결과가 없다고 짚는다. 원래 요구를 보존한 채 실제 작업에서 무엇을 확인할지 S113으로 연결한다.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CLM-0022, CLM-0030, SRC-0236, BEAT-057, BEAT-061, BEAT-069, DEC-0083. references/engineering/harness-reassessment.md에 출처·해석·한계를 분리한다.</a:t>
            </a:r>
          </a:p>
          <a:p>
            <a:r>
              <a:t xml:space="preserve"/>
            </a:r>
          </a:p>
          <a:p>
            <a:r>
              <a:t xml:space="preserve">보존된 상세 출처: TEACHING MODEL · BEAT-057 / 061 / 069 · CLM-0022 · DEC-0083</a:t>
            </a:r>
          </a:p>
          <a:p>
            <a:r>
              <a:t xml:space="preserve"/>
            </a:r>
          </a:p>
          <a:p>
            <a:r>
              <a:t xml:space="preserve">**Claim Boundary:**</a:t>
            </a:r>
          </a:p>
          <a:p>
            <a:r>
              <a:t xml:space="preserve">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a:r>
              <a:t xml:space="preserve"/>
            </a:r>
          </a:p>
          <a:p>
            <a:r>
              <a:t xml:space="preserve">보존된 상세 범위: 통합·제거는 후보 판단 · 안전·권한·명세·검증 요구를 없애는 처방이 아님</a:t>
            </a:r>
          </a:p>
          <a:p>
            <a:r>
              <a:t xml:space="preserve"/>
            </a:r>
          </a:p>
          <a:p>
            <a:r>
              <a:t xml:space="preserve">**Beginner Explanation:**</a:t>
            </a:r>
          </a:p>
          <a:p>
            <a:r>
              <a:t xml:space="preserve">중요한 요구를 지우는 것과 중복된 구현·지침을 덜어내는 것을 구분한다.</a:t>
            </a:r>
          </a:p>
          <a:p>
            <a:r>
              <a:t xml:space="preserve"/>
            </a:r>
          </a:p>
          <a:p>
            <a:r>
              <a:t xml:space="preserve">**Advanced Insight:**</a:t>
            </a:r>
          </a:p>
          <a:p>
            <a:r>
              <a:t xml:space="preserve">원출처·책임·필요한 격리 경계를 보존하면서 불필요한 조율·우회 구조를 재검토한다.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S114/S113에 남긴다.</a:t>
            </a:r>
          </a:p>
          <a:p>
            <a:r>
              <a:t xml:space="preserve"/>
            </a:r>
          </a:p>
          <a:p>
            <a:r>
              <a:t xml:space="preserve">**Transition:**</a:t>
            </a:r>
          </a:p>
          <a:p>
            <a:r>
              <a:t xml:space="preserve">“후보를 정했다면, 덜어낸 뒤에도 필요한 일을 하는지 무엇으로 확인할까요?”</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S112와 production/preview/act5/S112.png.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3.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S113 — 덜어낸 뒤에도 필요한 일을 하는가?</a:t>
            </a:r>
          </a:p>
          <a:p>
            <a:r>
              <a:t xml:space="preserve"/>
            </a:r>
          </a:p>
          <a:p>
            <a:r>
              <a:t xml:space="preserve">**Slide ID:**</a:t>
            </a:r>
          </a:p>
          <a:p>
            <a:r>
              <a:t xml:space="preserve">S113</a:t>
            </a:r>
          </a:p>
          <a:p>
            <a:r>
              <a:t xml:space="preserve"/>
            </a:r>
          </a:p>
          <a:p>
            <a:r>
              <a:t xml:space="preserve">**Working Title:**</a:t>
            </a:r>
          </a:p>
          <a:p>
            <a:r>
              <a:t xml:space="preserve">덜어낸 뒤에도 필요한 일을 하는가?</a:t>
            </a:r>
          </a:p>
          <a:p>
            <a:r>
              <a:t xml:space="preserve"/>
            </a:r>
          </a:p>
          <a:p>
            <a:r>
              <a:t xml:space="preserve">**ACT / Section:**</a:t>
            </a:r>
          </a:p>
          <a:p>
            <a:r>
              <a:t xml:space="preserve">ACT 5 / 5A Harness Reassessment</a:t>
            </a:r>
          </a:p>
          <a:p>
            <a:r>
              <a:t xml:space="preserve"/>
            </a:r>
          </a:p>
          <a:p>
            <a:r>
              <a:t xml:space="preserve">**Allocated Time:**</a:t>
            </a:r>
          </a:p>
          <a:p>
            <a:r>
              <a:t xml:space="preserve">2 minutes</a:t>
            </a:r>
          </a:p>
          <a:p>
            <a:r>
              <a:t xml:space="preserve"/>
            </a:r>
          </a:p>
          <a:p>
            <a:r>
              <a:t xml:space="preserve">**Mode Split:**</a:t>
            </a:r>
          </a:p>
          <a:p>
            <a:r>
              <a:t xml:space="preserve">Lecture 2분</a:t>
            </a:r>
          </a:p>
          <a:p>
            <a:r>
              <a:t xml:space="preserve"/>
            </a:r>
          </a:p>
          <a:p>
            <a:r>
              <a:t xml:space="preserve">**Primary Message:**</a:t>
            </a:r>
          </a:p>
          <a:p>
            <a:r>
              <a:t xml:space="preserve">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a:r>
              <a:t xml:space="preserve"/>
            </a:r>
          </a:p>
          <a:p>
            <a:r>
              <a:t xml:space="preserve">**Opening Question:**</a:t>
            </a:r>
          </a:p>
          <a:p>
            <a:r>
              <a:t xml:space="preserve">“같은 대표 작업에서 무엇을 대조해야 덜어낸 구성을 수용할 수 있나요?”</a:t>
            </a:r>
          </a:p>
          <a:p>
            <a:r>
              <a:t xml:space="preserve"/>
            </a:r>
          </a:p>
          <a:p>
            <a:r>
              <a:t xml:space="preserve">**Speaker Flow:**</a:t>
            </a:r>
          </a:p>
          <a:p>
            <a:r>
              <a:t xml:space="preserve">1. (0:00–0:25 / Lecture) S112에서 고른 후보가 간단해졌다는 인상만으로 채택되지 않는다고 연결한다. 화면은 평가 설계이며 우리 프로젝트의 새 실행·점수·PASS 결과가 아니다.</a:t>
            </a:r>
          </a:p>
          <a:p>
            <a:r>
              <a:t xml:space="preserve">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a:r>
              <a:t xml:space="preserve">3. (1:20–2:00 / Lecture) 확인한 범위만 채택하고 나빠지면 기존 구성으로 되돌리며 이유를 남긴다고 닫는다. 검증 기준을 통과했다는 새 주장을 하지 않는다. S114에서 자신의 부족한 기준과 중복 구성을 포함한 문제 하나를 고른다.</a:t>
            </a:r>
          </a:p>
          <a:p>
            <a:r>
              <a:t xml:space="preserve">운영 표시: “실무 적용 팁 · 검증·개선” 배지로 다시 찾아 쓸 기준임을 짚는다. 기존 설명·근거 범위와 배정 시간 안에서 진행하며 요청·예시를 새로 실행하지 않는다.</a:t>
            </a:r>
          </a:p>
          <a:p>
            <a:r>
              <a:t xml:space="preserve"/>
            </a:r>
          </a:p>
          <a:p>
            <a:r>
              <a:t xml:space="preserve">**Evidence / Source:**</a:t>
            </a:r>
          </a:p>
          <a:p>
            <a:r>
              <a:t xml:space="preserve">TEACHING_MODEL / RESEARCH · SRC-0236, CLM-0040, BEAT-061, BEAT-069, INV-VERIFY-001, DEC-0083. references/engineering/harness-reassessment.md에 출처·해석·한계를 분리한다.</a:t>
            </a:r>
          </a:p>
          <a:p>
            <a:r>
              <a:t xml:space="preserve"/>
            </a:r>
          </a:p>
          <a:p>
            <a:r>
              <a:t xml:space="preserve">보존된 상세 출처: TEACHING MODEL · SRC-0236의 평가 권고를 각색 · CLM-0040 · DEC-0083</a:t>
            </a:r>
          </a:p>
          <a:p>
            <a:r>
              <a:t xml:space="preserve"/>
            </a:r>
          </a:p>
          <a:p>
            <a:r>
              <a:t xml:space="preserve">**Claim Boundary:**</a:t>
            </a:r>
          </a:p>
          <a:p>
            <a:r>
              <a:t xml:space="preserve">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a:r>
              <a:t xml:space="preserve"/>
            </a:r>
          </a:p>
          <a:p>
            <a:r>
              <a:t xml:space="preserve">보존된 상세 범위: 새 비교 실험·측정 결과 없음 · 시간·비용만으로 채택하지 않음</a:t>
            </a:r>
          </a:p>
          <a:p>
            <a:r>
              <a:t xml:space="preserve"/>
            </a:r>
          </a:p>
          <a:p>
            <a:r>
              <a:t xml:space="preserve">**Beginner Explanation:**</a:t>
            </a:r>
          </a:p>
          <a:p>
            <a:r>
              <a:t xml:space="preserve">간단해졌다는 인상 대신 원래 할 일을 계속 수행하는지 확인한다.</a:t>
            </a:r>
          </a:p>
          <a:p>
            <a:r>
              <a:t xml:space="preserve"/>
            </a:r>
          </a:p>
          <a:p>
            <a:r>
              <a:t xml:space="preserve">**Advanced Insight:**</a:t>
            </a:r>
          </a:p>
          <a:p>
            <a:r>
              <a:t xml:space="preserve">평가 범위·품질·회귀·시간/비용·남은 위험과 복구 조건을 분리해 수용 근거를 만든다. 모델/구성 외 조건의 차이도 기록한다.</a:t>
            </a:r>
          </a:p>
          <a:p>
            <a:r>
              <a:t xml:space="preserve"/>
            </a:r>
          </a:p>
          <a:p>
            <a:r>
              <a:t xml:space="preserve">**C++ Vision Bridge:**</a:t>
            </a:r>
          </a:p>
          <a:p>
            <a:r>
              <a:t xml:space="preserve">Contextual — 실제 C++ 구조·도구·성과를 새로 제시하지 않는다.</a:t>
            </a:r>
          </a:p>
          <a:p>
            <a:r>
              <a:t xml:space="preserve"/>
            </a:r>
          </a:p>
          <a:p>
            <a:r>
              <a:t xml:space="preserve">**Demo Operation:**</a:t>
            </a:r>
          </a:p>
          <a:p>
            <a:r>
              <a:t xml:space="preserve">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a:r>
              <a:t xml:space="preserve"/>
            </a:r>
          </a:p>
          <a:p>
            <a:r>
              <a:t xml:space="preserve">**Audience Interaction:**</a:t>
            </a:r>
          </a:p>
          <a:p>
            <a:r>
              <a:t xml:space="preserve">질문은 설명을 여는 수사적 질문이다. 응답·실습·기록·제출을 요구하지 않는다. 개인 선택은 S114/S113에 남긴다.</a:t>
            </a:r>
          </a:p>
          <a:p>
            <a:r>
              <a:t xml:space="preserve"/>
            </a:r>
          </a:p>
          <a:p>
            <a:r>
              <a:t xml:space="preserve">**Transition:**</a:t>
            </a:r>
          </a:p>
          <a:p>
            <a:r>
              <a:t xml:space="preserve">“부족한 것뿐 아니라 겹쳐 쌓인 것도 포함해, 내 업무의 문제 하나를 골라봅시다.”</a:t>
            </a:r>
          </a:p>
          <a:p>
            <a:r>
              <a:t xml:space="preserve"/>
            </a:r>
          </a:p>
          <a:p>
            <a:r>
              <a:t xml:space="preserve">**Time Management:**</a:t>
            </a:r>
          </a:p>
          <a:p>
            <a:r>
              <a:t xml:space="preserve">Lecture2분. 0:00–0:25 연결 질문,0:25–1:25 도식·범위 설명,1:25–2:00 판단 경계와 다음 장 연결. 외부 사례의 수치·상세 아키텍처 설명을 확장하지 않는다. 초과하면 예시 설명을 줄이고 근거 경계를 유지한다.</a:t>
            </a:r>
          </a:p>
          <a:p>
            <a:r>
              <a:t xml:space="preserve"/>
            </a:r>
          </a:p>
          <a:p>
            <a:r>
              <a:t xml:space="preserve">**Fallback:**</a:t>
            </a:r>
          </a:p>
          <a:p>
            <a:r>
              <a:t xml:space="preserve">LOCAL STATIC ARTIFACT — production/ACT_5.pptx의 S113와 production/preview/act5/S113.png. Native 도식은 공개 사례 각색/교육용 판단 모델이며 실행 Screenshot이 아니다.</a:t>
            </a:r>
          </a:p>
          <a:p>
            <a:r>
              <a:t xml:space="preserve"/>
            </a:r>
          </a:p>
          <a:p>
            <a:r>
              <a:t xml:space="preserve">**Validation Status:**</a:t>
            </a:r>
          </a:p>
          <a:p>
            <a:r>
              <a:t xml:space="preserve">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4.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S114 — 내 업무에서는 무엇이 반복해서 막힐까?</a:t>
            </a:r>
          </a:p>
          <a:p>
            <a:r>
              <a:t xml:space="preserve"/>
            </a:r>
          </a:p>
          <a:p>
            <a:r>
              <a:t xml:space="preserve">**Slide ID:**</a:t>
            </a:r>
          </a:p>
          <a:p>
            <a:r>
              <a:t xml:space="preserve">S114</a:t>
            </a:r>
          </a:p>
          <a:p>
            <a:r>
              <a:t xml:space="preserve"/>
            </a:r>
          </a:p>
          <a:p>
            <a:r>
              <a:t xml:space="preserve">**Working Title:**</a:t>
            </a:r>
          </a:p>
          <a:p>
            <a:r>
              <a:t xml:space="preserve">내 업무에서는 무엇이 반복해서 막힐까?</a:t>
            </a:r>
          </a:p>
          <a:p>
            <a:r>
              <a:t xml:space="preserve"/>
            </a:r>
          </a:p>
          <a:p>
            <a:r>
              <a:t xml:space="preserve">**ACT / Section:**</a:t>
            </a:r>
          </a:p>
          <a:p>
            <a:r>
              <a:t xml:space="preserve">ACT 5 / 5B  C++ VISION / MY REPOSITORY TRANSFER</a:t>
            </a:r>
          </a:p>
          <a:p>
            <a:r>
              <a:t xml:space="preserve"/>
            </a:r>
          </a:p>
          <a:p>
            <a:r>
              <a:t xml:space="preserve">**Allocated Time:**</a:t>
            </a:r>
          </a:p>
          <a:p>
            <a:r>
              <a:t xml:space="preserve">5 minutes</a:t>
            </a:r>
          </a:p>
          <a:p>
            <a:r>
              <a:t xml:space="preserve"/>
            </a:r>
          </a:p>
          <a:p>
            <a:r>
              <a:t xml:space="preserve">**Mode Split:**</a:t>
            </a:r>
          </a:p>
          <a:p>
            <a:r>
              <a:t xml:space="preserve">Case 1분 + Transition 4분</a:t>
            </a:r>
          </a:p>
          <a:p>
            <a:r>
              <a:t xml:space="preserve"/>
            </a:r>
          </a:p>
          <a:p>
            <a:r>
              <a:t xml:space="preserve">**Primary Message:**</a:t>
            </a:r>
          </a:p>
          <a:p>
            <a:r>
              <a:t xml:space="preserve">기존 A–E 문제의 E를 검토 지적이 다음 수정으로 이어지지 않는 문제로 정렬한다.</a:t>
            </a:r>
          </a:p>
          <a:p>
            <a:r>
              <a:t xml:space="preserve"/>
            </a:r>
          </a:p>
          <a:p>
            <a:r>
              <a:t xml:space="preserve">**Opening Question:**</a:t>
            </a:r>
          </a:p>
          <a:p>
            <a:r>
              <a:t xml:space="preserve">“내 업무에서는 어떤 문제가 반복해서 막히나요?”</a:t>
            </a:r>
          </a:p>
          <a:p>
            <a:r>
              <a:t xml:space="preserve"/>
            </a:r>
          </a:p>
          <a:p>
            <a:r>
              <a:t xml:space="preserve">**Speaker Flow:**</a:t>
            </a:r>
          </a:p>
          <a:p>
            <a:r>
              <a:t xml:space="preserve">1. (0:00–1:00 / Case) C++ Vision 업무 적용을 위한 교육용 질문이다. 실제 회사 사건이나 검증된 도입 순서로 제시하지 않는다.</a:t>
            </a:r>
          </a:p>
          <a:p>
            <a:r>
              <a:t xml:space="preserve">2. (1:00–3:00 / Transition) A 요청 범위, B 반복·중복 지식·지침, C 겹치는 절차·역할, D 검사 기준, E 검토 지적이 다음 수정으로 이어지지 않는 문제를 읽는다. 다섯 항목은 같은 수준의 선택지다. B/C에는 통합·제거 필요도 포함한다.</a:t>
            </a:r>
          </a:p>
          <a:p>
            <a:r>
              <a:t xml:space="preserve">3. (3:00–5:00 / Transition) 가까운 문제 하나를 마음속으로 고르게 한다. E는 검토 지적과 다음 수정 사이에 어떤 근거·판단이 필요한지 생각하는 출발점이다. S115에서 같은 글자의 행동·확인 근거로 연결한다.</a:t>
            </a:r>
          </a:p>
          <a:p>
            <a:r>
              <a:t xml:space="preserve"/>
            </a:r>
          </a:p>
          <a:p>
            <a:r>
              <a:t xml:space="preserve">**Evidence / Source:**</a:t>
            </a:r>
          </a:p>
          <a:p>
            <a:r>
              <a:t xml:space="preserve">TEACHING_MODEL · C++ Vision engineering-pattern transfer. 실제 C++ Project, hardware, toolchain 또는 benchmark 결과는 사용하지 않는다.</a:t>
            </a:r>
          </a:p>
          <a:p>
            <a:r>
              <a:t xml:space="preserve"/>
            </a:r>
          </a:p>
          <a:p>
            <a:r>
              <a:t xml:space="preserve">보존된 상세 출처: BEAT-068–069 · 업무 적용을 위한 교육용 질문</a:t>
            </a:r>
          </a:p>
          <a:p>
            <a:r>
              <a:t xml:space="preserve"/>
            </a:r>
          </a:p>
          <a:p>
            <a:r>
              <a:t xml:space="preserve">**Claim Boundary:**</a:t>
            </a:r>
          </a:p>
          <a:p>
            <a:r>
              <a:t xml:space="preserve">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a:r>
              <a:t xml:space="preserve"/>
            </a:r>
          </a:p>
          <a:p>
            <a:r>
              <a:t xml:space="preserve">보존된 상세 범위: A–E는 같은 수준의 선택지 · 필수 도입 순서나 검증된 C++ 프로젝트 절차가 아님</a:t>
            </a:r>
          </a:p>
          <a:p>
            <a:r>
              <a:t xml:space="preserve"/>
            </a:r>
          </a:p>
          <a:p>
            <a:r>
              <a:t xml:space="preserve">**Beginner Explanation:**</a:t>
            </a:r>
          </a:p>
          <a:p>
            <a:r>
              <a:t xml:space="preserve">영어 Layer 이름보다 내가 겪는 증상을 먼저 읽고 가까운 것 하나를 찾는다.</a:t>
            </a:r>
          </a:p>
          <a:p>
            <a:r>
              <a:t xml:space="preserve"/>
            </a:r>
          </a:p>
          <a:p>
            <a:r>
              <a:t xml:space="preserve">**Advanced Insight:**</a:t>
            </a:r>
          </a:p>
          <a:p>
            <a:r>
              <a:t xml:space="preserve">DEC-0097: Loop는 같은 목표의 구현·검토·수정 반복이다. 새로운 다중 모델 실행·성능·비용 효과는 관찰하지 않았다. 기존 A–E 문제의 E를 검토 지적이 다음 수정으로 이어지지 않는 문제로 정렬한다.</a:t>
            </a:r>
          </a:p>
          <a:p>
            <a:r>
              <a:t xml:space="preserve"/>
            </a:r>
          </a:p>
          <a:p>
            <a:r>
              <a:t xml:space="preserve">**C++ Vision Bridge:**</a:t>
            </a:r>
          </a:p>
          <a:p>
            <a:r>
              <a:t xml:space="preserve">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a:r>
              <a:t xml:space="preserve"/>
            </a:r>
          </a:p>
          <a:p>
            <a:r>
              <a:t xml:space="preserve">**Demo Operation:**</a:t>
            </a:r>
          </a:p>
          <a:p>
            <a:r>
              <a:t xml:space="preserve">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a:r>
              <a:t xml:space="preserve"/>
            </a:r>
          </a:p>
          <a:p>
            <a:r>
              <a:t xml:space="preserve">**Audience Interaction:**</a:t>
            </a:r>
          </a:p>
          <a:p>
            <a:r>
              <a:t xml:space="preserve">청중의 선택 발표·투표·실습·제출을 요구하지 않는다. 고른 문제의 A–E를 마음속에 남기고 S115의 같은 글자로 이어간다.</a:t>
            </a:r>
          </a:p>
          <a:p>
            <a:r>
              <a:t xml:space="preserve"/>
            </a:r>
          </a:p>
          <a:p>
            <a:r>
              <a:t xml:space="preserve">**Transition:**</a:t>
            </a:r>
          </a:p>
          <a:p>
            <a:r>
              <a:t xml:space="preserve">“방금 고른 문제의 같은 글자를 따라, 다음 작업의 작은 행동 하나를 생각해 봅시다.”</a:t>
            </a:r>
          </a:p>
          <a:p>
            <a:r>
              <a:t xml:space="preserve"/>
            </a:r>
          </a:p>
          <a:p>
            <a:r>
              <a:t xml:space="preserve">**Time Management:**</a:t>
            </a:r>
          </a:p>
          <a:p>
            <a:r>
              <a:t xml:space="preserve">Case1분+Transition4분=5분. 1분은 업무 전이의 범위, 나머지는 증상 비교와 개인 선택의 handoff다. 실제 리허설은 미검증이며 새 강의·사례를 추가하지 않는다.</a:t>
            </a:r>
          </a:p>
          <a:p>
            <a:r>
              <a:t xml:space="preserve"/>
            </a:r>
          </a:p>
          <a:p>
            <a:r>
              <a:t xml:space="preserve">**Fallback:**</a:t>
            </a:r>
          </a:p>
          <a:p>
            <a:r>
              <a:t xml:space="preserve">LOCAL STATIC ARTIFACT — production/ACT_5.pptx의 S114와 production/preview/act5/S114.png를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5.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S115 — 고른 문제에서, 다음 행동 하나로</a:t>
            </a:r>
          </a:p>
          <a:p>
            <a:r>
              <a:t xml:space="preserve"/>
            </a:r>
          </a:p>
          <a:p>
            <a:r>
              <a:t xml:space="preserve">**Slide ID:**</a:t>
            </a:r>
          </a:p>
          <a:p>
            <a:r>
              <a:t xml:space="preserve">S115</a:t>
            </a:r>
          </a:p>
          <a:p>
            <a:r>
              <a:t xml:space="preserve"/>
            </a:r>
          </a:p>
          <a:p>
            <a:r>
              <a:t xml:space="preserve">**Working Title:**</a:t>
            </a:r>
          </a:p>
          <a:p>
            <a:r>
              <a:t xml:space="preserve">고른 문제에서, 다음 행동 하나로</a:t>
            </a:r>
          </a:p>
          <a:p>
            <a:r>
              <a:t xml:space="preserve"/>
            </a:r>
          </a:p>
          <a:p>
            <a:r>
              <a:t xml:space="preserve">**ACT / Section:**</a:t>
            </a:r>
          </a:p>
          <a:p>
            <a:r>
              <a:t xml:space="preserve">ACT 5 / 5B  FINAL REFLECTION</a:t>
            </a:r>
          </a:p>
          <a:p>
            <a:r>
              <a:t xml:space="preserve"/>
            </a:r>
          </a:p>
          <a:p>
            <a:r>
              <a:t xml:space="preserve">**Allocated Time:**</a:t>
            </a:r>
          </a:p>
          <a:p>
            <a:r>
              <a:t xml:space="preserve">4 minutes</a:t>
            </a:r>
          </a:p>
          <a:p>
            <a:r>
              <a:t xml:space="preserve"/>
            </a:r>
          </a:p>
          <a:p>
            <a:r>
              <a:t xml:space="preserve">**Mode Split:**</a:t>
            </a:r>
          </a:p>
          <a:p>
            <a:r>
              <a:t xml:space="preserve">Lecture 2분 + Reflection 2분</a:t>
            </a:r>
          </a:p>
          <a:p>
            <a:r>
              <a:t xml:space="preserve"/>
            </a:r>
          </a:p>
          <a:p>
            <a:r>
              <a:t xml:space="preserve">**Primary Message:**</a:t>
            </a:r>
          </a:p>
          <a:p>
            <a:r>
              <a:t xml:space="preserve">선택한 문제의 E에서 검토 지적·다음 수정·완료 기준을 잇는 작은 행동을 고른다.</a:t>
            </a:r>
          </a:p>
          <a:p>
            <a:r>
              <a:t xml:space="preserve"/>
            </a:r>
          </a:p>
          <a:p>
            <a:r>
              <a:t xml:space="preserve">**Opening Question:**</a:t>
            </a:r>
          </a:p>
          <a:p>
            <a:r>
              <a:t xml:space="preserve">“고른 문제에서 무엇을 작게 바꾸고, 어떤 근거로 확인해 볼까요?”</a:t>
            </a:r>
          </a:p>
          <a:p>
            <a:r>
              <a:t xml:space="preserve"/>
            </a:r>
          </a:p>
          <a:p>
            <a:r>
              <a:t xml:space="preserve">**Speaker Flow:**</a:t>
            </a:r>
          </a:p>
          <a:p>
            <a:r>
              <a:t xml:space="preserve">1. (0:00–1:00 / Lecture) S114에서 고른 같은 글자의 행동을 본다. A 목표·변경 범위 명시, B 출처·검토자와 중복 지침 통합, C 절차·역할 통합·제거 후보, D 완료 판단 검사, E 검토 지적·다음 수정·완료 기준 연결이다. 전부 도입하는 목록이 아니다.</a:t>
            </a:r>
          </a:p>
          <a:p>
            <a:r>
              <a:t xml:space="preserve">2. (1:00–2:00 / Lecture) 확인할 근거 하나를 함께 생각한다. E라면 지적·수정 diff·같은 기준의 재검사·미해결 항목을 볼 수 있다. B/C 통합·제거는 같은 대표 작업의 결과·회귀·남은 위험을 대조해야 하며 유지·되돌림도 가능하다. 모두 앞으로 확인할 자료 후보이지 실행·개선 결과가 아니다.</a:t>
            </a:r>
          </a:p>
          <a:p>
            <a:r>
              <a:t xml:space="preserve">3. (2:00–4:00 / Reflection) 문제→작은 행동→확인 근거를 마음속으로 연결한다. 기록·발표·실습·제출은 요구하지 않는다. S116–S118의 찾아보기에서 팁 위치만 짚고 S119 Q&amp;A/Closing으로 넘어간다.</a:t>
            </a:r>
          </a:p>
          <a:p>
            <a:r>
              <a:t xml:space="preserve"/>
            </a:r>
          </a:p>
          <a:p>
            <a:r>
              <a:t xml:space="preserve">**Evidence / Source:**</a:t>
            </a:r>
          </a:p>
          <a:p>
            <a:r>
              <a:t xml:space="preserve">TEACHING_MODEL · 승인된 private reflection prompt. 개인 업무에 대한 새 관찰 근거는 수집하지 않는다.</a:t>
            </a:r>
          </a:p>
          <a:p>
            <a:r>
              <a:t xml:space="preserve"/>
            </a:r>
          </a:p>
          <a:p>
            <a:r>
              <a:t xml:space="preserve">보존된 상세 출처: BEAT-070–071 · 다음 행동과 확인 근거를 떠올리는 개인 성찰</a:t>
            </a:r>
          </a:p>
          <a:p>
            <a:r>
              <a:t xml:space="preserve"/>
            </a:r>
          </a:p>
          <a:p>
            <a:r>
              <a:t xml:space="preserve">**Claim Boundary:**</a:t>
            </a:r>
          </a:p>
          <a:p>
            <a:r>
              <a:t xml:space="preserve">개인 Reflection이며 응답, 공유, written commitment 또는 실제 업무 변경을 요구하지 않는다. 통합·제거의 성공·비용 절감·품질 유지 결과는 관찰하지 않았다.</a:t>
            </a:r>
          </a:p>
          <a:p>
            <a:r>
              <a:t xml:space="preserve"/>
            </a:r>
          </a:p>
          <a:p>
            <a:r>
              <a:t xml:space="preserve">보존된 상세 범위: 마음속으로 떠올리는 시간 · 기록·발표·제출·실천 약속은 요구하지 않음</a:t>
            </a:r>
          </a:p>
          <a:p>
            <a:r>
              <a:t xml:space="preserve"/>
            </a:r>
          </a:p>
          <a:p>
            <a:r>
              <a:t xml:space="preserve">**Beginner Explanation:**</a:t>
            </a:r>
          </a:p>
          <a:p>
            <a:r>
              <a:t xml:space="preserve">고른 문제 하나에 대해 다음 작업에서 작게 달리할 행동과 확인할 자료 하나를 떠올린다.</a:t>
            </a:r>
          </a:p>
          <a:p>
            <a:r>
              <a:t xml:space="preserve"/>
            </a:r>
          </a:p>
          <a:p>
            <a:r>
              <a:t xml:space="preserve">**Advanced Insight:**</a:t>
            </a:r>
          </a:p>
          <a:p>
            <a:r>
              <a:t xml:space="preserve">DEC-0097: Loop는 같은 목표의 구현·검토·수정 반복이다. 새로운 다중 모델 실행·성능·비용 효과는 관찰하지 않았다. 선택한 문제의 E에서 검토 지적·다음 수정·완료 기준을 잇는 작은 행동을 고른다.</a:t>
            </a:r>
          </a:p>
          <a:p>
            <a:r>
              <a:t xml:space="preserve"/>
            </a:r>
          </a:p>
          <a:p>
            <a:r>
              <a:t xml:space="preserve">**C++ Vision Bridge:**</a:t>
            </a:r>
          </a:p>
          <a:p>
            <a:r>
              <a:t xml:space="preserve">자신의 Vision 또는 개발 Repository에 같은 질문을 개인적으로 적용할 수 있다.</a:t>
            </a:r>
          </a:p>
          <a:p>
            <a:r>
              <a:t xml:space="preserve"/>
            </a:r>
          </a:p>
          <a:p>
            <a:r>
              <a:t xml:space="preserve">**Demo Operation:**</a:t>
            </a:r>
          </a:p>
          <a:p>
            <a:r>
              <a:t xml:space="preserve">왼쪽 A–E 행동은 S114과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a:r>
              <a:t xml:space="preserve"/>
            </a:r>
          </a:p>
          <a:p>
            <a:r>
              <a:t xml:space="preserve">**Audience Interaction:**</a:t>
            </a:r>
          </a:p>
          <a:p>
            <a:r>
              <a:t xml:space="preserve">개인 성찰2분. 하나의 행동과 확인 근거를 마음속으로 고르게 하고 공유나 실천 약속을 받지 않는다. 침묵을 허용하며 응답을 기다리지 않고 정해진 시점에 Q&amp;A로 넘긴다.</a:t>
            </a:r>
          </a:p>
          <a:p>
            <a:r>
              <a:t xml:space="preserve"/>
            </a:r>
          </a:p>
          <a:p>
            <a:r>
              <a:t xml:space="preserve">**Transition:**</a:t>
            </a:r>
          </a:p>
          <a:p>
            <a:r>
              <a:t xml:space="preserve">“마지막 질문을 받기 전에, 실무에서 다시 찾아볼 팁의 위치를 한 번에 정리하겠습니다.”라고 S116의 마지막 찾아보기를 연다.</a:t>
            </a:r>
          </a:p>
          <a:p>
            <a:r>
              <a:t xml:space="preserve"/>
            </a:r>
          </a:p>
          <a:p>
            <a:r>
              <a:t xml:space="preserve">**Time Management:**</a:t>
            </a:r>
          </a:p>
          <a:p>
            <a:r>
              <a:t xml:space="preserve">Lecture2분+Reflection2분=4분. S114의 증상을 다시 읽거나 다섯 기술을 재강의하지 않는다. Reflection은2분에 끝내고 Q&amp;A와 구분한다.</a:t>
            </a:r>
          </a:p>
          <a:p>
            <a:r>
              <a:t xml:space="preserve"/>
            </a:r>
          </a:p>
          <a:p>
            <a:r>
              <a:t xml:space="preserve">**Fallback:**</a:t>
            </a:r>
          </a:p>
          <a:p>
            <a:r>
              <a:t xml:space="preserve">LOCAL STATIC ARTIFACT — production/ACT_5.pptx의 S115와 production/preview/act5/S115.png를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6.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S116 — 실무 적용 팁 · 작업 환경과 기준</a:t>
            </a:r>
          </a:p>
          <a:p>
            <a:r>
              <a:t xml:space="preserve"/>
            </a:r>
          </a:p>
          <a:p>
            <a:r>
              <a:t xml:space="preserve">**Slide ID:**</a:t>
            </a:r>
          </a:p>
          <a:p>
            <a:r>
              <a:t xml:space="preserve">S116</a:t>
            </a:r>
          </a:p>
          <a:p>
            <a:r>
              <a:t xml:space="preserve"/>
            </a:r>
          </a:p>
          <a:p>
            <a:r>
              <a:t xml:space="preserve">**Working Title:**</a:t>
            </a:r>
          </a:p>
          <a:p>
            <a:r>
              <a:t xml:space="preserve">실무 적용 팁 · 작업 환경과 기준</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작업 환경과 기준의 팁 위치는 S13, S48, S55–S57, S61, S66, S71, S73, S83, S102다. 공식 안내 각색과 기존 관찰의 근거를 각 장의 범위로 유지한다.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새 S55–S57은 “AGENTS.md의 위치와 적용 범위” 한 항목으로 묶어 위치만 짚는다. 전체 팁을 다시 설명하지 않고 기존1분을 유지한다.</a:t>
            </a:r>
          </a:p>
          <a:p>
            <a:r>
              <a:t xml:space="preserve">1. (0:00–0:15 / Lecture) 마지막 통합 찾아보기이며 필요할 때 해당 장으로 돌아오는 목록임을 알린다.</a:t>
            </a:r>
          </a:p>
          <a:p>
            <a:r>
              <a:t xml:space="preserve">2. (0:15–0:45 / Lecture) S13 개발 프로젝트 조사는 Codex에서 시작한다 / S48 AGENTS.md에는 무엇을 남길까? / S61 테스트 명령을 언제 쓰고 무엇을 판단할까? / S66 대화로 재사용할 Skill 만들기 / S71 대화로 조사 Agent 만들기 / S73 이번 Context와 다시 쓸 지식 / S83 반복 보정을 개선으로 잇는 기록. 새 S66/S71을 포함해 제목·위치만 짚고 본문을 다시 강의하지 않는다.</a:t>
            </a:r>
          </a:p>
          <a:p>
            <a:r>
              <a:t xml:space="preserve">3. (0:45–1:00 / Lecture) 요청 작성 팁 목록 S117으로 이어간다.</a:t>
            </a:r>
          </a:p>
          <a:p>
            <a:r>
              <a:t xml:space="preserve"/>
            </a:r>
          </a:p>
          <a:p>
            <a:r>
              <a:t xml:space="preserve">**Evidence / Source:**</a:t>
            </a:r>
          </a:p>
          <a:p>
            <a:r>
              <a:t xml:space="preserve">DEC-0088, DEC-0093. 현재 Slide Map의 제목·ID와 실무 팁 목록. S67/S72은 SRC-0111/0112와 CLM-0041/0042의 공식 안내 각색이며 모든 팁의 실제 관찰/연구/가상 경계는 해당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“이제 요청 문장을 작성할 때 바로 참고할 팁을 모아 보겠습니다.”라고 S117으로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production/preview/full/S116.png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7.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S117 — 실무 적용 팁 · 요청 작성</a:t>
            </a:r>
          </a:p>
          <a:p>
            <a:r>
              <a:t xml:space="preserve"/>
            </a:r>
          </a:p>
          <a:p>
            <a:r>
              <a:t xml:space="preserve">**Slide ID:**</a:t>
            </a:r>
          </a:p>
          <a:p>
            <a:r>
              <a:t xml:space="preserve">S117</a:t>
            </a:r>
          </a:p>
          <a:p>
            <a:r>
              <a:t xml:space="preserve"/>
            </a:r>
          </a:p>
          <a:p>
            <a:r>
              <a:t xml:space="preserve">**Working Title:**</a:t>
            </a:r>
          </a:p>
          <a:p>
            <a:r>
              <a:t xml:space="preserve">실무 적용 팁 · 요청 작성</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요청 작성에 필요한 기존 팁의 위치는 S27, S28, S29, S30, S31, S32, S33, S34다. 내용과 근거 범위는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a:r>
              <a:t xml:space="preserve">3. (0:45–1:00 / Lecture) S118로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“요청 뒤에는 근거를 확인하고 기존 구성을 다시 판단할 기준이 필요합니다.”라고 S118로 이어간다.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production/preview/full/S117.png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8.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S118 — 실무 적용 팁 · 검증과 개선</a:t>
            </a:r>
          </a:p>
          <a:p>
            <a:r>
              <a:t xml:space="preserve"/>
            </a:r>
          </a:p>
          <a:p>
            <a:r>
              <a:t xml:space="preserve">**Slide ID:**</a:t>
            </a:r>
          </a:p>
          <a:p>
            <a:r>
              <a:t xml:space="preserve">S118</a:t>
            </a:r>
          </a:p>
          <a:p>
            <a:r>
              <a:t xml:space="preserve"/>
            </a:r>
          </a:p>
          <a:p>
            <a:r>
              <a:t xml:space="preserve">**Working Title:**</a:t>
            </a:r>
          </a:p>
          <a:p>
            <a:r>
              <a:t xml:space="preserve">실무 적용 팁 · 검증과 개선</a:t>
            </a:r>
          </a:p>
          <a:p>
            <a:r>
              <a:t xml:space="preserve"/>
            </a:r>
          </a:p>
          <a:p>
            <a:r>
              <a:t xml:space="preserve">**ACT / Section:**</a:t>
            </a:r>
          </a:p>
          <a:p>
            <a:r>
              <a:t xml:space="preserve">ACT 5 / 5B Final Reference Review</a:t>
            </a:r>
          </a:p>
          <a:p>
            <a:r>
              <a:t xml:space="preserve"/>
            </a:r>
          </a:p>
          <a:p>
            <a:r>
              <a:t xml:space="preserve">**Allocated Time:**</a:t>
            </a:r>
          </a:p>
          <a:p>
            <a:r>
              <a:t xml:space="preserve">1 minute</a:t>
            </a:r>
          </a:p>
          <a:p>
            <a:r>
              <a:t xml:space="preserve"/>
            </a:r>
          </a:p>
          <a:p>
            <a:r>
              <a:t xml:space="preserve">**Mode Split:**</a:t>
            </a:r>
          </a:p>
          <a:p>
            <a:r>
              <a:t xml:space="preserve">Lecture 1분</a:t>
            </a:r>
          </a:p>
          <a:p>
            <a:r>
              <a:t xml:space="preserve"/>
            </a:r>
          </a:p>
          <a:p>
            <a:r>
              <a:t xml:space="preserve">**Primary Message:**</a:t>
            </a:r>
          </a:p>
          <a:p>
            <a:r>
              <a:t xml:space="preserve">검증과 개선의 팁 위치는 S90, S94, S103, S112, S113이다. Goal 작성 예시와 검토·통합·제거 기준의 근거는 각 원래 장을 따른다.</a:t>
            </a:r>
          </a:p>
          <a:p>
            <a:r>
              <a:t xml:space="preserve"/>
            </a:r>
          </a:p>
          <a:p>
            <a:r>
              <a:t xml:space="preserve">**Opening Question:**</a:t>
            </a:r>
          </a:p>
          <a:p>
            <a:r>
              <a:t xml:space="preserve">“필요한 상황에서 어떤 실무 적용 팁을 다시 찾아보면 될까요?”</a:t>
            </a:r>
          </a:p>
          <a:p>
            <a:r>
              <a:t xml:space="preserve"/>
            </a:r>
          </a:p>
          <a:p>
            <a:r>
              <a:t xml:space="preserve">**Speaker Flow:**</a:t>
            </a:r>
          </a:p>
          <a:p>
            <a:r>
              <a:t xml:space="preserve">1. (0:00–0:15 / Lecture) 교육 마지막의 통합 찾아보기임을 알린다.</a:t>
            </a:r>
          </a:p>
          <a:p>
            <a:r>
              <a:t xml:space="preserve">2. (0:15–0:45 / Lecture) S90 원인을 고르기 전에 확인할 기록 / S94 지침을 고친 뒤, 무엇을 다시 확인할까? / S112 무엇을 남기고, 무엇을 덜어낼까? / S113 덜어낸 뒤에도 필요한 일을 하는가?. 제목·위치만 짚고 본문을 다시 강의하지 않는다.</a:t>
            </a:r>
          </a:p>
          <a:p>
            <a:r>
              <a:t xml:space="preserve">3. (0:45–1:00 / Lecture) S119로 이어간다.</a:t>
            </a:r>
          </a:p>
          <a:p>
            <a:r>
              <a:t xml:space="preserve"/>
            </a:r>
          </a:p>
          <a:p>
            <a:r>
              <a:t xml:space="preserve">**Evidence / Source:**</a:t>
            </a:r>
          </a:p>
          <a:p>
            <a:r>
              <a:t xml:space="preserve">DEC-0088. plan/SLIDE_MAP.md의 기존 제목·현재 ID, plan/PRACTICAL_APPLICATION_TIPS.md. 각 팁의 실제 관찰/연구/가상 사례는 원래 장을 따른다.</a:t>
            </a:r>
          </a:p>
          <a:p>
            <a:r>
              <a:t xml:space="preserve"/>
            </a:r>
          </a:p>
          <a:p>
            <a:r>
              <a:t xml:space="preserve">보존된 상세 출처: 기존 팁의 제목·Slide ID를 모은 찾아보기 · DEC-0088</a:t>
            </a:r>
          </a:p>
          <a:p>
            <a:r>
              <a:t xml:space="preserve"/>
            </a:r>
          </a:p>
          <a:p>
            <a:r>
              <a:t xml:space="preserve">**Claim Boundary:**</a:t>
            </a:r>
          </a:p>
          <a:p>
            <a:r>
              <a:t xml:space="preserve">TEACHING MODEL — 기존 제목·위치의 탐색 안내다. 새 제품 기능·Trial·성능·검증 결과를 주장하지 않는다.</a:t>
            </a:r>
          </a:p>
          <a:p>
            <a:r>
              <a:t xml:space="preserve"/>
            </a:r>
          </a:p>
          <a:p>
            <a:r>
              <a:t xml:space="preserve">보존된 상세 범위: 배지는 활용 목적 표시 · 각 팁의 실제 관찰·교육용 예시·제품 확인 범위는 해당 장을 따른다.</a:t>
            </a:r>
          </a:p>
          <a:p>
            <a:r>
              <a:t xml:space="preserve"/>
            </a:r>
          </a:p>
          <a:p>
            <a:r>
              <a:t xml:space="preserve">**Beginner Explanation:**</a:t>
            </a:r>
          </a:p>
          <a:p>
            <a:r>
              <a:t xml:space="preserve">필요한 상황에서 참고할 슬라이드를 찾을 수 있다.</a:t>
            </a:r>
          </a:p>
          <a:p>
            <a:r>
              <a:t xml:space="preserve"/>
            </a:r>
          </a:p>
          <a:p>
            <a:r>
              <a:t xml:space="preserve">**Advanced Insight:**</a:t>
            </a:r>
          </a:p>
          <a:p>
            <a:r>
              <a:t xml:space="preserve">사례의 근거 상태를 유지한 채 재사용할 안내 위치를 구분한다.</a:t>
            </a:r>
          </a:p>
          <a:p>
            <a:r>
              <a:t xml:space="preserve"/>
            </a:r>
          </a:p>
          <a:p>
            <a:r>
              <a:t xml:space="preserve">**C++ Vision Bridge:**</a:t>
            </a:r>
          </a:p>
          <a:p>
            <a:r>
              <a:t xml:space="preserve">N/A — 원래 팁의 적용 범위를 따른다.</a:t>
            </a:r>
          </a:p>
          <a:p>
            <a:r>
              <a:t xml:space="preserve"/>
            </a:r>
          </a:p>
          <a:p>
            <a:r>
              <a:t xml:space="preserve">**Demo Operation:**</a:t>
            </a:r>
          </a:p>
          <a:p>
            <a:r>
              <a:t xml:space="preserve">N/A — 정적 찾아보기. Live·HYBRID·새 Trial은 없다.</a:t>
            </a:r>
          </a:p>
          <a:p>
            <a:r>
              <a:t xml:space="preserve"/>
            </a:r>
          </a:p>
          <a:p>
            <a:r>
              <a:t xml:space="preserve">**Audience Interaction:**</a:t>
            </a:r>
          </a:p>
          <a:p>
            <a:r>
              <a:t xml:space="preserve">제목·위치만 안내하며 응답·실습·결과 제출을 요구하지 않는다.</a:t>
            </a:r>
          </a:p>
          <a:p>
            <a:r>
              <a:t xml:space="preserve"/>
            </a:r>
          </a:p>
          <a:p>
            <a:r>
              <a:t xml:space="preserve">**Transition:**</a:t>
            </a:r>
          </a:p>
          <a:p>
            <a:r>
              <a:t xml:space="preserve">“생각한 한 가지는 마음속에 두고, 이제 남은 질문을 받겠습니다.”</a:t>
            </a:r>
          </a:p>
          <a:p>
            <a:r>
              <a:t xml:space="preserve"/>
            </a:r>
          </a:p>
          <a:p>
            <a:r>
              <a:t xml:space="preserve">**Time Management:**</a:t>
            </a:r>
          </a:p>
          <a:p>
            <a:r>
              <a:t xml:space="preserve">Lecture 1분. 세 찾아보기의 합계는3분이다. 기존 본문·Q&amp;A 시간을 줄이거나 중복 계산하지 않는다. 설명이 길어지면 제목만 안내하고 다음 장으로 이동한다. 실측 리허설 UNVERIFIED.</a:t>
            </a:r>
          </a:p>
          <a:p>
            <a:r>
              <a:t xml:space="preserve"/>
            </a:r>
          </a:p>
          <a:p>
            <a:r>
              <a:t xml:space="preserve">**Fallback:**</a:t>
            </a:r>
          </a:p>
          <a:p>
            <a:r>
              <a:t xml:space="preserve">LOCAL STATIC ARTIFACT — production/preview/full/S118.png 또는 production/ACT_5.pptx의 같은 장. 실제 제품 실행으로 대신하지 않는다.</a:t>
            </a:r>
          </a:p>
          <a:p>
            <a:r>
              <a:t xml:space="preserve"/>
            </a:r>
          </a:p>
          <a:p>
            <a:r>
              <a:t xml:space="preserve">**Validation Status:**</a:t>
            </a:r>
          </a:p>
          <a:p>
            <a:r>
              <a:t xml:space="preserve">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9.xml><?xml version="1.0" encoding="utf-8"?>
<p:notes xmlns:p="http://schemas.openxmlformats.org/presentationml/2006/main" xmlns:a="http://schemas.openxmlformats.org/drawing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a:r>
              <a:t xml:space="preserve">## S119 — Q&amp;A와 교육 마무리</a:t>
            </a:r>
          </a:p>
          <a:p>
            <a:r>
              <a:t xml:space="preserve"/>
            </a:r>
          </a:p>
          <a:p>
            <a:r>
              <a:t xml:space="preserve">**Slide ID:**</a:t>
            </a:r>
          </a:p>
          <a:p>
            <a:r>
              <a:t xml:space="preserve">S119</a:t>
            </a:r>
          </a:p>
          <a:p>
            <a:r>
              <a:t xml:space="preserve"/>
            </a:r>
          </a:p>
          <a:p>
            <a:r>
              <a:t xml:space="preserve">**Working Title:**</a:t>
            </a:r>
          </a:p>
          <a:p>
            <a:r>
              <a:t xml:space="preserve">Q&amp;A와 교육 마무리</a:t>
            </a:r>
          </a:p>
          <a:p>
            <a:r>
              <a:t xml:space="preserve"/>
            </a:r>
          </a:p>
          <a:p>
            <a:r>
              <a:t xml:space="preserve">**ACT / Section:**</a:t>
            </a:r>
          </a:p>
          <a:p>
            <a:r>
              <a:t xml:space="preserve">ACT 5 / 5B  FINAL Q&amp;A / CLOSING</a:t>
            </a:r>
          </a:p>
          <a:p>
            <a:r>
              <a:t xml:space="preserve"/>
            </a:r>
          </a:p>
          <a:p>
            <a:r>
              <a:t xml:space="preserve">**Allocated Time:**</a:t>
            </a:r>
          </a:p>
          <a:p>
            <a:r>
              <a:t xml:space="preserve">6 minutes</a:t>
            </a:r>
          </a:p>
          <a:p>
            <a:r>
              <a:t xml:space="preserve"/>
            </a:r>
          </a:p>
          <a:p>
            <a:r>
              <a:t xml:space="preserve">**Mode Split:**</a:t>
            </a:r>
          </a:p>
          <a:p>
            <a:r>
              <a:t xml:space="preserve">Q&amp;A 4분 + Closing Transition 2분</a:t>
            </a:r>
          </a:p>
          <a:p>
            <a:r>
              <a:t xml:space="preserve"/>
            </a:r>
          </a:p>
          <a:p>
            <a:r>
              <a:t xml:space="preserve">**Primary Message:**</a:t>
            </a:r>
          </a:p>
          <a:p>
            <a:r>
              <a:t xml:space="preserve">남은 질문을 받은 뒤 Chatbot→Prompt→Context→Harness→Loop의 같은 용어로 여정을 닫는다. 목표·판단·검증·책임을 유지하며 AI가 잘 일할 환경을 설계한다.</a:t>
            </a:r>
          </a:p>
          <a:p>
            <a:r>
              <a:t xml:space="preserve"/>
            </a:r>
          </a:p>
          <a:p>
            <a:r>
              <a:t xml:space="preserve">**Opening Question:**</a:t>
            </a:r>
          </a:p>
          <a:p>
            <a:r>
              <a:t xml:space="preserve">“남은 질문은 무엇인가요?”</a:t>
            </a:r>
          </a:p>
          <a:p>
            <a:r>
              <a:t xml:space="preserve"/>
            </a:r>
          </a:p>
          <a:p>
            <a:r>
              <a:t xml:space="preserve">**Speaker Flow:**</a:t>
            </a:r>
          </a:p>
          <a:p>
            <a:r>
              <a:t xml:space="preserve">1. (0:00–4:00 / Q&amp;A) 상단의 남은 질문은 무엇인가요를 가리키며 질문을 받는다. S115에서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a:r>
              <a:t xml:space="preserve">2. (4:00–6:00 / Closing Transition) 질문을 마감한다. 중앙의 AI가 잘 일할 환경을 설계한다를 남기고 하단의 Chatbot→Prompt→Context→Harness→Loop를 짧게 회수한다. S106과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a:r>
              <a:t xml:space="preserve">3. 종료 Cue: “목표·판단·검증·책임을 유지하면서, AI가 잘 일할 환경을 설계합시다.”</a:t>
            </a:r>
          </a:p>
          <a:p>
            <a:r>
              <a:t xml:space="preserve"/>
            </a:r>
          </a:p>
          <a:p>
            <a:r>
              <a:t xml:space="preserve">**Evidence / Source:**</a:t>
            </a:r>
          </a:p>
          <a:p>
            <a:r>
              <a:t xml:space="preserve">TEACHING_MODEL · BEAT-070–071. 새로운 Product claim이나 기술 개념은 추가하지 않는다.</a:t>
            </a:r>
          </a:p>
          <a:p>
            <a:r>
              <a:t xml:space="preserve"/>
            </a:r>
          </a:p>
          <a:p>
            <a:r>
              <a:t xml:space="preserve">보존된 상세 출처: BEAT-070–071 · 이 교육의 마무리</a:t>
            </a:r>
          </a:p>
          <a:p>
            <a:r>
              <a:t xml:space="preserve"/>
            </a:r>
          </a:p>
          <a:p>
            <a:r>
              <a:t xml:space="preserve">**Claim Boundary:**</a:t>
            </a:r>
          </a:p>
          <a:p>
            <a:r>
              <a:t xml:space="preserve">AI-Native Development의 course-specific framing으로 닫는다. 제품 기능, 자동화 수준 또는 모든 상황의 단일 처방을 주장하지 않는다.</a:t>
            </a:r>
          </a:p>
          <a:p>
            <a:r>
              <a:t xml:space="preserve"/>
            </a:r>
          </a:p>
          <a:p>
            <a:r>
              <a:t xml:space="preserve">보존된 상세 범위: 목표 · 판단 · 검증 · 책임은 개발자에게 남는다.</a:t>
            </a:r>
          </a:p>
          <a:p>
            <a:r>
              <a:t xml:space="preserve"/>
            </a:r>
          </a:p>
          <a:p>
            <a:r>
              <a:t xml:space="preserve">**Beginner Explanation:**</a:t>
            </a:r>
          </a:p>
          <a:p>
            <a:r>
              <a:t xml:space="preserve">문제에 맞는 작은 대응과 결과를 확인할 근거를 기억한다.</a:t>
            </a:r>
          </a:p>
          <a:p>
            <a:r>
              <a:t xml:space="preserve"/>
            </a:r>
          </a:p>
          <a:p>
            <a:r>
              <a:t xml:space="preserve">**Advanced Insight:**</a:t>
            </a:r>
          </a:p>
          <a:p>
            <a:r>
              <a:t xml:space="preserve">위임과 작업 System의 설계·평가·피드백을 개발자의 판단과 책임에 연결한다.</a:t>
            </a:r>
          </a:p>
          <a:p>
            <a:r>
              <a:t xml:space="preserve"/>
            </a:r>
          </a:p>
          <a:p>
            <a:r>
              <a:t xml:space="preserve">**C++ Vision Bridge:**</a:t>
            </a:r>
          </a:p>
          <a:p>
            <a:r>
              <a:t xml:space="preserve">N/A.</a:t>
            </a:r>
          </a:p>
          <a:p>
            <a:r>
              <a:t xml:space="preserve"/>
            </a:r>
          </a:p>
          <a:p>
            <a:r>
              <a:t xml:space="preserve">**Demo Operation:**</a:t>
            </a:r>
          </a:p>
          <a:p>
            <a:r>
              <a:t xml:space="preserve">추가 실행 없음. Q&amp;A 때는 위쪽 질문, 종료 때는 중앙 한 문장과 아래 여정에 발표자 초점을 옮긴다. 원래 전체 교육 모델의 다섯 이름만 사용한다. 운영 지시와 시간표는 Notes에 둔다.</a:t>
            </a:r>
          </a:p>
          <a:p>
            <a:r>
              <a:t xml:space="preserve"/>
            </a:r>
          </a:p>
          <a:p>
            <a:r>
              <a:t xml:space="preserve">**Audience Interaction:**</a:t>
            </a:r>
          </a:p>
          <a:p>
            <a:r>
              <a:t xml:space="preserve">Q&amp;A4분. 질문이 없으면 기존 교육 범위의 확인 질문 하나로 운영한다. S115 개인 성찰을 공개 제출·실천 약속으로 바꾸지 않는다.</a:t>
            </a:r>
          </a:p>
          <a:p>
            <a:r>
              <a:t xml:space="preserve"/>
            </a:r>
          </a:p>
          <a:p>
            <a:r>
              <a:t xml:space="preserve">**Transition:**</a:t>
            </a:r>
          </a:p>
          <a:p>
            <a:r>
              <a:t xml:space="preserve">Q&amp;A4분 뒤 Closing Transition2분. Chatbot → Prompt → Context → Harness → Loop와 마지막 한 문장으로 교육 종료.</a:t>
            </a:r>
          </a:p>
          <a:p>
            <a:r>
              <a:t xml:space="preserve"/>
            </a:r>
          </a:p>
          <a:p>
            <a:r>
              <a:t xml:space="preserve">**Time Management:**</a:t>
            </a:r>
          </a:p>
          <a:p>
            <a:r>
              <a:t xml:space="preserve">Q&amp;A4분+Closing Transition2분=6분. 4분에 질문을 마감하고 마지막2분에 새로운 개념·다른 분류·추가 행동 선택을 열지 않는다.</a:t>
            </a:r>
          </a:p>
          <a:p>
            <a:r>
              <a:t xml:space="preserve"/>
            </a:r>
          </a:p>
          <a:p>
            <a:r>
              <a:t xml:space="preserve">**Fallback:**</a:t>
            </a:r>
          </a:p>
          <a:p>
            <a:r>
              <a:t xml:space="preserve">LOCAL STATIC ARTIFACT — production/ACT_5.pptx의 S119와 production/preview/act5/S119.png를 사용한다. 새 실행·원본 실행 캡처로 표현하지 않는다. 현재 화면과 Notes 검토는 production/evaluation/ACT_5_HARNESS_REASSESSMENT.md에 기록한다.</a:t>
            </a:r>
          </a:p>
          <a:p>
            <a:r>
              <a:t xml:space="preserve"/>
            </a:r>
          </a:p>
          <a:p>
            <a:r>
              <a:t xml:space="preserve">**Validation Status:**</a:t>
            </a:r>
          </a:p>
          <a:p>
            <a:r>
              <a:t xml:space="preserve">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60945d4019f4f1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a1c492aa54646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83b534ef07a4fb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490adf4f165483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fd002056b89472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040d69655354df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BD30A64-254B-4379-A77B-77BB0394802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CAF1F6-0999-4B0F-A2A9-550B01B30A8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2C72B0E-78C9-461D-BC00-365E2254C9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751DFB-4E43-4FD5-ABBB-7449FA2298A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92E0C1-69BA-4DF8-A3CD-EB6EA93780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8B37A1E-1242-4FAD-8A86-A62E46159B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91E09D-51DF-4749-B128-F5D664A5C56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E762E85-6976-4CDC-9B1B-A67B26D30B2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2BDE1D-A165-42D7-B9F3-B3ADC4D097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3EB9C9-E771-4460-AB3A-35AADD64795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1084a09b15847d1" /><Relationship Type="http://schemas.openxmlformats.org/officeDocument/2006/relationships/slideLayout" Target="/ppt/slideLayouts/slideLayout1.xml" Id="Rd233ee0337834b15" /><Relationship Type="http://schemas.openxmlformats.org/officeDocument/2006/relationships/slideLayout" Target="/ppt/slideLayouts/slideLayout2.xml" Id="R2f5f986aaff44e4d" /><Relationship Type="http://schemas.openxmlformats.org/officeDocument/2006/relationships/slideLayout" Target="/ppt/slideLayouts/slideLayout3.xml" Id="Rd418a04664e74bec" /><Relationship Type="http://schemas.openxmlformats.org/officeDocument/2006/relationships/slideLayout" Target="/ppt/slideLayouts/slideLayout4.xml" Id="R7b16115897214c5e" /><Relationship Type="http://schemas.openxmlformats.org/officeDocument/2006/relationships/slideLayout" Target="/ppt/slideLayouts/slideLayout5.xml" Id="R543cfe0c94904890" /><Relationship Type="http://schemas.openxmlformats.org/officeDocument/2006/relationships/slideLayout" Target="/ppt/slideLayouts/slideLayout6.xml" Id="Rdddcac70a37e4e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233ee0337834b15"/>
    <p:sldLayoutId xmlns:r="http://schemas.openxmlformats.org/officeDocument/2006/relationships" id="2147483650" r:id="R2f5f986aaff44e4d"/>
    <p:sldLayoutId xmlns:r="http://schemas.openxmlformats.org/officeDocument/2006/relationships" id="2147483651" r:id="Rd418a04664e74bec"/>
    <p:sldLayoutId xmlns:r="http://schemas.openxmlformats.org/officeDocument/2006/relationships" id="2147483652" r:id="R7b16115897214c5e"/>
    <p:sldLayoutId xmlns:r="http://schemas.openxmlformats.org/officeDocument/2006/relationships" id="2147483653" r:id="R543cfe0c94904890"/>
    <p:sldLayoutId xmlns:r="http://schemas.openxmlformats.org/officeDocument/2006/relationships" id="2147483654" r:id="Rdddcac70a37e4e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79916df7e1343c0" /><Relationship Type="http://schemas.openxmlformats.org/officeDocument/2006/relationships/notesSlide" Target="/ppt/notesSlides/notesSlide1.xml" Id="R1af8ad587cd5481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2165e772b6c4732" /><Relationship Type="http://schemas.openxmlformats.org/officeDocument/2006/relationships/image" Target="/ppt/media/image.png" Id="R166c35cae5a64865" /><Relationship Type="http://schemas.openxmlformats.org/officeDocument/2006/relationships/notesSlide" Target="/ppt/notesSlides/notesSlide2.xml" Id="R4314e12303674f3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2aeebab47284aa9" /><Relationship Type="http://schemas.openxmlformats.org/officeDocument/2006/relationships/notesSlide" Target="/ppt/notesSlides/notesSlide3.xml" Id="R8f8452e14ca5464c" /></Relationships>
</file>

<file path=ppt/slides/_rels/slide4.xml.rels><?xml version="1.0" encoding="utf-8"?><Relationships xmlns="http://schemas.openxmlformats.org/package/2006/relationships"><Relationship Type="http://schemas.openxmlformats.org/officeDocument/2006/relationships/slideLayout" Target="/ppt/slideLayouts/slideLayout6.xml" Id="R2b4c2e9edb4c4480"/><Relationship Type="http://schemas.openxmlformats.org/officeDocument/2006/relationships/notesSlide" Target="/ppt/notesSlides/notesSlide4.xml" Id="Ra75387b975d94fc5"/></Relationships>
</file>

<file path=ppt/slides/_rels/slide5.xml.rels><?xml version="1.0" encoding="utf-8"?><Relationships xmlns="http://schemas.openxmlformats.org/package/2006/relationships"><Relationship Type="http://schemas.openxmlformats.org/officeDocument/2006/relationships/slideLayout" Target="/ppt/slideLayouts/slideLayout6.xml" Id="R5dafc72350204936" /><Relationship Type="http://schemas.openxmlformats.org/officeDocument/2006/relationships/notesSlide" Target="/ppt/notesSlides/notesSlide5.xml" Id="R9ae57bcc4bdf46b3" /></Relationships>
</file>

<file path=ppt/slides/_rels/slide6.xml.rels><?xml version="1.0" encoding="utf-8"?><Relationships xmlns="http://schemas.openxmlformats.org/package/2006/relationships"><Relationship Type="http://schemas.openxmlformats.org/officeDocument/2006/relationships/slideLayout" Target="/ppt/slideLayouts/slideLayout6.xml" Id="R1feda55846d84b69" /><Relationship Type="http://schemas.openxmlformats.org/officeDocument/2006/relationships/image" Target="/ppt/media/image2.png" Id="R32c280ad15ca4b01" /><Relationship Type="http://schemas.openxmlformats.org/officeDocument/2006/relationships/notesSlide" Target="/ppt/notesSlides/notesSlide6.xml" Id="R711be33dce134c3c" /></Relationships>
</file>

<file path=ppt/slides/_rels/slide7.xml.rels><?xml version="1.0" encoding="utf-8"?><Relationships xmlns="http://schemas.openxmlformats.org/package/2006/relationships"><Relationship Type="http://schemas.openxmlformats.org/officeDocument/2006/relationships/slideLayout" Target="/ppt/slideLayouts/slideLayout6.xml" Id="R103e0ea30b744db4" /><Relationship Type="http://schemas.openxmlformats.org/officeDocument/2006/relationships/notesSlide" Target="/ppt/notesSlides/notesSlide7.xml" Id="R991e81781d5a4372" /></Relationships>
</file>

<file path=ppt/slides/_rels/slide8.xml.rels><?xml version="1.0" encoding="utf-8"?><Relationships xmlns="http://schemas.openxmlformats.org/package/2006/relationships"><Relationship Type="http://schemas.openxmlformats.org/officeDocument/2006/relationships/slideLayout" Target="/ppt/slideLayouts/slideLayout6.xml" Id="Ra5a36c6eb71b4319" /><Relationship Type="http://schemas.openxmlformats.org/officeDocument/2006/relationships/notesSlide" Target="/ppt/notesSlides/notesSlide8.xml" Id="Rde3d30e8745f47d1" /></Relationships>
</file>

<file path=ppt/slides/_rels/slide9.xml.rels><?xml version="1.0" encoding="utf-8"?><Relationships xmlns="http://schemas.openxmlformats.org/package/2006/relationships"><Relationship Type="http://schemas.openxmlformats.org/officeDocument/2006/relationships/slideLayout" Target="/ppt/slideLayouts/slideLayout6.xml" Id="Rb00f9dd7147e4bb8" /><Relationship Type="http://schemas.openxmlformats.org/officeDocument/2006/relationships/notesSlide" Target="/ppt/notesSlides/notesSlide9.xml" Id="R1948821319014729" /></Relationships>
</file>

<file path=ppt/slides/_rels/slide10.xml.rels><?xml version="1.0" encoding="utf-8"?><Relationships xmlns="http://schemas.openxmlformats.org/package/2006/relationships"><Relationship Type="http://schemas.openxmlformats.org/officeDocument/2006/relationships/slideLayout" Target="/ppt/slideLayouts/slideLayout6.xml" Id="Rd7d1ddacc2a4451a" /><Relationship Type="http://schemas.openxmlformats.org/officeDocument/2006/relationships/notesSlide" Target="/ppt/notesSlides/notesSlide10.xml" Id="R785b9a9a4b3c4206" /></Relationships>
</file>

<file path=ppt/slides/_rels/slide11.xml.rels><?xml version="1.0" encoding="utf-8"?><Relationships xmlns="http://schemas.openxmlformats.org/package/2006/relationships"><Relationship Type="http://schemas.openxmlformats.org/officeDocument/2006/relationships/slideLayout" Target="/ppt/slideLayouts/slideLayout6.xml" Id="Rd15472a27a484ea4"/><Relationship Type="http://schemas.openxmlformats.org/officeDocument/2006/relationships/image" Target="/ppt/media/image3.png" Id="Rc4b2358a560b4548"/><Relationship Type="http://schemas.openxmlformats.org/officeDocument/2006/relationships/notesSlide" Target="/ppt/notesSlides/notesSlide11.xml" Id="R149468e77d4d43d2"/><Relationship Id="rIdProductUi" Type="http://schemas.openxmlformats.org/officeDocument/2006/relationships/image" Target="../media/S11-chatgpt-web.png"/></Relationships>
</file>

<file path=ppt/slides/_rels/slide12.xml.rels><?xml version="1.0" encoding="utf-8"?><Relationships xmlns="http://schemas.openxmlformats.org/package/2006/relationships"><Relationship Type="http://schemas.openxmlformats.org/officeDocument/2006/relationships/slideLayout" Target="/ppt/slideLayouts/slideLayout6.xml" Id="Re1b30d06e66340c7"/><Relationship Type="http://schemas.openxmlformats.org/officeDocument/2006/relationships/image" Target="/ppt/media/image4.png" Id="R31004c676db84349"/><Relationship Type="http://schemas.openxmlformats.org/officeDocument/2006/relationships/notesSlide" Target="/ppt/notesSlides/notesSlide12.xml" Id="R6fc04e52d96b45fc"/><Relationship Id="rIdProductUi" Type="http://schemas.openxmlformats.org/officeDocument/2006/relationships/image" Target="../media/S12-codex-project.png"/></Relationships>
</file>

<file path=ppt/slides/_rels/slide13.xml.rels><?xml version="1.0" encoding="utf-8"?><Relationships xmlns="http://schemas.openxmlformats.org/package/2006/relationships"><Relationship Type="http://schemas.openxmlformats.org/officeDocument/2006/relationships/slideLayout" Target="/ppt/slideLayouts/slideLayout6.xml" Id="R3a71a5cecf494895" /><Relationship Type="http://schemas.openxmlformats.org/officeDocument/2006/relationships/notesSlide" Target="/ppt/notesSlides/notesSlide13.xml" Id="Rc532fc53a2434c8a" /></Relationships>
</file>

<file path=ppt/slides/_rels/slide14.xml.rels><?xml version="1.0" encoding="utf-8"?><Relationships xmlns="http://schemas.openxmlformats.org/package/2006/relationships"><Relationship Type="http://schemas.openxmlformats.org/officeDocument/2006/relationships/slideLayout" Target="/ppt/slideLayouts/slideLayout6.xml" Id="R0932c1de0a8841d3" /><Relationship Type="http://schemas.openxmlformats.org/officeDocument/2006/relationships/image" Target="/ppt/media/image5.png" Id="R0a194c35d74f41a3" /><Relationship Type="http://schemas.openxmlformats.org/officeDocument/2006/relationships/image" Target="/ppt/media/image6.png" Id="R2e0815be805b4602" /><Relationship Type="http://schemas.openxmlformats.org/officeDocument/2006/relationships/image" Target="/ppt/media/image7.png" Id="R49aa97b3d5a04545" /><Relationship Type="http://schemas.openxmlformats.org/officeDocument/2006/relationships/notesSlide" Target="/ppt/notesSlides/notesSlide14.xml" Id="R3425e30a83524fe9" /></Relationships>
</file>

<file path=ppt/slides/_rels/slide15.xml.rels><?xml version="1.0" encoding="utf-8"?><Relationships xmlns="http://schemas.openxmlformats.org/package/2006/relationships"><Relationship Type="http://schemas.openxmlformats.org/officeDocument/2006/relationships/slideLayout" Target="/ppt/slideLayouts/slideLayout6.xml" Id="Rbc86d1ae9543496c"/><Relationship Type="http://schemas.openxmlformats.org/officeDocument/2006/relationships/notesSlide" Target="/ppt/notesSlides/notesSlide15.xml" Id="R2cc36672ded34c82"/></Relationships>
</file>

<file path=ppt/slides/_rels/slide16.xml.rels><?xml version="1.0" encoding="utf-8"?><Relationships xmlns="http://schemas.openxmlformats.org/package/2006/relationships"><Relationship Type="http://schemas.openxmlformats.org/officeDocument/2006/relationships/slideLayout" Target="/ppt/slideLayouts/slideLayout6.xml" Id="R94f82fb1fd3d49e1"/><Relationship Type="http://schemas.openxmlformats.org/officeDocument/2006/relationships/image" Target="/ppt/media/image8.png" Id="R2efa1f36d4c346d5"/><Relationship Type="http://schemas.openxmlformats.org/officeDocument/2006/relationships/image" Target="/ppt/media/image9.png" Id="R5a17842974b84b23"/><Relationship Type="http://schemas.openxmlformats.org/officeDocument/2006/relationships/image" Target="/ppt/media/image10.png" Id="Rc8496ccfbdb24bbd"/><Relationship Type="http://schemas.openxmlformats.org/officeDocument/2006/relationships/notesSlide" Target="/ppt/notesSlides/notesSlide16.xml" Id="Rc08dc7fbcbd84338"/></Relationships>
</file>

<file path=ppt/slides/_rels/slide17.xml.rels><?xml version="1.0" encoding="utf-8"?><Relationships xmlns="http://schemas.openxmlformats.org/package/2006/relationships"><Relationship Type="http://schemas.openxmlformats.org/officeDocument/2006/relationships/slideLayout" Target="/ppt/slideLayouts/slideLayout6.xml" Id="Rf942763dc26745cc"/><Relationship Type="http://schemas.openxmlformats.org/officeDocument/2006/relationships/image" Target="/ppt/media/image11.png" Id="Rb45237697da14b98"/><Relationship Type="http://schemas.openxmlformats.org/officeDocument/2006/relationships/notesSlide" Target="/ppt/notesSlides/notesSlide17.xml" Id="R06f8a877baaf45b2"/></Relationships>
</file>

<file path=ppt/slides/_rels/slide18.xml.rels><?xml version="1.0" encoding="utf-8"?><Relationships xmlns="http://schemas.openxmlformats.org/package/2006/relationships"><Relationship Type="http://schemas.openxmlformats.org/officeDocument/2006/relationships/slideLayout" Target="/ppt/slideLayouts/slideLayout6.xml" Id="R6e647ebdd4334133"/><Relationship Type="http://schemas.openxmlformats.org/officeDocument/2006/relationships/image" Target="/ppt/media/image12.png" Id="R81713f9dcd884bf4"/><Relationship Type="http://schemas.openxmlformats.org/officeDocument/2006/relationships/notesSlide" Target="/ppt/notesSlides/notesSlide18.xml" Id="R6fb5276abe7941d0"/></Relationships>
</file>

<file path=ppt/slides/_rels/slide19.xml.rels><?xml version="1.0" encoding="utf-8"?><Relationships xmlns="http://schemas.openxmlformats.org/package/2006/relationships"><Relationship Type="http://schemas.openxmlformats.org/officeDocument/2006/relationships/slideLayout" Target="/ppt/slideLayouts/slideLayout6.xml" Id="R39de8e9d68904bb8"/><Relationship Type="http://schemas.openxmlformats.org/officeDocument/2006/relationships/notesSlide" Target="/ppt/notesSlides/notesSlide19.xml" Id="Rc75a195855f14ad6"/></Relationships>
</file>

<file path=ppt/slides/_rels/slide20.xml.rels><?xml version="1.0" encoding="utf-8"?><Relationships xmlns="http://schemas.openxmlformats.org/package/2006/relationships"><Relationship Type="http://schemas.openxmlformats.org/officeDocument/2006/relationships/slideLayout" Target="/ppt/slideLayouts/slideLayout6.xml" Id="R693d96199f1f4efb"/><Relationship Type="http://schemas.openxmlformats.org/officeDocument/2006/relationships/notesSlide" Target="/ppt/notesSlides/notesSlide20.xml" Id="Ra6ad3e79cf3245b4"/></Relationships>
</file>

<file path=ppt/slides/_rels/slide21.xml.rels><?xml version="1.0" encoding="utf-8"?><Relationships xmlns="http://schemas.openxmlformats.org/package/2006/relationships"><Relationship Type="http://schemas.openxmlformats.org/officeDocument/2006/relationships/slideLayout" Target="/ppt/slideLayouts/slideLayout6.xml" Id="Rd1df4d96fb934631"/><Relationship Type="http://schemas.openxmlformats.org/officeDocument/2006/relationships/notesSlide" Target="/ppt/notesSlides/notesSlide21.xml" Id="R4792164f98424cd4"/></Relationships>
</file>

<file path=ppt/slides/_rels/slide22.xml.rels><?xml version="1.0" encoding="utf-8"?><Relationships xmlns="http://schemas.openxmlformats.org/package/2006/relationships"><Relationship Type="http://schemas.openxmlformats.org/officeDocument/2006/relationships/slideLayout" Target="/ppt/slideLayouts/slideLayout6.xml" Id="R5d6fdb91f6c749e9"/><Relationship Type="http://schemas.openxmlformats.org/officeDocument/2006/relationships/notesSlide" Target="/ppt/notesSlides/notesSlide22.xml" Id="R54f20733bb7944bf"/></Relationships>
</file>

<file path=ppt/slides/_rels/slide23.xml.rels><?xml version="1.0" encoding="utf-8"?><Relationships xmlns="http://schemas.openxmlformats.org/package/2006/relationships"><Relationship Type="http://schemas.openxmlformats.org/officeDocument/2006/relationships/slideLayout" Target="/ppt/slideLayouts/slideLayout6.xml" Id="R14e40d28c8eb402a"/><Relationship Type="http://schemas.openxmlformats.org/officeDocument/2006/relationships/notesSlide" Target="/ppt/notesSlides/notesSlide23.xml" Id="Rd9144291845145ef"/></Relationships>
</file>

<file path=ppt/slides/_rels/slide24.xml.rels><?xml version="1.0" encoding="utf-8"?><Relationships xmlns="http://schemas.openxmlformats.org/package/2006/relationships"><Relationship Type="http://schemas.openxmlformats.org/officeDocument/2006/relationships/slideLayout" Target="/ppt/slideLayouts/slideLayout6.xml" Id="R57b46db97083401e"/><Relationship Type="http://schemas.openxmlformats.org/officeDocument/2006/relationships/notesSlide" Target="/ppt/notesSlides/notesSlide24.xml" Id="R576996315fe9456a"/></Relationships>
</file>

<file path=ppt/slides/_rels/slide25.xml.rels><?xml version="1.0" encoding="utf-8"?><Relationships xmlns="http://schemas.openxmlformats.org/package/2006/relationships"><Relationship Type="http://schemas.openxmlformats.org/officeDocument/2006/relationships/slideLayout" Target="/ppt/slideLayouts/slideLayout6.xml" Id="Rf719519429ab499f"/><Relationship Type="http://schemas.openxmlformats.org/officeDocument/2006/relationships/notesSlide" Target="/ppt/notesSlides/notesSlide25.xml" Id="R5b0a6ebd2da54a31"/></Relationships>
</file>

<file path=ppt/slides/_rels/slide26.xml.rels><?xml version="1.0" encoding="utf-8"?><Relationships xmlns="http://schemas.openxmlformats.org/package/2006/relationships"><Relationship Type="http://schemas.openxmlformats.org/officeDocument/2006/relationships/slideLayout" Target="/ppt/slideLayouts/slideLayout6.xml" Id="R51b9f04474604d28"/><Relationship Type="http://schemas.openxmlformats.org/officeDocument/2006/relationships/notesSlide" Target="/ppt/notesSlides/notesSlide26.xml" Id="R67557043997c4b2f"/></Relationships>
</file>

<file path=ppt/slides/_rels/slide27.xml.rels><?xml version="1.0" encoding="utf-8"?><Relationships xmlns="http://schemas.openxmlformats.org/package/2006/relationships"><Relationship Type="http://schemas.openxmlformats.org/officeDocument/2006/relationships/slideLayout" Target="/ppt/slideLayouts/slideLayout6.xml" Id="Rc258987384ac4d43"/><Relationship Type="http://schemas.openxmlformats.org/officeDocument/2006/relationships/notesSlide" Target="/ppt/notesSlides/notesSlide27.xml" Id="Rff27a015abf24948"/></Relationships>
</file>

<file path=ppt/slides/_rels/slide28.xml.rels><?xml version="1.0" encoding="utf-8"?><Relationships xmlns="http://schemas.openxmlformats.org/package/2006/relationships"><Relationship Type="http://schemas.openxmlformats.org/officeDocument/2006/relationships/slideLayout" Target="/ppt/slideLayouts/slideLayout6.xml" Id="Rfb901af085124628"/><Relationship Type="http://schemas.openxmlformats.org/officeDocument/2006/relationships/notesSlide" Target="/ppt/notesSlides/notesSlide28.xml" Id="R3a498e5233dc4a5a"/></Relationships>
</file>

<file path=ppt/slides/_rels/slide29.xml.rels><?xml version="1.0" encoding="utf-8"?><Relationships xmlns="http://schemas.openxmlformats.org/package/2006/relationships"><Relationship Type="http://schemas.openxmlformats.org/officeDocument/2006/relationships/slideLayout" Target="/ppt/slideLayouts/slideLayout6.xml" Id="Rdc5bb51bb3434724"/><Relationship Type="http://schemas.openxmlformats.org/officeDocument/2006/relationships/notesSlide" Target="/ppt/notesSlides/notesSlide29.xml" Id="Rca442c894a154a13"/></Relationships>
</file>

<file path=ppt/slides/_rels/slide30.xml.rels><?xml version="1.0" encoding="utf-8"?><Relationships xmlns="http://schemas.openxmlformats.org/package/2006/relationships"><Relationship Type="http://schemas.openxmlformats.org/officeDocument/2006/relationships/slideLayout" Target="/ppt/slideLayouts/slideLayout6.xml" Id="R528a4ac3a8344e6f"/><Relationship Type="http://schemas.openxmlformats.org/officeDocument/2006/relationships/notesSlide" Target="/ppt/notesSlides/notesSlide30.xml" Id="R613eb6ac2da543d3"/></Relationships>
</file>

<file path=ppt/slides/_rels/slide31.xml.rels><?xml version="1.0" encoding="utf-8"?><Relationships xmlns="http://schemas.openxmlformats.org/package/2006/relationships"><Relationship Type="http://schemas.openxmlformats.org/officeDocument/2006/relationships/slideLayout" Target="/ppt/slideLayouts/slideLayout6.xml" Id="R0ad4ae7139c54630"/><Relationship Type="http://schemas.openxmlformats.org/officeDocument/2006/relationships/notesSlide" Target="/ppt/notesSlides/notesSlide31.xml" Id="R3f20303f114447e2"/></Relationships>
</file>

<file path=ppt/slides/_rels/slide32.xml.rels><?xml version="1.0" encoding="utf-8"?><Relationships xmlns="http://schemas.openxmlformats.org/package/2006/relationships"><Relationship Type="http://schemas.openxmlformats.org/officeDocument/2006/relationships/slideLayout" Target="/ppt/slideLayouts/slideLayout6.xml" Id="R5a097e6674c64ad9"/><Relationship Type="http://schemas.openxmlformats.org/officeDocument/2006/relationships/notesSlide" Target="/ppt/notesSlides/notesSlide32.xml" Id="R0acbc4fac3ad4c39"/></Relationships>
</file>

<file path=ppt/slides/_rels/slide33.xml.rels><?xml version="1.0" encoding="utf-8"?><Relationships xmlns="http://schemas.openxmlformats.org/package/2006/relationships"><Relationship Type="http://schemas.openxmlformats.org/officeDocument/2006/relationships/slideLayout" Target="/ppt/slideLayouts/slideLayout6.xml" Id="R7f50f77b0e5b4bf4"/><Relationship Type="http://schemas.openxmlformats.org/officeDocument/2006/relationships/notesSlide" Target="/ppt/notesSlides/notesSlide33.xml" Id="R840a07ea16114c83"/></Relationships>
</file>

<file path=ppt/slides/_rels/slide34.xml.rels><?xml version="1.0" encoding="utf-8"?><Relationships xmlns="http://schemas.openxmlformats.org/package/2006/relationships"><Relationship Type="http://schemas.openxmlformats.org/officeDocument/2006/relationships/slideLayout" Target="/ppt/slideLayouts/slideLayout6.xml" Id="R391973fa4d4c4528"/><Relationship Type="http://schemas.openxmlformats.org/officeDocument/2006/relationships/notesSlide" Target="/ppt/notesSlides/notesSlide34.xml" Id="Re0b8525972544589"/></Relationships>
</file>

<file path=ppt/slides/_rels/slide35.xml.rels><?xml version="1.0" encoding="utf-8"?><Relationships xmlns="http://schemas.openxmlformats.org/package/2006/relationships"><Relationship Type="http://schemas.openxmlformats.org/officeDocument/2006/relationships/slideLayout" Target="/ppt/slideLayouts/slideLayout6.xml" Id="R2c002f7bc4514c33"/><Relationship Type="http://schemas.openxmlformats.org/officeDocument/2006/relationships/notesSlide" Target="/ppt/notesSlides/notesSlide35.xml" Id="R7efc610a93a54954"/></Relationships>
</file>

<file path=ppt/slides/_rels/slide36.xml.rels><?xml version="1.0" encoding="utf-8"?><Relationships xmlns="http://schemas.openxmlformats.org/package/2006/relationships"><Relationship Type="http://schemas.openxmlformats.org/officeDocument/2006/relationships/slideLayout" Target="/ppt/slideLayouts/slideLayout6.xml" Id="Rec5a23af53ca4c78"/><Relationship Type="http://schemas.openxmlformats.org/officeDocument/2006/relationships/notesSlide" Target="/ppt/notesSlides/notesSlide36.xml" Id="R497580c3f0c3424c"/></Relationships>
</file>

<file path=ppt/slides/_rels/slide37.xml.rels><?xml version="1.0" encoding="utf-8"?><Relationships xmlns="http://schemas.openxmlformats.org/package/2006/relationships"><Relationship Type="http://schemas.openxmlformats.org/officeDocument/2006/relationships/slideLayout" Target="/ppt/slideLayouts/slideLayout6.xml" Id="Rc9eaaf9a90b14d53"/><Relationship Type="http://schemas.openxmlformats.org/officeDocument/2006/relationships/notesSlide" Target="/ppt/notesSlides/notesSlide37.xml" Id="Rd075c9a9e36d48b4"/></Relationships>
</file>

<file path=ppt/slides/_rels/slide38.xml.rels><?xml version="1.0" encoding="utf-8"?><Relationships xmlns="http://schemas.openxmlformats.org/package/2006/relationships"><Relationship Type="http://schemas.openxmlformats.org/officeDocument/2006/relationships/slideLayout" Target="/ppt/slideLayouts/slideLayout6.xml" Id="R01b16e5cacac4c41"/><Relationship Type="http://schemas.openxmlformats.org/officeDocument/2006/relationships/notesSlide" Target="/ppt/notesSlides/notesSlide38.xml" Id="Ra72fc7dcfd7b41b1"/></Relationships>
</file>

<file path=ppt/slides/_rels/slide39.xml.rels><?xml version="1.0" encoding="utf-8"?><Relationships xmlns="http://schemas.openxmlformats.org/package/2006/relationships"><Relationship Type="http://schemas.openxmlformats.org/officeDocument/2006/relationships/slideLayout" Target="/ppt/slideLayouts/slideLayout6.xml" Id="R007511a518ff4525"/><Relationship Type="http://schemas.openxmlformats.org/officeDocument/2006/relationships/notesSlide" Target="/ppt/notesSlides/notesSlide39.xml" Id="R68e31d9f2fc14051"/></Relationships>
</file>

<file path=ppt/slides/_rels/slide40.xml.rels><?xml version="1.0" encoding="utf-8"?><Relationships xmlns="http://schemas.openxmlformats.org/package/2006/relationships"><Relationship Type="http://schemas.openxmlformats.org/officeDocument/2006/relationships/slideLayout" Target="/ppt/slideLayouts/slideLayout6.xml" Id="R06e56cb0a35a44a6"/><Relationship Type="http://schemas.openxmlformats.org/officeDocument/2006/relationships/notesSlide" Target="/ppt/notesSlides/notesSlide40.xml" Id="R1c812969c94f4890"/></Relationships>
</file>

<file path=ppt/slides/_rels/slide41.xml.rels><?xml version="1.0" encoding="utf-8"?><Relationships xmlns="http://schemas.openxmlformats.org/package/2006/relationships"><Relationship Type="http://schemas.openxmlformats.org/officeDocument/2006/relationships/slideLayout" Target="/ppt/slideLayouts/slideLayout6.xml" Id="Rc63960e478f44ba0"/><Relationship Type="http://schemas.openxmlformats.org/officeDocument/2006/relationships/image" Target="/ppt/media/image13.png" Id="Ra2c2df2b248644e1"/><Relationship Type="http://schemas.openxmlformats.org/officeDocument/2006/relationships/image" Target="/ppt/media/image14.png" Id="R72384f96cf10468c"/><Relationship Type="http://schemas.openxmlformats.org/officeDocument/2006/relationships/notesSlide" Target="/ppt/notesSlides/notesSlide41.xml" Id="R9dcd712c96cb4920"/></Relationships>
</file>

<file path=ppt/slides/_rels/slide42.xml.rels><?xml version="1.0" encoding="utf-8"?><Relationships xmlns="http://schemas.openxmlformats.org/package/2006/relationships"><Relationship Type="http://schemas.openxmlformats.org/officeDocument/2006/relationships/slideLayout" Target="/ppt/slideLayouts/slideLayout6.xml" Id="R0b891b6ae719447b"/><Relationship Type="http://schemas.openxmlformats.org/officeDocument/2006/relationships/image" Target="/ppt/media/image15.png" Id="R05dd841e246a4bca"/><Relationship Type="http://schemas.openxmlformats.org/officeDocument/2006/relationships/notesSlide" Target="/ppt/notesSlides/notesSlide42.xml" Id="Rb3607c7c5ecc4fd4"/></Relationships>
</file>

<file path=ppt/slides/_rels/slide43.xml.rels><?xml version="1.0" encoding="utf-8"?><Relationships xmlns="http://schemas.openxmlformats.org/package/2006/relationships"><Relationship Type="http://schemas.openxmlformats.org/officeDocument/2006/relationships/slideLayout" Target="/ppt/slideLayouts/slideLayout6.xml" Id="R2cc15d7163564e26"/><Relationship Type="http://schemas.openxmlformats.org/officeDocument/2006/relationships/notesSlide" Target="/ppt/notesSlides/notesSlide43.xml" Id="R3f6a00bc3ef44a1b"/></Relationships>
</file>

<file path=ppt/slides/_rels/slide44.xml.rels><?xml version="1.0" encoding="utf-8"?><Relationships xmlns="http://schemas.openxmlformats.org/package/2006/relationships"><Relationship Type="http://schemas.openxmlformats.org/officeDocument/2006/relationships/slideLayout" Target="/ppt/slideLayouts/slideLayout6.xml" Id="R9311ca4a8a8348f3"/><Relationship Type="http://schemas.openxmlformats.org/officeDocument/2006/relationships/notesSlide" Target="/ppt/notesSlides/notesSlide44.xml" Id="R1c76f09a75e243d8"/></Relationships>
</file>

<file path=ppt/slides/_rels/slide45.xml.rels><?xml version="1.0" encoding="utf-8"?><Relationships xmlns="http://schemas.openxmlformats.org/package/2006/relationships"><Relationship Type="http://schemas.openxmlformats.org/officeDocument/2006/relationships/slideLayout" Target="/ppt/slideLayouts/slideLayout6.xml" Id="R6967597e80c34965"/><Relationship Type="http://schemas.openxmlformats.org/officeDocument/2006/relationships/notesSlide" Target="/ppt/notesSlides/notesSlide45.xml" Id="R4c7fbbd0eaca47b2"/></Relationships>
</file>

<file path=ppt/slides/_rels/slide46.xml.rels><?xml version="1.0" encoding="utf-8"?><Relationships xmlns="http://schemas.openxmlformats.org/package/2006/relationships"><Relationship Type="http://schemas.openxmlformats.org/officeDocument/2006/relationships/slideLayout" Target="/ppt/slideLayouts/slideLayout6.xml" Id="R91d0bd7a350c402d"/><Relationship Type="http://schemas.openxmlformats.org/officeDocument/2006/relationships/notesSlide" Target="/ppt/notesSlides/notesSlide46.xml" Id="R7fc76b79800c4517"/></Relationships>
</file>

<file path=ppt/slides/_rels/slide47.xml.rels><?xml version="1.0" encoding="utf-8"?><Relationships xmlns="http://schemas.openxmlformats.org/package/2006/relationships"><Relationship Type="http://schemas.openxmlformats.org/officeDocument/2006/relationships/slideLayout" Target="/ppt/slideLayouts/slideLayout6.xml" Id="Rd316b761801843be"/><Relationship Type="http://schemas.openxmlformats.org/officeDocument/2006/relationships/notesSlide" Target="/ppt/notesSlides/notesSlide47.xml" Id="Rddf3b25f9736491c"/></Relationships>
</file>

<file path=ppt/slides/_rels/slide48.xml.rels><?xml version="1.0" encoding="utf-8"?><Relationships xmlns="http://schemas.openxmlformats.org/package/2006/relationships"><Relationship Type="http://schemas.openxmlformats.org/officeDocument/2006/relationships/slideLayout" Target="/ppt/slideLayouts/slideLayout6.xml" Id="R1a9f7b09a7b7459d"/><Relationship Type="http://schemas.openxmlformats.org/officeDocument/2006/relationships/notesSlide" Target="/ppt/notesSlides/notesSlide48.xml" Id="R3e24ddfd65984de7"/></Relationships>
</file>

<file path=ppt/slides/_rels/slide49.xml.rels><?xml version="1.0" encoding="utf-8"?><Relationships xmlns="http://schemas.openxmlformats.org/package/2006/relationships"><Relationship Type="http://schemas.openxmlformats.org/officeDocument/2006/relationships/slideLayout" Target="/ppt/slideLayouts/slideLayout6.xml" Id="R2ca8a0b691624094"/><Relationship Type="http://schemas.openxmlformats.org/officeDocument/2006/relationships/notesSlide" Target="/ppt/notesSlides/notesSlide49.xml" Id="Rf4c40cfa733f4d6f"/></Relationships>
</file>

<file path=ppt/slides/_rels/slide50.xml.rels><?xml version="1.0" encoding="utf-8"?><Relationships xmlns="http://schemas.openxmlformats.org/package/2006/relationships"><Relationship Type="http://schemas.openxmlformats.org/officeDocument/2006/relationships/slideLayout" Target="/ppt/slideLayouts/slideLayout6.xml" Id="R3428ef6e2ec24726"/><Relationship Type="http://schemas.openxmlformats.org/officeDocument/2006/relationships/notesSlide" Target="/ppt/notesSlides/notesSlide50.xml" Id="R57634cd0349c4959"/></Relationships>
</file>

<file path=ppt/slides/_rels/slide51.xml.rels><?xml version="1.0" encoding="utf-8"?><Relationships xmlns="http://schemas.openxmlformats.org/package/2006/relationships"><Relationship Type="http://schemas.openxmlformats.org/officeDocument/2006/relationships/slideLayout" Target="/ppt/slideLayouts/slideLayout6.xml" Id="R20e9d29fdb1c43a0"/><Relationship Type="http://schemas.openxmlformats.org/officeDocument/2006/relationships/notesSlide" Target="/ppt/notesSlides/notesSlide51.xml" Id="Re888c36c54cf4b94"/></Relationships>
</file>

<file path=ppt/slides/_rels/slide52.xml.rels><?xml version="1.0" encoding="utf-8"?><Relationships xmlns="http://schemas.openxmlformats.org/package/2006/relationships"><Relationship Type="http://schemas.openxmlformats.org/officeDocument/2006/relationships/slideLayout" Target="/ppt/slideLayouts/slideLayout6.xml" Id="R155d617a4fe64e7b"/><Relationship Type="http://schemas.openxmlformats.org/officeDocument/2006/relationships/notesSlide" Target="/ppt/notesSlides/notesSlide52.xml" Id="R47ee9cce5b494bbf"/></Relationships>
</file>

<file path=ppt/slides/_rels/slide53.xml.rels><?xml version="1.0" encoding="utf-8"?><Relationships xmlns="http://schemas.openxmlformats.org/package/2006/relationships"><Relationship Type="http://schemas.openxmlformats.org/officeDocument/2006/relationships/slideLayout" Target="/ppt/slideLayouts/slideLayout6.xml" Id="Rc660c7b0c7044d2a"/><Relationship Type="http://schemas.openxmlformats.org/officeDocument/2006/relationships/notesSlide" Target="/ppt/notesSlides/notesSlide53.xml" Id="R65929069c5bf430e"/></Relationships>
</file>

<file path=ppt/slides/_rels/slide54.xml.rels><?xml version="1.0" encoding="utf-8"?><Relationships xmlns="http://schemas.openxmlformats.org/package/2006/relationships"><Relationship Type="http://schemas.openxmlformats.org/officeDocument/2006/relationships/slideLayout" Target="/ppt/slideLayouts/slideLayout6.xml" Id="Re9bc63cfa05c4c8d"/><Relationship Type="http://schemas.openxmlformats.org/officeDocument/2006/relationships/notesSlide" Target="/ppt/notesSlides/notesSlide54.xml" Id="Rcdd85d3d7ee74629"/></Relationships>
</file>

<file path=ppt/slides/_rels/slide55.xml.rels><?xml version="1.0" encoding="utf-8"?><Relationships xmlns="http://schemas.openxmlformats.org/package/2006/relationships"><Relationship Type="http://schemas.openxmlformats.org/officeDocument/2006/relationships/slideLayout" Target="/ppt/slideLayouts/slideLayout6.xml" Id="R4f3f0b9e46444438"/><Relationship Type="http://schemas.openxmlformats.org/officeDocument/2006/relationships/notesSlide" Target="/ppt/notesSlides/notesSlide55.xml" Id="R2fb43c6f70404522"/></Relationships>
</file>

<file path=ppt/slides/_rels/slide56.xml.rels><?xml version="1.0" encoding="utf-8"?><Relationships xmlns="http://schemas.openxmlformats.org/package/2006/relationships"><Relationship Type="http://schemas.openxmlformats.org/officeDocument/2006/relationships/slideLayout" Target="/ppt/slideLayouts/slideLayout6.xml" Id="Rf9b181a721ea4b18"/><Relationship Type="http://schemas.openxmlformats.org/officeDocument/2006/relationships/notesSlide" Target="/ppt/notesSlides/notesSlide56.xml" Id="R20a4959413924f22"/></Relationships>
</file>

<file path=ppt/slides/_rels/slide57.xml.rels><?xml version="1.0" encoding="utf-8"?><Relationships xmlns="http://schemas.openxmlformats.org/package/2006/relationships"><Relationship Type="http://schemas.openxmlformats.org/officeDocument/2006/relationships/slideLayout" Target="/ppt/slideLayouts/slideLayout6.xml" Id="Rba57701f641f4d65"/><Relationship Type="http://schemas.openxmlformats.org/officeDocument/2006/relationships/notesSlide" Target="/ppt/notesSlides/notesSlide57.xml" Id="R438ccbd9d6504e36"/></Relationships>
</file>

<file path=ppt/slides/_rels/slide58.xml.rels><?xml version="1.0" encoding="utf-8"?><Relationships xmlns="http://schemas.openxmlformats.org/package/2006/relationships"><Relationship Type="http://schemas.openxmlformats.org/officeDocument/2006/relationships/slideLayout" Target="/ppt/slideLayouts/slideLayout6.xml" Id="R3d60f040df744a36"/><Relationship Type="http://schemas.openxmlformats.org/officeDocument/2006/relationships/notesSlide" Target="/ppt/notesSlides/notesSlide58.xml" Id="Raa20956d6d1b4479"/></Relationships>
</file>

<file path=ppt/slides/_rels/slide59.xml.rels><?xml version="1.0" encoding="utf-8"?><Relationships xmlns="http://schemas.openxmlformats.org/package/2006/relationships"><Relationship Type="http://schemas.openxmlformats.org/officeDocument/2006/relationships/slideLayout" Target="/ppt/slideLayouts/slideLayout6.xml" Id="Rcef566e4003a4b25"/><Relationship Type="http://schemas.openxmlformats.org/officeDocument/2006/relationships/notesSlide" Target="/ppt/notesSlides/notesSlide59.xml" Id="R54ba7668537b43fe"/></Relationships>
</file>

<file path=ppt/slides/_rels/slide60.xml.rels><?xml version="1.0" encoding="utf-8"?><Relationships xmlns="http://schemas.openxmlformats.org/package/2006/relationships"><Relationship Type="http://schemas.openxmlformats.org/officeDocument/2006/relationships/slideLayout" Target="/ppt/slideLayouts/slideLayout6.xml" Id="R3337c18cf1e045bd"/><Relationship Type="http://schemas.openxmlformats.org/officeDocument/2006/relationships/image" Target="/ppt/media/image16.png" Id="R2d4c45c5b4fd41f7"/><Relationship Type="http://schemas.openxmlformats.org/officeDocument/2006/relationships/image" Target="/ppt/media/image17.png" Id="Rc08951a4c1184da2"/><Relationship Type="http://schemas.openxmlformats.org/officeDocument/2006/relationships/notesSlide" Target="/ppt/notesSlides/notesSlide60.xml" Id="Rf4394eb0efae4bc2"/></Relationships>
</file>

<file path=ppt/slides/_rels/slide61.xml.rels><?xml version="1.0" encoding="utf-8"?><Relationships xmlns="http://schemas.openxmlformats.org/package/2006/relationships"><Relationship Type="http://schemas.openxmlformats.org/officeDocument/2006/relationships/slideLayout" Target="/ppt/slideLayouts/slideLayout6.xml" Id="R2d18b6cf2a8242bb"/><Relationship Type="http://schemas.openxmlformats.org/officeDocument/2006/relationships/notesSlide" Target="/ppt/notesSlides/notesSlide61.xml" Id="Rf2667cbaf12645c5"/></Relationships>
</file>

<file path=ppt/slides/_rels/slide62.xml.rels><?xml version="1.0" encoding="utf-8"?><Relationships xmlns="http://schemas.openxmlformats.org/package/2006/relationships"><Relationship Type="http://schemas.openxmlformats.org/officeDocument/2006/relationships/slideLayout" Target="/ppt/slideLayouts/slideLayout6.xml" Id="Raf5c822f6d824712"/><Relationship Type="http://schemas.openxmlformats.org/officeDocument/2006/relationships/notesSlide" Target="/ppt/notesSlides/notesSlide62.xml" Id="Rd8f3f37e8c0e4855"/></Relationships>
</file>

<file path=ppt/slides/_rels/slide63.xml.rels><?xml version="1.0" encoding="utf-8"?><Relationships xmlns="http://schemas.openxmlformats.org/package/2006/relationships"><Relationship Type="http://schemas.openxmlformats.org/officeDocument/2006/relationships/slideLayout" Target="/ppt/slideLayouts/slideLayout6.xml" Id="R4555fbd5a9d746b3"/><Relationship Type="http://schemas.openxmlformats.org/officeDocument/2006/relationships/notesSlide" Target="/ppt/notesSlides/notesSlide63.xml" Id="R85a14c9750344ec0"/></Relationships>
</file>

<file path=ppt/slides/_rels/slide64.xml.rels><?xml version="1.0" encoding="utf-8"?><Relationships xmlns="http://schemas.openxmlformats.org/package/2006/relationships"><Relationship Type="http://schemas.openxmlformats.org/officeDocument/2006/relationships/slideLayout" Target="/ppt/slideLayouts/slideLayout6.xml" Id="R512eccc3c88542ce"/><Relationship Type="http://schemas.openxmlformats.org/officeDocument/2006/relationships/notesSlide" Target="/ppt/notesSlides/notesSlide64.xml" Id="Raf1d5a7b0c524dfa"/></Relationships>
</file>

<file path=ppt/slides/_rels/slide65.xml.rels><?xml version="1.0" encoding="utf-8"?><Relationships xmlns="http://schemas.openxmlformats.org/package/2006/relationships"><Relationship Type="http://schemas.openxmlformats.org/officeDocument/2006/relationships/slideLayout" Target="/ppt/slideLayouts/slideLayout6.xml" Id="R5063de0ef4a442ab"/><Relationship Type="http://schemas.openxmlformats.org/officeDocument/2006/relationships/notesSlide" Target="/ppt/notesSlides/notesSlide65.xml" Id="Rad52161ddcca407b"/></Relationships>
</file>

<file path=ppt/slides/_rels/slide66.xml.rels><?xml version="1.0" encoding="utf-8"?><Relationships xmlns="http://schemas.openxmlformats.org/package/2006/relationships"><Relationship Type="http://schemas.openxmlformats.org/officeDocument/2006/relationships/slideLayout" Target="/ppt/slideLayouts/slideLayout6.xml" Id="R6c202077a84e4c02"/><Relationship Type="http://schemas.openxmlformats.org/officeDocument/2006/relationships/notesSlide" Target="/ppt/notesSlides/notesSlide66.xml" Id="R16825de3fab740bf"/></Relationships>
</file>

<file path=ppt/slides/_rels/slide67.xml.rels><?xml version="1.0" encoding="utf-8"?><Relationships xmlns="http://schemas.openxmlformats.org/package/2006/relationships"><Relationship Type="http://schemas.openxmlformats.org/officeDocument/2006/relationships/slideLayout" Target="/ppt/slideLayouts/slideLayout6.xml" Id="Rf1a717a3fb9647c8"/><Relationship Type="http://schemas.openxmlformats.org/officeDocument/2006/relationships/notesSlide" Target="/ppt/notesSlides/notesSlide67.xml" Id="R8b0233aae6a140ac"/></Relationships>
</file>

<file path=ppt/slides/_rels/slide68.xml.rels><?xml version="1.0" encoding="utf-8"?><Relationships xmlns="http://schemas.openxmlformats.org/package/2006/relationships"><Relationship Type="http://schemas.openxmlformats.org/officeDocument/2006/relationships/slideLayout" Target="/ppt/slideLayouts/slideLayout6.xml" Id="R000fadb9970d441f"/><Relationship Type="http://schemas.openxmlformats.org/officeDocument/2006/relationships/notesSlide" Target="/ppt/notesSlides/notesSlide68.xml" Id="R3d7c7a685cac4014"/></Relationships>
</file>

<file path=ppt/slides/_rels/slide69.xml.rels><?xml version="1.0" encoding="utf-8"?><Relationships xmlns="http://schemas.openxmlformats.org/package/2006/relationships"><Relationship Type="http://schemas.openxmlformats.org/officeDocument/2006/relationships/slideLayout" Target="/ppt/slideLayouts/slideLayout6.xml" Id="R93c3e6aad380400e"/><Relationship Type="http://schemas.openxmlformats.org/officeDocument/2006/relationships/chart" Target="/ppt/slides/charts/chart1.xml" Id="R17f0dc71d73a47f9"/><Relationship Type="http://schemas.openxmlformats.org/officeDocument/2006/relationships/notesSlide" Target="/ppt/notesSlides/notesSlide69.xml" Id="Raff3ca3ec59a4149"/></Relationships>
</file>

<file path=ppt/slides/_rels/slide70.xml.rels><?xml version="1.0" encoding="utf-8"?><Relationships xmlns="http://schemas.openxmlformats.org/package/2006/relationships"><Relationship Type="http://schemas.openxmlformats.org/officeDocument/2006/relationships/slideLayout" Target="/ppt/slideLayouts/slideLayout6.xml" Id="R2e17a19683704424"/><Relationship Type="http://schemas.openxmlformats.org/officeDocument/2006/relationships/notesSlide" Target="/ppt/notesSlides/notesSlide70.xml" Id="R1cbda8e4c54b4dd1"/></Relationships>
</file>

<file path=ppt/slides/_rels/slide71.xml.rels><?xml version="1.0" encoding="utf-8"?><Relationships xmlns="http://schemas.openxmlformats.org/package/2006/relationships"><Relationship Type="http://schemas.openxmlformats.org/officeDocument/2006/relationships/slideLayout" Target="/ppt/slideLayouts/slideLayout6.xml" Id="R0a88614b8bfd47c8"/><Relationship Type="http://schemas.openxmlformats.org/officeDocument/2006/relationships/notesSlide" Target="/ppt/notesSlides/notesSlide71.xml" Id="Rc8ffa309e5c34afa"/></Relationships>
</file>

<file path=ppt/slides/_rels/slide72.xml.rels><?xml version="1.0" encoding="utf-8"?><Relationships xmlns="http://schemas.openxmlformats.org/package/2006/relationships"><Relationship Type="http://schemas.openxmlformats.org/officeDocument/2006/relationships/slideLayout" Target="/ppt/slideLayouts/slideLayout6.xml" Id="R1b39ea3a0c344e75"/><Relationship Type="http://schemas.openxmlformats.org/officeDocument/2006/relationships/notesSlide" Target="/ppt/notesSlides/notesSlide72.xml" Id="Rf159e342b5e341d6"/></Relationships>
</file>

<file path=ppt/slides/_rels/slide73.xml.rels><?xml version="1.0" encoding="utf-8"?><Relationships xmlns="http://schemas.openxmlformats.org/package/2006/relationships"><Relationship Type="http://schemas.openxmlformats.org/officeDocument/2006/relationships/slideLayout" Target="/ppt/slideLayouts/slideLayout6.xml" Id="Rcc7c79556b3c44e8"/><Relationship Type="http://schemas.openxmlformats.org/officeDocument/2006/relationships/notesSlide" Target="/ppt/notesSlides/notesSlide73.xml" Id="R63b536d641b84715"/></Relationships>
</file>

<file path=ppt/slides/_rels/slide74.xml.rels><?xml version="1.0" encoding="utf-8"?><Relationships xmlns="http://schemas.openxmlformats.org/package/2006/relationships"><Relationship Type="http://schemas.openxmlformats.org/officeDocument/2006/relationships/slideLayout" Target="/ppt/slideLayouts/slideLayout6.xml" Id="R35f3978e82494274"/><Relationship Type="http://schemas.openxmlformats.org/officeDocument/2006/relationships/notesSlide" Target="/ppt/notesSlides/notesSlide74.xml" Id="R32d6c074a7e4497a"/></Relationships>
</file>

<file path=ppt/slides/_rels/slide75.xml.rels><?xml version="1.0" encoding="utf-8"?><Relationships xmlns="http://schemas.openxmlformats.org/package/2006/relationships"><Relationship Type="http://schemas.openxmlformats.org/officeDocument/2006/relationships/slideLayout" Target="/ppt/slideLayouts/slideLayout6.xml" Id="R6fe0dca14c1f4fd3"/><Relationship Type="http://schemas.openxmlformats.org/officeDocument/2006/relationships/notesSlide" Target="/ppt/notesSlides/notesSlide75.xml" Id="Rc54545c27dea4caf"/></Relationships>
</file>

<file path=ppt/slides/_rels/slide76.xml.rels><?xml version="1.0" encoding="utf-8"?><Relationships xmlns="http://schemas.openxmlformats.org/package/2006/relationships"><Relationship Type="http://schemas.openxmlformats.org/officeDocument/2006/relationships/slideLayout" Target="/ppt/slideLayouts/slideLayout6.xml" Id="R88f114412418432e"/><Relationship Type="http://schemas.openxmlformats.org/officeDocument/2006/relationships/notesSlide" Target="/ppt/notesSlides/notesSlide76.xml" Id="R7f78e7867aa5421f"/></Relationships>
</file>

<file path=ppt/slides/_rels/slide77.xml.rels><?xml version="1.0" encoding="utf-8"?><Relationships xmlns="http://schemas.openxmlformats.org/package/2006/relationships"><Relationship Type="http://schemas.openxmlformats.org/officeDocument/2006/relationships/slideLayout" Target="/ppt/slideLayouts/slideLayout6.xml" Id="Rf02938cab19f4130"/><Relationship Type="http://schemas.openxmlformats.org/officeDocument/2006/relationships/notesSlide" Target="/ppt/notesSlides/notesSlide77.xml" Id="R089a47929ed34abd"/></Relationships>
</file>

<file path=ppt/slides/_rels/slide78.xml.rels><?xml version="1.0" encoding="utf-8"?><Relationships xmlns="http://schemas.openxmlformats.org/package/2006/relationships"><Relationship Type="http://schemas.openxmlformats.org/officeDocument/2006/relationships/slideLayout" Target="/ppt/slideLayouts/slideLayout6.xml" Id="Rb33c76af76314bef"/><Relationship Type="http://schemas.openxmlformats.org/officeDocument/2006/relationships/notesSlide" Target="/ppt/notesSlides/notesSlide78.xml" Id="R3b61134a2a454803"/></Relationships>
</file>

<file path=ppt/slides/_rels/slide79.xml.rels><?xml version="1.0" encoding="utf-8"?><Relationships xmlns="http://schemas.openxmlformats.org/package/2006/relationships"><Relationship Type="http://schemas.openxmlformats.org/officeDocument/2006/relationships/slideLayout" Target="/ppt/slideLayouts/slideLayout6.xml" Id="R5ed7a40cfc3e478b"/><Relationship Type="http://schemas.openxmlformats.org/officeDocument/2006/relationships/notesSlide" Target="/ppt/notesSlides/notesSlide79.xml" Id="R9e690c9a8b01411e"/></Relationships>
</file>

<file path=ppt/slides/_rels/slide80.xml.rels><?xml version="1.0" encoding="utf-8"?><Relationships xmlns="http://schemas.openxmlformats.org/package/2006/relationships"><Relationship Type="http://schemas.openxmlformats.org/officeDocument/2006/relationships/slideLayout" Target="/ppt/slideLayouts/slideLayout6.xml" Id="R1804990a871b4b14"/><Relationship Type="http://schemas.openxmlformats.org/officeDocument/2006/relationships/notesSlide" Target="/ppt/notesSlides/notesSlide80.xml" Id="Rcaebcb7911fd42e4"/></Relationships>
</file>

<file path=ppt/slides/_rels/slide81.xml.rels><?xml version="1.0" encoding="utf-8"?><Relationships xmlns="http://schemas.openxmlformats.org/package/2006/relationships"><Relationship Type="http://schemas.openxmlformats.org/officeDocument/2006/relationships/slideLayout" Target="/ppt/slideLayouts/slideLayout6.xml" Id="R11cd231f382843c6"/><Relationship Type="http://schemas.openxmlformats.org/officeDocument/2006/relationships/notesSlide" Target="/ppt/notesSlides/notesSlide81.xml" Id="R6bc44724aebe46dd"/></Relationships>
</file>

<file path=ppt/slides/_rels/slide82.xml.rels><?xml version="1.0" encoding="utf-8"?><Relationships xmlns="http://schemas.openxmlformats.org/package/2006/relationships"><Relationship Type="http://schemas.openxmlformats.org/officeDocument/2006/relationships/slideLayout" Target="/ppt/slideLayouts/slideLayout6.xml" Id="R55b225ea4f5b4aa2"/><Relationship Type="http://schemas.openxmlformats.org/officeDocument/2006/relationships/notesSlide" Target="/ppt/notesSlides/notesSlide82.xml" Id="R3aedd29c6ea7436c"/></Relationships>
</file>

<file path=ppt/slides/_rels/slide83.xml.rels><?xml version="1.0" encoding="utf-8"?><Relationships xmlns="http://schemas.openxmlformats.org/package/2006/relationships"><Relationship Type="http://schemas.openxmlformats.org/officeDocument/2006/relationships/slideLayout" Target="/ppt/slideLayouts/slideLayout6.xml" Id="R3bb9d0d8532148bf"/><Relationship Type="http://schemas.openxmlformats.org/officeDocument/2006/relationships/notesSlide" Target="/ppt/notesSlides/notesSlide83.xml" Id="Rae1cfc68b74141de"/></Relationships>
</file>

<file path=ppt/slides/_rels/slide84.xml.rels><?xml version="1.0" encoding="utf-8"?><Relationships xmlns="http://schemas.openxmlformats.org/package/2006/relationships"><Relationship Type="http://schemas.openxmlformats.org/officeDocument/2006/relationships/slideLayout" Target="/ppt/slideLayouts/slideLayout6.xml" Id="R6a218b8d785e4ded"/><Relationship Type="http://schemas.openxmlformats.org/officeDocument/2006/relationships/notesSlide" Target="/ppt/notesSlides/notesSlide84.xml" Id="R30e64919739f4c81"/></Relationships>
</file>

<file path=ppt/slides/_rels/slide85.xml.rels><?xml version="1.0" encoding="utf-8"?><Relationships xmlns="http://schemas.openxmlformats.org/package/2006/relationships"><Relationship Type="http://schemas.openxmlformats.org/officeDocument/2006/relationships/slideLayout" Target="/ppt/slideLayouts/slideLayout6.xml" Id="R9ec76ef1877f4d6a"/><Relationship Type="http://schemas.openxmlformats.org/officeDocument/2006/relationships/notesSlide" Target="/ppt/notesSlides/notesSlide85.xml" Id="R7da67322bac34beb"/></Relationships>
</file>

<file path=ppt/slides/_rels/slide86.xml.rels><?xml version="1.0" encoding="utf-8"?><Relationships xmlns="http://schemas.openxmlformats.org/package/2006/relationships"><Relationship Type="http://schemas.openxmlformats.org/officeDocument/2006/relationships/slideLayout" Target="/ppt/slideLayouts/slideLayout6.xml" Id="R81d29e1c6eb74e99"/><Relationship Type="http://schemas.openxmlformats.org/officeDocument/2006/relationships/notesSlide" Target="/ppt/notesSlides/notesSlide86.xml" Id="R983ef1b4941f47df"/></Relationships>
</file>

<file path=ppt/slides/_rels/slide87.xml.rels><?xml version="1.0" encoding="utf-8"?><Relationships xmlns="http://schemas.openxmlformats.org/package/2006/relationships"><Relationship Type="http://schemas.openxmlformats.org/officeDocument/2006/relationships/slideLayout" Target="/ppt/slideLayouts/slideLayout6.xml" Id="Rad9329a05df54960"/><Relationship Type="http://schemas.openxmlformats.org/officeDocument/2006/relationships/notesSlide" Target="/ppt/notesSlides/notesSlide87.xml" Id="R2bb221648fd04a50"/></Relationships>
</file>

<file path=ppt/slides/_rels/slide88.xml.rels><?xml version="1.0" encoding="utf-8"?><Relationships xmlns="http://schemas.openxmlformats.org/package/2006/relationships"><Relationship Type="http://schemas.openxmlformats.org/officeDocument/2006/relationships/slideLayout" Target="/ppt/slideLayouts/slideLayout6.xml" Id="R1286b6491ead4c4e"/><Relationship Type="http://schemas.openxmlformats.org/officeDocument/2006/relationships/notesSlide" Target="/ppt/notesSlides/notesSlide88.xml" Id="R87b72ed4cafc40d3"/></Relationships>
</file>

<file path=ppt/slides/_rels/slide89.xml.rels><?xml version="1.0" encoding="utf-8"?><Relationships xmlns="http://schemas.openxmlformats.org/package/2006/relationships"><Relationship Type="http://schemas.openxmlformats.org/officeDocument/2006/relationships/slideLayout" Target="/ppt/slideLayouts/slideLayout6.xml" Id="Ree1a9567d1114f97"/><Relationship Type="http://schemas.openxmlformats.org/officeDocument/2006/relationships/notesSlide" Target="/ppt/notesSlides/notesSlide89.xml" Id="Re6d646379adb4da1"/></Relationships>
</file>

<file path=ppt/slides/_rels/slide90.xml.rels><?xml version="1.0" encoding="utf-8"?><Relationships xmlns="http://schemas.openxmlformats.org/package/2006/relationships"><Relationship Type="http://schemas.openxmlformats.org/officeDocument/2006/relationships/slideLayout" Target="/ppt/slideLayouts/slideLayout6.xml" Id="Rde6b98ba60334ffc"/><Relationship Type="http://schemas.openxmlformats.org/officeDocument/2006/relationships/notesSlide" Target="/ppt/notesSlides/notesSlide90.xml" Id="Rc4e6ef3588d54767"/></Relationships>
</file>

<file path=ppt/slides/_rels/slide91.xml.rels><?xml version="1.0" encoding="utf-8"?><Relationships xmlns="http://schemas.openxmlformats.org/package/2006/relationships"><Relationship Type="http://schemas.openxmlformats.org/officeDocument/2006/relationships/slideLayout" Target="/ppt/slideLayouts/slideLayout6.xml" Id="Rc63ed8f256e046ae"/><Relationship Type="http://schemas.openxmlformats.org/officeDocument/2006/relationships/notesSlide" Target="/ppt/notesSlides/notesSlide91.xml" Id="R3bb29d806ae04c5c"/></Relationships>
</file>

<file path=ppt/slides/_rels/slide92.xml.rels><?xml version="1.0" encoding="utf-8"?><Relationships xmlns="http://schemas.openxmlformats.org/package/2006/relationships"><Relationship Type="http://schemas.openxmlformats.org/officeDocument/2006/relationships/slideLayout" Target="/ppt/slideLayouts/slideLayout6.xml" Id="R306159353bd44048"/><Relationship Type="http://schemas.openxmlformats.org/officeDocument/2006/relationships/notesSlide" Target="/ppt/notesSlides/notesSlide92.xml" Id="R4191341ed86e4215"/></Relationships>
</file>

<file path=ppt/slides/_rels/slide93.xml.rels><?xml version="1.0" encoding="utf-8"?><Relationships xmlns="http://schemas.openxmlformats.org/package/2006/relationships"><Relationship Type="http://schemas.openxmlformats.org/officeDocument/2006/relationships/slideLayout" Target="/ppt/slideLayouts/slideLayout6.xml" Id="Rae85677103a54aa9"/><Relationship Type="http://schemas.openxmlformats.org/officeDocument/2006/relationships/notesSlide" Target="/ppt/notesSlides/notesSlide93.xml" Id="R36180a95ed3c43fa"/></Relationships>
</file>

<file path=ppt/slides/_rels/slide94.xml.rels><?xml version="1.0" encoding="utf-8"?><Relationships xmlns="http://schemas.openxmlformats.org/package/2006/relationships"><Relationship Type="http://schemas.openxmlformats.org/officeDocument/2006/relationships/slideLayout" Target="/ppt/slideLayouts/slideLayout6.xml" Id="Rd9d78715b41345c9"/><Relationship Type="http://schemas.openxmlformats.org/officeDocument/2006/relationships/notesSlide" Target="/ppt/notesSlides/notesSlide94.xml" Id="R5ef00a4c4bb04823"/></Relationships>
</file>

<file path=ppt/slides/_rels/slide95.xml.rels><?xml version="1.0" encoding="utf-8"?><Relationships xmlns="http://schemas.openxmlformats.org/package/2006/relationships"><Relationship Type="http://schemas.openxmlformats.org/officeDocument/2006/relationships/slideLayout" Target="/ppt/slideLayouts/slideLayout6.xml" Id="Rd9c6691b946b4f7e"/><Relationship Type="http://schemas.openxmlformats.org/officeDocument/2006/relationships/notesSlide" Target="/ppt/notesSlides/notesSlide95.xml" Id="R1e275696a25b470a"/></Relationships>
</file>

<file path=ppt/slides/_rels/slide96.xml.rels><?xml version="1.0" encoding="utf-8"?><Relationships xmlns="http://schemas.openxmlformats.org/package/2006/relationships"><Relationship Type="http://schemas.openxmlformats.org/officeDocument/2006/relationships/slideLayout" Target="/ppt/slideLayouts/slideLayout6.xml" Id="R051f2b1126c74b66"/><Relationship Type="http://schemas.openxmlformats.org/officeDocument/2006/relationships/chart" Target="/ppt/slides/charts/chart2.xml" Id="R8424e74d430f440d"/><Relationship Type="http://schemas.openxmlformats.org/officeDocument/2006/relationships/notesSlide" Target="/ppt/notesSlides/notesSlide96.xml" Id="Reafb085964c34056"/></Relationships>
</file>

<file path=ppt/slides/_rels/slide97.xml.rels><?xml version="1.0" encoding="utf-8"?><Relationships xmlns="http://schemas.openxmlformats.org/package/2006/relationships"><Relationship Type="http://schemas.openxmlformats.org/officeDocument/2006/relationships/slideLayout" Target="/ppt/slideLayouts/slideLayout6.xml" Id="R79fae1ba01bf44f1"/><Relationship Type="http://schemas.openxmlformats.org/officeDocument/2006/relationships/notesSlide" Target="/ppt/notesSlides/notesSlide97.xml" Id="R7ea86b7511cd4629"/></Relationships>
</file>

<file path=ppt/slides/_rels/slide98.xml.rels><?xml version="1.0" encoding="utf-8"?><Relationships xmlns="http://schemas.openxmlformats.org/package/2006/relationships"><Relationship Type="http://schemas.openxmlformats.org/officeDocument/2006/relationships/slideLayout" Target="/ppt/slideLayouts/slideLayout6.xml" Id="R78a51a7220e14aff"/><Relationship Type="http://schemas.openxmlformats.org/officeDocument/2006/relationships/notesSlide" Target="/ppt/notesSlides/notesSlide98.xml" Id="Rd241e076ae0c4c89"/></Relationships>
</file>

<file path=ppt/slides/_rels/slide99.xml.rels><?xml version="1.0" encoding="utf-8"?><Relationships xmlns="http://schemas.openxmlformats.org/package/2006/relationships"><Relationship Type="http://schemas.openxmlformats.org/officeDocument/2006/relationships/slideLayout" Target="/ppt/slideLayouts/slideLayout6.xml" Id="Rdf1856371da24377"/><Relationship Type="http://schemas.openxmlformats.org/officeDocument/2006/relationships/notesSlide" Target="/ppt/notesSlides/notesSlide99.xml" Id="R9fd9b4d481214a08"/></Relationships>
</file>

<file path=ppt/slides/_rels/slide100.xml.rels><?xml version="1.0" encoding="utf-8"?><Relationships xmlns="http://schemas.openxmlformats.org/package/2006/relationships"><Relationship Type="http://schemas.openxmlformats.org/officeDocument/2006/relationships/slideLayout" Target="/ppt/slideLayouts/slideLayout6.xml" Id="R178e0f3a90104f65"/><Relationship Type="http://schemas.openxmlformats.org/officeDocument/2006/relationships/notesSlide" Target="/ppt/notesSlides/notesSlide100.xml" Id="R212a1ecf528b465a"/></Relationships>
</file>

<file path=ppt/slides/_rels/slide101.xml.rels><?xml version="1.0" encoding="utf-8"?><Relationships xmlns="http://schemas.openxmlformats.org/package/2006/relationships"><Relationship Type="http://schemas.openxmlformats.org/officeDocument/2006/relationships/slideLayout" Target="/ppt/slideLayouts/slideLayout6.xml" Id="Rb2dc162891be401c"/><Relationship Type="http://schemas.openxmlformats.org/officeDocument/2006/relationships/notesSlide" Target="/ppt/notesSlides/notesSlide101.xml" Id="R7c714979becd470e"/></Relationships>
</file>

<file path=ppt/slides/_rels/slide102.xml.rels><?xml version="1.0" encoding="utf-8"?><Relationships xmlns="http://schemas.openxmlformats.org/package/2006/relationships"><Relationship Type="http://schemas.openxmlformats.org/officeDocument/2006/relationships/slideLayout" Target="/ppt/slideLayouts/slideLayout6.xml" Id="R299602d0ca914412"/><Relationship Type="http://schemas.openxmlformats.org/officeDocument/2006/relationships/notesSlide" Target="/ppt/notesSlides/notesSlide102.xml" Id="R068559301c394576"/></Relationships>
</file>

<file path=ppt/slides/_rels/slide103.xml.rels><?xml version="1.0" encoding="utf-8"?><Relationships xmlns="http://schemas.openxmlformats.org/package/2006/relationships"><Relationship Type="http://schemas.openxmlformats.org/officeDocument/2006/relationships/slideLayout" Target="/ppt/slideLayouts/slideLayout6.xml" Id="Ra9f8ae37510c4d76"/><Relationship Type="http://schemas.openxmlformats.org/officeDocument/2006/relationships/notesSlide" Target="/ppt/notesSlides/notesSlide103.xml" Id="R24afd0dfb79d41f0"/></Relationships>
</file>

<file path=ppt/slides/_rels/slide104.xml.rels><?xml version="1.0" encoding="utf-8"?><Relationships xmlns="http://schemas.openxmlformats.org/package/2006/relationships"><Relationship Type="http://schemas.openxmlformats.org/officeDocument/2006/relationships/slideLayout" Target="/ppt/slideLayouts/slideLayout6.xml" Id="R9a1aacd4ca7047da"/><Relationship Type="http://schemas.openxmlformats.org/officeDocument/2006/relationships/notesSlide" Target="/ppt/notesSlides/notesSlide104.xml" Id="R908895dc2cd64f82"/></Relationships>
</file>

<file path=ppt/slides/_rels/slide105.xml.rels><?xml version="1.0" encoding="utf-8"?><Relationships xmlns="http://schemas.openxmlformats.org/package/2006/relationships"><Relationship Type="http://schemas.openxmlformats.org/officeDocument/2006/relationships/slideLayout" Target="/ppt/slideLayouts/slideLayout6.xml" Id="R8dbaf0c429c24e9c"/><Relationship Type="http://schemas.openxmlformats.org/officeDocument/2006/relationships/notesSlide" Target="/ppt/notesSlides/notesSlide105.xml" Id="R9030d1fdb5114f76"/></Relationships>
</file>

<file path=ppt/slides/_rels/slide106.xml.rels><?xml version="1.0" encoding="utf-8"?><Relationships xmlns="http://schemas.openxmlformats.org/package/2006/relationships"><Relationship Type="http://schemas.openxmlformats.org/officeDocument/2006/relationships/slideLayout" Target="/ppt/slideLayouts/slideLayout6.xml" Id="R7beed766b02548d0"/><Relationship Type="http://schemas.openxmlformats.org/officeDocument/2006/relationships/notesSlide" Target="/ppt/notesSlides/notesSlide106.xml" Id="R311f6d7d4b354399"/></Relationships>
</file>

<file path=ppt/slides/_rels/slide107.xml.rels><?xml version="1.0" encoding="utf-8"?><Relationships xmlns="http://schemas.openxmlformats.org/package/2006/relationships"><Relationship Type="http://schemas.openxmlformats.org/officeDocument/2006/relationships/slideLayout" Target="/ppt/slideLayouts/slideLayout6.xml" Id="R9f22b112e6e94dd4"/><Relationship Type="http://schemas.openxmlformats.org/officeDocument/2006/relationships/notesSlide" Target="/ppt/notesSlides/notesSlide107.xml" Id="R5248189ceda34d20"/></Relationships>
</file>

<file path=ppt/slides/_rels/slide108.xml.rels><?xml version="1.0" encoding="utf-8"?><Relationships xmlns="http://schemas.openxmlformats.org/package/2006/relationships"><Relationship Type="http://schemas.openxmlformats.org/officeDocument/2006/relationships/slideLayout" Target="/ppt/slideLayouts/slideLayout6.xml" Id="R2045274a7abc4a46"/><Relationship Type="http://schemas.openxmlformats.org/officeDocument/2006/relationships/notesSlide" Target="/ppt/notesSlides/notesSlide108.xml" Id="Rb075385bb68b49a3"/></Relationships>
</file>

<file path=ppt/slides/_rels/slide109.xml.rels><?xml version="1.0" encoding="utf-8"?><Relationships xmlns="http://schemas.openxmlformats.org/package/2006/relationships"><Relationship Type="http://schemas.openxmlformats.org/officeDocument/2006/relationships/slideLayout" Target="/ppt/slideLayouts/slideLayout6.xml" Id="R581eabaa06924d52"/><Relationship Type="http://schemas.openxmlformats.org/officeDocument/2006/relationships/notesSlide" Target="/ppt/notesSlides/notesSlide109.xml" Id="Rfca130f2343a4cf9"/></Relationships>
</file>

<file path=ppt/slides/_rels/slide110.xml.rels><?xml version="1.0" encoding="utf-8"?><Relationships xmlns="http://schemas.openxmlformats.org/package/2006/relationships"><Relationship Type="http://schemas.openxmlformats.org/officeDocument/2006/relationships/slideLayout" Target="/ppt/slideLayouts/slideLayout6.xml" Id="R4b6940130d634b17"/><Relationship Type="http://schemas.openxmlformats.org/officeDocument/2006/relationships/notesSlide" Target="/ppt/notesSlides/notesSlide110.xml" Id="R0a5721e8688f465f"/></Relationships>
</file>

<file path=ppt/slides/_rels/slide111.xml.rels><?xml version="1.0" encoding="utf-8"?><Relationships xmlns="http://schemas.openxmlformats.org/package/2006/relationships"><Relationship Type="http://schemas.openxmlformats.org/officeDocument/2006/relationships/slideLayout" Target="/ppt/slideLayouts/slideLayout6.xml" Id="R411120660fc84ee3"/><Relationship Type="http://schemas.openxmlformats.org/officeDocument/2006/relationships/notesSlide" Target="/ppt/notesSlides/notesSlide111.xml" Id="Ree3d1ac02cbb4442"/></Relationships>
</file>

<file path=ppt/slides/_rels/slide112.xml.rels><?xml version="1.0" encoding="utf-8"?><Relationships xmlns="http://schemas.openxmlformats.org/package/2006/relationships"><Relationship Type="http://schemas.openxmlformats.org/officeDocument/2006/relationships/slideLayout" Target="/ppt/slideLayouts/slideLayout6.xml" Id="R855433a5e91a4c16"/><Relationship Type="http://schemas.openxmlformats.org/officeDocument/2006/relationships/notesSlide" Target="/ppt/notesSlides/notesSlide112.xml" Id="Rd75f8c7cfc1e4c42"/></Relationships>
</file>

<file path=ppt/slides/_rels/slide113.xml.rels><?xml version="1.0" encoding="utf-8"?><Relationships xmlns="http://schemas.openxmlformats.org/package/2006/relationships"><Relationship Type="http://schemas.openxmlformats.org/officeDocument/2006/relationships/slideLayout" Target="/ppt/slideLayouts/slideLayout6.xml" Id="R0475320a47d34ddd"/><Relationship Type="http://schemas.openxmlformats.org/officeDocument/2006/relationships/notesSlide" Target="/ppt/notesSlides/notesSlide113.xml" Id="R2fbfac11f8a04b0a"/></Relationships>
</file>

<file path=ppt/slides/_rels/slide114.xml.rels><?xml version="1.0" encoding="utf-8"?><Relationships xmlns="http://schemas.openxmlformats.org/package/2006/relationships"><Relationship Type="http://schemas.openxmlformats.org/officeDocument/2006/relationships/slideLayout" Target="/ppt/slideLayouts/slideLayout6.xml" Id="Rfbd2458269354b52"/><Relationship Type="http://schemas.openxmlformats.org/officeDocument/2006/relationships/notesSlide" Target="/ppt/notesSlides/notesSlide114.xml" Id="Rfb9c411f0bc743b8"/></Relationships>
</file>

<file path=ppt/slides/_rels/slide115.xml.rels><?xml version="1.0" encoding="utf-8"?><Relationships xmlns="http://schemas.openxmlformats.org/package/2006/relationships"><Relationship Type="http://schemas.openxmlformats.org/officeDocument/2006/relationships/slideLayout" Target="/ppt/slideLayouts/slideLayout6.xml" Id="R785446bd54374fad"/><Relationship Type="http://schemas.openxmlformats.org/officeDocument/2006/relationships/notesSlide" Target="/ppt/notesSlides/notesSlide115.xml" Id="R690e88ea3d1c4b3f"/></Relationships>
</file>

<file path=ppt/slides/_rels/slide116.xml.rels><?xml version="1.0" encoding="utf-8"?><Relationships xmlns="http://schemas.openxmlformats.org/package/2006/relationships"><Relationship Type="http://schemas.openxmlformats.org/officeDocument/2006/relationships/slideLayout" Target="/ppt/slideLayouts/slideLayout6.xml" Id="R7ba1acee203f449b"/><Relationship Type="http://schemas.openxmlformats.org/officeDocument/2006/relationships/notesSlide" Target="/ppt/notesSlides/notesSlide116.xml" Id="R4a5121eea5284374"/></Relationships>
</file>

<file path=ppt/slides/_rels/slide117.xml.rels><?xml version="1.0" encoding="utf-8"?><Relationships xmlns="http://schemas.openxmlformats.org/package/2006/relationships"><Relationship Type="http://schemas.openxmlformats.org/officeDocument/2006/relationships/slideLayout" Target="/ppt/slideLayouts/slideLayout6.xml" Id="R966b7a57abd049bd"/><Relationship Type="http://schemas.openxmlformats.org/officeDocument/2006/relationships/notesSlide" Target="/ppt/notesSlides/notesSlide117.xml" Id="Ra6812a34cdf44996"/></Relationships>
</file>

<file path=ppt/slides/_rels/slide118.xml.rels><?xml version="1.0" encoding="utf-8"?><Relationships xmlns="http://schemas.openxmlformats.org/package/2006/relationships"><Relationship Type="http://schemas.openxmlformats.org/officeDocument/2006/relationships/slideLayout" Target="/ppt/slideLayouts/slideLayout6.xml" Id="Rc6ffb81ea8f44af4"/><Relationship Type="http://schemas.openxmlformats.org/officeDocument/2006/relationships/notesSlide" Target="/ppt/notesSlides/notesSlide118.xml" Id="R619b15d573e54123"/></Relationships>
</file>

<file path=ppt/slides/_rels/slide119.xml.rels><?xml version="1.0" encoding="utf-8"?><Relationships xmlns="http://schemas.openxmlformats.org/package/2006/relationships"><Relationship Type="http://schemas.openxmlformats.org/officeDocument/2006/relationships/slideLayout" Target="/ppt/slideLayouts/slideLayout6.xml" Id="R160ffd9a6510466b"/><Relationship Type="http://schemas.openxmlformats.org/officeDocument/2006/relationships/notesSlide" Target="/ppt/notesSlides/notesSlide119.xml" Id="R48d24d913b224978"/></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Accuracy (%)</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여러 모델 조합</c:v>
                </c:pt>
                <c:pt idx="1">
                  <c:v>ChatGPT 3개</c:v>
                </c:pt>
              </c:strCache>
            </c:strRef>
          </c:cat>
          <c:val>
            <c:numRef>
              <c:f>'Chart Data'!$B$2:$B$3</c:f>
              <c:numCache>
                <c:formatCode>0.0</c:formatCode>
                <c:ptCount val="2"/>
                <c:pt idx="0">
                  <c:v>79</c:v>
                </c:pt>
                <c:pt idx="1">
                  <c:v>72.2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217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ln>
        </c:spPr>
        <c:txPr>
          <a:bodyPr xmlns:a="http://schemas.openxmlformats.org/drawingml/2006/main" anchorCtr="1"/>
          <a:lstStyle xmlns:a="http://schemas.openxmlformats.org/drawingml/2006/main"/>
          <a:p xmlns:a="http://schemas.openxmlformats.org/drawingml/2006/main">
            <a:pPr>
              <a:defRPr sz="1500">
                <a:solidFill>
                  <a:srgbClr val="4D5A68"/>
                </a:solidFill>
                <a:latin typeface="Malgun Gothic"/>
                <a:ea typeface="Malgun Gothic"/>
                <a:cs typeface="Malgun Gothic"/>
              </a:defRPr>
            </a:pPr>
          </a:p>
        </c:txPr>
        <c:crossAx val="48672768"/>
      </c:catAx>
      <c:valAx>
        <c:axId val="48672768"/>
        <c:scaling>
          <c:orientation val="minMax"/>
          <c:max val="100"/>
          <c:min val="0"/>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7212B"/>
                </a:solidFill>
                <a:latin typeface="Malgun Gothic"/>
                <a:ea typeface="Malgun Gothic"/>
                <a:cs typeface="Malgun Gothic"/>
              </a:defRPr>
            </a:pPr>
          </a:p>
        </c:txPr>
        <c:crossAx val="48650112"/>
        <c:crossBetween val="between"/>
        <c:majorUnit val="20"/>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0">
            <a:extLst xmlns:a="http://schemas.openxmlformats.org/drawingml/2006/main">
              <a:ext uri="{FF2B5EF4-FFF2-40B4-BE49-F238E27FC236}">
                <a16:creationId xmlns:a16="http://schemas.microsoft.com/office/drawing/2014/main" id="{6788130D-A55D-460A-A0AA-28B80F4FE26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0</a:t>
            </a:r>
          </a:p>
        </p:txBody>
      </p:sp>
      <p:sp>
        <p:nvSpPr>
          <p:cNvPr id="2" name="S01">
            <a:extLst xmlns:a="http://schemas.openxmlformats.org/drawingml/2006/main">
              <a:ext uri="{FF2B5EF4-FFF2-40B4-BE49-F238E27FC236}">
                <a16:creationId xmlns:a16="http://schemas.microsoft.com/office/drawing/2014/main" id="{7E32137E-DA79-4CB1-9EBE-752E7A363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
            <a:extLst xmlns:a="http://schemas.openxmlformats.org/drawingml/2006/main">
              <a:ext uri="{FF2B5EF4-FFF2-40B4-BE49-F238E27FC236}">
                <a16:creationId xmlns:a16="http://schemas.microsoft.com/office/drawing/2014/main" id="{9984980D-68F4-48F7-97EC-7040514072EA}"/>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개발 프로젝트를&#10;직접 살펴보게 하기">
            <a:extLst xmlns:a="http://schemas.openxmlformats.org/drawingml/2006/main">
              <a:ext uri="{FF2B5EF4-FFF2-40B4-BE49-F238E27FC236}">
                <a16:creationId xmlns:a16="http://schemas.microsoft.com/office/drawing/2014/main" id="{B3E2E8D8-14C2-4EF5-A68C-F416D3FE6A32}"/>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개발 프로젝트를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직접 살펴보게 하기</a:t>
            </a:r>
          </a:p>
        </p:txBody>
      </p:sp>
      <p:sp>
        <p:nvSpPr>
          <p:cNvPr id="5" name="Chatbot → 개발 프로젝트를 조사하는 Agent">
            <a:extLst xmlns:a="http://schemas.openxmlformats.org/drawingml/2006/main">
              <a:ext uri="{FF2B5EF4-FFF2-40B4-BE49-F238E27FC236}">
                <a16:creationId xmlns:a16="http://schemas.microsoft.com/office/drawing/2014/main" id="{5DE9BEBB-798F-4B89-9F8A-A9EC9CD31CB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Chatbot → 개발 프로젝트를 조사하는 Agent</a:t>
            </a:r>
          </a:p>
        </p:txBody>
      </p:sp>
      <p:sp>
        <p:nvSpPr>
          <p:cNvPr id="6" name="ChatGPT &amp; Codex · 개발자 교육">
            <a:extLst xmlns:a="http://schemas.openxmlformats.org/drawingml/2006/main">
              <a:ext uri="{FF2B5EF4-FFF2-40B4-BE49-F238E27FC236}">
                <a16:creationId xmlns:a16="http://schemas.microsoft.com/office/drawing/2014/main" id="{3194CC22-7A2F-4ED0-90D4-07150789972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BEC08664-F4CB-437E-96EE-EF115E7B47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
        <p:nvSpPr>
          <p:cNvPr id="9" name="코드·명세·테스트가 있는 프로젝트 폴더">
            <a:extLst xmlns:a="http://schemas.openxmlformats.org/drawingml/2006/main">
              <a:ext uri="{FF2B5EF4-FFF2-40B4-BE49-F238E27FC236}">
                <a16:creationId xmlns:a16="http://schemas.microsoft.com/office/drawing/2014/main" id="{16B226BC-0A6E-4530-9D16-0EA6DB124DEC}"/>
              </a:ext>
            </a:extLst>
          </p:cNvPr>
          <p:cNvSpPr>
            <a:spLocks xmlns:a="http://schemas.openxmlformats.org/drawingml/2006/main" noGrp="1"/>
          </p:cNvSpPr>
          <p:nvPr/>
        </p:nvSpPr>
        <p:spPr>
          <a:xfrm xmlns:a="http://schemas.openxmlformats.org/drawingml/2006/main">
            <a:off x="609600" y="48958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코드·명세·테스트가 있는 프로젝트 폴더</a:t>
            </a:r>
          </a:p>
        </p:txBody>
      </p:sp>
    </p:spTree>
    <p:extLst>
      <p:ext uri="{BB962C8B-B14F-4D97-AF65-F5344CB8AC3E}">
        <p14:creationId xmlns:p14="http://schemas.microsoft.com/office/powerpoint/2010/main" val="1012976291"/>
      </p:ext>
    </p:extLst>
  </p:cSld>
</p:sld>
</file>

<file path=ppt/slides/slide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60F6E3C-3ABD-4761-8CEC-2C002B888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2">
            <a:extLst xmlns:a="http://schemas.openxmlformats.org/drawingml/2006/main">
              <a:ext uri="{FF2B5EF4-FFF2-40B4-BE49-F238E27FC236}">
                <a16:creationId xmlns:a16="http://schemas.microsoft.com/office/drawing/2014/main" id="{60A1E504-5E31-479B-9F82-D241E0F99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AI에게 지금 무엇을 맡기고 있는가?">
            <a:extLst xmlns:a="http://schemas.openxmlformats.org/drawingml/2006/main">
              <a:ext uri="{FF2B5EF4-FFF2-40B4-BE49-F238E27FC236}">
                <a16:creationId xmlns:a16="http://schemas.microsoft.com/office/drawing/2014/main" id="{1DA85FC5-3B4B-40C9-AB18-632976CB96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D72B1F30-DAE0-4AA8-B886-A1987FAE14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최근 AI에 맡긴 일 하나를 떠올려 보세요.">
            <a:extLst xmlns:a="http://schemas.openxmlformats.org/drawingml/2006/main">
              <a:ext uri="{FF2B5EF4-FFF2-40B4-BE49-F238E27FC236}">
                <a16:creationId xmlns:a16="http://schemas.microsoft.com/office/drawing/2014/main" id="{D2701659-70E6-4644-901D-5F4B328ACB5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27187BE5-EC9A-475A-80C4-8231644248B1}"/>
              </a:ext>
            </a:extLst>
          </p:cNvPr>
          <p:cNvPicPr>
            <a:picLocks xmlns:a="http://schemas.openxmlformats.org/drawingml/2006/main" noChangeAspect="1"/>
          </p:cNvPicPr>
          <p:nvPr/>
        </p:nvPicPr>
        <p:blipFill>
          <a:blip xmlns:r="http://schemas.openxmlformats.org/officeDocument/2006/relationships" xmlns:a="http://schemas.openxmlformats.org/drawingml/2006/main" r:embed="R166c35cae5a6486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31DA1501-CCC8-4F13-8E84-11AF7E9DEA0A}"/>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ABEB26AF-0D3E-41BB-9E1A-88BDF27A72A8}"/>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13BE2AFA-1A17-497B-969B-E30DCF9DBC7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A5BA490C-CC21-4AF4-BBDD-7C4294E647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94191501"/>
      </p:ext>
    </p:extLst>
  </p:cSld>
</p:sld>
</file>

<file path=ppt/slides/slide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E87954D-34BF-4594-ABCC-233AB8DDD71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3">
            <a:extLst xmlns:a="http://schemas.openxmlformats.org/drawingml/2006/main">
              <a:ext uri="{FF2B5EF4-FFF2-40B4-BE49-F238E27FC236}">
                <a16:creationId xmlns:a16="http://schemas.microsoft.com/office/drawing/2014/main" id="{0F508018-5FB6-459C-AF83-57CAE2ADA28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작은 질문에는 Chatbot이 유용하다">
            <a:extLst xmlns:a="http://schemas.openxmlformats.org/drawingml/2006/main">
              <a:ext uri="{FF2B5EF4-FFF2-40B4-BE49-F238E27FC236}">
                <a16:creationId xmlns:a16="http://schemas.microsoft.com/office/drawing/2014/main" id="{E0393727-0695-4F95-A522-A3B6AC7189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9D79A3DD-09D4-4F17-B79F-C50A132C41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괄호만 바뀌었는데, 같은 Vector일까?">
            <a:extLst xmlns:a="http://schemas.openxmlformats.org/drawingml/2006/main">
              <a:ext uri="{FF2B5EF4-FFF2-40B4-BE49-F238E27FC236}">
                <a16:creationId xmlns:a16="http://schemas.microsoft.com/office/drawing/2014/main" id="{70C66B7F-FF44-40DA-93E6-B4834387B3B1}"/>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8D5263B7-5F61-4117-A502-5549E2E2B6F0}"/>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2C5A65A6-2074-4088-92F6-0C0C5718F2B8}"/>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3EBF5EC5-D56F-4F80-98A0-30B95F73C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CF5C8DB-E0DB-4459-9FE2-3F6B6D8671C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49AB2C9-F9BA-4AE6-9DC8-3F084A033A55}"/>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DBB731A-C683-4803-B042-032AB46B7F9F}"/>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839663BA-3201-408C-9374-527E3E6B7521}"/>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A2880C20-71D1-4779-A043-2B2A0F9868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3550A687-6BBB-4FD0-89A1-D60BD4E39766}"/>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6C1683A-EE10-4884-B495-56276D5F6811}"/>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E856AA2-69A2-4663-8906-C11479D1E34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E5FC2E0-2070-4B84-A986-10DEFBFA63B3}"/>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CEC5CDCE-34A7-4760-92AF-737B6A7276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5F9ABFF4-1DCD-4352-893E-F64EEFC0A60A}"/>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7571A49-E7E9-4505-8600-4D4AB4198499}"/>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09527783-70B9-4AB0-9587-989A6A0EDD55}"/>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497BDDBA-0125-426F-AD83-FA374625A073}"/>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85DDC73-7169-49AB-A865-3EA846E7461A}"/>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CC711227-F4E9-4BFD-8854-2325FCD76D11}"/>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A0BEE7CE-8FDA-4BFE-B28D-117F7E5E31A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E6228D1-69E0-48DE-AA72-F08D14881847}"/>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CB302EE0-0C39-4F46-B483-01DF587DBC8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108C443-6555-4438-A562-B75B7224D2C3}"/>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47379E7F-1C26-4659-BADE-3A602429C55D}"/>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738C014A-9C16-4746-90DB-14BC080FF17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59DF0B5A-6E69-4A5B-875D-49030552B2AF}"/>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83099F43-50C6-4EAE-BE98-9037CD859845}"/>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62C2311-AABA-4F09-9A70-DDFF582849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4D0F7990-FCA0-447B-BB67-78CAFF4C168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D6704DC8-7452-423A-9D96-C85E45370ED0}"/>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6D6B1911-E02D-4ECD-873A-CDF92150C0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05007608"/>
      </p:ext>
    </p:extLst>
  </p:cSld>
</p:sld>
</file>

<file path=ppt/slides/slide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0 · 회사에서 사용하는 GitHub Copilot">
            <a:extLst xmlns:a="http://schemas.openxmlformats.org/drawingml/2006/main">
              <a:ext uri="{FF2B5EF4-FFF2-40B4-BE49-F238E27FC236}">
                <a16:creationId xmlns:a16="http://schemas.microsoft.com/office/drawing/2014/main" id="{5811E2BB-7AC1-441A-8C00-5725704D49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회사에서 사용하는 GitHub Copilot</a:t>
            </a:r>
          </a:p>
        </p:txBody>
      </p:sp>
      <p:sp>
        <p:nvSpPr>
          <p:cNvPr id="2" name="S04">
            <a:extLst xmlns:a="http://schemas.openxmlformats.org/drawingml/2006/main">
              <a:ext uri="{FF2B5EF4-FFF2-40B4-BE49-F238E27FC236}">
                <a16:creationId xmlns:a16="http://schemas.microsoft.com/office/drawing/2014/main" id="{7CDA688C-EADC-4C38-8AB6-3015E5CDFB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코드 질문은 VS Code의 Copilot Chat에서">
            <a:extLst xmlns:a="http://schemas.openxmlformats.org/drawingml/2006/main">
              <a:ext uri="{FF2B5EF4-FFF2-40B4-BE49-F238E27FC236}">
                <a16:creationId xmlns:a16="http://schemas.microsoft.com/office/drawing/2014/main" id="{3A90A281-C23B-4B06-91EC-7F72F9AECD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코드 질문은 VS Code의 Copilot Chat에서</a:t>
            </a:r>
          </a:p>
        </p:txBody>
      </p:sp>
      <p:sp>
        <p:nvSpPr>
          <p:cNvPr id="4" name="">
            <a:extLst xmlns:a="http://schemas.openxmlformats.org/drawingml/2006/main">
              <a:ext uri="{FF2B5EF4-FFF2-40B4-BE49-F238E27FC236}">
                <a16:creationId xmlns:a16="http://schemas.microsoft.com/office/drawing/2014/main" id="{EA172FF6-9026-4BEC-AFED-DB77DF2F6B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CF0B31B-F401-4FF3-9CB8-96A53F8FC1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a:t>
            </a:r>
          </a:p>
        </p:txBody>
      </p:sp>
      <p:sp>
        <p:nvSpPr>
          <p:cNvPr id="7" name="앞의 C++ 예제도, 편집기 안에서 바로 질문해 보세요">
            <a:extLst xmlns:a="http://schemas.openxmlformats.org/drawingml/2006/main">
              <a:ext uri="{FF2B5EF4-FFF2-40B4-BE49-F238E27FC236}">
                <a16:creationId xmlns:a16="http://schemas.microsoft.com/office/drawing/2014/main" id="{475A6217-1747-4A09-9509-4D4AE70858E6}"/>
              </a:ext>
            </a:extLst>
          </p:cNvPr>
          <p:cNvSpPr>
            <a:spLocks xmlns:a="http://schemas.openxmlformats.org/drawingml/2006/main" noGrp="1"/>
          </p:cNvSpPr>
          <p:nvPr/>
        </p:nvSpPr>
        <p:spPr>
          <a:xfrm xmlns:a="http://schemas.openxmlformats.org/drawingml/2006/main">
            <a:off x="609600" y="15240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앞의 C++ 예제도, 편집기 안에서 바로 질문해 보세요</a:t>
            </a:r>
          </a:p>
        </p:txBody>
      </p:sp>
      <p:sp>
        <p:nvSpPr>
          <p:cNvPr id="8" name="">
            <a:extLst xmlns:a="http://schemas.openxmlformats.org/drawingml/2006/main">
              <a:ext uri="{FF2B5EF4-FFF2-40B4-BE49-F238E27FC236}">
                <a16:creationId xmlns:a16="http://schemas.microsoft.com/office/drawing/2014/main" id="{0FE9CD81-EB02-4071-8F36-61A6CBC56D5C}"/>
              </a:ext>
            </a:extLst>
          </p:cNvPr>
          <p:cNvSpPr>
            <a:spLocks xmlns:a="http://schemas.openxmlformats.org/drawingml/2006/main" noGrp="1"/>
          </p:cNvSpPr>
          <p:nvPr/>
        </p:nvSpPr>
        <p:spPr>
          <a:xfrm xmlns:a="http://schemas.openxmlformats.org/drawingml/2006/main">
            <a:off x="609600" y="2038350"/>
            <a:ext cx="10972800" cy="30099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
            <a:extLst xmlns:a="http://schemas.openxmlformats.org/drawingml/2006/main">
              <a:ext uri="{FF2B5EF4-FFF2-40B4-BE49-F238E27FC236}">
                <a16:creationId xmlns:a16="http://schemas.microsoft.com/office/drawing/2014/main" id="{2F626F59-24D0-41A9-84FA-4FF0BD2F9C53}"/>
              </a:ext>
            </a:extLst>
          </p:cNvPr>
          <p:cNvSpPr>
            <a:spLocks xmlns:a="http://schemas.openxmlformats.org/drawingml/2006/main" noGrp="1"/>
          </p:cNvSpPr>
          <p:nvPr/>
        </p:nvSpPr>
        <p:spPr>
          <a:xfrm xmlns:a="http://schemas.openxmlformats.org/drawingml/2006/main">
            <a:off x="609600" y="2038350"/>
            <a:ext cx="10972800" cy="34290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10" name="Visual Studio Code">
            <a:extLst xmlns:a="http://schemas.openxmlformats.org/drawingml/2006/main">
              <a:ext uri="{FF2B5EF4-FFF2-40B4-BE49-F238E27FC236}">
                <a16:creationId xmlns:a16="http://schemas.microsoft.com/office/drawing/2014/main" id="{AA47D0DF-F5F3-459F-914B-C4B77D0BDDF0}"/>
              </a:ext>
            </a:extLst>
          </p:cNvPr>
          <p:cNvSpPr>
            <a:spLocks xmlns:a="http://schemas.openxmlformats.org/drawingml/2006/main" noGrp="1"/>
          </p:cNvSpPr>
          <p:nvPr/>
        </p:nvSpPr>
        <p:spPr>
          <a:xfrm xmlns:a="http://schemas.openxmlformats.org/drawingml/2006/main">
            <a:off x="800100" y="2057400"/>
            <a:ext cx="7620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Visual Studio Code</a:t>
            </a:r>
          </a:p>
        </p:txBody>
      </p:sp>
      <p:sp>
        <p:nvSpPr>
          <p:cNvPr id="11" name="">
            <a:extLst xmlns:a="http://schemas.openxmlformats.org/drawingml/2006/main">
              <a:ext uri="{FF2B5EF4-FFF2-40B4-BE49-F238E27FC236}">
                <a16:creationId xmlns:a16="http://schemas.microsoft.com/office/drawing/2014/main" id="{02364CF1-4610-4BDA-967C-82B20C7B1F83}"/>
              </a:ext>
            </a:extLst>
          </p:cNvPr>
          <p:cNvSpPr>
            <a:spLocks xmlns:a="http://schemas.openxmlformats.org/drawingml/2006/main" noGrp="1"/>
          </p:cNvSpPr>
          <p:nvPr/>
        </p:nvSpPr>
        <p:spPr>
          <a:xfrm xmlns:a="http://schemas.openxmlformats.org/drawingml/2006/main">
            <a:off x="6381750" y="2381250"/>
            <a:ext cx="5200650" cy="2667000"/>
          </a:xfrm>
          <a:prstGeom xmlns:a="http://schemas.openxmlformats.org/drawingml/2006/main" prst="rect">
            <a:avLst/>
          </a:prstGeom>
          <a:solidFill xmlns:a="http://schemas.openxmlformats.org/drawingml/2006/main">
            <a:srgbClr val="EEF4F5"/>
          </a:solidFill>
          <a:ln xmlns:a="http://schemas.openxmlformats.org/drawingml/2006/main" w="0">
            <a:noFill/>
            <a:prstDash val="solid"/>
          </a:ln>
        </p:spPr>
      </p:sp>
      <p:sp>
        <p:nvSpPr>
          <p:cNvPr id="12" name="demo.cpp · 질문할 코드 선택">
            <a:extLst xmlns:a="http://schemas.openxmlformats.org/drawingml/2006/main">
              <a:ext uri="{FF2B5EF4-FFF2-40B4-BE49-F238E27FC236}">
                <a16:creationId xmlns:a16="http://schemas.microsoft.com/office/drawing/2014/main" id="{64FE553D-0D1D-461D-A03A-2D739F5DC480}"/>
              </a:ext>
            </a:extLst>
          </p:cNvPr>
          <p:cNvSpPr>
            <a:spLocks xmlns:a="http://schemas.openxmlformats.org/drawingml/2006/main" noGrp="1"/>
          </p:cNvSpPr>
          <p:nvPr/>
        </p:nvSpPr>
        <p:spPr>
          <a:xfrm xmlns:a="http://schemas.openxmlformats.org/drawingml/2006/main">
            <a:off x="838200" y="25336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demo.cpp · 질문할 코드 선택</a:t>
            </a:r>
          </a:p>
        </p:txBody>
      </p:sp>
      <p:sp>
        <p:nvSpPr>
          <p:cNvPr id="13" name="">
            <a:extLst xmlns:a="http://schemas.openxmlformats.org/drawingml/2006/main">
              <a:ext uri="{FF2B5EF4-FFF2-40B4-BE49-F238E27FC236}">
                <a16:creationId xmlns:a16="http://schemas.microsoft.com/office/drawing/2014/main" id="{60F9BA0B-C71A-493E-B251-2FB981DDEDF2}"/>
              </a:ext>
            </a:extLst>
          </p:cNvPr>
          <p:cNvSpPr>
            <a:spLocks xmlns:a="http://schemas.openxmlformats.org/drawingml/2006/main" noGrp="1"/>
          </p:cNvSpPr>
          <p:nvPr/>
        </p:nvSpPr>
        <p:spPr>
          <a:xfrm xmlns:a="http://schemas.openxmlformats.org/drawingml/2006/main">
            <a:off x="838200" y="2990850"/>
            <a:ext cx="531495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td::vector&lt;int&gt; a(3, 1);">
            <a:extLst xmlns:a="http://schemas.openxmlformats.org/drawingml/2006/main">
              <a:ext uri="{FF2B5EF4-FFF2-40B4-BE49-F238E27FC236}">
                <a16:creationId xmlns:a16="http://schemas.microsoft.com/office/drawing/2014/main" id="{E181FD48-3278-4B3C-93D4-1E90468B6B0B}"/>
              </a:ext>
            </a:extLst>
          </p:cNvPr>
          <p:cNvSpPr>
            <a:spLocks xmlns:a="http://schemas.openxmlformats.org/drawingml/2006/main" noGrp="1"/>
          </p:cNvSpPr>
          <p:nvPr/>
        </p:nvSpPr>
        <p:spPr>
          <a:xfrm xmlns:a="http://schemas.openxmlformats.org/drawingml/2006/main">
            <a:off x="990600" y="3086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a(3, 1);</a:t>
            </a:r>
          </a:p>
        </p:txBody>
      </p:sp>
      <p:sp>
        <p:nvSpPr>
          <p:cNvPr id="15" name="std::vector&lt;int&gt; b{3, 1};">
            <a:extLst xmlns:a="http://schemas.openxmlformats.org/drawingml/2006/main">
              <a:ext uri="{FF2B5EF4-FFF2-40B4-BE49-F238E27FC236}">
                <a16:creationId xmlns:a16="http://schemas.microsoft.com/office/drawing/2014/main" id="{3121D5E1-5EB8-409A-BEE3-6A3B3B5D5B46}"/>
              </a:ext>
            </a:extLst>
          </p:cNvPr>
          <p:cNvSpPr>
            <a:spLocks xmlns:a="http://schemas.openxmlformats.org/drawingml/2006/main" noGrp="1"/>
          </p:cNvSpPr>
          <p:nvPr/>
        </p:nvSpPr>
        <p:spPr>
          <a:xfrm xmlns:a="http://schemas.openxmlformats.org/drawingml/2006/main">
            <a:off x="990600" y="3467100"/>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std::vector&lt;int&gt; b{3, 1};</a:t>
            </a:r>
          </a:p>
        </p:txBody>
      </p:sp>
      <p:sp>
        <p:nvSpPr>
          <p:cNvPr id="16" name="질문에 필요한 두 줄만 선택">
            <a:extLst xmlns:a="http://schemas.openxmlformats.org/drawingml/2006/main">
              <a:ext uri="{FF2B5EF4-FFF2-40B4-BE49-F238E27FC236}">
                <a16:creationId xmlns:a16="http://schemas.microsoft.com/office/drawing/2014/main" id="{6D291A48-DE13-49C1-9B42-9FE8DD82B3E9}"/>
              </a:ext>
            </a:extLst>
          </p:cNvPr>
          <p:cNvSpPr>
            <a:spLocks xmlns:a="http://schemas.openxmlformats.org/drawingml/2006/main" noGrp="1"/>
          </p:cNvSpPr>
          <p:nvPr/>
        </p:nvSpPr>
        <p:spPr>
          <a:xfrm xmlns:a="http://schemas.openxmlformats.org/drawingml/2006/main">
            <a:off x="838200" y="4200525"/>
            <a:ext cx="5257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질문에 필요한 두 줄만 선택</a:t>
            </a:r>
          </a:p>
        </p:txBody>
      </p:sp>
      <p:sp>
        <p:nvSpPr>
          <p:cNvPr id="17" name="GitHub Copilot Chat">
            <a:extLst xmlns:a="http://schemas.openxmlformats.org/drawingml/2006/main">
              <a:ext uri="{FF2B5EF4-FFF2-40B4-BE49-F238E27FC236}">
                <a16:creationId xmlns:a16="http://schemas.microsoft.com/office/drawing/2014/main" id="{04490328-D505-4295-AB02-4A7CBCDA26B8}"/>
              </a:ext>
            </a:extLst>
          </p:cNvPr>
          <p:cNvSpPr>
            <a:spLocks xmlns:a="http://schemas.openxmlformats.org/drawingml/2006/main" noGrp="1"/>
          </p:cNvSpPr>
          <p:nvPr/>
        </p:nvSpPr>
        <p:spPr>
          <a:xfrm xmlns:a="http://schemas.openxmlformats.org/drawingml/2006/main">
            <a:off x="6648450" y="2533650"/>
            <a:ext cx="4629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GitHub Copilot Chat</a:t>
            </a:r>
          </a:p>
        </p:txBody>
      </p:sp>
      <p:sp>
        <p:nvSpPr>
          <p:cNvPr id="18" name="">
            <a:extLst xmlns:a="http://schemas.openxmlformats.org/drawingml/2006/main">
              <a:ext uri="{FF2B5EF4-FFF2-40B4-BE49-F238E27FC236}">
                <a16:creationId xmlns:a16="http://schemas.microsoft.com/office/drawing/2014/main" id="{22D9CE8F-C8FC-4FC2-9DD4-5E5D0F641C25}"/>
              </a:ext>
            </a:extLst>
          </p:cNvPr>
          <p:cNvSpPr>
            <a:spLocks xmlns:a="http://schemas.openxmlformats.org/drawingml/2006/main" noGrp="1"/>
          </p:cNvSpPr>
          <p:nvPr/>
        </p:nvSpPr>
        <p:spPr>
          <a:xfrm xmlns:a="http://schemas.openxmlformats.org/drawingml/2006/main">
            <a:off x="6648450" y="2990850"/>
            <a:ext cx="46291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Context: 선택한 코드 첨부">
            <a:extLst xmlns:a="http://schemas.openxmlformats.org/drawingml/2006/main">
              <a:ext uri="{FF2B5EF4-FFF2-40B4-BE49-F238E27FC236}">
                <a16:creationId xmlns:a16="http://schemas.microsoft.com/office/drawing/2014/main" id="{A443BE79-4330-4717-BBFB-7F4FCFC13136}"/>
              </a:ext>
            </a:extLst>
          </p:cNvPr>
          <p:cNvSpPr>
            <a:spLocks xmlns:a="http://schemas.openxmlformats.org/drawingml/2006/main" noGrp="1"/>
          </p:cNvSpPr>
          <p:nvPr/>
        </p:nvSpPr>
        <p:spPr>
          <a:xfrm xmlns:a="http://schemas.openxmlformats.org/drawingml/2006/main">
            <a:off x="6800850" y="3048000"/>
            <a:ext cx="4324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 Context: 선택한 코드 첨부</a:t>
            </a:r>
          </a:p>
        </p:txBody>
      </p:sp>
      <p:sp>
        <p:nvSpPr>
          <p:cNvPr id="20" name="">
            <a:extLst xmlns:a="http://schemas.openxmlformats.org/drawingml/2006/main">
              <a:ext uri="{FF2B5EF4-FFF2-40B4-BE49-F238E27FC236}">
                <a16:creationId xmlns:a16="http://schemas.microsoft.com/office/drawing/2014/main" id="{478217E4-71A9-4CB0-9074-BE4D10F0EB2F}"/>
              </a:ext>
            </a:extLst>
          </p:cNvPr>
          <p:cNvSpPr>
            <a:spLocks xmlns:a="http://schemas.openxmlformats.org/drawingml/2006/main" noGrp="1"/>
          </p:cNvSpPr>
          <p:nvPr/>
        </p:nvSpPr>
        <p:spPr>
          <a:xfrm xmlns:a="http://schemas.openxmlformats.org/drawingml/2006/main">
            <a:off x="6648450" y="3543300"/>
            <a:ext cx="4629150" cy="1276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두 vector의 원소 개수와 값이&#10;왜 다른지 설명해줘.&#10;코드는 수정하지 마.">
            <a:extLst xmlns:a="http://schemas.openxmlformats.org/drawingml/2006/main">
              <a:ext uri="{FF2B5EF4-FFF2-40B4-BE49-F238E27FC236}">
                <a16:creationId xmlns:a16="http://schemas.microsoft.com/office/drawing/2014/main" id="{5E87042B-C804-4AAF-AF81-EF6D70C0A577}"/>
              </a:ext>
            </a:extLst>
          </p:cNvPr>
          <p:cNvSpPr>
            <a:spLocks xmlns:a="http://schemas.openxmlformats.org/drawingml/2006/main" noGrp="1"/>
          </p:cNvSpPr>
          <p:nvPr/>
        </p:nvSpPr>
        <p:spPr>
          <a:xfrm xmlns:a="http://schemas.openxmlformats.org/drawingml/2006/main">
            <a:off x="6800850" y="3648075"/>
            <a:ext cx="43243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두 vector의 원소 개수와 값이</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왜 다른지 설명해줘.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코드는 수정하지 마.</a:t>
            </a:r>
          </a:p>
        </p:txBody>
      </p:sp>
      <p:sp>
        <p:nvSpPr>
          <p:cNvPr id="22" name="Ask · 코드 설명 요청">
            <a:extLst xmlns:a="http://schemas.openxmlformats.org/drawingml/2006/main">
              <a:ext uri="{FF2B5EF4-FFF2-40B4-BE49-F238E27FC236}">
                <a16:creationId xmlns:a16="http://schemas.microsoft.com/office/drawing/2014/main" id="{AC3A66E9-FD48-4D31-A889-9AE57A0FC0A3}"/>
              </a:ext>
            </a:extLst>
          </p:cNvPr>
          <p:cNvSpPr>
            <a:spLocks xmlns:a="http://schemas.openxmlformats.org/drawingml/2006/main" noGrp="1"/>
          </p:cNvSpPr>
          <p:nvPr/>
        </p:nvSpPr>
        <p:spPr>
          <a:xfrm xmlns:a="http://schemas.openxmlformats.org/drawingml/2006/main">
            <a:off x="6800850" y="4524375"/>
            <a:ext cx="43243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0">
                <a:solidFill>
                  <a:srgbClr val="4D5A68"/>
                </a:solidFill>
                <a:latin typeface="Malgun Gothic"/>
                <a:ea typeface="Malgun Gothic"/>
                <a:cs typeface="Malgun Gothic"/>
              </a:defRPr>
            </a:defPPr>
            <a:lvl1pPr algn="l">
              <a:defRPr sz="1350" b="0">
                <a:solidFill>
                  <a:srgbClr val="4D5A68"/>
                </a:solidFill>
                <a:latin typeface="Malgun Gothic"/>
                <a:ea typeface="Malgun Gothic"/>
                <a:cs typeface="Malgun Gothic"/>
              </a:defRPr>
            </a:lvl1pPr>
            <a:lvl2pPr algn="l">
              <a:defRPr sz="1350" b="0">
                <a:solidFill>
                  <a:srgbClr val="4D5A68"/>
                </a:solidFill>
                <a:latin typeface="Malgun Gothic"/>
                <a:ea typeface="Malgun Gothic"/>
                <a:cs typeface="Malgun Gothic"/>
              </a:defRPr>
            </a:lvl2pPr>
            <a:lvl3pPr algn="l">
              <a:defRPr sz="1350" b="0">
                <a:solidFill>
                  <a:srgbClr val="4D5A68"/>
                </a:solidFill>
                <a:latin typeface="Malgun Gothic"/>
                <a:ea typeface="Malgun Gothic"/>
                <a:cs typeface="Malgun Gothic"/>
              </a:defRPr>
            </a:lvl3pPr>
            <a:lvl4pPr algn="l">
              <a:defRPr sz="1350" b="0">
                <a:solidFill>
                  <a:srgbClr val="4D5A68"/>
                </a:solidFill>
                <a:latin typeface="Malgun Gothic"/>
                <a:ea typeface="Malgun Gothic"/>
                <a:cs typeface="Malgun Gothic"/>
              </a:defRPr>
            </a:lvl4pPr>
            <a:lvl5pPr algn="l">
              <a:defRPr sz="1350" b="0">
                <a:solidFill>
                  <a:srgbClr val="4D5A68"/>
                </a:solidFill>
                <a:latin typeface="Malgun Gothic"/>
                <a:ea typeface="Malgun Gothic"/>
                <a:cs typeface="Malgun Gothic"/>
              </a:defRPr>
            </a:lvl5pPr>
            <a:lvl6pPr algn="l">
              <a:defRPr sz="1350" b="0">
                <a:solidFill>
                  <a:srgbClr val="4D5A68"/>
                </a:solidFill>
                <a:latin typeface="Malgun Gothic"/>
                <a:ea typeface="Malgun Gothic"/>
                <a:cs typeface="Malgun Gothic"/>
              </a:defRPr>
            </a:lvl6pPr>
            <a:lvl7pPr algn="l">
              <a:defRPr sz="1350" b="0">
                <a:solidFill>
                  <a:srgbClr val="4D5A68"/>
                </a:solidFill>
                <a:latin typeface="Malgun Gothic"/>
                <a:ea typeface="Malgun Gothic"/>
                <a:cs typeface="Malgun Gothic"/>
              </a:defRPr>
            </a:lvl7pPr>
            <a:lvl8pPr algn="l">
              <a:defRPr sz="1350" b="0">
                <a:solidFill>
                  <a:srgbClr val="4D5A68"/>
                </a:solidFill>
                <a:latin typeface="Malgun Gothic"/>
                <a:ea typeface="Malgun Gothic"/>
                <a:cs typeface="Malgun Gothic"/>
              </a:defRPr>
            </a:lvl8pPr>
            <a:lvl9pPr algn="l">
              <a:defRPr sz="1350" b="0">
                <a:solidFill>
                  <a:srgbClr val="4D5A68"/>
                </a:solidFill>
                <a:latin typeface="Malgun Gothic"/>
                <a:ea typeface="Malgun Gothic"/>
                <a:cs typeface="Malgun Gothic"/>
              </a:defRPr>
            </a:lvl9pPr>
          </a:lstStyle>
          <a:p xmlns:a="http://schemas.openxmlformats.org/drawingml/2006/main">
            <a:pPr algn="l">
              <a:defRPr sz="1350" b="0">
                <a:solidFill>
                  <a:srgbClr val="4D5A68"/>
                </a:solidFill>
                <a:latin typeface="Malgun Gothic"/>
                <a:ea typeface="Malgun Gothic"/>
                <a:cs typeface="Malgun Gothic"/>
              </a:defRPr>
            </a:pPr>
            <a:r>
              <a:rPr sz="1350" b="0">
                <a:solidFill>
                  <a:srgbClr val="4D5A68"/>
                </a:solidFill>
                <a:latin typeface="Malgun Gothic"/>
                <a:ea typeface="Malgun Gothic"/>
                <a:cs typeface="Malgun Gothic"/>
              </a:rPr>
              <a:t>Ask · 코드 설명 요청</a:t>
            </a:r>
          </a:p>
        </p:txBody>
      </p:sp>
      <p:sp>
        <p:nvSpPr>
          <p:cNvPr id="23" name="1">
            <a:extLst xmlns:a="http://schemas.openxmlformats.org/drawingml/2006/main">
              <a:ext uri="{FF2B5EF4-FFF2-40B4-BE49-F238E27FC236}">
                <a16:creationId xmlns:a16="http://schemas.microsoft.com/office/drawing/2014/main" id="{F5692E71-64A9-4E11-A62C-4587E3C49308}"/>
              </a:ext>
            </a:extLst>
          </p:cNvPr>
          <p:cNvSpPr>
            <a:spLocks xmlns:a="http://schemas.openxmlformats.org/drawingml/2006/main" noGrp="1"/>
          </p:cNvSpPr>
          <p:nvPr/>
        </p:nvSpPr>
        <p:spPr>
          <a:xfrm xmlns:a="http://schemas.openxmlformats.org/drawingml/2006/main">
            <a:off x="60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1</a:t>
            </a:r>
          </a:p>
        </p:txBody>
      </p:sp>
      <p:sp>
        <p:nvSpPr>
          <p:cNvPr id="24" name="코드 선택">
            <a:extLst xmlns:a="http://schemas.openxmlformats.org/drawingml/2006/main">
              <a:ext uri="{FF2B5EF4-FFF2-40B4-BE49-F238E27FC236}">
                <a16:creationId xmlns:a16="http://schemas.microsoft.com/office/drawing/2014/main" id="{EF166AA1-C942-41E1-A771-E19FF0D8D1D3}"/>
              </a:ext>
            </a:extLst>
          </p:cNvPr>
          <p:cNvSpPr>
            <a:spLocks xmlns:a="http://schemas.openxmlformats.org/drawingml/2006/main" noGrp="1"/>
          </p:cNvSpPr>
          <p:nvPr/>
        </p:nvSpPr>
        <p:spPr>
          <a:xfrm xmlns:a="http://schemas.openxmlformats.org/drawingml/2006/main">
            <a:off x="102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코드 선택</a:t>
            </a:r>
          </a:p>
        </p:txBody>
      </p:sp>
      <p:cxnSp>
        <p:nvCxnSpPr>
          <p:cNvPr id="25" name="Copilot workflow step 1 to 2">
            <a:extLst xmlns:a="http://schemas.openxmlformats.org/drawingml/2006/main">
              <a:ext uri="{FF2B5EF4-FFF2-40B4-BE49-F238E27FC236}">
                <a16:creationId xmlns:a16="http://schemas.microsoft.com/office/drawing/2014/main" id="{D707E311-1C71-4BB6-AD0E-1EC73695CD47}"/>
              </a:ext>
            </a:extLst>
          </p:cNvPr>
          <p:cNvCxnSpPr/>
          <p:nvPr/>
        </p:nvCxnSpPr>
        <p:spPr>
          <a:xfrm xmlns:a="http://schemas.openxmlformats.org/drawingml/2006/main">
            <a:off x="352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27" name="2">
            <a:extLst xmlns:a="http://schemas.openxmlformats.org/drawingml/2006/main">
              <a:ext uri="{FF2B5EF4-FFF2-40B4-BE49-F238E27FC236}">
                <a16:creationId xmlns:a16="http://schemas.microsoft.com/office/drawing/2014/main" id="{25092CD2-D2D7-4B98-BF51-6201930B1F22}"/>
              </a:ext>
            </a:extLst>
          </p:cNvPr>
          <p:cNvSpPr>
            <a:spLocks xmlns:a="http://schemas.openxmlformats.org/drawingml/2006/main" noGrp="1"/>
          </p:cNvSpPr>
          <p:nvPr/>
        </p:nvSpPr>
        <p:spPr>
          <a:xfrm xmlns:a="http://schemas.openxmlformats.org/drawingml/2006/main">
            <a:off x="441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2</a:t>
            </a:r>
          </a:p>
        </p:txBody>
      </p:sp>
      <p:sp>
        <p:nvSpPr>
          <p:cNvPr id="28" name="Context 첨부·확인">
            <a:extLst xmlns:a="http://schemas.openxmlformats.org/drawingml/2006/main">
              <a:ext uri="{FF2B5EF4-FFF2-40B4-BE49-F238E27FC236}">
                <a16:creationId xmlns:a16="http://schemas.microsoft.com/office/drawing/2014/main" id="{A27C692D-E0D8-447F-A415-607F3DAB4141}"/>
              </a:ext>
            </a:extLst>
          </p:cNvPr>
          <p:cNvSpPr>
            <a:spLocks xmlns:a="http://schemas.openxmlformats.org/drawingml/2006/main" noGrp="1"/>
          </p:cNvSpPr>
          <p:nvPr/>
        </p:nvSpPr>
        <p:spPr>
          <a:xfrm xmlns:a="http://schemas.openxmlformats.org/drawingml/2006/main">
            <a:off x="483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Context 첨부·확인</a:t>
            </a:r>
          </a:p>
        </p:txBody>
      </p:sp>
      <p:cxnSp>
        <p:nvCxnSpPr>
          <p:cNvPr id="29" name="Copilot workflow step 2 to 3">
            <a:extLst xmlns:a="http://schemas.openxmlformats.org/drawingml/2006/main">
              <a:ext uri="{FF2B5EF4-FFF2-40B4-BE49-F238E27FC236}">
                <a16:creationId xmlns:a16="http://schemas.microsoft.com/office/drawing/2014/main" id="{6A072F8C-93DF-4F1E-80AD-57537FA8CAF8}"/>
              </a:ext>
            </a:extLst>
          </p:cNvPr>
          <p:cNvCxnSpPr/>
          <p:nvPr/>
        </p:nvCxnSpPr>
        <p:spPr>
          <a:xfrm xmlns:a="http://schemas.openxmlformats.org/drawingml/2006/main">
            <a:off x="7334250" y="5438775"/>
            <a:ext cx="628650" cy="0"/>
          </a:xfrm>
          <a:prstGeom xmlns:a="http://schemas.openxmlformats.org/drawingml/2006/main" prst="straightConnector1">
            <a:avLst/>
          </a:prstGeom>
          <a:ln xmlns:a="http://schemas.openxmlformats.org/drawingml/2006/main" w="19050">
            <a:solidFill>
              <a:srgbClr val="0B6172"/>
            </a:solidFill>
            <a:tailEnd type="triangle" w="med" len="med"/>
          </a:ln>
        </p:spPr>
      </p:cxnSp>
      <p:sp>
        <p:nvSpPr>
          <p:cNvPr id="31" name="3">
            <a:extLst xmlns:a="http://schemas.openxmlformats.org/drawingml/2006/main">
              <a:ext uri="{FF2B5EF4-FFF2-40B4-BE49-F238E27FC236}">
                <a16:creationId xmlns:a16="http://schemas.microsoft.com/office/drawing/2014/main" id="{CB34179C-E9F1-4E83-8573-53886026220B}"/>
              </a:ext>
            </a:extLst>
          </p:cNvPr>
          <p:cNvSpPr>
            <a:spLocks xmlns:a="http://schemas.openxmlformats.org/drawingml/2006/main" noGrp="1"/>
          </p:cNvSpPr>
          <p:nvPr/>
        </p:nvSpPr>
        <p:spPr>
          <a:xfrm xmlns:a="http://schemas.openxmlformats.org/drawingml/2006/main">
            <a:off x="8229600" y="5257800"/>
            <a:ext cx="342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3</a:t>
            </a:r>
          </a:p>
        </p:txBody>
      </p:sp>
      <p:sp>
        <p:nvSpPr>
          <p:cNvPr id="32" name="질문하고 답 확인">
            <a:extLst xmlns:a="http://schemas.openxmlformats.org/drawingml/2006/main">
              <a:ext uri="{FF2B5EF4-FFF2-40B4-BE49-F238E27FC236}">
                <a16:creationId xmlns:a16="http://schemas.microsoft.com/office/drawing/2014/main" id="{1F3C5990-43BB-413B-9F5E-62BC65E8EEF4}"/>
              </a:ext>
            </a:extLst>
          </p:cNvPr>
          <p:cNvSpPr>
            <a:spLocks xmlns:a="http://schemas.openxmlformats.org/drawingml/2006/main" noGrp="1"/>
          </p:cNvSpPr>
          <p:nvPr/>
        </p:nvSpPr>
        <p:spPr>
          <a:xfrm xmlns:a="http://schemas.openxmlformats.org/drawingml/2006/main">
            <a:off x="8648700" y="5257800"/>
            <a:ext cx="3086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 답 확인</a:t>
            </a:r>
          </a:p>
        </p:txBody>
      </p:sp>
      <p:sp>
        <p:nvSpPr>
          <p:cNvPr id="33" name="">
            <a:extLst xmlns:a="http://schemas.openxmlformats.org/drawingml/2006/main">
              <a:ext uri="{FF2B5EF4-FFF2-40B4-BE49-F238E27FC236}">
                <a16:creationId xmlns:a16="http://schemas.microsoft.com/office/drawing/2014/main" id="{D835368D-61A3-4E54-A56E-C763FE17094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4" name="Practical application tip badge">
            <a:extLst xmlns:a="http://schemas.openxmlformats.org/drawingml/2006/main">
              <a:ext uri="{FF2B5EF4-FFF2-40B4-BE49-F238E27FC236}">
                <a16:creationId xmlns:a16="http://schemas.microsoft.com/office/drawing/2014/main" id="{082FD7B7-88A5-4C12-A1A2-C79F5921C22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5" name="Legacy module connection">
            <a:extLst xmlns:a="http://schemas.openxmlformats.org/drawingml/2006/main">
              <a:ext uri="{FF2B5EF4-FFF2-40B4-BE49-F238E27FC236}">
                <a16:creationId xmlns:a16="http://schemas.microsoft.com/office/drawing/2014/main" id="{C8D6FD88-B395-497F-9FF2-F7B650E2C2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9246186"/>
      </p:ext>
    </p:extLst>
  </p:cSld>
</p:sld>
</file>

<file path=ppt/slides/slide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C93C0508-0764-4AFD-BD10-1015E08D4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4">
            <a:extLst xmlns:a="http://schemas.openxmlformats.org/drawingml/2006/main">
              <a:ext uri="{FF2B5EF4-FFF2-40B4-BE49-F238E27FC236}">
                <a16:creationId xmlns:a16="http://schemas.microsoft.com/office/drawing/2014/main" id="{9F083CC6-7057-4A0B-BD76-2E852FEA97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질문이 커지면 Context를 모으는 일이 생긴다">
            <a:extLst xmlns:a="http://schemas.openxmlformats.org/drawingml/2006/main">
              <a:ext uri="{FF2B5EF4-FFF2-40B4-BE49-F238E27FC236}">
                <a16:creationId xmlns:a16="http://schemas.microsoft.com/office/drawing/2014/main" id="{B4A0D312-74E6-4DA9-A5B0-B385A0CD8B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45FA1268-C881-4244-A334-2C9DA6E714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결과가 기대와 다르다” — 우리는 어디를 살펴볼까?">
            <a:extLst xmlns:a="http://schemas.openxmlformats.org/drawingml/2006/main">
              <a:ext uri="{FF2B5EF4-FFF2-40B4-BE49-F238E27FC236}">
                <a16:creationId xmlns:a16="http://schemas.microsoft.com/office/drawing/2014/main" id="{5D88F3F0-0F0A-47E9-B036-FEAF86B086E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2B86C12E-B805-4AFA-A939-EAD37C7CFE36}"/>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F363ED57-720E-4D9D-8055-5CC33A560B9E}"/>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AEDE415C-DAA3-4689-A30C-A2332344C157}"/>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4B016F56-578A-441F-88A2-5BC45A6830A2}"/>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8C8E99CF-F509-420E-A6A3-6988C0607DFF}"/>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F15158C0-0016-432C-820B-AECE026C7A3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548A96F3-F523-4F96-BE94-07EC684F4289}"/>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9AEACA8-387E-4B49-B525-79D305CBD300}"/>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C9E3C84F-39FB-4F61-8696-2A7ABAD56C2A}"/>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699A287E-11E7-4952-AE6C-A0723BBF907E}"/>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A83946B-5632-469A-9F1A-ED25AB3CEC8D}"/>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48F240E7-E0BA-41DC-BDC1-11067267BE64}"/>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FC97482D-72F1-46A0-864E-34F1D9D726BA}"/>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CBE82828-6CA5-47DE-B1E7-A14B45A429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6B381475-DAA8-40DD-8164-002B1D1C6353}"/>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EE0B39-D5F6-4A20-97F1-A5B4B9938C1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3ECE8CBF-2AB2-4304-9DC0-A9CDCEB75C3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A806C6F7-4B31-4436-8A55-8B060FB81807}"/>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EE685207-C99E-4249-9B6F-08BA6BA8B3EE}"/>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56BC0D12-FA4B-4011-AAFE-E9F5BE4797E0}"/>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7EA479CC-258D-4068-BF39-98B4D9AEFCE8}"/>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910F95B9-C90B-492D-A770-8A41238E1EFE}"/>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EE8A2711-1D30-4514-9FFC-3B7601904DB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27DC68FF-45F9-456E-B59A-C65A17B6918A}"/>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4EA4A8F2-C594-4C5E-A420-9E9B36AA75A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9B5BA846-B832-40F0-B005-2290E7560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011716600"/>
      </p:ext>
    </p:extLst>
  </p:cSld>
</p:sld>
</file>

<file path=ppt/slides/slide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개발 프로젝트 조사 기록">
            <a:extLst xmlns:a="http://schemas.openxmlformats.org/drawingml/2006/main">
              <a:ext uri="{FF2B5EF4-FFF2-40B4-BE49-F238E27FC236}">
                <a16:creationId xmlns:a16="http://schemas.microsoft.com/office/drawing/2014/main" id="{3694FEB9-3C5A-4A8E-844F-00F008677C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개발 프로젝트 조사 기록</a:t>
            </a:r>
          </a:p>
        </p:txBody>
      </p:sp>
      <p:sp>
        <p:nvSpPr>
          <p:cNvPr id="2" name="S05">
            <a:extLst xmlns:a="http://schemas.openxmlformats.org/drawingml/2006/main">
              <a:ext uri="{FF2B5EF4-FFF2-40B4-BE49-F238E27FC236}">
                <a16:creationId xmlns:a16="http://schemas.microsoft.com/office/drawing/2014/main" id="{EF49BA31-4F0D-40C6-AC9C-D1F46F8075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파일명을 주지 않으면 Agent는 어디부터 볼까?">
            <a:extLst xmlns:a="http://schemas.openxmlformats.org/drawingml/2006/main">
              <a:ext uri="{FF2B5EF4-FFF2-40B4-BE49-F238E27FC236}">
                <a16:creationId xmlns:a16="http://schemas.microsoft.com/office/drawing/2014/main" id="{1636C697-DE5D-47BF-88BD-DD3F9A9F65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9DA95E2C-919A-4024-95A6-0DFFFADAE5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BBAC22E-A8CA-41AB-ABDA-CB1053554E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 · 읽기 전용</a:t>
            </a:r>
          </a:p>
        </p:txBody>
      </p:sp>
      <p:sp>
        <p:nvSpPr>
          <p:cNvPr id="6" name="Audience footer 2">
            <a:extLst xmlns:a="http://schemas.openxmlformats.org/drawingml/2006/main">
              <a:ext uri="{FF2B5EF4-FFF2-40B4-BE49-F238E27FC236}">
                <a16:creationId xmlns:a16="http://schemas.microsoft.com/office/drawing/2014/main" id="{A9966372-4576-41F9-B552-3DBEC293E9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우측은 GoogleTest 예시 · 실제 Trial은 Python</a:t>
            </a:r>
          </a:p>
        </p:txBody>
      </p:sp>
      <p:sp>
        <p:nvSpPr>
          <p:cNvPr id="7" name="TRIAL-001의 실제 조사 요청">
            <a:extLst xmlns:a="http://schemas.openxmlformats.org/drawingml/2006/main">
              <a:ext uri="{FF2B5EF4-FFF2-40B4-BE49-F238E27FC236}">
                <a16:creationId xmlns:a16="http://schemas.microsoft.com/office/drawing/2014/main" id="{06A81A13-4B4C-4CF7-9222-B905D576CB67}"/>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885493C1-32DF-4257-9B3B-68AD72D50427}"/>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55C9E19-B5E1-4166-95A7-3EEA4EE5440E}"/>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C6ECAEF-FEAE-4BBC-9635-7B93B39781A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760B0561-6614-4B30-8D1D-0DCFB622FFFF}"/>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5D35328-330F-4871-B4C8-57F9E00B3935}"/>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9CE1221-1218-4883-BD0B-B9151A6C5F5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22EA8163-01A1-4057-8E51-9E660AFAEC0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426415F2-6F6C-41F3-BA93-3C313D02A9F4}"/>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36568CF-85C9-4B65-8394-779A5016E25A}"/>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579BB336-0F2B-4659-9B91-DBECAFE63C2D}"/>
              </a:ext>
            </a:extLst>
          </p:cNvPr>
          <p:cNvPicPr>
            <a:picLocks xmlns:a="http://schemas.openxmlformats.org/drawingml/2006/main" noChangeAspect="1"/>
          </p:cNvPicPr>
          <p:nvPr/>
        </p:nvPicPr>
        <p:blipFill>
          <a:blip xmlns:r="http://schemas.openxmlformats.org/officeDocument/2006/relationships" xmlns:a="http://schemas.openxmlformats.org/drawingml/2006/main" r:embed="R32c280ad15ca4b01"/>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C57DB961-2082-4E9E-8B13-F0906800DC3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98C1987-FE54-45CB-ABCA-86515BE852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0777020"/>
      </p:ext>
    </p:extLst>
  </p:cSld>
</p:sld>
</file>

<file path=ppt/slides/slide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75B24F03-EABF-4763-AD28-B0BDAF7C1D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6">
            <a:extLst xmlns:a="http://schemas.openxmlformats.org/drawingml/2006/main">
              <a:ext uri="{FF2B5EF4-FFF2-40B4-BE49-F238E27FC236}">
                <a16:creationId xmlns:a16="http://schemas.microsoft.com/office/drawing/2014/main" id="{EDB32EED-4279-41F3-B689-04060A71A8C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Crop은 기대한 폭보다 한 열을 더 포함했다">
            <a:extLst xmlns:a="http://schemas.openxmlformats.org/drawingml/2006/main">
              <a:ext uri="{FF2B5EF4-FFF2-40B4-BE49-F238E27FC236}">
                <a16:creationId xmlns:a16="http://schemas.microsoft.com/office/drawing/2014/main" id="{07FBED6B-0A42-491F-A18C-F88D8E91C7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D1152FA-A1AF-4611-9D53-082439ED03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5A08124-814A-43B5-967C-F52306B811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조사 기록 요약 · 코드 수정 없음</a:t>
            </a:r>
          </a:p>
        </p:txBody>
      </p:sp>
      <p:sp>
        <p:nvSpPr>
          <p:cNvPr id="7" name="crop(image, 1, 3) · 명세는 끝 좌표 3을 제외">
            <a:extLst xmlns:a="http://schemas.openxmlformats.org/drawingml/2006/main">
              <a:ext uri="{FF2B5EF4-FFF2-40B4-BE49-F238E27FC236}">
                <a16:creationId xmlns:a16="http://schemas.microsoft.com/office/drawing/2014/main" id="{4CA63B5F-BA1B-4D24-A9DF-4426A5D44BBB}"/>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D90290BB-EEEF-40AF-A2CD-EA6ABE30F320}"/>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DB9C4A45-5976-469C-A1D7-6C1D9C5220B3}"/>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E5CF4ACB-363F-4F9A-81D8-D9F63840A4BF}"/>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80F4573-679D-456B-98BD-573C3D1B7BFC}"/>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0B685373-5238-4B3A-9411-0F0C1F7BAB03}"/>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A6E4F759-3E2B-426C-8354-30265C47AF8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D54D3234-C6FD-43E7-998F-B2BBA01F1286}"/>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65141275-A141-4E75-9220-CF37DEDF88C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AFD01EC3-28D7-405E-8156-23724C269D8F}"/>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BEE12970-4B9D-484A-A589-2329A1E6A5FE}"/>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0A6BC763-5C4C-4AC5-A016-75D2739216E0}"/>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ED590B29-893E-470A-B90B-E6DBF89F4C60}"/>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E0A14E8B-C4ED-4D29-8A5F-E9EB36FBEB20}"/>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9DB8FE82-C1FF-42F2-835B-F747224DA164}"/>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D1CB2B2F-8577-4087-B80A-FD19E1ABC41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181893F3-F6B6-42A8-A641-9F9457594B0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1D3540F-7C21-44B1-A965-852ED2DA49F9}"/>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77674EB2-0BB8-4A6F-9E63-96B6BC3198C2}"/>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374BE774-DF20-40AA-8FE0-BC1FD1295D3E}"/>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28188A15-B2F4-44E3-BB1F-7D9E14701E6D}"/>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F5430001-7811-4810-B27A-DD715EE4C4A4}"/>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991F3D02-4664-4C20-B5D5-E68D1F188EA3}"/>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CFB66F2E-1978-469C-A14E-2F38C1BF6C6C}"/>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68DD9B9-BD7D-4FB5-AE82-531F17A29C92}"/>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881BC640-1593-4CC7-A923-CD8ACC9EFED0}"/>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69F4B87-CB82-4FA5-A394-5E2754B7A9F3}"/>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F0137DD6-09A4-4212-9C50-180CF1DB6D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37425086"/>
      </p:ext>
    </p:extLst>
  </p:cSld>
</p:sld>
</file>

<file path=ppt/slides/slide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772CB9A9-FC3E-44A3-BCD9-4C160F9D1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7">
            <a:extLst xmlns:a="http://schemas.openxmlformats.org/drawingml/2006/main">
              <a:ext uri="{FF2B5EF4-FFF2-40B4-BE49-F238E27FC236}">
                <a16:creationId xmlns:a16="http://schemas.microsoft.com/office/drawing/2014/main" id="{ECB93B32-E93D-44F2-920C-C203901F1A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테스트·명세·구현을 연결해 원인을 설명했다">
            <a:extLst xmlns:a="http://schemas.openxmlformats.org/drawingml/2006/main">
              <a:ext uri="{FF2B5EF4-FFF2-40B4-BE49-F238E27FC236}">
                <a16:creationId xmlns:a16="http://schemas.microsoft.com/office/drawing/2014/main" id="{AAE8501B-CE00-420A-84E9-1F5F5DD4BC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A7B2A15A-A61C-40F5-9E80-39CD6B2431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3787784-FFB7-4B3C-805D-30AA6F746C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발견한 근거의 관계도</a:t>
            </a:r>
          </a:p>
        </p:txBody>
      </p:sp>
      <p:sp>
        <p:nvSpPr>
          <p:cNvPr id="7" name="앞의 폭 2 / 폭 3 차이를 설명한 근거">
            <a:extLst xmlns:a="http://schemas.openxmlformats.org/drawingml/2006/main">
              <a:ext uri="{FF2B5EF4-FFF2-40B4-BE49-F238E27FC236}">
                <a16:creationId xmlns:a16="http://schemas.microsoft.com/office/drawing/2014/main" id="{3493EFCD-FFC9-47E7-93A7-AAD7A9938258}"/>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4120283F-794E-4292-AA29-96B7306C3B7B}"/>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4998AD0-0123-4E32-9B82-D410268BB3D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62CC9195-C460-478C-A0AD-23E3BF546277}"/>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E9C756DC-0E67-49DA-8424-23B717C1905B}"/>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6699AA59-06D2-4749-A407-45966404A271}"/>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D4EB9855-04F9-4C84-BC0B-866727BABE4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081EEF17-821A-4966-8A1E-A2CBF3F70485}"/>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8873F0F0-D8AC-4C14-B8E0-68A32A8099AD}"/>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1AB03D5D-CF39-4B8B-A295-8CFA97A5E5F6}"/>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70B8EB65-491A-49A4-9D14-F4D9A2E5DA18}"/>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CC0D5783-40BA-4F23-85D6-3CF28BB6EFE4}"/>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0036765-CF6D-406C-823C-899AA9B2BE3E}"/>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3BDEAAEE-1E63-4046-9D36-7A78442AF8D9}"/>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604E46BF-E688-4136-B7C2-6D98736B5815}"/>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CD917E31-88F3-4C5C-A47A-7569C3AF18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88091621"/>
      </p:ext>
    </p:extLst>
  </p:cSld>
</p:sld>
</file>

<file path=ppt/slides/slide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8F34E2C2-50E8-4907-96C1-A16C8A81BD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8">
            <a:extLst xmlns:a="http://schemas.openxmlformats.org/drawingml/2006/main">
              <a:ext uri="{FF2B5EF4-FFF2-40B4-BE49-F238E27FC236}">
                <a16:creationId xmlns:a16="http://schemas.microsoft.com/office/drawing/2014/main" id="{7D7B8538-CFE1-46B3-8D77-4D632A316F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662021AA-1843-45BF-9FD2-F614D52046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3125996E-61DC-4251-B249-FB0A594A10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6B6121EA-28D4-46EB-932D-FFC5B79CD4E2}"/>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F7519C6C-EB99-475F-8DF8-835790DC2B77}"/>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9D041C5C-CACD-4BDE-8933-A2701ABE8973}"/>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DEA03360-67EA-4B6D-B58A-06E6B806FC68}"/>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33736A14-1741-4F55-9B28-EB671CC85152}"/>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333A10A9-30C2-482C-B951-E88E7860B0A2}"/>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E7BFA635-E400-44F7-B8CE-9FA7DC69E499}"/>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666395BE-BC36-43B9-B398-93108267AD41}"/>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A1202DBF-38BD-4563-97B5-2573443FAC47}"/>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4DD2F9-CF62-42D5-BE24-BB3D53458D6C}"/>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46B2A4FD-4E1D-4654-A29D-CC339B234986}"/>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35F86103-F084-48C8-AAFF-FBEF728BCB9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EBCAFE49-5B84-4FEE-A5BB-1FD6BE8FF002}"/>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4E2DA9B0-AF6A-4284-9DD7-BB742518969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20166155"/>
      </p:ext>
    </p:extLst>
  </p:cSld>
</p:sld>
</file>

<file path=ppt/slides/slide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C8A25541-F1AE-41C7-BACC-740AE54BF6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9">
            <a:extLst xmlns:a="http://schemas.openxmlformats.org/drawingml/2006/main">
              <a:ext uri="{FF2B5EF4-FFF2-40B4-BE49-F238E27FC236}">
                <a16:creationId xmlns:a16="http://schemas.microsoft.com/office/drawing/2014/main" id="{3C146716-94CC-4ECD-AF08-3B88A00B19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6AF6AF9E-87EC-43D2-B448-85B097F805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870D0077-8CDA-44B4-9503-E188DF9057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프로젝트 파일 접근과 실행 권한은 별개">
            <a:extLst xmlns:a="http://schemas.openxmlformats.org/drawingml/2006/main">
              <a:ext uri="{FF2B5EF4-FFF2-40B4-BE49-F238E27FC236}">
                <a16:creationId xmlns:a16="http://schemas.microsoft.com/office/drawing/2014/main" id="{0CD77044-7E99-4F4E-A107-7908A6D5C9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파일 접근과 실행 권한은 별개</a:t>
            </a:r>
          </a:p>
        </p:txBody>
      </p:sp>
      <p:sp>
        <p:nvSpPr>
          <p:cNvPr id="7" name="앞선 두 문제를 판단할 때, 무엇을 살펴봤을까?">
            <a:extLst xmlns:a="http://schemas.openxmlformats.org/drawingml/2006/main">
              <a:ext uri="{FF2B5EF4-FFF2-40B4-BE49-F238E27FC236}">
                <a16:creationId xmlns:a16="http://schemas.microsoft.com/office/drawing/2014/main" id="{BEDCCA96-E330-4F6D-AA09-3638599E52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프로젝트 파일의 정보">
            <a:extLst xmlns:a="http://schemas.openxmlformats.org/drawingml/2006/main">
              <a:ext uri="{FF2B5EF4-FFF2-40B4-BE49-F238E27FC236}">
                <a16:creationId xmlns:a16="http://schemas.microsoft.com/office/drawing/2014/main" id="{C300FE35-C9B5-40A7-9773-4368AF4026A8}"/>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파일의 정보</a:t>
            </a:r>
          </a:p>
        </p:txBody>
      </p:sp>
      <p:sp>
        <p:nvSpPr>
          <p:cNvPr id="9" name="실행 환경의 자료">
            <a:extLst xmlns:a="http://schemas.openxmlformats.org/drawingml/2006/main">
              <a:ext uri="{FF2B5EF4-FFF2-40B4-BE49-F238E27FC236}">
                <a16:creationId xmlns:a16="http://schemas.microsoft.com/office/drawing/2014/main" id="{96FB59F5-2BE7-4FEB-BEA1-7071801C31F7}"/>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3A259CCD-CE60-4EBD-997A-FD2BAB53088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78545ADE-23B4-41F7-8C97-07A8C95A1753}"/>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5063C378-B814-40A2-B5C5-5EADDA758B66}"/>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D2CA160-48F3-4E67-B440-D5DC9FCB4408}"/>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77156C3-294C-4EE1-A455-6E58870AA192}"/>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D62DCB5F-7A6C-4CA5-8F1C-22CBB3AA701E}"/>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172F5238-4B65-472E-8736-3E5D412AE62F}"/>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D2B6C829-B80C-42F3-AEE7-03F223DE2048}"/>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A49D881A-82D5-44D4-B441-2F8F7ADB0A8D}"/>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F5F7817E-4BB7-4565-8FF1-9A5033BA26B3}"/>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BE23C8FE-1CEC-4318-B10F-6F70D96AC90A}"/>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92A27F0D-0EF9-4024-B7CC-E7B3F88EBEE4}"/>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1BFC4D87-D3AA-45DD-BDB2-28F60007B705}"/>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B73FA570-91E7-459B-B0AC-E4AE848CDDA1}"/>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84368240-394B-42E8-B500-C8E4E962860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0E353751-27B3-4C57-9FAA-80A96550C6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817004346"/>
      </p:ext>
    </p:extLst>
  </p:cSld>
</p:sld>
</file>

<file path=ppt/slides/slide11.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6A87A979-EB30-45C5-B58E-93D59A3AC6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10">
            <a:extLst xmlns:a="http://schemas.openxmlformats.org/drawingml/2006/main">
              <a:ext uri="{FF2B5EF4-FFF2-40B4-BE49-F238E27FC236}">
                <a16:creationId xmlns:a16="http://schemas.microsoft.com/office/drawing/2014/main" id="{6345FA39-8871-4E64-999E-9D4635DCA6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Chatbot에 이 자료를 직접 전달한다면?">
            <a:extLst xmlns:a="http://schemas.openxmlformats.org/drawingml/2006/main">
              <a:ext uri="{FF2B5EF4-FFF2-40B4-BE49-F238E27FC236}">
                <a16:creationId xmlns:a16="http://schemas.microsoft.com/office/drawing/2014/main" id="{6FD7A49D-122D-4BC1-95AE-802CBDD9C7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2DD9C51A-1F68-4592-89AF-F59612FA96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답을 받기 전, 사람이 관련 자료를 찾아 전달하는 방식">
            <a:extLst xmlns:a="http://schemas.openxmlformats.org/drawingml/2006/main">
              <a:ext uri="{FF2B5EF4-FFF2-40B4-BE49-F238E27FC236}">
                <a16:creationId xmlns:a16="http://schemas.microsoft.com/office/drawing/2014/main" id="{5396D127-7E80-4844-80A3-D84D011EE755}"/>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2D6AD7B5-DD65-4A09-8549-9084C0D9A527}"/>
              </a:ext>
            </a:extLst>
          </p:cNvPr>
          <p:cNvPicPr>
            <a:picLocks xmlns:a="http://schemas.openxmlformats.org/drawingml/2006/main" noChangeAspect="1"/>
          </p:cNvPicPr>
          <p:nvPr/>
        </p:nvPicPr>
        <p:blipFill>
          <a:blip xmlns:r="http://schemas.openxmlformats.org/officeDocument/2006/relationships" xmlns:a="http://schemas.openxmlformats.org/drawingml/2006/main" r:embed="Rc4b2358a560b4548"/>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9DC4A832-2662-4D74-9479-DFED6B513888}"/>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C94890AC-045E-4D18-AF23-75C5D8F17EDB}"/>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5D1F7E3-AAF7-4B72-B8ED-E2E3B382573A}"/>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A64E559-C57A-41C6-A264-6193D237FF35}"/>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1C1484D6-7151-45BB-9BCB-AE256534F4B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844A869-A240-4794-ABAA-7E099AA9B46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0DEFA9A2-D153-4533-9B5D-C980A6C055C6}"/>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C5E781C-BDE0-4F2C-9145-36531442840D}"/>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FF23166C-3B8C-4A4E-B357-AAE9A797F2A8}"/>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DE22FC-5325-41B3-A13C-273DE6E1C414}"/>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D86E6AE7-82C8-4041-B0F8-36C641A2C1C9}"/>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9BF0174A-EB37-4EB5-A420-FDCB462C61C4}"/>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082B2326-2AFF-4351-B371-E1997F90DE2E}"/>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5009AED3-4294-44EC-BC0F-DBDFE01DAD06}"/>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FC016124-E1DE-44AB-A227-0E75BCE04694}"/>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A18F6D3D-6052-4CB2-B304-16505041A924}"/>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9AB9FC5E-06F7-4F2B-A153-2A8FF957DC26}"/>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4BC494C3-BE15-4876-8CEF-7AAD0383FF27}"/>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6AF69AA1-A6BC-4FC9-88FE-E0B0CD5A0810}"/>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A7C25BC2-4B31-45A6-805F-B033959B23EF}"/>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2A08CD75-11E2-48D2-BA79-AD9042BDEA9D}"/>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ABB968D-8BB4-41BB-BDBE-D6EF54A4F63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2C7A60BD-CA87-4107-89CB-7BE5DD3D6B5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ChatGPT 웹 · 자료 첨부 예시">
            <a:extLst xmlns:a="http://schemas.openxmlformats.org/drawingml/2006/main">
              <a:ext uri="{FF2B5EF4-FFF2-40B4-BE49-F238E27FC236}">
                <a16:creationId xmlns:a16="http://schemas.microsoft.com/office/drawing/2014/main" id="{758BF9A0-4B5A-45E3-ACAD-03A1C493C28E}"/>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ChatGPT 웹 · 자료 첨부 예시</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B9AF13A3-C1C4-46B6-8318-F297E3FDF7DB}"/>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52B8D671-1E48-48AA-8A35-FEA8BF346B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78848966"/>
      </p:ext>
    </p:extLst>
  </p:cSld>
</p:sld>
</file>

<file path=ppt/slides/slide12.xml><?xml version="1.0" encoding="utf-8"?>
<p:sld xmlns:p="http://schemas.openxmlformats.org/presentationml/2006/main" xmlns:a="http://schemas.openxmlformats.org/drawingml/2006/main" xmlns:r="http://schemas.openxmlformats.org/officeDocument/2006/relationships">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EFA62762-7552-4CB4-ADF9-16781A0EFC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1">
            <a:extLst xmlns:a="http://schemas.openxmlformats.org/drawingml/2006/main">
              <a:ext uri="{FF2B5EF4-FFF2-40B4-BE49-F238E27FC236}">
                <a16:creationId xmlns:a16="http://schemas.microsoft.com/office/drawing/2014/main" id="{AA082F53-0818-4717-89E0-21D32DCA2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Agent가 자료를 직접 찾아 연결했다">
            <a:extLst xmlns:a="http://schemas.openxmlformats.org/drawingml/2006/main">
              <a:ext uri="{FF2B5EF4-FFF2-40B4-BE49-F238E27FC236}">
                <a16:creationId xmlns:a16="http://schemas.microsoft.com/office/drawing/2014/main" id="{71D5927C-55CB-48B9-BE12-0B2F3E568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41989837-0FA5-401E-B06B-4CAF10D2499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6FF30C4-CC30-460A-B8C6-20BB8131CB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Codex CLI 조사 기록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5AFE57BE-C127-41A6-9863-BC1FD08AA83A}"/>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632FE5F4-2D22-44CF-855C-9CCFDC5A18BA}"/>
              </a:ext>
            </a:extLst>
          </p:cNvPr>
          <p:cNvPicPr>
            <a:picLocks xmlns:a="http://schemas.openxmlformats.org/drawingml/2006/main" noChangeAspect="1"/>
          </p:cNvPicPr>
          <p:nvPr/>
        </p:nvPicPr>
        <p:blipFill>
          <a:blip xmlns:r="http://schemas.openxmlformats.org/officeDocument/2006/relationships" xmlns:a="http://schemas.openxmlformats.org/drawingml/2006/main" r:embed="R31004c676db84349"/>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22A86700-122D-4D01-BEA6-73C8BF4E7ECF}"/>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81243697-A706-47A2-ADC7-C17AA937D77E}"/>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2716AEA-D664-4ACB-9067-FC20CB2524D0}"/>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6658218-1BA0-449F-B5E1-D3763EA51A93}"/>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D8FA398-0760-4986-95C4-9D72EEA0D3E1}"/>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02749284-2CE8-44DF-8B9B-33D643FB4F14}"/>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A09C8DC9-3F84-430B-B7A3-F51AC8289EF9}"/>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0067806E-E9B2-48FC-BEE0-A669904D1F76}"/>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3BDF32FE-2E3F-41A2-BFF1-59A3301E20A5}"/>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28CBCDD8-AE80-4FDE-98D8-05F8C45A300C}"/>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C3ADDDA-2582-496A-BE84-7155254235BF}"/>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EFC4A3-AD6F-4459-9ED4-68C7EA40A1D0}"/>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A1498C02-C8E6-4A01-9639-D683F6C0E14B}"/>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0F71A083-19C6-44D9-AEE5-37E106662E8B}"/>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A4D8A899-D758-493F-AE18-F4A1DFDD263B}"/>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64804470-607F-4C32-BE74-DFAFC16D6DE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D401A46E-53DE-474D-AEBA-3A4432DC68C7}"/>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E03BA7D3-2584-4097-BF64-8D64C27C3DF8}"/>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1391C8B8-DB36-410D-A6B6-4B4A2FDC7CCE}"/>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F55DB41F-ABDE-4FD9-B562-E3F65E1E07EC}"/>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A0EAFCC4-A89D-497B-B7F8-92D236CAC93F}"/>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7FF3AA22-8ED2-4B76-93DB-2545C066EA01}"/>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pic>
        <p:nvPicPr>
          <p:cNvPr id="38" name="">
            <a:extLst xmlns:a="http://schemas.openxmlformats.org/drawingml/2006/main">
              <a:ext uri="{FF2B5EF4-FFF2-40B4-BE49-F238E27FC236}">
                <a16:creationId xmlns:a16="http://schemas.microsoft.com/office/drawing/2014/main" id="{ABE9A0FC-5F21-455D-BA0E-EA8090B7DC15}"/>
              </a:ext>
            </a:extLst>
          </p:cNvPr>
          <p:cNvPicPr>
            <a:picLocks xmlns:a="http://schemas.openxmlformats.org/drawingml/2006/main" noChangeAspect="1"/>
          </p:cNvPicPr>
          <p:nvPr/>
        </p:nvPicPr>
        <p:blipFill>
          <a:blip xmlns:r="http://schemas.openxmlformats.org/officeDocument/2006/relationships" xmlns:a="http://schemas.openxmlformats.org/drawingml/2006/main" r:embed="rIdProductUi"/>
          <a:stretch xmlns:a="http://schemas.openxmlformats.org/drawingml/2006/main"/>
        </p:blipFill>
        <p:spPr>
          <a:xfrm xmlns:a="http://schemas.openxmlformats.org/drawingml/2006/main">
            <a:off x="7886700" y="2782807"/>
            <a:ext cx="3695700" cy="2311560"/>
          </a:xfrm>
          <a:prstGeom xmlns:a="http://schemas.openxmlformats.org/drawingml/2006/main" prst="rect">
            <a:avLst/>
          </a:prstGeom>
        </p:spPr>
      </p:pic>
      <p:sp>
        <p:nvSpPr>
          <p:cNvPr id="39" name="화면 재구성 · 근거는 CLI 조사 기록">
            <a:extLst xmlns:a="http://schemas.openxmlformats.org/drawingml/2006/main">
              <a:ext uri="{FF2B5EF4-FFF2-40B4-BE49-F238E27FC236}">
                <a16:creationId xmlns:a16="http://schemas.microsoft.com/office/drawing/2014/main" id="{F66D9DDF-5ED8-4AD4-8CD3-B9215EC9BB37}"/>
              </a:ext>
            </a:extLst>
          </p:cNvPr>
          <p:cNvSpPr>
            <a:spLocks xmlns:a="http://schemas.openxmlformats.org/drawingml/2006/main" noGrp="1"/>
          </p:cNvSpPr>
          <p:nvPr/>
        </p:nvSpPr>
        <p:spPr>
          <a:xfrm xmlns:a="http://schemas.openxmlformats.org/drawingml/2006/main">
            <a:off x="7886700" y="5124450"/>
            <a:ext cx="3695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275" b="0">
                <a:solidFill>
                  <a:srgbClr val="4D5A68"/>
                </a:solidFill>
                <a:latin typeface="Malgun Gothic"/>
                <a:ea typeface="Malgun Gothic"/>
                <a:cs typeface="Malgun Gothic"/>
              </a:defRPr>
            </a:defPPr>
            <a:lvl1pPr algn="l">
              <a:defRPr sz="1275" b="0">
                <a:solidFill>
                  <a:srgbClr val="4D5A68"/>
                </a:solidFill>
                <a:latin typeface="Malgun Gothic"/>
                <a:ea typeface="Malgun Gothic"/>
                <a:cs typeface="Malgun Gothic"/>
              </a:defRPr>
            </a:lvl1pPr>
            <a:lvl2pPr algn="l">
              <a:defRPr sz="1275" b="0">
                <a:solidFill>
                  <a:srgbClr val="4D5A68"/>
                </a:solidFill>
                <a:latin typeface="Malgun Gothic"/>
                <a:ea typeface="Malgun Gothic"/>
                <a:cs typeface="Malgun Gothic"/>
              </a:defRPr>
            </a:lvl2pPr>
            <a:lvl3pPr algn="l">
              <a:defRPr sz="1275" b="0">
                <a:solidFill>
                  <a:srgbClr val="4D5A68"/>
                </a:solidFill>
                <a:latin typeface="Malgun Gothic"/>
                <a:ea typeface="Malgun Gothic"/>
                <a:cs typeface="Malgun Gothic"/>
              </a:defRPr>
            </a:lvl3pPr>
            <a:lvl4pPr algn="l">
              <a:defRPr sz="1275" b="0">
                <a:solidFill>
                  <a:srgbClr val="4D5A68"/>
                </a:solidFill>
                <a:latin typeface="Malgun Gothic"/>
                <a:ea typeface="Malgun Gothic"/>
                <a:cs typeface="Malgun Gothic"/>
              </a:defRPr>
            </a:lvl4pPr>
            <a:lvl5pPr algn="l">
              <a:defRPr sz="1275" b="0">
                <a:solidFill>
                  <a:srgbClr val="4D5A68"/>
                </a:solidFill>
                <a:latin typeface="Malgun Gothic"/>
                <a:ea typeface="Malgun Gothic"/>
                <a:cs typeface="Malgun Gothic"/>
              </a:defRPr>
            </a:lvl5pPr>
            <a:lvl6pPr algn="l">
              <a:defRPr sz="1275" b="0">
                <a:solidFill>
                  <a:srgbClr val="4D5A68"/>
                </a:solidFill>
                <a:latin typeface="Malgun Gothic"/>
                <a:ea typeface="Malgun Gothic"/>
                <a:cs typeface="Malgun Gothic"/>
              </a:defRPr>
            </a:lvl6pPr>
            <a:lvl7pPr algn="l">
              <a:defRPr sz="1275" b="0">
                <a:solidFill>
                  <a:srgbClr val="4D5A68"/>
                </a:solidFill>
                <a:latin typeface="Malgun Gothic"/>
                <a:ea typeface="Malgun Gothic"/>
                <a:cs typeface="Malgun Gothic"/>
              </a:defRPr>
            </a:lvl7pPr>
            <a:lvl8pPr algn="l">
              <a:defRPr sz="1275" b="0">
                <a:solidFill>
                  <a:srgbClr val="4D5A68"/>
                </a:solidFill>
                <a:latin typeface="Malgun Gothic"/>
                <a:ea typeface="Malgun Gothic"/>
                <a:cs typeface="Malgun Gothic"/>
              </a:defRPr>
            </a:lvl8pPr>
            <a:lvl9pPr algn="l">
              <a:defRPr sz="1275" b="0">
                <a:solidFill>
                  <a:srgbClr val="4D5A68"/>
                </a:solidFill>
                <a:latin typeface="Malgun Gothic"/>
                <a:ea typeface="Malgun Gothic"/>
                <a:cs typeface="Malgun Gothic"/>
              </a:defRPr>
            </a:lvl9pPr>
          </a:lstStyle>
          <a:p xmlns:a="http://schemas.openxmlformats.org/drawingml/2006/main">
            <a:pPr algn="l">
              <a:defRPr sz="1275" b="0">
                <a:solidFill>
                  <a:srgbClr val="4D5A68"/>
                </a:solidFill>
                <a:latin typeface="Malgun Gothic"/>
                <a:ea typeface="Malgun Gothic"/>
                <a:cs typeface="Malgun Gothic"/>
              </a:defRPr>
            </a:pPr>
            <a:r>
              <a:rPr sz="1275" b="0">
                <a:solidFill>
                  <a:srgbClr val="4D5A68"/>
                </a:solidFill>
                <a:latin typeface="Malgun Gothic"/>
                <a:ea typeface="Malgun Gothic"/>
                <a:cs typeface="Malgun Gothic"/>
              </a:rPr>
              <a:t>화면 재구성 · 근거는 CLI 조사 기록</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0609CE27-5B89-42CC-BAF3-100621D2D54C}"/>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F768464C-6E63-41BA-8B28-35E936BCFD7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68497491"/>
      </p:ext>
    </p:extLst>
  </p:cSld>
</p:sld>
</file>

<file path=ppt/slides/slide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ACT 0 · ChatGPT 데스크톱 앱의 진입 경로">
            <a:extLst xmlns:a="http://schemas.openxmlformats.org/drawingml/2006/main">
              <a:ext uri="{FF2B5EF4-FFF2-40B4-BE49-F238E27FC236}">
                <a16:creationId xmlns:a16="http://schemas.microsoft.com/office/drawing/2014/main" id="{75027868-D49E-4EAA-9143-CBA9F8EC13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2">
            <a:extLst xmlns:a="http://schemas.openxmlformats.org/drawingml/2006/main">
              <a:ext uri="{FF2B5EF4-FFF2-40B4-BE49-F238E27FC236}">
                <a16:creationId xmlns:a16="http://schemas.microsoft.com/office/drawing/2014/main" id="{F0415186-7395-4540-AA19-C397DCB629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개발 프로젝트 조사는 Codex에서 시작한다">
            <a:extLst xmlns:a="http://schemas.openxmlformats.org/drawingml/2006/main">
              <a:ext uri="{FF2B5EF4-FFF2-40B4-BE49-F238E27FC236}">
                <a16:creationId xmlns:a16="http://schemas.microsoft.com/office/drawing/2014/main" id="{3176E2BE-CAB4-4838-8C20-B89D94D65D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 프로젝트 조사는 Codex에서 시작한다</a:t>
            </a:r>
          </a:p>
        </p:txBody>
      </p:sp>
      <p:sp>
        <p:nvSpPr>
          <p:cNvPr id="4" name="">
            <a:extLst xmlns:a="http://schemas.openxmlformats.org/drawingml/2006/main">
              <a:ext uri="{FF2B5EF4-FFF2-40B4-BE49-F238E27FC236}">
                <a16:creationId xmlns:a16="http://schemas.microsoft.com/office/drawing/2014/main" id="{3E99F20F-11C9-4B38-84C9-24A27E1927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2FDF1C5-0685-4302-BAF2-C8CDCC8EAE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메뉴 예시</a:t>
            </a:r>
          </a:p>
        </p:txBody>
      </p:sp>
      <p:sp>
        <p:nvSpPr>
          <p:cNvPr id="7" name="앱 좌측 상단에서 ChatGPT → Codex 선택">
            <a:extLst xmlns:a="http://schemas.openxmlformats.org/drawingml/2006/main">
              <a:ext uri="{FF2B5EF4-FFF2-40B4-BE49-F238E27FC236}">
                <a16:creationId xmlns:a16="http://schemas.microsoft.com/office/drawing/2014/main" id="{BA498361-BC68-4D95-8F33-1729F92BB826}"/>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74DCB301-E365-486A-BCBF-22770267771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31759F4B-AE5B-4C09-A2B9-DA1C82991540}"/>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DFC64824-D53A-4ACE-847D-6763886204C8}"/>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020F9941-B769-4AA3-8018-F5C1F8F1093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C5BD19A9-28A5-4C0B-BDD7-6183D096373B}"/>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C8B5498E-038A-4B24-B732-DBA6271BB9D4}"/>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16CBD1E-6EB4-4E11-BD35-BB755505718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C336A0A7-93C6-4BDD-ACD4-9527BB4C694A}"/>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52186C6-C441-44DF-8534-7805D98C72FF}"/>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2929333C-B0F0-4295-AB4F-000DFDC754A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43A3682C-7D93-4793-8B8B-7116D31B5CEC}"/>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EB84179F-9F67-4C07-9D0E-08C76253CCD8}"/>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B5FFB010-9B70-49E8-9465-15633BD06D88}"/>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E4564688-3599-423B-B529-9A08D596C70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프로젝트 폴더 열기">
            <a:extLst xmlns:a="http://schemas.openxmlformats.org/drawingml/2006/main">
              <a:ext uri="{FF2B5EF4-FFF2-40B4-BE49-F238E27FC236}">
                <a16:creationId xmlns:a16="http://schemas.microsoft.com/office/drawing/2014/main" id="{306DF8A9-E000-4094-855F-6C9C2B5D8FF4}"/>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폴더 열기</a:t>
            </a:r>
          </a:p>
        </p:txBody>
      </p:sp>
      <p:sp>
        <p:nvSpPr>
          <p:cNvPr id="23" name="코드가 있는 폴더를 작업 위치로">
            <a:extLst xmlns:a="http://schemas.openxmlformats.org/drawingml/2006/main">
              <a:ext uri="{FF2B5EF4-FFF2-40B4-BE49-F238E27FC236}">
                <a16:creationId xmlns:a16="http://schemas.microsoft.com/office/drawing/2014/main" id="{E4117E8B-4273-448D-BD5E-23ECA8C861C2}"/>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733F14A6-1F72-4AD3-B4DB-887722475AC1}"/>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8410AC79-FA90-47CE-A835-9D73AABB8D28}"/>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77C2B62-808D-4B6F-8F97-BDDEF6C2FC07}"/>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개발 프로젝트 조사는 Codex로 진행한다.">
            <a:extLst xmlns:a="http://schemas.openxmlformats.org/drawingml/2006/main">
              <a:ext uri="{FF2B5EF4-FFF2-40B4-BE49-F238E27FC236}">
                <a16:creationId xmlns:a16="http://schemas.microsoft.com/office/drawing/2014/main" id="{E2115B04-C0DC-4640-95BA-EE37BEEEFA3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개발 프로젝트 조사는 Codex로 진행한다.</a:t>
            </a:r>
          </a:p>
        </p:txBody>
      </p:sp>
      <p:sp>
        <p:nvSpPr>
          <p:cNvPr id="28" name="">
            <a:extLst xmlns:a="http://schemas.openxmlformats.org/drawingml/2006/main">
              <a:ext uri="{FF2B5EF4-FFF2-40B4-BE49-F238E27FC236}">
                <a16:creationId xmlns:a16="http://schemas.microsoft.com/office/drawing/2014/main" id="{74C58829-002F-4C04-8A4A-DE4A7C72FD4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9" name="Practical application tip badge">
            <a:extLst xmlns:a="http://schemas.openxmlformats.org/drawingml/2006/main">
              <a:ext uri="{FF2B5EF4-FFF2-40B4-BE49-F238E27FC236}">
                <a16:creationId xmlns:a16="http://schemas.microsoft.com/office/drawing/2014/main" id="{50E87B78-7B82-4E4A-9058-97BA8CE685B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사용 환경</a:t>
            </a:r>
          </a:p>
        </p:txBody>
      </p:sp>
      <p:sp>
        <p:nvSpPr>
          <p:cNvPr id="30" name="Legacy module connection">
            <a:extLst xmlns:a="http://schemas.openxmlformats.org/drawingml/2006/main">
              <a:ext uri="{FF2B5EF4-FFF2-40B4-BE49-F238E27FC236}">
                <a16:creationId xmlns:a16="http://schemas.microsoft.com/office/drawing/2014/main" id="{CC9A5C85-E8A6-40FA-A524-1F83417151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79866876"/>
      </p:ext>
    </p:extLst>
  </p:cSld>
</p:sld>
</file>

<file path=ppt/slides/slide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11B83C36-3B82-4595-AEEA-E5BBC93463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3">
            <a:extLst xmlns:a="http://schemas.openxmlformats.org/drawingml/2006/main">
              <a:ext uri="{FF2B5EF4-FFF2-40B4-BE49-F238E27FC236}">
                <a16:creationId xmlns:a16="http://schemas.microsoft.com/office/drawing/2014/main" id="{8564E98A-E2DB-4D85-B61F-4A1967734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프로젝트를 봐도, 원하는 작업은 따로 정한다">
            <a:extLst xmlns:a="http://schemas.openxmlformats.org/drawingml/2006/main">
              <a:ext uri="{FF2B5EF4-FFF2-40B4-BE49-F238E27FC236}">
                <a16:creationId xmlns:a16="http://schemas.microsoft.com/office/drawing/2014/main" id="{F38A8A2D-31D2-4262-B222-FD1DDD0FDC4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프로젝트를 봐도, 원하는 작업은 따로 정한다</a:t>
            </a:r>
          </a:p>
        </p:txBody>
      </p:sp>
      <p:sp>
        <p:nvSpPr>
          <p:cNvPr id="4" name="">
            <a:extLst xmlns:a="http://schemas.openxmlformats.org/drawingml/2006/main">
              <a:ext uri="{FF2B5EF4-FFF2-40B4-BE49-F238E27FC236}">
                <a16:creationId xmlns:a16="http://schemas.microsoft.com/office/drawing/2014/main" id="{434081E8-0E0E-4049-8E89-D4DBC2CEE6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볼 수 있는 것">
            <a:extLst xmlns:a="http://schemas.openxmlformats.org/drawingml/2006/main">
              <a:ext uri="{FF2B5EF4-FFF2-40B4-BE49-F238E27FC236}">
                <a16:creationId xmlns:a16="http://schemas.microsoft.com/office/drawing/2014/main" id="{3141630D-A8F8-478E-9BE8-E402A9D4DB04}"/>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2869A97-AB0E-4D10-973E-71D64064DB2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AB6D2F12-E6B8-47D1-AD2A-C5A391323FCF}"/>
              </a:ext>
            </a:extLst>
          </p:cNvPr>
          <p:cNvPicPr>
            <a:picLocks xmlns:a="http://schemas.openxmlformats.org/drawingml/2006/main" noChangeAspect="1"/>
          </p:cNvPicPr>
          <p:nvPr/>
        </p:nvPicPr>
        <p:blipFill>
          <a:blip xmlns:r="http://schemas.openxmlformats.org/officeDocument/2006/relationships" xmlns:a="http://schemas.openxmlformats.org/drawingml/2006/main" r:embed="R0a194c35d74f41a3"/>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F49F596B-1C40-4E19-9108-CC1A021B9A2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85BDE029-C9DB-46D1-96A5-A3AD1B9F0E3E}"/>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6E5D809E-74AF-4863-A553-98DE98C9FDF4}"/>
              </a:ext>
            </a:extLst>
          </p:cNvPr>
          <p:cNvPicPr>
            <a:picLocks xmlns:a="http://schemas.openxmlformats.org/drawingml/2006/main" noChangeAspect="1"/>
          </p:cNvPicPr>
          <p:nvPr/>
        </p:nvPicPr>
        <p:blipFill>
          <a:blip xmlns:r="http://schemas.openxmlformats.org/officeDocument/2006/relationships" xmlns:a="http://schemas.openxmlformats.org/drawingml/2006/main" r:embed="R2e0815be805b4602"/>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66987A23-B9D7-4908-9433-36912858D5BD}"/>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5C55DF33-DE92-48E5-A6C0-4B5A7943FD5F}"/>
              </a:ext>
            </a:extLst>
          </p:cNvPr>
          <p:cNvPicPr>
            <a:picLocks xmlns:a="http://schemas.openxmlformats.org/drawingml/2006/main" noChangeAspect="1"/>
          </p:cNvPicPr>
          <p:nvPr/>
        </p:nvPicPr>
        <p:blipFill>
          <a:blip xmlns:r="http://schemas.openxmlformats.org/officeDocument/2006/relationships" xmlns:a="http://schemas.openxmlformats.org/drawingml/2006/main" r:embed="R49aa97b3d5a04545"/>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51C0BF4A-1334-4BB6-BAF7-B00F62878B47}"/>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4F599333-1287-4BAB-92DE-2ECFEDBEDAC3}"/>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ADE8861D-F425-4E8F-8A34-A4BB1D7A947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9E19C7AB-57C0-4836-AACD-DC695BDE4696}"/>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30C3E2C1-F6E7-46DE-B473-2C1649424C3B}"/>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4542D5C3-9577-43B6-9A07-6440870FAABE}"/>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38058257-B83A-4623-8DE8-84AB22B63BE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EC4FB82F-A29C-4326-9B4A-613C1A8952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16683205"/>
      </p:ext>
    </p:extLst>
  </p:cSld>
</p:sld>
</file>

<file path=ppt/slides/slide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1">
            <a:extLst xmlns:a="http://schemas.openxmlformats.org/drawingml/2006/main">
              <a:ext uri="{FF2B5EF4-FFF2-40B4-BE49-F238E27FC236}">
                <a16:creationId xmlns:a16="http://schemas.microsoft.com/office/drawing/2014/main" id="{3E99058C-D155-4E0A-9A86-7F81945D8CB1}"/>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1</a:t>
            </a:r>
          </a:p>
        </p:txBody>
      </p:sp>
      <p:sp>
        <p:nvSpPr>
          <p:cNvPr id="2" name="S15">
            <a:extLst xmlns:a="http://schemas.openxmlformats.org/drawingml/2006/main">
              <a:ext uri="{FF2B5EF4-FFF2-40B4-BE49-F238E27FC236}">
                <a16:creationId xmlns:a16="http://schemas.microsoft.com/office/drawing/2014/main" id="{91D33320-733B-42F9-B54A-C5319E34A5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
            <a:extLst xmlns:a="http://schemas.openxmlformats.org/drawingml/2006/main">
              <a:ext uri="{FF2B5EF4-FFF2-40B4-BE49-F238E27FC236}">
                <a16:creationId xmlns:a16="http://schemas.microsoft.com/office/drawing/2014/main" id="{4D67BAFF-D98F-4B05-85F3-A0E5775E45E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Prompt를&#10;작업 명세로 만들기">
            <a:extLst xmlns:a="http://schemas.openxmlformats.org/drawingml/2006/main">
              <a:ext uri="{FF2B5EF4-FFF2-40B4-BE49-F238E27FC236}">
                <a16:creationId xmlns:a16="http://schemas.microsoft.com/office/drawing/2014/main" id="{6028E34D-26C3-48BB-9890-454355225E3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Prompt를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작업 명세로 만들기</a:t>
            </a:r>
          </a:p>
        </p:txBody>
      </p:sp>
      <p:sp>
        <p:nvSpPr>
          <p:cNvPr id="5" name="Prompt Engineering · 요청 설계">
            <a:extLst xmlns:a="http://schemas.openxmlformats.org/drawingml/2006/main">
              <a:ext uri="{FF2B5EF4-FFF2-40B4-BE49-F238E27FC236}">
                <a16:creationId xmlns:a16="http://schemas.microsoft.com/office/drawing/2014/main" id="{653038CC-4386-4FD5-8D94-F7248B497860}"/>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Prompt Engineering · 요청 설계</a:t>
            </a:r>
          </a:p>
        </p:txBody>
      </p:sp>
      <p:sp>
        <p:nvSpPr>
          <p:cNvPr id="6" name="ChatGPT &amp; Codex · 개발자 교육">
            <a:extLst xmlns:a="http://schemas.openxmlformats.org/drawingml/2006/main">
              <a:ext uri="{FF2B5EF4-FFF2-40B4-BE49-F238E27FC236}">
                <a16:creationId xmlns:a16="http://schemas.microsoft.com/office/drawing/2014/main" id="{2123F0B8-6B2E-476E-8EC3-2252549C4A98}"/>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29C76E9A-98A8-4AB1-B045-6348DEF2C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437907396"/>
      </p:ext>
    </p:extLst>
  </p:cSld>
</p:sld>
</file>

<file path=ppt/slides/slide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요청에 남은 목표·조건·완료 근거">
            <a:extLst xmlns:a="http://schemas.openxmlformats.org/drawingml/2006/main">
              <a:ext uri="{FF2B5EF4-FFF2-40B4-BE49-F238E27FC236}">
                <a16:creationId xmlns:a16="http://schemas.microsoft.com/office/drawing/2014/main" id="{06F0204F-07B9-4D21-B195-F0CD5BBE60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6">
            <a:extLst xmlns:a="http://schemas.openxmlformats.org/drawingml/2006/main">
              <a:ext uri="{FF2B5EF4-FFF2-40B4-BE49-F238E27FC236}">
                <a16:creationId xmlns:a16="http://schemas.microsoft.com/office/drawing/2014/main" id="{526BE0CA-0C17-43BC-A1CC-2980029E74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이 요청에는 무엇이 빠졌을까?">
            <a:extLst xmlns:a="http://schemas.openxmlformats.org/drawingml/2006/main">
              <a:ext uri="{FF2B5EF4-FFF2-40B4-BE49-F238E27FC236}">
                <a16:creationId xmlns:a16="http://schemas.microsoft.com/office/drawing/2014/main" id="{22E8CE61-D4D9-4C33-8157-D689401E7C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요청에는 무엇이 빠졌을까?</a:t>
            </a:r>
          </a:p>
        </p:txBody>
      </p:sp>
      <p:sp>
        <p:nvSpPr>
          <p:cNvPr id="4" name="">
            <a:extLst xmlns:a="http://schemas.openxmlformats.org/drawingml/2006/main">
              <a:ext uri="{FF2B5EF4-FFF2-40B4-BE49-F238E27FC236}">
                <a16:creationId xmlns:a16="http://schemas.microsoft.com/office/drawing/2014/main" id="{4743F3D4-232D-4ABD-B71D-267B0D0B34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1E70709-6C85-4D09-B704-A76D82C3DD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개념도 · 실측 아님</a:t>
            </a:r>
          </a:p>
        </p:txBody>
      </p:sp>
      <p:sp>
        <p:nvSpPr>
          <p:cNvPr id="7" name="앞서 본 crop 실패를 고치려 합니다.">
            <a:extLst xmlns:a="http://schemas.openxmlformats.org/drawingml/2006/main">
              <a:ext uri="{FF2B5EF4-FFF2-40B4-BE49-F238E27FC236}">
                <a16:creationId xmlns:a16="http://schemas.microsoft.com/office/drawing/2014/main" id="{498FE008-9BD3-43E5-BFCF-FF66D0F826C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앞서 본 crop 실패를 고치려 합니다.</a:t>
            </a:r>
          </a:p>
        </p:txBody>
      </p:sp>
      <p:sp>
        <p:nvSpPr>
          <p:cNvPr id="8" name="">
            <a:extLst xmlns:a="http://schemas.openxmlformats.org/drawingml/2006/main">
              <a:ext uri="{FF2B5EF4-FFF2-40B4-BE49-F238E27FC236}">
                <a16:creationId xmlns:a16="http://schemas.microsoft.com/office/drawing/2014/main" id="{2FE798FF-D119-47A9-A270-867D7EF4CCB4}"/>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260EED1-FCA9-4537-B0BC-64236AAD8B69}"/>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7CE2AF43-D46D-4C82-BF28-96719394D151}"/>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897DB4E4-E848-4C67-80C5-2A93D152906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E1D6E89-D418-4EAF-9EA5-CB55581F807E}"/>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1AC0AA85-65B1-4998-814C-F88AD97935CC}"/>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C6D4EDD-4A4B-490A-AA0F-70AD00BA412E}"/>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2468C77E-9A6B-4B24-8846-C963D75966A0}"/>
              </a:ext>
            </a:extLst>
          </p:cNvPr>
          <p:cNvPicPr>
            <a:picLocks xmlns:a="http://schemas.openxmlformats.org/drawingml/2006/main" noChangeAspect="1"/>
          </p:cNvPicPr>
          <p:nvPr/>
        </p:nvPicPr>
        <p:blipFill>
          <a:blip xmlns:r="http://schemas.openxmlformats.org/officeDocument/2006/relationships" xmlns:a="http://schemas.openxmlformats.org/drawingml/2006/main" r:embed="R2efa1f36d4c346d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요청의 경계를 확인">
            <a:extLst xmlns:a="http://schemas.openxmlformats.org/drawingml/2006/main">
              <a:ext uri="{FF2B5EF4-FFF2-40B4-BE49-F238E27FC236}">
                <a16:creationId xmlns:a16="http://schemas.microsoft.com/office/drawing/2014/main" id="{F21096BD-8B66-423D-B0C5-C4190489951E}"/>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요청의 경계를 확인</a:t>
            </a:r>
          </a:p>
        </p:txBody>
      </p:sp>
      <p:sp>
        <p:nvSpPr>
          <p:cNvPr id="17" name="지킬 기준">
            <a:extLst xmlns:a="http://schemas.openxmlformats.org/drawingml/2006/main">
              <a:ext uri="{FF2B5EF4-FFF2-40B4-BE49-F238E27FC236}">
                <a16:creationId xmlns:a16="http://schemas.microsoft.com/office/drawing/2014/main" id="{2C1C2789-2FA6-480A-B28E-72E906586F7C}"/>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지킬 기준</a:t>
            </a:r>
          </a:p>
        </p:txBody>
      </p:sp>
      <p:sp>
        <p:nvSpPr>
          <p:cNvPr id="18" name="명세·기대값을 유지할까?">
            <a:extLst xmlns:a="http://schemas.openxmlformats.org/drawingml/2006/main">
              <a:ext uri="{FF2B5EF4-FFF2-40B4-BE49-F238E27FC236}">
                <a16:creationId xmlns:a16="http://schemas.microsoft.com/office/drawing/2014/main" id="{5FCA3724-2E53-4282-8E8D-3D1F5B2338E2}"/>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명세·기대값을 유지할까?</a:t>
            </a:r>
          </a:p>
        </p:txBody>
      </p:sp>
      <p:sp>
        <p:nvSpPr>
          <p:cNvPr id="19" name="?">
            <a:extLst xmlns:a="http://schemas.openxmlformats.org/drawingml/2006/main">
              <a:ext uri="{FF2B5EF4-FFF2-40B4-BE49-F238E27FC236}">
                <a16:creationId xmlns:a16="http://schemas.microsoft.com/office/drawing/2014/main" id="{9D915E23-096E-4F24-B72C-61DD62D094A1}"/>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CF24E939-0C6A-4958-B764-40433AF7BC9D}"/>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수정 범위">
            <a:extLst xmlns:a="http://schemas.openxmlformats.org/drawingml/2006/main">
              <a:ext uri="{FF2B5EF4-FFF2-40B4-BE49-F238E27FC236}">
                <a16:creationId xmlns:a16="http://schemas.microsoft.com/office/drawing/2014/main" id="{C1DB3A4B-BC36-4E7E-BF5F-92112DA0C7C4}"/>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수정 범위</a:t>
            </a:r>
          </a:p>
        </p:txBody>
      </p:sp>
      <p:sp>
        <p:nvSpPr>
          <p:cNvPr id="22" name="어디까지 바꿔도 될까?">
            <a:extLst xmlns:a="http://schemas.openxmlformats.org/drawingml/2006/main">
              <a:ext uri="{FF2B5EF4-FFF2-40B4-BE49-F238E27FC236}">
                <a16:creationId xmlns:a16="http://schemas.microsoft.com/office/drawing/2014/main" id="{0B36D5F5-DEED-4B26-AAE3-126F303F1192}"/>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어디까지 바꿔도 될까?</a:t>
            </a:r>
          </a:p>
        </p:txBody>
      </p:sp>
      <p:sp>
        <p:nvSpPr>
          <p:cNvPr id="23" name="?">
            <a:extLst xmlns:a="http://schemas.openxmlformats.org/drawingml/2006/main">
              <a:ext uri="{FF2B5EF4-FFF2-40B4-BE49-F238E27FC236}">
                <a16:creationId xmlns:a16="http://schemas.microsoft.com/office/drawing/2014/main" id="{5A5C4292-1CCA-4511-83E0-C8EE2A59C6AF}"/>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A7D7D3B5-95DA-4B2A-8DA4-F4B3FB9011B5}"/>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3F2876F7-5341-4EE6-894A-142D37E41356}"/>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확인·보고받을까?">
            <a:extLst xmlns:a="http://schemas.openxmlformats.org/drawingml/2006/main">
              <a:ext uri="{FF2B5EF4-FFF2-40B4-BE49-F238E27FC236}">
                <a16:creationId xmlns:a16="http://schemas.microsoft.com/office/drawing/2014/main" id="{1E72D222-C2A9-4CD2-B446-2F87EEB22C78}"/>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확인·보고받을까?</a:t>
            </a:r>
          </a:p>
        </p:txBody>
      </p:sp>
      <p:sp>
        <p:nvSpPr>
          <p:cNvPr id="27" name="?">
            <a:extLst xmlns:a="http://schemas.openxmlformats.org/drawingml/2006/main">
              <a:ext uri="{FF2B5EF4-FFF2-40B4-BE49-F238E27FC236}">
                <a16:creationId xmlns:a16="http://schemas.microsoft.com/office/drawing/2014/main" id="{B518CF2F-9815-476B-A0BA-61A8F7BD665C}"/>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CF7CC914-E802-423D-A6B8-1469A01E8AEB}"/>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7C9175B0-0EDF-4BE6-9B7C-9BDB2D23902A}"/>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2DEBAA5D-243B-4844-8EDA-1F665613575C}"/>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6039625F-5A06-487B-9BB6-AE2E84E80A67}"/>
              </a:ext>
            </a:extLst>
          </p:cNvPr>
          <p:cNvPicPr>
            <a:picLocks xmlns:a="http://schemas.openxmlformats.org/drawingml/2006/main" noChangeAspect="1"/>
          </p:cNvPicPr>
          <p:nvPr/>
        </p:nvPicPr>
        <p:blipFill>
          <a:blip xmlns:r="http://schemas.openxmlformats.org/officeDocument/2006/relationships" xmlns:a="http://schemas.openxmlformats.org/drawingml/2006/main" r:embed="R5a17842974b84b2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3EDCE266-446D-4717-A8B1-36430FC5C0F2}"/>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CB0F5380-5E10-4936-9F35-6F8A9FB01A8C}"/>
              </a:ext>
            </a:extLst>
          </p:cNvPr>
          <p:cNvPicPr>
            <a:picLocks xmlns:a="http://schemas.openxmlformats.org/drawingml/2006/main" noChangeAspect="1"/>
          </p:cNvPicPr>
          <p:nvPr/>
        </p:nvPicPr>
        <p:blipFill>
          <a:blip xmlns:r="http://schemas.openxmlformats.org/officeDocument/2006/relationships" xmlns:a="http://schemas.openxmlformats.org/drawingml/2006/main" r:embed="Rc8496ccfbdb24bbd"/>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8192FC3F-79E9-450A-A183-5683ABBD5A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79000181"/>
      </p:ext>
    </p:extLst>
  </p:cSld>
</p:sld>
</file>

<file path=ppt/slides/slide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서 검토할 변경 범위">
            <a:extLst xmlns:a="http://schemas.openxmlformats.org/drawingml/2006/main">
              <a:ext uri="{FF2B5EF4-FFF2-40B4-BE49-F238E27FC236}">
                <a16:creationId xmlns:a16="http://schemas.microsoft.com/office/drawing/2014/main" id="{7FFE4435-DC20-4BDC-BEA2-CB2AD0BF339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요청에서 검토할 변경 범위</a:t>
            </a:r>
          </a:p>
        </p:txBody>
      </p:sp>
      <p:sp>
        <p:nvSpPr>
          <p:cNvPr id="2" name="S17">
            <a:extLst xmlns:a="http://schemas.openxmlformats.org/drawingml/2006/main">
              <a:ext uri="{FF2B5EF4-FFF2-40B4-BE49-F238E27FC236}">
                <a16:creationId xmlns:a16="http://schemas.microsoft.com/office/drawing/2014/main" id="{F43F2368-B4FE-4B79-B1E4-80155F719E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어디까지 바꾸라는 요청일까?">
            <a:extLst xmlns:a="http://schemas.openxmlformats.org/drawingml/2006/main">
              <a:ext uri="{FF2B5EF4-FFF2-40B4-BE49-F238E27FC236}">
                <a16:creationId xmlns:a16="http://schemas.microsoft.com/office/drawing/2014/main" id="{AE5CC8A8-D092-4A13-9713-BA5FA633BB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어디까지 바꾸라는 요청일까?</a:t>
            </a:r>
          </a:p>
        </p:txBody>
      </p:sp>
      <p:sp>
        <p:nvSpPr>
          <p:cNvPr id="4" name="">
            <a:extLst xmlns:a="http://schemas.openxmlformats.org/drawingml/2006/main">
              <a:ext uri="{FF2B5EF4-FFF2-40B4-BE49-F238E27FC236}">
                <a16:creationId xmlns:a16="http://schemas.microsoft.com/office/drawing/2014/main" id="{797A831E-B37D-4F6B-9BA7-349DD25AF5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BA18B96-18A8-41CF-B5AC-41EE9F9CBE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가능한 해석의 예시</a:t>
            </a:r>
          </a:p>
        </p:txBody>
      </p:sp>
      <p:sp>
        <p:nvSpPr>
          <p:cNvPr id="7" name="같은 crop 요청에서, 허용할 변경 범위를 비교한다.">
            <a:extLst xmlns:a="http://schemas.openxmlformats.org/drawingml/2006/main">
              <a:ext uri="{FF2B5EF4-FFF2-40B4-BE49-F238E27FC236}">
                <a16:creationId xmlns:a16="http://schemas.microsoft.com/office/drawing/2014/main" id="{C70AE28E-84A0-4D3C-9BBF-AD221CA421F4}"/>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crop 요청에서, 허용할 변경 범위를 비교한다.</a:t>
            </a:r>
          </a:p>
        </p:txBody>
      </p:sp>
      <p:sp>
        <p:nvSpPr>
          <p:cNvPr id="8" name="">
            <a:extLst xmlns:a="http://schemas.openxmlformats.org/drawingml/2006/main">
              <a:ext uri="{FF2B5EF4-FFF2-40B4-BE49-F238E27FC236}">
                <a16:creationId xmlns:a16="http://schemas.microsoft.com/office/drawing/2014/main" id="{5844A962-CD67-4952-8C19-63016D45F099}"/>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3BC61572-4FA9-49B0-BF55-5480360D018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F9DEF9BB-06A2-4FE7-9825-07F4660273B3}"/>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674A8DA-E648-4275-A3A0-18CB57A2092A}"/>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5CB4FFE2-930A-4BDB-BBF0-D8F34CFF8CED}"/>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041C1159-0A02-4E11-9F98-B3E223E240C5}"/>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E5226B6-5237-4D6A-BB40-810BB835520B}"/>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2CBE7B2-E1FB-4E7D-91C6-01E8BAF8CF23}"/>
              </a:ext>
            </a:extLst>
          </p:cNvPr>
          <p:cNvPicPr>
            <a:picLocks xmlns:a="http://schemas.openxmlformats.org/drawingml/2006/main" noChangeAspect="1"/>
          </p:cNvPicPr>
          <p:nvPr/>
        </p:nvPicPr>
        <p:blipFill>
          <a:blip xmlns:r="http://schemas.openxmlformats.org/officeDocument/2006/relationships" xmlns:a="http://schemas.openxmlformats.org/drawingml/2006/main" r:embed="Rb45237697da14b98"/>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2DB63F8B-1D99-41B2-ACC1-4CAADB2F28EC}"/>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F22B12B9-D59A-4AB3-924D-71FE4805E370}"/>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떤 변경을 허용했을까?">
            <a:extLst xmlns:a="http://schemas.openxmlformats.org/drawingml/2006/main">
              <a:ext uri="{FF2B5EF4-FFF2-40B4-BE49-F238E27FC236}">
                <a16:creationId xmlns:a16="http://schemas.microsoft.com/office/drawing/2014/main" id="{96C4DB45-2CD3-45EE-8811-3E909793D5F7}"/>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어떤 변경을 허용했을까?</a:t>
            </a:r>
          </a:p>
        </p:txBody>
      </p:sp>
      <p:sp>
        <p:nvSpPr>
          <p:cNvPr id="19" name="">
            <a:extLst xmlns:a="http://schemas.openxmlformats.org/drawingml/2006/main">
              <a:ext uri="{FF2B5EF4-FFF2-40B4-BE49-F238E27FC236}">
                <a16:creationId xmlns:a16="http://schemas.microsoft.com/office/drawing/2014/main" id="{CEC8D3AB-9724-499A-B1EE-0FEB4D5E8E97}"/>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81C165B6-8AF4-4709-8DB8-72E957E3BC3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C5C4C970-C2D5-49A5-AED6-C8293FC7691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C7C752B4-B505-4178-A4AA-4A5950FBC822}"/>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 기대값 변경">
            <a:extLst xmlns:a="http://schemas.openxmlformats.org/drawingml/2006/main">
              <a:ext uri="{FF2B5EF4-FFF2-40B4-BE49-F238E27FC236}">
                <a16:creationId xmlns:a16="http://schemas.microsoft.com/office/drawing/2014/main" id="{C7F2F664-2545-48A6-AB5A-6A0D9558F8A8}"/>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 기대값 변경</a:t>
            </a:r>
          </a:p>
        </p:txBody>
      </p:sp>
      <p:sp>
        <p:nvSpPr>
          <p:cNvPr id="24" name="명세 변경의 정당성·승인 필요">
            <a:extLst xmlns:a="http://schemas.openxmlformats.org/drawingml/2006/main">
              <a:ext uri="{FF2B5EF4-FFF2-40B4-BE49-F238E27FC236}">
                <a16:creationId xmlns:a16="http://schemas.microsoft.com/office/drawing/2014/main" id="{78DE7C6C-1756-40F6-88DD-3D85D28C276E}"/>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명세 변경의 정당성·승인 필요</a:t>
            </a:r>
          </a:p>
        </p:txBody>
      </p:sp>
      <p:sp>
        <p:nvSpPr>
          <p:cNvPr id="25" name="Possible interpretation B">
            <a:extLst xmlns:a="http://schemas.openxmlformats.org/drawingml/2006/main">
              <a:ext uri="{FF2B5EF4-FFF2-40B4-BE49-F238E27FC236}">
                <a16:creationId xmlns:a16="http://schemas.microsoft.com/office/drawing/2014/main" id="{965E4EA9-0004-4AB2-AC9C-1E0327F45ADB}"/>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B674FF49-ED87-4E4D-8829-33EF9B1484A2}"/>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3602A658-E68D-4244-B2F3-4DCC9AC1A07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명세에 맞춤">
            <a:extLst xmlns:a="http://schemas.openxmlformats.org/drawingml/2006/main">
              <a:ext uri="{FF2B5EF4-FFF2-40B4-BE49-F238E27FC236}">
                <a16:creationId xmlns:a16="http://schemas.microsoft.com/office/drawing/2014/main" id="{0AFC7FC6-85BF-4758-8EAB-2E32C21A2DD3}"/>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명세에 맞춤</a:t>
            </a:r>
          </a:p>
        </p:txBody>
      </p:sp>
      <p:sp>
        <p:nvSpPr>
          <p:cNvPr id="29" name="기존 명세·기대값을 유지">
            <a:extLst xmlns:a="http://schemas.openxmlformats.org/drawingml/2006/main">
              <a:ext uri="{FF2B5EF4-FFF2-40B4-BE49-F238E27FC236}">
                <a16:creationId xmlns:a16="http://schemas.microsoft.com/office/drawing/2014/main" id="{27233418-DEEF-41D2-ACE2-7944606499C0}"/>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기존 명세·기대값을 유지</a:t>
            </a:r>
          </a:p>
        </p:txBody>
      </p:sp>
      <p:sp>
        <p:nvSpPr>
          <p:cNvPr id="30" name="Possible interpretation C">
            <a:extLst xmlns:a="http://schemas.openxmlformats.org/drawingml/2006/main">
              <a:ext uri="{FF2B5EF4-FFF2-40B4-BE49-F238E27FC236}">
                <a16:creationId xmlns:a16="http://schemas.microsoft.com/office/drawing/2014/main" id="{DBCD67B9-1930-4F18-85DF-854CD50B724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02FF0909-9A2A-4563-931D-214AD327C248}"/>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E5C6E5D3-1038-426D-A263-D4304D2FBBDF}"/>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변경 범위를 먼저 확인">
            <a:extLst xmlns:a="http://schemas.openxmlformats.org/drawingml/2006/main">
              <a:ext uri="{FF2B5EF4-FFF2-40B4-BE49-F238E27FC236}">
                <a16:creationId xmlns:a16="http://schemas.microsoft.com/office/drawing/2014/main" id="{EA73B432-8F5C-4526-B8F7-32757528B11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변경 범위를 먼저 확인</a:t>
            </a:r>
          </a:p>
        </p:txBody>
      </p:sp>
      <p:sp>
        <p:nvSpPr>
          <p:cNvPr id="34" name="의도·명세가 충돌하면 질문">
            <a:extLst xmlns:a="http://schemas.openxmlformats.org/drawingml/2006/main">
              <a:ext uri="{FF2B5EF4-FFF2-40B4-BE49-F238E27FC236}">
                <a16:creationId xmlns:a16="http://schemas.microsoft.com/office/drawing/2014/main" id="{CD143874-C78D-411A-A67B-60D980618850}"/>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의도·명세가 충돌하면 질문</a:t>
            </a:r>
          </a:p>
        </p:txBody>
      </p:sp>
      <p:sp>
        <p:nvSpPr>
          <p:cNvPr id="35" name="요청에서 더 분명히 할 정보">
            <a:extLst xmlns:a="http://schemas.openxmlformats.org/drawingml/2006/main">
              <a:ext uri="{FF2B5EF4-FFF2-40B4-BE49-F238E27FC236}">
                <a16:creationId xmlns:a16="http://schemas.microsoft.com/office/drawing/2014/main" id="{8B2AC5E0-3595-4AE6-BC0F-5EE2A34F121D}"/>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요청에서 더 분명히 할 정보</a:t>
            </a:r>
          </a:p>
        </p:txBody>
      </p:sp>
      <p:sp>
        <p:nvSpPr>
          <p:cNvPr id="36" name="목표의 세부 ?">
            <a:extLst xmlns:a="http://schemas.openxmlformats.org/drawingml/2006/main">
              <a:ext uri="{FF2B5EF4-FFF2-40B4-BE49-F238E27FC236}">
                <a16:creationId xmlns:a16="http://schemas.microsoft.com/office/drawing/2014/main" id="{98BDD084-BCA5-47A7-87B7-501C5511DFBA}"/>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E4116FF4-9053-47B1-8EED-7D5739C121D0}"/>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6E60A52D-7C56-4AC8-86A8-2F2051A46322}"/>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3DC41C7C-C222-4B0F-B771-53F68AE786F4}"/>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1A7D8D3A-B066-4E81-A487-17685B3FA3F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51CABEEA-E1AC-4747-96C1-0CAB45A91C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3620087"/>
      </p:ext>
    </p:extLst>
  </p:cSld>
</p:sld>
</file>

<file path=ppt/slides/slide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1 · 같은 요청에 보존·수정·확인 조건 추가">
            <a:extLst xmlns:a="http://schemas.openxmlformats.org/drawingml/2006/main">
              <a:ext uri="{FF2B5EF4-FFF2-40B4-BE49-F238E27FC236}">
                <a16:creationId xmlns:a16="http://schemas.microsoft.com/office/drawing/2014/main" id="{9D241A21-FF03-43B9-B1AF-1557C146F7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요청에 보존·수정·확인 조건 추가</a:t>
            </a:r>
          </a:p>
        </p:txBody>
      </p:sp>
      <p:sp>
        <p:nvSpPr>
          <p:cNvPr id="2" name="S18">
            <a:extLst xmlns:a="http://schemas.openxmlformats.org/drawingml/2006/main">
              <a:ext uri="{FF2B5EF4-FFF2-40B4-BE49-F238E27FC236}">
                <a16:creationId xmlns:a16="http://schemas.microsoft.com/office/drawing/2014/main" id="{E33C8A01-BF65-4EE6-9F62-3933921380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원하는 변경 범위를 요청에 담는다">
            <a:extLst xmlns:a="http://schemas.openxmlformats.org/drawingml/2006/main">
              <a:ext uri="{FF2B5EF4-FFF2-40B4-BE49-F238E27FC236}">
                <a16:creationId xmlns:a16="http://schemas.microsoft.com/office/drawing/2014/main" id="{64C44081-A580-4454-94C5-89BC9F3E9C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변경 범위를 요청에 담는다</a:t>
            </a:r>
          </a:p>
        </p:txBody>
      </p:sp>
      <p:sp>
        <p:nvSpPr>
          <p:cNvPr id="4" name="">
            <a:extLst xmlns:a="http://schemas.openxmlformats.org/drawingml/2006/main">
              <a:ext uri="{FF2B5EF4-FFF2-40B4-BE49-F238E27FC236}">
                <a16:creationId xmlns:a16="http://schemas.microsoft.com/office/drawing/2014/main" id="{12A1B347-3D40-4FB0-A4BC-5E4AC709C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25A18278-B765-476D-8563-FED4A87266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요청 예시 · 의도한 경로</a:t>
            </a:r>
          </a:p>
        </p:txBody>
      </p:sp>
      <p:sp>
        <p:nvSpPr>
          <p:cNvPr id="7" name="기대값 · crop(1, 3) → 열 1·2, 폭 2">
            <a:extLst xmlns:a="http://schemas.openxmlformats.org/drawingml/2006/main">
              <a:ext uri="{FF2B5EF4-FFF2-40B4-BE49-F238E27FC236}">
                <a16:creationId xmlns:a16="http://schemas.microsoft.com/office/drawing/2014/main" id="{446D0072-8C59-46C0-BDD8-87183CB72BCB}"/>
              </a:ext>
            </a:extLst>
          </p:cNvPr>
          <p:cNvSpPr>
            <a:spLocks xmlns:a="http://schemas.openxmlformats.org/drawingml/2006/main" noGrp="1"/>
          </p:cNvSpPr>
          <p:nvPr/>
        </p:nvSpPr>
        <p:spPr>
          <a:xfrm xmlns:a="http://schemas.openxmlformats.org/drawingml/2006/main">
            <a:off x="609600" y="1666875"/>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기대값 · crop(1, 3) → 열 1·2, 폭 2</a:t>
            </a:r>
          </a:p>
        </p:txBody>
      </p:sp>
      <p:sp>
        <p:nvSpPr>
          <p:cNvPr id="8" name="">
            <a:extLst xmlns:a="http://schemas.openxmlformats.org/drawingml/2006/main">
              <a:ext uri="{FF2B5EF4-FFF2-40B4-BE49-F238E27FC236}">
                <a16:creationId xmlns:a16="http://schemas.microsoft.com/office/drawing/2014/main" id="{B01A7D90-73AE-4BA7-B1A5-2784A41D0414}"/>
              </a:ext>
            </a:extLst>
          </p:cNvPr>
          <p:cNvSpPr>
            <a:spLocks xmlns:a="http://schemas.openxmlformats.org/drawingml/2006/main" noGrp="1"/>
          </p:cNvSpPr>
          <p:nvPr/>
        </p:nvSpPr>
        <p:spPr>
          <a:xfrm xmlns:a="http://schemas.openxmlformats.org/drawingml/2006/main">
            <a:off x="609600" y="2057400"/>
            <a:ext cx="5238750" cy="3067050"/>
          </a:xfrm>
          <a:prstGeom xmlns:a="http://schemas.openxmlformats.org/drawingml/2006/main" prst="roundRect">
            <a:avLst>
              <a:gd name="adj" fmla="val 372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6B2B7B0C-42EF-48F9-AE0E-CFEE69E5075C}"/>
              </a:ext>
            </a:extLst>
          </p:cNvPr>
          <p:cNvSpPr>
            <a:spLocks xmlns:a="http://schemas.openxmlformats.org/drawingml/2006/main" noGrp="1"/>
          </p:cNvSpPr>
          <p:nvPr/>
        </p:nvSpPr>
        <p:spPr>
          <a:xfrm xmlns:a="http://schemas.openxmlformats.org/drawingml/2006/main">
            <a:off x="781050" y="215265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6C75870D-4D17-40D6-B733-AB591AA145DB}"/>
              </a:ext>
            </a:extLst>
          </p:cNvPr>
          <p:cNvSpPr>
            <a:spLocks xmlns:a="http://schemas.openxmlformats.org/drawingml/2006/main" noGrp="1"/>
          </p:cNvSpPr>
          <p:nvPr/>
        </p:nvSpPr>
        <p:spPr>
          <a:xfrm xmlns:a="http://schemas.openxmlformats.org/drawingml/2006/main">
            <a:off x="781050" y="250507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C342A2DB-E7A5-4736-94E6-68BE4B27028E}"/>
              </a:ext>
            </a:extLst>
          </p:cNvPr>
          <p:cNvSpPr>
            <a:spLocks xmlns:a="http://schemas.openxmlformats.org/drawingml/2006/main" noGrp="1"/>
          </p:cNvSpPr>
          <p:nvPr/>
        </p:nvSpPr>
        <p:spPr>
          <a:xfrm xmlns:a="http://schemas.openxmlformats.org/drawingml/2006/main">
            <a:off x="800100" y="260032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2" name="기존 명세와 테스트 기대값은 유지하고,">
            <a:extLst xmlns:a="http://schemas.openxmlformats.org/drawingml/2006/main">
              <a:ext uri="{FF2B5EF4-FFF2-40B4-BE49-F238E27FC236}">
                <a16:creationId xmlns:a16="http://schemas.microsoft.com/office/drawing/2014/main" id="{BDD91A19-8EDC-4192-8733-E9F9F4DFE7F3}"/>
              </a:ext>
            </a:extLst>
          </p:cNvPr>
          <p:cNvSpPr>
            <a:spLocks xmlns:a="http://schemas.openxmlformats.org/drawingml/2006/main" noGrp="1"/>
          </p:cNvSpPr>
          <p:nvPr/>
        </p:nvSpPr>
        <p:spPr>
          <a:xfrm xmlns:a="http://schemas.openxmlformats.org/drawingml/2006/main">
            <a:off x="800100" y="303847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기존 명세와 테스트 기대값은 유지하고,</a:t>
            </a:r>
          </a:p>
        </p:txBody>
      </p:sp>
      <p:sp>
        <p:nvSpPr>
          <p:cNvPr id="13" name="명세에 어긋난 crop 구현만 최소 수정해.">
            <a:extLst xmlns:a="http://schemas.openxmlformats.org/drawingml/2006/main">
              <a:ext uri="{FF2B5EF4-FFF2-40B4-BE49-F238E27FC236}">
                <a16:creationId xmlns:a16="http://schemas.microsoft.com/office/drawing/2014/main" id="{423A07F2-2B64-4D52-8DC5-CC85C955F5F9}"/>
              </a:ext>
            </a:extLst>
          </p:cNvPr>
          <p:cNvSpPr>
            <a:spLocks xmlns:a="http://schemas.openxmlformats.org/drawingml/2006/main" noGrp="1"/>
          </p:cNvSpPr>
          <p:nvPr/>
        </p:nvSpPr>
        <p:spPr>
          <a:xfrm xmlns:a="http://schemas.openxmlformats.org/drawingml/2006/main">
            <a:off x="800100" y="344805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명세에 어긋난 crop 구현만 최소 수정해.</a:t>
            </a:r>
          </a:p>
        </p:txBody>
      </p:sp>
      <p:sp>
        <p:nvSpPr>
          <p:cNvPr id="14" name="관련 테스트와 전체 테스트를 확인하고,">
            <a:extLst xmlns:a="http://schemas.openxmlformats.org/drawingml/2006/main">
              <a:ext uri="{FF2B5EF4-FFF2-40B4-BE49-F238E27FC236}">
                <a16:creationId xmlns:a16="http://schemas.microsoft.com/office/drawing/2014/main" id="{8F3C3345-6AB8-42CC-B86F-F7308CC6DD0B}"/>
              </a:ext>
            </a:extLst>
          </p:cNvPr>
          <p:cNvSpPr>
            <a:spLocks xmlns:a="http://schemas.openxmlformats.org/drawingml/2006/main" noGrp="1"/>
          </p:cNvSpPr>
          <p:nvPr/>
        </p:nvSpPr>
        <p:spPr>
          <a:xfrm xmlns:a="http://schemas.openxmlformats.org/drawingml/2006/main">
            <a:off x="800100" y="3857625"/>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관련 테스트와 전체 테스트를 확인하고,</a:t>
            </a:r>
          </a:p>
        </p:txBody>
      </p:sp>
      <p:sp>
        <p:nvSpPr>
          <p:cNvPr id="15" name="변경 내용·검증 결과·미확인 사항을 보고해.">
            <a:extLst xmlns:a="http://schemas.openxmlformats.org/drawingml/2006/main">
              <a:ext uri="{FF2B5EF4-FFF2-40B4-BE49-F238E27FC236}">
                <a16:creationId xmlns:a16="http://schemas.microsoft.com/office/drawing/2014/main" id="{E1965744-3EA6-4F3E-BD37-D3C91335BFF4}"/>
              </a:ext>
            </a:extLst>
          </p:cNvPr>
          <p:cNvSpPr>
            <a:spLocks xmlns:a="http://schemas.openxmlformats.org/drawingml/2006/main" noGrp="1"/>
          </p:cNvSpPr>
          <p:nvPr/>
        </p:nvSpPr>
        <p:spPr>
          <a:xfrm xmlns:a="http://schemas.openxmlformats.org/drawingml/2006/main">
            <a:off x="800100" y="426720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변경 내용·검증 결과·미확인 사항을 보고해.</a:t>
            </a:r>
          </a:p>
        </p:txBody>
      </p:sp>
      <p:sp>
        <p:nvSpPr>
          <p:cNvPr id="16" name="+">
            <a:extLst xmlns:a="http://schemas.openxmlformats.org/drawingml/2006/main">
              <a:ext uri="{FF2B5EF4-FFF2-40B4-BE49-F238E27FC236}">
                <a16:creationId xmlns:a16="http://schemas.microsoft.com/office/drawing/2014/main" id="{6E48DC58-6E06-44C7-9878-7A8D0EBFF53E}"/>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7" name="">
            <a:extLst xmlns:a="http://schemas.openxmlformats.org/drawingml/2006/main">
              <a:ext uri="{FF2B5EF4-FFF2-40B4-BE49-F238E27FC236}">
                <a16:creationId xmlns:a16="http://schemas.microsoft.com/office/drawing/2014/main" id="{41271080-6058-45EC-BD2E-4026967DD3AC}"/>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82601EF-2E0F-4C93-90C2-8B75332FA782}"/>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9" name="사람이 원하는 경로를 명시">
            <a:extLst xmlns:a="http://schemas.openxmlformats.org/drawingml/2006/main">
              <a:ext uri="{FF2B5EF4-FFF2-40B4-BE49-F238E27FC236}">
                <a16:creationId xmlns:a16="http://schemas.microsoft.com/office/drawing/2014/main" id="{128A45D3-8E63-47F4-810F-847A888E2519}"/>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0" name="">
            <a:extLst xmlns:a="http://schemas.openxmlformats.org/drawingml/2006/main">
              <a:ext uri="{FF2B5EF4-FFF2-40B4-BE49-F238E27FC236}">
                <a16:creationId xmlns:a16="http://schemas.microsoft.com/office/drawing/2014/main" id="{B2BB2F6D-DE14-48C4-AA26-A6DEFEE0048A}"/>
              </a:ext>
            </a:extLst>
          </p:cNvPr>
          <p:cNvPicPr>
            <a:picLocks xmlns:a="http://schemas.openxmlformats.org/drawingml/2006/main" noChangeAspect="1"/>
          </p:cNvPicPr>
          <p:nvPr/>
        </p:nvPicPr>
        <p:blipFill>
          <a:blip xmlns:r="http://schemas.openxmlformats.org/officeDocument/2006/relationships" xmlns:a="http://schemas.openxmlformats.org/drawingml/2006/main" r:embed="R81713f9dcd884bf4"/>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783943CC-0A24-440B-BA6B-6619C8114668}"/>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EFE61B2-5FF9-45DC-A513-3EEED92603B2}"/>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Possible interpretation A">
            <a:extLst xmlns:a="http://schemas.openxmlformats.org/drawingml/2006/main">
              <a:ext uri="{FF2B5EF4-FFF2-40B4-BE49-F238E27FC236}">
                <a16:creationId xmlns:a16="http://schemas.microsoft.com/office/drawing/2014/main" id="{E5784F8A-99DC-452E-8FDD-7E94C30DD8F8}"/>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4" name="">
            <a:extLst xmlns:a="http://schemas.openxmlformats.org/drawingml/2006/main">
              <a:ext uri="{FF2B5EF4-FFF2-40B4-BE49-F238E27FC236}">
                <a16:creationId xmlns:a16="http://schemas.microsoft.com/office/drawing/2014/main" id="{892E9FD1-DA50-429B-A6BB-B9AACA6ACE19}"/>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25" name="A">
            <a:extLst xmlns:a="http://schemas.openxmlformats.org/drawingml/2006/main">
              <a:ext uri="{FF2B5EF4-FFF2-40B4-BE49-F238E27FC236}">
                <a16:creationId xmlns:a16="http://schemas.microsoft.com/office/drawing/2014/main" id="{3BA13A51-6F71-4A87-B356-0C9B468E10BC}"/>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26" name="테스트 기대값 변경">
            <a:extLst xmlns:a="http://schemas.openxmlformats.org/drawingml/2006/main">
              <a:ext uri="{FF2B5EF4-FFF2-40B4-BE49-F238E27FC236}">
                <a16:creationId xmlns:a16="http://schemas.microsoft.com/office/drawing/2014/main" id="{E01055DC-E883-4F8D-BCDD-FCB2D91E9B86}"/>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27" name="보존 조건과 맞지 않음">
            <a:extLst xmlns:a="http://schemas.openxmlformats.org/drawingml/2006/main">
              <a:ext uri="{FF2B5EF4-FFF2-40B4-BE49-F238E27FC236}">
                <a16:creationId xmlns:a16="http://schemas.microsoft.com/office/drawing/2014/main" id="{9EEE3863-B337-4C22-9938-095B45B64BD7}"/>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28" name="Possible interpretation B">
            <a:extLst xmlns:a="http://schemas.openxmlformats.org/drawingml/2006/main">
              <a:ext uri="{FF2B5EF4-FFF2-40B4-BE49-F238E27FC236}">
                <a16:creationId xmlns:a16="http://schemas.microsoft.com/office/drawing/2014/main" id="{2561AAA7-8C4C-4853-8261-19FDDC729BD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29" name="">
            <a:extLst xmlns:a="http://schemas.openxmlformats.org/drawingml/2006/main">
              <a:ext uri="{FF2B5EF4-FFF2-40B4-BE49-F238E27FC236}">
                <a16:creationId xmlns:a16="http://schemas.microsoft.com/office/drawing/2014/main" id="{B765727E-FC73-4799-B103-575BA2327EA6}"/>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0" name="B">
            <a:extLst xmlns:a="http://schemas.openxmlformats.org/drawingml/2006/main">
              <a:ext uri="{FF2B5EF4-FFF2-40B4-BE49-F238E27FC236}">
                <a16:creationId xmlns:a16="http://schemas.microsoft.com/office/drawing/2014/main" id="{9B48729F-BEA0-461B-AABC-6A89C1DD8127}"/>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1" name="crop 구현 최소 수정">
            <a:extLst xmlns:a="http://schemas.openxmlformats.org/drawingml/2006/main">
              <a:ext uri="{FF2B5EF4-FFF2-40B4-BE49-F238E27FC236}">
                <a16:creationId xmlns:a16="http://schemas.microsoft.com/office/drawing/2014/main" id="{4E0A2A87-1D0A-4BE9-BBB2-77D711DCAED9}"/>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2" name="사람이 명시한 변경 범위">
            <a:extLst xmlns:a="http://schemas.openxmlformats.org/drawingml/2006/main">
              <a:ext uri="{FF2B5EF4-FFF2-40B4-BE49-F238E27FC236}">
                <a16:creationId xmlns:a16="http://schemas.microsoft.com/office/drawing/2014/main" id="{6660C6F9-42D3-41CD-B5DD-267039366E83}"/>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변경 범위</a:t>
            </a:r>
          </a:p>
        </p:txBody>
      </p:sp>
      <p:sp>
        <p:nvSpPr>
          <p:cNvPr id="33" name="Possible interpretation C">
            <a:extLst xmlns:a="http://schemas.openxmlformats.org/drawingml/2006/main">
              <a:ext uri="{FF2B5EF4-FFF2-40B4-BE49-F238E27FC236}">
                <a16:creationId xmlns:a16="http://schemas.microsoft.com/office/drawing/2014/main" id="{47F67505-8A72-48EC-8E86-5EB4263E6F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4" name="">
            <a:extLst xmlns:a="http://schemas.openxmlformats.org/drawingml/2006/main">
              <a:ext uri="{FF2B5EF4-FFF2-40B4-BE49-F238E27FC236}">
                <a16:creationId xmlns:a16="http://schemas.microsoft.com/office/drawing/2014/main" id="{76EE1144-D23F-47B1-B863-004BC3AEC394}"/>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5" name="C">
            <a:extLst xmlns:a="http://schemas.openxmlformats.org/drawingml/2006/main">
              <a:ext uri="{FF2B5EF4-FFF2-40B4-BE49-F238E27FC236}">
                <a16:creationId xmlns:a16="http://schemas.microsoft.com/office/drawing/2014/main" id="{53B5C1A8-574A-42FC-9684-BA7AF92B70F4}"/>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36" name="추가 질문 후 진행">
            <a:extLst xmlns:a="http://schemas.openxmlformats.org/drawingml/2006/main">
              <a:ext uri="{FF2B5EF4-FFF2-40B4-BE49-F238E27FC236}">
                <a16:creationId xmlns:a16="http://schemas.microsoft.com/office/drawing/2014/main" id="{355ECB45-9065-4BF2-8047-4EA38FF1D8A4}"/>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37" name="필요한 정보가 남으면 확인">
            <a:extLst xmlns:a="http://schemas.openxmlformats.org/drawingml/2006/main">
              <a:ext uri="{FF2B5EF4-FFF2-40B4-BE49-F238E27FC236}">
                <a16:creationId xmlns:a16="http://schemas.microsoft.com/office/drawing/2014/main" id="{FDF7BBED-4AFA-4786-8D0A-7459732155CD}"/>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38" name="">
            <a:extLst xmlns:a="http://schemas.openxmlformats.org/drawingml/2006/main">
              <a:ext uri="{FF2B5EF4-FFF2-40B4-BE49-F238E27FC236}">
                <a16:creationId xmlns:a16="http://schemas.microsoft.com/office/drawing/2014/main" id="{429A2E22-F23D-47A4-9F87-3F36E25C150D}"/>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9" name="원하는 변화·조건·완료 근거를 요청에 담는다.">
            <a:extLst xmlns:a="http://schemas.openxmlformats.org/drawingml/2006/main">
              <a:ext uri="{FF2B5EF4-FFF2-40B4-BE49-F238E27FC236}">
                <a16:creationId xmlns:a16="http://schemas.microsoft.com/office/drawing/2014/main" id="{77D4D292-3FA2-4552-AE16-95D24C85B6FA}"/>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0" name="Legacy module connection">
            <a:extLst xmlns:a="http://schemas.openxmlformats.org/drawingml/2006/main">
              <a:ext uri="{FF2B5EF4-FFF2-40B4-BE49-F238E27FC236}">
                <a16:creationId xmlns:a16="http://schemas.microsoft.com/office/drawing/2014/main" id="{46B18696-57AB-49E1-B13B-A93FA6723E3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8840631"/>
      </p:ext>
    </p:extLst>
  </p:cSld>
</p:sld>
</file>

<file path=ppt/slides/slide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0C8963F8-BD21-49AC-B89F-642E5572AF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9">
            <a:extLst xmlns:a="http://schemas.openxmlformats.org/drawingml/2006/main">
              <a:ext uri="{FF2B5EF4-FFF2-40B4-BE49-F238E27FC236}">
                <a16:creationId xmlns:a16="http://schemas.microsoft.com/office/drawing/2014/main" id="{9038BA8D-B21B-4B2F-ACF9-F9EA7EED1D5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개발자가 정해야 하는 경계">
            <a:extLst xmlns:a="http://schemas.openxmlformats.org/drawingml/2006/main">
              <a:ext uri="{FF2B5EF4-FFF2-40B4-BE49-F238E27FC236}">
                <a16:creationId xmlns:a16="http://schemas.microsoft.com/office/drawing/2014/main" id="{99B6F536-37D5-4CA9-97A2-8CA004DB74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74CBA720-2B2F-47BD-A6F2-8279C1DAFE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이번 작업에서 사람이 정할 질문은?">
            <a:extLst xmlns:a="http://schemas.openxmlformats.org/drawingml/2006/main">
              <a:ext uri="{FF2B5EF4-FFF2-40B4-BE49-F238E27FC236}">
                <a16:creationId xmlns:a16="http://schemas.microsoft.com/office/drawing/2014/main" id="{6F81FA12-C6B4-4745-B0AE-0D4DFB1C423F}"/>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22C65E14-D324-4DA1-9EE5-C24442F79C55}"/>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FD94EC56-2210-4F25-A138-FCDEA62709D0}"/>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C07A886B-93D5-4926-B91C-B469E12475E9}"/>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B0ACCB2E-9741-4276-A3A2-C7116FE7A1C5}"/>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FE81965-3C22-4D08-B9B1-5120DCD61E08}"/>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4133CBF-4A1B-43C0-82C2-13ED02ABE6CE}"/>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4DAFCF-4A74-451D-8B78-A8253002864A}"/>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49A18777-D15E-49CE-82A2-153BA95DF67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EE1D382-F628-4BF2-B9D3-491598D78006}"/>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9B6E424D-1AE1-4CCD-BF40-AF0194FC16D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2003F6CA-7EF4-47AA-BA1F-64B1B2423325}"/>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DFC6B82-A8B4-45F7-B407-B7942D727628}"/>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63F1506-366B-44A6-97DD-9C3853953D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A5AC5F0-2173-4ABF-8170-DB74703C9625}"/>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5A036604-B985-4970-8E21-C83A133C116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376EF521-6DB6-4545-8BEC-D8C96D029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32228253"/>
      </p:ext>
    </p:extLst>
  </p:cSld>
</p:sld>
</file>

<file path=ppt/slides/slide2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2308639A-0637-4DA6-BFC3-F1AFE0D9B2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20">
            <a:extLst xmlns:a="http://schemas.openxmlformats.org/drawingml/2006/main">
              <a:ext uri="{FF2B5EF4-FFF2-40B4-BE49-F238E27FC236}">
                <a16:creationId xmlns:a16="http://schemas.microsoft.com/office/drawing/2014/main" id="{ABDA338F-1428-4058-BDFA-2654D5015BF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Task Specification의 다섯 책임">
            <a:extLst xmlns:a="http://schemas.openxmlformats.org/drawingml/2006/main">
              <a:ext uri="{FF2B5EF4-FFF2-40B4-BE49-F238E27FC236}">
                <a16:creationId xmlns:a16="http://schemas.microsoft.com/office/drawing/2014/main" id="{6D9D9F49-4052-4918-8CB5-D3849021E7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502C2475-3182-401B-AD00-C4CE00F3B1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56D7121-6C28-435A-ACB3-EF3F40B76E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저장소 사실은 조사하게 하고, 목표·제약·완료 기준은 사람이 정한다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ECBCC9FF-1F4F-4D2D-B2F7-0AC0A673BDA5}"/>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ECF8BD0C-F0A9-47A6-8FEF-8042320A0E1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794186BF-10BD-4200-BBD0-E41DCA9F34D9}"/>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44494038-042E-4EE4-A5C4-4BDC84E0774D}"/>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67DB26C1-422F-41D4-9BAC-825BA03084C2}"/>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D690E38F-88E0-4976-8DE2-7054436D49BB}"/>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8E36F673-A85B-4A81-AD36-C4A4B9BFCB49}"/>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1545C9DC-113A-469E-AC99-867A5972C5A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FA92782C-4C87-4BC3-9629-03BEBE52E9F3}"/>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F35CA5C3-4F7B-4980-BD76-A933E241ADF1}"/>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8C07A253-F2EE-4AF3-AA94-FBB2B05A7FE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6D3FBF31-78B7-43EB-B9CD-04D66F6B2C6F}"/>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007D6545-BC7A-4A58-A165-675A872194F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94C0E374-D94E-4EC2-B092-EF1971C418C5}"/>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2A48C7B3-26E9-4DE0-AFF3-327070FE3ED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E3AF651E-85F3-47FE-8B2D-76BD33F965E6}"/>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A18CB224-3B34-49AD-85AC-7BF931B10FEC}"/>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D4D4A4A3-6CAF-45A7-8A87-D9AAEE8D0B6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8B6AF0F3-2482-47CB-91B9-9372EE6E79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958148"/>
      </p:ext>
    </p:extLst>
  </p:cSld>
</p:sld>
</file>

<file path=ppt/slides/slide2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AE9AA143-66A4-4DA1-BAF6-07D23325BD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21">
            <a:extLst xmlns:a="http://schemas.openxmlformats.org/drawingml/2006/main">
              <a:ext uri="{FF2B5EF4-FFF2-40B4-BE49-F238E27FC236}">
                <a16:creationId xmlns:a16="http://schemas.microsoft.com/office/drawing/2014/main" id="{CD054361-7820-4998-9882-3022F5C889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더 긴 Prompt보다 분명한 경계">
            <a:extLst xmlns:a="http://schemas.openxmlformats.org/drawingml/2006/main">
              <a:ext uri="{FF2B5EF4-FFF2-40B4-BE49-F238E27FC236}">
                <a16:creationId xmlns:a16="http://schemas.microsoft.com/office/drawing/2014/main" id="{8089C7DA-D9E0-40EC-A495-AA523F0107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B6DDFB4B-9B55-4BB5-B280-355417A490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D4A91D6F-6715-4BFA-902F-F7CE613317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처음 요청">
            <a:extLst xmlns:a="http://schemas.openxmlformats.org/drawingml/2006/main">
              <a:ext uri="{FF2B5EF4-FFF2-40B4-BE49-F238E27FC236}">
                <a16:creationId xmlns:a16="http://schemas.microsoft.com/office/drawing/2014/main" id="{13C1D1BD-EE5E-48E7-95D2-14FFE23CF0D5}"/>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87BA8976-C9B8-4A73-9B57-8578EB46A956}"/>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E881DB3A-0882-42C7-8BFF-0507A20D64E4}"/>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AA006D9F-7024-4624-8D5A-4BAF3E8482CC}"/>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A522533F-6CD0-4D0A-BF7A-86A68B200673}"/>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06763342-A8BB-4778-B985-5044E67626A4}"/>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7B2CF4F8-F514-4CD2-AA2A-0B29AAE03A0D}"/>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E5C85CAF-1B51-4A49-8480-C83BE0E4E28D}"/>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8A0A0B20-37B1-4FE3-8CE0-D3AAEFC3F437}"/>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FADA450A-F932-43CF-B822-D5CFF24613E1}"/>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73491645-5599-4860-A3B0-1273F8A8C965}"/>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42290AED-7385-409E-85B0-3129BE250A32}"/>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34EE2A1B-4112-4413-899C-B3572B4AD4DD}"/>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C0D3AB2F-8401-423B-935A-0FC2D81448FF}"/>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EBFBEE25-17BB-4A5B-83B8-3D06BF2CEAFC}"/>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6FC2287B-9F6B-445D-9878-AC3B43D2EDE9}"/>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6F27FE76-2D1E-4D4E-8034-112CA4659727}"/>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1C71B3EF-9823-4F4A-BEEF-441148421CE2}"/>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2DAE35CF-FEBA-448F-A15E-D30301C7E848}"/>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BD604F12-5A5A-45EF-9E45-377C9977851F}"/>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F04CD9F1-0E69-4D89-A2BA-8140BC40E020}"/>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DB26B68E-5CD3-439E-9A01-C2E544EC10F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29996C20-5DCE-4DD8-BDEC-1178579325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506836505"/>
      </p:ext>
    </p:extLst>
  </p:cSld>
</p:sld>
</file>

<file path=ppt/slides/slide2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EB1D5DC9-F2D9-42C6-82CA-84A8683CD3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2">
            <a:extLst xmlns:a="http://schemas.openxmlformats.org/drawingml/2006/main">
              <a:ext uri="{FF2B5EF4-FFF2-40B4-BE49-F238E27FC236}">
                <a16:creationId xmlns:a16="http://schemas.microsoft.com/office/drawing/2014/main" id="{C2BB554E-D257-45C0-A899-81447A3D9E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요청한 과정은 기록에도 남았을까?">
            <a:extLst xmlns:a="http://schemas.openxmlformats.org/drawingml/2006/main">
              <a:ext uri="{FF2B5EF4-FFF2-40B4-BE49-F238E27FC236}">
                <a16:creationId xmlns:a16="http://schemas.microsoft.com/office/drawing/2014/main" id="{7823F3BF-BC7D-419A-9364-BCF47460B5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E3AACFE1-A02F-44AF-BA57-CB050288F1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133140C-9100-4FF2-9F9E-26968A5635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발췌와 관찰 기록 · 앞선 요청 예시와 별도</a:t>
            </a:r>
          </a:p>
        </p:txBody>
      </p:sp>
      <p:sp>
        <p:nvSpPr>
          <p:cNvPr id="7" name="">
            <a:extLst xmlns:a="http://schemas.openxmlformats.org/drawingml/2006/main">
              <a:ext uri="{FF2B5EF4-FFF2-40B4-BE49-F238E27FC236}">
                <a16:creationId xmlns:a16="http://schemas.microsoft.com/office/drawing/2014/main" id="{5C6D4860-8813-4EAE-B441-92D8E5948F2D}"/>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092DA34E-BA68-4C0C-9B21-63442CB5B460}"/>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40606C0B-C453-4984-A798-A8A23A0F5D14}"/>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A2654A29-2626-4B69-A3A0-8F775A947F75}"/>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C368C5A7-93A9-49DB-B926-AC7D67E5ADA9}"/>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FE9E59C0-803B-4326-9694-FF40B47625C9}"/>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2FB2840D-FE55-476F-B7FF-65A3709839E5}"/>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FE68C102-5AE7-4F2C-BE54-52979F572A2D}"/>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245FFD13-0922-405F-BE5E-3AEA677C84A5}"/>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41CACE27-1F0B-418F-AE31-AFCEBCD7A017}"/>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6BD72411-336A-4C7A-9A03-EFFB509C36E7}"/>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242AE06-70C6-4C1F-9441-9427A22BC10A}"/>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1F9DF022-C652-47A7-840D-C21B31A247BF}"/>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FF48FA0B-C4FC-4C46-93A4-A016C22B675C}"/>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602CEF44-50E0-4269-808E-47F25402EFF4}"/>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0502D726-9E42-4DD6-8F3C-600125578D55}"/>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8FAD6AC7-78E6-49FA-8C86-FD8A905DC49D}"/>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F79906BD-5105-451B-9F6F-0749CBDE97AD}"/>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E8B0D034-3ED7-41CE-96C0-343450F8FD27}"/>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3890249C-BD2F-41F7-8383-D516A7E61267}"/>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5B9DC323-E40C-4273-A4CA-D6C2E935DC02}"/>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79497651-236B-4559-B5AE-BDA416FF98F6}"/>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0EBFAC7F-A580-444B-9A52-27CFC7242E38}"/>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FBE5FFA3-6970-4EB3-B470-FAF57D281DC1}"/>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F5938FB1-7EA4-49A2-B4CF-FFB7171D68E7}"/>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3">
            <a:extLst xmlns:a="http://schemas.openxmlformats.org/drawingml/2006/main">
              <a:ext uri="{FF2B5EF4-FFF2-40B4-BE49-F238E27FC236}">
                <a16:creationId xmlns:a16="http://schemas.microsoft.com/office/drawing/2014/main" id="{6458034C-224E-403E-B43B-E96641B8914D}"/>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S23</a:t>
            </a:r>
          </a:p>
        </p:txBody>
      </p:sp>
      <p:sp>
        <p:nvSpPr>
          <p:cNvPr id="33" name="05 확인·보고 결과  ·  S24">
            <a:extLst xmlns:a="http://schemas.openxmlformats.org/drawingml/2006/main">
              <a:ext uri="{FF2B5EF4-FFF2-40B4-BE49-F238E27FC236}">
                <a16:creationId xmlns:a16="http://schemas.microsoft.com/office/drawing/2014/main" id="{65709C6F-8295-4415-A27C-48DDCDAB0E0A}"/>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S24</a:t>
            </a:r>
          </a:p>
        </p:txBody>
      </p:sp>
      <p:sp>
        <p:nvSpPr>
          <p:cNvPr id="34" name="Legacy module connection">
            <a:extLst xmlns:a="http://schemas.openxmlformats.org/drawingml/2006/main">
              <a:ext uri="{FF2B5EF4-FFF2-40B4-BE49-F238E27FC236}">
                <a16:creationId xmlns:a16="http://schemas.microsoft.com/office/drawing/2014/main" id="{38563604-69C5-4489-9ED8-16AAB3220C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98352984"/>
      </p:ext>
    </p:extLst>
  </p:cSld>
</p:sld>
</file>

<file path=ppt/slides/slide2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6C7E71-DFE0-40F9-867C-69EFDD4DE0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3">
            <a:extLst xmlns:a="http://schemas.openxmlformats.org/drawingml/2006/main">
              <a:ext uri="{FF2B5EF4-FFF2-40B4-BE49-F238E27FC236}">
                <a16:creationId xmlns:a16="http://schemas.microsoft.com/office/drawing/2014/main" id="{12392206-192F-4A98-A0B9-53ABD59B3A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조사에서 한 줄 변경까지">
            <a:extLst xmlns:a="http://schemas.openxmlformats.org/drawingml/2006/main">
              <a:ext uri="{FF2B5EF4-FFF2-40B4-BE49-F238E27FC236}">
                <a16:creationId xmlns:a16="http://schemas.microsoft.com/office/drawing/2014/main" id="{7C7A9EBA-03FE-4218-91A8-DD1AC3BC59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9610AFEF-9806-478D-B0CE-A0CBBDE84C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2F2B6B1-9229-4CB8-AFB0-76E3DDD6F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변경 diff</a:t>
            </a:r>
          </a:p>
        </p:txBody>
      </p:sp>
      <p:sp>
        <p:nvSpPr>
          <p:cNvPr id="7" name="요청한 02 조사 · 03 계획 · 04 최소 수정">
            <a:extLst xmlns:a="http://schemas.openxmlformats.org/drawingml/2006/main">
              <a:ext uri="{FF2B5EF4-FFF2-40B4-BE49-F238E27FC236}">
                <a16:creationId xmlns:a16="http://schemas.microsoft.com/office/drawing/2014/main" id="{7B1011B2-C3F1-4615-B1DA-551C8D9A8A49}"/>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21E8FDB0-AE50-4E55-9990-0CBDA7E6F50E}"/>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CBF40AD2-219E-43A9-9875-0BA32F71759C}"/>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2A6B305-D615-474C-B06C-A8F24BA06503}"/>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D5E0FC-18E5-4C12-9765-E32DBD56D4C1}"/>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621AAAA4-1CBE-454A-BCC4-9964678A42D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AA74BCD1-2E86-46E7-BFC2-A301955D5F1C}"/>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6F7287ED-4B21-427C-86C4-71D1EAB9DE8D}"/>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538844D0-16AB-409B-BBC2-BD5E58B3F0E1}"/>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1BEEFECD-E2F9-494C-BC75-765901E7FF1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91853360-9E67-4111-A5F4-2241E516F4C2}"/>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7BA5EB31-1419-4FC0-A8D4-8E4387D728EF}"/>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1BCC11E7-4D04-44FD-8837-AF4AA7D14D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8616206"/>
      </p:ext>
    </p:extLst>
  </p:cSld>
</p:sld>
</file>

<file path=ppt/slides/slide2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4CF3037B-5C51-4D12-AC83-D25C1031A4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4">
            <a:extLst xmlns:a="http://schemas.openxmlformats.org/drawingml/2006/main">
              <a:ext uri="{FF2B5EF4-FFF2-40B4-BE49-F238E27FC236}">
                <a16:creationId xmlns:a16="http://schemas.microsoft.com/office/drawing/2014/main" id="{0143ABE4-E541-4F72-A45F-441041B72F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변경 결과와 확인 증거">
            <a:extLst xmlns:a="http://schemas.openxmlformats.org/drawingml/2006/main">
              <a:ext uri="{FF2B5EF4-FFF2-40B4-BE49-F238E27FC236}">
                <a16:creationId xmlns:a16="http://schemas.microsoft.com/office/drawing/2014/main" id="{CE3F4AC0-FA4A-4A0B-A0C3-0000DA0066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022FF6BF-60D3-4491-92B0-7883796FE85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FF2A36E-A0A5-41B7-AF45-AD550784E6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해당 수정·입력의 검증 기록 · 성능 미측정</a:t>
            </a:r>
          </a:p>
        </p:txBody>
      </p:sp>
      <p:sp>
        <p:nvSpPr>
          <p:cNvPr id="7" name="요청한 확인·보고에 어떤 근거가 남았을까?">
            <a:extLst xmlns:a="http://schemas.openxmlformats.org/drawingml/2006/main">
              <a:ext uri="{FF2B5EF4-FFF2-40B4-BE49-F238E27FC236}">
                <a16:creationId xmlns:a16="http://schemas.microsoft.com/office/drawing/2014/main" id="{E54E27E3-F939-4A83-BCDB-6BAA9F0AE577}"/>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F1C27527-E4EA-48F5-AD73-B0BFC79FD90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099408DD-41E6-426E-87E1-4F8F874AE4B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5B670C1A-3DBF-4C91-85C8-DE66D7E6933C}"/>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881A6D77-2571-483C-B6A8-874DBFC2472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1C4B7012-17A7-4A03-887E-5567F52C6D7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BD42138-F73E-4A7C-98CB-600DDF73A2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F5BE736A-6210-4A73-BC6A-D7D2C8B38355}"/>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2F5D681F-086E-42A9-9D94-2CBA89713B77}"/>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E03F86-2F88-4D92-89EB-3F54A9478FEC}"/>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D58A8FE2-B93B-4E0B-9418-F76AFD341956}"/>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628167B2-61EA-41F0-BABD-FD88521887F1}"/>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216C12DC-9213-4021-8E91-8E2FA8AF63A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93FD9757-A167-4C03-BE59-1578DB6F4F1E}"/>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D9D9044-D8B0-48BF-9D0B-8211ADB66F02}"/>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22BA4C3-BB08-4C9C-A72E-566228CC8362}"/>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9B411D34-7193-4357-9344-F1930BC0A3E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9357288"/>
      </p:ext>
    </p:extLst>
  </p:cSld>
</p:sld>
</file>

<file path=ppt/slides/slide2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B0C3B495-C706-4396-8407-80EB6318C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5">
            <a:extLst xmlns:a="http://schemas.openxmlformats.org/drawingml/2006/main">
              <a:ext uri="{FF2B5EF4-FFF2-40B4-BE49-F238E27FC236}">
                <a16:creationId xmlns:a16="http://schemas.microsoft.com/office/drawing/2014/main" id="{FC2ECABD-1CCA-4D0C-955C-9A6B030DC7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Generated ≠ Done">
            <a:extLst xmlns:a="http://schemas.openxmlformats.org/drawingml/2006/main">
              <a:ext uri="{FF2B5EF4-FFF2-40B4-BE49-F238E27FC236}">
                <a16:creationId xmlns:a16="http://schemas.microsoft.com/office/drawing/2014/main" id="{B15C689C-B935-43F6-B440-FF508A5466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165C175-0A68-4064-92BD-2CA1189AFC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50B675F-5173-407E-8080-3DBB935979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주장과 위험에 맞는 근거로 완료를 판단한다</a:t>
            </a:r>
          </a:p>
        </p:txBody>
      </p:sp>
      <p:sp>
        <p:nvSpPr>
          <p:cNvPr id="7" name="확인·보고도 요청한다">
            <a:extLst xmlns:a="http://schemas.openxmlformats.org/drawingml/2006/main">
              <a:ext uri="{FF2B5EF4-FFF2-40B4-BE49-F238E27FC236}">
                <a16:creationId xmlns:a16="http://schemas.microsoft.com/office/drawing/2014/main" id="{F1C89D52-40E5-460F-BA6D-FA0F9B790B7B}"/>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3F035E7-14A0-4FD1-9E6A-282AE5E40D6E}"/>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7F8FF741-A314-4ED4-90A9-31A427189BC3}"/>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2D3D45A5-99F2-4387-B92E-9C3952168827}"/>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9754C56-8A41-44AE-8B9E-DC35D293B278}"/>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1127BD1B-8438-4CB9-8639-358FD3C40BC7}"/>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74EA9E9A-A59E-45D6-BA7C-8A799C65A2F6}"/>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1FAA784D-B067-4701-B681-A7C78B1A4DD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5F513E1B-2FE2-44DF-B511-A4DBB49789B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7CC33055-D66A-4871-8796-C94D20525BB3}"/>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F7D8DBBB-AC68-49AE-979D-CD036906A71E}"/>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F43A8324-96C8-41B9-94DA-4E7A39D7BCEF}"/>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4F5F33D3-5C97-4D8E-A353-B580C9AE2B96}"/>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784BBA06-054B-4654-BD65-3BA4B8DFCD00}"/>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D7D1A530-AECC-49AD-9028-1F9F9495BE69}"/>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55B1C1C2-BB66-4631-A1A7-39F68A68E94D}"/>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9B64827-E3CB-41F6-8669-5A7A9D40747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939387911"/>
      </p:ext>
    </p:extLst>
  </p:cSld>
</p:sld>
</file>

<file path=ppt/slides/slide2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E7955C49-D056-4FC3-8179-6AF589E8DF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6">
            <a:extLst xmlns:a="http://schemas.openxmlformats.org/drawingml/2006/main">
              <a:ext uri="{FF2B5EF4-FFF2-40B4-BE49-F238E27FC236}">
                <a16:creationId xmlns:a16="http://schemas.microsoft.com/office/drawing/2014/main" id="{EBEF6351-4DFF-4496-9AD8-0D2234B2BCC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Check마다 확인하는 범위">
            <a:extLst xmlns:a="http://schemas.openxmlformats.org/drawingml/2006/main">
              <a:ext uri="{FF2B5EF4-FFF2-40B4-BE49-F238E27FC236}">
                <a16:creationId xmlns:a16="http://schemas.microsoft.com/office/drawing/2014/main" id="{F7000BB8-7FBF-4E40-948C-93C0AF2DCE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EEA2D006-1F46-47E1-8846-CF647D9203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327103F-24FB-45F2-B765-56432657A2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우측은 C++ 검증 예시 · 실제 Trial은 Python</a:t>
            </a:r>
          </a:p>
        </p:txBody>
      </p:sp>
      <p:sp>
        <p:nvSpPr>
          <p:cNvPr id="7" name="요청할 확인">
            <a:extLst xmlns:a="http://schemas.openxmlformats.org/drawingml/2006/main">
              <a:ext uri="{FF2B5EF4-FFF2-40B4-BE49-F238E27FC236}">
                <a16:creationId xmlns:a16="http://schemas.microsoft.com/office/drawing/2014/main" id="{40771CFC-8F23-4587-ACD6-B9618AD13C3C}"/>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8D1B155A-94E0-4BF3-81A6-8A52DD87E765}"/>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D7FEF365-92AD-4338-B0D2-73FB533A4028}"/>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371C9E50-326B-4AFA-A901-EFDFA2DC786D}"/>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C9B3873E-C99B-4497-B3CF-F224CD967C15}"/>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F4C3BFF1-3036-4CA8-AEAC-0795B4C555BA}"/>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3AE65141-E335-4074-8ED7-193EF1E5B01E}"/>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9506E2B8-D6F9-43D5-9DB9-D8B099819379}"/>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2A8E88AC-E65D-491E-B0AD-E5EB79A4334E}"/>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587C9729-A721-4F2F-B840-DC3149BC143F}"/>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D377351B-07DA-4BDB-9B28-1987372AB79B}"/>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97657694-4572-4B97-848B-C86FA48BA2BA}"/>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07920CA2-6C7C-46A7-AE4B-9EE38E46E877}"/>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86A28694-C6AD-4B05-BD86-292734A691E1}"/>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8198F002-13A5-40E3-97DB-3B0D9D2C884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2B1744CE-2E0C-4B9B-B88E-5CB6A24E45A4}"/>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76051DDA-720E-4D07-80B4-12AE26E22B3A}"/>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BC2E7830-14E3-41ED-90F7-3030C2059885}"/>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E999422C-A8BC-4664-B39F-0195D721D41A}"/>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D6B21611-8A95-47FC-9287-B9E74E5D69E1}"/>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6E63752B-70C0-4751-96F7-62589B80F083}"/>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DB2421BE-540B-4B9E-992D-D7AE11646DA1}"/>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4D93A669-CA6F-431C-93E8-613651F4E8E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D306014D-2623-459F-BEA8-12DBC4FB16DA}"/>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F9722631-A0C3-45F1-A89B-A5E37965E00E}"/>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BE29312C-3516-4206-BFB8-84E491FD5237}"/>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220DFD93-0253-4E4D-A9C9-0F8FE07EC7B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301E582F-7E14-4537-9607-69055186ADC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E452199C-2C12-4851-BCE2-8758D2C5AFF1}"/>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D7F1F9FB-B1B9-4F2D-86BC-E5CC5F2DF885}"/>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F540A828-46AE-4B07-B1FA-09AF6603168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E2DF7F24-E616-4616-B599-68FAF72DFEF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644D6264-62F3-4983-AA13-1A9EA7832594}"/>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5BD6E3FC-61F1-49FD-9E93-87B33A76EDA5}"/>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A0D0BC03-64D1-4778-9FC1-102316FFAE3B}"/>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D1920B65-FFA6-4B81-94E3-3AF1ED8CBD79}"/>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614551D3-ABBE-43E7-9619-6D19DCA41194}"/>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3DE57AE9-20CE-4308-9802-D7D09C61DF53}"/>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BD9844E4-45D8-439D-9E03-B8AA9F3F8C7E}"/>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FBE9FCFC-1A1A-4196-9502-4B1D4DEA8C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45639950"/>
      </p:ext>
    </p:extLst>
  </p:cSld>
</p:sld>
</file>

<file path=ppt/slides/slide2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1/8 · Delimiters">
            <a:extLst xmlns:a="http://schemas.openxmlformats.org/drawingml/2006/main">
              <a:ext uri="{FF2B5EF4-FFF2-40B4-BE49-F238E27FC236}">
                <a16:creationId xmlns:a16="http://schemas.microsoft.com/office/drawing/2014/main" id="{498D5FC2-056E-47A9-A35B-551A45B954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7">
            <a:extLst xmlns:a="http://schemas.openxmlformats.org/drawingml/2006/main">
              <a:ext uri="{FF2B5EF4-FFF2-40B4-BE49-F238E27FC236}">
                <a16:creationId xmlns:a16="http://schemas.microsoft.com/office/drawing/2014/main" id="{F04E4568-ED64-4F69-928A-3F476FFF9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지시와 참고 자료의 구분">
            <a:extLst xmlns:a="http://schemas.openxmlformats.org/drawingml/2006/main">
              <a:ext uri="{FF2B5EF4-FFF2-40B4-BE49-F238E27FC236}">
                <a16:creationId xmlns:a16="http://schemas.microsoft.com/office/drawing/2014/main" id="{DC0158C5-0011-467E-8113-2DF04120EF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2F5FF367-BF00-4E84-917F-773F4B9577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50BC855-84BE-4C83-ADA0-ADB24E9127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구획은 보안 격리가 아니다</a:t>
            </a:r>
          </a:p>
        </p:txBody>
      </p:sp>
      <p:sp>
        <p:nvSpPr>
          <p:cNvPr id="7" name="">
            <a:extLst xmlns:a="http://schemas.openxmlformats.org/drawingml/2006/main">
              <a:ext uri="{FF2B5EF4-FFF2-40B4-BE49-F238E27FC236}">
                <a16:creationId xmlns:a16="http://schemas.microsoft.com/office/drawing/2014/main" id="{39E06142-AA61-4757-9B88-42B50E8BED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0E7043D-A636-40CF-A6EF-D315F7B11E5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E6916167-4301-43BB-9850-1080A067D3E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D51EB532-6628-4CF9-BDB8-5F19B36C3D5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6986993-0397-4175-B567-3E2D0A15B76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CE0EB1C-A2C5-47B4-A627-28AE230D10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B2CDE4B8-35AE-4837-974C-5CE982C6D4AF}"/>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410EA0B-90DF-40C1-8103-F5EDE4D5BBC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89C8A0E5-5165-4654-BE0F-1B4F9D26EED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096BAF34-9110-4174-8B89-7B3B15E9FF43}"/>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7C0BF30B-201E-4A1C-AAB1-09225E4160D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C96C1CAB-70A7-420B-BFBC-23F903C7AB5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C4A145DE-D709-4B43-9F5D-5A8FC29B203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DA9BF66A-6F9E-463E-AF29-0A6D2E60333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
            <a:extLst xmlns:a="http://schemas.openxmlformats.org/drawingml/2006/main">
              <a:ext uri="{FF2B5EF4-FFF2-40B4-BE49-F238E27FC236}">
                <a16:creationId xmlns:a16="http://schemas.microsoft.com/office/drawing/2014/main" id="{699AFE15-58B5-4905-B1EF-0BA6EF58787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576CD7BF-1A7D-43DD-82D2-4665B069651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B4E1F3DA-1981-48C8-B1C8-9B4F8DD752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2197707"/>
      </p:ext>
    </p:extLst>
  </p:cSld>
</p:sld>
</file>

<file path=ppt/slides/slide2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2/8 · Few-shot examples">
            <a:extLst xmlns:a="http://schemas.openxmlformats.org/drawingml/2006/main">
              <a:ext uri="{FF2B5EF4-FFF2-40B4-BE49-F238E27FC236}">
                <a16:creationId xmlns:a16="http://schemas.microsoft.com/office/drawing/2014/main" id="{BD82360A-5E06-4C2B-A5E1-4C75ECBF08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8">
            <a:extLst xmlns:a="http://schemas.openxmlformats.org/drawingml/2006/main">
              <a:ext uri="{FF2B5EF4-FFF2-40B4-BE49-F238E27FC236}">
                <a16:creationId xmlns:a16="http://schemas.microsoft.com/office/drawing/2014/main" id="{FDF5D807-6921-4C76-9550-BCF97673CC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입력과 기대 결과의 작은 예시">
            <a:extLst xmlns:a="http://schemas.openxmlformats.org/drawingml/2006/main">
              <a:ext uri="{FF2B5EF4-FFF2-40B4-BE49-F238E27FC236}">
                <a16:creationId xmlns:a16="http://schemas.microsoft.com/office/drawing/2014/main" id="{B861795E-C50F-49CC-AFBC-5D32F84188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F36DF1E8-7263-4EB2-A7F4-79EC3D1BEB6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15EF113-342C-4633-9990-83AA0A5C71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예시는 전체 명세를 대신하지 않는다</a:t>
            </a:r>
          </a:p>
        </p:txBody>
      </p:sp>
      <p:sp>
        <p:nvSpPr>
          <p:cNvPr id="7" name="">
            <a:extLst xmlns:a="http://schemas.openxmlformats.org/drawingml/2006/main">
              <a:ext uri="{FF2B5EF4-FFF2-40B4-BE49-F238E27FC236}">
                <a16:creationId xmlns:a16="http://schemas.microsoft.com/office/drawing/2014/main" id="{1ECC9138-E217-4D35-B425-566DFEF19F1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8717127-08A8-4526-BC51-9F5AF4EAE4A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F7057F75-8234-4666-9F34-1B45838C283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11EC428C-9DF1-4448-A6CA-BD42E350426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AE8DD0D-3C85-45F4-93D3-0BB888A122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46B7298-A184-4CB2-91B2-84E3DA18E37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779B3B95-4B17-48E2-BD06-B0D2429E027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E3576FC1-685F-4AE2-AFC2-C746CA22703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05E1293F-DCB4-49AD-A158-E48AC28C754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06B3E026-770C-4980-A3C2-63D7AD5B63D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783ED83-8952-4391-BDA8-39AAE71432CB}"/>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B0B23E65-0A03-4B8F-B224-B5D550ABEC4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CBC03238-B440-462C-ABF7-A464E1B3489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80DA7689-5E0A-4017-968E-FE939E98B04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
            <a:extLst xmlns:a="http://schemas.openxmlformats.org/drawingml/2006/main">
              <a:ext uri="{FF2B5EF4-FFF2-40B4-BE49-F238E27FC236}">
                <a16:creationId xmlns:a16="http://schemas.microsoft.com/office/drawing/2014/main" id="{F27B0E71-F1E3-4741-85D9-23CB2530F4D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86906E07-75BD-4132-94FD-783778E4FE5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20D820D-311A-473D-A2B2-D8A8D9F84BC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88989369"/>
      </p:ext>
    </p:extLst>
  </p:cSld>
</p:sld>
</file>

<file path=ppt/slides/slide2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3/8 · Output format">
            <a:extLst xmlns:a="http://schemas.openxmlformats.org/drawingml/2006/main">
              <a:ext uri="{FF2B5EF4-FFF2-40B4-BE49-F238E27FC236}">
                <a16:creationId xmlns:a16="http://schemas.microsoft.com/office/drawing/2014/main" id="{42C6D4A1-DC07-4F3F-9F49-0C2F0ADA1D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9">
            <a:extLst xmlns:a="http://schemas.openxmlformats.org/drawingml/2006/main">
              <a:ext uri="{FF2B5EF4-FFF2-40B4-BE49-F238E27FC236}">
                <a16:creationId xmlns:a16="http://schemas.microsoft.com/office/drawing/2014/main" id="{C0C39EB7-9C1D-4CD6-887D-2956A04D8A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바로 검토할 수 있는 결과 형식">
            <a:extLst xmlns:a="http://schemas.openxmlformats.org/drawingml/2006/main">
              <a:ext uri="{FF2B5EF4-FFF2-40B4-BE49-F238E27FC236}">
                <a16:creationId xmlns:a16="http://schemas.microsoft.com/office/drawing/2014/main" id="{AFFE8997-E8C0-41CD-9B53-83D169DAE6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97BD2894-E033-4B4D-A947-1DA9A9FD1C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042CFC0F-18A6-4706-BB01-3070EF1764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형식과 내용은 별도 검증 · 채팅의 형식 요청과 API 기능은 별개</a:t>
            </a:r>
          </a:p>
        </p:txBody>
      </p:sp>
      <p:sp>
        <p:nvSpPr>
          <p:cNvPr id="7" name="">
            <a:extLst xmlns:a="http://schemas.openxmlformats.org/drawingml/2006/main">
              <a:ext uri="{FF2B5EF4-FFF2-40B4-BE49-F238E27FC236}">
                <a16:creationId xmlns:a16="http://schemas.microsoft.com/office/drawing/2014/main" id="{9266ADE1-43C8-4376-8B66-5FDBCF45AA8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CB9F9C7-7D9A-4698-BFAB-AA9316204CD1}"/>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8A41E917-38B2-4662-A60C-75D0B74044B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57E966E5-3194-4D14-BD0D-796EF30B1AC6}"/>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A2B5188-CC2B-48FE-8B92-E6498A1B9ECE}"/>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1BBECD3-08B1-4D6C-9189-EE465DFA23F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8C28A5D6-B070-4B02-9D4D-75ED5E009EE9}"/>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A263E51-9BF6-4018-854E-2B7575EF0DC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724DE4A0-2B99-421C-9A38-0AC8BB929D0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DD7A1F43-4CAC-4943-8B90-F539E1F53B76}"/>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FBF40EA9-36E8-4084-A68B-A037E01A375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9D72C96E-E1E9-487D-918D-BA243B1E15C9}"/>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F96DD76D-07F6-4CF5-8396-63EE6F4BDAC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9273174A-4CCF-4031-854A-0037C9AB4B4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
            <a:extLst xmlns:a="http://schemas.openxmlformats.org/drawingml/2006/main">
              <a:ext uri="{FF2B5EF4-FFF2-40B4-BE49-F238E27FC236}">
                <a16:creationId xmlns:a16="http://schemas.microsoft.com/office/drawing/2014/main" id="{5186A0A4-B89A-4D8B-A92A-9318434A895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EE8FC58E-14A3-4B57-BDAF-3F95FB03171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FA5E7090-37C4-44CF-8842-A54D78F44C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53436118"/>
      </p:ext>
    </p:extLst>
  </p:cSld>
</p:sld>
</file>

<file path=ppt/slides/slide3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4/8 · Grounding">
            <a:extLst xmlns:a="http://schemas.openxmlformats.org/drawingml/2006/main">
              <a:ext uri="{FF2B5EF4-FFF2-40B4-BE49-F238E27FC236}">
                <a16:creationId xmlns:a16="http://schemas.microsoft.com/office/drawing/2014/main" id="{C5F64B13-5F33-40DE-B21A-B0B668DAB2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30">
            <a:extLst xmlns:a="http://schemas.openxmlformats.org/drawingml/2006/main">
              <a:ext uri="{FF2B5EF4-FFF2-40B4-BE49-F238E27FC236}">
                <a16:creationId xmlns:a16="http://schemas.microsoft.com/office/drawing/2014/main" id="{14A1F06C-3431-4121-8E3E-F37926393BF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근거가 있는 설명과 미확인의 구분">
            <a:extLst xmlns:a="http://schemas.openxmlformats.org/drawingml/2006/main">
              <a:ext uri="{FF2B5EF4-FFF2-40B4-BE49-F238E27FC236}">
                <a16:creationId xmlns:a16="http://schemas.microsoft.com/office/drawing/2014/main" id="{3225D56B-649C-4BD7-A022-A002F09ED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C9BF5631-0944-46E5-9709-50CBE0819E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7682BE7-7AB6-485D-8C3B-25EEFE802A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인용도 실제 내용과 대조한다</a:t>
            </a:r>
          </a:p>
        </p:txBody>
      </p:sp>
      <p:sp>
        <p:nvSpPr>
          <p:cNvPr id="7" name="">
            <a:extLst xmlns:a="http://schemas.openxmlformats.org/drawingml/2006/main">
              <a:ext uri="{FF2B5EF4-FFF2-40B4-BE49-F238E27FC236}">
                <a16:creationId xmlns:a16="http://schemas.microsoft.com/office/drawing/2014/main" id="{7B0C4795-81BA-48CB-8DC1-11A787D8FD6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452CC868-F68D-464B-AF8A-CBFDE7D31B0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9E8CE537-49A9-43D1-B14B-9F06D895AC04}"/>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C2A2B35C-82A6-4C14-A5E9-886DC89A6D59}"/>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C904A58-D19B-4C14-B4BD-48B6032956B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976F675-08B6-49ED-BB83-0ACB904BF5E1}"/>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F464A7A4-3283-49A7-ACE2-C46E764A4E1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C1CE0516-DAA2-45C6-AEAF-EE03E6A8FBA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702C92B-B2E3-4246-A4C8-17F1FD5A0C8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C1A5EEC0-6761-42DE-AAF5-8FE277A5C3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98905A36-6F29-4384-9088-BC075F3E1DA0}"/>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52035134-DC9B-4F35-91EC-4C3C92F0492C}"/>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616E38C2-A511-4739-B40B-C9EA0EEA354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E9D80156-FACE-441E-8054-1FAB4265D15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
            <a:extLst xmlns:a="http://schemas.openxmlformats.org/drawingml/2006/main">
              <a:ext uri="{FF2B5EF4-FFF2-40B4-BE49-F238E27FC236}">
                <a16:creationId xmlns:a16="http://schemas.microsoft.com/office/drawing/2014/main" id="{E3B17C89-35B8-424E-9FD3-C9F03BAF6EB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50E33B9-8B8E-4AF7-9D6A-60BB5A03793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9D348338-D0D2-4AD7-81E1-DD2D09738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83814464"/>
      </p:ext>
    </p:extLst>
  </p:cSld>
</p:sld>
</file>

<file path=ppt/slides/slide3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5/8 · Clarification">
            <a:extLst xmlns:a="http://schemas.openxmlformats.org/drawingml/2006/main">
              <a:ext uri="{FF2B5EF4-FFF2-40B4-BE49-F238E27FC236}">
                <a16:creationId xmlns:a16="http://schemas.microsoft.com/office/drawing/2014/main" id="{D18BAC43-5162-45E8-92D8-D220A59EA7D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31">
            <a:extLst xmlns:a="http://schemas.openxmlformats.org/drawingml/2006/main">
              <a:ext uri="{FF2B5EF4-FFF2-40B4-BE49-F238E27FC236}">
                <a16:creationId xmlns:a16="http://schemas.microsoft.com/office/drawing/2014/main" id="{20B69649-6595-4F26-AA49-D61A11F74E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결과를 바꾸는 결정에서 확인 질문">
            <a:extLst xmlns:a="http://schemas.openxmlformats.org/drawingml/2006/main">
              <a:ext uri="{FF2B5EF4-FFF2-40B4-BE49-F238E27FC236}">
                <a16:creationId xmlns:a16="http://schemas.microsoft.com/office/drawing/2014/main" id="{18085018-21F1-4316-8BEF-5D608F8C7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7ECF154A-8BA7-4829-B455-4B934E3972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7E46A4F1-E487-4B61-ADB5-1FCB4E49CE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결과가 달라지는 선택에 집중해 질문한다</a:t>
            </a:r>
          </a:p>
        </p:txBody>
      </p:sp>
      <p:sp>
        <p:nvSpPr>
          <p:cNvPr id="7" name="">
            <a:extLst xmlns:a="http://schemas.openxmlformats.org/drawingml/2006/main">
              <a:ext uri="{FF2B5EF4-FFF2-40B4-BE49-F238E27FC236}">
                <a16:creationId xmlns:a16="http://schemas.microsoft.com/office/drawing/2014/main" id="{72EE5F5A-DA14-4E9A-83EA-305F359CAF0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FCEFC33-5E56-4005-AE69-C691289299B6}"/>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EA4938E8-B060-46FD-89A8-CF1B53BEA51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2CB1A268-FB93-4AAA-B2CE-7B39C1FA992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F057A67-D676-4062-BED4-436215596E21}"/>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FC28E54-07ED-4E31-BBE8-AE90515343A9}"/>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B58C3231-30CE-4D34-8F00-1ED60B841B8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8155FF7C-7589-476B-A527-CD477219293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5239895D-C764-4CE6-9DEA-CB789645E13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4CC0BC42-C52B-438C-A8F9-8E71B6C0E7B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F0F6865C-7A65-47D4-8CF7-076B27C7BEB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A11FF73D-EF64-4230-9BF9-1143312A3665}"/>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872F31A8-5E2F-4839-B9BD-9DA566084D2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A04EDCBC-1239-42EC-A7A3-2CE1118769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
            <a:extLst xmlns:a="http://schemas.openxmlformats.org/drawingml/2006/main">
              <a:ext uri="{FF2B5EF4-FFF2-40B4-BE49-F238E27FC236}">
                <a16:creationId xmlns:a16="http://schemas.microsoft.com/office/drawing/2014/main" id="{36DF7719-144C-489D-BEF3-2E52ACD228A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FF53924-BADE-4E7E-AE03-C8E613EFECD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70F3D875-9C87-488D-8CED-C8621B6D22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7275506"/>
      </p:ext>
    </p:extLst>
  </p:cSld>
</p:sld>
</file>

<file path=ppt/slides/slide3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6/8 · Task decomposition">
            <a:extLst xmlns:a="http://schemas.openxmlformats.org/drawingml/2006/main">
              <a:ext uri="{FF2B5EF4-FFF2-40B4-BE49-F238E27FC236}">
                <a16:creationId xmlns:a16="http://schemas.microsoft.com/office/drawing/2014/main" id="{39894558-775F-47FD-87A3-F220426247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2">
            <a:extLst xmlns:a="http://schemas.openxmlformats.org/drawingml/2006/main">
              <a:ext uri="{FF2B5EF4-FFF2-40B4-BE49-F238E27FC236}">
                <a16:creationId xmlns:a16="http://schemas.microsoft.com/office/drawing/2014/main" id="{DF3BBF22-3B16-4AA1-80A7-92756ACB23C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큰 작업을 검토할 결과물로 나누기">
            <a:extLst xmlns:a="http://schemas.openxmlformats.org/drawingml/2006/main">
              <a:ext uri="{FF2B5EF4-FFF2-40B4-BE49-F238E27FC236}">
                <a16:creationId xmlns:a16="http://schemas.microsoft.com/office/drawing/2014/main" id="{DDD89A27-A32B-4AEE-999B-1FCFA3B0F9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7A8A412-D7ED-4CB6-A12A-308FD574FD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7" name="">
            <a:extLst xmlns:a="http://schemas.openxmlformats.org/drawingml/2006/main">
              <a:ext uri="{FF2B5EF4-FFF2-40B4-BE49-F238E27FC236}">
                <a16:creationId xmlns:a16="http://schemas.microsoft.com/office/drawing/2014/main" id="{AA72E0FC-46DB-4FC7-AB1F-89E21D3B4F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DF0152F8-844C-48FE-906C-61AC7A78DD70}"/>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BE541E2E-B972-433F-85B6-333A623659FF}"/>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EA3CBC3F-EA1F-45FE-9E0A-AC7E47443BA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2C0B1428-DF7C-4973-A48D-CCDE1012CBE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576EEC51-6E3E-4EE0-B7DD-B9C548A786B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3AD08457-44CE-4775-8EEB-2F95EFEEDF2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7940535C-4FA4-4D8B-9FCA-846F19F77F7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DD0FD67F-81EF-4358-9DB3-A2142B280408}"/>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74627C25-B249-4036-960E-D948D750088F}"/>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EF2C7783-D68E-469A-80C5-D70E44A57754}"/>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64E656E9-F5E2-4451-9EC8-CFB699B19B6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B48BE18B-8B18-4A56-BF42-A2176A2C01D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065A5E5D-A60F-44EE-99FC-0E4142ADB72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
            <a:extLst xmlns:a="http://schemas.openxmlformats.org/drawingml/2006/main">
              <a:ext uri="{FF2B5EF4-FFF2-40B4-BE49-F238E27FC236}">
                <a16:creationId xmlns:a16="http://schemas.microsoft.com/office/drawing/2014/main" id="{94F250D2-FC06-46D3-A821-5C37CE3191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D424015D-30A5-4A06-85AD-8A4CF778395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D88F1033-5B4D-4646-9CEC-E519BE3F402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0547635"/>
      </p:ext>
    </p:extLst>
  </p:cSld>
</p:sld>
</file>

<file path=ppt/slides/slide3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7/8 · Criteria-focused review">
            <a:extLst xmlns:a="http://schemas.openxmlformats.org/drawingml/2006/main">
              <a:ext uri="{FF2B5EF4-FFF2-40B4-BE49-F238E27FC236}">
                <a16:creationId xmlns:a16="http://schemas.microsoft.com/office/drawing/2014/main" id="{F855A540-9673-4EB0-9EAB-F221C26E5BF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3">
            <a:extLst xmlns:a="http://schemas.openxmlformats.org/drawingml/2006/main">
              <a:ext uri="{FF2B5EF4-FFF2-40B4-BE49-F238E27FC236}">
                <a16:creationId xmlns:a16="http://schemas.microsoft.com/office/drawing/2014/main" id="{21B2FA42-D7C6-4F2D-87C3-8D1803B262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기준을 지정한 코드 리뷰 요청">
            <a:extLst xmlns:a="http://schemas.openxmlformats.org/drawingml/2006/main">
              <a:ext uri="{FF2B5EF4-FFF2-40B4-BE49-F238E27FC236}">
                <a16:creationId xmlns:a16="http://schemas.microsoft.com/office/drawing/2014/main" id="{B89E7CA4-A6A3-4F3C-BAA1-8AFE566A15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5300114F-92D4-42AB-B5D2-862EB0538E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A8B4B05A-A712-4DBC-83F3-B939F5EC2E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리뷰 결과도 검증한다</a:t>
            </a:r>
          </a:p>
        </p:txBody>
      </p:sp>
      <p:sp>
        <p:nvSpPr>
          <p:cNvPr id="7" name="">
            <a:extLst xmlns:a="http://schemas.openxmlformats.org/drawingml/2006/main">
              <a:ext uri="{FF2B5EF4-FFF2-40B4-BE49-F238E27FC236}">
                <a16:creationId xmlns:a16="http://schemas.microsoft.com/office/drawing/2014/main" id="{06C57DC0-42E4-49F8-AC95-13C290953B8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B5DA1FD3-9B73-4883-A585-8775A2E6311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70CC3FC-2F1C-46C9-AE75-912DFC87688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7B52A712-680D-4A10-B790-773880D9F45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CDA0CC05-E771-4306-87F4-5274F62B757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DD022D9-226B-4D12-977F-9268650435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D874A87A-790D-40AE-8E03-67E0C333F1E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F6B7C6F-661D-42B2-AA93-A31AB9CDA564}"/>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0ABF8F4F-BF54-4EC3-83B8-6A2FBBE1ED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ACDEB071-8F29-4E83-9D56-3EDB560D2D8A}"/>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006BC51A-9C09-4D7C-A0A8-48529898FB83}"/>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4FCA028-B0ED-471A-A3B5-AA5C03112C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F0944CD9-DD3D-46AB-97B2-1AE1EB79A68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D93F2705-E7B8-4109-9277-EB2AA31662DF}"/>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
            <a:extLst xmlns:a="http://schemas.openxmlformats.org/drawingml/2006/main">
              <a:ext uri="{FF2B5EF4-FFF2-40B4-BE49-F238E27FC236}">
                <a16:creationId xmlns:a16="http://schemas.microsoft.com/office/drawing/2014/main" id="{AA4A7332-B279-46F8-9317-34CF5386F30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A76405A-EFA1-4C1F-AB19-FF5580C73A4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2E2A506D-BBB8-45CA-960A-C641828F30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9360670"/>
      </p:ext>
    </p:extLst>
  </p:cSld>
</p:sld>
</file>

<file path=ppt/slides/slide3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 문장 도구 8/8 · Iterative refinement">
            <a:extLst xmlns:a="http://schemas.openxmlformats.org/drawingml/2006/main">
              <a:ext uri="{FF2B5EF4-FFF2-40B4-BE49-F238E27FC236}">
                <a16:creationId xmlns:a16="http://schemas.microsoft.com/office/drawing/2014/main" id="{2BB659E0-CA0F-42FA-99CF-3ABD6DE388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4">
            <a:extLst xmlns:a="http://schemas.openxmlformats.org/drawingml/2006/main">
              <a:ext uri="{FF2B5EF4-FFF2-40B4-BE49-F238E27FC236}">
                <a16:creationId xmlns:a16="http://schemas.microsoft.com/office/drawing/2014/main" id="{1F9BF18F-4B42-4D62-ABA3-4306B04C66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구체적인 근거로 수정 방향 피드백">
            <a:extLst xmlns:a="http://schemas.openxmlformats.org/drawingml/2006/main">
              <a:ext uri="{FF2B5EF4-FFF2-40B4-BE49-F238E27FC236}">
                <a16:creationId xmlns:a16="http://schemas.microsoft.com/office/drawing/2014/main" id="{1D188FE9-4C45-4BC2-A1B5-B41E6AC3A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5631F3D-CFE3-46E0-9150-27BDA721CE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97F7CF6-54EB-43E3-88E9-E9C3AA069A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명세와 실제 근거로 피드백한다</a:t>
            </a:r>
          </a:p>
        </p:txBody>
      </p:sp>
      <p:sp>
        <p:nvSpPr>
          <p:cNvPr id="7" name="">
            <a:extLst xmlns:a="http://schemas.openxmlformats.org/drawingml/2006/main">
              <a:ext uri="{FF2B5EF4-FFF2-40B4-BE49-F238E27FC236}">
                <a16:creationId xmlns:a16="http://schemas.microsoft.com/office/drawing/2014/main" id="{DCE3A050-70CC-4C00-B15A-74B67D03694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B49BF35-E6CB-4F54-9E7B-57324085E47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AB0368E-F716-4BA0-8A64-B47AD238A2D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892866E2-09D1-4E2F-A41B-5EFA5AE407DB}"/>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699E7D90-65B9-4509-B19C-4D911E7453B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53A363F-D900-40B3-8823-ECEC558D60B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3983A96-5052-4AB4-B75C-DC75C23BC8E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AB79ADF3-8EC1-447D-9DF2-8FA42F644365}"/>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C8A3E5F6-F9D3-491C-84C6-9CB845F35C2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0091288-2A9E-4C30-A5E8-5F541610942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6358872-1AE0-476F-B023-96F1CFA66C3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759BA3DF-98C5-4EFA-809E-C3AA8B8832D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75464560-0998-4E55-801D-F7D0356401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BAA88CE5-302E-415C-BF8F-F1A235D05331}"/>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
            <a:extLst xmlns:a="http://schemas.openxmlformats.org/drawingml/2006/main">
              <a:ext uri="{FF2B5EF4-FFF2-40B4-BE49-F238E27FC236}">
                <a16:creationId xmlns:a16="http://schemas.microsoft.com/office/drawing/2014/main" id="{72C4BB6A-BB27-49E6-8E44-B6014D69475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B049BD10-E379-4E06-84C2-824BD270FE6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요청 작성</a:t>
            </a:r>
          </a:p>
        </p:txBody>
      </p:sp>
      <p:sp>
        <p:nvSpPr>
          <p:cNvPr id="23" name="Legacy module connection">
            <a:extLst xmlns:a="http://schemas.openxmlformats.org/drawingml/2006/main">
              <a:ext uri="{FF2B5EF4-FFF2-40B4-BE49-F238E27FC236}">
                <a16:creationId xmlns:a16="http://schemas.microsoft.com/office/drawing/2014/main" id="{3C2B7AB6-EC60-4FC1-8014-F49A50C468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0239596"/>
      </p:ext>
    </p:extLst>
  </p:cSld>
</p:sld>
</file>

<file path=ppt/slides/slide3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95227479-06B5-49EB-9549-F2A6AB43E9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5">
            <a:extLst xmlns:a="http://schemas.openxmlformats.org/drawingml/2006/main">
              <a:ext uri="{FF2B5EF4-FFF2-40B4-BE49-F238E27FC236}">
                <a16:creationId xmlns:a16="http://schemas.microsoft.com/office/drawing/2014/main" id="{DA27DA1C-6BEE-468E-BF21-2B1D9B19E6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이번 Task인가,&#10;계속 유지할 Project 정보인가?">
            <a:extLst xmlns:a="http://schemas.openxmlformats.org/drawingml/2006/main">
              <a:ext uri="{FF2B5EF4-FFF2-40B4-BE49-F238E27FC236}">
                <a16:creationId xmlns:a16="http://schemas.microsoft.com/office/drawing/2014/main" id="{6D12F5BA-B045-4182-80A9-0AB53F3F910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56455AF4-955E-4717-877E-4A322D94FF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테스트 명령·보존 조건, 다음 요청에도 다시 쓰게 된다.">
            <a:extLst xmlns:a="http://schemas.openxmlformats.org/drawingml/2006/main">
              <a:ext uri="{FF2B5EF4-FFF2-40B4-BE49-F238E27FC236}">
                <a16:creationId xmlns:a16="http://schemas.microsoft.com/office/drawing/2014/main" id="{CE73F6DE-5BBD-4E4C-B08C-AF6C80D85253}"/>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630BCCAE-A90C-46EA-B9E0-7A146DC21B2A}"/>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ACB87A9D-671D-41A4-9F82-0CD60CD1B21A}"/>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231DDC90-51D1-4D43-9FD6-EF0D7C80D94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635329B1-0BFC-4663-A08B-FC86A6706388}"/>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05DA0B6C-192E-400D-A2AF-1A636AAD28FF}"/>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530C299F-73AE-4136-A929-AAD3826713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77373900"/>
      </p:ext>
    </p:extLst>
  </p:cSld>
</p:sld>
</file>

<file path=ppt/slides/slide3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57D93910-EAA6-4A38-9FA8-A91D900BFE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6">
            <a:extLst xmlns:a="http://schemas.openxmlformats.org/drawingml/2006/main">
              <a:ext uri="{FF2B5EF4-FFF2-40B4-BE49-F238E27FC236}">
                <a16:creationId xmlns:a16="http://schemas.microsoft.com/office/drawing/2014/main" id="{9D19D6FD-54B9-43FD-BB22-B4FB340379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반복하는 설명을 두 범주로 나누기">
            <a:extLst xmlns:a="http://schemas.openxmlformats.org/drawingml/2006/main">
              <a:ext uri="{FF2B5EF4-FFF2-40B4-BE49-F238E27FC236}">
                <a16:creationId xmlns:a16="http://schemas.microsoft.com/office/drawing/2014/main" id="{EF1A956E-3318-453E-BA03-12F23C0BB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008867E2-48C9-4BF8-8D68-5663E11A41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9C0210A-D140-433D-99BE-C93678BF5D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왜 매번 Project 정보를 다시 적을까?</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697BBA25-FC34-49CC-8817-22B766B050D0}"/>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46BC7E05-D873-4EBF-BA98-875A99F76ED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4DAC366F-9107-4C41-B6A8-351850A7A9FA}"/>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3903F5A6-1713-4896-9DB0-3EA5402769C6}"/>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1EE0D561-8280-49B2-B13F-53789DFB3DD1}"/>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6E8D93E5-FD9F-49BF-A513-58E1337C5D0F}"/>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14217A0B-0701-466F-9F88-5F9316B61933}"/>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2170B2CC-39E3-4D2F-9657-F988F7D074A0}"/>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3EE4B6FB-406E-49F8-A26E-1CBD80E1870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9D561B74-1D9F-42ED-9DFA-88939ABB6339}"/>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FE5F21E6-DC0C-43DA-80F4-6079CC7FD6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6781786"/>
      </p:ext>
    </p:extLst>
  </p:cSld>
</p:sld>
</file>

<file path=ppt/slides/slide3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0AE5C249-BC08-43CF-8392-CD059494D45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246A5450-D394-4776-9016-54C0207A43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
            <a:extLst xmlns:a="http://schemas.openxmlformats.org/drawingml/2006/main">
              <a:ext uri="{FF2B5EF4-FFF2-40B4-BE49-F238E27FC236}">
                <a16:creationId xmlns:a16="http://schemas.microsoft.com/office/drawing/2014/main" id="{6A3D848D-93CA-464F-B828-78F61FA4C831}"/>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D7EE472C-9C5E-4235-A4E1-AF68AED2E5D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0E9F4699-D497-40D3-A041-7AFC639877ED}"/>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7EB2FA2A-A81C-42FF-A2E3-FF6D4A68C8D6}"/>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4F6743BC-B029-4B9F-81E3-26EC8BFF7E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51727888"/>
      </p:ext>
    </p:extLst>
  </p:cSld>
</p:sld>
</file>

<file path=ppt/slides/slide3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BE6AD5D-88ED-4427-9DD5-3C918DB0F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0B4287D0-3D41-4A4C-B5E7-EB57EA9A71C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다른 Task에 같은 설명이 반복된다">
            <a:extLst xmlns:a="http://schemas.openxmlformats.org/drawingml/2006/main">
              <a:ext uri="{FF2B5EF4-FFF2-40B4-BE49-F238E27FC236}">
                <a16:creationId xmlns:a16="http://schemas.microsoft.com/office/drawing/2014/main" id="{7E8DC888-2712-40A1-A8B8-2F0CD9402C0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9A697FF5-2494-4C1B-AF13-2FFF20AECD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버그 수정">
            <a:extLst xmlns:a="http://schemas.openxmlformats.org/drawingml/2006/main">
              <a:ext uri="{FF2B5EF4-FFF2-40B4-BE49-F238E27FC236}">
                <a16:creationId xmlns:a16="http://schemas.microsoft.com/office/drawing/2014/main" id="{8B8CFCE1-DE12-4AFD-894C-FF419A2C43F3}"/>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22D4E882-6C77-43B5-861B-0006413F9571}"/>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0C5FF18-25BC-432B-8B21-0476AE66EDC4}"/>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BF62D06-BF26-423B-AF52-DFD71BADAC4C}"/>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AE04910-59A5-43F1-8ACB-03E56AE14B71}"/>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A450D25-DA79-4C5A-BC88-97A60AA86C3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975E457-C78C-4DE0-897C-96393CDD1008}"/>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756FBA4-5DA4-4AAA-AD59-A59C03AE30E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45EE0FB6-3EF8-47F2-A6F6-7AB27DADB8AB}"/>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2778B1D-3C74-49E9-BE27-99DEC3A4E167}"/>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915AE8C-418F-49FE-8DBA-751700037DA6}"/>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051567CA-C733-40C3-BFCD-A22BF72A6540}"/>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B3F0A75-7C1E-4CAA-B6DB-E55A0FD2CD20}"/>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DA4DA21-417E-4212-BD53-03B841D32B1C}"/>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D68B6C6-0441-44A9-895E-B3EBE310B058}"/>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43F4E646-A16A-4B49-9932-01F3205CBB5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7689651D-B80C-4436-8159-CB7115427A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17124051"/>
      </p:ext>
    </p:extLst>
  </p:cSld>
</p:sld>
</file>

<file path=ppt/slides/slide3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81A142FD-E8C2-418D-9FB9-9CE3C87200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B37CF1B8-18A1-4A55-9381-C8A5009F9CA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작은 Project Context의 첫 기록">
            <a:extLst xmlns:a="http://schemas.openxmlformats.org/drawingml/2006/main">
              <a:ext uri="{FF2B5EF4-FFF2-40B4-BE49-F238E27FC236}">
                <a16:creationId xmlns:a16="http://schemas.microsoft.com/office/drawing/2014/main" id="{C5AAC82A-AA74-47D6-A799-A4F9997EAF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29129828-1D8F-4E52-BF4E-267F3FFC15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8CE2900-EE98-4BF7-90EE-9AB37B0F7F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AGENTS.md 발췌</a:t>
            </a:r>
          </a:p>
        </p:txBody>
      </p:sp>
      <p:sp>
        <p:nvSpPr>
          <p:cNvPr id="7" name="반복해서 설명하던 내용을 저장소에 남겼다">
            <a:extLst xmlns:a="http://schemas.openxmlformats.org/drawingml/2006/main">
              <a:ext uri="{FF2B5EF4-FFF2-40B4-BE49-F238E27FC236}">
                <a16:creationId xmlns:a16="http://schemas.microsoft.com/office/drawing/2014/main" id="{A6965CD6-AFC2-44DA-A096-15F476098D2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2E450C46-0370-4AD9-89F2-CA49D7FE7C3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EB9EBC4F-D6CA-4D3B-AE16-5DC678CD0CD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69DA618C-B92B-43BE-9DA8-AE36BCDA4A63}"/>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452FFA6B-0F2E-4F4E-98DC-2070363BB4EC}"/>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9466246-1821-4B35-BA72-B0D6B67C5BB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60A8B8E-5F67-47FD-B006-65BE84D23AF6}"/>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7F15222F-3490-4F73-A2DE-8226B00849E1}"/>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57F1C53E-014F-4761-BB41-C4C79E7D69CA}"/>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24A14F10-9E6E-434C-A0E9-B76BBDA2EF33}"/>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243D18F-C400-40CC-8A48-90D67514F29F}"/>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A23F7507-9B14-4317-9367-2212F7BA6CA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B4892136-515C-4DA9-99D3-941A6464A592}"/>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9F997786-4A07-4D50-83C7-0DDE160D5D2E}"/>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C2D31D5-F3EA-468C-A1C0-6299C081D788}"/>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7293B17-A263-4415-9E08-7AB32F50A91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EC43DCE0-F6AB-43E1-8707-F9D70D50D47A}"/>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C006CD1-A509-44FA-A4F3-77896B7A2F42}"/>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835ABC2F-3E6A-4BA6-8E32-DE148E39C129}"/>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94845560-18A9-4103-91E4-94B34FDF2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86112427"/>
      </p:ext>
    </p:extLst>
  </p:cSld>
</p:sld>
</file>

<file path=ppt/slides/slide4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AB117313-C59B-4D01-8871-D586DA5B9B4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2414B3CA-E211-4F47-8BE1-582019AB7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AGENTS.md의 지침대로 검증했다">
            <a:extLst xmlns:a="http://schemas.openxmlformats.org/drawingml/2006/main">
              <a:ext uri="{FF2B5EF4-FFF2-40B4-BE49-F238E27FC236}">
                <a16:creationId xmlns:a16="http://schemas.microsoft.com/office/drawing/2014/main" id="{076AF205-B0FE-4484-B226-6006178D4F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7D3FD7B-6C63-4ED2-9500-6171B2E2C7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99BF6E-2584-4C1D-BECF-3376C71222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실행 기록 · 다른 지침도 함께 적용</a:t>
            </a:r>
          </a:p>
        </p:txBody>
      </p:sp>
      <p:sp>
        <p:nvSpPr>
          <p:cNvPr id="7" name="Task Prompt">
            <a:extLst xmlns:a="http://schemas.openxmlformats.org/drawingml/2006/main">
              <a:ext uri="{FF2B5EF4-FFF2-40B4-BE49-F238E27FC236}">
                <a16:creationId xmlns:a16="http://schemas.microsoft.com/office/drawing/2014/main" id="{76DE3841-FC43-4449-A8C9-9F821DC6CD3E}"/>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47A37F5E-06E4-4830-85B4-85AF91A74696}"/>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AA115C7-0835-41F7-9875-1F3698BBF976}"/>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C06F87BB-52C1-4BDC-96D5-7EBE5FEDC44A}"/>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76502877-3C5F-4663-B6D5-999B7454FA0B}"/>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3FBCB5AB-34D6-4EF9-A83C-EBD95F6D6D9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848EB06A-6A71-4FE0-B93A-80FF4BDC1872}"/>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3E51AA4-7466-4AF2-A357-2D056CFB3DEF}"/>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5E902D7C-DDC1-498B-A6F0-C588FE9C39A0}"/>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0815B7C8-521D-4EDE-AFDD-87DC6D39709A}"/>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11246B0-F7BD-4734-9F11-4D24A6D1CB3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6DA238E-5C35-477B-8AA1-D5ED7AC6B4B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82A97762-A329-4B4B-A175-72248E6A91A5}"/>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E52DEDFB-3953-4558-BAB2-1BEFBA6A22B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82CE430B-40A0-4F15-8B6A-E1DD90019295}"/>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F69DB2BD-5FCF-407C-9E36-7EF2011D9BE8}"/>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E9578A16-5305-4E84-9833-E8088BBE92C2}"/>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270C345E-A27D-4F36-AAB7-9DB3FA84E31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2EAE3D0-DF53-40E8-AC9C-140E8B149406}"/>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DE1D9B45-44E5-4B3A-BD0C-D7AACED95BDB}"/>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AAC78A3-5F46-47FB-BEA8-5DA8EB0ECAD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5FA32CD-D3EC-40F8-B83F-B5C7A5EE6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541048569"/>
      </p:ext>
    </p:extLst>
  </p:cSld>
</p:sld>
</file>

<file path=ppt/slides/slide4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E891CE5-AFE9-415C-8B70-D1C3BA6183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E3C871E4-06CA-41CC-A785-42BA35BB13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Task Prompt와 Project Context">
            <a:extLst xmlns:a="http://schemas.openxmlformats.org/drawingml/2006/main">
              <a:ext uri="{FF2B5EF4-FFF2-40B4-BE49-F238E27FC236}">
                <a16:creationId xmlns:a16="http://schemas.microsoft.com/office/drawing/2014/main" id="{DF235D87-3741-4F97-A7F7-ABF1085924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E1B20429-B642-4A90-AF76-2EA0DF89A9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FBCC9D9C-A29F-4696-9707-EEEE7DDC3CC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C++에서도 프로젝트 공통 제약과 이번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D31E410D-1B92-4C4E-87EB-4E36AE0898D7}"/>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491030D-C33D-4BF3-BDA0-0FA269D2DB49}"/>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DD0962FE-8AF8-4468-8FBF-69A0D5F68A7E}"/>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0FFAC76A-9F8D-4FC3-B29A-9A9A447AF2BF}"/>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60E6E9F-A0EF-45F3-85B9-F00D2EFEDD49}"/>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B90EA489-10B3-4A4D-A0E4-3742B3FC5F3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A4C54BA8-85AC-4D25-AF17-78E3A8CC04EC}"/>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07691409-4C79-4BD2-9327-2CD4B06FB460}"/>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1894C667-D44E-4122-AC32-A6C900D97916}"/>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EE85C80-5BF0-4509-9910-8540CE4C97FE}"/>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53DF308B-01BF-403A-B301-2786DF2131A1}"/>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36AEFB5-8983-4FDD-A198-CDD61908FBD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069CC86B-E181-4B03-AA0C-EE666C159979}"/>
              </a:ext>
            </a:extLst>
          </p:cNvPr>
          <p:cNvPicPr>
            <a:picLocks xmlns:a="http://schemas.openxmlformats.org/drawingml/2006/main" noChangeAspect="1"/>
          </p:cNvPicPr>
          <p:nvPr/>
        </p:nvPicPr>
        <p:blipFill>
          <a:blip xmlns:r="http://schemas.openxmlformats.org/officeDocument/2006/relationships" xmlns:a="http://schemas.openxmlformats.org/drawingml/2006/main" r:embed="Ra2c2df2b248644e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59B84ACC-A588-4885-B09C-4C16B5E47B3F}"/>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BB548AA3-D8CD-4382-A552-B8FF6B7EC5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8E8A187-BFBF-4858-A0B5-04DDD1369503}"/>
              </a:ext>
            </a:extLst>
          </p:cNvPr>
          <p:cNvPicPr>
            <a:picLocks xmlns:a="http://schemas.openxmlformats.org/drawingml/2006/main" noChangeAspect="1"/>
          </p:cNvPicPr>
          <p:nvPr/>
        </p:nvPicPr>
        <p:blipFill>
          <a:blip xmlns:r="http://schemas.openxmlformats.org/officeDocument/2006/relationships" xmlns:a="http://schemas.openxmlformats.org/drawingml/2006/main" r:embed="R72384f96cf10468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F36C840-2C45-4BDC-B92B-F8F506A907D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2B399B65-B25B-4397-8FEC-A4E6DD832AAC}"/>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07404F42-65B4-4DF6-9B31-B98509D29473}"/>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6176DE4D-8C94-4468-B524-9E50F7C2677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161DEDEA-D17B-44B3-8E17-BC2C629D6098}"/>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7745EEB2-D660-4D02-B1F4-7ACFA4C0DD8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16201060"/>
      </p:ext>
    </p:extLst>
  </p:cSld>
</p:sld>
</file>

<file path=ppt/slides/slide4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BAC3110-49E6-4B4D-8BDC-30D0CEFA69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F809D561-B2C4-4FA5-8858-F3BCDF9740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확한 정보도 계속 늘어난다">
            <a:extLst xmlns:a="http://schemas.openxmlformats.org/drawingml/2006/main">
              <a:ext uri="{FF2B5EF4-FFF2-40B4-BE49-F238E27FC236}">
                <a16:creationId xmlns:a16="http://schemas.microsoft.com/office/drawing/2014/main" id="{00FCBE89-1A2D-4247-8D1D-8F89DD16EA5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3C8B70FA-65C8-4F44-9F12-1F42A930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1FD60-4642-4458-A340-1D27FFDEC4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정보가 늘었다는 사실만으로 실패를 뜻하지는 않는다</a:t>
            </a:r>
          </a:p>
        </p:txBody>
      </p:sp>
      <p:sp>
        <p:nvSpPr>
          <p:cNvPr id="7" name="프로젝트 초기">
            <a:extLst xmlns:a="http://schemas.openxmlformats.org/drawingml/2006/main">
              <a:ext uri="{FF2B5EF4-FFF2-40B4-BE49-F238E27FC236}">
                <a16:creationId xmlns:a16="http://schemas.microsoft.com/office/drawing/2014/main" id="{2F0DD0BF-987A-4F9D-BFCD-CFAD1FAD688D}"/>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DE6DDE57-4BBA-45D5-9C25-E6B136999D1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1CD51E9B-EC49-4276-A35B-1CAF44FEC189}"/>
              </a:ext>
            </a:extLst>
          </p:cNvPr>
          <p:cNvPicPr>
            <a:picLocks xmlns:a="http://schemas.openxmlformats.org/drawingml/2006/main" noChangeAspect="1"/>
          </p:cNvPicPr>
          <p:nvPr/>
        </p:nvPicPr>
        <p:blipFill>
          <a:blip xmlns:r="http://schemas.openxmlformats.org/officeDocument/2006/relationships" xmlns:a="http://schemas.openxmlformats.org/drawingml/2006/main" r:embed="R05dd841e246a4bca"/>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234E7B-88BE-42CF-B66E-B8DA66E6D7E6}"/>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26578AE-F902-4520-997F-17B92708EFF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7C3D02D4-6E38-4C37-A486-4DC290BFB9D1}"/>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25BC799-705F-4792-BA14-C1566AFA622B}"/>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B3A333C3-9A2B-4C53-857E-F0868290881F}"/>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133C61A3-763E-4DA2-8304-DE81ED6B4E28}"/>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7681328D-EA6F-4208-951E-A65DD8CD0C05}"/>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E8B9F94-A2F9-419E-8DE6-283C514B7D7E}"/>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359252F-C54E-41EF-A5DC-AD865AD3DAFA}"/>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4354088-327F-4572-A469-FF96F9145107}"/>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0C4A8FC3-2918-4210-8FFA-A2CE644554BE}"/>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25BD96F6-59F6-427D-9665-9F59964857D8}"/>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FFEE2365-956B-4FDA-8247-8A1EC601489B}"/>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BA6174FF-F3D6-4ADC-AA6F-D182880A5D1D}"/>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F5F0D75D-E567-468D-A5C0-3AFF21ED14C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B592EA12-AFB7-41FD-BD05-3ED5A8D83295}"/>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AE2A4C02-2747-42A9-94B3-9FC11BD636DE}"/>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0C70EB83-CC36-4921-B5BE-779D5DD1FA7A}"/>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49CBE39D-608C-4B2E-B27E-4A57DACEEF3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C5DB5833-F355-4CA4-82DA-6BD3A00168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71920310"/>
      </p:ext>
    </p:extLst>
  </p:cSld>
</p:sld>
</file>

<file path=ppt/slides/slide4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9544A04-6228-489A-947D-2639C2C9A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E7DF9596-87FE-45F6-B970-C0DF0AB80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하지만 이번 작업에는 불필요한 정보">
            <a:extLst xmlns:a="http://schemas.openxmlformats.org/drawingml/2006/main">
              <a:ext uri="{FF2B5EF4-FFF2-40B4-BE49-F238E27FC236}">
                <a16:creationId xmlns:a16="http://schemas.microsoft.com/office/drawing/2014/main" id="{C597D058-9D69-44ED-BA73-21728AD6D9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276B75F-7E4D-4746-9DA7-37360C238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8AA4215-08F8-4D4D-8870-898AE7D91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기록에서는 혼란·실패가 관찰되지 않음</a:t>
            </a:r>
          </a:p>
        </p:txBody>
      </p:sp>
      <p:sp>
        <p:nvSpPr>
          <p:cNvPr id="7" name="README 수정 요청">
            <a:extLst xmlns:a="http://schemas.openxmlformats.org/drawingml/2006/main">
              <a:ext uri="{FF2B5EF4-FFF2-40B4-BE49-F238E27FC236}">
                <a16:creationId xmlns:a16="http://schemas.microsoft.com/office/drawing/2014/main" id="{3B45B7BD-043A-4617-8D2A-60C3284D601D}"/>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B48AE442-71D2-4EBE-8214-B2B1025B3222}"/>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5652086-20DA-42B9-AFD9-E970643AB3CA}"/>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C77EC745-D996-4A0D-84D8-D532FD22B0BD}"/>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64C1A332-E260-4634-84A9-8FBE4C7A5096}"/>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B04E4583-12B1-4E4A-8E36-14E5A40091D9}"/>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2A11871-8CE1-4323-98A8-50ACF7B0D77D}"/>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409055-D958-4F8C-BF96-9FFF70CA0435}"/>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6EBEBF0C-AAFD-41DE-AC88-42990883DF16}"/>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7D5B9006-8E9E-48F6-9936-4B5E5BE3140C}"/>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DD80F4F4-C29C-4BAF-934B-2EAB2BA36D00}"/>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1E5EF214-AED8-4568-A0C3-FA1E24077255}"/>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B44C54A2-4DC1-4ECB-9F67-E4EFECD27DDD}"/>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9B1B97B7-1254-43EE-B3AD-B5C4AA4A5EB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4C4B1A5D-C7CE-49C0-A6D3-5A1BE650D80A}"/>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B27C6127-7D45-41A0-98DA-BDF4CF7A7275}"/>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348E3F-F8F2-4AC7-96F3-8FE8C5D3DB4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7850508"/>
      </p:ext>
    </p:extLst>
  </p:cSld>
</p:sld>
</file>

<file path=ppt/slides/slide4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39B43865-FC09-4A22-B8FA-F2188D2127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4E0653AB-0D80-4824-A792-DCFB85A05B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보의 범위와 제공 시점">
            <a:extLst xmlns:a="http://schemas.openxmlformats.org/drawingml/2006/main">
              <a:ext uri="{FF2B5EF4-FFF2-40B4-BE49-F238E27FC236}">
                <a16:creationId xmlns:a16="http://schemas.microsoft.com/office/drawing/2014/main" id="{CDCB08EB-23FF-42BD-AF0B-DF2C1587E9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3BCCEB18-20B5-4184-B5B6-E949805AC3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공통 안내와 상세는 나누고, 작업 방법은 질문으로 남긴다">
            <a:extLst xmlns:a="http://schemas.openxmlformats.org/drawingml/2006/main">
              <a:ext uri="{FF2B5EF4-FFF2-40B4-BE49-F238E27FC236}">
                <a16:creationId xmlns:a16="http://schemas.microsoft.com/office/drawing/2014/main" id="{94E5C748-76A4-455C-8FED-C2F53358435E}"/>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EA58C79-124A-4646-9084-2784B4F77B76}"/>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925CF758-D7DE-413D-BB25-489B679A065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F338226-5FAA-465C-B44F-344618566A2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4E42D110-C9F0-4E0E-ADC9-16A0DD00D85A}"/>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54711135-3227-4A9D-A3A9-C22BBEADD0C7}"/>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AFD5CC30-BD54-4BB0-B83F-056168DC437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95EA52FB-A409-4770-9F30-7549C14AFEAE}"/>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3C29B351-DDEA-4A97-A092-375CDF50A42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5AD20C11-F674-4C15-959E-3D0BD925FE4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323B30D5-96C9-41CB-B554-DBA8165D4812}"/>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E84A3F88-910A-44CC-B068-730CDE2C7F35}"/>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4678BFB1-DDFD-4F84-81DA-2667CDA8D8AF}"/>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0A6D07D8-3DEF-45E1-80C9-09C042CB9031}"/>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E8D4443-CB9D-47FF-99F6-5C767FEB5DC4}"/>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6AA1E406-3696-42AD-8E43-5D055C33484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DB20726E-6D89-4B90-AF37-8A5A95C5F821}"/>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15081820-0BC1-4E34-A0C2-DE2C23BB749F}"/>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2A813B1A-1207-4D3A-9B85-0980C4E02C6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3B91D32D-5439-4F1B-B493-C2F796FC731A}"/>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28A9CE9D-4854-4937-819B-6F9DCC71B86A}"/>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A28B710-1935-4655-B7A7-F1EFD3B4C26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CE74089-41EC-49EE-82D4-23A596E8C268}"/>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0BA83AB-9CF3-48C7-8EC6-D846B7D52BBE}"/>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B42958C7-7477-4FA5-9E2D-7F6C360C8043}"/>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4773D9BD-F890-4BD6-8C34-FE225D20DA91}"/>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753BEBBF-3ACF-4213-9F39-AE164911D334}"/>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94B0C156-555A-44F1-9039-F94AC1C72D2F}"/>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D8165A79-9467-4C67-863E-BBEE47EC446F}"/>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029B0A7-9F80-4F42-BDBC-865F399D009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CBB58B35-7B19-4233-A09F-ED60609B021C}"/>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ADF451ED-81C1-452E-9C74-D87BDD44A18D}"/>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3C7DB63A-8566-4A17-AB3E-8D22A34D746C}"/>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6DFA5AF1-A1C8-45A9-8339-194B47915D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5055873"/>
      </p:ext>
    </p:extLst>
  </p:cSld>
</p:sld>
</file>

<file path=ppt/slides/slide4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51EAA63F-1BDE-4280-87F9-B57EA0D7D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A57B5011-7C0C-4A82-90E2-6D2CAB16FF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많이 담아도 같은 근거를 똑같이 쓰는가?">
            <a:extLst xmlns:a="http://schemas.openxmlformats.org/drawingml/2006/main">
              <a:ext uri="{FF2B5EF4-FFF2-40B4-BE49-F238E27FC236}">
                <a16:creationId xmlns:a16="http://schemas.microsoft.com/office/drawing/2014/main" id="{049B8EE6-F423-4887-A8A7-63417EAC15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ED084C6C-A2CF-4AA3-9A05-B5706A81CD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1CF07EC-075B-4A31-85AE-6EA889EC5F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Lost in the Middle(2024) · 특정 연구 과제 결과</a:t>
            </a:r>
          </a:p>
        </p:txBody>
      </p:sp>
      <p:sp>
        <p:nvSpPr>
          <p:cNvPr id="6" name="Audience footer 2">
            <a:extLst xmlns:a="http://schemas.openxmlformats.org/drawingml/2006/main">
              <a:ext uri="{FF2B5EF4-FFF2-40B4-BE49-F238E27FC236}">
                <a16:creationId xmlns:a16="http://schemas.microsoft.com/office/drawing/2014/main" id="{A666BC7E-F2A1-4F33-A1F1-10D0B624D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현재 Codex의 성능을 평가한 결과는 아님</a:t>
            </a:r>
          </a:p>
        </p:txBody>
      </p:sp>
      <p:sp>
        <p:nvSpPr>
          <p:cNvPr id="7" name="문서 질문 답변 · 합성 key-value 검색">
            <a:extLst xmlns:a="http://schemas.openxmlformats.org/drawingml/2006/main">
              <a:ext uri="{FF2B5EF4-FFF2-40B4-BE49-F238E27FC236}">
                <a16:creationId xmlns:a16="http://schemas.microsoft.com/office/drawing/2014/main" id="{B39613E2-BDD6-4B43-BB5B-83E220B05EB4}"/>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A83600F-7C5A-4F2B-BD46-36964E6FFB2D}"/>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437363D7-6ADC-4FB5-8409-C06BC27788DA}"/>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0D2E0D4A-4C74-4B4D-83EC-C14D07B423C9}"/>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FB151095-BF91-40EF-A681-8E4B51F4ED6F}"/>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9628B360-06F8-4B05-AF1D-2EDB8ABDDCA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AFFB72F8-6958-4FA4-90DF-1F5850E8E098}"/>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4BD32DC-CD2F-4CE7-971B-0E65FDA3F0DE}"/>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40204FD-2B3E-4C8A-86D5-9606CF85B515}"/>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06BE4CD-29B9-4ED9-9A1E-79FA2F465E8F}"/>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B57B74D2-C390-468C-8662-4B25575F8654}"/>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566484B5-1F0F-4CA1-84E1-72B389A8D03F}"/>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5BC1451-92D0-409B-B71B-3DDBD9D7B881}"/>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4559139-92DD-4640-A21E-1E972E9A7351}"/>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0FF969CC-A6A4-464C-BB07-085CA7E37161}"/>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AA8F9AD0-ADB0-438A-92A9-E3A15818635F}"/>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FA85C451-638F-419B-BAC0-839816C2E4EA}"/>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D8A8F3DA-4EC1-4EE5-923A-12F85743432C}"/>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B845C118-F1FB-43BA-9C02-ACDB2488F3B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4FBC56D3-3ED4-4B92-83C8-4189D82ADD3F}"/>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72870301-1655-4CF1-ACBF-1C9F6511F2B3}"/>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79AAF7A8-54FF-4371-BF1F-1728145E06CA}"/>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A850D625-BD37-4B9F-82BF-E7390ED36310}"/>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8DED414-F1F9-4ECB-AAB0-4591A3FF041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BDDF8192-CA18-494C-A40D-14BB4C0CE962}"/>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017D4F8F-C0C3-45FC-B4B0-B0E4E64D08C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7AA9F216-103F-47FD-988C-101824246CFB}"/>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14C3F99D-8B5E-4A89-A135-B98A8671D921}"/>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C8506BE0-6E97-4A1C-A356-F0AFD8853E47}"/>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A6DE3A3A-F860-4F2A-991C-6DD43FC35F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2728620"/>
      </p:ext>
    </p:extLst>
  </p:cSld>
</p:sld>
</file>

<file path=ppt/slides/slide4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3A647C76-FEEF-4ABF-8D8D-62694F8414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621D2A10-FF9C-4AD8-BEE4-2A20F65507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E4DB0263-4179-4595-AF17-B71872BFDFB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56F0A64F-4E63-4057-9A40-25EFADB93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확인할 작업 요청">
            <a:extLst xmlns:a="http://schemas.openxmlformats.org/drawingml/2006/main">
              <a:ext uri="{FF2B5EF4-FFF2-40B4-BE49-F238E27FC236}">
                <a16:creationId xmlns:a16="http://schemas.microsoft.com/office/drawing/2014/main" id="{D67CC980-B4F9-4C91-B601-7D1867BBDB9B}"/>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A2B32A12-2873-4C1A-89E8-9ACBFD56DFE2}"/>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4CB9AFE6-CF14-4AE7-887A-6D6A00343C79}"/>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E78BEDAA-4534-4585-B75C-51372E40EF35}"/>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F53F0B53-3E60-4B51-872E-7C9A990EE40C}"/>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20D3B00-49CE-44EF-B18D-E93434C79F65}"/>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3A9C6260-8A17-4BC9-849A-E252900A9B3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BDE2DF30-2F4E-4F31-955F-AD87225D733D}"/>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A5E1EC3-8EAE-405A-8106-7E8F85B67376}"/>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5604872A-C20B-43C0-BC8B-DE19CE10135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AD77466B-4988-44B4-8FE0-0F8383FE4735}"/>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DA25AF0-2CAE-4018-ABB9-B4E216A02FC4}"/>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BB67A615-65A8-4F54-9942-B6BCEB4B8D3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A3EA26DC-89CF-4C02-BE40-C678A5C63F9F}"/>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5FF2B351-E68B-4A21-AF09-AD26EF567A1E}"/>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3D3DE978-B127-4D7B-9130-0B9C039B0FF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776E437-FB06-47AF-BB58-77AB874E00E7}"/>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CE210BC-73E0-40BF-888B-5213D614677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C3576097-9012-444F-B03B-B6C5DF1B8222}"/>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22C4A371-078D-4EF2-AE2B-FC9D3DC6C479}"/>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D3BD0C85-877C-420E-8A5F-9214F5D0B4C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CBDD59E5-0610-45F9-B4CB-FE60C05BCE2B}"/>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30" name="확인할 근거를 정했다면, 어디서 찾게 할까?">
            <a:extLst xmlns:a="http://schemas.openxmlformats.org/drawingml/2006/main">
              <a:ext uri="{FF2B5EF4-FFF2-40B4-BE49-F238E27FC236}">
                <a16:creationId xmlns:a16="http://schemas.microsoft.com/office/drawing/2014/main" id="{C9B5D7DC-DAF8-4B16-90CF-DFD58956D8A6}"/>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a:r>
              <a:rPr sz="2100" b="1">
                <a:solidFill>
                  <a:srgbClr val="0B6172"/>
                </a:solidFill>
                <a:latin typeface="Malgun Gothic"/>
                <a:ea typeface="Malgun Gothic"/>
                <a:cs typeface="Malgun Gothic"/>
              </a:rPr>
              <a:t xml:space="preserve">확인할 근거를 정했다면, 어디서 찾게 할까?</a:t>
            </a:r>
          </a:p>
        </p:txBody>
      </p:sp>
      <p:sp>
        <p:nvSpPr>
          <p:cNvPr id="32" name="Legacy module connection">
            <a:extLst xmlns:a="http://schemas.openxmlformats.org/drawingml/2006/main">
              <a:ext uri="{FF2B5EF4-FFF2-40B4-BE49-F238E27FC236}">
                <a16:creationId xmlns:a16="http://schemas.microsoft.com/office/drawing/2014/main" id="{21DDA55B-AFC2-4378-9886-6E68195A2B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7546871"/>
      </p:ext>
    </p:extLst>
  </p:cSld>
</p:sld>
</file>

<file path=ppt/slides/slide4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4DC7653-9B02-4B7E-81E0-9D34C179C4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3C3FCE55-4E99-4938-87EC-6048EAEB04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필요한 상세 정보로 가는 길">
            <a:extLst xmlns:a="http://schemas.openxmlformats.org/drawingml/2006/main">
              <a:ext uri="{FF2B5EF4-FFF2-40B4-BE49-F238E27FC236}">
                <a16:creationId xmlns:a16="http://schemas.microsoft.com/office/drawing/2014/main" id="{E112318C-18A4-42AC-A80E-0FADE0BF1D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FE03976-82D8-43A7-8AAD-01C565F079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CE606CE-057B-4B65-9CC9-C32866132C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탐색 경로 예시</a:t>
            </a:r>
          </a:p>
        </p:txBody>
      </p:sp>
      <p:sp>
        <p:nvSpPr>
          <p:cNvPr id="7" name="이 요청은 어떤 문서를 근거로 답해야 할까?">
            <a:extLst xmlns:a="http://schemas.openxmlformats.org/drawingml/2006/main">
              <a:ext uri="{FF2B5EF4-FFF2-40B4-BE49-F238E27FC236}">
                <a16:creationId xmlns:a16="http://schemas.microsoft.com/office/drawing/2014/main" id="{6844BBE1-0AE2-49AE-BCE2-442B7B23483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E4787FA-EF6D-4700-82E9-D64D384D1074}"/>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EE47125B-99B4-4ABA-B064-B3C5CCA6A16E}"/>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6984066-153F-42A8-AA27-3100462063DF}"/>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993F6758-CE11-4AC1-AC70-A9987AE28997}"/>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CFDF6DE2-B53E-4C3C-A24C-BF27229C9CA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7AAF9CD8-6520-4D5C-94DB-58B95AAC5D0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0A7518E0-B118-42E7-9485-01AC9885D3B8}"/>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74EC7904-67C1-485B-90D8-16EE69AE141C}"/>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2FF186E4-06BB-4882-85E6-90796397D39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26E0E61A-5945-4BC3-97B8-1B977480A59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F5A2D82F-AC00-4C90-88CF-D03ACEDDAC7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DEA62EB1-176B-4E29-A136-BB3385F487B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0EE67D1F-4E25-4C19-9A47-6B86B21A5D92}"/>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4DB7950-CCAC-42E1-977A-7B53AAC8A13C}"/>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46FA75EF-A2E3-48D9-BEA0-283C73309BCF}"/>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FF2ECDFE-7CB5-4FEA-A062-684DD104F916}"/>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09F61068-7CA1-4346-8768-F3CA25096FEE}"/>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E200A761-393B-4936-A100-81F2AC9A55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5756176"/>
      </p:ext>
    </p:extLst>
  </p:cSld>
</p:sld>
</file>

<file path=ppt/slides/slide4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5872D94E-BF80-4871-B452-F76776ACE3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4E0C0684-50A4-4985-B9A2-F9E1C24526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AGENTS.md에는 무엇을 남길까?">
            <a:extLst xmlns:a="http://schemas.openxmlformats.org/drawingml/2006/main">
              <a:ext uri="{FF2B5EF4-FFF2-40B4-BE49-F238E27FC236}">
                <a16:creationId xmlns:a16="http://schemas.microsoft.com/office/drawing/2014/main" id="{6DBF3A2C-77FE-4BDD-B75C-23656E0A19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C1D93B0E-D069-43F9-873C-633964FE86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6E1E9DC-C89D-4270-84A3-8064436C4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명령·검증 기준도 기본 안내에 둘 수 있음</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2A627268-45F4-4C45-ACF8-46039CC9870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19DD5D3C-83EA-43A3-AF17-F3C566DC006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CB0E933D-F029-42B8-B798-F83ACBD74282}"/>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ACD2C9F8-5100-4843-81FF-B5F6421102AD}"/>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C7C8C555-D925-4046-BB16-1F4A2B1558BF}"/>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2896B980-5E0D-434A-824A-4B3A81762D19}"/>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DDA62F95-4A8D-4E20-A410-07F5001B465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1E132BA9-B66C-4343-9CAB-72E429E5AB26}"/>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2ABDB36-A01A-418E-95A5-2E92DF1C51E3}"/>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ADEB9EBD-1F5D-45F9-9A3C-834C580EE34F}"/>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AD18C3C5-645B-43A9-BFF1-4E0BE4ACAF68}"/>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0E829933-D8E8-435D-AE6C-3D13F79CDD6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68DB908-2FED-42E1-8665-93A919BE7E7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95694CEB-A3BD-48A2-B788-6D1CB1EE4971}"/>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AB5FF3DA-304C-468F-A3E8-6376D7E1D751}"/>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558E5777-33DA-4D3B-A5B7-E8EFE4057A8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962B7145-43EA-43A3-8E9B-814F0398474D}"/>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16A5D70A-FA6B-4688-99DD-0EC31843213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4D458164-446C-4148-B52A-B3DC22F194E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7C6BB5E8-D757-4891-A8DE-84C075063503}"/>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9B09A5C4-125D-4E10-A420-25872EC1F453}"/>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4E347C27-4764-416F-BE84-4DE5B03FE8BC}"/>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307E0845-194C-4A5C-B8A7-A637CEF519EE}"/>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1596F62-7E35-4AC3-8FB7-A0BDC67936E1}"/>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7BC46F1A-369C-46E8-A035-AA1613134F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107BB703-F6DD-4F75-BDE2-9823AB8799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CDDECF0D-F61E-4865-AC77-50223A046D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1861263"/>
      </p:ext>
    </p:extLst>
  </p:cSld>
</p:sld>
</file>

<file path=ppt/slides/slide4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35326F8A-6ECA-41D2-95A6-3C4C70CB8D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A9F7560F-F09B-4BBC-86D6-B0F6A535F6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정보를 지우지 않고 위치를 나누기">
            <a:extLst xmlns:a="http://schemas.openxmlformats.org/drawingml/2006/main">
              <a:ext uri="{FF2B5EF4-FFF2-40B4-BE49-F238E27FC236}">
                <a16:creationId xmlns:a16="http://schemas.microsoft.com/office/drawing/2014/main" id="{27E7CBA6-6F2B-4179-9962-98A43665AF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0B7421C2-FD83-4047-B29C-AD8DFF6CB0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729E06F-DD6A-4C6B-9BCE-A1ABCCCEC3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문서 구성 변경 · 성능·토큰 효과는 미측정</a:t>
            </a:r>
          </a:p>
        </p:txBody>
      </p:sp>
      <p:sp>
        <p:nvSpPr>
          <p:cNvPr id="7" name="정리 기준을 실제 파일 구조에 적용했다">
            <a:extLst xmlns:a="http://schemas.openxmlformats.org/drawingml/2006/main">
              <a:ext uri="{FF2B5EF4-FFF2-40B4-BE49-F238E27FC236}">
                <a16:creationId xmlns:a16="http://schemas.microsoft.com/office/drawing/2014/main" id="{085034B2-B0D7-4321-89C1-C7CF5A923AD9}"/>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FCCEF79C-580E-4F6A-A22A-4500F05B60F3}"/>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F0A05F2-B2C2-48DC-A654-FE761D62D25B}"/>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CC806865-E001-4206-893A-71ECEDDDA600}"/>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09D57363-4EF4-4BFD-9B40-2121C48C0E58}"/>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1F0D39F7-E35C-4B59-97B7-8016E78F0BB4}"/>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47B67D1F-0826-484C-B7A0-74750BEEF8B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24D1C389-3F80-499F-924A-0528BE2F267F}"/>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FBC4449E-6140-4D5D-9E6B-78A3009D1869}"/>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263889AC-2DDE-4665-B20F-717E1F7FC8EF}"/>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069288A3-DC48-40CB-8D1B-8E788BBD7BA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450776C-5DD3-46A4-B951-EEBE397E0F3B}"/>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E1F179CD-E993-4D0A-BBF4-4FC4CCC112AD}"/>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F0DD93DF-83C6-4FD5-B991-681D89F9B632}"/>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5647AF77-CC76-48BE-A55B-FE669F6264A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E7B6D39F-4840-460C-B3FF-D7A7A1BAD1ED}"/>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E7D8065-1119-4F03-8DD7-BADD2496DF51}"/>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E128AABA-61CA-4AB1-9B15-CE39AE644979}"/>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483854-4901-4909-8956-D7A1DC730145}"/>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1FE4DC-1A4F-4290-8C28-7DFBC0F29DEA}"/>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6BFE7F6-7AA0-48AF-AA96-E4903C36CE1D}"/>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F48B13A7-EEBE-4291-91BE-9617CB3D8DBC}"/>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30B341FE-635B-45C8-8C3A-F1F9F91DF164}"/>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08F90AAD-3261-4FE2-A255-C9627CDB41F6}"/>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11FC82A2-AFA8-4987-8D1D-7CD214923C7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2C30DDF8-ED00-4559-BDE8-15D220A771C2}"/>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A43DDC84-1A9B-42E9-A03B-9DCE15F92380}"/>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D7531A6C-5B4D-4B8E-9A03-21CA8501CDB6}"/>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60987C8-A08C-4104-A405-5C1F9EECD19A}"/>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67D870D-0A9E-4F78-8B98-A12F90EEF859}"/>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B3C6F9A0-793F-41C9-A2A2-11D655D779B4}"/>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F84FE52C-F88D-469C-92BB-9B277723C422}"/>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A2F33A7F-927B-438C-B9AB-EEE6D3E14346}"/>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51066F63-1939-4D14-9B8A-BE90A37086BF}"/>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60BD60C-0565-4835-9617-7DB553C77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5727203"/>
      </p:ext>
    </p:extLst>
  </p:cSld>
</p:sld>
</file>

<file path=ppt/slides/slide5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30A0C7D5-B8F3-499E-86CF-83064DAEC2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D5649ABE-7192-4F07-9BBB-1A028E2420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서로 다른 두 Task가 무엇을 읽을까?">
            <a:extLst xmlns:a="http://schemas.openxmlformats.org/drawingml/2006/main">
              <a:ext uri="{FF2B5EF4-FFF2-40B4-BE49-F238E27FC236}">
                <a16:creationId xmlns:a16="http://schemas.microsoft.com/office/drawing/2014/main" id="{3ED2E3B1-AD19-42ED-985F-8E6CB5771D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F86D654-6B6D-4824-8D78-22003650E01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4295B26-CFAB-4543-8D84-F272F609D1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a:t>
            </a:r>
          </a:p>
        </p:txBody>
      </p:sp>
      <p:sp>
        <p:nvSpPr>
          <p:cNvPr id="7" name="같은 저장소 · 서로 다른 두 읽기 전용 요청">
            <a:extLst xmlns:a="http://schemas.openxmlformats.org/drawingml/2006/main">
              <a:ext uri="{FF2B5EF4-FFF2-40B4-BE49-F238E27FC236}">
                <a16:creationId xmlns:a16="http://schemas.microsoft.com/office/drawing/2014/main" id="{E4A346FF-0FF1-4A6F-B576-71C499C39E8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BFFE6906-F900-44F2-A1CC-D1BA2B07B69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1859299-9243-4A38-911B-32E719C17761}"/>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7A7816D5-9CDD-44DE-88D1-A3E435ECE8A9}"/>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AA07FB19-3E87-4F50-9A88-6B812F0F46EF}"/>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F6F20DE2-34D1-40AB-BECE-10C99827BABE}"/>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D2D76C4F-42B2-4FD2-9D7E-9D6735262358}"/>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A6FAD96-4B76-4A49-A78F-222A5DB7ED52}"/>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3D037B90-5D4F-4DDE-B269-4C74E9CB53B5}"/>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58827D8F-3E11-46C4-9BFB-83C73E8378FD}"/>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6731F71F-359F-4ED6-B0C3-C414218F0849}"/>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C4A1CBA8-94B9-422A-BA9D-AF89A30DD83D}"/>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591E78DF-B357-4C13-B853-606F1AF659B6}"/>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03B60E9-483F-424F-B770-897F92D94698}"/>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55F1362-FDEF-4181-B8CF-67FC72445ED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A98663B-29FD-4C1D-A26C-042660B1573A}"/>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95ED3328-815B-42ED-8B5E-E928C6E7299A}"/>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86934B3-C647-45D5-84A0-758AE9013F2E}"/>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02A1DFE1-83A5-4BFF-8761-0022ABD28358}"/>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463AEAC5-61E5-414B-AE04-B7D2E0823B29}"/>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879ED300-9157-4FFA-A403-AFAEA5427BF2}"/>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BB7DCD5C-9D42-48B3-B1F9-AA06B8218C46}"/>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F099D9A3-2FA3-42FE-B09D-887F8C121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32344949"/>
      </p:ext>
    </p:extLst>
  </p:cSld>
</p:sld>
</file>

<file path=ppt/slides/slide5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E9AA133F-B2DE-46A5-BAE3-1C93705BD6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415B604A-8B9F-4555-90D7-D580EF6BA9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rop Task에서 관찰한 접근">
            <a:extLst xmlns:a="http://schemas.openxmlformats.org/drawingml/2006/main">
              <a:ext uri="{FF2B5EF4-FFF2-40B4-BE49-F238E27FC236}">
                <a16:creationId xmlns:a16="http://schemas.microsoft.com/office/drawing/2014/main" id="{7CC408F9-B1CB-43D6-82E9-45C9888BF0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DB2CA36-93D2-4243-B748-19F4F7A61A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C5720D6-DA08-483F-B11F-C52EBDA747D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CLI 기록 · testing.md는 최종 실행에서 관찰</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F4D9CF8D-B35C-426A-BBA0-891A0C247B1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BC9AB41-5C34-4E77-AA43-9413FE0943D5}"/>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D480A37-151A-464E-99A0-D6F8F0DDDCF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9FDA58A8-7CDB-4F15-89FA-4EAF60691CAB}"/>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FF573D9F-4C1A-4469-A4B2-49634B012A4D}"/>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0254B37C-6BD7-4ED5-B5A7-6C0A78D1062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829E8BB0-AEF6-45B2-AD79-CF93F5B0044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596F327-F255-4822-8278-6628BFAF209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0712B3F-A579-4E05-9F29-41258F97277D}"/>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ACA1402-F679-4B5B-B19F-154FA0B2566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E8EF2381-E156-44F4-B5A9-25535CC293E4}"/>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1E961299-A60C-4165-A062-9C0175A52957}"/>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A8135CB-9904-4F61-BF56-A4417046E6C1}"/>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28146672-0AA3-4D9F-8BA2-046DA01C9086}"/>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9F79AD4-B93D-4980-9F79-89AF056A318F}"/>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3C0F803-3D70-4F48-A658-5D4284D37670}"/>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E116EF3D-846E-4DA5-B6C2-D25940D2FE96}"/>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453002BB-AF1D-4788-84B6-4124DDB10CE1}"/>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D3983C20-C6F3-497B-8BF6-E56720F41671}"/>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95B2965-BBE2-4C70-9BE7-9639DEB49AE7}"/>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33EF2CA7-C24C-4DA0-B8B7-60356F3B2668}"/>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E09D9FB-A411-49B4-8BA6-8A8946885989}"/>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7B56D899-B1FD-4175-A3A6-383D72C2DF1B}"/>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6A6FB712-3A62-4F4C-9133-C95E6AA83510}"/>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F9150512-D8D4-4DDF-8018-AE48CB4A310F}"/>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5A12FFD-C3C5-466F-B8D8-90E82728C047}"/>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49618163-FCA8-4AEF-842D-C8F4411DEBDD}"/>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A4248C44-E1F5-4F64-AAAD-D3EB2793462E}"/>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AD22F2-BF5E-486B-A63F-6FB3DD0B6C9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90EAE4A2-0576-4AF0-8568-A4FBFDB8E69A}"/>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89C269B5-E7C9-4A52-A2C7-887B804ABA6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7B694C21-24F6-407E-A82A-4CB880EDE09B}"/>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76ABB24B-5238-44BD-B3E2-C7AB4228FE3E}"/>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94ADB82D-68A8-4B2D-9445-22989CB19E5F}"/>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0BF629C8-4286-4412-B89B-9EE7FE3DF7C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D9935FE-C011-4B7C-8025-0343371B3D59}"/>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939F76E-100D-4650-8B11-CEB44352179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029092137"/>
      </p:ext>
    </p:extLst>
  </p:cSld>
</p:sld>
</file>

<file path=ppt/slides/slide5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F67D1611-B94C-4316-8329-20001FFA37E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00DFCD1C-A70F-4025-993E-B07B32819C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의존성 질문은 설정과 소스로 답했다">
            <a:extLst xmlns:a="http://schemas.openxmlformats.org/drawingml/2006/main">
              <a:ext uri="{FF2B5EF4-FFF2-40B4-BE49-F238E27FC236}">
                <a16:creationId xmlns:a16="http://schemas.microsoft.com/office/drawing/2014/main" id="{AF580622-8D41-4AF0-87D3-840C0B138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ED86EDB3-D336-46D9-9EDF-FB7BCB8DEA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F078CF1-6B64-47E6-A852-9181E20D69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설정·소스에서 확인한 결과</a:t>
            </a:r>
          </a:p>
        </p:txBody>
      </p:sp>
      <p:sp>
        <p:nvSpPr>
          <p:cNvPr id="7" name="“실행 의존성과 빌드 도구를 구분해 알려줘.”">
            <a:extLst xmlns:a="http://schemas.openxmlformats.org/drawingml/2006/main">
              <a:ext uri="{FF2B5EF4-FFF2-40B4-BE49-F238E27FC236}">
                <a16:creationId xmlns:a16="http://schemas.microsoft.com/office/drawing/2014/main" id="{B52273EF-79AF-4A85-A99C-739A86EA6597}"/>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FA4C826F-DEF0-4409-B6DD-CC2342A1C0E4}"/>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073E5F87-490E-48EE-90F3-2D70CBA995B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A63783-02E2-4C55-AE45-85E9DE9A94C6}"/>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B39033F6-A1B9-4D64-94C4-67C5C28EC05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9C607593-D804-4F86-AEBD-C46DEE69715C}"/>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1F437B4F-214E-489D-8E6A-8D18CAD5A3D9}"/>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03C7ED57-D5DE-463C-BF56-267ED61D4AF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434F08B-8535-4304-92A5-CB18C274B937}"/>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61FD561A-5E9D-456B-ADEB-96932B225F7C}"/>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CFA5A6FB-08D7-4807-AE1F-7AD345E602C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B822F6FA-B609-4698-95B1-61B3D2621865}"/>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E6186083-D2DE-43E9-AD3A-5BBE2E07518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E2F1C465-9743-4FE8-AE7C-ACE8DCF7D610}"/>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E286549A-6FBD-4277-B201-E0DC22AE98CC}"/>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F8B5C782-7134-4360-9632-DF06D984BD3A}"/>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13B536D-F34D-4330-9956-94B86CA11C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3678C53-FDC2-48E8-8974-B3C43BB1F55B}"/>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75D1D04D-27DC-4419-9F1F-F726D18C34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63765025"/>
      </p:ext>
    </p:extLst>
  </p:cSld>
</p:sld>
</file>

<file path=ppt/slides/slide5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901C19A-5920-43D9-BB55-25E821AA4B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4E8D5C0B-481D-4895-8E5B-9EFE8E28E4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Task에서 상세 문서 접근이 달랐다">
            <a:extLst xmlns:a="http://schemas.openxmlformats.org/drawingml/2006/main">
              <a:ext uri="{FF2B5EF4-FFF2-40B4-BE49-F238E27FC236}">
                <a16:creationId xmlns:a16="http://schemas.microsoft.com/office/drawing/2014/main" id="{F9FF1B22-4E1A-4962-99C6-40862F96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D7FB5E3D-1316-459E-AE8B-D4EBDDEFF8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07B0971-632E-41A2-8082-B0F813C48E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최종 실행 기록 비교 · testing.md는 A의 최종 실행에서 관찰</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D2BA20F7-B1A7-4C70-89BB-B7A43ACE793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DC6E1622-0BC5-485E-9E90-66A403F0AC31}"/>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3F8FD8EE-E60C-4B4C-A6E9-48A983AD5313}"/>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4CAA346C-79B0-4873-B725-2306ECE257A9}"/>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491E26DF-E308-44FD-9F73-E57714FC7161}"/>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2A8B9D4B-D22B-463D-AC53-64E7936A8C9A}"/>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3440D3E-6567-427E-B8AC-92DB905C56A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097D19DC-D95C-450E-B62C-82CE44B343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1984393"/>
      </p:ext>
    </p:extLst>
  </p:cSld>
</p:sld>
</file>

<file path=ppt/slides/slide5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6FF8B485-7CDC-44D8-A7AA-03C3DA0545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544744D9-BADA-4039-AC58-21A9BD320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Context 정리에서 확인한 네 가지">
            <a:extLst xmlns:a="http://schemas.openxmlformats.org/drawingml/2006/main">
              <a:ext uri="{FF2B5EF4-FFF2-40B4-BE49-F238E27FC236}">
                <a16:creationId xmlns:a16="http://schemas.microsoft.com/office/drawing/2014/main" id="{539E65B4-AA72-42A7-BB52-E172437905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03A5C89E-B2BC-4653-968E-F0B060BD0B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정보를 기록하고, 찾아 쓴 근거를 확인했다">
            <a:extLst xmlns:a="http://schemas.openxmlformats.org/drawingml/2006/main">
              <a:ext uri="{FF2B5EF4-FFF2-40B4-BE49-F238E27FC236}">
                <a16:creationId xmlns:a16="http://schemas.microsoft.com/office/drawing/2014/main" id="{B9CE104C-51F0-43E0-A562-84A197BB78D0}"/>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8A21561C-28B9-42F3-9F3F-4A1D1FD48E3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42903A9A-1F9F-4E0E-A49C-C5E830495C30}"/>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1189C122-D160-4D88-A875-79D8976286F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DC4072F1-7B25-4A87-9F63-5BD2BC34D2D5}"/>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99C8F97D-FD78-481E-8B4E-48AC1D4C678E}"/>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F7482614-DA45-4E22-9ACA-B6972A472945}"/>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15E94310-419D-4D72-AC3E-87980B8A5AA6}"/>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C46E9842-2B3F-4C91-8BAF-0B79C8E0C3BB}"/>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A26EA3C-02CA-4766-8591-8504402D1B97}"/>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44690F59-8883-4CF2-B127-8DBC93896D89}"/>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4E607CDE-5FA5-4D40-B510-D1E15591BBAD}"/>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85B0EBC7-4BB6-46F1-B8B4-F21C42F8EFD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1ADC434-BAE9-47F0-88CE-B47CA8241096}"/>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543E58F4-C166-4BDA-8814-C096CCE1FB26}"/>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5B11F66B-FE1B-46C7-B714-C267A8BC86AF}"/>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08EB69B4-7335-4F03-BCFC-8409D5ED7DD8}"/>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AD0E9A54-3962-487C-B972-AD78EBAAD362}"/>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8834507-8C38-4F19-917D-43FE4EF7EDC3}"/>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9206F9EE-47B0-4180-AFEF-582CAE6B9197}"/>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AF9D546A-C396-4778-8CD4-7A84B916CDB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A9DE6A13-5E50-4612-AA89-E23EE562BCA5}"/>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790B4448-6B7F-40BB-BAE6-9847EAA1586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81577B3F-EDC3-494D-92A2-2FABB67196B5}"/>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24E29EEC-049A-4A5F-840E-6633E57094FB}"/>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58AF5065-921B-41F9-A609-463B85C61B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10629316"/>
      </p:ext>
    </p:extLst>
  </p:cSld>
</p:sld>
</file>

<file path=ppt/slides/slide5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1/3">
            <a:extLst xmlns:a="http://schemas.openxmlformats.org/drawingml/2006/main">
              <a:ext uri="{FF2B5EF4-FFF2-40B4-BE49-F238E27FC236}">
                <a16:creationId xmlns:a16="http://schemas.microsoft.com/office/drawing/2014/main" id="{BA8BDBCE-7635-4719-9125-3ACA869F2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1/3</a:t>
            </a:r>
          </a:p>
        </p:txBody>
      </p:sp>
      <p:sp>
        <p:nvSpPr>
          <p:cNvPr id="2" name="S55">
            <a:extLst xmlns:a="http://schemas.openxmlformats.org/drawingml/2006/main">
              <a:ext uri="{FF2B5EF4-FFF2-40B4-BE49-F238E27FC236}">
                <a16:creationId xmlns:a16="http://schemas.microsoft.com/office/drawing/2014/main" id="{780B073F-E640-47AF-B6D7-DBD9A44A81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AGENTS.md는 어디에 둘까?">
            <a:extLst xmlns:a="http://schemas.openxmlformats.org/drawingml/2006/main">
              <a:ext uri="{FF2B5EF4-FFF2-40B4-BE49-F238E27FC236}">
                <a16:creationId xmlns:a16="http://schemas.microsoft.com/office/drawing/2014/main" id="{35F0ADD1-49FF-4BD3-A92A-46442965D46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AGENTS.md는 어디에 둘까?</a:t>
            </a:r>
          </a:p>
        </p:txBody>
      </p:sp>
      <p:sp>
        <p:nvSpPr>
          <p:cNvPr id="4" name="">
            <a:extLst xmlns:a="http://schemas.openxmlformats.org/drawingml/2006/main">
              <a:ext uri="{FF2B5EF4-FFF2-40B4-BE49-F238E27FC236}">
                <a16:creationId xmlns:a16="http://schemas.microsoft.com/office/drawing/2014/main" id="{6269577B-B2F2-4F29-8D74-D828F80EDA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364ADA2-119F-456A-815D-320C9647D0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공통 규칙은 루트에, 모듈 전용 규칙은 해당 폴더에">
            <a:extLst xmlns:a="http://schemas.openxmlformats.org/drawingml/2006/main">
              <a:ext uri="{FF2B5EF4-FFF2-40B4-BE49-F238E27FC236}">
                <a16:creationId xmlns:a16="http://schemas.microsoft.com/office/drawing/2014/main" id="{0084CC11-89C6-46B4-AC1B-41A806496074}"/>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공통 규칙은 루트에, 모듈 전용 규칙은 해당 폴더에</a:t>
            </a:r>
          </a:p>
        </p:txBody>
      </p:sp>
      <p:sp>
        <p:nvSpPr>
          <p:cNvPr id="8" name="">
            <a:extLst xmlns:a="http://schemas.openxmlformats.org/drawingml/2006/main">
              <a:ext uri="{FF2B5EF4-FFF2-40B4-BE49-F238E27FC236}">
                <a16:creationId xmlns:a16="http://schemas.microsoft.com/office/drawing/2014/main" id="{63DE4DC1-653E-4A6C-86CA-E77DC35C2169}"/>
              </a:ext>
            </a:extLst>
          </p:cNvPr>
          <p:cNvSpPr>
            <a:spLocks xmlns:a="http://schemas.openxmlformats.org/drawingml/2006/main" noGrp="1"/>
          </p:cNvSpPr>
          <p:nvPr/>
        </p:nvSpPr>
        <p:spPr>
          <a:xfrm xmlns:a="http://schemas.openxmlformats.org/drawingml/2006/main">
            <a:off x="609600" y="2266950"/>
            <a:ext cx="10972800" cy="628650"/>
          </a:xfrm>
          <a:prstGeom xmlns:a="http://schemas.openxmlformats.org/drawingml/2006/main" prst="rect">
            <a:avLst/>
          </a:prstGeom>
          <a:solidFill xmlns:a="http://schemas.openxmlformats.org/drawingml/2006/main">
            <a:srgbClr val="E8EDF3"/>
          </a:solidFill>
          <a:ln xmlns:a="http://schemas.openxmlformats.org/drawingml/2006/main" w="0">
            <a:noFill/>
            <a:prstDash val="solid"/>
          </a:ln>
        </p:spPr>
      </p:sp>
      <p:sp>
        <p:nvSpPr>
          <p:cNvPr id="9" name="~/.codex/AGENTS.md">
            <a:extLst xmlns:a="http://schemas.openxmlformats.org/drawingml/2006/main">
              <a:ext uri="{FF2B5EF4-FFF2-40B4-BE49-F238E27FC236}">
                <a16:creationId xmlns:a16="http://schemas.microsoft.com/office/drawing/2014/main" id="{5D0D0789-D250-474B-A7E7-9435422F9F0B}"/>
              </a:ext>
            </a:extLst>
          </p:cNvPr>
          <p:cNvSpPr>
            <a:spLocks xmlns:a="http://schemas.openxmlformats.org/drawingml/2006/main" noGrp="1"/>
          </p:cNvSpPr>
          <p:nvPr/>
        </p:nvSpPr>
        <p:spPr>
          <a:xfrm xmlns:a="http://schemas.openxmlformats.org/drawingml/2006/main">
            <a:off x="819150" y="240982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~/.codex/AGENTS.md</a:t>
            </a:r>
          </a:p>
        </p:txBody>
      </p:sp>
      <p:sp>
        <p:nvSpPr>
          <p:cNvPr id="10" name="개인 기본값 · 언어 / Git 규칙">
            <a:extLst xmlns:a="http://schemas.openxmlformats.org/drawingml/2006/main">
              <a:ext uri="{FF2B5EF4-FFF2-40B4-BE49-F238E27FC236}">
                <a16:creationId xmlns:a16="http://schemas.microsoft.com/office/drawing/2014/main" id="{4282B173-5974-4078-9FFB-20C7A92C3C74}"/>
              </a:ext>
            </a:extLst>
          </p:cNvPr>
          <p:cNvSpPr>
            <a:spLocks xmlns:a="http://schemas.openxmlformats.org/drawingml/2006/main" noGrp="1"/>
          </p:cNvSpPr>
          <p:nvPr/>
        </p:nvSpPr>
        <p:spPr>
          <a:xfrm xmlns:a="http://schemas.openxmlformats.org/drawingml/2006/main">
            <a:off x="6534150" y="2409825"/>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개인 기본값 · 언어 / Git 규칙</a:t>
            </a:r>
          </a:p>
        </p:txBody>
      </p:sp>
      <p:sp>
        <p:nvSpPr>
          <p:cNvPr id="11" name="">
            <a:extLst xmlns:a="http://schemas.openxmlformats.org/drawingml/2006/main">
              <a:ext uri="{FF2B5EF4-FFF2-40B4-BE49-F238E27FC236}">
                <a16:creationId xmlns:a16="http://schemas.microsoft.com/office/drawing/2014/main" id="{E536D009-91EE-4420-9D1A-81D30769616B}"/>
              </a:ext>
            </a:extLst>
          </p:cNvPr>
          <p:cNvSpPr>
            <a:spLocks xmlns:a="http://schemas.openxmlformats.org/drawingml/2006/main" noGrp="1"/>
          </p:cNvSpPr>
          <p:nvPr/>
        </p:nvSpPr>
        <p:spPr>
          <a:xfrm xmlns:a="http://schemas.openxmlformats.org/drawingml/2006/main">
            <a:off x="609600" y="3181350"/>
            <a:ext cx="10972800" cy="628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inspection/AGENTS.md">
            <a:extLst xmlns:a="http://schemas.openxmlformats.org/drawingml/2006/main">
              <a:ext uri="{FF2B5EF4-FFF2-40B4-BE49-F238E27FC236}">
                <a16:creationId xmlns:a16="http://schemas.microsoft.com/office/drawing/2014/main" id="{E2BB3012-6C90-46C0-ADD7-B1B9232FEA72}"/>
              </a:ext>
            </a:extLst>
          </p:cNvPr>
          <p:cNvSpPr>
            <a:spLocks xmlns:a="http://schemas.openxmlformats.org/drawingml/2006/main" noGrp="1"/>
          </p:cNvSpPr>
          <p:nvPr/>
        </p:nvSpPr>
        <p:spPr>
          <a:xfrm xmlns:a="http://schemas.openxmlformats.org/drawingml/2006/main">
            <a:off x="819150" y="3333750"/>
            <a:ext cx="514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inspection/AGENTS.md</a:t>
            </a:r>
          </a:p>
        </p:txBody>
      </p:sp>
      <p:sp>
        <p:nvSpPr>
          <p:cNvPr id="13" name="프로젝트 공통 · 공개 API 보존">
            <a:extLst xmlns:a="http://schemas.openxmlformats.org/drawingml/2006/main">
              <a:ext uri="{FF2B5EF4-FFF2-40B4-BE49-F238E27FC236}">
                <a16:creationId xmlns:a16="http://schemas.microsoft.com/office/drawing/2014/main" id="{AA66F46E-DD85-48D3-A5DE-A72AD383D896}"/>
              </a:ext>
            </a:extLst>
          </p:cNvPr>
          <p:cNvSpPr>
            <a:spLocks xmlns:a="http://schemas.openxmlformats.org/drawingml/2006/main" noGrp="1"/>
          </p:cNvSpPr>
          <p:nvPr/>
        </p:nvSpPr>
        <p:spPr>
          <a:xfrm xmlns:a="http://schemas.openxmlformats.org/drawingml/2006/main">
            <a:off x="6534150" y="33337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프로젝트 공통 · 공개 API 보존</a:t>
            </a:r>
          </a:p>
        </p:txBody>
      </p:sp>
      <p:sp>
        <p:nvSpPr>
          <p:cNvPr id="14" name="">
            <a:extLst xmlns:a="http://schemas.openxmlformats.org/drawingml/2006/main">
              <a:ext uri="{FF2B5EF4-FFF2-40B4-BE49-F238E27FC236}">
                <a16:creationId xmlns:a16="http://schemas.microsoft.com/office/drawing/2014/main" id="{25EDD08E-7B8B-448D-97EE-116F8155B3F8}"/>
              </a:ext>
            </a:extLst>
          </p:cNvPr>
          <p:cNvSpPr>
            <a:spLocks xmlns:a="http://schemas.openxmlformats.org/drawingml/2006/main" noGrp="1"/>
          </p:cNvSpPr>
          <p:nvPr/>
        </p:nvSpPr>
        <p:spPr>
          <a:xfrm xmlns:a="http://schemas.openxmlformats.org/drawingml/2006/main">
            <a:off x="971550" y="3810000"/>
            <a:ext cx="19050" cy="139065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99E3DCF-89CC-46FE-881D-92776762FBCD}"/>
              </a:ext>
            </a:extLst>
          </p:cNvPr>
          <p:cNvSpPr>
            <a:spLocks xmlns:a="http://schemas.openxmlformats.org/drawingml/2006/main" noGrp="1"/>
          </p:cNvSpPr>
          <p:nvPr/>
        </p:nvSpPr>
        <p:spPr>
          <a:xfrm xmlns:a="http://schemas.openxmlformats.org/drawingml/2006/main">
            <a:off x="971550" y="4343400"/>
            <a:ext cx="5715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
            <a:extLst xmlns:a="http://schemas.openxmlformats.org/drawingml/2006/main">
              <a:ext uri="{FF2B5EF4-FFF2-40B4-BE49-F238E27FC236}">
                <a16:creationId xmlns:a16="http://schemas.microsoft.com/office/drawing/2014/main" id="{9BC47BF7-BB49-42EC-9B17-F01F429556B4}"/>
              </a:ext>
            </a:extLst>
          </p:cNvPr>
          <p:cNvSpPr>
            <a:spLocks xmlns:a="http://schemas.openxmlformats.org/drawingml/2006/main" noGrp="1"/>
          </p:cNvSpPr>
          <p:nvPr/>
        </p:nvSpPr>
        <p:spPr>
          <a:xfrm xmlns:a="http://schemas.openxmlformats.org/drawingml/2006/main">
            <a:off x="971550" y="5200650"/>
            <a:ext cx="571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D949A66C-ECFF-4333-ACB0-9A58B2CD4908}"/>
              </a:ext>
            </a:extLst>
          </p:cNvPr>
          <p:cNvSpPr>
            <a:spLocks xmlns:a="http://schemas.openxmlformats.org/drawingml/2006/main" noGrp="1"/>
          </p:cNvSpPr>
          <p:nvPr/>
        </p:nvSpPr>
        <p:spPr>
          <a:xfrm xmlns:a="http://schemas.openxmlformats.org/drawingml/2006/main">
            <a:off x="1543050" y="4019550"/>
            <a:ext cx="10039350" cy="647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8" name="src/vision/AGENTS.md">
            <a:extLst xmlns:a="http://schemas.openxmlformats.org/drawingml/2006/main">
              <a:ext uri="{FF2B5EF4-FFF2-40B4-BE49-F238E27FC236}">
                <a16:creationId xmlns:a16="http://schemas.microsoft.com/office/drawing/2014/main" id="{4396A007-DC12-4CAE-A759-11D4F8717252}"/>
              </a:ext>
            </a:extLst>
          </p:cNvPr>
          <p:cNvSpPr>
            <a:spLocks xmlns:a="http://schemas.openxmlformats.org/drawingml/2006/main" noGrp="1"/>
          </p:cNvSpPr>
          <p:nvPr/>
        </p:nvSpPr>
        <p:spPr>
          <a:xfrm xmlns:a="http://schemas.openxmlformats.org/drawingml/2006/main">
            <a:off x="1733550" y="417195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src/vision/AGENTS.md</a:t>
            </a:r>
          </a:p>
        </p:txBody>
      </p:sp>
      <p:sp>
        <p:nvSpPr>
          <p:cNvPr id="19" name="crop.cpp 작업 · ROI 명세">
            <a:extLst xmlns:a="http://schemas.openxmlformats.org/drawingml/2006/main">
              <a:ext uri="{FF2B5EF4-FFF2-40B4-BE49-F238E27FC236}">
                <a16:creationId xmlns:a16="http://schemas.microsoft.com/office/drawing/2014/main" id="{6B68B802-9895-40D3-A6A5-BDF08101A1D1}"/>
              </a:ext>
            </a:extLst>
          </p:cNvPr>
          <p:cNvSpPr>
            <a:spLocks xmlns:a="http://schemas.openxmlformats.org/drawingml/2006/main" noGrp="1"/>
          </p:cNvSpPr>
          <p:nvPr/>
        </p:nvSpPr>
        <p:spPr>
          <a:xfrm xmlns:a="http://schemas.openxmlformats.org/drawingml/2006/main">
            <a:off x="6534150" y="417195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crop.cpp 작업 · ROI 명세</a:t>
            </a:r>
          </a:p>
        </p:txBody>
      </p:sp>
      <p:sp>
        <p:nvSpPr>
          <p:cNvPr id="20" name="">
            <a:extLst xmlns:a="http://schemas.openxmlformats.org/drawingml/2006/main">
              <a:ext uri="{FF2B5EF4-FFF2-40B4-BE49-F238E27FC236}">
                <a16:creationId xmlns:a16="http://schemas.microsoft.com/office/drawing/2014/main" id="{25BAC545-0854-486B-9649-6078DAD5F1A1}"/>
              </a:ext>
            </a:extLst>
          </p:cNvPr>
          <p:cNvSpPr>
            <a:spLocks xmlns:a="http://schemas.openxmlformats.org/drawingml/2006/main" noGrp="1"/>
          </p:cNvSpPr>
          <p:nvPr/>
        </p:nvSpPr>
        <p:spPr>
          <a:xfrm xmlns:a="http://schemas.openxmlformats.org/drawingml/2006/main">
            <a:off x="1543050" y="4876800"/>
            <a:ext cx="10039350" cy="64770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1" name="src/device/AGENTS.md">
            <a:extLst xmlns:a="http://schemas.openxmlformats.org/drawingml/2006/main">
              <a:ext uri="{FF2B5EF4-FFF2-40B4-BE49-F238E27FC236}">
                <a16:creationId xmlns:a16="http://schemas.microsoft.com/office/drawing/2014/main" id="{AF91101A-3F73-463A-86E2-4E3EE048BF14}"/>
              </a:ext>
            </a:extLst>
          </p:cNvPr>
          <p:cNvSpPr>
            <a:spLocks xmlns:a="http://schemas.openxmlformats.org/drawingml/2006/main" noGrp="1"/>
          </p:cNvSpPr>
          <p:nvPr/>
        </p:nvSpPr>
        <p:spPr>
          <a:xfrm xmlns:a="http://schemas.openxmlformats.org/drawingml/2006/main">
            <a:off x="1733550" y="5029200"/>
            <a:ext cx="47434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Consolas"/>
                <a:ea typeface="Consolas"/>
                <a:cs typeface="Consolas"/>
              </a:defRPr>
            </a:defPPr>
            <a:lvl1pPr algn="l">
              <a:defRPr sz="2025" b="0">
                <a:solidFill>
                  <a:srgbClr val="4D5A68"/>
                </a:solidFill>
                <a:latin typeface="Consolas"/>
                <a:ea typeface="Consolas"/>
                <a:cs typeface="Consolas"/>
              </a:defRPr>
            </a:lvl1pPr>
            <a:lvl2pPr algn="l">
              <a:defRPr sz="2025" b="0">
                <a:solidFill>
                  <a:srgbClr val="4D5A68"/>
                </a:solidFill>
                <a:latin typeface="Consolas"/>
                <a:ea typeface="Consolas"/>
                <a:cs typeface="Consolas"/>
              </a:defRPr>
            </a:lvl2pPr>
            <a:lvl3pPr algn="l">
              <a:defRPr sz="2025" b="0">
                <a:solidFill>
                  <a:srgbClr val="4D5A68"/>
                </a:solidFill>
                <a:latin typeface="Consolas"/>
                <a:ea typeface="Consolas"/>
                <a:cs typeface="Consolas"/>
              </a:defRPr>
            </a:lvl3pPr>
            <a:lvl4pPr algn="l">
              <a:defRPr sz="2025" b="0">
                <a:solidFill>
                  <a:srgbClr val="4D5A68"/>
                </a:solidFill>
                <a:latin typeface="Consolas"/>
                <a:ea typeface="Consolas"/>
                <a:cs typeface="Consolas"/>
              </a:defRPr>
            </a:lvl4pPr>
            <a:lvl5pPr algn="l">
              <a:defRPr sz="2025" b="0">
                <a:solidFill>
                  <a:srgbClr val="4D5A68"/>
                </a:solidFill>
                <a:latin typeface="Consolas"/>
                <a:ea typeface="Consolas"/>
                <a:cs typeface="Consolas"/>
              </a:defRPr>
            </a:lvl5pPr>
            <a:lvl6pPr algn="l">
              <a:defRPr sz="2025" b="0">
                <a:solidFill>
                  <a:srgbClr val="4D5A68"/>
                </a:solidFill>
                <a:latin typeface="Consolas"/>
                <a:ea typeface="Consolas"/>
                <a:cs typeface="Consolas"/>
              </a:defRPr>
            </a:lvl6pPr>
            <a:lvl7pPr algn="l">
              <a:defRPr sz="2025" b="0">
                <a:solidFill>
                  <a:srgbClr val="4D5A68"/>
                </a:solidFill>
                <a:latin typeface="Consolas"/>
                <a:ea typeface="Consolas"/>
                <a:cs typeface="Consolas"/>
              </a:defRPr>
            </a:lvl7pPr>
            <a:lvl8pPr algn="l">
              <a:defRPr sz="2025" b="0">
                <a:solidFill>
                  <a:srgbClr val="4D5A68"/>
                </a:solidFill>
                <a:latin typeface="Consolas"/>
                <a:ea typeface="Consolas"/>
                <a:cs typeface="Consolas"/>
              </a:defRPr>
            </a:lvl8pPr>
            <a:lvl9pPr algn="l">
              <a:defRPr sz="2025" b="0">
                <a:solidFill>
                  <a:srgbClr val="4D5A68"/>
                </a:solidFill>
                <a:latin typeface="Consolas"/>
                <a:ea typeface="Consolas"/>
                <a:cs typeface="Consolas"/>
              </a:defRPr>
            </a:lvl9pPr>
          </a:lstStyle>
          <a:p xmlns:a="http://schemas.openxmlformats.org/drawingml/2006/main">
            <a:pPr algn="l">
              <a:defRPr sz="2025" b="0">
                <a:solidFill>
                  <a:srgbClr val="4D5A68"/>
                </a:solidFill>
                <a:latin typeface="Consolas"/>
                <a:ea typeface="Consolas"/>
                <a:cs typeface="Consolas"/>
              </a:defRPr>
            </a:pPr>
            <a:r>
              <a:rPr sz="2025" b="0">
                <a:solidFill>
                  <a:srgbClr val="4D5A68"/>
                </a:solidFill>
                <a:latin typeface="Consolas"/>
                <a:ea typeface="Consolas"/>
                <a:cs typeface="Consolas"/>
              </a:rPr>
              <a:t>src/device/AGENTS.md</a:t>
            </a:r>
          </a:p>
        </p:txBody>
      </p:sp>
      <p:sp>
        <p:nvSpPr>
          <p:cNvPr id="22" name="다른 모듈 · 이번 코드의 범위 밖">
            <a:extLst xmlns:a="http://schemas.openxmlformats.org/drawingml/2006/main">
              <a:ext uri="{FF2B5EF4-FFF2-40B4-BE49-F238E27FC236}">
                <a16:creationId xmlns:a16="http://schemas.microsoft.com/office/drawing/2014/main" id="{C216A97B-9BF7-4818-B922-72B57326CD48}"/>
              </a:ext>
            </a:extLst>
          </p:cNvPr>
          <p:cNvSpPr>
            <a:spLocks xmlns:a="http://schemas.openxmlformats.org/drawingml/2006/main" noGrp="1"/>
          </p:cNvSpPr>
          <p:nvPr/>
        </p:nvSpPr>
        <p:spPr>
          <a:xfrm xmlns:a="http://schemas.openxmlformats.org/drawingml/2006/main">
            <a:off x="6534150" y="5029200"/>
            <a:ext cx="480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다른 모듈 · 이번 코드의 범위 밖</a:t>
            </a:r>
          </a:p>
        </p:txBody>
      </p:sp>
      <p:sp>
        <p:nvSpPr>
          <p:cNvPr id="23" name="">
            <a:extLst xmlns:a="http://schemas.openxmlformats.org/drawingml/2006/main">
              <a:ext uri="{FF2B5EF4-FFF2-40B4-BE49-F238E27FC236}">
                <a16:creationId xmlns:a16="http://schemas.microsoft.com/office/drawing/2014/main" id="{D6B3DE94-579F-4518-A466-4C9BADAB7CF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4FAEC4F-6556-4CA4-8154-C9D199DC3DD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4C213CF-2DD8-454C-8668-126A6C1C82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07747481"/>
      </p:ext>
    </p:extLst>
  </p:cSld>
</p:sld>
</file>

<file path=ppt/slides/slide5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2/3">
            <a:extLst xmlns:a="http://schemas.openxmlformats.org/drawingml/2006/main">
              <a:ext uri="{FF2B5EF4-FFF2-40B4-BE49-F238E27FC236}">
                <a16:creationId xmlns:a16="http://schemas.microsoft.com/office/drawing/2014/main" id="{81D6714D-D5D1-4717-8575-F369AD3069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2/3</a:t>
            </a:r>
          </a:p>
        </p:txBody>
      </p:sp>
      <p:sp>
        <p:nvSpPr>
          <p:cNvPr id="2" name="S56">
            <a:extLst xmlns:a="http://schemas.openxmlformats.org/drawingml/2006/main">
              <a:ext uri="{FF2B5EF4-FFF2-40B4-BE49-F238E27FC236}">
                <a16:creationId xmlns:a16="http://schemas.microsoft.com/office/drawing/2014/main" id="{A260F716-A979-4BEE-8B62-F6453A268F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공통 지침에 모듈 지침을 더한다">
            <a:extLst xmlns:a="http://schemas.openxmlformats.org/drawingml/2006/main">
              <a:ext uri="{FF2B5EF4-FFF2-40B4-BE49-F238E27FC236}">
                <a16:creationId xmlns:a16="http://schemas.microsoft.com/office/drawing/2014/main" id="{77B30FF1-02B1-49B2-BA15-F1EA47F38F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지침에 모듈 지침을 더한다</a:t>
            </a:r>
          </a:p>
        </p:txBody>
      </p:sp>
      <p:sp>
        <p:nvSpPr>
          <p:cNvPr id="4" name="">
            <a:extLst xmlns:a="http://schemas.openxmlformats.org/drawingml/2006/main">
              <a:ext uri="{FF2B5EF4-FFF2-40B4-BE49-F238E27FC236}">
                <a16:creationId xmlns:a16="http://schemas.microsoft.com/office/drawing/2014/main" id="{BD823448-78D5-451E-AA12-3B8AD0FE15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E483C5-B5C6-4C5C-8FB1-B7374E2FE1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프로젝트 적용 예시</a:t>
            </a:r>
          </a:p>
        </p:txBody>
      </p:sp>
      <p:sp>
        <p:nvSpPr>
          <p:cNvPr id="7" name="이번 작업: src/vision/crop.cpp 수정">
            <a:extLst xmlns:a="http://schemas.openxmlformats.org/drawingml/2006/main">
              <a:ext uri="{FF2B5EF4-FFF2-40B4-BE49-F238E27FC236}">
                <a16:creationId xmlns:a16="http://schemas.microsoft.com/office/drawing/2014/main" id="{BE9153E3-2CF9-4F2B-81C8-6E1DACFE7BE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src/vision/crop.cpp 수정</a:t>
            </a:r>
          </a:p>
        </p:txBody>
      </p:sp>
      <p:sp>
        <p:nvSpPr>
          <p:cNvPr id="8" name="">
            <a:extLst xmlns:a="http://schemas.openxmlformats.org/drawingml/2006/main">
              <a:ext uri="{FF2B5EF4-FFF2-40B4-BE49-F238E27FC236}">
                <a16:creationId xmlns:a16="http://schemas.microsoft.com/office/drawing/2014/main" id="{E9D74928-C59F-46A8-AC0B-2F48B6EAA0F0}"/>
              </a:ext>
            </a:extLst>
          </p:cNvPr>
          <p:cNvSpPr>
            <a:spLocks xmlns:a="http://schemas.openxmlformats.org/drawingml/2006/main" noGrp="1"/>
          </p:cNvSpPr>
          <p:nvPr/>
        </p:nvSpPr>
        <p:spPr>
          <a:xfrm xmlns:a="http://schemas.openxmlformats.org/drawingml/2006/main">
            <a:off x="609600" y="2400300"/>
            <a:ext cx="302895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루트의 공통 지침">
            <a:extLst xmlns:a="http://schemas.openxmlformats.org/drawingml/2006/main">
              <a:ext uri="{FF2B5EF4-FFF2-40B4-BE49-F238E27FC236}">
                <a16:creationId xmlns:a16="http://schemas.microsoft.com/office/drawing/2014/main" id="{FC9983F8-FBD4-4A89-9CF8-AC0873254E8C}"/>
              </a:ext>
            </a:extLst>
          </p:cNvPr>
          <p:cNvSpPr>
            <a:spLocks xmlns:a="http://schemas.openxmlformats.org/drawingml/2006/main" noGrp="1"/>
          </p:cNvSpPr>
          <p:nvPr/>
        </p:nvSpPr>
        <p:spPr>
          <a:xfrm xmlns:a="http://schemas.openxmlformats.org/drawingml/2006/main">
            <a:off x="80010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루트의 공통 지침</a:t>
            </a:r>
          </a:p>
        </p:txBody>
      </p:sp>
      <p:sp>
        <p:nvSpPr>
          <p:cNvPr id="10" name="공개 API 유지&#10;기본 검증: ctest">
            <a:extLst xmlns:a="http://schemas.openxmlformats.org/drawingml/2006/main">
              <a:ext uri="{FF2B5EF4-FFF2-40B4-BE49-F238E27FC236}">
                <a16:creationId xmlns:a16="http://schemas.microsoft.com/office/drawing/2014/main" id="{3012D183-C63C-48DD-9916-F515CA3F84BB}"/>
              </a:ext>
            </a:extLst>
          </p:cNvPr>
          <p:cNvSpPr>
            <a:spLocks xmlns:a="http://schemas.openxmlformats.org/drawingml/2006/main" noGrp="1"/>
          </p:cNvSpPr>
          <p:nvPr/>
        </p:nvSpPr>
        <p:spPr>
          <a:xfrm xmlns:a="http://schemas.openxmlformats.org/drawingml/2006/main">
            <a:off x="80010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기본 검증: ctest</a:t>
            </a:r>
          </a:p>
        </p:txBody>
      </p:sp>
      <p:sp>
        <p:nvSpPr>
          <p:cNvPr id="11" name="">
            <a:extLst xmlns:a="http://schemas.openxmlformats.org/drawingml/2006/main">
              <a:ext uri="{FF2B5EF4-FFF2-40B4-BE49-F238E27FC236}">
                <a16:creationId xmlns:a16="http://schemas.microsoft.com/office/drawing/2014/main" id="{9546759E-7FE6-4DBB-9B23-77D255A5D8F3}"/>
              </a:ext>
            </a:extLst>
          </p:cNvPr>
          <p:cNvSpPr>
            <a:spLocks xmlns:a="http://schemas.openxmlformats.org/drawingml/2006/main" noGrp="1"/>
          </p:cNvSpPr>
          <p:nvPr/>
        </p:nvSpPr>
        <p:spPr>
          <a:xfrm xmlns:a="http://schemas.openxmlformats.org/drawingml/2006/main">
            <a:off x="4362450" y="2400300"/>
            <a:ext cx="3028950" cy="21717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2" name="vision의 전용 지침">
            <a:extLst xmlns:a="http://schemas.openxmlformats.org/drawingml/2006/main">
              <a:ext uri="{FF2B5EF4-FFF2-40B4-BE49-F238E27FC236}">
                <a16:creationId xmlns:a16="http://schemas.microsoft.com/office/drawing/2014/main" id="{790A2796-7E9B-4760-A2E3-7CFE460845C1}"/>
              </a:ext>
            </a:extLst>
          </p:cNvPr>
          <p:cNvSpPr>
            <a:spLocks xmlns:a="http://schemas.openxmlformats.org/drawingml/2006/main" noGrp="1"/>
          </p:cNvSpPr>
          <p:nvPr/>
        </p:nvSpPr>
        <p:spPr>
          <a:xfrm xmlns:a="http://schemas.openxmlformats.org/drawingml/2006/main">
            <a:off x="4552950" y="2590800"/>
            <a:ext cx="2647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vision의 전용 지침</a:t>
            </a:r>
          </a:p>
        </p:txBody>
      </p:sp>
      <p:sp>
        <p:nvSpPr>
          <p:cNvPr id="13" name="ROI 명세 준수&#10;검증: ctest -L vision">
            <a:extLst xmlns:a="http://schemas.openxmlformats.org/drawingml/2006/main">
              <a:ext uri="{FF2B5EF4-FFF2-40B4-BE49-F238E27FC236}">
                <a16:creationId xmlns:a16="http://schemas.microsoft.com/office/drawing/2014/main" id="{263C0575-A74F-49D0-8D21-9AA63A0332A7}"/>
              </a:ext>
            </a:extLst>
          </p:cNvPr>
          <p:cNvSpPr>
            <a:spLocks xmlns:a="http://schemas.openxmlformats.org/drawingml/2006/main" noGrp="1"/>
          </p:cNvSpPr>
          <p:nvPr/>
        </p:nvSpPr>
        <p:spPr>
          <a:xfrm xmlns:a="http://schemas.openxmlformats.org/drawingml/2006/main">
            <a:off x="4552950" y="3105150"/>
            <a:ext cx="26479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검증: ctest -L vision</a:t>
            </a:r>
          </a:p>
        </p:txBody>
      </p:sp>
      <p:sp>
        <p:nvSpPr>
          <p:cNvPr id="14" name="">
            <a:extLst xmlns:a="http://schemas.openxmlformats.org/drawingml/2006/main">
              <a:ext uri="{FF2B5EF4-FFF2-40B4-BE49-F238E27FC236}">
                <a16:creationId xmlns:a16="http://schemas.microsoft.com/office/drawing/2014/main" id="{18F01C59-E2A3-46B5-8E6B-5ECCF1665E26}"/>
              </a:ext>
            </a:extLst>
          </p:cNvPr>
          <p:cNvSpPr>
            <a:spLocks xmlns:a="http://schemas.openxmlformats.org/drawingml/2006/main" noGrp="1"/>
          </p:cNvSpPr>
          <p:nvPr/>
        </p:nvSpPr>
        <p:spPr>
          <a:xfrm xmlns:a="http://schemas.openxmlformats.org/drawingml/2006/main">
            <a:off x="8382000" y="2400300"/>
            <a:ext cx="3200400" cy="21717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5" name="함께 적용할 지침">
            <a:extLst xmlns:a="http://schemas.openxmlformats.org/drawingml/2006/main">
              <a:ext uri="{FF2B5EF4-FFF2-40B4-BE49-F238E27FC236}">
                <a16:creationId xmlns:a16="http://schemas.microsoft.com/office/drawing/2014/main" id="{7E9CF3FE-5100-4C0A-BBA1-3CBF84BD64C0}"/>
              </a:ext>
            </a:extLst>
          </p:cNvPr>
          <p:cNvSpPr>
            <a:spLocks xmlns:a="http://schemas.openxmlformats.org/drawingml/2006/main" noGrp="1"/>
          </p:cNvSpPr>
          <p:nvPr/>
        </p:nvSpPr>
        <p:spPr>
          <a:xfrm xmlns:a="http://schemas.openxmlformats.org/drawingml/2006/main">
            <a:off x="8572500" y="2590800"/>
            <a:ext cx="2819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함께 적용할 지침</a:t>
            </a:r>
          </a:p>
        </p:txBody>
      </p:sp>
      <p:sp>
        <p:nvSpPr>
          <p:cNvPr id="16" name="공개 API 유지&#10;ROI 명세 준수&#10;ctest -L vision">
            <a:extLst xmlns:a="http://schemas.openxmlformats.org/drawingml/2006/main">
              <a:ext uri="{FF2B5EF4-FFF2-40B4-BE49-F238E27FC236}">
                <a16:creationId xmlns:a16="http://schemas.microsoft.com/office/drawing/2014/main" id="{29B5A8AC-DED3-4991-92A5-85F37F5A3440}"/>
              </a:ext>
            </a:extLst>
          </p:cNvPr>
          <p:cNvSpPr>
            <a:spLocks xmlns:a="http://schemas.openxmlformats.org/drawingml/2006/main" noGrp="1"/>
          </p:cNvSpPr>
          <p:nvPr/>
        </p:nvSpPr>
        <p:spPr>
          <a:xfrm xmlns:a="http://schemas.openxmlformats.org/drawingml/2006/main">
            <a:off x="8572500" y="3105150"/>
            <a:ext cx="28194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공개 API 유지</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ROI 명세 준수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ctest -L vision</a:t>
            </a:r>
          </a:p>
        </p:txBody>
      </p:sp>
      <p:sp>
        <p:nvSpPr>
          <p:cNvPr id="17" name="+">
            <a:extLst xmlns:a="http://schemas.openxmlformats.org/drawingml/2006/main">
              <a:ext uri="{FF2B5EF4-FFF2-40B4-BE49-F238E27FC236}">
                <a16:creationId xmlns:a16="http://schemas.microsoft.com/office/drawing/2014/main" id="{CA91A3BF-F161-4329-83D3-79227C9C4251}"/>
              </a:ext>
            </a:extLst>
          </p:cNvPr>
          <p:cNvSpPr>
            <a:spLocks xmlns:a="http://schemas.openxmlformats.org/drawingml/2006/main" noGrp="1"/>
          </p:cNvSpPr>
          <p:nvPr/>
        </p:nvSpPr>
        <p:spPr>
          <a:xfrm xmlns:a="http://schemas.openxmlformats.org/drawingml/2006/main">
            <a:off x="3790950" y="3124200"/>
            <a:ext cx="4191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150" b="1">
                <a:solidFill>
                  <a:srgbClr val="0B6172"/>
                </a:solidFill>
                <a:latin typeface="Malgun Gothic"/>
                <a:ea typeface="Malgun Gothic"/>
                <a:cs typeface="Malgun Gothic"/>
              </a:defRPr>
            </a:defPPr>
            <a:lvl1pPr algn="ctr">
              <a:defRPr sz="3150" b="1">
                <a:solidFill>
                  <a:srgbClr val="0B6172"/>
                </a:solidFill>
                <a:latin typeface="Malgun Gothic"/>
                <a:ea typeface="Malgun Gothic"/>
                <a:cs typeface="Malgun Gothic"/>
              </a:defRPr>
            </a:lvl1pPr>
            <a:lvl2pPr algn="ctr">
              <a:defRPr sz="3150" b="1">
                <a:solidFill>
                  <a:srgbClr val="0B6172"/>
                </a:solidFill>
                <a:latin typeface="Malgun Gothic"/>
                <a:ea typeface="Malgun Gothic"/>
                <a:cs typeface="Malgun Gothic"/>
              </a:defRPr>
            </a:lvl2pPr>
            <a:lvl3pPr algn="ctr">
              <a:defRPr sz="3150" b="1">
                <a:solidFill>
                  <a:srgbClr val="0B6172"/>
                </a:solidFill>
                <a:latin typeface="Malgun Gothic"/>
                <a:ea typeface="Malgun Gothic"/>
                <a:cs typeface="Malgun Gothic"/>
              </a:defRPr>
            </a:lvl3pPr>
            <a:lvl4pPr algn="ctr">
              <a:defRPr sz="3150" b="1">
                <a:solidFill>
                  <a:srgbClr val="0B6172"/>
                </a:solidFill>
                <a:latin typeface="Malgun Gothic"/>
                <a:ea typeface="Malgun Gothic"/>
                <a:cs typeface="Malgun Gothic"/>
              </a:defRPr>
            </a:lvl4pPr>
            <a:lvl5pPr algn="ctr">
              <a:defRPr sz="3150" b="1">
                <a:solidFill>
                  <a:srgbClr val="0B6172"/>
                </a:solidFill>
                <a:latin typeface="Malgun Gothic"/>
                <a:ea typeface="Malgun Gothic"/>
                <a:cs typeface="Malgun Gothic"/>
              </a:defRPr>
            </a:lvl5pPr>
            <a:lvl6pPr algn="ctr">
              <a:defRPr sz="3150" b="1">
                <a:solidFill>
                  <a:srgbClr val="0B6172"/>
                </a:solidFill>
                <a:latin typeface="Malgun Gothic"/>
                <a:ea typeface="Malgun Gothic"/>
                <a:cs typeface="Malgun Gothic"/>
              </a:defRPr>
            </a:lvl6pPr>
            <a:lvl7pPr algn="ctr">
              <a:defRPr sz="3150" b="1">
                <a:solidFill>
                  <a:srgbClr val="0B6172"/>
                </a:solidFill>
                <a:latin typeface="Malgun Gothic"/>
                <a:ea typeface="Malgun Gothic"/>
                <a:cs typeface="Malgun Gothic"/>
              </a:defRPr>
            </a:lvl7pPr>
            <a:lvl8pPr algn="ctr">
              <a:defRPr sz="3150" b="1">
                <a:solidFill>
                  <a:srgbClr val="0B6172"/>
                </a:solidFill>
                <a:latin typeface="Malgun Gothic"/>
                <a:ea typeface="Malgun Gothic"/>
                <a:cs typeface="Malgun Gothic"/>
              </a:defRPr>
            </a:lvl8pPr>
            <a:lvl9pPr algn="ctr">
              <a:defRPr sz="3150" b="1">
                <a:solidFill>
                  <a:srgbClr val="0B6172"/>
                </a:solidFill>
                <a:latin typeface="Malgun Gothic"/>
                <a:ea typeface="Malgun Gothic"/>
                <a:cs typeface="Malgun Gothic"/>
              </a:defRPr>
            </a:lvl9pPr>
          </a:lstStyle>
          <a:p xmlns:a="http://schemas.openxmlformats.org/drawingml/2006/main">
            <a:pPr algn="ctr">
              <a:defRPr sz="3150" b="1">
                <a:solidFill>
                  <a:srgbClr val="0B6172"/>
                </a:solidFill>
                <a:latin typeface="Malgun Gothic"/>
                <a:ea typeface="Malgun Gothic"/>
                <a:cs typeface="Malgun Gothic"/>
              </a:defRPr>
            </a:pPr>
            <a:r>
              <a:rPr sz="3150" b="1">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DE24DB14-F860-4CC3-BE26-59B60CF1DAC5}"/>
              </a:ext>
            </a:extLst>
          </p:cNvPr>
          <p:cNvSpPr>
            <a:spLocks xmlns:a="http://schemas.openxmlformats.org/drawingml/2006/main" noGrp="1"/>
          </p:cNvSpPr>
          <p:nvPr/>
        </p:nvSpPr>
        <p:spPr>
          <a:xfrm xmlns:a="http://schemas.openxmlformats.org/drawingml/2006/main">
            <a:off x="7658100" y="3314700"/>
            <a:ext cx="45720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충돌하는 기본값은 더 가까운 지침을 우선">
            <a:extLst xmlns:a="http://schemas.openxmlformats.org/drawingml/2006/main">
              <a:ext uri="{FF2B5EF4-FFF2-40B4-BE49-F238E27FC236}">
                <a16:creationId xmlns:a16="http://schemas.microsoft.com/office/drawing/2014/main" id="{3C1BA01E-ED91-4A00-954B-70D4131BD9D4}"/>
              </a:ext>
            </a:extLst>
          </p:cNvPr>
          <p:cNvSpPr>
            <a:spLocks xmlns:a="http://schemas.openxmlformats.org/drawingml/2006/main" noGrp="1"/>
          </p:cNvSpPr>
          <p:nvPr/>
        </p:nvSpPr>
        <p:spPr>
          <a:xfrm xmlns:a="http://schemas.openxmlformats.org/drawingml/2006/main">
            <a:off x="609600" y="4895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충돌하는 기본값은 더 가까운 지침을 우선</a:t>
            </a:r>
          </a:p>
        </p:txBody>
      </p:sp>
      <p:sp>
        <p:nvSpPr>
          <p:cNvPr id="20" name="공통 지침 전체가 사라지는 것은 아닙니다">
            <a:extLst xmlns:a="http://schemas.openxmlformats.org/drawingml/2006/main">
              <a:ext uri="{FF2B5EF4-FFF2-40B4-BE49-F238E27FC236}">
                <a16:creationId xmlns:a16="http://schemas.microsoft.com/office/drawing/2014/main" id="{4A33110F-FD17-485C-9078-4024ED33FAE3}"/>
              </a:ext>
            </a:extLst>
          </p:cNvPr>
          <p:cNvSpPr>
            <a:spLocks xmlns:a="http://schemas.openxmlformats.org/drawingml/2006/main" noGrp="1"/>
          </p:cNvSpPr>
          <p:nvPr/>
        </p:nvSpPr>
        <p:spPr>
          <a:xfrm xmlns:a="http://schemas.openxmlformats.org/drawingml/2006/main">
            <a:off x="609600" y="53244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공통 지침 전체가 사라지는 것은 아닙니다</a:t>
            </a:r>
          </a:p>
        </p:txBody>
      </p:sp>
      <p:sp>
        <p:nvSpPr>
          <p:cNvPr id="21" name="">
            <a:extLst xmlns:a="http://schemas.openxmlformats.org/drawingml/2006/main">
              <a:ext uri="{FF2B5EF4-FFF2-40B4-BE49-F238E27FC236}">
                <a16:creationId xmlns:a16="http://schemas.microsoft.com/office/drawing/2014/main" id="{A1DAC673-757E-418B-934C-8D7FD99404C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62A24202-1167-4239-8E06-2B5BF6704D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58A8A1EC-42C3-4DD3-A773-2837FBE8A6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5929992"/>
      </p:ext>
    </p:extLst>
  </p:cSld>
</p:sld>
</file>

<file path=ppt/slides/slide5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 name="ACT 2 · AGENTS.md 활용 3/3">
            <a:extLst xmlns:a="http://schemas.openxmlformats.org/drawingml/2006/main">
              <a:ext uri="{FF2B5EF4-FFF2-40B4-BE49-F238E27FC236}">
                <a16:creationId xmlns:a16="http://schemas.microsoft.com/office/drawing/2014/main" id="{A607E94D-E5F7-4E2F-BE57-18F185D5B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AGENTS.md 활용 3/3</a:t>
            </a:r>
          </a:p>
        </p:txBody>
      </p:sp>
      <p:sp>
        <p:nvSpPr>
          <p:cNvPr id="2" name="S57">
            <a:extLst xmlns:a="http://schemas.openxmlformats.org/drawingml/2006/main">
              <a:ext uri="{FF2B5EF4-FFF2-40B4-BE49-F238E27FC236}">
                <a16:creationId xmlns:a16="http://schemas.microsoft.com/office/drawing/2014/main" id="{5039CF5A-E60C-42EA-8889-E730AEB0F9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적용할 지침을 실제로 읽었을까?">
            <a:extLst xmlns:a="http://schemas.openxmlformats.org/drawingml/2006/main">
              <a:ext uri="{FF2B5EF4-FFF2-40B4-BE49-F238E27FC236}">
                <a16:creationId xmlns:a16="http://schemas.microsoft.com/office/drawing/2014/main" id="{ED62561B-790A-4EE9-83B9-A04BDCC813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적용할 지침을 실제로 읽었을까?</a:t>
            </a:r>
          </a:p>
        </p:txBody>
      </p:sp>
      <p:sp>
        <p:nvSpPr>
          <p:cNvPr id="4" name="">
            <a:extLst xmlns:a="http://schemas.openxmlformats.org/drawingml/2006/main">
              <a:ext uri="{FF2B5EF4-FFF2-40B4-BE49-F238E27FC236}">
                <a16:creationId xmlns:a16="http://schemas.microsoft.com/office/drawing/2014/main" id="{B4A0E212-9420-4926-910D-7859E660A2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B7A9F6A-FFAD-421E-AB29-C2286F36B2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시작 시 자동 수집 기준 · 파일 경로와 본문을 확인</a:t>
            </a:r>
          </a:p>
        </p:txBody>
      </p:sp>
      <p:sp>
        <p:nvSpPr>
          <p:cNvPr id="7" name="적용 범위와 시작 시 자동 수집 범위는 다릅니다">
            <a:extLst xmlns:a="http://schemas.openxmlformats.org/drawingml/2006/main">
              <a:ext uri="{FF2B5EF4-FFF2-40B4-BE49-F238E27FC236}">
                <a16:creationId xmlns:a16="http://schemas.microsoft.com/office/drawing/2014/main" id="{AFB2FA88-B28F-4642-AC79-EC12616D020A}"/>
              </a:ext>
            </a:extLst>
          </p:cNvPr>
          <p:cNvSpPr>
            <a:spLocks xmlns:a="http://schemas.openxmlformats.org/drawingml/2006/main" noGrp="1"/>
          </p:cNvSpPr>
          <p:nvPr/>
        </p:nvSpPr>
        <p:spPr>
          <a:xfrm xmlns:a="http://schemas.openxmlformats.org/drawingml/2006/main">
            <a:off x="609600" y="16287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적용 범위와 시작 시 자동 수집 범위는 다릅니다</a:t>
            </a:r>
          </a:p>
        </p:txBody>
      </p:sp>
      <p:sp>
        <p:nvSpPr>
          <p:cNvPr id="8" name="루트에서 시작">
            <a:extLst xmlns:a="http://schemas.openxmlformats.org/drawingml/2006/main">
              <a:ext uri="{FF2B5EF4-FFF2-40B4-BE49-F238E27FC236}">
                <a16:creationId xmlns:a16="http://schemas.microsoft.com/office/drawing/2014/main" id="{1D60F754-1E69-4E9F-9E14-CDB9CBCDF7C9}"/>
              </a:ext>
            </a:extLst>
          </p:cNvPr>
          <p:cNvSpPr>
            <a:spLocks xmlns:a="http://schemas.openxmlformats.org/drawingml/2006/main" noGrp="1"/>
          </p:cNvSpPr>
          <p:nvPr/>
        </p:nvSpPr>
        <p:spPr>
          <a:xfrm xmlns:a="http://schemas.openxmlformats.org/drawingml/2006/main">
            <a:off x="609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루트에서 시작</a:t>
            </a:r>
          </a:p>
        </p:txBody>
      </p:sp>
      <p:sp>
        <p:nvSpPr>
          <p:cNvPr id="9" name="inspection/">
            <a:extLst xmlns:a="http://schemas.openxmlformats.org/drawingml/2006/main">
              <a:ext uri="{FF2B5EF4-FFF2-40B4-BE49-F238E27FC236}">
                <a16:creationId xmlns:a16="http://schemas.microsoft.com/office/drawing/2014/main" id="{E5BE2A4A-042E-407E-A711-9DE1AD920578}"/>
              </a:ext>
            </a:extLst>
          </p:cNvPr>
          <p:cNvSpPr>
            <a:spLocks xmlns:a="http://schemas.openxmlformats.org/drawingml/2006/main" noGrp="1"/>
          </p:cNvSpPr>
          <p:nvPr/>
        </p:nvSpPr>
        <p:spPr>
          <a:xfrm xmlns:a="http://schemas.openxmlformats.org/drawingml/2006/main">
            <a:off x="609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a:t>
            </a:r>
          </a:p>
        </p:txBody>
      </p:sp>
      <p:sp>
        <p:nvSpPr>
          <p:cNvPr id="10" name="">
            <a:extLst xmlns:a="http://schemas.openxmlformats.org/drawingml/2006/main">
              <a:ext uri="{FF2B5EF4-FFF2-40B4-BE49-F238E27FC236}">
                <a16:creationId xmlns:a16="http://schemas.microsoft.com/office/drawing/2014/main" id="{06999919-B979-4939-B2D6-97AC9554A1E5}"/>
              </a:ext>
            </a:extLst>
          </p:cNvPr>
          <p:cNvSpPr>
            <a:spLocks xmlns:a="http://schemas.openxmlformats.org/drawingml/2006/main" noGrp="1"/>
          </p:cNvSpPr>
          <p:nvPr/>
        </p:nvSpPr>
        <p:spPr>
          <a:xfrm xmlns:a="http://schemas.openxmlformats.org/drawingml/2006/main">
            <a:off x="609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개인 기본값  →  루트">
            <a:extLst xmlns:a="http://schemas.openxmlformats.org/drawingml/2006/main">
              <a:ext uri="{FF2B5EF4-FFF2-40B4-BE49-F238E27FC236}">
                <a16:creationId xmlns:a16="http://schemas.microsoft.com/office/drawing/2014/main" id="{23A6BE02-7BDB-4139-95F0-F805AFD9B0D8}"/>
              </a:ext>
            </a:extLst>
          </p:cNvPr>
          <p:cNvSpPr>
            <a:spLocks xmlns:a="http://schemas.openxmlformats.org/drawingml/2006/main" noGrp="1"/>
          </p:cNvSpPr>
          <p:nvPr/>
        </p:nvSpPr>
        <p:spPr>
          <a:xfrm xmlns:a="http://schemas.openxmlformats.org/drawingml/2006/main">
            <a:off x="762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a:t>
            </a:r>
          </a:p>
        </p:txBody>
      </p:sp>
      <p:sp>
        <p:nvSpPr>
          <p:cNvPr id="12" name="vision 지침은 별도로 찾아 읽기">
            <a:extLst xmlns:a="http://schemas.openxmlformats.org/drawingml/2006/main">
              <a:ext uri="{FF2B5EF4-FFF2-40B4-BE49-F238E27FC236}">
                <a16:creationId xmlns:a16="http://schemas.microsoft.com/office/drawing/2014/main" id="{9A9CA466-B210-4014-8955-038697E57FF7}"/>
              </a:ext>
            </a:extLst>
          </p:cNvPr>
          <p:cNvSpPr>
            <a:spLocks xmlns:a="http://schemas.openxmlformats.org/drawingml/2006/main" noGrp="1"/>
          </p:cNvSpPr>
          <p:nvPr/>
        </p:nvSpPr>
        <p:spPr>
          <a:xfrm xmlns:a="http://schemas.openxmlformats.org/drawingml/2006/main">
            <a:off x="609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vision 지침은 별도로 찾아 읽기</a:t>
            </a:r>
          </a:p>
        </p:txBody>
      </p:sp>
      <p:sp>
        <p:nvSpPr>
          <p:cNvPr id="13" name="작업 폴더에서 시작">
            <a:extLst xmlns:a="http://schemas.openxmlformats.org/drawingml/2006/main">
              <a:ext uri="{FF2B5EF4-FFF2-40B4-BE49-F238E27FC236}">
                <a16:creationId xmlns:a16="http://schemas.microsoft.com/office/drawing/2014/main" id="{A944C6B2-93D1-4672-A416-4A069DF214E4}"/>
              </a:ext>
            </a:extLst>
          </p:cNvPr>
          <p:cNvSpPr>
            <a:spLocks xmlns:a="http://schemas.openxmlformats.org/drawingml/2006/main" noGrp="1"/>
          </p:cNvSpPr>
          <p:nvPr/>
        </p:nvSpPr>
        <p:spPr>
          <a:xfrm xmlns:a="http://schemas.openxmlformats.org/drawingml/2006/main">
            <a:off x="6324600" y="2305050"/>
            <a:ext cx="525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폴더에서 시작</a:t>
            </a:r>
          </a:p>
        </p:txBody>
      </p:sp>
      <p:sp>
        <p:nvSpPr>
          <p:cNvPr id="14" name="inspection/src/vision/">
            <a:extLst xmlns:a="http://schemas.openxmlformats.org/drawingml/2006/main">
              <a:ext uri="{FF2B5EF4-FFF2-40B4-BE49-F238E27FC236}">
                <a16:creationId xmlns:a16="http://schemas.microsoft.com/office/drawing/2014/main" id="{7843567F-BF23-4CF3-9C46-29BFFD2914CA}"/>
              </a:ext>
            </a:extLst>
          </p:cNvPr>
          <p:cNvSpPr>
            <a:spLocks xmlns:a="http://schemas.openxmlformats.org/drawingml/2006/main" noGrp="1"/>
          </p:cNvSpPr>
          <p:nvPr/>
        </p:nvSpPr>
        <p:spPr>
          <a:xfrm xmlns:a="http://schemas.openxmlformats.org/drawingml/2006/main">
            <a:off x="6324600" y="2733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inspection/src/vision/</a:t>
            </a:r>
          </a:p>
        </p:txBody>
      </p:sp>
      <p:sp>
        <p:nvSpPr>
          <p:cNvPr id="15" name="">
            <a:extLst xmlns:a="http://schemas.openxmlformats.org/drawingml/2006/main">
              <a:ext uri="{FF2B5EF4-FFF2-40B4-BE49-F238E27FC236}">
                <a16:creationId xmlns:a16="http://schemas.microsoft.com/office/drawing/2014/main" id="{242381F2-1FA1-4029-A504-B4085A595035}"/>
              </a:ext>
            </a:extLst>
          </p:cNvPr>
          <p:cNvSpPr>
            <a:spLocks xmlns:a="http://schemas.openxmlformats.org/drawingml/2006/main" noGrp="1"/>
          </p:cNvSpPr>
          <p:nvPr/>
        </p:nvSpPr>
        <p:spPr>
          <a:xfrm xmlns:a="http://schemas.openxmlformats.org/drawingml/2006/main">
            <a:off x="6324600" y="3181350"/>
            <a:ext cx="5257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개인 기본값  →  루트  →  vision">
            <a:extLst xmlns:a="http://schemas.openxmlformats.org/drawingml/2006/main">
              <a:ext uri="{FF2B5EF4-FFF2-40B4-BE49-F238E27FC236}">
                <a16:creationId xmlns:a16="http://schemas.microsoft.com/office/drawing/2014/main" id="{7D61B439-721F-4A34-BEBA-F8575D96C46E}"/>
              </a:ext>
            </a:extLst>
          </p:cNvPr>
          <p:cNvSpPr>
            <a:spLocks xmlns:a="http://schemas.openxmlformats.org/drawingml/2006/main" noGrp="1"/>
          </p:cNvSpPr>
          <p:nvPr/>
        </p:nvSpPr>
        <p:spPr>
          <a:xfrm xmlns:a="http://schemas.openxmlformats.org/drawingml/2006/main">
            <a:off x="6477000" y="3305175"/>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개인 기본값  →  루트  →  vision</a:t>
            </a:r>
          </a:p>
        </p:txBody>
      </p:sp>
      <p:sp>
        <p:nvSpPr>
          <p:cNvPr id="17" name="시작 경로의 vision 지침까지 수집">
            <a:extLst xmlns:a="http://schemas.openxmlformats.org/drawingml/2006/main">
              <a:ext uri="{FF2B5EF4-FFF2-40B4-BE49-F238E27FC236}">
                <a16:creationId xmlns:a16="http://schemas.microsoft.com/office/drawing/2014/main" id="{CC88A27D-19B4-44DB-A61F-D6FBA9883427}"/>
              </a:ext>
            </a:extLst>
          </p:cNvPr>
          <p:cNvSpPr>
            <a:spLocks xmlns:a="http://schemas.openxmlformats.org/drawingml/2006/main" noGrp="1"/>
          </p:cNvSpPr>
          <p:nvPr/>
        </p:nvSpPr>
        <p:spPr>
          <a:xfrm xmlns:a="http://schemas.openxmlformats.org/drawingml/2006/main">
            <a:off x="6324600" y="3876675"/>
            <a:ext cx="5257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시작 경로의 vision 지침까지 수집</a:t>
            </a:r>
          </a:p>
        </p:txBody>
      </p:sp>
      <p:sp>
        <p:nvSpPr>
          <p:cNvPr id="18" name="변경 전에, 작업 폴더의 지침까지 확인하도록 요청">
            <a:extLst xmlns:a="http://schemas.openxmlformats.org/drawingml/2006/main">
              <a:ext uri="{FF2B5EF4-FFF2-40B4-BE49-F238E27FC236}">
                <a16:creationId xmlns:a16="http://schemas.microsoft.com/office/drawing/2014/main" id="{554CEC6C-47D6-4D2D-94C8-F23060D2D778}"/>
              </a:ext>
            </a:extLst>
          </p:cNvPr>
          <p:cNvSpPr>
            <a:spLocks xmlns:a="http://schemas.openxmlformats.org/drawingml/2006/main" noGrp="1"/>
          </p:cNvSpPr>
          <p:nvPr/>
        </p:nvSpPr>
        <p:spPr>
          <a:xfrm xmlns:a="http://schemas.openxmlformats.org/drawingml/2006/main">
            <a:off x="609600" y="43434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전에, 작업 폴더의 지침까지 확인하도록 요청</a:t>
            </a:r>
          </a:p>
        </p:txBody>
      </p:sp>
      <p:sp>
        <p:nvSpPr>
          <p:cNvPr id="19" name="">
            <a:extLst xmlns:a="http://schemas.openxmlformats.org/drawingml/2006/main">
              <a:ext uri="{FF2B5EF4-FFF2-40B4-BE49-F238E27FC236}">
                <a16:creationId xmlns:a16="http://schemas.microsoft.com/office/drawing/2014/main" id="{568006CC-FBF8-4FB0-BAA0-AAA37CEC94CC}"/>
              </a:ext>
            </a:extLst>
          </p:cNvPr>
          <p:cNvSpPr>
            <a:spLocks xmlns:a="http://schemas.openxmlformats.org/drawingml/2006/main" noGrp="1"/>
          </p:cNvSpPr>
          <p:nvPr/>
        </p:nvSpPr>
        <p:spPr>
          <a:xfrm xmlns:a="http://schemas.openxmlformats.org/drawingml/2006/main">
            <a:off x="609600" y="4772025"/>
            <a:ext cx="10972800" cy="762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수정 전에 적용할 AGENTS.md의 경로와 핵심 규칙을 확인해줘.&#10;공통 규칙과 모듈별 규칙을 구분해줘.">
            <a:extLst xmlns:a="http://schemas.openxmlformats.org/drawingml/2006/main">
              <a:ext uri="{FF2B5EF4-FFF2-40B4-BE49-F238E27FC236}">
                <a16:creationId xmlns:a16="http://schemas.microsoft.com/office/drawing/2014/main" id="{23BAE5FC-F345-4845-B463-FD59DDF17A70}"/>
              </a:ext>
            </a:extLst>
          </p:cNvPr>
          <p:cNvSpPr>
            <a:spLocks xmlns:a="http://schemas.openxmlformats.org/drawingml/2006/main" noGrp="1"/>
          </p:cNvSpPr>
          <p:nvPr/>
        </p:nvSpPr>
        <p:spPr>
          <a:xfrm xmlns:a="http://schemas.openxmlformats.org/drawingml/2006/main">
            <a:off x="800100" y="4867275"/>
            <a:ext cx="10591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수정 전에 적용할 AGENTS.md의 경로와 핵심 규칙을 확인해줘.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공통 규칙과 모듈별 규칙을 구분해줘.</a:t>
            </a:r>
          </a:p>
        </p:txBody>
      </p:sp>
      <p:sp>
        <p:nvSpPr>
          <p:cNvPr id="21" name="">
            <a:extLst xmlns:a="http://schemas.openxmlformats.org/drawingml/2006/main">
              <a:ext uri="{FF2B5EF4-FFF2-40B4-BE49-F238E27FC236}">
                <a16:creationId xmlns:a16="http://schemas.microsoft.com/office/drawing/2014/main" id="{332E22B6-3C6B-4182-B7F0-6E4A5153788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3936A8F9-7B44-4D30-AB98-A077F2E1423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3" name="Legacy module connection">
            <a:extLst xmlns:a="http://schemas.openxmlformats.org/drawingml/2006/main">
              <a:ext uri="{FF2B5EF4-FFF2-40B4-BE49-F238E27FC236}">
                <a16:creationId xmlns:a16="http://schemas.microsoft.com/office/drawing/2014/main" id="{EF982498-02A8-488D-AED9-119C03A245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48096523"/>
      </p:ext>
    </p:extLst>
  </p:cSld>
</p:sld>
</file>

<file path=ppt/slides/slide5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2879E659-570D-4018-95A4-5AA618B1C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8">
            <a:extLst xmlns:a="http://schemas.openxmlformats.org/drawingml/2006/main">
              <a:ext uri="{FF2B5EF4-FFF2-40B4-BE49-F238E27FC236}">
                <a16:creationId xmlns:a16="http://schemas.microsoft.com/office/drawing/2014/main" id="{07A9D256-59C0-43AA-BEA2-26085CD239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지식은 정리됐지만 절차는 반복된다">
            <a:extLst xmlns:a="http://schemas.openxmlformats.org/drawingml/2006/main">
              <a:ext uri="{FF2B5EF4-FFF2-40B4-BE49-F238E27FC236}">
                <a16:creationId xmlns:a16="http://schemas.microsoft.com/office/drawing/2014/main" id="{281CD27F-0E02-4C20-9A66-841EE5ECC1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72E31CA1-F359-4BE6-B635-C98D47CB33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68C648E9-130B-4490-9ADF-14F0EC932F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F45C4DA2-0006-439C-9364-3640B4DFBD56}"/>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DC844F15-2D47-42A4-9D4A-46209641EA81}"/>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EEA145EB-59E1-4C99-A236-1DB7C266D673}"/>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41C960D2-93A4-4191-BFC2-F477216A4C53}"/>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C19F687-CC36-4454-8834-292A3ABF808D}"/>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B966C2DE-4F4D-40AE-89B1-CE1A473663F0}"/>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1DF17779-2A10-442F-8E11-390DD75B7EFC}"/>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BA4EEA35-C46E-40EA-B560-878DC2A5CE6D}"/>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B0B9AAC9-0C98-48B2-9B5F-E3BA676F837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7EC0DD9F-90D1-4512-A592-2E9A2EE6305A}"/>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45B443C3-3939-44DB-B0A5-D8640BBCCCA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42CCBA0A-030E-4DE9-A12B-7CF3E243DE0A}"/>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04F6C3B7-77FE-4F7C-8B44-9CE8F5367278}"/>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5BC6299B-1AD1-4E14-A4FE-8033B5A4F8A1}"/>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DD560F0C-4A71-4B0F-8074-9E5C6E97110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453051C-72FD-4849-9898-80EEC7CF2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78637359"/>
      </p:ext>
    </p:extLst>
  </p:cSld>
</p:sld>
</file>

<file path=ppt/slides/slide5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76FDF945-F998-4A03-8E1E-2FDBEE4C0535}"/>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9">
            <a:extLst xmlns:a="http://schemas.openxmlformats.org/drawingml/2006/main">
              <a:ext uri="{FF2B5EF4-FFF2-40B4-BE49-F238E27FC236}">
                <a16:creationId xmlns:a16="http://schemas.microsoft.com/office/drawing/2014/main" id="{597CADE5-3732-4FBA-B111-00438520C7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
            <a:extLst xmlns:a="http://schemas.openxmlformats.org/drawingml/2006/main">
              <a:ext uri="{FF2B5EF4-FFF2-40B4-BE49-F238E27FC236}">
                <a16:creationId xmlns:a16="http://schemas.microsoft.com/office/drawing/2014/main" id="{50E97F0E-FB92-4B5C-89BB-0026BA781259}"/>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FB55889E-E67B-4469-AC7E-B2AE362927F4}"/>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A31F2A69-DD37-4608-8C7D-18C4F1E77419}"/>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FC54E3A0-9BEA-48AC-856B-B7CC14EF420B}"/>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7EE85F9-6C55-4E99-911B-DC75D32DBF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48333680"/>
      </p:ext>
    </p:extLst>
  </p:cSld>
</p:sld>
</file>

<file path=ppt/slides/slide6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66140A63-32E2-4129-B1BC-1591921B24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60">
            <a:extLst xmlns:a="http://schemas.openxmlformats.org/drawingml/2006/main">
              <a:ext uri="{FF2B5EF4-FFF2-40B4-BE49-F238E27FC236}">
                <a16:creationId xmlns:a16="http://schemas.microsoft.com/office/drawing/2014/main" id="{F307176B-DCA3-4ACC-AD80-427232DAA5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두 실제 요청에 같은 절차가 반복됐다">
            <a:extLst xmlns:a="http://schemas.openxmlformats.org/drawingml/2006/main">
              <a:ext uri="{FF2B5EF4-FFF2-40B4-BE49-F238E27FC236}">
                <a16:creationId xmlns:a16="http://schemas.microsoft.com/office/drawing/2014/main" id="{4A88C5B9-BE5D-4B45-872F-CCBFDE4443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DBF387A7-1D6E-4B41-AD68-C3BFBC9B75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7506EFE-35A3-460F-8CE5-E77A53E303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요청 발췌·요약</a:t>
            </a:r>
          </a:p>
        </p:txBody>
      </p:sp>
      <p:pic>
        <p:nvPicPr>
          <p:cNvPr id="7" name="">
            <a:extLst xmlns:a="http://schemas.openxmlformats.org/drawingml/2006/main">
              <a:ext uri="{FF2B5EF4-FFF2-40B4-BE49-F238E27FC236}">
                <a16:creationId xmlns:a16="http://schemas.microsoft.com/office/drawing/2014/main" id="{AE8796F5-9D55-42D8-BC1F-1E1DED68F707}"/>
              </a:ext>
            </a:extLst>
          </p:cNvPr>
          <p:cNvPicPr>
            <a:picLocks xmlns:a="http://schemas.openxmlformats.org/drawingml/2006/main" noChangeAspect="1"/>
          </p:cNvPicPr>
          <p:nvPr/>
        </p:nvPicPr>
        <p:blipFill>
          <a:blip xmlns:r="http://schemas.openxmlformats.org/officeDocument/2006/relationships" xmlns:a="http://schemas.openxmlformats.org/drawingml/2006/main" r:embed="R2d4c45c5b4fd41f7"/>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890C98C0-D47E-44D3-8B5E-29B62D81E513}"/>
              </a:ext>
            </a:extLst>
          </p:cNvPr>
          <p:cNvPicPr>
            <a:picLocks xmlns:a="http://schemas.openxmlformats.org/drawingml/2006/main" noChangeAspect="1"/>
          </p:cNvPicPr>
          <p:nvPr/>
        </p:nvPicPr>
        <p:blipFill>
          <a:blip xmlns:r="http://schemas.openxmlformats.org/officeDocument/2006/relationships" xmlns:a="http://schemas.openxmlformats.org/drawingml/2006/main" r:embed="Rc08951a4c1184da2"/>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9547894B-9663-4AB4-806D-A94A7B3C904B}"/>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E8AC26D4-A2AB-4948-86F4-4CB93A023DA4}"/>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C08D40C-F6E5-4361-98A9-9F2C6BAA6CA8}"/>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7F8EBC24-A403-4B45-9980-0A7565F8C473}"/>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34689B92-B335-4562-8712-D9DDCC4A2A5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38BC5EDC-A38E-45B6-878E-756CDCE95932}"/>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2EC3744C-AE67-4AC9-B83F-0F65DE3F4783}"/>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36BA1D14-C9BF-46DF-94D3-343FACB8B7A7}"/>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B3B98B9-C209-4938-AC05-C3365F2959C0}"/>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ED548C8A-A368-4A83-B1C9-CDE10E8D459D}"/>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A77C8AAC-6E31-48BE-A722-3772953EE679}"/>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440DD9A7-8C57-48F0-8240-A0F9050BA886}"/>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78FD0C6D-3BF1-4777-BBDD-87B072B6EEDC}"/>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882905AF-2313-4A61-AB93-39241E16A72B}"/>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2CB7F355-AA48-4B20-BEC9-391060DC463B}"/>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AEC767F9-4CF7-4627-81F8-BE0478A1CCEF}"/>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C3C047A-995E-4B9B-BE2D-4F6725D15E30}"/>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FDAC077D-4141-46D6-B97A-EB829C1C3F01}"/>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8A8573DC-4BE9-4D5B-BD38-4509DD19838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DF0EC9B8-279F-48FF-952F-22084D09C0A4}"/>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8AB86D94-0F25-45AD-9480-DB106790FBB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351621DA-F7F4-4888-9D34-29BAFCDBAFD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2A842672-43FB-49CE-B5B3-FA0C84103728}"/>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37E2247F-AA30-4E47-86A4-A0AC6C48519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0C79E17-3723-4FD6-AEFA-1FAEDB95BC29}"/>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53C65F8F-4416-4C1B-A68B-27FB2E8F54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71145654"/>
      </p:ext>
    </p:extLst>
  </p:cSld>
</p:sld>
</file>

<file path=ppt/slides/slide6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0DD99070-6F77-4626-B196-27ECBED225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61">
            <a:extLst xmlns:a="http://schemas.openxmlformats.org/drawingml/2006/main">
              <a:ext uri="{FF2B5EF4-FFF2-40B4-BE49-F238E27FC236}">
                <a16:creationId xmlns:a16="http://schemas.microsoft.com/office/drawing/2014/main" id="{9FD9DABF-9418-4E74-8D1A-3EB54DA4B8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테스트 명령을 언제 쓰고 무엇을 판단할까?">
            <a:extLst xmlns:a="http://schemas.openxmlformats.org/drawingml/2006/main">
              <a:ext uri="{FF2B5EF4-FFF2-40B4-BE49-F238E27FC236}">
                <a16:creationId xmlns:a16="http://schemas.microsoft.com/office/drawing/2014/main" id="{A4B61CC0-9DD0-401C-BDD4-EF8B6C88BE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0D2D9622-10EE-4DEF-B833-CC4A769B566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5DC46F8-50B3-4ACF-9FDF-BCB5B229CC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수행 방법 예시 · AGENTS.md에 기록할 수도 있음</a:t>
            </a:r>
          </a:p>
        </p:txBody>
      </p:sp>
      <p:sp>
        <p:nvSpPr>
          <p:cNvPr id="7" name="예시: normalize 성능 조사">
            <a:extLst xmlns:a="http://schemas.openxmlformats.org/drawingml/2006/main">
              <a:ext uri="{FF2B5EF4-FFF2-40B4-BE49-F238E27FC236}">
                <a16:creationId xmlns:a16="http://schemas.microsoft.com/office/drawing/2014/main" id="{8800183B-2FD0-4066-AB79-22932EB8656A}"/>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BDEC480D-10A5-4660-B3B2-707C8BA943F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B874A498-6EEE-4FB7-86E5-EF10A6BCE8E3}"/>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664F57C1-B30B-4975-93CC-7F7AE7D22BEE}"/>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1D1A8C8E-0334-480A-A04D-33CCB2AE4ECD}"/>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47D13DA-ED6C-4FB2-85BC-BC69E41AB3EB}"/>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AE903A09-A2C9-4BE0-9496-A50FBD2B0A06}"/>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DDDEC28A-9E1A-4C4B-B7D3-925EBFAF50C3}"/>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3B942EB3-C88F-4A79-9188-187F825A6498}"/>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D213AFB1-35C8-450A-BDFF-3BEE214299BC}"/>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A21361AA-5729-46AF-B6C4-E2437A5690E9}"/>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4FA21F66-7FFA-45A9-8ADC-FA15989E2499}"/>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F2BF1AE6-072B-4270-8575-FF8A940AD767}"/>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54E17E2C-1CF4-4903-9961-DCA5B52E6664}"/>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E0D12551-2068-46C2-A1E1-785B1B08820E}"/>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5286DF15-EC93-4F8A-8D08-74BA4BFA0146}"/>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12139EA2-33CF-4D25-9DFB-F942DA4B31F7}"/>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7B1F81A-3156-4914-9AEB-F1F40238ACB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BDD375A9-785B-4BAB-B2B8-2D3472C5DD44}"/>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85F0E9E-F707-45D9-B253-510493D7C2D5}"/>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9A4CDF0F-60C3-4333-B901-960852E723FA}"/>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FEBD190-E7FA-44E3-BBAF-300D331084D5}"/>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D89E0CC-9D1E-42DA-A8D8-B0A9ED18DF12}"/>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44373B4F-B02F-4935-9CCA-DC05A10D60ED}"/>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BD3E6362-590B-49D9-ACC5-8804C0F0899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CA56F0A4-E12C-4FEF-BEF0-03ECBDA3B2A4}"/>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AD0B740-21E3-4184-BBBF-5370876927A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89A57F9F-55BE-47A3-8A65-0A4502633336}"/>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4C08E436-38F8-4883-BCAE-C0FAD8076E77}"/>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55E29830-644E-40F6-B6E7-15B41EE8A962}"/>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9E5F51F3-13B6-4D99-A6D1-C1BA9DE1C34C}"/>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0BF0151-14C4-4700-AC43-6634616AB3E7}"/>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2A94D2AC-998D-4E6A-9A96-8D71AEF22685}"/>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9F8C8C59-9709-40B4-9032-A0DE6BACF94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E6268814-E0F8-4772-8E24-894C60A40478}"/>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B0FCC478-107D-453F-AE9D-3459A596DE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96284792"/>
      </p:ext>
    </p:extLst>
  </p:cSld>
</p:sld>
</file>

<file path=ppt/slides/slide6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4A9E845-85FE-421D-8459-BA2C491DE2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62">
            <a:extLst xmlns:a="http://schemas.openxmlformats.org/drawingml/2006/main">
              <a:ext uri="{FF2B5EF4-FFF2-40B4-BE49-F238E27FC236}">
                <a16:creationId xmlns:a16="http://schemas.microsoft.com/office/drawing/2014/main" id="{2299AACA-D64C-4613-B9DC-47E31FC24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목표·기준·방법을 한 작업에 적용한다">
            <a:extLst xmlns:a="http://schemas.openxmlformats.org/drawingml/2006/main">
              <a:ext uri="{FF2B5EF4-FFF2-40B4-BE49-F238E27FC236}">
                <a16:creationId xmlns:a16="http://schemas.microsoft.com/office/drawing/2014/main" id="{FE12C5D2-9BA5-41B8-9FD2-B90451E7C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497264BC-B584-4D05-B90C-04A8060358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24F9271F-7911-4233-81F6-1BA42FC72131}"/>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4084F338-6666-49DE-A65F-A94DC1C8715B}"/>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28BCB7A5-216A-48D2-AEA3-575DEF96D36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4FBCEE5-4EE7-4196-8DB4-B2873A4FC125}"/>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CF9CAC0-3B1E-4F6C-8CAC-82ECC8F5C451}"/>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477F5E56-D1FB-4BA0-97FA-1E56EFFC5F86}"/>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02B1F377-B937-4930-A3F9-5C937BA586E3}"/>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11C6CD09-047A-41F8-AADB-78DE2A10F9CC}"/>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AA395E6-6863-48DF-BA8F-4C772D0B0449}"/>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9A5E97D8-B78A-4096-BF43-AC4F0AB76633}"/>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0952A2F-937C-4930-9E90-7F204B33D49D}"/>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1498F496-9E84-4816-B73B-05CA070229EC}"/>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499070C-CB2E-4EB3-A9C9-903E48C04F6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E51415A6-AA52-4B21-90A9-269F5F90FB43}"/>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3121E8B1-CB5E-49E0-AEC1-900DE2E2C2C4}"/>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10B3736-22B0-408C-8FCA-D55286931CC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99F5732F-BC93-43FE-B0B0-E591ABD88D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3338108"/>
      </p:ext>
    </p:extLst>
  </p:cSld>
</p:sld>
</file>

<file path=ppt/slides/slide6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B7F38D2D-731A-4208-A2BC-195A76CE2D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3">
            <a:extLst xmlns:a="http://schemas.openxmlformats.org/drawingml/2006/main">
              <a:ext uri="{FF2B5EF4-FFF2-40B4-BE49-F238E27FC236}">
                <a16:creationId xmlns:a16="http://schemas.microsoft.com/office/drawing/2014/main" id="{7AF9A04D-F44A-4120-B3D0-0D4CD7F439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반복 절차를 Skill로 모으는 이유">
            <a:extLst xmlns:a="http://schemas.openxmlformats.org/drawingml/2006/main">
              <a:ext uri="{FF2B5EF4-FFF2-40B4-BE49-F238E27FC236}">
                <a16:creationId xmlns:a16="http://schemas.microsoft.com/office/drawing/2014/main" id="{9AF93AD5-4D4D-4FA6-B2CE-5CC4FA4597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67A048EC-D9DC-4FB7-9975-409B2CA7B1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0B7D2AB-4EE4-4527-9850-D76DFFE9FA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Skill로 옮기는 설계안</a:t>
            </a:r>
          </a:p>
        </p:txBody>
      </p:sp>
      <p:sp>
        <p:nvSpPr>
          <p:cNvPr id="7" name="작업마다 달라지는 요청">
            <a:extLst xmlns:a="http://schemas.openxmlformats.org/drawingml/2006/main">
              <a:ext uri="{FF2B5EF4-FFF2-40B4-BE49-F238E27FC236}">
                <a16:creationId xmlns:a16="http://schemas.microsoft.com/office/drawing/2014/main" id="{E1D58F5B-8FC7-4894-AF8C-CB3DC83E5CE7}"/>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A6B28CC1-E04C-47D6-AC94-22223BC6ECF8}"/>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16213D67-ED65-425D-B8D1-8023EA7B191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B42F91A7-57D5-4155-94D5-E463D796FAF6}"/>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175F1985-4529-48E7-B321-6B909E9E85EB}"/>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CA243A46-2193-44F0-8808-7650F1388B97}"/>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D2771DA3-D597-458F-8F95-E973CE7F6347}"/>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19D16331-626D-4FB8-9EE8-6B7346C299A1}"/>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01B36FFB-D717-4980-96C6-946896C51723}"/>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8D655B1C-0D04-47CD-B187-0FF41B4101B0}"/>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19915AA-342E-40E8-9C0E-D0FB71DD8793}"/>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CD91E784-C50B-4D22-88A8-17C0F28FA5D2}"/>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FDBE12B2-F92C-42E2-AB5C-B4D77E2E9197}"/>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34D6CC6D-A057-48A2-ABFB-62A33C8ACE8F}"/>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76304955-9999-4AE9-82CE-1AEBAE398CFC}"/>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55FE8DC3-3E53-4405-AA6D-C186854ED629}"/>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CEDD2EC-7DB1-4F59-8A82-84B6F2B5C474}"/>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E34AE661-58F5-49CE-8E61-30349DAABA83}"/>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4DF3EC3D-DDB6-4CBF-9925-69920C123D26}"/>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78C25316-088C-4CF1-B8ED-4C273678334B}"/>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C3D5D752-B13B-4B3E-9107-D22B40AB95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8817312"/>
      </p:ext>
    </p:extLst>
  </p:cSld>
</p:sld>
</file>

<file path=ppt/slides/slide6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EFC6D37D-8515-404C-B72A-3269F84D4E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4">
            <a:extLst xmlns:a="http://schemas.openxmlformats.org/drawingml/2006/main">
              <a:ext uri="{FF2B5EF4-FFF2-40B4-BE49-F238E27FC236}">
                <a16:creationId xmlns:a16="http://schemas.microsoft.com/office/drawing/2014/main" id="{E40D3E62-D475-4CCF-A69A-302D7395F6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Skill 발견·호출·본문 포함의 근거">
            <a:extLst xmlns:a="http://schemas.openxmlformats.org/drawingml/2006/main">
              <a:ext uri="{FF2B5EF4-FFF2-40B4-BE49-F238E27FC236}">
                <a16:creationId xmlns:a16="http://schemas.microsoft.com/office/drawing/2014/main" id="{DD45C5C1-FAC4-40BA-B8CE-B299C231D2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C9EAD92-9838-4746-9366-129265EFDE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DD2D510-6603-42FD-89FE-7BFF4229BF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CLI 기록 · 본문 포함과 실제 수행 근거는 별개</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12476CB-D198-4262-990E-77FC52FCF0E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59841347-F365-4331-8C28-31506E7D0204}"/>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5B6C70EA-6CE3-4E36-A8AE-63A4D847451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3882326F-D587-4629-B81E-AD3A5F0CF880}"/>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8A9EAE34-FC8A-40BF-981B-B2D23DF0B1DE}"/>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86DAC017-C48E-4B59-A0AC-A9D02BBD3BC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A4B739F0-A11A-45BF-BC99-B1652A3F786E}"/>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91A9D475-B71A-47AE-9143-8F977A20B353}"/>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AD0CF447-2854-4C3D-96B2-DE33078CCB8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2BDD96B5-0ACB-40FF-AE4E-AEC64796B90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6C7BCC85-D9BB-4DBD-9897-B76737E4B887}"/>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72ACB12-2275-4E86-A4E4-4B646D10E98D}"/>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417A13A8-27DE-4C0C-A467-706C24680F13}"/>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595B3294-E7D7-47BF-B84D-02E150ED5611}"/>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C6754E-E6CB-4E24-86ED-27BB806348C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B92ED257-0B03-4957-92CB-304B641BE797}"/>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80DC72D3-B513-497A-913A-9089FB08A461}"/>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259EA8EC-810F-4078-8897-4AD6735FCC00}"/>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7C268BEC-B3B9-4EA0-AAD4-D7479D0F63E1}"/>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FF9559BB-4AF6-44ED-AD25-62125B7CAAA2}"/>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339583EE-2E82-4893-B552-FE11472FB881}"/>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6F48E1BF-9366-4A36-9FBD-336FF8486AA6}"/>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2BA8D452-C5EF-4F8F-83C4-7A53E7D2ABD1}"/>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7731DF6F-E8F1-421B-A2B8-39BC57A4B550}"/>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6F72A52-7DC7-4B3C-8DD0-D9E39B55384B}"/>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4FE7B967-FC6D-4808-8C5F-9004412EB1DA}"/>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8CC01F24-160E-46FC-8FC6-3E33F46A60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9698864"/>
      </p:ext>
    </p:extLst>
  </p:cSld>
</p:sld>
</file>

<file path=ppt/slides/slide6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9B66FC3-B634-48CE-A986-6E436DEBC6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5">
            <a:extLst xmlns:a="http://schemas.openxmlformats.org/drawingml/2006/main">
              <a:ext uri="{FF2B5EF4-FFF2-40B4-BE49-F238E27FC236}">
                <a16:creationId xmlns:a16="http://schemas.microsoft.com/office/drawing/2014/main" id="{F9039AB4-DE4C-46BD-9A77-CEA143083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Skill 지침과 실제 작업 기록의 대응">
            <a:extLst xmlns:a="http://schemas.openxmlformats.org/drawingml/2006/main">
              <a:ext uri="{FF2B5EF4-FFF2-40B4-BE49-F238E27FC236}">
                <a16:creationId xmlns:a16="http://schemas.microsoft.com/office/drawing/2014/main" id="{4F3E17E9-DB12-4091-8540-FB22BE1032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07592E62-86C8-4FA3-B5C6-DA6422437EF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C8A2A9E-4A0C-44CA-9C48-64EFBEA31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기록에서 확인한 지침·행동의 대응</a:t>
            </a:r>
          </a:p>
        </p:txBody>
      </p:sp>
      <p:sp>
        <p:nvSpPr>
          <p:cNvPr id="7" name="">
            <a:extLst xmlns:a="http://schemas.openxmlformats.org/drawingml/2006/main">
              <a:ext uri="{FF2B5EF4-FFF2-40B4-BE49-F238E27FC236}">
                <a16:creationId xmlns:a16="http://schemas.microsoft.com/office/drawing/2014/main" id="{31132C16-0768-4613-A093-30790ADE5EB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429BF9FA-7F5D-4517-B78F-6B3166A79745}"/>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84DC20D-59FC-46EA-A17E-65D1919342D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FAC2146F-9AC0-44F4-8C29-641BFEE64113}"/>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C4DA2D7E-286C-488C-84B2-A09F03D0717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72E29B-429C-4C4D-ACEF-BB0B1D15A51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F72D01A-A631-4875-872C-91514A828EE3}"/>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38811BA2-D380-4377-996F-537EA60D5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42251396"/>
      </p:ext>
    </p:extLst>
  </p:cSld>
</p:sld>
</file>

<file path=ppt/slides/slide6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F9B62CB7-20EC-4BB8-80B8-C76ADBA4D6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6">
            <a:extLst xmlns:a="http://schemas.openxmlformats.org/drawingml/2006/main">
              <a:ext uri="{FF2B5EF4-FFF2-40B4-BE49-F238E27FC236}">
                <a16:creationId xmlns:a16="http://schemas.microsoft.com/office/drawing/2014/main" id="{ACFF9D34-4AAC-4260-9E4A-A5114A8D48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대화로 재사용할 Skill 만들기">
            <a:extLst xmlns:a="http://schemas.openxmlformats.org/drawingml/2006/main">
              <a:ext uri="{FF2B5EF4-FFF2-40B4-BE49-F238E27FC236}">
                <a16:creationId xmlns:a16="http://schemas.microsoft.com/office/drawing/2014/main" id="{60EB9611-2976-451F-A102-49D30DF839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168B71E-5CA9-425B-BE08-AA9031AB88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679C9AF-E4E7-45F2-A2AC-790C724703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생성 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B32558BA-50F3-458C-9AF0-B46E84EEE3F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D6557F6-E4B2-4FBE-B92C-E399EF928777}"/>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8E43D014-079A-402C-A5C6-2B0ADDDFB329}"/>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DF4206F9-315B-407C-AD76-BF47923D4D3E}"/>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0993C2CE-6F5E-412A-8875-A6EB346ECC56}"/>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20E66623-B249-43EA-B5A9-1304F9151E84}"/>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42D5849D-9CC1-4D9E-BA93-36867D8D527B}"/>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43DE6467-C236-4B8B-A968-97B166FC7CEF}"/>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F8A2E48-75CC-4A79-BD76-9C04C17588E2}"/>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9900ABE-16B3-4E0B-92D6-826CAED85E9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EA543C96-AEEC-4F12-9908-C083EBE81484}"/>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7E7B1CCD-8199-4696-996E-A1085017D8A9}"/>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C9D40A78-633C-424B-9037-E99C9C8DB846}"/>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F9C8794E-AEF6-4856-8FEA-DF2952558AA4}"/>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1A746076-4570-4B8A-9C5E-906E7B2E804B}"/>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3B390D4D-6614-49B9-935F-92B58BE62AB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4026BAFB-7505-4993-9873-F297976F431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E3E41051-9EF2-4C51-9712-D83C43918B8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5040216"/>
      </p:ext>
    </p:extLst>
  </p:cSld>
</p:sld>
</file>

<file path=ppt/slides/slide6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9BBFB7ED-6786-46CF-9E2C-E6DF88E56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7">
            <a:extLst xmlns:a="http://schemas.openxmlformats.org/drawingml/2006/main">
              <a:ext uri="{FF2B5EF4-FFF2-40B4-BE49-F238E27FC236}">
                <a16:creationId xmlns:a16="http://schemas.microsoft.com/office/drawing/2014/main" id="{F3D50CC8-3CDD-49BD-9700-A69D13AA0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절차는 재사용하고, 답은 근거로 정한다">
            <a:extLst xmlns:a="http://schemas.openxmlformats.org/drawingml/2006/main">
              <a:ext uri="{FF2B5EF4-FFF2-40B4-BE49-F238E27FC236}">
                <a16:creationId xmlns:a16="http://schemas.microsoft.com/office/drawing/2014/main" id="{41704A63-BA01-4D05-B17C-32A79BB3748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F60D2B10-5A92-4729-811D-352104AAA6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CB5A13C7-CD10-4758-9BA9-DC3130876F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절차·판단 예시</a:t>
            </a:r>
          </a:p>
        </p:txBody>
      </p:sp>
      <p:sp>
        <p:nvSpPr>
          <p:cNvPr id="7" name="">
            <a:extLst xmlns:a="http://schemas.openxmlformats.org/drawingml/2006/main">
              <a:ext uri="{FF2B5EF4-FFF2-40B4-BE49-F238E27FC236}">
                <a16:creationId xmlns:a16="http://schemas.microsoft.com/office/drawing/2014/main" id="{22C4A199-5AC6-45A6-8691-A8F21760C261}"/>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3DAD54EA-8DD0-455D-8732-F533BD3A1FAA}"/>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F6A4D39F-5350-4BB2-B5EC-189F90F01357}"/>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ABC7C76D-8AC4-44D6-B75B-A651AD29C569}"/>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7BA79BD-04BE-4677-AAE3-CBA5C754255F}"/>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3DFDEA56-2C67-4B95-9D16-A4DA89753AAC}"/>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E08E1FFF-506B-4058-8021-3196D589016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A9F319B-72AB-4499-960E-EF9E3C66DB34}"/>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2128A5B-E056-4597-AF9E-452388DB4C1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D4A1FCFF-F538-4446-949E-A80320EB14C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19B83420-7EA9-497F-B0F2-47F728899D7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5861555F-4318-4A5B-A40A-FE240B6B309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C7EFC65A-ECB8-4F82-B8A4-D2EEC793C520}"/>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0E08C95-4E9A-4056-98A0-88B6D69A51C4}"/>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257929B0-EF1B-4612-8561-43BD8A8C7CE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169462C4-4CEB-4A98-8B41-D967AD105413}"/>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D3E012DD-8ACB-4E96-AC4D-B29A5AE9AF03}"/>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D025F08C-042A-4A3F-951E-8D9D691CDDD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F2014497-A20D-4BFD-AE25-6E80A40F18C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523E99AF-C3DA-429C-8E19-C0EB6329024D}"/>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7704441D-53DE-42F5-85B8-F26CB5890A4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5E0F0C13-3E10-49D6-ACB8-385D238D8EFE}"/>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E77C4C4-3517-43CC-9675-E0239673F29D}"/>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36214BCB-91A2-412C-8F92-FF280D74FB2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AD39ACF0-56DD-4AA8-B50A-80CB692A53A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840092-2950-4FB2-8938-D630D3F4551A}"/>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C1ED5C28-7390-4C13-A336-AE2C9B75D4E3}"/>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51AB3FF9-944C-47A5-BDE0-BDA42B6B970B}"/>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A02ECEA0-4BDD-4DB4-8D73-86CEE54FC73A}"/>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79ADC721-6FE8-4B08-A19D-C4373907FB07}"/>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F6AD41F4-B0DB-433E-9AD9-0D80088068BE}"/>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2154C034-F443-4746-82E2-D050D44D2F0E}"/>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256620AC-DC41-43DE-95B3-8E4C27705528}"/>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1B582C11-CAD3-4E9C-AC58-6328F2038564}"/>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C3CF5891-D6DC-4C22-AC24-D8D85F869716}"/>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9CCB75F-CD8A-4202-9F98-19748D01652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9AA2B496-6ED4-4BBD-AC29-D62A4C00FF96}"/>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41EEFF2-6CF6-4F73-86F1-C78A68CFC1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630857831"/>
      </p:ext>
    </p:extLst>
  </p:cSld>
</p:sld>
</file>

<file path=ppt/slides/slide6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401412A1-691A-47CA-B99A-8952DF9B43B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8">
            <a:extLst xmlns:a="http://schemas.openxmlformats.org/drawingml/2006/main">
              <a:ext uri="{FF2B5EF4-FFF2-40B4-BE49-F238E27FC236}">
                <a16:creationId xmlns:a16="http://schemas.microsoft.com/office/drawing/2014/main" id="{FF0A1D8A-31C1-4CB5-82A7-076AF09E56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밝기 통계 계산의 성능 개선 후보">
            <a:extLst xmlns:a="http://schemas.openxmlformats.org/drawingml/2006/main">
              <a:ext uri="{FF2B5EF4-FFF2-40B4-BE49-F238E27FC236}">
                <a16:creationId xmlns:a16="http://schemas.microsoft.com/office/drawing/2014/main" id="{E5C64D19-BE29-48CF-9DFF-9CC0D373AD9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1224D68-F43F-47B4-8BE3-32CE9DA587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80B4FF7-F8CD-4B3F-AA88-5879785E59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후보 비교 기록 · Python 할당 피크</a:t>
            </a:r>
          </a:p>
        </p:txBody>
      </p:sp>
      <p:sp>
        <p:nvSpPr>
          <p:cNvPr id="6" name="Audience footer 2">
            <a:extLst xmlns:a="http://schemas.openxmlformats.org/drawingml/2006/main">
              <a:ext uri="{FF2B5EF4-FFF2-40B4-BE49-F238E27FC236}">
                <a16:creationId xmlns:a16="http://schemas.microsoft.com/office/drawing/2014/main" id="{B7052E5D-56AA-4C4D-8358-E53A9491A53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다음 장의 제품 상태 측정과는 별도</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81F3FB23-FDEC-43F5-B360-92BE261470B1}"/>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5C401B45-031B-4C0E-B899-6787D88587C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27A95121-008F-49DF-94B6-750EC23ABD62}"/>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5BCEA046-CC42-411F-BBC3-CF9EE5EB24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50F0409B-B826-4891-8A3D-B696D113A8E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A0CFF2D8-B92A-4355-B4E5-15ED597F2E9D}"/>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5421B106-AC9E-4775-B32C-888C060303FE}"/>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36A75E78-A089-4FF4-B9F7-646EA508F6A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9CFA944-275F-42B3-A4EE-5FEB8FDF6209}"/>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4BDD351-302F-41AD-8A1C-FCF5DC9E3089}"/>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6C334351-649B-48E9-B036-DC8FD3478F69}"/>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BD5B3EC7-387A-4AA3-B6FF-2946C983B2D3}"/>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0EFFECB-8B54-4F1A-9E67-4542DF87F78B}"/>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B5140988-7D83-4686-A8E1-E9E6CB4D1E8C}"/>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E96D37-F8A3-4E95-B45A-096B3011ABA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033D1B51-7B55-4A45-A420-3946882E0BA4}"/>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E5CE60B-21AF-416D-817C-B3928103386C}"/>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5AC8CA9-80FA-4799-8937-23F11B7EF31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7EDA588B-00C9-4B35-97CD-ABD10A902A0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41C0DE9C-CE5A-4393-B33D-271551E2699E}"/>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13FBDD84-A08A-487D-9722-8FCB48A20827}"/>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E0FEA5B7-C05B-416A-94E4-46486354420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7281D37-DD9A-47F4-B9C4-B54CFC490778}"/>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67D33D66-6720-4658-BB21-D46A5B3C51B8}"/>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EB7A4AED-BDE1-4B34-AB21-53F34C58E00F}"/>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B8F362A3-73CF-4113-AA51-53BD0BE55BCF}"/>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D961AF11-A1E3-46FA-AB83-2ADEFC088D3E}"/>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7E28FAE-2A85-4A3A-8BB7-04B4AACC1B97}"/>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D20A9468-EC35-4340-BEE8-B36C6C11B905}"/>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00090083-571E-4FCC-8377-0808867FD06D}"/>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8EAB2B62-0C16-4C09-9FE8-1AF168F41A8E}"/>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11AE3443-CFF5-4CC9-86CF-977432296B7C}"/>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E8ABB43E-B6E0-4B2F-809B-68CF07588CC8}"/>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BA002B3-992C-4F30-9028-D2307611E6AF}"/>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23755317-638F-4344-A3DF-A435FE1DE92F}"/>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A534A7B-861A-46DD-984E-3E736CCC194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DFE1E7CB-F96A-4F10-8321-A676BC55A59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9A615C64-7FEC-4366-9B40-848C16C07B4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FDC305C-D4B1-4C6E-AA4F-747F32DCACF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E1305D0-3627-4C5D-96F3-EC8FB6EFFFC2}"/>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BAFCA403-04FD-4713-BB8D-F4348D82CF12}"/>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66847D47-B670-4DD7-8244-D95F6EFC3DE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1616F22-C073-4CF9-959D-58B29230BBA7}"/>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C294558-C1DD-4D6C-8A0C-FE4C479CBC35}"/>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3E6C6ABC-4A95-4CA4-AF1F-69872DC345D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8FF0BB8-2D70-4849-9A50-CDA3C7D32399}"/>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8DF109EB-3A3D-47E9-9F14-67C1EABE91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D29048A-34F8-4CA1-96F1-0478AA2C6466}"/>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BADCF07E-25C1-4CA8-91AE-4679CC1835CB}"/>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FCB8E34D-EC41-452A-82D2-6218BB48C95B}"/>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C06527A-CD37-45E4-A677-5BEA02B792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217340833"/>
      </p:ext>
    </p:extLst>
  </p:cSld>
</p:sld>
</file>

<file path=ppt/slides/slide6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FE4FBB11-000F-452C-9B67-D9F89C2815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9">
            <a:extLst xmlns:a="http://schemas.openxmlformats.org/drawingml/2006/main">
              <a:ext uri="{FF2B5EF4-FFF2-40B4-BE49-F238E27FC236}">
                <a16:creationId xmlns:a16="http://schemas.microsoft.com/office/drawing/2014/main" id="{EDC1E1E3-2508-4A37-A1B2-8A0B29B365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선택한 변경의 시간·메모리·동작 확인">
            <a:extLst xmlns:a="http://schemas.openxmlformats.org/drawingml/2006/main">
              <a:ext uri="{FF2B5EF4-FFF2-40B4-BE49-F238E27FC236}">
                <a16:creationId xmlns:a16="http://schemas.microsoft.com/office/drawing/2014/main" id="{381585ED-8B61-4E51-8FFD-44E886F70F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794BA8DA-189F-4106-805B-5B493202B1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49F3277-9D03-4098-933C-0D3A5E2CCE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1024×768 합성 입력 · Python 할당 피크(RSS 아님)</a:t>
            </a:r>
          </a:p>
        </p:txBody>
      </p:sp>
      <p:sp>
        <p:nvSpPr>
          <p:cNvPr id="6" name="Audience footer 2">
            <a:extLst xmlns:a="http://schemas.openxmlformats.org/drawingml/2006/main">
              <a:ext uri="{FF2B5EF4-FFF2-40B4-BE49-F238E27FC236}">
                <a16:creationId xmlns:a16="http://schemas.microsoft.com/office/drawing/2014/main" id="{18BEF9E8-8189-4F69-927C-25D4AC0173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해당 코드 변경의 측정 결과 · Harness/Skill 단독 효과는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33BADB37-33B8-4C97-BEA2-4506865EC4E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B400E228-694A-492E-8EFB-0DCB1D35472F}"/>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4D33C459-95C6-4D39-A795-5853D9E14250}"/>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41A67ECC-E595-425B-9F17-16EA8E7C34BE}"/>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47165F2B-C639-4F6F-A0CA-BBECA6E6E8FF}"/>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B6F964-EFCA-4AEA-9341-AD75DFF348D6}"/>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8F615D89-4994-4EAC-AA68-BEF39FFA35B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78C9358C-255D-44A5-9DDF-03D73276470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17f0dc71d73a47f9"/>
          </a:graphicData>
        </a:graphic>
      </p:graphicFrame>
      <p:sp>
        <p:nvSpPr>
          <p:cNvPr id="15" name="Python 할당 피크">
            <a:extLst xmlns:a="http://schemas.openxmlformats.org/drawingml/2006/main">
              <a:ext uri="{FF2B5EF4-FFF2-40B4-BE49-F238E27FC236}">
                <a16:creationId xmlns:a16="http://schemas.microsoft.com/office/drawing/2014/main" id="{FDF272F2-E531-462A-A04C-3962CE848DD2}"/>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BB9F0B16-F71E-4E5D-BDD7-EBC100831D1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9EB85533-D479-417A-8D01-DD10EAD413A7}"/>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4D33053-4B05-4026-A596-97C718B64DFF}"/>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BA26C196-023C-46C1-8A45-09B82EDD3909}"/>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4D33A1B2-5332-414D-AFFE-3326F006BC04}"/>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5BE38118-CC3E-4CF2-BF73-45855E96A9E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88EC86B-A8AF-46A1-BE9A-64A30AD0F397}"/>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FE832705-4F29-42A7-ABB4-190B04B637A0}"/>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BFBC980E-1BD5-4457-B452-EC0C19D38046}"/>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3893C714-40F7-4FDD-804B-B6B68F7E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84906942"/>
      </p:ext>
    </p:extLst>
  </p:cSld>
</p:sld>
</file>

<file path=ppt/slides/slide7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4BD9DE6D-2D3F-48D5-8712-9CD1590784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70">
            <a:extLst xmlns:a="http://schemas.openxmlformats.org/drawingml/2006/main">
              <a:ext uri="{FF2B5EF4-FFF2-40B4-BE49-F238E27FC236}">
                <a16:creationId xmlns:a16="http://schemas.microsoft.com/office/drawing/2014/main" id="{C70056D6-297D-43E2-ACCB-5CFEE0A026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한 Agent 조사와 Subagent 역할 분리">
            <a:extLst xmlns:a="http://schemas.openxmlformats.org/drawingml/2006/main">
              <a:ext uri="{FF2B5EF4-FFF2-40B4-BE49-F238E27FC236}">
                <a16:creationId xmlns:a16="http://schemas.microsoft.com/office/drawing/2014/main" id="{735E063D-B60E-4478-921B-358BAF8D98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B69DF431-8F7D-4B17-9788-B100382940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661F836C-F067-42F8-A0C1-D7602A1F186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분리 예시 · 분담·조정 비용도 고려</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15ACCB1-2840-44E6-9439-7B3A79AF899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A3A6014B-AB94-459B-928A-6E5413CA3F03}"/>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56E7B167-5253-4207-9787-17F4E96235A5}"/>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85B2F9C3-ECCA-4029-93E5-A4A100AD94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85CE60E-9D4D-4EF8-ACB1-671E58AEA1D8}"/>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90C62E24-07E8-470B-981B-CA1E4FC627F0}"/>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0066802-8F08-48F5-8CFF-9AA5BCEE78A3}"/>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6FB59605-0777-4B8A-8E32-E80C0D2BCA1B}"/>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52E44BCB-B9A9-4D78-B592-D4C3E3E655B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78133EF6-F41F-4B56-BF72-8A2279DA34BD}"/>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3260AB30-808D-48F5-B092-814BE60BF8B0}"/>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B9B97B7-FDA1-4264-A491-6807F13C6DD4}"/>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436203C2-B027-43D0-8594-572C7FC97D2E}"/>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916C86CB-E2AA-4B0F-85DA-1FA050011452}"/>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DD0BFCD4-FEA7-4C1C-9232-DECC2F65EEFF}"/>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B050B37D-3C00-4741-8F97-2F2674DE630E}"/>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D4CF198-A28A-4239-AA0D-98A38AC25CCD}"/>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2235956-2338-4541-B522-241F7E912ED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77908F1E-9722-4409-A473-AE0001C9DC1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0CD16A26-4463-44C1-9FA3-03B86B881A07}"/>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55E3D6D1-51DE-4774-95A3-3EA59B4A50E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C34D9DE-C5E4-43C7-BC46-CF0C5A88F57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95D6462-928F-48C7-B4A0-503E5A0CEA85}"/>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2E21915C-0FB8-4983-8A42-0A79BF134CDB}"/>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72D35FD9-164B-4F97-8D8F-007CDA16E2A8}"/>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19490FED-D490-4019-98FE-5ACD009299BE}"/>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5A21DDD5-B2D8-46CC-A4BE-8B60206F9B5B}"/>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91DCDB1E-527C-425E-9546-E69AFE64F085}"/>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3ABFCC96-4298-4FB5-91B3-BD1087C2F149}"/>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5F7ECD9C-95F4-4D1D-BD12-E7129D12E813}"/>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98AD22D-15FF-4E09-AA28-382C772ADAC9}"/>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39F4CD8-B0B5-4B8F-AD43-5E70B4534F2C}"/>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8D4A269A-762C-462E-86E4-782F6077C611}"/>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01023DB8-179E-4A41-A2C9-2AA80B8B30D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54C19C45-2212-4706-B79A-6E285C055AA1}"/>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A145A9D6-EE5B-4AC7-85EA-3DDD53E34715}"/>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F1D74A2F-48A7-4133-9CE0-04D1CABC982B}"/>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D61751D-04D1-4F64-9E23-DB41B583942F}"/>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3AB3292A-BF1F-4BE0-A3C1-DD33B9DD7DAD}"/>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2B8AB0F3-86AC-492A-8F6D-9D0D707E0904}"/>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4C64A31F-998E-4929-80FD-A8F81F61F3F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6E713286-F678-433B-8821-8EEBAFAED4CA}"/>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4BE4251D-717E-44E7-85D1-A5BE44A961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62881747"/>
      </p:ext>
    </p:extLst>
  </p:cSld>
</p:sld>
</file>

<file path=ppt/slides/slide7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2736F5C3-A401-4B3B-BA34-555B4A4512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71">
            <a:extLst xmlns:a="http://schemas.openxmlformats.org/drawingml/2006/main">
              <a:ext uri="{FF2B5EF4-FFF2-40B4-BE49-F238E27FC236}">
                <a16:creationId xmlns:a16="http://schemas.microsoft.com/office/drawing/2014/main" id="{F55D787C-0138-4430-B8D6-FBE8CD930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대화로 조사 Agent 만들기">
            <a:extLst xmlns:a="http://schemas.openxmlformats.org/drawingml/2006/main">
              <a:ext uri="{FF2B5EF4-FFF2-40B4-BE49-F238E27FC236}">
                <a16:creationId xmlns:a16="http://schemas.microsoft.com/office/drawing/2014/main" id="{A1FC1346-43AF-4CE9-A3A0-89054304CBE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AAAF58A6-E5B2-448B-A3F3-31909C4E1A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B6711FF5-5A14-4E16-9BB5-48BCF3A8A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설정·사용 예시 · 일회성 분담은 요청, 반복 역할은 설정으로 재사용</a:t>
            </a:r>
          </a:p>
        </p:txBody>
      </p:sp>
      <p:sp>
        <p:nvSpPr>
          <p:cNvPr id="7" name="01  역할을 설명해 생성 요청">
            <a:extLst xmlns:a="http://schemas.openxmlformats.org/drawingml/2006/main">
              <a:ext uri="{FF2B5EF4-FFF2-40B4-BE49-F238E27FC236}">
                <a16:creationId xmlns:a16="http://schemas.microsoft.com/office/drawing/2014/main" id="{A5A053E4-E9B0-48D7-89AF-31590AB80157}"/>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8F93E3C0-8CD3-4559-871D-577E3BF4716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51EF73A0-8290-450B-B911-773AA5DFFFC5}"/>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9AA8A3EB-6C2A-48A1-97AE-61303ED5140C}"/>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B60F5723-F863-48EF-96E0-B89B52F11714}"/>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DF286389-5521-41C2-AA60-C531993D9D8C}"/>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553DAA9D-F06D-4B00-B5C9-0FBAE52AECCC}"/>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DC8705EE-4DBB-42C2-8625-C450D0882AD1}"/>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5AE6E0A-8D1A-43F2-BAA9-49E1F402628A}"/>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95FA93E5-78AD-4485-98CB-C6187708065B}"/>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93D0BF01-CB1F-4BFD-80D3-0B9B31C2216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02DE3A44-5B0D-4A20-88C1-6BADD8A0DCEC}"/>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D54D0A15-888C-4BE0-8F7F-41829B86A953}"/>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3B3B1F95-809D-4D9A-A33A-36F2020DAEB5}"/>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3DFB264D-2E78-4025-B724-A7A6C4519DAE}"/>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C0A1E980-D240-4F09-AECA-22549BF3BAEE}"/>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B6EF923C-913F-4DAA-8CBD-81A84407869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C5576FCD-E846-4A42-A9EB-985800038E0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8230D835-CDA8-49C0-90B1-E3795663D6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7840598"/>
      </p:ext>
    </p:extLst>
  </p:cSld>
</p:sld>
</file>

<file path=ppt/slides/slide7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D560D8E1-C5ED-4661-AF51-FC382CC4C4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72">
            <a:extLst xmlns:a="http://schemas.openxmlformats.org/drawingml/2006/main">
              <a:ext uri="{FF2B5EF4-FFF2-40B4-BE49-F238E27FC236}">
                <a16:creationId xmlns:a16="http://schemas.microsoft.com/office/drawing/2014/main" id="{285BBD3C-F5DB-436C-95C5-576D0FBF73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밝기 통계 작업을 나누지 않은 이유">
            <a:extLst xmlns:a="http://schemas.openxmlformats.org/drawingml/2006/main">
              <a:ext uri="{FF2B5EF4-FFF2-40B4-BE49-F238E27FC236}">
                <a16:creationId xmlns:a16="http://schemas.microsoft.com/office/drawing/2014/main" id="{E3864A75-3C79-4904-8AB9-CB96D8DBCB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6592A028-40B8-49F4-96B5-7EE897B715E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C0066C-CEDD-46C5-B540-063DEB65A8C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이 작업에서는 역할 분리를 보류</a:t>
            </a:r>
          </a:p>
        </p:txBody>
      </p:sp>
      <p:sp>
        <p:nvSpPr>
          <p:cNvPr id="7" name="같은 밝기 통계 함수 · 같은 출력 명세">
            <a:extLst xmlns:a="http://schemas.openxmlformats.org/drawingml/2006/main">
              <a:ext uri="{FF2B5EF4-FFF2-40B4-BE49-F238E27FC236}">
                <a16:creationId xmlns:a16="http://schemas.microsoft.com/office/drawing/2014/main" id="{A694BBC2-4C1D-4BB8-8723-244D4C7E5961}"/>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A7879FAA-F4FA-4B4F-8131-423946D25296}"/>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2F9D5283-A22B-408C-9080-99F0BA626B44}"/>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8614E2C9-8B6C-4516-AB65-F7414F276726}"/>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A7673BF-7E56-4A11-9A3A-DB03555A81C0}"/>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459F15CE-CF05-4571-AF27-9C5B55413A66}"/>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D5B9DCF8-9E0D-44AB-9CB2-50B64E1B6AB9}"/>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467E9AD0-B4D9-4EB7-8E65-11D50EE615DE}"/>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94BA0AFD-80B4-479A-ADF3-DC5FFB414748}"/>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3863438-DB65-48CF-A0EF-E4C84663457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C48F31F6-CC97-4C61-9458-21BC307391BF}"/>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1D58036-DBD9-4249-B7C2-290CDF5D4A9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268B049C-6B8B-4AE1-8FFB-DD5AEDE13039}"/>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6BE9AB9E-E13B-4A1F-A237-B98B9913CDDE}"/>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03A05F7B-9258-4FAF-B5F1-39D4319B5C64}"/>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A2492BFB-5F6C-459F-8A88-8B3685C5F9EB}"/>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70A24343-8481-4A5F-ABDC-E9C5C2937D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48182309"/>
      </p:ext>
    </p:extLst>
  </p:cSld>
</p:sld>
</file>

<file path=ppt/slides/slide7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6653B829-263A-4D65-AF31-D103E8D534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3">
            <a:extLst xmlns:a="http://schemas.openxmlformats.org/drawingml/2006/main">
              <a:ext uri="{FF2B5EF4-FFF2-40B4-BE49-F238E27FC236}">
                <a16:creationId xmlns:a16="http://schemas.microsoft.com/office/drawing/2014/main" id="{A3013808-7A74-4D93-A20B-56196DBD12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이번 Context와 다시 쓸 지식">
            <a:extLst xmlns:a="http://schemas.openxmlformats.org/drawingml/2006/main">
              <a:ext uri="{FF2B5EF4-FFF2-40B4-BE49-F238E27FC236}">
                <a16:creationId xmlns:a16="http://schemas.microsoft.com/office/drawing/2014/main" id="{8C658B73-CADB-4DC8-8C47-C4352FD813A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96D6ADF6-382B-47EC-9935-318CD266D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AE2A792-9713-49C8-B914-B650B63159A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재사용할 지식의 예시</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52332F68-64E8-4115-9535-ADC6239DAD95}"/>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5C855B7-2793-4881-8CA2-D482C79F78D0}"/>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E4E9430-D1B5-4D59-8568-1CA983456DFA}"/>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4B66D3B0-041E-4941-B709-D271D8298BC0}"/>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3E133D11-898A-47B8-8EB8-E724EDD8324C}"/>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7093C0E-F8BE-4F54-89A8-C89EAA8916A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870552FC-AFD3-4E9D-8BE9-466782E81ACD}"/>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EFFB6A6A-74D3-4F8E-A8BA-B411D2DEDEB4}"/>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778F6408-F771-4F52-AC5B-1B60F4C92D6C}"/>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BCE8BFE1-4385-4230-B8B9-F0D8FE34952B}"/>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12FBD7B1-01F8-46F3-B80B-86898BFA4C69}"/>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1401C070-351C-45CF-8106-2D8ACE69DF8A}"/>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6646B718-B055-471D-9E11-77720349F2F8}"/>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354AEA9-1CE1-4038-AC10-AB34726CCE8D}"/>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3DA6BDC-4762-4334-9CD0-FB6EE5AD4FA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CE8177D2-91D1-4DFF-B1B8-C74A28D00793}"/>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41C75FAF-9943-4C1B-BEE1-5C10D0F2143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2EA34DD4-0B9F-491A-87A7-D57BC686973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58BD855-7A80-4AA6-B613-5915464932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20517436"/>
      </p:ext>
    </p:extLst>
  </p:cSld>
</p:sld>
</file>

<file path=ppt/slides/slide7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427FB0D-B533-469F-9D2A-7BC44B6A334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4">
            <a:extLst xmlns:a="http://schemas.openxmlformats.org/drawingml/2006/main">
              <a:ext uri="{FF2B5EF4-FFF2-40B4-BE49-F238E27FC236}">
                <a16:creationId xmlns:a16="http://schemas.microsoft.com/office/drawing/2014/main" id="{6F68E314-B4CA-4532-B3CA-A392926077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실제 Demo 지식의 원래 출처">
            <a:extLst xmlns:a="http://schemas.openxmlformats.org/drawingml/2006/main">
              <a:ext uri="{FF2B5EF4-FFF2-40B4-BE49-F238E27FC236}">
                <a16:creationId xmlns:a16="http://schemas.microsoft.com/office/drawing/2014/main" id="{1D9C00FF-3E64-4DE5-9F8A-7C01AC9BFD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52D128D9-F5CF-45FF-ACEA-668D711357D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DC825BE3-9B0A-4795-B2D9-6F75C54BA6E4}"/>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EBBB9299-BA67-4DF1-B5E9-DF6BB60A329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AF33FE44-87BA-4618-99A2-7873C1DEC34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A862E024-27B5-4CCD-A8BD-A96332717B0E}"/>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43DA3723-858C-440B-8A2E-6F3F76240DA6}"/>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D021E562-5C9F-4C1E-9FCE-39017778597C}"/>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14B880D2-5812-42E0-9AEC-D3AB00B08AB8}"/>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16C049D9-0E94-4024-A206-ADA769D4B4C4}"/>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DD5748F1-ACDA-4B6E-8D27-E4C05BA19286}"/>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D258D2FA-51C1-4DFB-A221-7B24384B75D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4E174D08-9107-4B50-9771-9D81E472094A}"/>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9188340-2847-4DD2-A52A-3867128E9502}"/>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B6A6B46-D18A-4162-B779-0C0F98171C4A}"/>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893D4A2B-2676-4C74-BDCC-E9A2A1C1E099}"/>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CBA86110-EBD4-428A-8714-A6219366687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89AFCDC7-65CF-409A-B9E7-12DC180A458D}"/>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01D0260-9E37-42B4-9F8D-F0435EE57283}"/>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F61643D5-3A5C-4A83-B7AB-7758D1020183}"/>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AE2674B6-A93F-4160-9956-1326D58AEC0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532ABDF5-0B77-4531-8CF0-D7637EE24312}"/>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6A596CB1-CFD0-4935-9893-006CF3077167}"/>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1E6E42D0-C5BC-422D-A3D1-1AA6BA897E69}"/>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13AECF63-7BF0-4949-BA4F-D38026A57F83}"/>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607B05F9-384C-4DA4-A970-6BF6778FFF0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EE172154-2E68-4F2D-928D-94E7FD86E771}"/>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0C717BCC-E17D-40FB-BDB8-60C01585F71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3A63EE1-4277-42D2-B525-2D703C43BD4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89E079F4-37E3-4494-B046-18038ACFC10C}"/>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1CCF068B-477F-4A9C-B22B-707593D1B9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0653835"/>
      </p:ext>
    </p:extLst>
  </p:cSld>
</p:sld>
</file>

<file path=ppt/slides/slide7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A7A4DF7C-C67F-4F25-BD7B-7D3312D374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5">
            <a:extLst xmlns:a="http://schemas.openxmlformats.org/drawingml/2006/main">
              <a:ext uri="{FF2B5EF4-FFF2-40B4-BE49-F238E27FC236}">
                <a16:creationId xmlns:a16="http://schemas.microsoft.com/office/drawing/2014/main" id="{3CB09357-E9F2-4A25-A69C-D0772D62A2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밝기 통계 작업에 쓰인 구성의 역할">
            <a:extLst xmlns:a="http://schemas.openxmlformats.org/drawingml/2006/main">
              <a:ext uri="{FF2B5EF4-FFF2-40B4-BE49-F238E27FC236}">
                <a16:creationId xmlns:a16="http://schemas.microsoft.com/office/drawing/2014/main" id="{347B36F9-56F2-44E8-952F-BBB1254692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774490D8-4AED-4D5A-9BB5-D65A144D4FA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C06D5C0-8D08-46DF-9F58-17E12DF36BC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실제 구성과 기록의 요약</a:t>
            </a:r>
          </a:p>
        </p:txBody>
      </p:sp>
      <p:sp>
        <p:nvSpPr>
          <p:cNvPr id="7" name="">
            <a:extLst xmlns:a="http://schemas.openxmlformats.org/drawingml/2006/main">
              <a:ext uri="{FF2B5EF4-FFF2-40B4-BE49-F238E27FC236}">
                <a16:creationId xmlns:a16="http://schemas.microsoft.com/office/drawing/2014/main" id="{CBB3EF4C-BE2A-45FE-A1FD-083966D87D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5F697116-A5C7-436B-AC11-A948B1C021C1}"/>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EAB38701-1AC3-40A7-A109-8D9789F8F7B0}"/>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95C0372-BF79-4989-8DE5-89CDD2DA78D8}"/>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0AF59A18-B005-4CA1-BBDA-94130EA6BD8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4464354-F892-4D13-981C-D172251673A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2B630222-CED9-40FF-B882-F807ACEAB547}"/>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9A1A51BE-FB8A-4E10-9CED-64F02088110B}"/>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8A065846-F2CF-4DF2-B7A6-8D5C71ADC206}"/>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E106C011-D128-4F95-B536-8BBE8398F7FA}"/>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C0937319-7BF4-45BD-8156-5A91539387D8}"/>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1F094DF4-A31A-41E5-BFF2-151ADA424B04}"/>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4ED608E1-A3D2-4C63-9B64-61C5DFA5806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0B133F43-ABD7-4162-8A99-9D6FF2C5693E}"/>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1EA086B-03FD-4F2D-B603-CB8F2F9A937B}"/>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C72918B1-1D7A-4D7E-88C3-573B8A30BAE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71685ED3-2398-44DD-B9BD-D0DCB9FE1AB3}"/>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FA578205-C4F4-4C2F-9651-8F185CA3B888}"/>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33F00B5-5710-4A97-927B-2C051E32F022}"/>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353AFCA-E754-4EF4-85BB-379B05653430}"/>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9FC6DC7-0AD8-4800-BB14-E2FCF50DB5F1}"/>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78E9C5E9-9CCB-40E5-AD28-129AB2C747D7}"/>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C0E74C7B-C4FC-44C6-A8B0-7EDDDDF1A2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51245540"/>
      </p:ext>
    </p:extLst>
  </p:cSld>
</p:sld>
</file>

<file path=ppt/slides/slide7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C9C38F5A-FAA0-406E-9C94-FE022AF133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6">
            <a:extLst xmlns:a="http://schemas.openxmlformats.org/drawingml/2006/main">
              <a:ext uri="{FF2B5EF4-FFF2-40B4-BE49-F238E27FC236}">
                <a16:creationId xmlns:a16="http://schemas.microsoft.com/office/drawing/2014/main" id="{62C072DA-0173-45B5-83E2-DDFE2ADCD5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함께 작동하는 작업 환경, Harness">
            <a:extLst xmlns:a="http://schemas.openxmlformats.org/drawingml/2006/main">
              <a:ext uri="{FF2B5EF4-FFF2-40B4-BE49-F238E27FC236}">
                <a16:creationId xmlns:a16="http://schemas.microsoft.com/office/drawing/2014/main" id="{F03D2F03-2D9F-4468-B931-C36D53CA8F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823B5088-683C-48DF-8CF1-3EDA5E8D95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64AA8D2C-729C-4508-846D-964F53731E39}"/>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10C22F17-B97F-4133-8498-97B469E9977B}"/>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649A04D-C8B4-44A9-B681-02B524C43F6B}"/>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D42542D2-CE53-47EB-9F73-06A9FF93307F}"/>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157829D5-3663-4F45-BE2C-2495E3D62145}"/>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75149CFB-D636-44E5-AC13-DBCA579EA89A}"/>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DEDC781E-59FF-47BE-9F80-17BEC0F8DDB5}"/>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1A74094F-530C-4DBE-AE9A-3B740E6A0624}"/>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85A80F0F-2FA7-4DF4-80A8-2AE37A4A22BE}"/>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08E05BE-BAF1-4C95-BB12-C21B8232F453}"/>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8F471E2C-87E5-4B71-9D7C-6AB7C6282650}"/>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CC6889EE-C2B5-4F84-9F15-55B366F660CE}"/>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E3CBB0B-899C-4990-994C-55934C1EDFE0}"/>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3D286BE4-A006-4B6E-826C-E07BD76E4735}"/>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EEC9096-ED7A-42FD-A187-366C2F667DCD}"/>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5756B483-65E9-490E-97B8-0AE98F9E722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F81F4B2-8917-4F8B-8730-7512B7DC48EC}"/>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252BD4C1-4C4A-440B-84A9-25FF0FC964D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D0055665-FA7D-4ED2-AFCA-0B6DF8BDCD89}"/>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BF5C156A-9FD8-4851-BD41-ED3819B881B7}"/>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CB484B5-F4E7-4D59-B91A-E5E6367160A3}"/>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5C6044E3-8CDF-4BDE-BF93-3FE239436E87}"/>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C304739A-D378-4349-B325-BF77B6A0A6D3}"/>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73F21750-ADD8-4245-9138-7843DFFAAE4D}"/>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4A236EFC-E710-41F7-8A16-8B30480EF42C}"/>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4911C273-2F8C-4650-8E24-0EB7412ED010}"/>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86D5143A-A685-4565-AE2D-9506C39339E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1DF1E213-78AC-495A-A631-ED4F0C25155B}"/>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0B3D69BD-043E-4289-9FEF-1499B99ABB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32985662"/>
      </p:ext>
    </p:extLst>
  </p:cSld>
</p:sld>
</file>

<file path=ppt/slides/slide7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FD623A06-AA38-4DD5-813F-E30254E85D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7">
            <a:extLst xmlns:a="http://schemas.openxmlformats.org/drawingml/2006/main">
              <a:ext uri="{FF2B5EF4-FFF2-40B4-BE49-F238E27FC236}">
                <a16:creationId xmlns:a16="http://schemas.microsoft.com/office/drawing/2014/main" id="{7285DF12-B173-44F4-9258-1AEB9C93C3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만든 Harness를 다음 프로젝트의 기반으로">
            <a:extLst xmlns:a="http://schemas.openxmlformats.org/drawingml/2006/main">
              <a:ext uri="{FF2B5EF4-FFF2-40B4-BE49-F238E27FC236}">
                <a16:creationId xmlns:a16="http://schemas.microsoft.com/office/drawing/2014/main" id="{70808EC2-5A35-47FB-9A3F-BD814A699E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19035D09-6881-43C3-9DCE-7BA4859483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DC63DD9-E51F-4FFA-B374-10D48257B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재사용 설계 예시</a:t>
            </a:r>
          </a:p>
        </p:txBody>
      </p:sp>
      <p:sp>
        <p:nvSpPr>
          <p:cNvPr id="7" name="">
            <a:extLst xmlns:a="http://schemas.openxmlformats.org/drawingml/2006/main">
              <a:ext uri="{FF2B5EF4-FFF2-40B4-BE49-F238E27FC236}">
                <a16:creationId xmlns:a16="http://schemas.microsoft.com/office/drawing/2014/main" id="{343B6ADF-84CE-493C-8D74-B7D41049F69F}"/>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08FDA4A8-5DD3-4737-97A2-B7D1400A0E4E}"/>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F7CE78ED-2690-4F10-9320-168533B92C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8FF8D900-06E4-49C1-BB20-A6577B4BD759}"/>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1C48C05C-F37A-4B04-8A51-9C50015802A8}"/>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D4201A7A-E600-4BC7-A33B-A7AE5C7567D4}"/>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54697F5E-A94B-42A2-9A18-1AC9AD6FEB42}"/>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998C3F1-371D-456F-B9D5-BEF9E448A00A}"/>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CDF15D2D-62E5-4415-8DB3-466B081A0CA2}"/>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22E1D68E-191A-4717-9B52-CD5B05911142}"/>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E5A78247-15B8-48E4-9DDB-4CE083F29C32}"/>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8A45E489-3CCF-4B5D-BD3E-94BD7B520D72}"/>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50E044-49F6-4F45-BF6E-23C5B56CAF67}"/>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316F6F42-0AE1-4283-85E7-43B11994AA30}"/>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0701266B-BEA7-4301-B06A-A8614BB767DF}"/>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3A2F2689-803A-4785-839B-4DB6F165728F}"/>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26A2D86E-8B76-4065-89E4-D7EACA938F3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18672945"/>
      </p:ext>
    </p:extLst>
  </p:cSld>
</p:sld>
</file>

<file path=ppt/slides/slide7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FB1A5C25-B008-4DBF-9CC3-CDF5DE4A0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8">
            <a:extLst xmlns:a="http://schemas.openxmlformats.org/drawingml/2006/main">
              <a:ext uri="{FF2B5EF4-FFF2-40B4-BE49-F238E27FC236}">
                <a16:creationId xmlns:a16="http://schemas.microsoft.com/office/drawing/2014/main" id="{42BEF159-D418-4359-B2A2-6060811F8D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공통 기반에 프로젝트 기준을 연결한다">
            <a:extLst xmlns:a="http://schemas.openxmlformats.org/drawingml/2006/main">
              <a:ext uri="{FF2B5EF4-FFF2-40B4-BE49-F238E27FC236}">
                <a16:creationId xmlns:a16="http://schemas.microsoft.com/office/drawing/2014/main" id="{BFC28B3B-1CD4-48FC-89CA-96BFABAD42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C969DB20-F440-40AE-BE5D-D0BEFC1F3A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9E74459E-4CA5-46AC-8D99-C8AF6F7A8A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프로젝트 적용 예시</a:t>
            </a:r>
          </a:p>
        </p:txBody>
      </p:sp>
      <p:sp>
        <p:nvSpPr>
          <p:cNvPr id="7" name="다시 쓰는 기반">
            <a:extLst xmlns:a="http://schemas.openxmlformats.org/drawingml/2006/main">
              <a:ext uri="{FF2B5EF4-FFF2-40B4-BE49-F238E27FC236}">
                <a16:creationId xmlns:a16="http://schemas.microsoft.com/office/drawing/2014/main" id="{C6A03C9B-377E-4AC0-B2CC-C4EB08B9B267}"/>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FA36D2D-8C81-438C-9594-FA2CB66F3CBE}"/>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F8B1B7A6-6B4C-4025-84D7-258AB130EE5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2FFF1CD-EA25-4979-925A-07BC6AC96D29}"/>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13203F14-0642-4DE3-8AFB-48B3F0C1CD9D}"/>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758EE550-18D8-4874-A11B-46525383F671}"/>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D9FF8C80-1B3C-4D4A-BC3C-58B89857D163}"/>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C24E28B0-637E-4582-A5EE-377B90C3251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5E7C622E-1BE1-447A-B512-10156215B4F2}"/>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08BE0AA-911B-4477-B59A-F118EB35DC20}"/>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D2A52999-3F5D-441A-A1B3-ECFE849575D0}"/>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CBBE46E1-5A88-49AD-A725-F83B91E5667B}"/>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01443851-1B71-4E41-90E2-3E9E09CC12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625980"/>
      </p:ext>
    </p:extLst>
  </p:cSld>
</p:sld>
</file>

<file path=ppt/slides/slide7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B680B186-6ED7-4259-9CE7-5AB451762C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9">
            <a:extLst xmlns:a="http://schemas.openxmlformats.org/drawingml/2006/main">
              <a:ext uri="{FF2B5EF4-FFF2-40B4-BE49-F238E27FC236}">
                <a16:creationId xmlns:a16="http://schemas.microsoft.com/office/drawing/2014/main" id="{302ED77E-CAF0-42F6-A8CB-0E722FC59A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AAF2104A-B72F-48B1-8611-3FDA2A37611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CCEB5045-106E-486C-B54A-D87E367E26F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4AE76FF-0BC3-44C4-8C4A-E8286EE94F5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확인 범위: 해당 코드·입력·환경</a:t>
            </a:r>
          </a:p>
        </p:txBody>
      </p:sp>
      <p:sp>
        <p:nvSpPr>
          <p:cNvPr id="7" name="이번 작업에서 확인">
            <a:extLst xmlns:a="http://schemas.openxmlformats.org/drawingml/2006/main">
              <a:ext uri="{FF2B5EF4-FFF2-40B4-BE49-F238E27FC236}">
                <a16:creationId xmlns:a16="http://schemas.microsoft.com/office/drawing/2014/main" id="{6B9960FF-DF77-40C8-8450-F327094E5DE5}"/>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362E2E79-2A51-44BA-B94D-A7C4D685322F}"/>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077FC435-DB65-43A8-B1BE-2D28B3A91E91}"/>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89002DC4-7039-40EE-9931-75B55E0E3A2A}"/>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44D1A57A-CEC5-4A93-AFDA-DD3F1FAE838B}"/>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B4C5DEBB-168D-496D-8717-B4B0B69093F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714CBF86-E76B-4FC1-8247-828F30087B91}"/>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886ECD10-E57C-4DFA-A359-5E6C311908B1}"/>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0E34552F-E475-4817-B7D6-764ABA8CEF46}"/>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095B43DA-A5F8-427C-9803-493D40D69686}"/>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D76A81A5-A45B-46A8-94DC-F5369A2DE7B5}"/>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AE4890FB-3463-4A46-A1CB-4D0B9C4A0B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59620504"/>
      </p:ext>
    </p:extLst>
  </p:cSld>
</p:sld>
</file>

<file path=ppt/slides/slide8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E658BF25-6A22-4878-AAE2-B9ADF3EACD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80">
            <a:extLst xmlns:a="http://schemas.openxmlformats.org/drawingml/2006/main">
              <a:ext uri="{FF2B5EF4-FFF2-40B4-BE49-F238E27FC236}">
                <a16:creationId xmlns:a16="http://schemas.microsoft.com/office/drawing/2014/main" id="{9E3CFD19-5D75-4AFE-AEC4-B3A9669BAC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첫 결과 뒤에도, 확인할 일이 남는다면?">
            <a:extLst xmlns:a="http://schemas.openxmlformats.org/drawingml/2006/main">
              <a:ext uri="{FF2B5EF4-FFF2-40B4-BE49-F238E27FC236}">
                <a16:creationId xmlns:a16="http://schemas.microsoft.com/office/drawing/2014/main" id="{414173E7-A9FB-485B-A748-4121B9913E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6A6DEF3B-13BC-42F7-B070-E75E852FA3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86094D7-4AD7-44E1-BD28-A06FA7FDB3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
            <a:extLst xmlns:a="http://schemas.openxmlformats.org/drawingml/2006/main">
              <a:ext uri="{FF2B5EF4-FFF2-40B4-BE49-F238E27FC236}">
                <a16:creationId xmlns:a16="http://schemas.microsoft.com/office/drawing/2014/main" id="{3E5B7001-2D77-4919-AF30-339776EA5F0E}"/>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CCE8AE9C-E8FB-4C44-9AC5-30B9B01B2CDF}"/>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35E2C484-5290-4D88-8D48-B872779EB94A}"/>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7A972D83-9F6C-435C-9B65-2946BC22A0DC}"/>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F4027BCC-6720-4C5A-801C-EFE5FF8A4687}"/>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BA461D56-C6DD-4F95-8ADF-7ABB01AF1907}"/>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B1775EBD-EE12-4646-983B-E252AEDD9ACC}"/>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37A7B429-DE1C-41AE-939F-0BC87185A8FD}"/>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43A16F6B-74DF-4FAB-BE7C-B95B78B14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37052233"/>
      </p:ext>
    </p:extLst>
  </p:cSld>
</p:sld>
</file>

<file path=ppt/slides/slide8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E4DF76E-7CFC-42F4-9837-5180915AE6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81">
            <a:extLst xmlns:a="http://schemas.openxmlformats.org/drawingml/2006/main">
              <a:ext uri="{FF2B5EF4-FFF2-40B4-BE49-F238E27FC236}">
                <a16:creationId xmlns:a16="http://schemas.microsoft.com/office/drawing/2014/main" id="{0737BF22-8365-473F-A793-7EE4F7CB55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남은 문제를 다음 수정으로 이어주는 사람">
            <a:extLst xmlns:a="http://schemas.openxmlformats.org/drawingml/2006/main">
              <a:ext uri="{FF2B5EF4-FFF2-40B4-BE49-F238E27FC236}">
                <a16:creationId xmlns:a16="http://schemas.microsoft.com/office/drawing/2014/main" id="{BEB437E1-03D8-4ED4-B5FA-7FD3E23F37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73F251B-00B7-41B1-A08E-5DEDBF2194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E2D323A-7202-405C-AD8F-A57BC3639F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상황</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DE08CE40-ED6B-438E-821A-271EEEFA5713}"/>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D950C036-7E62-43C6-BFC4-115923F4364D}"/>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A70E1523-27CC-40AA-963E-A463D5845430}"/>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8B6C8DF3-64B0-4E6B-B880-6245AFB6B66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E79CA7D8-4E6D-4AA6-9B53-D659DD1E2347}"/>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B9B1D9D-A14E-44B5-A4A3-53BC28DD6484}"/>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192CDDD-5CF3-47DC-BFA4-1301D142188E}"/>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F7BF9040-C0A5-4FE9-835D-6B7379D06E38}"/>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DF5C86DF-5595-4F73-98DA-C235CFDED4CF}"/>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7DF8CF4E-D04E-4E1D-AE05-53CF388842C6}"/>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1E228DE3-01CC-438D-9CCB-92D9541BE786}"/>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853D5D14-2750-4D14-816D-A3EEBFC326EC}"/>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F546FDD9-145F-41B1-8F75-7190BDA7DC4E}"/>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8CD6620C-2ACE-40A2-8C5D-E609506117CB}"/>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8442F5C6-1C35-4033-BEFE-CE484954996C}"/>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424747F5-7B0E-46A2-A6C8-DB8FF4A2EB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78822296"/>
      </p:ext>
    </p:extLst>
  </p:cSld>
</p:sld>
</file>

<file path=ppt/slides/slide8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9B461595-C852-4452-A6BA-8814ED017C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82">
            <a:extLst xmlns:a="http://schemas.openxmlformats.org/drawingml/2006/main">
              <a:ext uri="{FF2B5EF4-FFF2-40B4-BE49-F238E27FC236}">
                <a16:creationId xmlns:a16="http://schemas.microsoft.com/office/drawing/2014/main" id="{B2EA40FE-4B96-4575-874F-A80892BD9B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같은 목표의 수정과 검토가 끊기지 않게">
            <a:extLst xmlns:a="http://schemas.openxmlformats.org/drawingml/2006/main">
              <a:ext uri="{FF2B5EF4-FFF2-40B4-BE49-F238E27FC236}">
                <a16:creationId xmlns:a16="http://schemas.microsoft.com/office/drawing/2014/main" id="{EC02874F-BA16-4B65-980E-C2CEFF1A87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0B0DEE65-1C6B-4A2E-9DA9-07BC9D8B33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C325735-6540-443E-B2F8-396ED5376E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반복 운영 설계</a:t>
            </a:r>
          </a:p>
        </p:txBody>
      </p:sp>
      <p:sp>
        <p:nvSpPr>
          <p:cNvPr id="7" name="Harness가 제공하는 것">
            <a:extLst xmlns:a="http://schemas.openxmlformats.org/drawingml/2006/main">
              <a:ext uri="{FF2B5EF4-FFF2-40B4-BE49-F238E27FC236}">
                <a16:creationId xmlns:a16="http://schemas.microsoft.com/office/drawing/2014/main" id="{A042DA6A-6AA5-4424-8DC2-8021751BD4FC}"/>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73EE88B5-8B74-4980-9DFF-7BD35C929247}"/>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4C4CBDFE-B160-493D-877E-9BDD7DF34F12}"/>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C2D6568C-A8FC-44DC-9A82-7C7EBC0AFED3}"/>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30B64B78-5130-4F14-B0F1-BB6353E8A504}"/>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71F2D6A2-EA18-42AA-9898-7BB28EA59B1C}"/>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B42641A7-BC02-4FCB-BE3D-F3D8FFFBC71C}"/>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8D8D382A-29EF-4117-B512-4656D768C3CF}"/>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A37A2ABA-6DA1-4D6E-9EAC-A78449DC6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528729132"/>
      </p:ext>
    </p:extLst>
  </p:cSld>
</p:sld>
</file>

<file path=ppt/slides/slide8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7A8FB18A-484A-4D6D-B6F8-01B60DA13B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3">
            <a:extLst xmlns:a="http://schemas.openxmlformats.org/drawingml/2006/main">
              <a:ext uri="{FF2B5EF4-FFF2-40B4-BE49-F238E27FC236}">
                <a16:creationId xmlns:a16="http://schemas.microsoft.com/office/drawing/2014/main" id="{15E8E386-101C-4716-B443-F454173A41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다음 수정에 넘길 기록">
            <a:extLst xmlns:a="http://schemas.openxmlformats.org/drawingml/2006/main">
              <a:ext uri="{FF2B5EF4-FFF2-40B4-BE49-F238E27FC236}">
                <a16:creationId xmlns:a16="http://schemas.microsoft.com/office/drawing/2014/main" id="{A05E5BD0-8108-4BE9-844B-25056C080E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B2D6C248-25A8-46E0-B82F-290A37DC28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0AE9143-E1A6-46C7-8AA8-459CDD7264D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Memory는 필수가 아님</a:t>
            </a:r>
          </a:p>
        </p:txBody>
      </p:sp>
      <p:sp>
        <p:nvSpPr>
          <p:cNvPr id="7" name="">
            <a:extLst xmlns:a="http://schemas.openxmlformats.org/drawingml/2006/main">
              <a:ext uri="{FF2B5EF4-FFF2-40B4-BE49-F238E27FC236}">
                <a16:creationId xmlns:a16="http://schemas.microsoft.com/office/drawing/2014/main" id="{D4A4CE2F-7755-4FAC-B68B-835957D1E47F}"/>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9CEB0939-E3B1-47E9-A519-5A7480A3A827}"/>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7EC5E895-3C4E-4BCA-B11E-BA9B458B0E70}"/>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104617B6-2429-4BEC-A705-11036B074E18}"/>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9ABF3D24-E08B-4241-AE8D-DE4285827E37}"/>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132C346F-30C0-4F34-A86C-2D086006D55E}"/>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FC7ED13-0E90-4889-9242-47351738A885}"/>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38074623-05A7-466B-9D0E-2021F253A2A4}"/>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055DCF39-7EF9-4DD3-B33F-AFFF6EF87FEB}"/>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DBBC774D-149B-4353-BFBB-AE68A1413F26}"/>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6BC024DD-0FAF-4D58-9FED-4A27502E084E}"/>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0C8060D2-E1DF-4F34-91BB-5D376C25120A}"/>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3A12F97E-C623-47BC-9C44-DC1C8062AD8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B44BAE1F-6A25-431C-B68C-A0646D19425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528D8F42-3BF5-4B67-9035-945CEC8876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1724385380"/>
      </p:ext>
    </p:extLst>
  </p:cSld>
</p:sld>
</file>

<file path=ppt/slides/slide8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EB53DCE-0A48-42B4-9034-8F27850052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4">
            <a:extLst xmlns:a="http://schemas.openxmlformats.org/drawingml/2006/main">
              <a:ext uri="{FF2B5EF4-FFF2-40B4-BE49-F238E27FC236}">
                <a16:creationId xmlns:a16="http://schemas.microsoft.com/office/drawing/2014/main" id="{CA86AC3A-81A6-46EA-852B-D5C9757200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내가 매번 이어 주는 다음 단계는 무엇일까?">
            <a:extLst xmlns:a="http://schemas.openxmlformats.org/drawingml/2006/main">
              <a:ext uri="{FF2B5EF4-FFF2-40B4-BE49-F238E27FC236}">
                <a16:creationId xmlns:a16="http://schemas.microsoft.com/office/drawing/2014/main" id="{0419744B-B490-422E-A395-CFBBA2D9E3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655B9AA-164C-45FE-B01A-08D74EB629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E2B9296-91FE-403F-90CF-AB5208175B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검토">
            <a:extLst xmlns:a="http://schemas.openxmlformats.org/drawingml/2006/main">
              <a:ext uri="{FF2B5EF4-FFF2-40B4-BE49-F238E27FC236}">
                <a16:creationId xmlns:a16="http://schemas.microsoft.com/office/drawing/2014/main" id="{6E8F7892-DF6F-4BF5-A17B-B94B0CF39E27}"/>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6D22E10C-F0DF-4F19-A577-D87CC9E54FB1}"/>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EB9F74F1-FFEF-42A3-803E-5EF3CA0F14E0}"/>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8169C8A3-46E9-4045-B8FE-931C0346C171}"/>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E9B9E58F-A5BB-4BFB-A93F-69DF47CA847D}"/>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0245D650-811F-4474-A369-59B9DB2734C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0BD38943-C609-482D-B94C-667A4920135A}"/>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F0A650C6-3041-41A5-A4C5-E862481FFA4D}"/>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A7CD58D1-00A9-47B9-BF5D-9D9037CB857D}"/>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2A2A4B5-E23E-4F34-88CC-9F982CBFD02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657E2C64-A83A-4849-BF4B-C0F65A9107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79771775"/>
      </p:ext>
    </p:extLst>
  </p:cSld>
</p:sld>
</file>

<file path=ppt/slides/slide8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4">
            <a:extLst xmlns:a="http://schemas.openxmlformats.org/drawingml/2006/main">
              <a:ext uri="{FF2B5EF4-FFF2-40B4-BE49-F238E27FC236}">
                <a16:creationId xmlns:a16="http://schemas.microsoft.com/office/drawing/2014/main" id="{F235001E-F38D-4F3A-A2E3-A36D1EB39D30}"/>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4</a:t>
            </a:r>
          </a:p>
        </p:txBody>
      </p:sp>
      <p:sp>
        <p:nvSpPr>
          <p:cNvPr id="2" name="S85">
            <a:extLst xmlns:a="http://schemas.openxmlformats.org/drawingml/2006/main">
              <a:ext uri="{FF2B5EF4-FFF2-40B4-BE49-F238E27FC236}">
                <a16:creationId xmlns:a16="http://schemas.microsoft.com/office/drawing/2014/main" id="{F254F255-80BE-477C-8E6E-3D5E378C8E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
            <a:extLst xmlns:a="http://schemas.openxmlformats.org/drawingml/2006/main">
              <a:ext uri="{FF2B5EF4-FFF2-40B4-BE49-F238E27FC236}">
                <a16:creationId xmlns:a16="http://schemas.microsoft.com/office/drawing/2014/main" id="{2D2557CB-E5E7-45B1-BCC2-FCA8CAD383E7}"/>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목표를 이룰 때까지&#10;수정하고 검토하기">
            <a:extLst xmlns:a="http://schemas.openxmlformats.org/drawingml/2006/main">
              <a:ext uri="{FF2B5EF4-FFF2-40B4-BE49-F238E27FC236}">
                <a16:creationId xmlns:a16="http://schemas.microsoft.com/office/drawing/2014/main" id="{80A20150-BD7B-43D3-B9CB-B58845E13B7C}"/>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목표를 이룰 때까지</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수정하고 검토하기</a:t>
            </a:r>
          </a:p>
        </p:txBody>
      </p:sp>
      <p:sp>
        <p:nvSpPr>
          <p:cNvPr id="5" name="Loop Engineering · 목표 기반 실행·검토 시스템">
            <a:extLst xmlns:a="http://schemas.openxmlformats.org/drawingml/2006/main">
              <a:ext uri="{FF2B5EF4-FFF2-40B4-BE49-F238E27FC236}">
                <a16:creationId xmlns:a16="http://schemas.microsoft.com/office/drawing/2014/main" id="{E9DEFCC1-D805-4659-B2BB-CF2DEB90FFE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Loop Engineering · 목표 기반 실행·검토 시스템</a:t>
            </a:r>
          </a:p>
        </p:txBody>
      </p:sp>
      <p:sp>
        <p:nvSpPr>
          <p:cNvPr id="6" name="ChatGPT &amp; Codex · 개발자 교육">
            <a:extLst xmlns:a="http://schemas.openxmlformats.org/drawingml/2006/main">
              <a:ext uri="{FF2B5EF4-FFF2-40B4-BE49-F238E27FC236}">
                <a16:creationId xmlns:a16="http://schemas.microsoft.com/office/drawing/2014/main" id="{9550E55A-B3EE-4D75-9780-7B932232AE73}"/>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F3B8696D-79D9-4440-8DC9-017123CB37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385709539"/>
      </p:ext>
    </p:extLst>
  </p:cSld>
</p:sld>
</file>

<file path=ppt/slides/slide8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F8E589C7-9933-4868-ACB3-0A5233FE06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6">
            <a:extLst xmlns:a="http://schemas.openxmlformats.org/drawingml/2006/main">
              <a:ext uri="{FF2B5EF4-FFF2-40B4-BE49-F238E27FC236}">
                <a16:creationId xmlns:a16="http://schemas.microsoft.com/office/drawing/2014/main" id="{18B1AE1B-B5E3-45D3-9678-94E8471819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다음 수정도 사람이 매번 이어줘야 할까?">
            <a:extLst xmlns:a="http://schemas.openxmlformats.org/drawingml/2006/main">
              <a:ext uri="{FF2B5EF4-FFF2-40B4-BE49-F238E27FC236}">
                <a16:creationId xmlns:a16="http://schemas.microsoft.com/office/drawing/2014/main" id="{372D743C-6CE0-4117-BEE3-102D6AB17D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수정도 사람이 매번 이어줘야 할까?</a:t>
            </a:r>
          </a:p>
        </p:txBody>
      </p:sp>
      <p:sp>
        <p:nvSpPr>
          <p:cNvPr id="4" name="">
            <a:extLst xmlns:a="http://schemas.openxmlformats.org/drawingml/2006/main">
              <a:ext uri="{FF2B5EF4-FFF2-40B4-BE49-F238E27FC236}">
                <a16:creationId xmlns:a16="http://schemas.microsoft.com/office/drawing/2014/main" id="{535831FB-33F3-4CCD-854E-5767A427DA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35B70C37-4BF0-4F80-AD64-5F81F33EAEF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383970C4-158A-44D7-9546-90FFCCB7E3A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사람이 연결하던 다음 요청을, 시스템의 다음 입력으로">
            <a:extLst xmlns:a="http://schemas.openxmlformats.org/drawingml/2006/main">
              <a:ext uri="{FF2B5EF4-FFF2-40B4-BE49-F238E27FC236}">
                <a16:creationId xmlns:a16="http://schemas.microsoft.com/office/drawing/2014/main" id="{A0C2E6C7-6371-4701-BCDF-12E79905D71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연결하던 다음 요청을, 시스템의 다음 입력으로</a:t>
            </a:r>
          </a:p>
        </p:txBody>
      </p:sp>
      <p:sp>
        <p:nvSpPr>
          <p:cNvPr id="9" name="">
            <a:extLst xmlns:a="http://schemas.openxmlformats.org/drawingml/2006/main">
              <a:ext uri="{FF2B5EF4-FFF2-40B4-BE49-F238E27FC236}">
                <a16:creationId xmlns:a16="http://schemas.microsoft.com/office/drawing/2014/main" id="{859B6F25-59A4-4FB2-B4FE-C4DB45E6053A}"/>
              </a:ext>
            </a:extLst>
          </p:cNvPr>
          <p:cNvSpPr>
            <a:spLocks xmlns:a="http://schemas.openxmlformats.org/drawingml/2006/main" noGrp="1"/>
          </p:cNvSpPr>
          <p:nvPr/>
        </p:nvSpPr>
        <p:spPr>
          <a:xfrm xmlns:a="http://schemas.openxmlformats.org/drawingml/2006/main">
            <a:off x="609600" y="28765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사람이 보내던 다음 요청">
            <a:extLst xmlns:a="http://schemas.openxmlformats.org/drawingml/2006/main">
              <a:ext uri="{FF2B5EF4-FFF2-40B4-BE49-F238E27FC236}">
                <a16:creationId xmlns:a16="http://schemas.microsoft.com/office/drawing/2014/main" id="{E1D828ED-EF96-4FE9-A4D3-E2151D335748}"/>
              </a:ext>
            </a:extLst>
          </p:cNvPr>
          <p:cNvSpPr>
            <a:spLocks xmlns:a="http://schemas.openxmlformats.org/drawingml/2006/main" noGrp="1"/>
          </p:cNvSpPr>
          <p:nvPr/>
        </p:nvSpPr>
        <p:spPr>
          <a:xfrm xmlns:a="http://schemas.openxmlformats.org/drawingml/2006/main">
            <a:off x="800100" y="29908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사람이 보내던 다음 요청</a:t>
            </a:r>
          </a:p>
        </p:txBody>
      </p:sp>
      <p:sp>
        <p:nvSpPr>
          <p:cNvPr id="11" name="검토 의견을 모아 다시 전달">
            <a:extLst xmlns:a="http://schemas.openxmlformats.org/drawingml/2006/main">
              <a:ext uri="{FF2B5EF4-FFF2-40B4-BE49-F238E27FC236}">
                <a16:creationId xmlns:a16="http://schemas.microsoft.com/office/drawing/2014/main" id="{AACF8F23-2BAE-469C-B783-31297BBBB062}"/>
              </a:ext>
            </a:extLst>
          </p:cNvPr>
          <p:cNvSpPr>
            <a:spLocks xmlns:a="http://schemas.openxmlformats.org/drawingml/2006/main" noGrp="1"/>
          </p:cNvSpPr>
          <p:nvPr/>
        </p:nvSpPr>
        <p:spPr>
          <a:xfrm xmlns:a="http://schemas.openxmlformats.org/drawingml/2006/main">
            <a:off x="800100" y="35052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 의견을 모아 다시 전달</a:t>
            </a:r>
          </a:p>
        </p:txBody>
      </p:sp>
      <p:cxnSp>
        <p:nvCxnSpPr>
          <p:cNvPr id="12" name="">
            <a:extLst xmlns:a="http://schemas.openxmlformats.org/drawingml/2006/main">
              <a:ext uri="{FF2B5EF4-FFF2-40B4-BE49-F238E27FC236}">
                <a16:creationId xmlns:a16="http://schemas.microsoft.com/office/drawing/2014/main" id="{7BF48555-C5EE-4DE1-B48F-3DBE2E48DF4A}"/>
              </a:ext>
            </a:extLst>
          </p:cNvPr>
          <p:cNvCxnSpPr/>
          <p:nvPr/>
        </p:nvCxnSpPr>
        <p:spPr>
          <a:xfrm xmlns:a="http://schemas.openxmlformats.org/drawingml/2006/main">
            <a:off x="5257800" y="34956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60A1B197-CB74-4A28-89CD-1442A3EDCDFD}"/>
              </a:ext>
            </a:extLst>
          </p:cNvPr>
          <p:cNvSpPr>
            <a:spLocks xmlns:a="http://schemas.openxmlformats.org/drawingml/2006/main" noGrp="1"/>
          </p:cNvSpPr>
          <p:nvPr/>
        </p:nvSpPr>
        <p:spPr>
          <a:xfrm xmlns:a="http://schemas.openxmlformats.org/drawingml/2006/main">
            <a:off x="6705600" y="28765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다음 수정이 받을 입력">
            <a:extLst xmlns:a="http://schemas.openxmlformats.org/drawingml/2006/main">
              <a:ext uri="{FF2B5EF4-FFF2-40B4-BE49-F238E27FC236}">
                <a16:creationId xmlns:a16="http://schemas.microsoft.com/office/drawing/2014/main" id="{3BADB479-D0F8-4B45-B34B-0F35680CFBD1}"/>
              </a:ext>
            </a:extLst>
          </p:cNvPr>
          <p:cNvSpPr>
            <a:spLocks xmlns:a="http://schemas.openxmlformats.org/drawingml/2006/main" noGrp="1"/>
          </p:cNvSpPr>
          <p:nvPr/>
        </p:nvSpPr>
        <p:spPr>
          <a:xfrm xmlns:a="http://schemas.openxmlformats.org/drawingml/2006/main">
            <a:off x="6896100" y="29908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다음 수정이 받을 입력</a:t>
            </a:r>
          </a:p>
        </p:txBody>
      </p:sp>
      <p:sp>
        <p:nvSpPr>
          <p:cNvPr id="15" name="남은 지적 + 근거 + 현재 후보">
            <a:extLst xmlns:a="http://schemas.openxmlformats.org/drawingml/2006/main">
              <a:ext uri="{FF2B5EF4-FFF2-40B4-BE49-F238E27FC236}">
                <a16:creationId xmlns:a16="http://schemas.microsoft.com/office/drawing/2014/main" id="{E97D6DF8-E202-4E53-823C-3CFA46612749}"/>
              </a:ext>
            </a:extLst>
          </p:cNvPr>
          <p:cNvSpPr>
            <a:spLocks xmlns:a="http://schemas.openxmlformats.org/drawingml/2006/main" noGrp="1"/>
          </p:cNvSpPr>
          <p:nvPr/>
        </p:nvSpPr>
        <p:spPr>
          <a:xfrm xmlns:a="http://schemas.openxmlformats.org/drawingml/2006/main">
            <a:off x="6896100" y="35052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남은 지적 + 근거 + 현재 후보</a:t>
            </a:r>
          </a:p>
        </p:txBody>
      </p:sp>
      <p:sp>
        <p:nvSpPr>
          <p:cNvPr id="16" name="목표는 유지하고, 남은 문제를 다음 수정에 넘긴다">
            <a:extLst xmlns:a="http://schemas.openxmlformats.org/drawingml/2006/main">
              <a:ext uri="{FF2B5EF4-FFF2-40B4-BE49-F238E27FC236}">
                <a16:creationId xmlns:a16="http://schemas.microsoft.com/office/drawing/2014/main" id="{C109B2D3-E1F0-4020-98E0-A484FBCEDC87}"/>
              </a:ext>
            </a:extLst>
          </p:cNvPr>
          <p:cNvSpPr>
            <a:spLocks xmlns:a="http://schemas.openxmlformats.org/drawingml/2006/main" noGrp="1"/>
          </p:cNvSpPr>
          <p:nvPr/>
        </p:nvSpPr>
        <p:spPr>
          <a:xfrm xmlns:a="http://schemas.openxmlformats.org/drawingml/2006/main">
            <a:off x="609600" y="5095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목표는 유지하고, 남은 문제를 다음 수정에 넘긴다</a:t>
            </a:r>
          </a:p>
        </p:txBody>
      </p:sp>
      <p:sp>
        <p:nvSpPr>
          <p:cNvPr id="17" name="Legacy module connection">
            <a:extLst xmlns:a="http://schemas.openxmlformats.org/drawingml/2006/main">
              <a:ext uri="{FF2B5EF4-FFF2-40B4-BE49-F238E27FC236}">
                <a16:creationId xmlns:a16="http://schemas.microsoft.com/office/drawing/2014/main" id="{DCB1946A-830B-4542-8A30-1CF9AD24B9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7603676"/>
      </p:ext>
    </p:extLst>
  </p:cSld>
</p:sld>
</file>

<file path=ppt/slides/slide8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25ECEB38-98CD-495A-B08E-E6956F3C9F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7">
            <a:extLst xmlns:a="http://schemas.openxmlformats.org/drawingml/2006/main">
              <a:ext uri="{FF2B5EF4-FFF2-40B4-BE49-F238E27FC236}">
                <a16:creationId xmlns:a16="http://schemas.microsoft.com/office/drawing/2014/main" id="{E62DC2C7-0B9C-4736-9A3B-C5B5A90F86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먼저, 무엇이 되면 완료인지 정한다">
            <a:extLst xmlns:a="http://schemas.openxmlformats.org/drawingml/2006/main">
              <a:ext uri="{FF2B5EF4-FFF2-40B4-BE49-F238E27FC236}">
                <a16:creationId xmlns:a16="http://schemas.microsoft.com/office/drawing/2014/main" id="{A2A47767-7081-48B6-AB7F-DDB4A2B57C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무엇이 되면 완료인지 정한다</a:t>
            </a:r>
          </a:p>
        </p:txBody>
      </p:sp>
      <p:sp>
        <p:nvSpPr>
          <p:cNvPr id="4" name="">
            <a:extLst xmlns:a="http://schemas.openxmlformats.org/drawingml/2006/main">
              <a:ext uri="{FF2B5EF4-FFF2-40B4-BE49-F238E27FC236}">
                <a16:creationId xmlns:a16="http://schemas.microsoft.com/office/drawing/2014/main" id="{BCCA19A0-DE97-4E66-938B-9227CC501A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4295B71-5782-41F1-9FA1-25B3A8ACF5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 · 완료 기준은 실행 전에 정한다</a:t>
            </a:r>
          </a:p>
        </p:txBody>
      </p:sp>
      <p:sp>
        <p:nvSpPr>
          <p:cNvPr id="7" name="밝기 통계 계산의 불필요한 임시 할당을 줄인다">
            <a:extLst xmlns:a="http://schemas.openxmlformats.org/drawingml/2006/main">
              <a:ext uri="{FF2B5EF4-FFF2-40B4-BE49-F238E27FC236}">
                <a16:creationId xmlns:a16="http://schemas.microsoft.com/office/drawing/2014/main" id="{7B0314F7-5A88-41F3-A4FA-FDB619D63467}"/>
              </a:ext>
            </a:extLst>
          </p:cNvPr>
          <p:cNvSpPr>
            <a:spLocks xmlns:a="http://schemas.openxmlformats.org/drawingml/2006/main" noGrp="1"/>
          </p:cNvSpPr>
          <p:nvPr/>
        </p:nvSpPr>
        <p:spPr>
          <a:xfrm xmlns:a="http://schemas.openxmlformats.org/drawingml/2006/main">
            <a:off x="609600" y="17907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밝기 통계 계산의 불필요한 임시 할당을 줄인다</a:t>
            </a:r>
          </a:p>
        </p:txBody>
      </p:sp>
      <p:sp>
        <p:nvSpPr>
          <p:cNvPr id="8" name="01">
            <a:extLst xmlns:a="http://schemas.openxmlformats.org/drawingml/2006/main">
              <a:ext uri="{FF2B5EF4-FFF2-40B4-BE49-F238E27FC236}">
                <a16:creationId xmlns:a16="http://schemas.microsoft.com/office/drawing/2014/main" id="{8E46C532-724F-4133-9143-4A638C3720E5}"/>
              </a:ext>
            </a:extLst>
          </p:cNvPr>
          <p:cNvSpPr>
            <a:spLocks xmlns:a="http://schemas.openxmlformats.org/drawingml/2006/main" noGrp="1"/>
          </p:cNvSpPr>
          <p:nvPr/>
        </p:nvSpPr>
        <p:spPr>
          <a:xfrm xmlns:a="http://schemas.openxmlformats.org/drawingml/2006/main">
            <a:off x="60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023D0B3-5B9F-47D4-A8EA-758FD434C5AD}"/>
              </a:ext>
            </a:extLst>
          </p:cNvPr>
          <p:cNvSpPr>
            <a:spLocks xmlns:a="http://schemas.openxmlformats.org/drawingml/2006/main" noGrp="1"/>
          </p:cNvSpPr>
          <p:nvPr/>
        </p:nvSpPr>
        <p:spPr>
          <a:xfrm xmlns:a="http://schemas.openxmlformats.org/drawingml/2006/main">
            <a:off x="60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유지">
            <a:extLst xmlns:a="http://schemas.openxmlformats.org/drawingml/2006/main">
              <a:ext uri="{FF2B5EF4-FFF2-40B4-BE49-F238E27FC236}">
                <a16:creationId xmlns:a16="http://schemas.microsoft.com/office/drawing/2014/main" id="{CF7BC4C7-9B3D-4894-85FF-E798693956A3}"/>
              </a:ext>
            </a:extLst>
          </p:cNvPr>
          <p:cNvSpPr>
            <a:spLocks xmlns:a="http://schemas.openxmlformats.org/drawingml/2006/main" noGrp="1"/>
          </p:cNvSpPr>
          <p:nvPr/>
        </p:nvSpPr>
        <p:spPr>
          <a:xfrm xmlns:a="http://schemas.openxmlformats.org/drawingml/2006/main">
            <a:off x="60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출력·동작 유지</a:t>
            </a:r>
          </a:p>
        </p:txBody>
      </p:sp>
      <p:sp>
        <p:nvSpPr>
          <p:cNvPr id="11" name="기존 6개 출력과 명세">
            <a:extLst xmlns:a="http://schemas.openxmlformats.org/drawingml/2006/main">
              <a:ext uri="{FF2B5EF4-FFF2-40B4-BE49-F238E27FC236}">
                <a16:creationId xmlns:a16="http://schemas.microsoft.com/office/drawing/2014/main" id="{778EF413-A58D-4B8C-A04F-D56253B03E5A}"/>
              </a:ext>
            </a:extLst>
          </p:cNvPr>
          <p:cNvSpPr>
            <a:spLocks xmlns:a="http://schemas.openxmlformats.org/drawingml/2006/main" noGrp="1"/>
          </p:cNvSpPr>
          <p:nvPr/>
        </p:nvSpPr>
        <p:spPr>
          <a:xfrm xmlns:a="http://schemas.openxmlformats.org/drawingml/2006/main">
            <a:off x="60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6개 출력과 명세</a:t>
            </a:r>
          </a:p>
        </p:txBody>
      </p:sp>
      <p:sp>
        <p:nvSpPr>
          <p:cNvPr id="12" name="02">
            <a:extLst xmlns:a="http://schemas.openxmlformats.org/drawingml/2006/main">
              <a:ext uri="{FF2B5EF4-FFF2-40B4-BE49-F238E27FC236}">
                <a16:creationId xmlns:a16="http://schemas.microsoft.com/office/drawing/2014/main" id="{434E0A0F-00F5-4951-BD65-6B35EF518111}"/>
              </a:ext>
            </a:extLst>
          </p:cNvPr>
          <p:cNvSpPr>
            <a:spLocks xmlns:a="http://schemas.openxmlformats.org/drawingml/2006/main" noGrp="1"/>
          </p:cNvSpPr>
          <p:nvPr/>
        </p:nvSpPr>
        <p:spPr>
          <a:xfrm xmlns:a="http://schemas.openxmlformats.org/drawingml/2006/main">
            <a:off x="441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02</a:t>
            </a:r>
          </a:p>
        </p:txBody>
      </p:sp>
      <p:sp>
        <p:nvSpPr>
          <p:cNvPr id="13" name="">
            <a:extLst xmlns:a="http://schemas.openxmlformats.org/drawingml/2006/main">
              <a:ext uri="{FF2B5EF4-FFF2-40B4-BE49-F238E27FC236}">
                <a16:creationId xmlns:a16="http://schemas.microsoft.com/office/drawing/2014/main" id="{87C9A323-17A5-45B8-9E3C-9A6BACD4A2CA}"/>
              </a:ext>
            </a:extLst>
          </p:cNvPr>
          <p:cNvSpPr>
            <a:spLocks xmlns:a="http://schemas.openxmlformats.org/drawingml/2006/main" noGrp="1"/>
          </p:cNvSpPr>
          <p:nvPr/>
        </p:nvSpPr>
        <p:spPr>
          <a:xfrm xmlns:a="http://schemas.openxmlformats.org/drawingml/2006/main">
            <a:off x="441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줄이기">
            <a:extLst xmlns:a="http://schemas.openxmlformats.org/drawingml/2006/main">
              <a:ext uri="{FF2B5EF4-FFF2-40B4-BE49-F238E27FC236}">
                <a16:creationId xmlns:a16="http://schemas.microsoft.com/office/drawing/2014/main" id="{536D08EA-B843-4BD3-8184-36E2FDC4DC4B}"/>
              </a:ext>
            </a:extLst>
          </p:cNvPr>
          <p:cNvSpPr>
            <a:spLocks xmlns:a="http://schemas.openxmlformats.org/drawingml/2006/main" noGrp="1"/>
          </p:cNvSpPr>
          <p:nvPr/>
        </p:nvSpPr>
        <p:spPr>
          <a:xfrm xmlns:a="http://schemas.openxmlformats.org/drawingml/2006/main">
            <a:off x="441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임시 할당 줄이기</a:t>
            </a:r>
          </a:p>
        </p:txBody>
      </p:sp>
      <p:sp>
        <p:nvSpPr>
          <p:cNvPr id="15" name="같은 입력의 할당량 확인">
            <a:extLst xmlns:a="http://schemas.openxmlformats.org/drawingml/2006/main">
              <a:ext uri="{FF2B5EF4-FFF2-40B4-BE49-F238E27FC236}">
                <a16:creationId xmlns:a16="http://schemas.microsoft.com/office/drawing/2014/main" id="{5919D8BD-C2AB-4709-B6D1-63EC235A9E00}"/>
              </a:ext>
            </a:extLst>
          </p:cNvPr>
          <p:cNvSpPr>
            <a:spLocks xmlns:a="http://schemas.openxmlformats.org/drawingml/2006/main" noGrp="1"/>
          </p:cNvSpPr>
          <p:nvPr/>
        </p:nvSpPr>
        <p:spPr>
          <a:xfrm xmlns:a="http://schemas.openxmlformats.org/drawingml/2006/main">
            <a:off x="441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입력의 할당량 확인</a:t>
            </a:r>
          </a:p>
        </p:txBody>
      </p:sp>
      <p:sp>
        <p:nvSpPr>
          <p:cNvPr id="16" name="03">
            <a:extLst xmlns:a="http://schemas.openxmlformats.org/drawingml/2006/main">
              <a:ext uri="{FF2B5EF4-FFF2-40B4-BE49-F238E27FC236}">
                <a16:creationId xmlns:a16="http://schemas.microsoft.com/office/drawing/2014/main" id="{4F7C25E1-4EE1-4787-9009-9A392ED54A26}"/>
              </a:ext>
            </a:extLst>
          </p:cNvPr>
          <p:cNvSpPr>
            <a:spLocks xmlns:a="http://schemas.openxmlformats.org/drawingml/2006/main" noGrp="1"/>
          </p:cNvSpPr>
          <p:nvPr/>
        </p:nvSpPr>
        <p:spPr>
          <a:xfrm xmlns:a="http://schemas.openxmlformats.org/drawingml/2006/main">
            <a:off x="8229600" y="27336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03</a:t>
            </a:r>
          </a:p>
        </p:txBody>
      </p:sp>
      <p:sp>
        <p:nvSpPr>
          <p:cNvPr id="17" name="">
            <a:extLst xmlns:a="http://schemas.openxmlformats.org/drawingml/2006/main">
              <a:ext uri="{FF2B5EF4-FFF2-40B4-BE49-F238E27FC236}">
                <a16:creationId xmlns:a16="http://schemas.microsoft.com/office/drawing/2014/main" id="{33716076-B4E8-4D7A-A431-F7190FC4A679}"/>
              </a:ext>
            </a:extLst>
          </p:cNvPr>
          <p:cNvSpPr>
            <a:spLocks xmlns:a="http://schemas.openxmlformats.org/drawingml/2006/main" noGrp="1"/>
          </p:cNvSpPr>
          <p:nvPr/>
        </p:nvSpPr>
        <p:spPr>
          <a:xfrm xmlns:a="http://schemas.openxmlformats.org/drawingml/2006/main">
            <a:off x="8229600" y="326707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조건 지키기">
            <a:extLst xmlns:a="http://schemas.openxmlformats.org/drawingml/2006/main">
              <a:ext uri="{FF2B5EF4-FFF2-40B4-BE49-F238E27FC236}">
                <a16:creationId xmlns:a16="http://schemas.microsoft.com/office/drawing/2014/main" id="{4320970B-FADE-4ABC-B32E-F003B964B62A}"/>
              </a:ext>
            </a:extLst>
          </p:cNvPr>
          <p:cNvSpPr>
            <a:spLocks xmlns:a="http://schemas.openxmlformats.org/drawingml/2006/main" noGrp="1"/>
          </p:cNvSpPr>
          <p:nvPr/>
        </p:nvSpPr>
        <p:spPr>
          <a:xfrm xmlns:a="http://schemas.openxmlformats.org/drawingml/2006/main">
            <a:off x="8229600" y="3495675"/>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실행시간 조건 지키기</a:t>
            </a:r>
          </a:p>
        </p:txBody>
      </p:sp>
      <p:sp>
        <p:nvSpPr>
          <p:cNvPr id="19" name="같은 환경·측정 기준">
            <a:extLst xmlns:a="http://schemas.openxmlformats.org/drawingml/2006/main">
              <a:ext uri="{FF2B5EF4-FFF2-40B4-BE49-F238E27FC236}">
                <a16:creationId xmlns:a16="http://schemas.microsoft.com/office/drawing/2014/main" id="{EC149896-6C40-4744-9B77-D95246BA320D}"/>
              </a:ext>
            </a:extLst>
          </p:cNvPr>
          <p:cNvSpPr>
            <a:spLocks xmlns:a="http://schemas.openxmlformats.org/drawingml/2006/main" noGrp="1"/>
          </p:cNvSpPr>
          <p:nvPr/>
        </p:nvSpPr>
        <p:spPr>
          <a:xfrm xmlns:a="http://schemas.openxmlformats.org/drawingml/2006/main">
            <a:off x="8229600" y="42291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같은 환경·측정 기준</a:t>
            </a:r>
          </a:p>
        </p:txBody>
      </p:sp>
      <p:sp>
        <p:nvSpPr>
          <p:cNvPr id="20" name="반복 중에도 목표와 기준은 그대로">
            <a:extLst xmlns:a="http://schemas.openxmlformats.org/drawingml/2006/main">
              <a:ext uri="{FF2B5EF4-FFF2-40B4-BE49-F238E27FC236}">
                <a16:creationId xmlns:a16="http://schemas.microsoft.com/office/drawing/2014/main" id="{67730027-3349-494F-AE1E-5B0C34173AEA}"/>
              </a:ext>
            </a:extLst>
          </p:cNvPr>
          <p:cNvSpPr>
            <a:spLocks xmlns:a="http://schemas.openxmlformats.org/drawingml/2006/main" noGrp="1"/>
          </p:cNvSpPr>
          <p:nvPr/>
        </p:nvSpPr>
        <p:spPr>
          <a:xfrm xmlns:a="http://schemas.openxmlformats.org/drawingml/2006/main">
            <a:off x="609600" y="5248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반복 중에도 목표와 기준은 그대로</a:t>
            </a:r>
          </a:p>
        </p:txBody>
      </p:sp>
      <p:sp>
        <p:nvSpPr>
          <p:cNvPr id="21" name="Legacy module connection">
            <a:extLst xmlns:a="http://schemas.openxmlformats.org/drawingml/2006/main">
              <a:ext uri="{FF2B5EF4-FFF2-40B4-BE49-F238E27FC236}">
                <a16:creationId xmlns:a16="http://schemas.microsoft.com/office/drawing/2014/main" id="{14CA7103-6EFB-418F-9C08-EC879A28E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270340"/>
      </p:ext>
    </p:extLst>
  </p:cSld>
</p:sld>
</file>

<file path=ppt/slides/slide8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같은 목표의 구현·검토 · 교육용 사례">
            <a:extLst xmlns:a="http://schemas.openxmlformats.org/drawingml/2006/main">
              <a:ext uri="{FF2B5EF4-FFF2-40B4-BE49-F238E27FC236}">
                <a16:creationId xmlns:a16="http://schemas.microsoft.com/office/drawing/2014/main" id="{665233ED-6024-401E-BE08-2870D77CCC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8">
            <a:extLst xmlns:a="http://schemas.openxmlformats.org/drawingml/2006/main">
              <a:ext uri="{FF2B5EF4-FFF2-40B4-BE49-F238E27FC236}">
                <a16:creationId xmlns:a16="http://schemas.microsoft.com/office/drawing/2014/main" id="{2D74B14F-B2C6-410A-94C6-85B147BB54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모델 A가 첫 변경 후보를 만든다">
            <a:extLst xmlns:a="http://schemas.openxmlformats.org/drawingml/2006/main">
              <a:ext uri="{FF2B5EF4-FFF2-40B4-BE49-F238E27FC236}">
                <a16:creationId xmlns:a16="http://schemas.microsoft.com/office/drawing/2014/main" id="{C3DDDDC6-BDCA-4590-B492-097383C584D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A가 첫 변경 후보를 만든다</a:t>
            </a:r>
          </a:p>
        </p:txBody>
      </p:sp>
      <p:sp>
        <p:nvSpPr>
          <p:cNvPr id="4" name="">
            <a:extLst xmlns:a="http://schemas.openxmlformats.org/drawingml/2006/main">
              <a:ext uri="{FF2B5EF4-FFF2-40B4-BE49-F238E27FC236}">
                <a16:creationId xmlns:a16="http://schemas.microsoft.com/office/drawing/2014/main" id="{561569D9-0738-494C-81B5-94B065F50C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5A40DD43-46DD-47E5-889A-4C45BBF94C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3B00BE7-9584-4A1B-A072-73BBF218A21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ADD4702F-851E-4A4F-9C9E-3C4B5C5964D5}"/>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A · 구현">
            <a:extLst xmlns:a="http://schemas.openxmlformats.org/drawingml/2006/main">
              <a:ext uri="{FF2B5EF4-FFF2-40B4-BE49-F238E27FC236}">
                <a16:creationId xmlns:a16="http://schemas.microsoft.com/office/drawing/2014/main" id="{4F8F88F8-40BF-4D18-8753-587491BE2DA5}"/>
              </a:ext>
            </a:extLst>
          </p:cNvPr>
          <p:cNvSpPr>
            <a:spLocks xmlns:a="http://schemas.openxmlformats.org/drawingml/2006/main" noGrp="1"/>
          </p:cNvSpPr>
          <p:nvPr/>
        </p:nvSpPr>
        <p:spPr>
          <a:xfrm xmlns:a="http://schemas.openxmlformats.org/drawingml/2006/main">
            <a:off x="609600" y="2714625"/>
            <a:ext cx="323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모델 A · 구현</a:t>
            </a:r>
          </a:p>
        </p:txBody>
      </p:sp>
      <p:sp>
        <p:nvSpPr>
          <p:cNvPr id="10" name="후보 v1 · 가정한 계산 방식">
            <a:extLst xmlns:a="http://schemas.openxmlformats.org/drawingml/2006/main">
              <a:ext uri="{FF2B5EF4-FFF2-40B4-BE49-F238E27FC236}">
                <a16:creationId xmlns:a16="http://schemas.microsoft.com/office/drawing/2014/main" id="{8AD97B67-3A27-40DF-B7F8-7566F2DEC848}"/>
              </a:ext>
            </a:extLst>
          </p:cNvPr>
          <p:cNvSpPr>
            <a:spLocks xmlns:a="http://schemas.openxmlformats.org/drawingml/2006/main" noGrp="1"/>
          </p:cNvSpPr>
          <p:nvPr/>
        </p:nvSpPr>
        <p:spPr>
          <a:xfrm xmlns:a="http://schemas.openxmlformats.org/drawingml/2006/main">
            <a:off x="4572000" y="2714625"/>
            <a:ext cx="7010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후보 v1 · 가정한 계산 방식</a:t>
            </a:r>
          </a:p>
        </p:txBody>
      </p:sp>
      <p:sp>
        <p:nvSpPr>
          <p:cNvPr id="11" name="">
            <a:extLst xmlns:a="http://schemas.openxmlformats.org/drawingml/2006/main">
              <a:ext uri="{FF2B5EF4-FFF2-40B4-BE49-F238E27FC236}">
                <a16:creationId xmlns:a16="http://schemas.microsoft.com/office/drawing/2014/main" id="{D25F36EF-EB3B-48B3-B3B0-D3C864019294}"/>
              </a:ext>
            </a:extLst>
          </p:cNvPr>
          <p:cNvSpPr>
            <a:spLocks xmlns:a="http://schemas.openxmlformats.org/drawingml/2006/main" noGrp="1"/>
          </p:cNvSpPr>
          <p:nvPr/>
        </p:nvSpPr>
        <p:spPr>
          <a:xfrm xmlns:a="http://schemas.openxmlformats.org/drawingml/2006/main">
            <a:off x="609600" y="3486150"/>
            <a:ext cx="32385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목표와 명세">
            <a:extLst xmlns:a="http://schemas.openxmlformats.org/drawingml/2006/main">
              <a:ext uri="{FF2B5EF4-FFF2-40B4-BE49-F238E27FC236}">
                <a16:creationId xmlns:a16="http://schemas.microsoft.com/office/drawing/2014/main" id="{2D9171CB-C4FD-4DD1-A49F-2E9EDAD6E688}"/>
              </a:ext>
            </a:extLst>
          </p:cNvPr>
          <p:cNvSpPr>
            <a:spLocks xmlns:a="http://schemas.openxmlformats.org/drawingml/2006/main" noGrp="1"/>
          </p:cNvSpPr>
          <p:nvPr/>
        </p:nvSpPr>
        <p:spPr>
          <a:xfrm xmlns:a="http://schemas.openxmlformats.org/drawingml/2006/main">
            <a:off x="800100" y="3600450"/>
            <a:ext cx="285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목표와 명세</a:t>
            </a:r>
          </a:p>
        </p:txBody>
      </p:sp>
      <p:sp>
        <p:nvSpPr>
          <p:cNvPr id="13" name="조건에 맞는 변경 초안">
            <a:extLst xmlns:a="http://schemas.openxmlformats.org/drawingml/2006/main">
              <a:ext uri="{FF2B5EF4-FFF2-40B4-BE49-F238E27FC236}">
                <a16:creationId xmlns:a16="http://schemas.microsoft.com/office/drawing/2014/main" id="{2A5BC5D0-AF4C-413B-90C2-F01ED755FCC7}"/>
              </a:ext>
            </a:extLst>
          </p:cNvPr>
          <p:cNvSpPr>
            <a:spLocks xmlns:a="http://schemas.openxmlformats.org/drawingml/2006/main" noGrp="1"/>
          </p:cNvSpPr>
          <p:nvPr/>
        </p:nvSpPr>
        <p:spPr>
          <a:xfrm xmlns:a="http://schemas.openxmlformats.org/drawingml/2006/main">
            <a:off x="800100" y="41148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조건에 맞는 변경 초안</a:t>
            </a:r>
          </a:p>
        </p:txBody>
      </p:sp>
      <p:cxnSp>
        <p:nvCxnSpPr>
          <p:cNvPr id="14" name="">
            <a:extLst xmlns:a="http://schemas.openxmlformats.org/drawingml/2006/main">
              <a:ext uri="{FF2B5EF4-FFF2-40B4-BE49-F238E27FC236}">
                <a16:creationId xmlns:a16="http://schemas.microsoft.com/office/drawing/2014/main" id="{8B76779A-3302-43CE-9408-CB4EF7A7608D}"/>
              </a:ext>
            </a:extLst>
          </p:cNvPr>
          <p:cNvCxnSpPr/>
          <p:nvPr/>
        </p:nvCxnSpPr>
        <p:spPr>
          <a:xfrm xmlns:a="http://schemas.openxmlformats.org/drawingml/2006/main">
            <a:off x="4010025" y="4105275"/>
            <a:ext cx="3905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26839F88-E1EA-4C68-9061-4216D9BAD724}"/>
              </a:ext>
            </a:extLst>
          </p:cNvPr>
          <p:cNvSpPr>
            <a:spLocks xmlns:a="http://schemas.openxmlformats.org/drawingml/2006/main" noGrp="1"/>
          </p:cNvSpPr>
          <p:nvPr/>
        </p:nvSpPr>
        <p:spPr>
          <a:xfrm xmlns:a="http://schemas.openxmlformats.org/drawingml/2006/main">
            <a:off x="4572000" y="3571875"/>
            <a:ext cx="16764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6" name="입력">
            <a:extLst xmlns:a="http://schemas.openxmlformats.org/drawingml/2006/main">
              <a:ext uri="{FF2B5EF4-FFF2-40B4-BE49-F238E27FC236}">
                <a16:creationId xmlns:a16="http://schemas.microsoft.com/office/drawing/2014/main" id="{F5BC22EA-70FE-4189-9DBF-45E0A09D1678}"/>
              </a:ext>
            </a:extLst>
          </p:cNvPr>
          <p:cNvSpPr>
            <a:spLocks xmlns:a="http://schemas.openxmlformats.org/drawingml/2006/main" noGrp="1"/>
          </p:cNvSpPr>
          <p:nvPr/>
        </p:nvSpPr>
        <p:spPr>
          <a:xfrm xmlns:a="http://schemas.openxmlformats.org/drawingml/2006/main">
            <a:off x="4686300" y="3857625"/>
            <a:ext cx="1447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입력</a:t>
            </a:r>
          </a:p>
        </p:txBody>
      </p:sp>
      <p:sp>
        <p:nvSpPr>
          <p:cNvPr id="17" name="">
            <a:extLst xmlns:a="http://schemas.openxmlformats.org/drawingml/2006/main">
              <a:ext uri="{FF2B5EF4-FFF2-40B4-BE49-F238E27FC236}">
                <a16:creationId xmlns:a16="http://schemas.microsoft.com/office/drawing/2014/main" id="{DBF2956B-06FE-4357-9212-8018D09366E9}"/>
              </a:ext>
            </a:extLst>
          </p:cNvPr>
          <p:cNvSpPr>
            <a:spLocks xmlns:a="http://schemas.openxmlformats.org/drawingml/2006/main" noGrp="1"/>
          </p:cNvSpPr>
          <p:nvPr/>
        </p:nvSpPr>
        <p:spPr>
          <a:xfrm xmlns:a="http://schemas.openxmlformats.org/drawingml/2006/main">
            <a:off x="6705600" y="3571875"/>
            <a:ext cx="2590800" cy="1047750"/>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18" name="전체 값 복사">
            <a:extLst xmlns:a="http://schemas.openxmlformats.org/drawingml/2006/main">
              <a:ext uri="{FF2B5EF4-FFF2-40B4-BE49-F238E27FC236}">
                <a16:creationId xmlns:a16="http://schemas.microsoft.com/office/drawing/2014/main" id="{2279445A-20A8-4553-8E65-A98DEB120BA2}"/>
              </a:ext>
            </a:extLst>
          </p:cNvPr>
          <p:cNvSpPr>
            <a:spLocks xmlns:a="http://schemas.openxmlformats.org/drawingml/2006/main" noGrp="1"/>
          </p:cNvSpPr>
          <p:nvPr/>
        </p:nvSpPr>
        <p:spPr>
          <a:xfrm xmlns:a="http://schemas.openxmlformats.org/drawingml/2006/main">
            <a:off x="6819900" y="3857625"/>
            <a:ext cx="2362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전체 값 복사</a:t>
            </a:r>
          </a:p>
        </p:txBody>
      </p:sp>
      <p:sp>
        <p:nvSpPr>
          <p:cNvPr id="19" name="">
            <a:extLst xmlns:a="http://schemas.openxmlformats.org/drawingml/2006/main">
              <a:ext uri="{FF2B5EF4-FFF2-40B4-BE49-F238E27FC236}">
                <a16:creationId xmlns:a16="http://schemas.microsoft.com/office/drawing/2014/main" id="{8867E3C4-43D1-43AF-81D1-BE7725F7AE4C}"/>
              </a:ext>
            </a:extLst>
          </p:cNvPr>
          <p:cNvSpPr>
            <a:spLocks xmlns:a="http://schemas.openxmlformats.org/drawingml/2006/main" noGrp="1"/>
          </p:cNvSpPr>
          <p:nvPr/>
        </p:nvSpPr>
        <p:spPr>
          <a:xfrm xmlns:a="http://schemas.openxmlformats.org/drawingml/2006/main">
            <a:off x="9753600" y="3571875"/>
            <a:ext cx="1828800" cy="10477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통계 계산">
            <a:extLst xmlns:a="http://schemas.openxmlformats.org/drawingml/2006/main">
              <a:ext uri="{FF2B5EF4-FFF2-40B4-BE49-F238E27FC236}">
                <a16:creationId xmlns:a16="http://schemas.microsoft.com/office/drawing/2014/main" id="{F4270760-B2A4-47F5-AAF6-53828C2BEF0B}"/>
              </a:ext>
            </a:extLst>
          </p:cNvPr>
          <p:cNvSpPr>
            <a:spLocks xmlns:a="http://schemas.openxmlformats.org/drawingml/2006/main" noGrp="1"/>
          </p:cNvSpPr>
          <p:nvPr/>
        </p:nvSpPr>
        <p:spPr>
          <a:xfrm xmlns:a="http://schemas.openxmlformats.org/drawingml/2006/main">
            <a:off x="9867900" y="3857625"/>
            <a:ext cx="1600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통계 계산</a:t>
            </a:r>
          </a:p>
        </p:txBody>
      </p:sp>
      <p:cxnSp>
        <p:nvCxnSpPr>
          <p:cNvPr id="21" name="">
            <a:extLst xmlns:a="http://schemas.openxmlformats.org/drawingml/2006/main">
              <a:ext uri="{FF2B5EF4-FFF2-40B4-BE49-F238E27FC236}">
                <a16:creationId xmlns:a16="http://schemas.microsoft.com/office/drawing/2014/main" id="{62DD4082-0323-491A-9372-CC12A0DED666}"/>
              </a:ext>
            </a:extLst>
          </p:cNvPr>
          <p:cNvCxnSpPr/>
          <p:nvPr/>
        </p:nvCxnSpPr>
        <p:spPr>
          <a:xfrm xmlns:a="http://schemas.openxmlformats.org/drawingml/2006/main">
            <a:off x="6324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2" name="">
            <a:extLst xmlns:a="http://schemas.openxmlformats.org/drawingml/2006/main">
              <a:ext uri="{FF2B5EF4-FFF2-40B4-BE49-F238E27FC236}">
                <a16:creationId xmlns:a16="http://schemas.microsoft.com/office/drawing/2014/main" id="{20977387-1703-4A27-A471-8F86AAA48C47}"/>
              </a:ext>
            </a:extLst>
          </p:cNvPr>
          <p:cNvCxnSpPr/>
          <p:nvPr/>
        </p:nvCxnSpPr>
        <p:spPr>
          <a:xfrm xmlns:a="http://schemas.openxmlformats.org/drawingml/2006/main">
            <a:off x="9372600" y="410527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초안이 나왔다. 완료 기준을 만족하는지는 아직 확인 전이다">
            <a:extLst xmlns:a="http://schemas.openxmlformats.org/drawingml/2006/main">
              <a:ext uri="{FF2B5EF4-FFF2-40B4-BE49-F238E27FC236}">
                <a16:creationId xmlns:a16="http://schemas.microsoft.com/office/drawing/2014/main" id="{2E8805DB-D958-41E4-B124-6269C3D43E68}"/>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초안이 나왔다. 완료 기준을 만족하는지는 아직 확인 전이다</a:t>
            </a:r>
          </a:p>
        </p:txBody>
      </p:sp>
      <p:sp>
        <p:nvSpPr>
          <p:cNvPr id="24" name="Legacy module connection">
            <a:extLst xmlns:a="http://schemas.openxmlformats.org/drawingml/2006/main">
              <a:ext uri="{FF2B5EF4-FFF2-40B4-BE49-F238E27FC236}">
                <a16:creationId xmlns:a16="http://schemas.microsoft.com/office/drawing/2014/main" id="{F9E8E3A2-DA57-47AD-AE1E-24719907FD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6307033"/>
      </p:ext>
    </p:extLst>
  </p:cSld>
</p:sld>
</file>

<file path=ppt/slides/slide8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같은 목표의 구현·검토 · 교육용 사례">
            <a:extLst xmlns:a="http://schemas.openxmlformats.org/drawingml/2006/main">
              <a:ext uri="{FF2B5EF4-FFF2-40B4-BE49-F238E27FC236}">
                <a16:creationId xmlns:a16="http://schemas.microsoft.com/office/drawing/2014/main" id="{C9C9612A-BF8A-4704-A387-A115FD7BBA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89">
            <a:extLst xmlns:a="http://schemas.openxmlformats.org/drawingml/2006/main">
              <a:ext uri="{FF2B5EF4-FFF2-40B4-BE49-F238E27FC236}">
                <a16:creationId xmlns:a16="http://schemas.microsoft.com/office/drawing/2014/main" id="{5C58F10E-972E-430F-AC88-B705E032D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실제 동작과 비용은 도구로 확인한다">
            <a:extLst xmlns:a="http://schemas.openxmlformats.org/drawingml/2006/main">
              <a:ext uri="{FF2B5EF4-FFF2-40B4-BE49-F238E27FC236}">
                <a16:creationId xmlns:a16="http://schemas.microsoft.com/office/drawing/2014/main" id="{D93AC227-07A7-48FC-9F9C-52DBC5DFA53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동작과 비용은 도구로 확인한다</a:t>
            </a:r>
          </a:p>
        </p:txBody>
      </p:sp>
      <p:sp>
        <p:nvSpPr>
          <p:cNvPr id="4" name="">
            <a:extLst xmlns:a="http://schemas.openxmlformats.org/drawingml/2006/main">
              <a:ext uri="{FF2B5EF4-FFF2-40B4-BE49-F238E27FC236}">
                <a16:creationId xmlns:a16="http://schemas.microsoft.com/office/drawing/2014/main" id="{2DFAB7DC-5366-4195-840E-2233C0F996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926D97E-A5C7-4249-BE9A-B58AF0AAED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A0908550-F746-429C-94F2-A5DB0F9D3471}"/>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ECD28D5E-17D4-4096-8CF8-80C43A7AC2EB}"/>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C489239A-A9C6-4869-88F0-1BA3FB680396}"/>
              </a:ext>
            </a:extLst>
          </p:cNvPr>
          <p:cNvSpPr>
            <a:spLocks xmlns:a="http://schemas.openxmlformats.org/drawingml/2006/main" noGrp="1"/>
          </p:cNvSpPr>
          <p:nvPr/>
        </p:nvSpPr>
        <p:spPr>
          <a:xfrm xmlns:a="http://schemas.openxmlformats.org/drawingml/2006/main">
            <a:off x="60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출력·동작">
            <a:extLst xmlns:a="http://schemas.openxmlformats.org/drawingml/2006/main">
              <a:ext uri="{FF2B5EF4-FFF2-40B4-BE49-F238E27FC236}">
                <a16:creationId xmlns:a16="http://schemas.microsoft.com/office/drawing/2014/main" id="{31005435-8A6E-423F-9652-905B6A737EBA}"/>
              </a:ext>
            </a:extLst>
          </p:cNvPr>
          <p:cNvSpPr>
            <a:spLocks xmlns:a="http://schemas.openxmlformats.org/drawingml/2006/main" noGrp="1"/>
          </p:cNvSpPr>
          <p:nvPr/>
        </p:nvSpPr>
        <p:spPr>
          <a:xfrm xmlns:a="http://schemas.openxmlformats.org/drawingml/2006/main">
            <a:off x="60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출력·동작</a:t>
            </a:r>
          </a:p>
        </p:txBody>
      </p:sp>
      <p:sp>
        <p:nvSpPr>
          <p:cNvPr id="11" name="명세에 맞는 테스트">
            <a:extLst xmlns:a="http://schemas.openxmlformats.org/drawingml/2006/main">
              <a:ext uri="{FF2B5EF4-FFF2-40B4-BE49-F238E27FC236}">
                <a16:creationId xmlns:a16="http://schemas.microsoft.com/office/drawing/2014/main" id="{6A9F5D40-5687-4111-A00B-FFDEFB6119BF}"/>
              </a:ext>
            </a:extLst>
          </p:cNvPr>
          <p:cNvSpPr>
            <a:spLocks xmlns:a="http://schemas.openxmlformats.org/drawingml/2006/main" noGrp="1"/>
          </p:cNvSpPr>
          <p:nvPr/>
        </p:nvSpPr>
        <p:spPr>
          <a:xfrm xmlns:a="http://schemas.openxmlformats.org/drawingml/2006/main">
            <a:off x="60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명세에 맞는 테스트</a:t>
            </a:r>
          </a:p>
        </p:txBody>
      </p:sp>
      <p:sp>
        <p:nvSpPr>
          <p:cNvPr id="12" name="동작·값 보존">
            <a:extLst xmlns:a="http://schemas.openxmlformats.org/drawingml/2006/main">
              <a:ext uri="{FF2B5EF4-FFF2-40B4-BE49-F238E27FC236}">
                <a16:creationId xmlns:a16="http://schemas.microsoft.com/office/drawing/2014/main" id="{7B4384B7-B1A7-492A-8C9B-30E7D131B195}"/>
              </a:ext>
            </a:extLst>
          </p:cNvPr>
          <p:cNvSpPr>
            <a:spLocks xmlns:a="http://schemas.openxmlformats.org/drawingml/2006/main" noGrp="1"/>
          </p:cNvSpPr>
          <p:nvPr/>
        </p:nvSpPr>
        <p:spPr>
          <a:xfrm xmlns:a="http://schemas.openxmlformats.org/drawingml/2006/main">
            <a:off x="60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동작·값 보존</a:t>
            </a:r>
          </a:p>
        </p:txBody>
      </p:sp>
      <p:sp>
        <p:nvSpPr>
          <p:cNvPr id="13" name="">
            <a:extLst xmlns:a="http://schemas.openxmlformats.org/drawingml/2006/main">
              <a:ext uri="{FF2B5EF4-FFF2-40B4-BE49-F238E27FC236}">
                <a16:creationId xmlns:a16="http://schemas.microsoft.com/office/drawing/2014/main" id="{1E18CCB3-A820-4996-BF1A-7FF153245A61}"/>
              </a:ext>
            </a:extLst>
          </p:cNvPr>
          <p:cNvSpPr>
            <a:spLocks xmlns:a="http://schemas.openxmlformats.org/drawingml/2006/main" noGrp="1"/>
          </p:cNvSpPr>
          <p:nvPr/>
        </p:nvSpPr>
        <p:spPr>
          <a:xfrm xmlns:a="http://schemas.openxmlformats.org/drawingml/2006/main">
            <a:off x="441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임시 할당">
            <a:extLst xmlns:a="http://schemas.openxmlformats.org/drawingml/2006/main">
              <a:ext uri="{FF2B5EF4-FFF2-40B4-BE49-F238E27FC236}">
                <a16:creationId xmlns:a16="http://schemas.microsoft.com/office/drawing/2014/main" id="{6E8A9284-15AA-475D-BF25-40DB21350F33}"/>
              </a:ext>
            </a:extLst>
          </p:cNvPr>
          <p:cNvSpPr>
            <a:spLocks xmlns:a="http://schemas.openxmlformats.org/drawingml/2006/main" noGrp="1"/>
          </p:cNvSpPr>
          <p:nvPr/>
        </p:nvSpPr>
        <p:spPr>
          <a:xfrm xmlns:a="http://schemas.openxmlformats.org/drawingml/2006/main">
            <a:off x="441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임시 할당</a:t>
            </a:r>
          </a:p>
        </p:txBody>
      </p:sp>
      <p:sp>
        <p:nvSpPr>
          <p:cNvPr id="15" name="대표 입력의 할당량 측정">
            <a:extLst xmlns:a="http://schemas.openxmlformats.org/drawingml/2006/main">
              <a:ext uri="{FF2B5EF4-FFF2-40B4-BE49-F238E27FC236}">
                <a16:creationId xmlns:a16="http://schemas.microsoft.com/office/drawing/2014/main" id="{6B1F9249-5963-473C-83F7-B4B1B58C3107}"/>
              </a:ext>
            </a:extLst>
          </p:cNvPr>
          <p:cNvSpPr>
            <a:spLocks xmlns:a="http://schemas.openxmlformats.org/drawingml/2006/main" noGrp="1"/>
          </p:cNvSpPr>
          <p:nvPr/>
        </p:nvSpPr>
        <p:spPr>
          <a:xfrm xmlns:a="http://schemas.openxmlformats.org/drawingml/2006/main">
            <a:off x="441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대표 입력의 할당량 측정</a:t>
            </a:r>
          </a:p>
        </p:txBody>
      </p:sp>
      <p:sp>
        <p:nvSpPr>
          <p:cNvPr id="16" name="할당량 목표">
            <a:extLst xmlns:a="http://schemas.openxmlformats.org/drawingml/2006/main">
              <a:ext uri="{FF2B5EF4-FFF2-40B4-BE49-F238E27FC236}">
                <a16:creationId xmlns:a16="http://schemas.microsoft.com/office/drawing/2014/main" id="{E3AEB11A-642A-4492-BC14-D7EAC7841CB7}"/>
              </a:ext>
            </a:extLst>
          </p:cNvPr>
          <p:cNvSpPr>
            <a:spLocks xmlns:a="http://schemas.openxmlformats.org/drawingml/2006/main" noGrp="1"/>
          </p:cNvSpPr>
          <p:nvPr/>
        </p:nvSpPr>
        <p:spPr>
          <a:xfrm xmlns:a="http://schemas.openxmlformats.org/drawingml/2006/main">
            <a:off x="441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할당량 목표</a:t>
            </a:r>
          </a:p>
        </p:txBody>
      </p:sp>
      <p:sp>
        <p:nvSpPr>
          <p:cNvPr id="17" name="">
            <a:extLst xmlns:a="http://schemas.openxmlformats.org/drawingml/2006/main">
              <a:ext uri="{FF2B5EF4-FFF2-40B4-BE49-F238E27FC236}">
                <a16:creationId xmlns:a16="http://schemas.microsoft.com/office/drawing/2014/main" id="{53D19E99-77F9-4D06-96AB-3600B98FF198}"/>
              </a:ext>
            </a:extLst>
          </p:cNvPr>
          <p:cNvSpPr>
            <a:spLocks xmlns:a="http://schemas.openxmlformats.org/drawingml/2006/main" noGrp="1"/>
          </p:cNvSpPr>
          <p:nvPr/>
        </p:nvSpPr>
        <p:spPr>
          <a:xfrm xmlns:a="http://schemas.openxmlformats.org/drawingml/2006/main">
            <a:off x="8229600" y="27813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실행시간">
            <a:extLst xmlns:a="http://schemas.openxmlformats.org/drawingml/2006/main">
              <a:ext uri="{FF2B5EF4-FFF2-40B4-BE49-F238E27FC236}">
                <a16:creationId xmlns:a16="http://schemas.microsoft.com/office/drawing/2014/main" id="{CB0DD013-8A1D-47B0-A558-28C58F8B4E32}"/>
              </a:ext>
            </a:extLst>
          </p:cNvPr>
          <p:cNvSpPr>
            <a:spLocks xmlns:a="http://schemas.openxmlformats.org/drawingml/2006/main" noGrp="1"/>
          </p:cNvSpPr>
          <p:nvPr/>
        </p:nvSpPr>
        <p:spPr>
          <a:xfrm xmlns:a="http://schemas.openxmlformats.org/drawingml/2006/main">
            <a:off x="8229600" y="29622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실행시간</a:t>
            </a:r>
          </a:p>
        </p:txBody>
      </p:sp>
      <p:sp>
        <p:nvSpPr>
          <p:cNvPr id="19" name="같은 환경에서 반복 측정">
            <a:extLst xmlns:a="http://schemas.openxmlformats.org/drawingml/2006/main">
              <a:ext uri="{FF2B5EF4-FFF2-40B4-BE49-F238E27FC236}">
                <a16:creationId xmlns:a16="http://schemas.microsoft.com/office/drawing/2014/main" id="{D640E65F-9CC5-4A50-BD20-DA2A65E9359A}"/>
              </a:ext>
            </a:extLst>
          </p:cNvPr>
          <p:cNvSpPr>
            <a:spLocks xmlns:a="http://schemas.openxmlformats.org/drawingml/2006/main" noGrp="1"/>
          </p:cNvSpPr>
          <p:nvPr/>
        </p:nvSpPr>
        <p:spPr>
          <a:xfrm xmlns:a="http://schemas.openxmlformats.org/drawingml/2006/main">
            <a:off x="8229600" y="378142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같은 환경에서 반복 측정</a:t>
            </a:r>
          </a:p>
        </p:txBody>
      </p:sp>
      <p:sp>
        <p:nvSpPr>
          <p:cNvPr id="20" name="시간 허용 범위">
            <a:extLst xmlns:a="http://schemas.openxmlformats.org/drawingml/2006/main">
              <a:ext uri="{FF2B5EF4-FFF2-40B4-BE49-F238E27FC236}">
                <a16:creationId xmlns:a16="http://schemas.microsoft.com/office/drawing/2014/main" id="{C3A986BF-10B3-4C33-A8F7-CE9804370D62}"/>
              </a:ext>
            </a:extLst>
          </p:cNvPr>
          <p:cNvSpPr>
            <a:spLocks xmlns:a="http://schemas.openxmlformats.org/drawingml/2006/main" noGrp="1"/>
          </p:cNvSpPr>
          <p:nvPr/>
        </p:nvSpPr>
        <p:spPr>
          <a:xfrm xmlns:a="http://schemas.openxmlformats.org/drawingml/2006/main">
            <a:off x="8229600" y="457200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시간 허용 범위</a:t>
            </a:r>
          </a:p>
        </p:txBody>
      </p:sp>
      <p:sp>
        <p:nvSpPr>
          <p:cNvPr id="21" name="“확인했다”는 말 대신, 검사·측정 기록을 남긴다">
            <a:extLst xmlns:a="http://schemas.openxmlformats.org/drawingml/2006/main">
              <a:ext uri="{FF2B5EF4-FFF2-40B4-BE49-F238E27FC236}">
                <a16:creationId xmlns:a16="http://schemas.microsoft.com/office/drawing/2014/main" id="{19705B48-566F-4086-A8E9-6AC5F838101F}"/>
              </a:ext>
            </a:extLst>
          </p:cNvPr>
          <p:cNvSpPr>
            <a:spLocks xmlns:a="http://schemas.openxmlformats.org/drawingml/2006/main" noGrp="1"/>
          </p:cNvSpPr>
          <p:nvPr/>
        </p:nvSpPr>
        <p:spPr>
          <a:xfrm xmlns:a="http://schemas.openxmlformats.org/drawingml/2006/main">
            <a:off x="609600" y="52578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“확인했다”는 말 대신, 검사·측정 기록을 남긴다</a:t>
            </a:r>
          </a:p>
        </p:txBody>
      </p:sp>
      <p:sp>
        <p:nvSpPr>
          <p:cNvPr id="22" name="Legacy module connection">
            <a:extLst xmlns:a="http://schemas.openxmlformats.org/drawingml/2006/main">
              <a:ext uri="{FF2B5EF4-FFF2-40B4-BE49-F238E27FC236}">
                <a16:creationId xmlns:a16="http://schemas.microsoft.com/office/drawing/2014/main" id="{06FD829A-5399-4B3F-BF53-B4D9D8967D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603790056"/>
      </p:ext>
    </p:extLst>
  </p:cSld>
</p:sld>
</file>

<file path=ppt/slides/slide9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같은 목표의 구현·검토 · 교육용 사례">
            <a:extLst xmlns:a="http://schemas.openxmlformats.org/drawingml/2006/main">
              <a:ext uri="{FF2B5EF4-FFF2-40B4-BE49-F238E27FC236}">
                <a16:creationId xmlns:a16="http://schemas.microsoft.com/office/drawing/2014/main" id="{AE47DA57-6D10-4F13-9AC0-A7DEDDA3BA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0">
            <a:extLst xmlns:a="http://schemas.openxmlformats.org/drawingml/2006/main">
              <a:ext uri="{FF2B5EF4-FFF2-40B4-BE49-F238E27FC236}">
                <a16:creationId xmlns:a16="http://schemas.microsoft.com/office/drawing/2014/main" id="{5EADEF2A-83B8-4305-A9FE-3E9229E1D3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모델 B는 무엇을 근거로 검토할까?">
            <a:extLst xmlns:a="http://schemas.openxmlformats.org/drawingml/2006/main">
              <a:ext uri="{FF2B5EF4-FFF2-40B4-BE49-F238E27FC236}">
                <a16:creationId xmlns:a16="http://schemas.microsoft.com/office/drawing/2014/main" id="{8D942EA3-BE1A-459B-8546-1727743E2C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 B는 무엇을 근거로 검토할까?</a:t>
            </a:r>
          </a:p>
        </p:txBody>
      </p:sp>
      <p:sp>
        <p:nvSpPr>
          <p:cNvPr id="4" name="">
            <a:extLst xmlns:a="http://schemas.openxmlformats.org/drawingml/2006/main">
              <a:ext uri="{FF2B5EF4-FFF2-40B4-BE49-F238E27FC236}">
                <a16:creationId xmlns:a16="http://schemas.microsoft.com/office/drawing/2014/main" id="{F9912EE3-97CA-4BAE-946A-F96CF5EC16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8DD6A68C-C3E2-4788-86DB-2F56D8AB86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1DDC855E-EE08-4BAA-9868-9AA4F560F7F2}"/>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BEDB4C8E-69D1-441C-A1A4-1DEB61DA34AA}"/>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검토 입력">
            <a:extLst xmlns:a="http://schemas.openxmlformats.org/drawingml/2006/main">
              <a:ext uri="{FF2B5EF4-FFF2-40B4-BE49-F238E27FC236}">
                <a16:creationId xmlns:a16="http://schemas.microsoft.com/office/drawing/2014/main" id="{25A78C80-0EB6-4532-BADB-81FD83121E30}"/>
              </a:ext>
            </a:extLst>
          </p:cNvPr>
          <p:cNvSpPr>
            <a:spLocks xmlns:a="http://schemas.openxmlformats.org/drawingml/2006/main" noGrp="1"/>
          </p:cNvSpPr>
          <p:nvPr/>
        </p:nvSpPr>
        <p:spPr>
          <a:xfrm xmlns:a="http://schemas.openxmlformats.org/drawingml/2006/main">
            <a:off x="609600" y="2647950"/>
            <a:ext cx="415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검토 입력</a:t>
            </a:r>
          </a:p>
        </p:txBody>
      </p:sp>
      <p:sp>
        <p:nvSpPr>
          <p:cNvPr id="10" name="명세·완료 기준&#10;후보 v1의 변경 내용&#10;검사·측정 기록 또는 미확인">
            <a:extLst xmlns:a="http://schemas.openxmlformats.org/drawingml/2006/main">
              <a:ext uri="{FF2B5EF4-FFF2-40B4-BE49-F238E27FC236}">
                <a16:creationId xmlns:a16="http://schemas.microsoft.com/office/drawing/2014/main" id="{DC1C5EF5-C0AA-45E8-900C-6E45320C12CE}"/>
              </a:ext>
            </a:extLst>
          </p:cNvPr>
          <p:cNvSpPr>
            <a:spLocks xmlns:a="http://schemas.openxmlformats.org/drawingml/2006/main" noGrp="1"/>
          </p:cNvSpPr>
          <p:nvPr/>
        </p:nvSpPr>
        <p:spPr>
          <a:xfrm xmlns:a="http://schemas.openxmlformats.org/drawingml/2006/main">
            <a:off x="609600" y="3286125"/>
            <a:ext cx="41529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명세·완료 기준</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후보 v1의 변경 내용</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검사·측정 기록 또는 미확인</a:t>
            </a:r>
          </a:p>
        </p:txBody>
      </p:sp>
      <p:cxnSp>
        <p:nvCxnSpPr>
          <p:cNvPr id="11" name="">
            <a:extLst xmlns:a="http://schemas.openxmlformats.org/drawingml/2006/main">
              <a:ext uri="{FF2B5EF4-FFF2-40B4-BE49-F238E27FC236}">
                <a16:creationId xmlns:a16="http://schemas.microsoft.com/office/drawing/2014/main" id="{D3C632A4-E017-4E7F-BD7A-D83B57A5ECAC}"/>
              </a:ext>
            </a:extLst>
          </p:cNvPr>
          <p:cNvCxnSpPr/>
          <p:nvPr/>
        </p:nvCxnSpPr>
        <p:spPr>
          <a:xfrm xmlns:a="http://schemas.openxmlformats.org/drawingml/2006/main">
            <a:off x="4991100" y="3857625"/>
            <a:ext cx="800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다른 모델 B · 검토">
            <a:extLst xmlns:a="http://schemas.openxmlformats.org/drawingml/2006/main">
              <a:ext uri="{FF2B5EF4-FFF2-40B4-BE49-F238E27FC236}">
                <a16:creationId xmlns:a16="http://schemas.microsoft.com/office/drawing/2014/main" id="{01C95EA5-4E2B-44E6-AECE-BEC718D685AC}"/>
              </a:ext>
            </a:extLst>
          </p:cNvPr>
          <p:cNvSpPr>
            <a:spLocks xmlns:a="http://schemas.openxmlformats.org/drawingml/2006/main" noGrp="1"/>
          </p:cNvSpPr>
          <p:nvPr/>
        </p:nvSpPr>
        <p:spPr>
          <a:xfrm xmlns:a="http://schemas.openxmlformats.org/drawingml/2006/main">
            <a:off x="6248400" y="2647950"/>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다른 모델 B · 검토</a:t>
            </a:r>
          </a:p>
        </p:txBody>
      </p:sp>
      <p:sp>
        <p:nvSpPr>
          <p:cNvPr id="13" name="① 임시 목록이 남아 있다&#10;② 대표 입력의 확인 자료가 없다">
            <a:extLst xmlns:a="http://schemas.openxmlformats.org/drawingml/2006/main">
              <a:ext uri="{FF2B5EF4-FFF2-40B4-BE49-F238E27FC236}">
                <a16:creationId xmlns:a16="http://schemas.microsoft.com/office/drawing/2014/main" id="{9204CD3E-3749-45C1-9C14-9F00714BF26C}"/>
              </a:ext>
            </a:extLst>
          </p:cNvPr>
          <p:cNvSpPr>
            <a:spLocks xmlns:a="http://schemas.openxmlformats.org/drawingml/2006/main" noGrp="1"/>
          </p:cNvSpPr>
          <p:nvPr/>
        </p:nvSpPr>
        <p:spPr>
          <a:xfrm xmlns:a="http://schemas.openxmlformats.org/drawingml/2006/main">
            <a:off x="6248400" y="3286125"/>
            <a:ext cx="5334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남아 있다</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대표 입력의 확인 자료가 없다</a:t>
            </a:r>
          </a:p>
        </p:txBody>
      </p:sp>
      <p:sp>
        <p:nvSpPr>
          <p:cNvPr id="14" name="위치 · 위반 기준 · 근거를 함께 제시">
            <a:extLst xmlns:a="http://schemas.openxmlformats.org/drawingml/2006/main">
              <a:ext uri="{FF2B5EF4-FFF2-40B4-BE49-F238E27FC236}">
                <a16:creationId xmlns:a16="http://schemas.microsoft.com/office/drawing/2014/main" id="{D51FED23-D5D2-4AC3-83EB-85652414D7B2}"/>
              </a:ext>
            </a:extLst>
          </p:cNvPr>
          <p:cNvSpPr>
            <a:spLocks xmlns:a="http://schemas.openxmlformats.org/drawingml/2006/main" noGrp="1"/>
          </p:cNvSpPr>
          <p:nvPr/>
        </p:nvSpPr>
        <p:spPr>
          <a:xfrm xmlns:a="http://schemas.openxmlformats.org/drawingml/2006/main">
            <a:off x="6248400" y="4838700"/>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위치 · 위반 기준 · 근거를 함께 제시</a:t>
            </a:r>
          </a:p>
        </p:txBody>
      </p:sp>
      <p:sp>
        <p:nvSpPr>
          <p:cNvPr id="15" name="">
            <a:extLst xmlns:a="http://schemas.openxmlformats.org/drawingml/2006/main">
              <a:ext uri="{FF2B5EF4-FFF2-40B4-BE49-F238E27FC236}">
                <a16:creationId xmlns:a16="http://schemas.microsoft.com/office/drawing/2014/main" id="{6E12ECF4-9A3E-41B6-953E-44BBFEA53A7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6" name="Practical application tip badge">
            <a:extLst xmlns:a="http://schemas.openxmlformats.org/drawingml/2006/main">
              <a:ext uri="{FF2B5EF4-FFF2-40B4-BE49-F238E27FC236}">
                <a16:creationId xmlns:a16="http://schemas.microsoft.com/office/drawing/2014/main" id="{0703A37D-DE2D-4608-BD3B-90F7A2E9D7A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17" name="Legacy module connection">
            <a:extLst xmlns:a="http://schemas.openxmlformats.org/drawingml/2006/main">
              <a:ext uri="{FF2B5EF4-FFF2-40B4-BE49-F238E27FC236}">
                <a16:creationId xmlns:a16="http://schemas.microsoft.com/office/drawing/2014/main" id="{CB6C3564-41FA-4183-9362-480B5B23D8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93926107"/>
      </p:ext>
    </p:extLst>
  </p:cSld>
</p:sld>
</file>

<file path=ppt/slides/slide9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같은 목표의 구현·검토 · 교육용 사례">
            <a:extLst xmlns:a="http://schemas.openxmlformats.org/drawingml/2006/main">
              <a:ext uri="{FF2B5EF4-FFF2-40B4-BE49-F238E27FC236}">
                <a16:creationId xmlns:a16="http://schemas.microsoft.com/office/drawing/2014/main" id="{77BCED53-FBF9-4FF6-858E-E18F634F1B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1">
            <a:extLst xmlns:a="http://schemas.openxmlformats.org/drawingml/2006/main">
              <a:ext uri="{FF2B5EF4-FFF2-40B4-BE49-F238E27FC236}">
                <a16:creationId xmlns:a16="http://schemas.microsoft.com/office/drawing/2014/main" id="{08F041F8-84D3-4B6F-AB22-ED03808A54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지적이 다음 수정으로 이어진다">
            <a:extLst xmlns:a="http://schemas.openxmlformats.org/drawingml/2006/main">
              <a:ext uri="{FF2B5EF4-FFF2-40B4-BE49-F238E27FC236}">
                <a16:creationId xmlns:a16="http://schemas.microsoft.com/office/drawing/2014/main" id="{1B58FF34-0744-4CDD-9E41-DF776E7D330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지적이 다음 수정으로 이어진다</a:t>
            </a:r>
          </a:p>
        </p:txBody>
      </p:sp>
      <p:sp>
        <p:nvSpPr>
          <p:cNvPr id="4" name="">
            <a:extLst xmlns:a="http://schemas.openxmlformats.org/drawingml/2006/main">
              <a:ext uri="{FF2B5EF4-FFF2-40B4-BE49-F238E27FC236}">
                <a16:creationId xmlns:a16="http://schemas.microsoft.com/office/drawing/2014/main" id="{08716882-C45F-49F1-BC66-188C1318E0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C67C35F3-7124-4253-8B62-7213B00E4D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9439CB06-7513-430B-A5C6-CC6C69D02326}"/>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1666D2F5-52B7-4C2C-8C5A-82587613A5C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모델 B의 검토 지적">
            <a:extLst xmlns:a="http://schemas.openxmlformats.org/drawingml/2006/main">
              <a:ext uri="{FF2B5EF4-FFF2-40B4-BE49-F238E27FC236}">
                <a16:creationId xmlns:a16="http://schemas.microsoft.com/office/drawing/2014/main" id="{EB403A6D-2B96-484A-98E6-BF055DC847BF}"/>
              </a:ext>
            </a:extLst>
          </p:cNvPr>
          <p:cNvSpPr>
            <a:spLocks xmlns:a="http://schemas.openxmlformats.org/drawingml/2006/main" noGrp="1"/>
          </p:cNvSpPr>
          <p:nvPr/>
        </p:nvSpPr>
        <p:spPr>
          <a:xfrm xmlns:a="http://schemas.openxmlformats.org/drawingml/2006/main">
            <a:off x="6096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모델 B의 검토 지적</a:t>
            </a:r>
          </a:p>
        </p:txBody>
      </p:sp>
      <p:sp>
        <p:nvSpPr>
          <p:cNvPr id="10" name="모델 A의 다음 후보 v2">
            <a:extLst xmlns:a="http://schemas.openxmlformats.org/drawingml/2006/main">
              <a:ext uri="{FF2B5EF4-FFF2-40B4-BE49-F238E27FC236}">
                <a16:creationId xmlns:a16="http://schemas.microsoft.com/office/drawing/2014/main" id="{541AA88B-746D-4C9A-A20B-7E3CF355EE8D}"/>
              </a:ext>
            </a:extLst>
          </p:cNvPr>
          <p:cNvSpPr>
            <a:spLocks xmlns:a="http://schemas.openxmlformats.org/drawingml/2006/main" noGrp="1"/>
          </p:cNvSpPr>
          <p:nvPr/>
        </p:nvSpPr>
        <p:spPr>
          <a:xfrm xmlns:a="http://schemas.openxmlformats.org/drawingml/2006/main">
            <a:off x="6858000" y="2686050"/>
            <a:ext cx="4724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모델 A의 다음 후보 v2</a:t>
            </a:r>
          </a:p>
        </p:txBody>
      </p:sp>
      <p:sp>
        <p:nvSpPr>
          <p:cNvPr id="11" name="">
            <a:extLst xmlns:a="http://schemas.openxmlformats.org/drawingml/2006/main">
              <a:ext uri="{FF2B5EF4-FFF2-40B4-BE49-F238E27FC236}">
                <a16:creationId xmlns:a16="http://schemas.microsoft.com/office/drawing/2014/main" id="{F256F10D-A881-4BAB-97A1-63AF8A3A9D50}"/>
              </a:ext>
            </a:extLst>
          </p:cNvPr>
          <p:cNvSpPr>
            <a:spLocks xmlns:a="http://schemas.openxmlformats.org/drawingml/2006/main" noGrp="1"/>
          </p:cNvSpPr>
          <p:nvPr/>
        </p:nvSpPr>
        <p:spPr>
          <a:xfrm xmlns:a="http://schemas.openxmlformats.org/drawingml/2006/main">
            <a:off x="6096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91B4DC7E-A94A-433C-B9BC-44F6F7CB2D63}"/>
              </a:ext>
            </a:extLst>
          </p:cNvPr>
          <p:cNvSpPr>
            <a:spLocks xmlns:a="http://schemas.openxmlformats.org/drawingml/2006/main" noGrp="1"/>
          </p:cNvSpPr>
          <p:nvPr/>
        </p:nvSpPr>
        <p:spPr>
          <a:xfrm xmlns:a="http://schemas.openxmlformats.org/drawingml/2006/main">
            <a:off x="6858000" y="34480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①  임시 목록이 남음">
            <a:extLst xmlns:a="http://schemas.openxmlformats.org/drawingml/2006/main">
              <a:ext uri="{FF2B5EF4-FFF2-40B4-BE49-F238E27FC236}">
                <a16:creationId xmlns:a16="http://schemas.microsoft.com/office/drawing/2014/main" id="{703C41D9-AA0F-4F00-9670-CF470AF2F194}"/>
              </a:ext>
            </a:extLst>
          </p:cNvPr>
          <p:cNvSpPr>
            <a:spLocks xmlns:a="http://schemas.openxmlformats.org/drawingml/2006/main" noGrp="1"/>
          </p:cNvSpPr>
          <p:nvPr/>
        </p:nvSpPr>
        <p:spPr>
          <a:xfrm xmlns:a="http://schemas.openxmlformats.org/drawingml/2006/main">
            <a:off x="6096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임시 목록이 남음</a:t>
            </a:r>
          </a:p>
        </p:txBody>
      </p:sp>
      <p:sp>
        <p:nvSpPr>
          <p:cNvPr id="14" name="①  전체 값 복사 제거">
            <a:extLst xmlns:a="http://schemas.openxmlformats.org/drawingml/2006/main">
              <a:ext uri="{FF2B5EF4-FFF2-40B4-BE49-F238E27FC236}">
                <a16:creationId xmlns:a16="http://schemas.microsoft.com/office/drawing/2014/main" id="{7F1817FC-852A-40CC-A361-90F1897C0075}"/>
              </a:ext>
            </a:extLst>
          </p:cNvPr>
          <p:cNvSpPr>
            <a:spLocks xmlns:a="http://schemas.openxmlformats.org/drawingml/2006/main" noGrp="1"/>
          </p:cNvSpPr>
          <p:nvPr/>
        </p:nvSpPr>
        <p:spPr>
          <a:xfrm xmlns:a="http://schemas.openxmlformats.org/drawingml/2006/main">
            <a:off x="6858000" y="36004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①  전체 값 복사 제거</a:t>
            </a:r>
          </a:p>
        </p:txBody>
      </p:sp>
      <p:cxnSp>
        <p:nvCxnSpPr>
          <p:cNvPr id="15" name="">
            <a:extLst xmlns:a="http://schemas.openxmlformats.org/drawingml/2006/main">
              <a:ext uri="{FF2B5EF4-FFF2-40B4-BE49-F238E27FC236}">
                <a16:creationId xmlns:a16="http://schemas.microsoft.com/office/drawing/2014/main" id="{2831AE07-10A7-4422-9982-23B2F0BDF913}"/>
              </a:ext>
            </a:extLst>
          </p:cNvPr>
          <p:cNvCxnSpPr/>
          <p:nvPr/>
        </p:nvCxnSpPr>
        <p:spPr>
          <a:xfrm xmlns:a="http://schemas.openxmlformats.org/drawingml/2006/main">
            <a:off x="5619750" y="38766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48B1054-4685-4C5F-9A84-A08A125C5378}"/>
              </a:ext>
            </a:extLst>
          </p:cNvPr>
          <p:cNvSpPr>
            <a:spLocks xmlns:a="http://schemas.openxmlformats.org/drawingml/2006/main" noGrp="1"/>
          </p:cNvSpPr>
          <p:nvPr/>
        </p:nvSpPr>
        <p:spPr>
          <a:xfrm xmlns:a="http://schemas.openxmlformats.org/drawingml/2006/main">
            <a:off x="6096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D7429D85-92A3-4978-BFA8-1E492D06CAA1}"/>
              </a:ext>
            </a:extLst>
          </p:cNvPr>
          <p:cNvSpPr>
            <a:spLocks xmlns:a="http://schemas.openxmlformats.org/drawingml/2006/main" noGrp="1"/>
          </p:cNvSpPr>
          <p:nvPr/>
        </p:nvSpPr>
        <p:spPr>
          <a:xfrm xmlns:a="http://schemas.openxmlformats.org/drawingml/2006/main">
            <a:off x="6858000" y="4552950"/>
            <a:ext cx="4724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②  확인 자료가 없음">
            <a:extLst xmlns:a="http://schemas.openxmlformats.org/drawingml/2006/main">
              <a:ext uri="{FF2B5EF4-FFF2-40B4-BE49-F238E27FC236}">
                <a16:creationId xmlns:a16="http://schemas.microsoft.com/office/drawing/2014/main" id="{FF603E55-5F33-4587-8F54-C03B9EFE367D}"/>
              </a:ext>
            </a:extLst>
          </p:cNvPr>
          <p:cNvSpPr>
            <a:spLocks xmlns:a="http://schemas.openxmlformats.org/drawingml/2006/main" noGrp="1"/>
          </p:cNvSpPr>
          <p:nvPr/>
        </p:nvSpPr>
        <p:spPr>
          <a:xfrm xmlns:a="http://schemas.openxmlformats.org/drawingml/2006/main">
            <a:off x="6096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확인 자료가 없음</a:t>
            </a:r>
          </a:p>
        </p:txBody>
      </p:sp>
      <p:sp>
        <p:nvSpPr>
          <p:cNvPr id="19" name="②  같은 결과 검사 추가">
            <a:extLst xmlns:a="http://schemas.openxmlformats.org/drawingml/2006/main">
              <a:ext uri="{FF2B5EF4-FFF2-40B4-BE49-F238E27FC236}">
                <a16:creationId xmlns:a16="http://schemas.microsoft.com/office/drawing/2014/main" id="{B4CF033E-1668-421D-82EE-E59F4A8D91A8}"/>
              </a:ext>
            </a:extLst>
          </p:cNvPr>
          <p:cNvSpPr>
            <a:spLocks xmlns:a="http://schemas.openxmlformats.org/drawingml/2006/main" noGrp="1"/>
          </p:cNvSpPr>
          <p:nvPr/>
        </p:nvSpPr>
        <p:spPr>
          <a:xfrm xmlns:a="http://schemas.openxmlformats.org/drawingml/2006/main">
            <a:off x="6858000" y="4705350"/>
            <a:ext cx="4724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②  같은 결과 검사 추가</a:t>
            </a:r>
          </a:p>
        </p:txBody>
      </p:sp>
      <p:cxnSp>
        <p:nvCxnSpPr>
          <p:cNvPr id="20" name="">
            <a:extLst xmlns:a="http://schemas.openxmlformats.org/drawingml/2006/main">
              <a:ext uri="{FF2B5EF4-FFF2-40B4-BE49-F238E27FC236}">
                <a16:creationId xmlns:a16="http://schemas.microsoft.com/office/drawing/2014/main" id="{77B95D42-6691-4E10-B21E-DD64C8CA67BE}"/>
              </a:ext>
            </a:extLst>
          </p:cNvPr>
          <p:cNvCxnSpPr/>
          <p:nvPr/>
        </p:nvCxnSpPr>
        <p:spPr>
          <a:xfrm xmlns:a="http://schemas.openxmlformats.org/drawingml/2006/main">
            <a:off x="5619750" y="4981575"/>
            <a:ext cx="8953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Legacy module connection">
            <a:extLst xmlns:a="http://schemas.openxmlformats.org/drawingml/2006/main">
              <a:ext uri="{FF2B5EF4-FFF2-40B4-BE49-F238E27FC236}">
                <a16:creationId xmlns:a16="http://schemas.microsoft.com/office/drawing/2014/main" id="{FE579355-B69A-4371-9699-D7D6C72EE6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4776868"/>
      </p:ext>
    </p:extLst>
  </p:cSld>
</p:sld>
</file>

<file path=ppt/slides/slide9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같은 목표의 구현·검토 · 교육용 사례">
            <a:extLst xmlns:a="http://schemas.openxmlformats.org/drawingml/2006/main">
              <a:ext uri="{FF2B5EF4-FFF2-40B4-BE49-F238E27FC236}">
                <a16:creationId xmlns:a16="http://schemas.microsoft.com/office/drawing/2014/main" id="{ABE08FD3-CC95-4037-AC7E-1AB4AC28004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같은 목표의 구현·검토 · 교육용 사례</a:t>
            </a:r>
          </a:p>
        </p:txBody>
      </p:sp>
      <p:sp>
        <p:nvSpPr>
          <p:cNvPr id="2" name="S92">
            <a:extLst xmlns:a="http://schemas.openxmlformats.org/drawingml/2006/main">
              <a:ext uri="{FF2B5EF4-FFF2-40B4-BE49-F238E27FC236}">
                <a16:creationId xmlns:a16="http://schemas.microsoft.com/office/drawing/2014/main" id="{C7E60927-DEE4-426E-9A2F-A3EA1926D7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고쳤다면, 같은 기준으로 다시 본다">
            <a:extLst xmlns:a="http://schemas.openxmlformats.org/drawingml/2006/main">
              <a:ext uri="{FF2B5EF4-FFF2-40B4-BE49-F238E27FC236}">
                <a16:creationId xmlns:a16="http://schemas.microsoft.com/office/drawing/2014/main" id="{BA341953-DD0C-4C6C-957B-662A9123C42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고쳤다면, 같은 기준으로 다시 본다</a:t>
            </a:r>
          </a:p>
        </p:txBody>
      </p:sp>
      <p:sp>
        <p:nvSpPr>
          <p:cNvPr id="4" name="">
            <a:extLst xmlns:a="http://schemas.openxmlformats.org/drawingml/2006/main">
              <a:ext uri="{FF2B5EF4-FFF2-40B4-BE49-F238E27FC236}">
                <a16:creationId xmlns:a16="http://schemas.microsoft.com/office/drawing/2014/main" id="{B0EE7AB2-9EF6-4FEF-B399-F86F4F2C7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Audience footer 1">
            <a:extLst xmlns:a="http://schemas.openxmlformats.org/drawingml/2006/main">
              <a:ext uri="{FF2B5EF4-FFF2-40B4-BE49-F238E27FC236}">
                <a16:creationId xmlns:a16="http://schemas.microsoft.com/office/drawing/2014/main" id="{E7960784-8C11-454D-AF6C-F2BB9FF05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가상 진행 예시</a:t>
            </a:r>
          </a:p>
        </p:txBody>
      </p:sp>
      <p:sp>
        <p:nvSpPr>
          <p:cNvPr id="7" name="">
            <a:extLst xmlns:a="http://schemas.openxmlformats.org/drawingml/2006/main">
              <a:ext uri="{FF2B5EF4-FFF2-40B4-BE49-F238E27FC236}">
                <a16:creationId xmlns:a16="http://schemas.microsoft.com/office/drawing/2014/main" id="{E3F98201-815E-403D-ACC8-4C421FE5F18A}"/>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같은 목표: 출력·동작 유지 / 임시 할당 줄이기 / 실행시간 조건 지키기">
            <a:extLst xmlns:a="http://schemas.openxmlformats.org/drawingml/2006/main">
              <a:ext uri="{FF2B5EF4-FFF2-40B4-BE49-F238E27FC236}">
                <a16:creationId xmlns:a16="http://schemas.microsoft.com/office/drawing/2014/main" id="{37082290-8E15-4E86-AE1A-53D4DED05931}"/>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목표: 출력·동작 유지 / 임시 할당 줄이기 / 실행시간 조건 지키기</a:t>
            </a:r>
          </a:p>
        </p:txBody>
      </p:sp>
      <p:sp>
        <p:nvSpPr>
          <p:cNvPr id="9" name="">
            <a:extLst xmlns:a="http://schemas.openxmlformats.org/drawingml/2006/main">
              <a:ext uri="{FF2B5EF4-FFF2-40B4-BE49-F238E27FC236}">
                <a16:creationId xmlns:a16="http://schemas.microsoft.com/office/drawing/2014/main" id="{EF34EF68-19CD-4CB5-81FA-2810443A2424}"/>
              </a:ext>
            </a:extLst>
          </p:cNvPr>
          <p:cNvSpPr>
            <a:spLocks xmlns:a="http://schemas.openxmlformats.org/drawingml/2006/main" noGrp="1"/>
          </p:cNvSpPr>
          <p:nvPr/>
        </p:nvSpPr>
        <p:spPr>
          <a:xfrm xmlns:a="http://schemas.openxmlformats.org/drawingml/2006/main">
            <a:off x="609600" y="2819400"/>
            <a:ext cx="2971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후보 v2">
            <a:extLst xmlns:a="http://schemas.openxmlformats.org/drawingml/2006/main">
              <a:ext uri="{FF2B5EF4-FFF2-40B4-BE49-F238E27FC236}">
                <a16:creationId xmlns:a16="http://schemas.microsoft.com/office/drawing/2014/main" id="{2B960A19-4473-4614-B423-3C3FCF7D94AA}"/>
              </a:ext>
            </a:extLst>
          </p:cNvPr>
          <p:cNvSpPr>
            <a:spLocks xmlns:a="http://schemas.openxmlformats.org/drawingml/2006/main" noGrp="1"/>
          </p:cNvSpPr>
          <p:nvPr/>
        </p:nvSpPr>
        <p:spPr>
          <a:xfrm xmlns:a="http://schemas.openxmlformats.org/drawingml/2006/main">
            <a:off x="800100" y="2933700"/>
            <a:ext cx="2590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후보 v2</a:t>
            </a:r>
          </a:p>
        </p:txBody>
      </p:sp>
      <p:sp>
        <p:nvSpPr>
          <p:cNvPr id="11" name="수정한 변경과 기록">
            <a:extLst xmlns:a="http://schemas.openxmlformats.org/drawingml/2006/main">
              <a:ext uri="{FF2B5EF4-FFF2-40B4-BE49-F238E27FC236}">
                <a16:creationId xmlns:a16="http://schemas.microsoft.com/office/drawing/2014/main" id="{FC1DBCC1-0629-43C6-862A-DDE46710105E}"/>
              </a:ext>
            </a:extLst>
          </p:cNvPr>
          <p:cNvSpPr>
            <a:spLocks xmlns:a="http://schemas.openxmlformats.org/drawingml/2006/main" noGrp="1"/>
          </p:cNvSpPr>
          <p:nvPr/>
        </p:nvSpPr>
        <p:spPr>
          <a:xfrm xmlns:a="http://schemas.openxmlformats.org/drawingml/2006/main">
            <a:off x="800100" y="3448050"/>
            <a:ext cx="2590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수정한 변경과 기록</a:t>
            </a:r>
          </a:p>
        </p:txBody>
      </p:sp>
      <p:cxnSp>
        <p:nvCxnSpPr>
          <p:cNvPr id="12" name="">
            <a:extLst xmlns:a="http://schemas.openxmlformats.org/drawingml/2006/main">
              <a:ext uri="{FF2B5EF4-FFF2-40B4-BE49-F238E27FC236}">
                <a16:creationId xmlns:a16="http://schemas.microsoft.com/office/drawing/2014/main" id="{69B27C9D-B827-44FB-B73F-5A5ADEE93E07}"/>
              </a:ext>
            </a:extLst>
          </p:cNvPr>
          <p:cNvCxnSpPr/>
          <p:nvPr/>
        </p:nvCxnSpPr>
        <p:spPr>
          <a:xfrm xmlns:a="http://schemas.openxmlformats.org/drawingml/2006/main">
            <a:off x="375285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6B0A39C-ED6B-49E6-869F-BDA3B0AE1325}"/>
              </a:ext>
            </a:extLst>
          </p:cNvPr>
          <p:cNvSpPr>
            <a:spLocks xmlns:a="http://schemas.openxmlformats.org/drawingml/2006/main" noGrp="1"/>
          </p:cNvSpPr>
          <p:nvPr/>
        </p:nvSpPr>
        <p:spPr>
          <a:xfrm xmlns:a="http://schemas.openxmlformats.org/drawingml/2006/main">
            <a:off x="4419600" y="281940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도구 + 모델 B">
            <a:extLst xmlns:a="http://schemas.openxmlformats.org/drawingml/2006/main">
              <a:ext uri="{FF2B5EF4-FFF2-40B4-BE49-F238E27FC236}">
                <a16:creationId xmlns:a16="http://schemas.microsoft.com/office/drawing/2014/main" id="{A68C95E6-52F0-4D32-B276-02A89F47C55D}"/>
              </a:ext>
            </a:extLst>
          </p:cNvPr>
          <p:cNvSpPr>
            <a:spLocks xmlns:a="http://schemas.openxmlformats.org/drawingml/2006/main" noGrp="1"/>
          </p:cNvSpPr>
          <p:nvPr/>
        </p:nvSpPr>
        <p:spPr>
          <a:xfrm xmlns:a="http://schemas.openxmlformats.org/drawingml/2006/main">
            <a:off x="4610100" y="293370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 모델 B</a:t>
            </a:r>
          </a:p>
        </p:txBody>
      </p:sp>
      <p:sp>
        <p:nvSpPr>
          <p:cNvPr id="15" name="같은 기준으로 재확인">
            <a:extLst xmlns:a="http://schemas.openxmlformats.org/drawingml/2006/main">
              <a:ext uri="{FF2B5EF4-FFF2-40B4-BE49-F238E27FC236}">
                <a16:creationId xmlns:a16="http://schemas.microsoft.com/office/drawing/2014/main" id="{8186ADAE-FE3C-4896-9DF9-5B36D4B6B740}"/>
              </a:ext>
            </a:extLst>
          </p:cNvPr>
          <p:cNvSpPr>
            <a:spLocks xmlns:a="http://schemas.openxmlformats.org/drawingml/2006/main" noGrp="1"/>
          </p:cNvSpPr>
          <p:nvPr/>
        </p:nvSpPr>
        <p:spPr>
          <a:xfrm xmlns:a="http://schemas.openxmlformats.org/drawingml/2006/main">
            <a:off x="4610100" y="344805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기준으로 재확인</a:t>
            </a:r>
          </a:p>
        </p:txBody>
      </p:sp>
      <p:cxnSp>
        <p:nvCxnSpPr>
          <p:cNvPr id="16" name="">
            <a:extLst xmlns:a="http://schemas.openxmlformats.org/drawingml/2006/main">
              <a:ext uri="{FF2B5EF4-FFF2-40B4-BE49-F238E27FC236}">
                <a16:creationId xmlns:a16="http://schemas.microsoft.com/office/drawing/2014/main" id="{D6E53E34-6768-419E-9D25-DC7779D93F5C}"/>
              </a:ext>
            </a:extLst>
          </p:cNvPr>
          <p:cNvCxnSpPr/>
          <p:nvPr/>
        </p:nvCxnSpPr>
        <p:spPr>
          <a:xfrm xmlns:a="http://schemas.openxmlformats.org/drawingml/2006/main">
            <a:off x="7962900" y="343852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기준 충족">
            <a:extLst xmlns:a="http://schemas.openxmlformats.org/drawingml/2006/main">
              <a:ext uri="{FF2B5EF4-FFF2-40B4-BE49-F238E27FC236}">
                <a16:creationId xmlns:a16="http://schemas.microsoft.com/office/drawing/2014/main" id="{8EB21381-89CE-42E0-B262-87256E1D4441}"/>
              </a:ext>
            </a:extLst>
          </p:cNvPr>
          <p:cNvSpPr>
            <a:spLocks xmlns:a="http://schemas.openxmlformats.org/drawingml/2006/main" noGrp="1"/>
          </p:cNvSpPr>
          <p:nvPr/>
        </p:nvSpPr>
        <p:spPr>
          <a:xfrm xmlns:a="http://schemas.openxmlformats.org/drawingml/2006/main">
            <a:off x="8763000" y="2857500"/>
            <a:ext cx="2819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기준 충족</a:t>
            </a:r>
          </a:p>
        </p:txBody>
      </p:sp>
      <p:sp>
        <p:nvSpPr>
          <p:cNvPr id="18" name="완료 판단">
            <a:extLst xmlns:a="http://schemas.openxmlformats.org/drawingml/2006/main">
              <a:ext uri="{FF2B5EF4-FFF2-40B4-BE49-F238E27FC236}">
                <a16:creationId xmlns:a16="http://schemas.microsoft.com/office/drawing/2014/main" id="{6AA74C04-196F-48EA-B58B-40931BA531B9}"/>
              </a:ext>
            </a:extLst>
          </p:cNvPr>
          <p:cNvSpPr>
            <a:spLocks xmlns:a="http://schemas.openxmlformats.org/drawingml/2006/main" noGrp="1"/>
          </p:cNvSpPr>
          <p:nvPr/>
        </p:nvSpPr>
        <p:spPr>
          <a:xfrm xmlns:a="http://schemas.openxmlformats.org/drawingml/2006/main">
            <a:off x="8763000" y="336232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완료 판단</a:t>
            </a:r>
          </a:p>
        </p:txBody>
      </p:sp>
      <p:sp>
        <p:nvSpPr>
          <p:cNvPr id="19" name="남은 지적">
            <a:extLst xmlns:a="http://schemas.openxmlformats.org/drawingml/2006/main">
              <a:ext uri="{FF2B5EF4-FFF2-40B4-BE49-F238E27FC236}">
                <a16:creationId xmlns:a16="http://schemas.microsoft.com/office/drawing/2014/main" id="{8FFD4661-3104-4C52-9DFA-12EF1D6419E0}"/>
              </a:ext>
            </a:extLst>
          </p:cNvPr>
          <p:cNvSpPr>
            <a:spLocks xmlns:a="http://schemas.openxmlformats.org/drawingml/2006/main" noGrp="1"/>
          </p:cNvSpPr>
          <p:nvPr/>
        </p:nvSpPr>
        <p:spPr>
          <a:xfrm xmlns:a="http://schemas.openxmlformats.org/drawingml/2006/main">
            <a:off x="8763000" y="4248150"/>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지적</a:t>
            </a:r>
          </a:p>
        </p:txBody>
      </p:sp>
      <p:sp>
        <p:nvSpPr>
          <p:cNvPr id="20" name="후보 v3로 수정 계속">
            <a:extLst xmlns:a="http://schemas.openxmlformats.org/drawingml/2006/main">
              <a:ext uri="{FF2B5EF4-FFF2-40B4-BE49-F238E27FC236}">
                <a16:creationId xmlns:a16="http://schemas.microsoft.com/office/drawing/2014/main" id="{C8DA76EA-2078-4644-B499-7B9BDBCE0FA9}"/>
              </a:ext>
            </a:extLst>
          </p:cNvPr>
          <p:cNvSpPr>
            <a:spLocks xmlns:a="http://schemas.openxmlformats.org/drawingml/2006/main" noGrp="1"/>
          </p:cNvSpPr>
          <p:nvPr/>
        </p:nvSpPr>
        <p:spPr>
          <a:xfrm xmlns:a="http://schemas.openxmlformats.org/drawingml/2006/main">
            <a:off x="8763000" y="4714875"/>
            <a:ext cx="2819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후보 v3로 수정 계속</a:t>
            </a:r>
          </a:p>
        </p:txBody>
      </p:sp>
      <p:sp>
        <p:nvSpPr>
          <p:cNvPr id="21" name="">
            <a:extLst xmlns:a="http://schemas.openxmlformats.org/drawingml/2006/main">
              <a:ext uri="{FF2B5EF4-FFF2-40B4-BE49-F238E27FC236}">
                <a16:creationId xmlns:a16="http://schemas.microsoft.com/office/drawing/2014/main" id="{3038C71E-2268-4A15-8462-63896FAF2A60}"/>
              </a:ext>
            </a:extLst>
          </p:cNvPr>
          <p:cNvSpPr>
            <a:spLocks xmlns:a="http://schemas.openxmlformats.org/drawingml/2006/main" noGrp="1"/>
          </p:cNvSpPr>
          <p:nvPr/>
        </p:nvSpPr>
        <p:spPr>
          <a:xfrm xmlns:a="http://schemas.openxmlformats.org/drawingml/2006/main">
            <a:off x="2076450" y="4991100"/>
            <a:ext cx="6229350" cy="0"/>
          </a:xfrm>
          <a:prstGeom xmlns:a="http://schemas.openxmlformats.org/drawingml/2006/main" prst="line">
            <a:avLst/>
          </a:prstGeom>
          <a:noFill xmlns:a="http://schemas.openxmlformats.org/drawingml/2006/main"/>
          <a:ln xmlns:a="http://schemas.openxmlformats.org/drawingml/2006/main" w="23813">
            <a:solidFill>
              <a:srgbClr val="805400"/>
            </a:solidFill>
            <a:prstDash val="solid"/>
          </a:ln>
        </p:spPr>
      </p:sp>
      <p:sp>
        <p:nvSpPr>
          <p:cNvPr id="22" name="">
            <a:extLst xmlns:a="http://schemas.openxmlformats.org/drawingml/2006/main">
              <a:ext uri="{FF2B5EF4-FFF2-40B4-BE49-F238E27FC236}">
                <a16:creationId xmlns:a16="http://schemas.microsoft.com/office/drawing/2014/main" id="{DE950E02-D26C-49F6-B803-FAEFB693F27D}"/>
              </a:ext>
            </a:extLst>
          </p:cNvPr>
          <p:cNvSpPr>
            <a:spLocks xmlns:a="http://schemas.openxmlformats.org/drawingml/2006/main" noGrp="1"/>
          </p:cNvSpPr>
          <p:nvPr/>
        </p:nvSpPr>
        <p:spPr>
          <a:xfrm xmlns:a="http://schemas.openxmlformats.org/drawingml/2006/main">
            <a:off x="8305800" y="4057650"/>
            <a:ext cx="0" cy="933450"/>
          </a:xfrm>
          <a:prstGeom xmlns:a="http://schemas.openxmlformats.org/drawingml/2006/main" prst="line">
            <a:avLst/>
          </a:prstGeom>
          <a:ln xmlns:a="http://schemas.openxmlformats.org/drawingml/2006/main" w="23813">
            <a:solidFill>
              <a:srgbClr val="805400"/>
            </a:solidFill>
          </a:ln>
        </p:spPr>
      </p:sp>
      <p:cxnSp>
        <p:nvCxnSpPr>
          <p:cNvPr id="23" name="">
            <a:extLst xmlns:a="http://schemas.openxmlformats.org/drawingml/2006/main">
              <a:ext uri="{FF2B5EF4-FFF2-40B4-BE49-F238E27FC236}">
                <a16:creationId xmlns:a16="http://schemas.microsoft.com/office/drawing/2014/main" id="{501FD3CD-F28A-4AC1-9988-BF54DDB5C32E}"/>
              </a:ext>
            </a:extLst>
          </p:cNvPr>
          <p:cNvCxnSpPr/>
          <p:nvPr/>
        </p:nvCxnSpPr>
        <p:spPr>
          <a:xfrm xmlns:a="http://schemas.openxmlformats.org/drawingml/2006/main">
            <a:off x="2076450" y="4057650"/>
            <a:ext cx="0" cy="933450"/>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4" name="완료 기준을 낮춰서 끝내지 않는다">
            <a:extLst xmlns:a="http://schemas.openxmlformats.org/drawingml/2006/main">
              <a:ext uri="{FF2B5EF4-FFF2-40B4-BE49-F238E27FC236}">
                <a16:creationId xmlns:a16="http://schemas.microsoft.com/office/drawing/2014/main" id="{F3DA63F7-FFA8-46A4-82F7-19E82406AFB8}"/>
              </a:ext>
            </a:extLst>
          </p:cNvPr>
          <p:cNvSpPr>
            <a:spLocks xmlns:a="http://schemas.openxmlformats.org/drawingml/2006/main" noGrp="1"/>
          </p:cNvSpPr>
          <p:nvPr/>
        </p:nvSpPr>
        <p:spPr>
          <a:xfrm xmlns:a="http://schemas.openxmlformats.org/drawingml/2006/main">
            <a:off x="609600" y="5305425"/>
            <a:ext cx="7429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완료 기준을 낮춰서 끝내지 않는다</a:t>
            </a:r>
          </a:p>
        </p:txBody>
      </p:sp>
      <p:sp>
        <p:nvSpPr>
          <p:cNvPr id="25" name="Legacy module connection">
            <a:extLst xmlns:a="http://schemas.openxmlformats.org/drawingml/2006/main">
              <a:ext uri="{FF2B5EF4-FFF2-40B4-BE49-F238E27FC236}">
                <a16:creationId xmlns:a16="http://schemas.microsoft.com/office/drawing/2014/main" id="{7D4B9AE3-7097-4C7E-975A-53BC2EDE10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04478003"/>
      </p:ext>
    </p:extLst>
  </p:cSld>
</p:sld>
</file>

<file path=ppt/slides/slide9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루프 운영 설계">
            <a:extLst xmlns:a="http://schemas.openxmlformats.org/drawingml/2006/main">
              <a:ext uri="{FF2B5EF4-FFF2-40B4-BE49-F238E27FC236}">
                <a16:creationId xmlns:a16="http://schemas.microsoft.com/office/drawing/2014/main" id="{C08A9FEC-76AB-4911-978C-10CBD992CEA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3">
            <a:extLst xmlns:a="http://schemas.openxmlformats.org/drawingml/2006/main">
              <a:ext uri="{FF2B5EF4-FFF2-40B4-BE49-F238E27FC236}">
                <a16:creationId xmlns:a16="http://schemas.microsoft.com/office/drawing/2014/main" id="{163C20E9-50D3-4E6A-9A1C-69264B4DA5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같은 목표의 구현·검토 루프">
            <a:extLst xmlns:a="http://schemas.openxmlformats.org/drawingml/2006/main">
              <a:ext uri="{FF2B5EF4-FFF2-40B4-BE49-F238E27FC236}">
                <a16:creationId xmlns:a16="http://schemas.microsoft.com/office/drawing/2014/main" id="{756E27E9-76CE-4C08-9F86-7284E48243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구현·검토 루프</a:t>
            </a:r>
          </a:p>
        </p:txBody>
      </p:sp>
      <p:sp>
        <p:nvSpPr>
          <p:cNvPr id="4" name="">
            <a:extLst xmlns:a="http://schemas.openxmlformats.org/drawingml/2006/main">
              <a:ext uri="{FF2B5EF4-FFF2-40B4-BE49-F238E27FC236}">
                <a16:creationId xmlns:a16="http://schemas.microsoft.com/office/drawing/2014/main" id="{5199ACB1-9574-41AE-ACD7-37DCB0D3DC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72B4C70D-12CE-4A73-9407-E7C85F5DB31F}"/>
              </a:ext>
            </a:extLst>
          </p:cNvPr>
          <p:cNvSpPr>
            <a:spLocks xmlns:a="http://schemas.openxmlformats.org/drawingml/2006/main" noGrp="1"/>
          </p:cNvSpPr>
          <p:nvPr/>
        </p:nvSpPr>
        <p:spPr>
          <a:xfrm xmlns:a="http://schemas.openxmlformats.org/drawingml/2006/main">
            <a:off x="609600" y="1762125"/>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목표·완료 기준은 유지하고, 현재 후보와 남은 문제를 갱신한다">
            <a:extLst xmlns:a="http://schemas.openxmlformats.org/drawingml/2006/main">
              <a:ext uri="{FF2B5EF4-FFF2-40B4-BE49-F238E27FC236}">
                <a16:creationId xmlns:a16="http://schemas.microsoft.com/office/drawing/2014/main" id="{FA043543-6AA6-448E-A0A9-E7C9D872C1E7}"/>
              </a:ext>
            </a:extLst>
          </p:cNvPr>
          <p:cNvSpPr>
            <a:spLocks xmlns:a="http://schemas.openxmlformats.org/drawingml/2006/main" noGrp="1"/>
          </p:cNvSpPr>
          <p:nvPr/>
        </p:nvSpPr>
        <p:spPr>
          <a:xfrm xmlns:a="http://schemas.openxmlformats.org/drawingml/2006/main">
            <a:off x="609600" y="1895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목표·완료 기준은 유지하고, 현재 후보와 남은 문제를 갱신한다</a:t>
            </a:r>
          </a:p>
        </p:txBody>
      </p:sp>
      <p:sp>
        <p:nvSpPr>
          <p:cNvPr id="9" name="">
            <a:extLst xmlns:a="http://schemas.openxmlformats.org/drawingml/2006/main">
              <a:ext uri="{FF2B5EF4-FFF2-40B4-BE49-F238E27FC236}">
                <a16:creationId xmlns:a16="http://schemas.microsoft.com/office/drawing/2014/main" id="{D3DDFAA6-35B3-4CA8-BB10-05C60BDDE029}"/>
              </a:ext>
            </a:extLst>
          </p:cNvPr>
          <p:cNvSpPr>
            <a:spLocks xmlns:a="http://schemas.openxmlformats.org/drawingml/2006/main" noGrp="1"/>
          </p:cNvSpPr>
          <p:nvPr/>
        </p:nvSpPr>
        <p:spPr>
          <a:xfrm xmlns:a="http://schemas.openxmlformats.org/drawingml/2006/main">
            <a:off x="6096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02B35216-D689-4020-AC04-2B7AEA69F7E7}"/>
              </a:ext>
            </a:extLst>
          </p:cNvPr>
          <p:cNvSpPr>
            <a:spLocks xmlns:a="http://schemas.openxmlformats.org/drawingml/2006/main" noGrp="1"/>
          </p:cNvSpPr>
          <p:nvPr/>
        </p:nvSpPr>
        <p:spPr>
          <a:xfrm xmlns:a="http://schemas.openxmlformats.org/drawingml/2006/main">
            <a:off x="8001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 수정">
            <a:extLst xmlns:a="http://schemas.openxmlformats.org/drawingml/2006/main">
              <a:ext uri="{FF2B5EF4-FFF2-40B4-BE49-F238E27FC236}">
                <a16:creationId xmlns:a16="http://schemas.microsoft.com/office/drawing/2014/main" id="{2C50FC1D-56E5-4A82-81CC-498AF6AC3121}"/>
              </a:ext>
            </a:extLst>
          </p:cNvPr>
          <p:cNvSpPr>
            <a:spLocks xmlns:a="http://schemas.openxmlformats.org/drawingml/2006/main" noGrp="1"/>
          </p:cNvSpPr>
          <p:nvPr/>
        </p:nvSpPr>
        <p:spPr>
          <a:xfrm xmlns:a="http://schemas.openxmlformats.org/drawingml/2006/main">
            <a:off x="8001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 / 수정</a:t>
            </a:r>
          </a:p>
        </p:txBody>
      </p:sp>
      <p:sp>
        <p:nvSpPr>
          <p:cNvPr id="12" name="">
            <a:extLst xmlns:a="http://schemas.openxmlformats.org/drawingml/2006/main">
              <a:ext uri="{FF2B5EF4-FFF2-40B4-BE49-F238E27FC236}">
                <a16:creationId xmlns:a16="http://schemas.microsoft.com/office/drawing/2014/main" id="{CA48B1B0-27D4-4709-8A22-E608AD4E75B8}"/>
              </a:ext>
            </a:extLst>
          </p:cNvPr>
          <p:cNvSpPr>
            <a:spLocks xmlns:a="http://schemas.openxmlformats.org/drawingml/2006/main" noGrp="1"/>
          </p:cNvSpPr>
          <p:nvPr/>
        </p:nvSpPr>
        <p:spPr>
          <a:xfrm xmlns:a="http://schemas.openxmlformats.org/drawingml/2006/main">
            <a:off x="45720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검증 도구">
            <a:extLst xmlns:a="http://schemas.openxmlformats.org/drawingml/2006/main">
              <a:ext uri="{FF2B5EF4-FFF2-40B4-BE49-F238E27FC236}">
                <a16:creationId xmlns:a16="http://schemas.microsoft.com/office/drawing/2014/main" id="{266EB6D1-59FB-40F1-8ECE-4E3878CA2D72}"/>
              </a:ext>
            </a:extLst>
          </p:cNvPr>
          <p:cNvSpPr>
            <a:spLocks xmlns:a="http://schemas.openxmlformats.org/drawingml/2006/main" noGrp="1"/>
          </p:cNvSpPr>
          <p:nvPr/>
        </p:nvSpPr>
        <p:spPr>
          <a:xfrm xmlns:a="http://schemas.openxmlformats.org/drawingml/2006/main">
            <a:off x="47625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14" name="테스트 / 측정">
            <a:extLst xmlns:a="http://schemas.openxmlformats.org/drawingml/2006/main">
              <a:ext uri="{FF2B5EF4-FFF2-40B4-BE49-F238E27FC236}">
                <a16:creationId xmlns:a16="http://schemas.microsoft.com/office/drawing/2014/main" id="{3845424E-D1B1-46B4-AEEE-3600AF2E48AB}"/>
              </a:ext>
            </a:extLst>
          </p:cNvPr>
          <p:cNvSpPr>
            <a:spLocks xmlns:a="http://schemas.openxmlformats.org/drawingml/2006/main" noGrp="1"/>
          </p:cNvSpPr>
          <p:nvPr/>
        </p:nvSpPr>
        <p:spPr>
          <a:xfrm xmlns:a="http://schemas.openxmlformats.org/drawingml/2006/main">
            <a:off x="47625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 측정</a:t>
            </a:r>
          </a:p>
        </p:txBody>
      </p:sp>
      <p:sp>
        <p:nvSpPr>
          <p:cNvPr id="15" name="">
            <a:extLst xmlns:a="http://schemas.openxmlformats.org/drawingml/2006/main">
              <a:ext uri="{FF2B5EF4-FFF2-40B4-BE49-F238E27FC236}">
                <a16:creationId xmlns:a16="http://schemas.microsoft.com/office/drawing/2014/main" id="{17134086-55B4-4898-BFA9-359725FC101A}"/>
              </a:ext>
            </a:extLst>
          </p:cNvPr>
          <p:cNvSpPr>
            <a:spLocks xmlns:a="http://schemas.openxmlformats.org/drawingml/2006/main" noGrp="1"/>
          </p:cNvSpPr>
          <p:nvPr/>
        </p:nvSpPr>
        <p:spPr>
          <a:xfrm xmlns:a="http://schemas.openxmlformats.org/drawingml/2006/main">
            <a:off x="8534400" y="2724150"/>
            <a:ext cx="30480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6" name="모델 B">
            <a:extLst xmlns:a="http://schemas.openxmlformats.org/drawingml/2006/main">
              <a:ext uri="{FF2B5EF4-FFF2-40B4-BE49-F238E27FC236}">
                <a16:creationId xmlns:a16="http://schemas.microsoft.com/office/drawing/2014/main" id="{EA32E7FE-478E-4A6E-A0D7-363CB43F0DA4}"/>
              </a:ext>
            </a:extLst>
          </p:cNvPr>
          <p:cNvSpPr>
            <a:spLocks xmlns:a="http://schemas.openxmlformats.org/drawingml/2006/main" noGrp="1"/>
          </p:cNvSpPr>
          <p:nvPr/>
        </p:nvSpPr>
        <p:spPr>
          <a:xfrm xmlns:a="http://schemas.openxmlformats.org/drawingml/2006/main">
            <a:off x="8724900" y="2838450"/>
            <a:ext cx="2667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17" name="변경과 근거 검토">
            <a:extLst xmlns:a="http://schemas.openxmlformats.org/drawingml/2006/main">
              <a:ext uri="{FF2B5EF4-FFF2-40B4-BE49-F238E27FC236}">
                <a16:creationId xmlns:a16="http://schemas.microsoft.com/office/drawing/2014/main" id="{A88CEFD9-1836-437E-BDCF-50A0AA3385FB}"/>
              </a:ext>
            </a:extLst>
          </p:cNvPr>
          <p:cNvSpPr>
            <a:spLocks xmlns:a="http://schemas.openxmlformats.org/drawingml/2006/main" noGrp="1"/>
          </p:cNvSpPr>
          <p:nvPr/>
        </p:nvSpPr>
        <p:spPr>
          <a:xfrm xmlns:a="http://schemas.openxmlformats.org/drawingml/2006/main">
            <a:off x="8724900" y="3352800"/>
            <a:ext cx="266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변경과 근거 검토</a:t>
            </a:r>
          </a:p>
        </p:txBody>
      </p:sp>
      <p:cxnSp>
        <p:nvCxnSpPr>
          <p:cNvPr id="18" name="">
            <a:extLst xmlns:a="http://schemas.openxmlformats.org/drawingml/2006/main">
              <a:ext uri="{FF2B5EF4-FFF2-40B4-BE49-F238E27FC236}">
                <a16:creationId xmlns:a16="http://schemas.microsoft.com/office/drawing/2014/main" id="{F3389509-B668-4521-8D8B-49F13EA1AB13}"/>
              </a:ext>
            </a:extLst>
          </p:cNvPr>
          <p:cNvCxnSpPr/>
          <p:nvPr/>
        </p:nvCxnSpPr>
        <p:spPr>
          <a:xfrm xmlns:a="http://schemas.openxmlformats.org/drawingml/2006/main">
            <a:off x="38100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A26927FD-AF8B-4F6A-832B-A3B31192EAB5}"/>
              </a:ext>
            </a:extLst>
          </p:cNvPr>
          <p:cNvCxnSpPr/>
          <p:nvPr/>
        </p:nvCxnSpPr>
        <p:spPr>
          <a:xfrm xmlns:a="http://schemas.openxmlformats.org/drawingml/2006/main">
            <a:off x="7772400" y="3343275"/>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66D3832-6F78-4EEC-B833-F49357E88099}"/>
              </a:ext>
            </a:extLst>
          </p:cNvPr>
          <p:cNvSpPr>
            <a:spLocks xmlns:a="http://schemas.openxmlformats.org/drawingml/2006/main" noGrp="1"/>
          </p:cNvSpPr>
          <p:nvPr/>
        </p:nvSpPr>
        <p:spPr>
          <a:xfrm xmlns:a="http://schemas.openxmlformats.org/drawingml/2006/main">
            <a:off x="10058400" y="3962400"/>
            <a:ext cx="0" cy="466725"/>
          </a:xfrm>
          <a:prstGeom xmlns:a="http://schemas.openxmlformats.org/drawingml/2006/main" prst="line">
            <a:avLst/>
          </a:prstGeom>
          <a:ln xmlns:a="http://schemas.openxmlformats.org/drawingml/2006/main" w="23813">
            <a:solidFill>
              <a:srgbClr val="805400"/>
            </a:solidFill>
          </a:ln>
        </p:spPr>
      </p:sp>
      <p:sp>
        <p:nvSpPr>
          <p:cNvPr id="21" name="">
            <a:extLst xmlns:a="http://schemas.openxmlformats.org/drawingml/2006/main">
              <a:ext uri="{FF2B5EF4-FFF2-40B4-BE49-F238E27FC236}">
                <a16:creationId xmlns:a16="http://schemas.microsoft.com/office/drawing/2014/main" id="{4C363169-F45A-4493-A0D7-E0A61AC50C60}"/>
              </a:ext>
            </a:extLst>
          </p:cNvPr>
          <p:cNvSpPr>
            <a:spLocks xmlns:a="http://schemas.openxmlformats.org/drawingml/2006/main" noGrp="1"/>
          </p:cNvSpPr>
          <p:nvPr/>
        </p:nvSpPr>
        <p:spPr>
          <a:xfrm xmlns:a="http://schemas.openxmlformats.org/drawingml/2006/main">
            <a:off x="6096000" y="4429125"/>
            <a:ext cx="5486400" cy="714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근거를 보고 다음 행동 판단">
            <a:extLst xmlns:a="http://schemas.openxmlformats.org/drawingml/2006/main">
              <a:ext uri="{FF2B5EF4-FFF2-40B4-BE49-F238E27FC236}">
                <a16:creationId xmlns:a16="http://schemas.microsoft.com/office/drawing/2014/main" id="{BA24248F-2C0F-4177-A44F-2EBB6C98B31A}"/>
              </a:ext>
            </a:extLst>
          </p:cNvPr>
          <p:cNvSpPr>
            <a:spLocks xmlns:a="http://schemas.openxmlformats.org/drawingml/2006/main" noGrp="1"/>
          </p:cNvSpPr>
          <p:nvPr/>
        </p:nvSpPr>
        <p:spPr>
          <a:xfrm xmlns:a="http://schemas.openxmlformats.org/drawingml/2006/main">
            <a:off x="6286500" y="4572000"/>
            <a:ext cx="5105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근거를 보고 다음 행동 판단</a:t>
            </a:r>
          </a:p>
        </p:txBody>
      </p:sp>
      <p:sp>
        <p:nvSpPr>
          <p:cNvPr id="23" name="">
            <a:extLst xmlns:a="http://schemas.openxmlformats.org/drawingml/2006/main">
              <a:ext uri="{FF2B5EF4-FFF2-40B4-BE49-F238E27FC236}">
                <a16:creationId xmlns:a16="http://schemas.microsoft.com/office/drawing/2014/main" id="{D0042A62-E836-40E5-969A-CEEDF9AD83E0}"/>
              </a:ext>
            </a:extLst>
          </p:cNvPr>
          <p:cNvSpPr>
            <a:spLocks xmlns:a="http://schemas.openxmlformats.org/drawingml/2006/main" noGrp="1"/>
          </p:cNvSpPr>
          <p:nvPr/>
        </p:nvSpPr>
        <p:spPr>
          <a:xfrm xmlns:a="http://schemas.openxmlformats.org/drawingml/2006/main">
            <a:off x="609600" y="4429125"/>
            <a:ext cx="4572000" cy="714375"/>
          </a:xfrm>
          <a:prstGeom xmlns:a="http://schemas.openxmlformats.org/drawingml/2006/main" prst="rect">
            <a:avLst/>
          </a:prstGeom>
          <a:solidFill xmlns:a="http://schemas.openxmlformats.org/drawingml/2006/main">
            <a:srgbClr val="FAEAC9"/>
          </a:solidFill>
          <a:ln xmlns:a="http://schemas.openxmlformats.org/drawingml/2006/main" w="14288">
            <a:solidFill>
              <a:srgbClr val="805400"/>
            </a:solidFill>
            <a:prstDash val="solid"/>
          </a:ln>
        </p:spPr>
      </p:sp>
      <p:sp>
        <p:nvSpPr>
          <p:cNvPr id="24" name="남은 문제 + 수정 요청">
            <a:extLst xmlns:a="http://schemas.openxmlformats.org/drawingml/2006/main">
              <a:ext uri="{FF2B5EF4-FFF2-40B4-BE49-F238E27FC236}">
                <a16:creationId xmlns:a16="http://schemas.microsoft.com/office/drawing/2014/main" id="{8755E245-8924-4139-8538-4628F1EFC527}"/>
              </a:ext>
            </a:extLst>
          </p:cNvPr>
          <p:cNvSpPr>
            <a:spLocks xmlns:a="http://schemas.openxmlformats.org/drawingml/2006/main" noGrp="1"/>
          </p:cNvSpPr>
          <p:nvPr/>
        </p:nvSpPr>
        <p:spPr>
          <a:xfrm xmlns:a="http://schemas.openxmlformats.org/drawingml/2006/main">
            <a:off x="800100" y="457200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남은 문제 + 수정 요청</a:t>
            </a:r>
          </a:p>
        </p:txBody>
      </p:sp>
      <p:cxnSp>
        <p:nvCxnSpPr>
          <p:cNvPr id="25" name="">
            <a:extLst xmlns:a="http://schemas.openxmlformats.org/drawingml/2006/main">
              <a:ext uri="{FF2B5EF4-FFF2-40B4-BE49-F238E27FC236}">
                <a16:creationId xmlns:a16="http://schemas.microsoft.com/office/drawing/2014/main" id="{DBFEF6A6-8103-42BF-80E4-0B9912AC3177}"/>
              </a:ext>
            </a:extLst>
          </p:cNvPr>
          <p:cNvCxnSpPr/>
          <p:nvPr/>
        </p:nvCxnSpPr>
        <p:spPr>
          <a:xfrm xmlns:a="http://schemas.openxmlformats.org/drawingml/2006/main">
            <a:off x="5257800" y="4791075"/>
            <a:ext cx="685800" cy="0"/>
          </a:xfrm>
          <a:prstGeom xmlns:a="http://schemas.openxmlformats.org/drawingml/2006/main" prst="straightConnector1">
            <a:avLst/>
          </a:prstGeom>
          <a:ln xmlns:a="http://schemas.openxmlformats.org/drawingml/2006/main" w="23813">
            <a:solidFill>
              <a:srgbClr val="805400"/>
            </a:solidFill>
            <a:headEnd type="triangle" w="sm" len="sm"/>
          </a:ln>
        </p:spPr>
      </p:cxnSp>
      <p:cxnSp>
        <p:nvCxnSpPr>
          <p:cNvPr id="26" name="">
            <a:extLst xmlns:a="http://schemas.openxmlformats.org/drawingml/2006/main">
              <a:ext uri="{FF2B5EF4-FFF2-40B4-BE49-F238E27FC236}">
                <a16:creationId xmlns:a16="http://schemas.microsoft.com/office/drawing/2014/main" id="{62C920F0-657D-4E55-B48D-ABE68D1B7119}"/>
              </a:ext>
            </a:extLst>
          </p:cNvPr>
          <p:cNvCxnSpPr/>
          <p:nvPr/>
        </p:nvCxnSpPr>
        <p:spPr>
          <a:xfrm xmlns:a="http://schemas.openxmlformats.org/drawingml/2006/main">
            <a:off x="2133600" y="3962400"/>
            <a:ext cx="0" cy="466725"/>
          </a:xfrm>
          <a:prstGeom xmlns:a="http://schemas.openxmlformats.org/drawingml/2006/main" prst="straightConnector1">
            <a:avLst/>
          </a:prstGeom>
          <a:ln xmlns:a="http://schemas.openxmlformats.org/drawingml/2006/main" w="23813">
            <a:solidFill>
              <a:srgbClr val="805400"/>
            </a:solidFill>
            <a:headEnd type="triangle" w="sm" len="sm"/>
          </a:ln>
        </p:spPr>
      </p:cxnSp>
      <p:sp>
        <p:nvSpPr>
          <p:cNvPr id="27" name="미충족이면, 검토 결과를 같은 목표의 다음 수정으로">
            <a:extLst xmlns:a="http://schemas.openxmlformats.org/drawingml/2006/main">
              <a:ext uri="{FF2B5EF4-FFF2-40B4-BE49-F238E27FC236}">
                <a16:creationId xmlns:a16="http://schemas.microsoft.com/office/drawing/2014/main" id="{BE22C31A-7EFF-41E3-BF62-AADA2BD38872}"/>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미충족이면, 검토 결과를 같은 목표의 다음 수정으로</a:t>
            </a:r>
          </a:p>
        </p:txBody>
      </p:sp>
      <p:sp>
        <p:nvSpPr>
          <p:cNvPr id="28" name="Legacy module connection">
            <a:extLst xmlns:a="http://schemas.openxmlformats.org/drawingml/2006/main">
              <a:ext uri="{FF2B5EF4-FFF2-40B4-BE49-F238E27FC236}">
                <a16:creationId xmlns:a16="http://schemas.microsoft.com/office/drawing/2014/main" id="{8A4BD3E9-FC07-4F79-8C93-FB02EBA3AE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11308724"/>
      </p:ext>
    </p:extLst>
  </p:cSld>
</p:sld>
</file>

<file path=ppt/slides/slide9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루프 운영 설계">
            <a:extLst xmlns:a="http://schemas.openxmlformats.org/drawingml/2006/main">
              <a:ext uri="{FF2B5EF4-FFF2-40B4-BE49-F238E27FC236}">
                <a16:creationId xmlns:a16="http://schemas.microsoft.com/office/drawing/2014/main" id="{06C6DF5B-DA4E-4F28-8399-89D60E4D9F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4">
            <a:extLst xmlns:a="http://schemas.openxmlformats.org/drawingml/2006/main">
              <a:ext uri="{FF2B5EF4-FFF2-40B4-BE49-F238E27FC236}">
                <a16:creationId xmlns:a16="http://schemas.microsoft.com/office/drawing/2014/main" id="{CD77C7CD-E66C-44AE-A4C0-EBF4F3D1E1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언제 계속하고, 언제 끝낼까?">
            <a:extLst xmlns:a="http://schemas.openxmlformats.org/drawingml/2006/main">
              <a:ext uri="{FF2B5EF4-FFF2-40B4-BE49-F238E27FC236}">
                <a16:creationId xmlns:a16="http://schemas.microsoft.com/office/drawing/2014/main" id="{D5655503-68BA-42A1-A6BB-2F88AA8CCA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언제 계속하고, 언제 끝낼까?</a:t>
            </a:r>
          </a:p>
        </p:txBody>
      </p:sp>
      <p:sp>
        <p:nvSpPr>
          <p:cNvPr id="4" name="">
            <a:extLst xmlns:a="http://schemas.openxmlformats.org/drawingml/2006/main">
              <a:ext uri="{FF2B5EF4-FFF2-40B4-BE49-F238E27FC236}">
                <a16:creationId xmlns:a16="http://schemas.microsoft.com/office/drawing/2014/main" id="{8571EF57-B503-4FFB-B75F-169CECC474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1082FDA-F675-4162-AA84-3EFC5F4E3E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 미달 중단은 완료와 다름 · 반복·시간·비용 한도는 미리 정한다</a:t>
            </a:r>
          </a:p>
        </p:txBody>
      </p:sp>
      <p:sp>
        <p:nvSpPr>
          <p:cNvPr id="7" name="">
            <a:extLst xmlns:a="http://schemas.openxmlformats.org/drawingml/2006/main">
              <a:ext uri="{FF2B5EF4-FFF2-40B4-BE49-F238E27FC236}">
                <a16:creationId xmlns:a16="http://schemas.microsoft.com/office/drawing/2014/main" id="{39680DA6-20AE-4109-B1B8-1727E029F384}"/>
              </a:ext>
            </a:extLst>
          </p:cNvPr>
          <p:cNvSpPr>
            <a:spLocks xmlns:a="http://schemas.openxmlformats.org/drawingml/2006/main" noGrp="1"/>
          </p:cNvSpPr>
          <p:nvPr/>
        </p:nvSpPr>
        <p:spPr>
          <a:xfrm xmlns:a="http://schemas.openxmlformats.org/drawingml/2006/main">
            <a:off x="609600" y="24860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기준 충족">
            <a:extLst xmlns:a="http://schemas.openxmlformats.org/drawingml/2006/main">
              <a:ext uri="{FF2B5EF4-FFF2-40B4-BE49-F238E27FC236}">
                <a16:creationId xmlns:a16="http://schemas.microsoft.com/office/drawing/2014/main" id="{605E59D8-5A1F-46AC-B4DE-473A61799B29}"/>
              </a:ext>
            </a:extLst>
          </p:cNvPr>
          <p:cNvSpPr>
            <a:spLocks xmlns:a="http://schemas.openxmlformats.org/drawingml/2006/main" noGrp="1"/>
          </p:cNvSpPr>
          <p:nvPr/>
        </p:nvSpPr>
        <p:spPr>
          <a:xfrm xmlns:a="http://schemas.openxmlformats.org/drawingml/2006/main">
            <a:off x="60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기준 충족</a:t>
            </a:r>
          </a:p>
        </p:txBody>
      </p:sp>
      <p:sp>
        <p:nvSpPr>
          <p:cNvPr id="9" name="완료">
            <a:extLst xmlns:a="http://schemas.openxmlformats.org/drawingml/2006/main">
              <a:ext uri="{FF2B5EF4-FFF2-40B4-BE49-F238E27FC236}">
                <a16:creationId xmlns:a16="http://schemas.microsoft.com/office/drawing/2014/main" id="{000D9D39-BC38-4707-B755-D517C513B12F}"/>
              </a:ext>
            </a:extLst>
          </p:cNvPr>
          <p:cNvSpPr>
            <a:spLocks xmlns:a="http://schemas.openxmlformats.org/drawingml/2006/main" noGrp="1"/>
          </p:cNvSpPr>
          <p:nvPr/>
        </p:nvSpPr>
        <p:spPr>
          <a:xfrm xmlns:a="http://schemas.openxmlformats.org/drawingml/2006/main">
            <a:off x="60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완료</a:t>
            </a:r>
          </a:p>
        </p:txBody>
      </p:sp>
      <p:sp>
        <p:nvSpPr>
          <p:cNvPr id="10" name="확인 범위와 남은 한계 보고">
            <a:extLst xmlns:a="http://schemas.openxmlformats.org/drawingml/2006/main">
              <a:ext uri="{FF2B5EF4-FFF2-40B4-BE49-F238E27FC236}">
                <a16:creationId xmlns:a16="http://schemas.microsoft.com/office/drawing/2014/main" id="{964EED94-DB03-4089-BB24-3C5832CAD216}"/>
              </a:ext>
            </a:extLst>
          </p:cNvPr>
          <p:cNvSpPr>
            <a:spLocks xmlns:a="http://schemas.openxmlformats.org/drawingml/2006/main" noGrp="1"/>
          </p:cNvSpPr>
          <p:nvPr/>
        </p:nvSpPr>
        <p:spPr>
          <a:xfrm xmlns:a="http://schemas.openxmlformats.org/drawingml/2006/main">
            <a:off x="60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확인 범위와 남은 한계 보고</a:t>
            </a:r>
          </a:p>
        </p:txBody>
      </p:sp>
      <p:sp>
        <p:nvSpPr>
          <p:cNvPr id="11" name="">
            <a:extLst xmlns:a="http://schemas.openxmlformats.org/drawingml/2006/main">
              <a:ext uri="{FF2B5EF4-FFF2-40B4-BE49-F238E27FC236}">
                <a16:creationId xmlns:a16="http://schemas.microsoft.com/office/drawing/2014/main" id="{4CC739F4-359A-456B-91BD-6BCA12000984}"/>
              </a:ext>
            </a:extLst>
          </p:cNvPr>
          <p:cNvSpPr>
            <a:spLocks xmlns:a="http://schemas.openxmlformats.org/drawingml/2006/main" noGrp="1"/>
          </p:cNvSpPr>
          <p:nvPr/>
        </p:nvSpPr>
        <p:spPr>
          <a:xfrm xmlns:a="http://schemas.openxmlformats.org/drawingml/2006/main">
            <a:off x="4419600" y="24860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2" name="미충족 · 수정 가능">
            <a:extLst xmlns:a="http://schemas.openxmlformats.org/drawingml/2006/main">
              <a:ext uri="{FF2B5EF4-FFF2-40B4-BE49-F238E27FC236}">
                <a16:creationId xmlns:a16="http://schemas.microsoft.com/office/drawing/2014/main" id="{A04F63AE-6B2C-4886-A5B5-92F12B092BAF}"/>
              </a:ext>
            </a:extLst>
          </p:cNvPr>
          <p:cNvSpPr>
            <a:spLocks xmlns:a="http://schemas.openxmlformats.org/drawingml/2006/main" noGrp="1"/>
          </p:cNvSpPr>
          <p:nvPr/>
        </p:nvSpPr>
        <p:spPr>
          <a:xfrm xmlns:a="http://schemas.openxmlformats.org/drawingml/2006/main">
            <a:off x="441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미충족 · 수정 가능</a:t>
            </a:r>
          </a:p>
        </p:txBody>
      </p:sp>
      <p:sp>
        <p:nvSpPr>
          <p:cNvPr id="13" name="다음 수정">
            <a:extLst xmlns:a="http://schemas.openxmlformats.org/drawingml/2006/main">
              <a:ext uri="{FF2B5EF4-FFF2-40B4-BE49-F238E27FC236}">
                <a16:creationId xmlns:a16="http://schemas.microsoft.com/office/drawing/2014/main" id="{86D688FD-B454-4858-9D81-99F11F65EA88}"/>
              </a:ext>
            </a:extLst>
          </p:cNvPr>
          <p:cNvSpPr>
            <a:spLocks xmlns:a="http://schemas.openxmlformats.org/drawingml/2006/main" noGrp="1"/>
          </p:cNvSpPr>
          <p:nvPr/>
        </p:nvSpPr>
        <p:spPr>
          <a:xfrm xmlns:a="http://schemas.openxmlformats.org/drawingml/2006/main">
            <a:off x="441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다음 수정</a:t>
            </a:r>
          </a:p>
        </p:txBody>
      </p:sp>
      <p:sp>
        <p:nvSpPr>
          <p:cNvPr id="14" name="남은 지적과 근거 전달">
            <a:extLst xmlns:a="http://schemas.openxmlformats.org/drawingml/2006/main">
              <a:ext uri="{FF2B5EF4-FFF2-40B4-BE49-F238E27FC236}">
                <a16:creationId xmlns:a16="http://schemas.microsoft.com/office/drawing/2014/main" id="{3C054085-BBF3-4491-AAC0-9804BC154A0B}"/>
              </a:ext>
            </a:extLst>
          </p:cNvPr>
          <p:cNvSpPr>
            <a:spLocks xmlns:a="http://schemas.openxmlformats.org/drawingml/2006/main" noGrp="1"/>
          </p:cNvSpPr>
          <p:nvPr/>
        </p:nvSpPr>
        <p:spPr>
          <a:xfrm xmlns:a="http://schemas.openxmlformats.org/drawingml/2006/main">
            <a:off x="441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지적과 근거 전달</a:t>
            </a:r>
          </a:p>
        </p:txBody>
      </p:sp>
      <p:sp>
        <p:nvSpPr>
          <p:cNvPr id="15" name="">
            <a:extLst xmlns:a="http://schemas.openxmlformats.org/drawingml/2006/main">
              <a:ext uri="{FF2B5EF4-FFF2-40B4-BE49-F238E27FC236}">
                <a16:creationId xmlns:a16="http://schemas.microsoft.com/office/drawing/2014/main" id="{CBB1EBB1-D9D5-4FC3-9E7B-EC0415A405B8}"/>
              </a:ext>
            </a:extLst>
          </p:cNvPr>
          <p:cNvSpPr>
            <a:spLocks xmlns:a="http://schemas.openxmlformats.org/drawingml/2006/main" noGrp="1"/>
          </p:cNvSpPr>
          <p:nvPr/>
        </p:nvSpPr>
        <p:spPr>
          <a:xfrm xmlns:a="http://schemas.openxmlformats.org/drawingml/2006/main">
            <a:off x="8229600" y="2486025"/>
            <a:ext cx="3352800" cy="0"/>
          </a:xfrm>
          <a:prstGeom xmlns:a="http://schemas.openxmlformats.org/drawingml/2006/main" prst="line">
            <a:avLst/>
          </a:prstGeom>
          <a:noFill xmlns:a="http://schemas.openxmlformats.org/drawingml/2006/main"/>
          <a:ln xmlns:a="http://schemas.openxmlformats.org/drawingml/2006/main" w="28575">
            <a:solidFill>
              <a:srgbClr val="B42318"/>
            </a:solidFill>
            <a:prstDash val="solid"/>
          </a:ln>
        </p:spPr>
      </p:sp>
      <p:sp>
        <p:nvSpPr>
          <p:cNvPr id="16" name="막힘 · 한도 도달">
            <a:extLst xmlns:a="http://schemas.openxmlformats.org/drawingml/2006/main">
              <a:ext uri="{FF2B5EF4-FFF2-40B4-BE49-F238E27FC236}">
                <a16:creationId xmlns:a16="http://schemas.microsoft.com/office/drawing/2014/main" id="{3E36F352-6A5C-43BB-AC2A-1129C572D643}"/>
              </a:ext>
            </a:extLst>
          </p:cNvPr>
          <p:cNvSpPr>
            <a:spLocks xmlns:a="http://schemas.openxmlformats.org/drawingml/2006/main" noGrp="1"/>
          </p:cNvSpPr>
          <p:nvPr/>
        </p:nvSpPr>
        <p:spPr>
          <a:xfrm xmlns:a="http://schemas.openxmlformats.org/drawingml/2006/main">
            <a:off x="8229600" y="26860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막힘 · 한도 도달</a:t>
            </a:r>
          </a:p>
        </p:txBody>
      </p:sp>
      <p:sp>
        <p:nvSpPr>
          <p:cNvPr id="17" name="사람에게 확인">
            <a:extLst xmlns:a="http://schemas.openxmlformats.org/drawingml/2006/main">
              <a:ext uri="{FF2B5EF4-FFF2-40B4-BE49-F238E27FC236}">
                <a16:creationId xmlns:a16="http://schemas.microsoft.com/office/drawing/2014/main" id="{2332C36D-88E0-4992-89D3-765144CD228B}"/>
              </a:ext>
            </a:extLst>
          </p:cNvPr>
          <p:cNvSpPr>
            <a:spLocks xmlns:a="http://schemas.openxmlformats.org/drawingml/2006/main" noGrp="1"/>
          </p:cNvSpPr>
          <p:nvPr/>
        </p:nvSpPr>
        <p:spPr>
          <a:xfrm xmlns:a="http://schemas.openxmlformats.org/drawingml/2006/main">
            <a:off x="8229600" y="3476625"/>
            <a:ext cx="335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사람에게 확인</a:t>
            </a:r>
          </a:p>
        </p:txBody>
      </p:sp>
      <p:sp>
        <p:nvSpPr>
          <p:cNvPr id="18" name="현재 상태와 미해결 문제 보존">
            <a:extLst xmlns:a="http://schemas.openxmlformats.org/drawingml/2006/main">
              <a:ext uri="{FF2B5EF4-FFF2-40B4-BE49-F238E27FC236}">
                <a16:creationId xmlns:a16="http://schemas.microsoft.com/office/drawing/2014/main" id="{B69AEDBD-BD29-438A-BF04-DF54EBE5BA69}"/>
              </a:ext>
            </a:extLst>
          </p:cNvPr>
          <p:cNvSpPr>
            <a:spLocks xmlns:a="http://schemas.openxmlformats.org/drawingml/2006/main" noGrp="1"/>
          </p:cNvSpPr>
          <p:nvPr/>
        </p:nvSpPr>
        <p:spPr>
          <a:xfrm xmlns:a="http://schemas.openxmlformats.org/drawingml/2006/main">
            <a:off x="8229600" y="4524375"/>
            <a:ext cx="335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현재 상태와 미해결 문제 보존</a:t>
            </a:r>
          </a:p>
        </p:txBody>
      </p:sp>
      <p:sp>
        <p:nvSpPr>
          <p:cNvPr id="19" name="">
            <a:extLst xmlns:a="http://schemas.openxmlformats.org/drawingml/2006/main">
              <a:ext uri="{FF2B5EF4-FFF2-40B4-BE49-F238E27FC236}">
                <a16:creationId xmlns:a16="http://schemas.microsoft.com/office/drawing/2014/main" id="{F22D55E1-35C1-4624-A437-214ECE0489B2}"/>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A72ED627-16C5-45CF-888F-D3D48C1789A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1" name="Legacy module connection">
            <a:extLst xmlns:a="http://schemas.openxmlformats.org/drawingml/2006/main">
              <a:ext uri="{FF2B5EF4-FFF2-40B4-BE49-F238E27FC236}">
                <a16:creationId xmlns:a16="http://schemas.microsoft.com/office/drawing/2014/main" id="{C144A80D-49D2-41B0-ADF4-27A0E595DF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1340958"/>
      </p:ext>
    </p:extLst>
  </p:cSld>
</p:sld>
</file>

<file path=ppt/slides/slide9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연구 근거">
            <a:extLst xmlns:a="http://schemas.openxmlformats.org/drawingml/2006/main">
              <a:ext uri="{FF2B5EF4-FFF2-40B4-BE49-F238E27FC236}">
                <a16:creationId xmlns:a16="http://schemas.microsoft.com/office/drawing/2014/main" id="{961D847C-823E-4D3B-8A92-A020938DC7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5">
            <a:extLst xmlns:a="http://schemas.openxmlformats.org/drawingml/2006/main">
              <a:ext uri="{FF2B5EF4-FFF2-40B4-BE49-F238E27FC236}">
                <a16:creationId xmlns:a16="http://schemas.microsoft.com/office/drawing/2014/main" id="{463620DF-4BFE-4A54-BF28-DB30E54B1D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구현한 모델에게 다시 물으면 충분할까?">
            <a:extLst xmlns:a="http://schemas.openxmlformats.org/drawingml/2006/main">
              <a:ext uri="{FF2B5EF4-FFF2-40B4-BE49-F238E27FC236}">
                <a16:creationId xmlns:a16="http://schemas.microsoft.com/office/drawing/2014/main" id="{E193D4E1-880D-48C6-8A15-DE6553BB9FC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구현한 모델에게 다시 물으면 충분할까?</a:t>
            </a:r>
          </a:p>
        </p:txBody>
      </p:sp>
      <p:sp>
        <p:nvSpPr>
          <p:cNvPr id="4" name="">
            <a:extLst xmlns:a="http://schemas.openxmlformats.org/drawingml/2006/main">
              <a:ext uri="{FF2B5EF4-FFF2-40B4-BE49-F238E27FC236}">
                <a16:creationId xmlns:a16="http://schemas.microsoft.com/office/drawing/2014/main" id="{601421CE-9202-4BD7-AFBA-DA27E1DA4E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200D2383-BE1D-4B5C-BEFD-2EE18E4514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Self-Refine(2023) / Huang et al.(2024)</a:t>
            </a:r>
          </a:p>
        </p:txBody>
      </p:sp>
      <p:sp>
        <p:nvSpPr>
          <p:cNvPr id="6" name="Audience footer 2">
            <a:extLst xmlns:a="http://schemas.openxmlformats.org/drawingml/2006/main">
              <a:ext uri="{FF2B5EF4-FFF2-40B4-BE49-F238E27FC236}">
                <a16:creationId xmlns:a16="http://schemas.microsoft.com/office/drawing/2014/main" id="{B0720AE7-8F6E-4B02-BF80-B894EF7F4B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과제·모델 조건이 서로 다른 연구 결과</a:t>
            </a:r>
          </a:p>
        </p:txBody>
      </p:sp>
      <p:sp>
        <p:nvSpPr>
          <p:cNvPr id="7" name="같은 모델의 피드백·수정">
            <a:extLst xmlns:a="http://schemas.openxmlformats.org/drawingml/2006/main">
              <a:ext uri="{FF2B5EF4-FFF2-40B4-BE49-F238E27FC236}">
                <a16:creationId xmlns:a16="http://schemas.microsoft.com/office/drawing/2014/main" id="{869E2963-DC0C-4ED6-AE0E-5A5901733612}"/>
              </a:ext>
            </a:extLst>
          </p:cNvPr>
          <p:cNvSpPr>
            <a:spLocks xmlns:a="http://schemas.openxmlformats.org/drawingml/2006/main" noGrp="1"/>
          </p:cNvSpPr>
          <p:nvPr/>
        </p:nvSpPr>
        <p:spPr>
          <a:xfrm xmlns:a="http://schemas.openxmlformats.org/drawingml/2006/main">
            <a:off x="609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모델의 피드백·수정</a:t>
            </a:r>
          </a:p>
        </p:txBody>
      </p:sp>
      <p:sp>
        <p:nvSpPr>
          <p:cNvPr id="8" name="근거 없이 다시 생각하기">
            <a:extLst xmlns:a="http://schemas.openxmlformats.org/drawingml/2006/main">
              <a:ext uri="{FF2B5EF4-FFF2-40B4-BE49-F238E27FC236}">
                <a16:creationId xmlns:a16="http://schemas.microsoft.com/office/drawing/2014/main" id="{C1396E3F-89C3-4AD9-9B17-95D2BB24FEE1}"/>
              </a:ext>
            </a:extLst>
          </p:cNvPr>
          <p:cNvSpPr>
            <a:spLocks xmlns:a="http://schemas.openxmlformats.org/drawingml/2006/main" noGrp="1"/>
          </p:cNvSpPr>
          <p:nvPr/>
        </p:nvSpPr>
        <p:spPr>
          <a:xfrm xmlns:a="http://schemas.openxmlformats.org/drawingml/2006/main">
            <a:off x="6705600" y="23336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근거 없이 다시 생각하기</a:t>
            </a:r>
          </a:p>
        </p:txBody>
      </p:sp>
      <p:sp>
        <p:nvSpPr>
          <p:cNvPr id="9" name="">
            <a:extLst xmlns:a="http://schemas.openxmlformats.org/drawingml/2006/main">
              <a:ext uri="{FF2B5EF4-FFF2-40B4-BE49-F238E27FC236}">
                <a16:creationId xmlns:a16="http://schemas.microsoft.com/office/drawing/2014/main" id="{FB335F22-5917-4E1B-919C-C8D7CBFBE229}"/>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F6737AF5-BE50-4209-BCBD-7AD713D7D54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1" name="Self-Refine&#10;여러 과제에서 개선 보고">
            <a:extLst xmlns:a="http://schemas.openxmlformats.org/drawingml/2006/main">
              <a:ext uri="{FF2B5EF4-FFF2-40B4-BE49-F238E27FC236}">
                <a16:creationId xmlns:a16="http://schemas.microsoft.com/office/drawing/2014/main" id="{456CF5C1-6B1F-41EF-8552-D77407412C3B}"/>
              </a:ext>
            </a:extLst>
          </p:cNvPr>
          <p:cNvSpPr>
            <a:spLocks xmlns:a="http://schemas.openxmlformats.org/drawingml/2006/main" noGrp="1"/>
          </p:cNvSpPr>
          <p:nvPr/>
        </p:nvSpPr>
        <p:spPr>
          <a:xfrm xmlns:a="http://schemas.openxmlformats.org/drawingml/2006/main">
            <a:off x="609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Self-Refine</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여러 과제에서 개선 보고</a:t>
            </a:r>
          </a:p>
        </p:txBody>
      </p:sp>
      <p:sp>
        <p:nvSpPr>
          <p:cNvPr id="12" name="추론 자기 교정 연구&#10;악화되는 경우도 보고">
            <a:extLst xmlns:a="http://schemas.openxmlformats.org/drawingml/2006/main">
              <a:ext uri="{FF2B5EF4-FFF2-40B4-BE49-F238E27FC236}">
                <a16:creationId xmlns:a16="http://schemas.microsoft.com/office/drawing/2014/main" id="{26C5C6FA-4588-434C-BD6E-A6A3D69603DB}"/>
              </a:ext>
            </a:extLst>
          </p:cNvPr>
          <p:cNvSpPr>
            <a:spLocks xmlns:a="http://schemas.openxmlformats.org/drawingml/2006/main" noGrp="1"/>
          </p:cNvSpPr>
          <p:nvPr/>
        </p:nvSpPr>
        <p:spPr>
          <a:xfrm xmlns:a="http://schemas.openxmlformats.org/drawingml/2006/main">
            <a:off x="6705600" y="3352800"/>
            <a:ext cx="48768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추론 자기 교정 연구</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악화되는 경우도 보고</a:t>
            </a:r>
          </a:p>
        </p:txBody>
      </p:sp>
      <p:sp>
        <p:nvSpPr>
          <p:cNvPr id="13" name="검토 방식과 피드백의 근거를 설계해야 한다">
            <a:extLst xmlns:a="http://schemas.openxmlformats.org/drawingml/2006/main">
              <a:ext uri="{FF2B5EF4-FFF2-40B4-BE49-F238E27FC236}">
                <a16:creationId xmlns:a16="http://schemas.microsoft.com/office/drawing/2014/main" id="{64D419CE-1A69-49A1-B331-665E7E857B55}"/>
              </a:ext>
            </a:extLst>
          </p:cNvPr>
          <p:cNvSpPr>
            <a:spLocks xmlns:a="http://schemas.openxmlformats.org/drawingml/2006/main" noGrp="1"/>
          </p:cNvSpPr>
          <p:nvPr/>
        </p:nvSpPr>
        <p:spPr>
          <a:xfrm xmlns:a="http://schemas.openxmlformats.org/drawingml/2006/main">
            <a:off x="609600" y="52006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검토 방식과 피드백의 근거를 설계해야 한다</a:t>
            </a:r>
          </a:p>
        </p:txBody>
      </p:sp>
      <p:sp>
        <p:nvSpPr>
          <p:cNvPr id="14" name="Legacy module connection">
            <a:extLst xmlns:a="http://schemas.openxmlformats.org/drawingml/2006/main">
              <a:ext uri="{FF2B5EF4-FFF2-40B4-BE49-F238E27FC236}">
                <a16:creationId xmlns:a16="http://schemas.microsoft.com/office/drawing/2014/main" id="{C2B45664-53A4-4280-8B3D-E917E5765CA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9460398"/>
      </p:ext>
    </p:extLst>
  </p:cSld>
</p:sld>
</file>

<file path=ppt/slides/slide9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4 · 연구 근거">
            <a:extLst xmlns:a="http://schemas.openxmlformats.org/drawingml/2006/main">
              <a:ext uri="{FF2B5EF4-FFF2-40B4-BE49-F238E27FC236}">
                <a16:creationId xmlns:a16="http://schemas.microsoft.com/office/drawing/2014/main" id="{7771D171-F890-47BB-8906-AF49A0FF24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6">
            <a:extLst xmlns:a="http://schemas.openxmlformats.org/drawingml/2006/main">
              <a:ext uri="{FF2B5EF4-FFF2-40B4-BE49-F238E27FC236}">
                <a16:creationId xmlns:a16="http://schemas.microsoft.com/office/drawing/2014/main" id="{FDB85370-8AFB-4F9A-B0C6-826017458F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다른 모델의 관점이 도움이 된 실험">
            <a:extLst xmlns:a="http://schemas.openxmlformats.org/drawingml/2006/main">
              <a:ext uri="{FF2B5EF4-FFF2-40B4-BE49-F238E27FC236}">
                <a16:creationId xmlns:a16="http://schemas.microsoft.com/office/drawing/2014/main" id="{BA450C46-8A7F-4967-84F7-04F0119BCA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모델의 관점이 도움이 된 실험</a:t>
            </a:r>
          </a:p>
        </p:txBody>
      </p:sp>
      <p:sp>
        <p:nvSpPr>
          <p:cNvPr id="4" name="">
            <a:extLst xmlns:a="http://schemas.openxmlformats.org/drawingml/2006/main">
              <a:ext uri="{FF2B5EF4-FFF2-40B4-BE49-F238E27FC236}">
                <a16:creationId xmlns:a16="http://schemas.microsoft.com/office/drawing/2014/main" id="{2E387AFA-D0B4-416E-BDE5-F776FA1C49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58FF94F5-B141-4057-9E6A-D49F84F255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ReConcile(2024) · StrategyQA 질의응답 실험</a:t>
            </a:r>
          </a:p>
        </p:txBody>
      </p:sp>
      <p:sp>
        <p:nvSpPr>
          <p:cNvPr id="7" name="정확도 (%) · 같은 토론 방식에서 모델 구성을 비교">
            <a:extLst xmlns:a="http://schemas.openxmlformats.org/drawingml/2006/main">
              <a:ext uri="{FF2B5EF4-FFF2-40B4-BE49-F238E27FC236}">
                <a16:creationId xmlns:a16="http://schemas.microsoft.com/office/drawing/2014/main" id="{243BE662-B6B1-4C2D-8BEE-6AF89FE0F2AA}"/>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정확도 (%) · 같은 토론 방식에서 모델 구성을 비교</a:t>
            </a:r>
          </a:p>
        </p:txBody>
      </p:sp>
      <p:graphicFrame>
        <p:nvGraphicFramePr>
          <p:cNvPr id="8" name="Chart">
            <a:extLst xmlns:a="http://schemas.openxmlformats.org/drawingml/2006/main">
              <a:ext uri="{FF2B5EF4-FFF2-40B4-BE49-F238E27FC236}">
                <a16:creationId xmlns:a16="http://schemas.microsoft.com/office/drawing/2014/main" id="{18D6A22E-D1B3-4FB1-8821-750760164893}"/>
              </a:ext>
            </a:extLst>
          </p:cNvPr>
          <p:cNvGraphicFramePr/>
          <p:nvPr/>
        </p:nvGraphicFramePr>
        <p:xfrm>
          <a:off xmlns:a="http://schemas.openxmlformats.org/drawingml/2006/main" x="609600" y="2571750"/>
          <a:ext xmlns:a="http://schemas.openxmlformats.org/drawingml/2006/main" cx="7429500" cy="2571750"/>
        </p:xfrm>
        <a:graphic xmlns:a="http://schemas.openxmlformats.org/drawingml/2006/main">
          <a:graphicData uri="http://schemas.openxmlformats.org/drawingml/2006/chart">
            <c:chart xmlns:r="http://schemas.openxmlformats.org/officeDocument/2006/relationships" xmlns:c="http://schemas.openxmlformats.org/drawingml/2006/chart" r:id="R8424e74d430f440d"/>
          </a:graphicData>
        </a:graphic>
      </p:graphicFrame>
      <p:sp>
        <p:nvSpPr>
          <p:cNvPr id="9" name="+6.8%p">
            <a:extLst xmlns:a="http://schemas.openxmlformats.org/drawingml/2006/main">
              <a:ext uri="{FF2B5EF4-FFF2-40B4-BE49-F238E27FC236}">
                <a16:creationId xmlns:a16="http://schemas.microsoft.com/office/drawing/2014/main" id="{D025C431-08AE-4545-837D-F4D0EADE1AFA}"/>
              </a:ext>
            </a:extLst>
          </p:cNvPr>
          <p:cNvSpPr>
            <a:spLocks xmlns:a="http://schemas.openxmlformats.org/drawingml/2006/main" noGrp="1"/>
          </p:cNvSpPr>
          <p:nvPr/>
        </p:nvSpPr>
        <p:spPr>
          <a:xfrm xmlns:a="http://schemas.openxmlformats.org/drawingml/2006/main">
            <a:off x="8572500" y="2895600"/>
            <a:ext cx="30099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350" b="1">
                <a:solidFill>
                  <a:srgbClr val="0B6172"/>
                </a:solidFill>
                <a:latin typeface="Malgun Gothic"/>
                <a:ea typeface="Malgun Gothic"/>
                <a:cs typeface="Malgun Gothic"/>
              </a:defRPr>
            </a:defPPr>
            <a:lvl1pPr algn="l">
              <a:defRPr sz="4350" b="1">
                <a:solidFill>
                  <a:srgbClr val="0B6172"/>
                </a:solidFill>
                <a:latin typeface="Malgun Gothic"/>
                <a:ea typeface="Malgun Gothic"/>
                <a:cs typeface="Malgun Gothic"/>
              </a:defRPr>
            </a:lvl1pPr>
            <a:lvl2pPr algn="l">
              <a:defRPr sz="4350" b="1">
                <a:solidFill>
                  <a:srgbClr val="0B6172"/>
                </a:solidFill>
                <a:latin typeface="Malgun Gothic"/>
                <a:ea typeface="Malgun Gothic"/>
                <a:cs typeface="Malgun Gothic"/>
              </a:defRPr>
            </a:lvl2pPr>
            <a:lvl3pPr algn="l">
              <a:defRPr sz="4350" b="1">
                <a:solidFill>
                  <a:srgbClr val="0B6172"/>
                </a:solidFill>
                <a:latin typeface="Malgun Gothic"/>
                <a:ea typeface="Malgun Gothic"/>
                <a:cs typeface="Malgun Gothic"/>
              </a:defRPr>
            </a:lvl3pPr>
            <a:lvl4pPr algn="l">
              <a:defRPr sz="4350" b="1">
                <a:solidFill>
                  <a:srgbClr val="0B6172"/>
                </a:solidFill>
                <a:latin typeface="Malgun Gothic"/>
                <a:ea typeface="Malgun Gothic"/>
                <a:cs typeface="Malgun Gothic"/>
              </a:defRPr>
            </a:lvl4pPr>
            <a:lvl5pPr algn="l">
              <a:defRPr sz="4350" b="1">
                <a:solidFill>
                  <a:srgbClr val="0B6172"/>
                </a:solidFill>
                <a:latin typeface="Malgun Gothic"/>
                <a:ea typeface="Malgun Gothic"/>
                <a:cs typeface="Malgun Gothic"/>
              </a:defRPr>
            </a:lvl5pPr>
            <a:lvl6pPr algn="l">
              <a:defRPr sz="4350" b="1">
                <a:solidFill>
                  <a:srgbClr val="0B6172"/>
                </a:solidFill>
                <a:latin typeface="Malgun Gothic"/>
                <a:ea typeface="Malgun Gothic"/>
                <a:cs typeface="Malgun Gothic"/>
              </a:defRPr>
            </a:lvl6pPr>
            <a:lvl7pPr algn="l">
              <a:defRPr sz="4350" b="1">
                <a:solidFill>
                  <a:srgbClr val="0B6172"/>
                </a:solidFill>
                <a:latin typeface="Malgun Gothic"/>
                <a:ea typeface="Malgun Gothic"/>
                <a:cs typeface="Malgun Gothic"/>
              </a:defRPr>
            </a:lvl7pPr>
            <a:lvl8pPr algn="l">
              <a:defRPr sz="4350" b="1">
                <a:solidFill>
                  <a:srgbClr val="0B6172"/>
                </a:solidFill>
                <a:latin typeface="Malgun Gothic"/>
                <a:ea typeface="Malgun Gothic"/>
                <a:cs typeface="Malgun Gothic"/>
              </a:defRPr>
            </a:lvl8pPr>
            <a:lvl9pPr algn="l">
              <a:defRPr sz="4350" b="1">
                <a:solidFill>
                  <a:srgbClr val="0B6172"/>
                </a:solidFill>
                <a:latin typeface="Malgun Gothic"/>
                <a:ea typeface="Malgun Gothic"/>
                <a:cs typeface="Malgun Gothic"/>
              </a:defRPr>
            </a:lvl9pPr>
          </a:lstStyle>
          <a:p xmlns:a="http://schemas.openxmlformats.org/drawingml/2006/main">
            <a:pPr algn="l">
              <a:defRPr sz="4350" b="1">
                <a:solidFill>
                  <a:srgbClr val="0B6172"/>
                </a:solidFill>
                <a:latin typeface="Malgun Gothic"/>
                <a:ea typeface="Malgun Gothic"/>
                <a:cs typeface="Malgun Gothic"/>
              </a:defRPr>
            </a:pPr>
            <a:r>
              <a:rPr sz="4350" b="1">
                <a:solidFill>
                  <a:srgbClr val="0B6172"/>
                </a:solidFill>
                <a:latin typeface="Malgun Gothic"/>
                <a:ea typeface="Malgun Gothic"/>
                <a:cs typeface="Malgun Gothic"/>
              </a:rPr>
              <a:t>+6.8%p</a:t>
            </a:r>
          </a:p>
        </p:txBody>
      </p:sp>
      <p:sp>
        <p:nvSpPr>
          <p:cNvPr id="10" name="연구된 조합에서의 차이">
            <a:extLst xmlns:a="http://schemas.openxmlformats.org/drawingml/2006/main">
              <a:ext uri="{FF2B5EF4-FFF2-40B4-BE49-F238E27FC236}">
                <a16:creationId xmlns:a16="http://schemas.microsoft.com/office/drawing/2014/main" id="{1F32D845-F7C5-4639-B364-39E1F460F7EA}"/>
              </a:ext>
            </a:extLst>
          </p:cNvPr>
          <p:cNvSpPr>
            <a:spLocks xmlns:a="http://schemas.openxmlformats.org/drawingml/2006/main" noGrp="1"/>
          </p:cNvSpPr>
          <p:nvPr/>
        </p:nvSpPr>
        <p:spPr>
          <a:xfrm xmlns:a="http://schemas.openxmlformats.org/drawingml/2006/main">
            <a:off x="8572500" y="3886200"/>
            <a:ext cx="3009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연구된 조합에서의 차이</a:t>
            </a:r>
          </a:p>
        </p:txBody>
      </p:sp>
      <p:sp>
        <p:nvSpPr>
          <p:cNvPr id="11" name="“다른 모델이면 항상 좋다”는 결론은 아니다">
            <a:extLst xmlns:a="http://schemas.openxmlformats.org/drawingml/2006/main">
              <a:ext uri="{FF2B5EF4-FFF2-40B4-BE49-F238E27FC236}">
                <a16:creationId xmlns:a16="http://schemas.microsoft.com/office/drawing/2014/main" id="{8CF3B2FD-62AE-42EE-B013-0E142311CFA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“다른 모델이면 항상 좋다”는 결론은 아니다</a:t>
            </a:r>
          </a:p>
        </p:txBody>
      </p:sp>
      <p:sp>
        <p:nvSpPr>
          <p:cNvPr id="12" name="Legacy module connection">
            <a:extLst xmlns:a="http://schemas.openxmlformats.org/drawingml/2006/main">
              <a:ext uri="{FF2B5EF4-FFF2-40B4-BE49-F238E27FC236}">
                <a16:creationId xmlns:a16="http://schemas.microsoft.com/office/drawing/2014/main" id="{1C5C3FF5-B79A-4603-8CC3-BA78B8C342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4542480"/>
      </p:ext>
    </p:extLst>
  </p:cSld>
</p:sld>
</file>

<file path=ppt/slides/slide9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연구 근거">
            <a:extLst xmlns:a="http://schemas.openxmlformats.org/drawingml/2006/main">
              <a:ext uri="{FF2B5EF4-FFF2-40B4-BE49-F238E27FC236}">
                <a16:creationId xmlns:a16="http://schemas.microsoft.com/office/drawing/2014/main" id="{44CDE0C1-F3FE-4F04-BC01-A57DABEF0B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연구 근거</a:t>
            </a:r>
          </a:p>
        </p:txBody>
      </p:sp>
      <p:sp>
        <p:nvSpPr>
          <p:cNvPr id="2" name="S97">
            <a:extLst xmlns:a="http://schemas.openxmlformats.org/drawingml/2006/main">
              <a:ext uri="{FF2B5EF4-FFF2-40B4-BE49-F238E27FC236}">
                <a16:creationId xmlns:a16="http://schemas.microsoft.com/office/drawing/2014/main" id="{37C635C0-72D4-4BCC-88FC-0A3D8EACBCB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잘 만드는 능력과 잘 검토하는 능력">
            <a:extLst xmlns:a="http://schemas.openxmlformats.org/drawingml/2006/main">
              <a:ext uri="{FF2B5EF4-FFF2-40B4-BE49-F238E27FC236}">
                <a16:creationId xmlns:a16="http://schemas.microsoft.com/office/drawing/2014/main" id="{AABA0520-6B2F-4F90-AF8B-4926670CB0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잘 만드는 능력과 잘 검토하는 능력</a:t>
            </a:r>
          </a:p>
        </p:txBody>
      </p:sp>
      <p:sp>
        <p:nvSpPr>
          <p:cNvPr id="4" name="">
            <a:extLst xmlns:a="http://schemas.openxmlformats.org/drawingml/2006/main">
              <a:ext uri="{FF2B5EF4-FFF2-40B4-BE49-F238E27FC236}">
                <a16:creationId xmlns:a16="http://schemas.microsoft.com/office/drawing/2014/main" id="{9A544971-20B3-41F5-9FB0-5EFA799B15C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FE97DDB-0E5A-49E2-B246-EAC2AE21446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CriticBench(2024) · 생성·검토 능력 평가</a:t>
            </a:r>
          </a:p>
        </p:txBody>
      </p:sp>
      <p:sp>
        <p:nvSpPr>
          <p:cNvPr id="6" name="Audience footer 2">
            <a:extLst xmlns:a="http://schemas.openxmlformats.org/drawingml/2006/main">
              <a:ext uri="{FF2B5EF4-FFF2-40B4-BE49-F238E27FC236}">
                <a16:creationId xmlns:a16="http://schemas.microsoft.com/office/drawing/2014/main" id="{C6EA9803-E2F0-40F3-918A-52D4FF2230C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a:r>
              <a:rPr sz="1425" b="0">
                <a:solidFill>
                  <a:srgbClr val="4D5A68"/>
                </a:solidFill>
                <a:latin typeface="Malgun Gothic"/>
                <a:ea typeface="Malgun Gothic"/>
                <a:cs typeface="Malgun Gothic"/>
              </a:rPr>
              <a:t xml:space="preserve">연구에 포함된 모델·과제 범위의 결과</a:t>
            </a:r>
          </a:p>
        </p:txBody>
      </p:sp>
      <p:sp>
        <p:nvSpPr>
          <p:cNvPr id="7" name="">
            <a:extLst xmlns:a="http://schemas.openxmlformats.org/drawingml/2006/main">
              <a:ext uri="{FF2B5EF4-FFF2-40B4-BE49-F238E27FC236}">
                <a16:creationId xmlns:a16="http://schemas.microsoft.com/office/drawing/2014/main" id="{00FF5879-28A0-4B31-8F17-570BD32D0334}"/>
              </a:ext>
            </a:extLst>
          </p:cNvPr>
          <p:cNvSpPr>
            <a:spLocks xmlns:a="http://schemas.openxmlformats.org/drawingml/2006/main" noGrp="1"/>
          </p:cNvSpPr>
          <p:nvPr/>
        </p:nvSpPr>
        <p:spPr>
          <a:xfrm xmlns:a="http://schemas.openxmlformats.org/drawingml/2006/main">
            <a:off x="60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생성">
            <a:extLst xmlns:a="http://schemas.openxmlformats.org/drawingml/2006/main">
              <a:ext uri="{FF2B5EF4-FFF2-40B4-BE49-F238E27FC236}">
                <a16:creationId xmlns:a16="http://schemas.microsoft.com/office/drawing/2014/main" id="{A0FD8C05-19D1-4FF2-84D3-C62854D10840}"/>
              </a:ext>
            </a:extLst>
          </p:cNvPr>
          <p:cNvSpPr>
            <a:spLocks xmlns:a="http://schemas.openxmlformats.org/drawingml/2006/main" noGrp="1"/>
          </p:cNvSpPr>
          <p:nvPr/>
        </p:nvSpPr>
        <p:spPr>
          <a:xfrm xmlns:a="http://schemas.openxmlformats.org/drawingml/2006/main">
            <a:off x="60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생성</a:t>
            </a:r>
          </a:p>
        </p:txBody>
      </p:sp>
      <p:sp>
        <p:nvSpPr>
          <p:cNvPr id="9" name="답을 만든다">
            <a:extLst xmlns:a="http://schemas.openxmlformats.org/drawingml/2006/main">
              <a:ext uri="{FF2B5EF4-FFF2-40B4-BE49-F238E27FC236}">
                <a16:creationId xmlns:a16="http://schemas.microsoft.com/office/drawing/2014/main" id="{374E2D99-290E-4B50-ACBA-40335B0F504A}"/>
              </a:ext>
            </a:extLst>
          </p:cNvPr>
          <p:cNvSpPr>
            <a:spLocks xmlns:a="http://schemas.openxmlformats.org/drawingml/2006/main" noGrp="1"/>
          </p:cNvSpPr>
          <p:nvPr/>
        </p:nvSpPr>
        <p:spPr>
          <a:xfrm xmlns:a="http://schemas.openxmlformats.org/drawingml/2006/main">
            <a:off x="60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만든다</a:t>
            </a:r>
          </a:p>
        </p:txBody>
      </p:sp>
      <p:sp>
        <p:nvSpPr>
          <p:cNvPr id="10" name="">
            <a:extLst xmlns:a="http://schemas.openxmlformats.org/drawingml/2006/main">
              <a:ext uri="{FF2B5EF4-FFF2-40B4-BE49-F238E27FC236}">
                <a16:creationId xmlns:a16="http://schemas.microsoft.com/office/drawing/2014/main" id="{27D20641-4C13-488B-AB8B-0BA0A20A2AD4}"/>
              </a:ext>
            </a:extLst>
          </p:cNvPr>
          <p:cNvSpPr>
            <a:spLocks xmlns:a="http://schemas.openxmlformats.org/drawingml/2006/main" noGrp="1"/>
          </p:cNvSpPr>
          <p:nvPr/>
        </p:nvSpPr>
        <p:spPr>
          <a:xfrm xmlns:a="http://schemas.openxmlformats.org/drawingml/2006/main">
            <a:off x="441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검토">
            <a:extLst xmlns:a="http://schemas.openxmlformats.org/drawingml/2006/main">
              <a:ext uri="{FF2B5EF4-FFF2-40B4-BE49-F238E27FC236}">
                <a16:creationId xmlns:a16="http://schemas.microsoft.com/office/drawing/2014/main" id="{9948F3D2-8FED-4700-9273-F4F28568FDBB}"/>
              </a:ext>
            </a:extLst>
          </p:cNvPr>
          <p:cNvSpPr>
            <a:spLocks xmlns:a="http://schemas.openxmlformats.org/drawingml/2006/main" noGrp="1"/>
          </p:cNvSpPr>
          <p:nvPr/>
        </p:nvSpPr>
        <p:spPr>
          <a:xfrm xmlns:a="http://schemas.openxmlformats.org/drawingml/2006/main">
            <a:off x="441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검토</a:t>
            </a:r>
          </a:p>
        </p:txBody>
      </p:sp>
      <p:sp>
        <p:nvSpPr>
          <p:cNvPr id="12" name="문제를 찾는다">
            <a:extLst xmlns:a="http://schemas.openxmlformats.org/drawingml/2006/main">
              <a:ext uri="{FF2B5EF4-FFF2-40B4-BE49-F238E27FC236}">
                <a16:creationId xmlns:a16="http://schemas.microsoft.com/office/drawing/2014/main" id="{FAC0FC40-EF35-48BB-A93F-01CF726CD55E}"/>
              </a:ext>
            </a:extLst>
          </p:cNvPr>
          <p:cNvSpPr>
            <a:spLocks xmlns:a="http://schemas.openxmlformats.org/drawingml/2006/main" noGrp="1"/>
          </p:cNvSpPr>
          <p:nvPr/>
        </p:nvSpPr>
        <p:spPr>
          <a:xfrm xmlns:a="http://schemas.openxmlformats.org/drawingml/2006/main">
            <a:off x="441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문제를 찾는다</a:t>
            </a:r>
          </a:p>
        </p:txBody>
      </p:sp>
      <p:sp>
        <p:nvSpPr>
          <p:cNvPr id="13" name="">
            <a:extLst xmlns:a="http://schemas.openxmlformats.org/drawingml/2006/main">
              <a:ext uri="{FF2B5EF4-FFF2-40B4-BE49-F238E27FC236}">
                <a16:creationId xmlns:a16="http://schemas.microsoft.com/office/drawing/2014/main" id="{7CA13B2D-768D-4D06-9514-82A9FA42AF3D}"/>
              </a:ext>
            </a:extLst>
          </p:cNvPr>
          <p:cNvSpPr>
            <a:spLocks xmlns:a="http://schemas.openxmlformats.org/drawingml/2006/main" noGrp="1"/>
          </p:cNvSpPr>
          <p:nvPr/>
        </p:nvSpPr>
        <p:spPr>
          <a:xfrm xmlns:a="http://schemas.openxmlformats.org/drawingml/2006/main">
            <a:off x="8229600" y="24765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수정">
            <a:extLst xmlns:a="http://schemas.openxmlformats.org/drawingml/2006/main">
              <a:ext uri="{FF2B5EF4-FFF2-40B4-BE49-F238E27FC236}">
                <a16:creationId xmlns:a16="http://schemas.microsoft.com/office/drawing/2014/main" id="{B66276EA-A2F0-4DA3-AAB6-3A775EE8D456}"/>
              </a:ext>
            </a:extLst>
          </p:cNvPr>
          <p:cNvSpPr>
            <a:spLocks xmlns:a="http://schemas.openxmlformats.org/drawingml/2006/main" noGrp="1"/>
          </p:cNvSpPr>
          <p:nvPr/>
        </p:nvSpPr>
        <p:spPr>
          <a:xfrm xmlns:a="http://schemas.openxmlformats.org/drawingml/2006/main">
            <a:off x="8229600" y="267652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수정</a:t>
            </a:r>
          </a:p>
        </p:txBody>
      </p:sp>
      <p:sp>
        <p:nvSpPr>
          <p:cNvPr id="15" name="답을 고친다">
            <a:extLst xmlns:a="http://schemas.openxmlformats.org/drawingml/2006/main">
              <a:ext uri="{FF2B5EF4-FFF2-40B4-BE49-F238E27FC236}">
                <a16:creationId xmlns:a16="http://schemas.microsoft.com/office/drawing/2014/main" id="{EDD82EEB-0A9B-443E-A01D-0603AB807A40}"/>
              </a:ext>
            </a:extLst>
          </p:cNvPr>
          <p:cNvSpPr>
            <a:spLocks xmlns:a="http://schemas.openxmlformats.org/drawingml/2006/main" noGrp="1"/>
          </p:cNvSpPr>
          <p:nvPr/>
        </p:nvSpPr>
        <p:spPr>
          <a:xfrm xmlns:a="http://schemas.openxmlformats.org/drawingml/2006/main">
            <a:off x="8229600" y="3305175"/>
            <a:ext cx="335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답을 고친다</a:t>
            </a:r>
          </a:p>
        </p:txBody>
      </p:sp>
      <p:sp>
        <p:nvSpPr>
          <p:cNvPr id="16" name="모델의 세 능력이 항상 일치하지 않았다">
            <a:extLst xmlns:a="http://schemas.openxmlformats.org/drawingml/2006/main">
              <a:ext uri="{FF2B5EF4-FFF2-40B4-BE49-F238E27FC236}">
                <a16:creationId xmlns:a16="http://schemas.microsoft.com/office/drawing/2014/main" id="{3751C0D9-E1CC-48A8-A22D-363A4D33CBF6}"/>
              </a:ext>
            </a:extLst>
          </p:cNvPr>
          <p:cNvSpPr>
            <a:spLocks xmlns:a="http://schemas.openxmlformats.org/drawingml/2006/main" noGrp="1"/>
          </p:cNvSpPr>
          <p:nvPr/>
        </p:nvSpPr>
        <p:spPr>
          <a:xfrm xmlns:a="http://schemas.openxmlformats.org/drawingml/2006/main">
            <a:off x="609600" y="4381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모델의 세 능력이 항상 일치하지 않았다</a:t>
            </a:r>
          </a:p>
        </p:txBody>
      </p:sp>
      <p:sp>
        <p:nvSpPr>
          <p:cNvPr id="17" name="일부 다른 모델의 검토가, 자기 검토보다 나은 경우를 보고">
            <a:extLst xmlns:a="http://schemas.openxmlformats.org/drawingml/2006/main">
              <a:ext uri="{FF2B5EF4-FFF2-40B4-BE49-F238E27FC236}">
                <a16:creationId xmlns:a16="http://schemas.microsoft.com/office/drawing/2014/main" id="{E07AC274-DC56-4E1C-8103-E988A76035E1}"/>
              </a:ext>
            </a:extLst>
          </p:cNvPr>
          <p:cNvSpPr>
            <a:spLocks xmlns:a="http://schemas.openxmlformats.org/drawingml/2006/main" noGrp="1"/>
          </p:cNvSpPr>
          <p:nvPr/>
        </p:nvSpPr>
        <p:spPr>
          <a:xfrm xmlns:a="http://schemas.openxmlformats.org/drawingml/2006/main">
            <a:off x="609600" y="513397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일부 다른 모델의 검토가, 자기 검토보다 나은 경우를 보고</a:t>
            </a:r>
          </a:p>
        </p:txBody>
      </p:sp>
      <p:sp>
        <p:nvSpPr>
          <p:cNvPr id="18" name="Legacy module connection">
            <a:extLst xmlns:a="http://schemas.openxmlformats.org/drawingml/2006/main">
              <a:ext uri="{FF2B5EF4-FFF2-40B4-BE49-F238E27FC236}">
                <a16:creationId xmlns:a16="http://schemas.microsoft.com/office/drawing/2014/main" id="{DFD4F8ED-4B31-42EC-9749-8C7D3D5B3D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556585"/>
      </p:ext>
    </p:extLst>
  </p:cSld>
</p:sld>
</file>

<file path=ppt/slides/slide9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루프 운영 설계">
            <a:extLst xmlns:a="http://schemas.openxmlformats.org/drawingml/2006/main">
              <a:ext uri="{FF2B5EF4-FFF2-40B4-BE49-F238E27FC236}">
                <a16:creationId xmlns:a16="http://schemas.microsoft.com/office/drawing/2014/main" id="{78579FA6-441F-4FEA-902F-F137523642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8">
            <a:extLst xmlns:a="http://schemas.openxmlformats.org/drawingml/2006/main">
              <a:ext uri="{FF2B5EF4-FFF2-40B4-BE49-F238E27FC236}">
                <a16:creationId xmlns:a16="http://schemas.microsoft.com/office/drawing/2014/main" id="{9FE29327-06FA-410B-9904-CD1FB1405C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구현과 검토에 모델을 어떻게 나눌까?">
            <a:extLst xmlns:a="http://schemas.openxmlformats.org/drawingml/2006/main">
              <a:ext uri="{FF2B5EF4-FFF2-40B4-BE49-F238E27FC236}">
                <a16:creationId xmlns:a16="http://schemas.microsoft.com/office/drawing/2014/main" id="{4878FE40-BA78-4880-9DD4-E23F785AC07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구현과 검토에 모델을 어떻게 나눌까?</a:t>
            </a:r>
          </a:p>
        </p:txBody>
      </p:sp>
      <p:sp>
        <p:nvSpPr>
          <p:cNvPr id="4" name="">
            <a:extLst xmlns:a="http://schemas.openxmlformats.org/drawingml/2006/main">
              <a:ext uri="{FF2B5EF4-FFF2-40B4-BE49-F238E27FC236}">
                <a16:creationId xmlns:a16="http://schemas.microsoft.com/office/drawing/2014/main" id="{8A09E854-C2D4-439A-85E9-C97C4CF6C05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AC7E941-99EF-4187-BDEF-33AC5445BD7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역할 배치 예시 · 실제 조합의 효과는 별도 평가</a:t>
            </a:r>
          </a:p>
        </p:txBody>
      </p:sp>
      <p:sp>
        <p:nvSpPr>
          <p:cNvPr id="7" name="역할만 나누는 구성">
            <a:extLst xmlns:a="http://schemas.openxmlformats.org/drawingml/2006/main">
              <a:ext uri="{FF2B5EF4-FFF2-40B4-BE49-F238E27FC236}">
                <a16:creationId xmlns:a16="http://schemas.microsoft.com/office/drawing/2014/main" id="{064D6534-EE20-4AB4-976F-827AD69379F5}"/>
              </a:ext>
            </a:extLst>
          </p:cNvPr>
          <p:cNvSpPr>
            <a:spLocks xmlns:a="http://schemas.openxmlformats.org/drawingml/2006/main" noGrp="1"/>
          </p:cNvSpPr>
          <p:nvPr/>
        </p:nvSpPr>
        <p:spPr>
          <a:xfrm xmlns:a="http://schemas.openxmlformats.org/drawingml/2006/main">
            <a:off x="609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역할만 나누는 구성</a:t>
            </a:r>
          </a:p>
        </p:txBody>
      </p:sp>
      <p:sp>
        <p:nvSpPr>
          <p:cNvPr id="8" name="다른 모델로 나누는 구성">
            <a:extLst xmlns:a="http://schemas.openxmlformats.org/drawingml/2006/main">
              <a:ext uri="{FF2B5EF4-FFF2-40B4-BE49-F238E27FC236}">
                <a16:creationId xmlns:a16="http://schemas.microsoft.com/office/drawing/2014/main" id="{CC39EFC0-FF1B-46BA-A28E-ABA573A658D9}"/>
              </a:ext>
            </a:extLst>
          </p:cNvPr>
          <p:cNvSpPr>
            <a:spLocks xmlns:a="http://schemas.openxmlformats.org/drawingml/2006/main" noGrp="1"/>
          </p:cNvSpPr>
          <p:nvPr/>
        </p:nvSpPr>
        <p:spPr>
          <a:xfrm xmlns:a="http://schemas.openxmlformats.org/drawingml/2006/main">
            <a:off x="6705600" y="227647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다른 모델로 나누는 구성</a:t>
            </a:r>
          </a:p>
        </p:txBody>
      </p:sp>
      <p:sp>
        <p:nvSpPr>
          <p:cNvPr id="9" name="">
            <a:extLst xmlns:a="http://schemas.openxmlformats.org/drawingml/2006/main">
              <a:ext uri="{FF2B5EF4-FFF2-40B4-BE49-F238E27FC236}">
                <a16:creationId xmlns:a16="http://schemas.microsoft.com/office/drawing/2014/main" id="{BEFFFFCA-26CC-43FA-94F8-A5D992F244AA}"/>
              </a:ext>
            </a:extLst>
          </p:cNvPr>
          <p:cNvSpPr>
            <a:spLocks xmlns:a="http://schemas.openxmlformats.org/drawingml/2006/main" noGrp="1"/>
          </p:cNvSpPr>
          <p:nvPr/>
        </p:nvSpPr>
        <p:spPr>
          <a:xfrm xmlns:a="http://schemas.openxmlformats.org/drawingml/2006/main">
            <a:off x="609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모델 A">
            <a:extLst xmlns:a="http://schemas.openxmlformats.org/drawingml/2006/main">
              <a:ext uri="{FF2B5EF4-FFF2-40B4-BE49-F238E27FC236}">
                <a16:creationId xmlns:a16="http://schemas.microsoft.com/office/drawing/2014/main" id="{9DB2A1BA-C998-43EA-AD91-80CD391F613E}"/>
              </a:ext>
            </a:extLst>
          </p:cNvPr>
          <p:cNvSpPr>
            <a:spLocks xmlns:a="http://schemas.openxmlformats.org/drawingml/2006/main" noGrp="1"/>
          </p:cNvSpPr>
          <p:nvPr/>
        </p:nvSpPr>
        <p:spPr>
          <a:xfrm xmlns:a="http://schemas.openxmlformats.org/drawingml/2006/main">
            <a:off x="800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1" name="구현">
            <a:extLst xmlns:a="http://schemas.openxmlformats.org/drawingml/2006/main">
              <a:ext uri="{FF2B5EF4-FFF2-40B4-BE49-F238E27FC236}">
                <a16:creationId xmlns:a16="http://schemas.microsoft.com/office/drawing/2014/main" id="{D2B1446F-BA43-44C3-9A97-39C7CE5B0963}"/>
              </a:ext>
            </a:extLst>
          </p:cNvPr>
          <p:cNvSpPr>
            <a:spLocks xmlns:a="http://schemas.openxmlformats.org/drawingml/2006/main" noGrp="1"/>
          </p:cNvSpPr>
          <p:nvPr/>
        </p:nvSpPr>
        <p:spPr>
          <a:xfrm xmlns:a="http://schemas.openxmlformats.org/drawingml/2006/main">
            <a:off x="800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2" name="">
            <a:extLst xmlns:a="http://schemas.openxmlformats.org/drawingml/2006/main">
              <a:ext uri="{FF2B5EF4-FFF2-40B4-BE49-F238E27FC236}">
                <a16:creationId xmlns:a16="http://schemas.microsoft.com/office/drawing/2014/main" id="{53DFDDA6-5DD3-4AB9-A37C-228F6B183DB3}"/>
              </a:ext>
            </a:extLst>
          </p:cNvPr>
          <p:cNvSpPr>
            <a:spLocks xmlns:a="http://schemas.openxmlformats.org/drawingml/2006/main" noGrp="1"/>
          </p:cNvSpPr>
          <p:nvPr/>
        </p:nvSpPr>
        <p:spPr>
          <a:xfrm xmlns:a="http://schemas.openxmlformats.org/drawingml/2006/main">
            <a:off x="3295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모델 A">
            <a:extLst xmlns:a="http://schemas.openxmlformats.org/drawingml/2006/main">
              <a:ext uri="{FF2B5EF4-FFF2-40B4-BE49-F238E27FC236}">
                <a16:creationId xmlns:a16="http://schemas.microsoft.com/office/drawing/2014/main" id="{B0F6210C-3F0B-43A0-84C7-479900FEED4F}"/>
              </a:ext>
            </a:extLst>
          </p:cNvPr>
          <p:cNvSpPr>
            <a:spLocks xmlns:a="http://schemas.openxmlformats.org/drawingml/2006/main" noGrp="1"/>
          </p:cNvSpPr>
          <p:nvPr/>
        </p:nvSpPr>
        <p:spPr>
          <a:xfrm xmlns:a="http://schemas.openxmlformats.org/drawingml/2006/main">
            <a:off x="3486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4" name="검토">
            <a:extLst xmlns:a="http://schemas.openxmlformats.org/drawingml/2006/main">
              <a:ext uri="{FF2B5EF4-FFF2-40B4-BE49-F238E27FC236}">
                <a16:creationId xmlns:a16="http://schemas.microsoft.com/office/drawing/2014/main" id="{0B70A231-10AC-4CD5-A81C-927AB818D1A8}"/>
              </a:ext>
            </a:extLst>
          </p:cNvPr>
          <p:cNvSpPr>
            <a:spLocks xmlns:a="http://schemas.openxmlformats.org/drawingml/2006/main" noGrp="1"/>
          </p:cNvSpPr>
          <p:nvPr/>
        </p:nvSpPr>
        <p:spPr>
          <a:xfrm xmlns:a="http://schemas.openxmlformats.org/drawingml/2006/main">
            <a:off x="3486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15" name="">
            <a:extLst xmlns:a="http://schemas.openxmlformats.org/drawingml/2006/main">
              <a:ext uri="{FF2B5EF4-FFF2-40B4-BE49-F238E27FC236}">
                <a16:creationId xmlns:a16="http://schemas.microsoft.com/office/drawing/2014/main" id="{1064C673-F9ED-49D1-A035-A19BDBC409F9}"/>
              </a:ext>
            </a:extLst>
          </p:cNvPr>
          <p:cNvCxnSpPr/>
          <p:nvPr/>
        </p:nvCxnSpPr>
        <p:spPr>
          <a:xfrm xmlns:a="http://schemas.openxmlformats.org/drawingml/2006/main">
            <a:off x="2914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11E1663A-96E4-4B76-A415-3C9D8F78DE3B}"/>
              </a:ext>
            </a:extLst>
          </p:cNvPr>
          <p:cNvSpPr>
            <a:spLocks xmlns:a="http://schemas.openxmlformats.org/drawingml/2006/main" noGrp="1"/>
          </p:cNvSpPr>
          <p:nvPr/>
        </p:nvSpPr>
        <p:spPr>
          <a:xfrm xmlns:a="http://schemas.openxmlformats.org/drawingml/2006/main">
            <a:off x="670560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7" name="모델 A">
            <a:extLst xmlns:a="http://schemas.openxmlformats.org/drawingml/2006/main">
              <a:ext uri="{FF2B5EF4-FFF2-40B4-BE49-F238E27FC236}">
                <a16:creationId xmlns:a16="http://schemas.microsoft.com/office/drawing/2014/main" id="{FA6FFB68-C4BA-4520-B054-4F34A1F908BF}"/>
              </a:ext>
            </a:extLst>
          </p:cNvPr>
          <p:cNvSpPr>
            <a:spLocks xmlns:a="http://schemas.openxmlformats.org/drawingml/2006/main" noGrp="1"/>
          </p:cNvSpPr>
          <p:nvPr/>
        </p:nvSpPr>
        <p:spPr>
          <a:xfrm xmlns:a="http://schemas.openxmlformats.org/drawingml/2006/main">
            <a:off x="689610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A</a:t>
            </a:r>
          </a:p>
        </p:txBody>
      </p:sp>
      <p:sp>
        <p:nvSpPr>
          <p:cNvPr id="18" name="구현">
            <a:extLst xmlns:a="http://schemas.openxmlformats.org/drawingml/2006/main">
              <a:ext uri="{FF2B5EF4-FFF2-40B4-BE49-F238E27FC236}">
                <a16:creationId xmlns:a16="http://schemas.microsoft.com/office/drawing/2014/main" id="{9FC6A80E-2F52-4E2D-A75C-5C11997CEA45}"/>
              </a:ext>
            </a:extLst>
          </p:cNvPr>
          <p:cNvSpPr>
            <a:spLocks xmlns:a="http://schemas.openxmlformats.org/drawingml/2006/main" noGrp="1"/>
          </p:cNvSpPr>
          <p:nvPr/>
        </p:nvSpPr>
        <p:spPr>
          <a:xfrm xmlns:a="http://schemas.openxmlformats.org/drawingml/2006/main">
            <a:off x="689610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구현</a:t>
            </a:r>
          </a:p>
        </p:txBody>
      </p:sp>
      <p:sp>
        <p:nvSpPr>
          <p:cNvPr id="19" name="">
            <a:extLst xmlns:a="http://schemas.openxmlformats.org/drawingml/2006/main">
              <a:ext uri="{FF2B5EF4-FFF2-40B4-BE49-F238E27FC236}">
                <a16:creationId xmlns:a16="http://schemas.microsoft.com/office/drawing/2014/main" id="{5567C52E-C1D9-4714-AD2F-51A9469874D6}"/>
              </a:ext>
            </a:extLst>
          </p:cNvPr>
          <p:cNvSpPr>
            <a:spLocks xmlns:a="http://schemas.openxmlformats.org/drawingml/2006/main" noGrp="1"/>
          </p:cNvSpPr>
          <p:nvPr/>
        </p:nvSpPr>
        <p:spPr>
          <a:xfrm xmlns:a="http://schemas.openxmlformats.org/drawingml/2006/main">
            <a:off x="9391650" y="3086100"/>
            <a:ext cx="219075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20" name="모델 B">
            <a:extLst xmlns:a="http://schemas.openxmlformats.org/drawingml/2006/main">
              <a:ext uri="{FF2B5EF4-FFF2-40B4-BE49-F238E27FC236}">
                <a16:creationId xmlns:a16="http://schemas.microsoft.com/office/drawing/2014/main" id="{AACFB276-8F11-4E3D-8904-D0CA1C6DC4A2}"/>
              </a:ext>
            </a:extLst>
          </p:cNvPr>
          <p:cNvSpPr>
            <a:spLocks xmlns:a="http://schemas.openxmlformats.org/drawingml/2006/main" noGrp="1"/>
          </p:cNvSpPr>
          <p:nvPr/>
        </p:nvSpPr>
        <p:spPr>
          <a:xfrm xmlns:a="http://schemas.openxmlformats.org/drawingml/2006/main">
            <a:off x="9582150" y="3200400"/>
            <a:ext cx="1809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모델 B</a:t>
            </a:r>
          </a:p>
        </p:txBody>
      </p:sp>
      <p:sp>
        <p:nvSpPr>
          <p:cNvPr id="21" name="검토">
            <a:extLst xmlns:a="http://schemas.openxmlformats.org/drawingml/2006/main">
              <a:ext uri="{FF2B5EF4-FFF2-40B4-BE49-F238E27FC236}">
                <a16:creationId xmlns:a16="http://schemas.microsoft.com/office/drawing/2014/main" id="{C1DB8FBB-3CA5-4ABD-9006-639E71D10E94}"/>
              </a:ext>
            </a:extLst>
          </p:cNvPr>
          <p:cNvSpPr>
            <a:spLocks xmlns:a="http://schemas.openxmlformats.org/drawingml/2006/main" noGrp="1"/>
          </p:cNvSpPr>
          <p:nvPr/>
        </p:nvSpPr>
        <p:spPr>
          <a:xfrm xmlns:a="http://schemas.openxmlformats.org/drawingml/2006/main">
            <a:off x="9582150" y="3714750"/>
            <a:ext cx="1809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a:t>
            </a:r>
          </a:p>
        </p:txBody>
      </p:sp>
      <p:cxnSp>
        <p:nvCxnSpPr>
          <p:cNvPr id="22" name="">
            <a:extLst xmlns:a="http://schemas.openxmlformats.org/drawingml/2006/main">
              <a:ext uri="{FF2B5EF4-FFF2-40B4-BE49-F238E27FC236}">
                <a16:creationId xmlns:a16="http://schemas.microsoft.com/office/drawing/2014/main" id="{94E5955D-1E6A-430E-B393-6292DDF60582}"/>
              </a:ext>
            </a:extLst>
          </p:cNvPr>
          <p:cNvCxnSpPr/>
          <p:nvPr/>
        </p:nvCxnSpPr>
        <p:spPr>
          <a:xfrm xmlns:a="http://schemas.openxmlformats.org/drawingml/2006/main">
            <a:off x="9010650" y="3705225"/>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이번 작업의 결과·오류 탐지·비용을 보고 조합을 평가한다">
            <a:extLst xmlns:a="http://schemas.openxmlformats.org/drawingml/2006/main">
              <a:ext uri="{FF2B5EF4-FFF2-40B4-BE49-F238E27FC236}">
                <a16:creationId xmlns:a16="http://schemas.microsoft.com/office/drawing/2014/main" id="{01CC2200-C880-43B5-AAC7-13A7E9FC3B10}"/>
              </a:ext>
            </a:extLst>
          </p:cNvPr>
          <p:cNvSpPr>
            <a:spLocks xmlns:a="http://schemas.openxmlformats.org/drawingml/2006/main" noGrp="1"/>
          </p:cNvSpPr>
          <p:nvPr/>
        </p:nvSpPr>
        <p:spPr>
          <a:xfrm xmlns:a="http://schemas.openxmlformats.org/drawingml/2006/main">
            <a:off x="609600" y="51720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작업의 결과·오류 탐지·비용을 보고 조합을 평가한다</a:t>
            </a:r>
          </a:p>
        </p:txBody>
      </p:sp>
      <p:sp>
        <p:nvSpPr>
          <p:cNvPr id="24" name="Legacy module connection">
            <a:extLst xmlns:a="http://schemas.openxmlformats.org/drawingml/2006/main">
              <a:ext uri="{FF2B5EF4-FFF2-40B4-BE49-F238E27FC236}">
                <a16:creationId xmlns:a16="http://schemas.microsoft.com/office/drawing/2014/main" id="{9DBC52E5-2D1A-4788-93EA-711560D8FC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9818796"/>
      </p:ext>
    </p:extLst>
  </p:cSld>
</p:sld>
</file>

<file path=ppt/slides/slide9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루프 운영 설계">
            <a:extLst xmlns:a="http://schemas.openxmlformats.org/drawingml/2006/main">
              <a:ext uri="{FF2B5EF4-FFF2-40B4-BE49-F238E27FC236}">
                <a16:creationId xmlns:a16="http://schemas.microsoft.com/office/drawing/2014/main" id="{C578ED37-9827-4126-B875-CAD588339E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99">
            <a:extLst xmlns:a="http://schemas.openxmlformats.org/drawingml/2006/main">
              <a:ext uri="{FF2B5EF4-FFF2-40B4-BE49-F238E27FC236}">
                <a16:creationId xmlns:a16="http://schemas.microsoft.com/office/drawing/2014/main" id="{7AB72C2D-C82F-4A38-BD15-CD2D938FD11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검토 모델의 말도 확인해야 한다">
            <a:extLst xmlns:a="http://schemas.openxmlformats.org/drawingml/2006/main">
              <a:ext uri="{FF2B5EF4-FFF2-40B4-BE49-F238E27FC236}">
                <a16:creationId xmlns:a16="http://schemas.microsoft.com/office/drawing/2014/main" id="{20AF7F5A-15D9-444F-B5ED-6A1F462941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검토 모델의 말도 확인해야 한다</a:t>
            </a:r>
          </a:p>
        </p:txBody>
      </p:sp>
      <p:sp>
        <p:nvSpPr>
          <p:cNvPr id="4" name="">
            <a:extLst xmlns:a="http://schemas.openxmlformats.org/drawingml/2006/main">
              <a:ext uri="{FF2B5EF4-FFF2-40B4-BE49-F238E27FC236}">
                <a16:creationId xmlns:a16="http://schemas.microsoft.com/office/drawing/2014/main" id="{A7DD7D53-0181-40C9-861C-D7DBB1DC06C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ABBE8FF5-4C7E-4B0E-BA0E-1245832842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모델 동의·다수결만으로 완료하지 않는다</a:t>
            </a:r>
          </a:p>
        </p:txBody>
      </p:sp>
      <p:sp>
        <p:nvSpPr>
          <p:cNvPr id="7" name="">
            <a:extLst xmlns:a="http://schemas.openxmlformats.org/drawingml/2006/main">
              <a:ext uri="{FF2B5EF4-FFF2-40B4-BE49-F238E27FC236}">
                <a16:creationId xmlns:a16="http://schemas.microsoft.com/office/drawing/2014/main" id="{9F35747F-6D28-4262-B368-984DCC3FDE03}"/>
              </a:ext>
            </a:extLst>
          </p:cNvPr>
          <p:cNvSpPr>
            <a:spLocks xmlns:a="http://schemas.openxmlformats.org/drawingml/2006/main" noGrp="1"/>
          </p:cNvSpPr>
          <p:nvPr/>
        </p:nvSpPr>
        <p:spPr>
          <a:xfrm xmlns:a="http://schemas.openxmlformats.org/drawingml/2006/main">
            <a:off x="609600" y="2876550"/>
            <a:ext cx="2895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모델 B의 지적">
            <a:extLst xmlns:a="http://schemas.openxmlformats.org/drawingml/2006/main">
              <a:ext uri="{FF2B5EF4-FFF2-40B4-BE49-F238E27FC236}">
                <a16:creationId xmlns:a16="http://schemas.microsoft.com/office/drawing/2014/main" id="{1C1A60CA-C587-44BA-8568-BC446F4DC049}"/>
              </a:ext>
            </a:extLst>
          </p:cNvPr>
          <p:cNvSpPr>
            <a:spLocks xmlns:a="http://schemas.openxmlformats.org/drawingml/2006/main" noGrp="1"/>
          </p:cNvSpPr>
          <p:nvPr/>
        </p:nvSpPr>
        <p:spPr>
          <a:xfrm xmlns:a="http://schemas.openxmlformats.org/drawingml/2006/main">
            <a:off x="800100" y="2990850"/>
            <a:ext cx="2514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 B의 지적</a:t>
            </a:r>
          </a:p>
        </p:txBody>
      </p:sp>
      <p:sp>
        <p:nvSpPr>
          <p:cNvPr id="9" name="위치 · 기준 · 근거">
            <a:extLst xmlns:a="http://schemas.openxmlformats.org/drawingml/2006/main">
              <a:ext uri="{FF2B5EF4-FFF2-40B4-BE49-F238E27FC236}">
                <a16:creationId xmlns:a16="http://schemas.microsoft.com/office/drawing/2014/main" id="{FD5F8F20-3100-418A-8427-3B630A687682}"/>
              </a:ext>
            </a:extLst>
          </p:cNvPr>
          <p:cNvSpPr>
            <a:spLocks xmlns:a="http://schemas.openxmlformats.org/drawingml/2006/main" noGrp="1"/>
          </p:cNvSpPr>
          <p:nvPr/>
        </p:nvSpPr>
        <p:spPr>
          <a:xfrm xmlns:a="http://schemas.openxmlformats.org/drawingml/2006/main">
            <a:off x="800100" y="3505200"/>
            <a:ext cx="2514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 · 기준 · 근거</a:t>
            </a:r>
          </a:p>
        </p:txBody>
      </p:sp>
      <p:cxnSp>
        <p:nvCxnSpPr>
          <p:cNvPr id="10" name="">
            <a:extLst xmlns:a="http://schemas.openxmlformats.org/drawingml/2006/main">
              <a:ext uri="{FF2B5EF4-FFF2-40B4-BE49-F238E27FC236}">
                <a16:creationId xmlns:a16="http://schemas.microsoft.com/office/drawing/2014/main" id="{D28301E7-A2F6-4466-B100-D41DFFEA731A}"/>
              </a:ext>
            </a:extLst>
          </p:cNvPr>
          <p:cNvCxnSpPr/>
          <p:nvPr/>
        </p:nvCxnSpPr>
        <p:spPr>
          <a:xfrm xmlns:a="http://schemas.openxmlformats.org/drawingml/2006/main">
            <a:off x="3695700" y="3495675"/>
            <a:ext cx="4953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54F238CF-48F1-4F64-A623-F3AE3F2D574F}"/>
              </a:ext>
            </a:extLst>
          </p:cNvPr>
          <p:cNvSpPr>
            <a:spLocks xmlns:a="http://schemas.openxmlformats.org/drawingml/2006/main" noGrp="1"/>
          </p:cNvSpPr>
          <p:nvPr/>
        </p:nvSpPr>
        <p:spPr>
          <a:xfrm xmlns:a="http://schemas.openxmlformats.org/drawingml/2006/main">
            <a:off x="4419600" y="28765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명세·검사와 대조">
            <a:extLst xmlns:a="http://schemas.openxmlformats.org/drawingml/2006/main">
              <a:ext uri="{FF2B5EF4-FFF2-40B4-BE49-F238E27FC236}">
                <a16:creationId xmlns:a16="http://schemas.microsoft.com/office/drawing/2014/main" id="{F7B382B9-50A4-4093-A787-E04BE5C524E4}"/>
              </a:ext>
            </a:extLst>
          </p:cNvPr>
          <p:cNvSpPr>
            <a:spLocks xmlns:a="http://schemas.openxmlformats.org/drawingml/2006/main" noGrp="1"/>
          </p:cNvSpPr>
          <p:nvPr/>
        </p:nvSpPr>
        <p:spPr>
          <a:xfrm xmlns:a="http://schemas.openxmlformats.org/drawingml/2006/main">
            <a:off x="4610100" y="29908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명세·검사와 대조</a:t>
            </a:r>
          </a:p>
        </p:txBody>
      </p:sp>
      <p:sp>
        <p:nvSpPr>
          <p:cNvPr id="13" name="수정 필요성이 맞는가?">
            <a:extLst xmlns:a="http://schemas.openxmlformats.org/drawingml/2006/main">
              <a:ext uri="{FF2B5EF4-FFF2-40B4-BE49-F238E27FC236}">
                <a16:creationId xmlns:a16="http://schemas.microsoft.com/office/drawing/2014/main" id="{D0A58044-CFC1-40A0-BDC1-782285EEFB9F}"/>
              </a:ext>
            </a:extLst>
          </p:cNvPr>
          <p:cNvSpPr>
            <a:spLocks xmlns:a="http://schemas.openxmlformats.org/drawingml/2006/main" noGrp="1"/>
          </p:cNvSpPr>
          <p:nvPr/>
        </p:nvSpPr>
        <p:spPr>
          <a:xfrm xmlns:a="http://schemas.openxmlformats.org/drawingml/2006/main">
            <a:off x="4610100" y="35052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필요성이 맞는가?</a:t>
            </a:r>
          </a:p>
        </p:txBody>
      </p:sp>
      <p:cxnSp>
        <p:nvCxnSpPr>
          <p:cNvPr id="14" name="">
            <a:extLst xmlns:a="http://schemas.openxmlformats.org/drawingml/2006/main">
              <a:ext uri="{FF2B5EF4-FFF2-40B4-BE49-F238E27FC236}">
                <a16:creationId xmlns:a16="http://schemas.microsoft.com/office/drawing/2014/main" id="{233C2C1F-B0D1-4C44-91B3-41D1E948500C}"/>
              </a:ext>
            </a:extLst>
          </p:cNvPr>
          <p:cNvCxnSpPr/>
          <p:nvPr/>
        </p:nvCxnSpPr>
        <p:spPr>
          <a:xfrm xmlns:a="http://schemas.openxmlformats.org/drawingml/2006/main">
            <a:off x="7962900" y="3495675"/>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근거가 맞으면 수정">
            <a:extLst xmlns:a="http://schemas.openxmlformats.org/drawingml/2006/main">
              <a:ext uri="{FF2B5EF4-FFF2-40B4-BE49-F238E27FC236}">
                <a16:creationId xmlns:a16="http://schemas.microsoft.com/office/drawing/2014/main" id="{70E62BA0-2F2B-4E30-8FC4-2571B8D3469B}"/>
              </a:ext>
            </a:extLst>
          </p:cNvPr>
          <p:cNvSpPr>
            <a:spLocks xmlns:a="http://schemas.openxmlformats.org/drawingml/2006/main" noGrp="1"/>
          </p:cNvSpPr>
          <p:nvPr/>
        </p:nvSpPr>
        <p:spPr>
          <a:xfrm xmlns:a="http://schemas.openxmlformats.org/drawingml/2006/main">
            <a:off x="8763000" y="26765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근거가 맞으면 수정</a:t>
            </a:r>
          </a:p>
        </p:txBody>
      </p:sp>
      <p:sp>
        <p:nvSpPr>
          <p:cNvPr id="16" name="맞지 않으면 기각">
            <a:extLst xmlns:a="http://schemas.openxmlformats.org/drawingml/2006/main">
              <a:ext uri="{FF2B5EF4-FFF2-40B4-BE49-F238E27FC236}">
                <a16:creationId xmlns:a16="http://schemas.microsoft.com/office/drawing/2014/main" id="{CA09EC23-7B76-4F15-AC55-0858BA8F0581}"/>
              </a:ext>
            </a:extLst>
          </p:cNvPr>
          <p:cNvSpPr>
            <a:spLocks xmlns:a="http://schemas.openxmlformats.org/drawingml/2006/main" noGrp="1"/>
          </p:cNvSpPr>
          <p:nvPr/>
        </p:nvSpPr>
        <p:spPr>
          <a:xfrm xmlns:a="http://schemas.openxmlformats.org/drawingml/2006/main">
            <a:off x="8763000" y="360997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맞지 않으면 기각</a:t>
            </a:r>
          </a:p>
        </p:txBody>
      </p:sp>
      <p:sp>
        <p:nvSpPr>
          <p:cNvPr id="17" name="모호하면 사람 확인">
            <a:extLst xmlns:a="http://schemas.openxmlformats.org/drawingml/2006/main">
              <a:ext uri="{FF2B5EF4-FFF2-40B4-BE49-F238E27FC236}">
                <a16:creationId xmlns:a16="http://schemas.microsoft.com/office/drawing/2014/main" id="{A81AC186-C774-4EA2-8324-1BB838C2B7BE}"/>
              </a:ext>
            </a:extLst>
          </p:cNvPr>
          <p:cNvSpPr>
            <a:spLocks xmlns:a="http://schemas.openxmlformats.org/drawingml/2006/main" noGrp="1"/>
          </p:cNvSpPr>
          <p:nvPr/>
        </p:nvSpPr>
        <p:spPr>
          <a:xfrm xmlns:a="http://schemas.openxmlformats.org/drawingml/2006/main">
            <a:off x="8763000" y="4543425"/>
            <a:ext cx="2819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모호하면 사람 확인</a:t>
            </a:r>
          </a:p>
        </p:txBody>
      </p:sp>
      <p:sp>
        <p:nvSpPr>
          <p:cNvPr id="18" name="Legacy module connection">
            <a:extLst xmlns:a="http://schemas.openxmlformats.org/drawingml/2006/main">
              <a:ext uri="{FF2B5EF4-FFF2-40B4-BE49-F238E27FC236}">
                <a16:creationId xmlns:a16="http://schemas.microsoft.com/office/drawing/2014/main" id="{18667FCD-9744-4C67-A6C8-CB33418CA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66997161"/>
      </p:ext>
    </p:extLst>
  </p:cSld>
</p:sld>
</file>

<file path=ppt/slides/slide10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7051DE3F-CF69-46AE-9E7E-6830DC3F52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0">
            <a:extLst xmlns:a="http://schemas.openxmlformats.org/drawingml/2006/main">
              <a:ext uri="{FF2B5EF4-FFF2-40B4-BE49-F238E27FC236}">
                <a16:creationId xmlns:a16="http://schemas.microsoft.com/office/drawing/2014/main" id="{D257410E-A782-4790-9673-20864BF074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반복하려면 무엇을 이어받아야 할까?">
            <a:extLst xmlns:a="http://schemas.openxmlformats.org/drawingml/2006/main">
              <a:ext uri="{FF2B5EF4-FFF2-40B4-BE49-F238E27FC236}">
                <a16:creationId xmlns:a16="http://schemas.microsoft.com/office/drawing/2014/main" id="{561E8382-2887-4200-926B-CB28AE38F8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반복하려면 무엇을 이어받아야 할까?</a:t>
            </a:r>
          </a:p>
        </p:txBody>
      </p:sp>
      <p:sp>
        <p:nvSpPr>
          <p:cNvPr id="4" name="">
            <a:extLst xmlns:a="http://schemas.openxmlformats.org/drawingml/2006/main">
              <a:ext uri="{FF2B5EF4-FFF2-40B4-BE49-F238E27FC236}">
                <a16:creationId xmlns:a16="http://schemas.microsoft.com/office/drawing/2014/main" id="{04FA023C-6C3F-44B1-9B6D-9445514B2A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3293A1E7-3356-488C-9E2A-ACE4AC1EC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별도 Memory나 프레임워크가 필수인 것은 아니다</a:t>
            </a:r>
          </a:p>
        </p:txBody>
      </p:sp>
      <p:sp>
        <p:nvSpPr>
          <p:cNvPr id="7" name="">
            <a:extLst xmlns:a="http://schemas.openxmlformats.org/drawingml/2006/main">
              <a:ext uri="{FF2B5EF4-FFF2-40B4-BE49-F238E27FC236}">
                <a16:creationId xmlns:a16="http://schemas.microsoft.com/office/drawing/2014/main" id="{66153EC4-FFF6-4824-A9A1-6C6CC7AF4B9B}"/>
              </a:ext>
            </a:extLst>
          </p:cNvPr>
          <p:cNvSpPr>
            <a:spLocks xmlns:a="http://schemas.openxmlformats.org/drawingml/2006/main" noGrp="1"/>
          </p:cNvSpPr>
          <p:nvPr/>
        </p:nvSpPr>
        <p:spPr>
          <a:xfrm xmlns:a="http://schemas.openxmlformats.org/drawingml/2006/main">
            <a:off x="609600" y="2343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고정할 것">
            <a:extLst xmlns:a="http://schemas.openxmlformats.org/drawingml/2006/main">
              <a:ext uri="{FF2B5EF4-FFF2-40B4-BE49-F238E27FC236}">
                <a16:creationId xmlns:a16="http://schemas.microsoft.com/office/drawing/2014/main" id="{F38B1D00-0F29-405D-A96D-0D250D9C4978}"/>
              </a:ext>
            </a:extLst>
          </p:cNvPr>
          <p:cNvSpPr>
            <a:spLocks xmlns:a="http://schemas.openxmlformats.org/drawingml/2006/main" noGrp="1"/>
          </p:cNvSpPr>
          <p:nvPr/>
        </p:nvSpPr>
        <p:spPr>
          <a:xfrm xmlns:a="http://schemas.openxmlformats.org/drawingml/2006/main">
            <a:off x="609600" y="2514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고정할 것</a:t>
            </a:r>
          </a:p>
        </p:txBody>
      </p:sp>
      <p:sp>
        <p:nvSpPr>
          <p:cNvPr id="9" name="목표 · 완료 기준">
            <a:extLst xmlns:a="http://schemas.openxmlformats.org/drawingml/2006/main">
              <a:ext uri="{FF2B5EF4-FFF2-40B4-BE49-F238E27FC236}">
                <a16:creationId xmlns:a16="http://schemas.microsoft.com/office/drawing/2014/main" id="{F6C2465E-C64D-4273-8862-D8D36D694C13}"/>
              </a:ext>
            </a:extLst>
          </p:cNvPr>
          <p:cNvSpPr>
            <a:spLocks xmlns:a="http://schemas.openxmlformats.org/drawingml/2006/main" noGrp="1"/>
          </p:cNvSpPr>
          <p:nvPr/>
        </p:nvSpPr>
        <p:spPr>
          <a:xfrm xmlns:a="http://schemas.openxmlformats.org/drawingml/2006/main">
            <a:off x="3162300" y="2514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완료 기준</a:t>
            </a:r>
          </a:p>
        </p:txBody>
      </p:sp>
      <p:sp>
        <p:nvSpPr>
          <p:cNvPr id="10" name="">
            <a:extLst xmlns:a="http://schemas.openxmlformats.org/drawingml/2006/main">
              <a:ext uri="{FF2B5EF4-FFF2-40B4-BE49-F238E27FC236}">
                <a16:creationId xmlns:a16="http://schemas.microsoft.com/office/drawing/2014/main" id="{F941AC41-967E-4014-A80B-3D07EAFA4407}"/>
              </a:ext>
            </a:extLst>
          </p:cNvPr>
          <p:cNvSpPr>
            <a:spLocks xmlns:a="http://schemas.openxmlformats.org/drawingml/2006/main" noGrp="1"/>
          </p:cNvSpPr>
          <p:nvPr/>
        </p:nvSpPr>
        <p:spPr>
          <a:xfrm xmlns:a="http://schemas.openxmlformats.org/drawingml/2006/main">
            <a:off x="609600" y="32956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갱신할 것">
            <a:extLst xmlns:a="http://schemas.openxmlformats.org/drawingml/2006/main">
              <a:ext uri="{FF2B5EF4-FFF2-40B4-BE49-F238E27FC236}">
                <a16:creationId xmlns:a16="http://schemas.microsoft.com/office/drawing/2014/main" id="{5CF12F64-34F7-4F01-B590-AB83A8F7D0F5}"/>
              </a:ext>
            </a:extLst>
          </p:cNvPr>
          <p:cNvSpPr>
            <a:spLocks xmlns:a="http://schemas.openxmlformats.org/drawingml/2006/main" noGrp="1"/>
          </p:cNvSpPr>
          <p:nvPr/>
        </p:nvSpPr>
        <p:spPr>
          <a:xfrm xmlns:a="http://schemas.openxmlformats.org/drawingml/2006/main">
            <a:off x="609600" y="34671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갱신할 것</a:t>
            </a:r>
          </a:p>
        </p:txBody>
      </p:sp>
      <p:sp>
        <p:nvSpPr>
          <p:cNvPr id="12" name="후보 · 검토 지적 · 검사 기록">
            <a:extLst xmlns:a="http://schemas.openxmlformats.org/drawingml/2006/main">
              <a:ext uri="{FF2B5EF4-FFF2-40B4-BE49-F238E27FC236}">
                <a16:creationId xmlns:a16="http://schemas.microsoft.com/office/drawing/2014/main" id="{22311646-F9D4-418B-B629-57C20C01B759}"/>
              </a:ext>
            </a:extLst>
          </p:cNvPr>
          <p:cNvSpPr>
            <a:spLocks xmlns:a="http://schemas.openxmlformats.org/drawingml/2006/main" noGrp="1"/>
          </p:cNvSpPr>
          <p:nvPr/>
        </p:nvSpPr>
        <p:spPr>
          <a:xfrm xmlns:a="http://schemas.openxmlformats.org/drawingml/2006/main">
            <a:off x="3162300" y="34671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후보 · 검토 지적 · 검사 기록</a:t>
            </a:r>
          </a:p>
        </p:txBody>
      </p:sp>
      <p:sp>
        <p:nvSpPr>
          <p:cNvPr id="13" name="">
            <a:extLst xmlns:a="http://schemas.openxmlformats.org/drawingml/2006/main">
              <a:ext uri="{FF2B5EF4-FFF2-40B4-BE49-F238E27FC236}">
                <a16:creationId xmlns:a16="http://schemas.microsoft.com/office/drawing/2014/main" id="{43FDC6CC-D771-4C86-9A16-56F977FE9F1F}"/>
              </a:ext>
            </a:extLst>
          </p:cNvPr>
          <p:cNvSpPr>
            <a:spLocks xmlns:a="http://schemas.openxmlformats.org/drawingml/2006/main" noGrp="1"/>
          </p:cNvSpPr>
          <p:nvPr/>
        </p:nvSpPr>
        <p:spPr>
          <a:xfrm xmlns:a="http://schemas.openxmlformats.org/drawingml/2006/main">
            <a:off x="609600" y="4248150"/>
            <a:ext cx="784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제어할 것">
            <a:extLst xmlns:a="http://schemas.openxmlformats.org/drawingml/2006/main">
              <a:ext uri="{FF2B5EF4-FFF2-40B4-BE49-F238E27FC236}">
                <a16:creationId xmlns:a16="http://schemas.microsoft.com/office/drawing/2014/main" id="{FCB8885D-AC14-4DD2-9037-3C98BB1339E5}"/>
              </a:ext>
            </a:extLst>
          </p:cNvPr>
          <p:cNvSpPr>
            <a:spLocks xmlns:a="http://schemas.openxmlformats.org/drawingml/2006/main" noGrp="1"/>
          </p:cNvSpPr>
          <p:nvPr/>
        </p:nvSpPr>
        <p:spPr>
          <a:xfrm xmlns:a="http://schemas.openxmlformats.org/drawingml/2006/main">
            <a:off x="609600" y="4419600"/>
            <a:ext cx="23431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제어할 것</a:t>
            </a:r>
          </a:p>
        </p:txBody>
      </p:sp>
      <p:sp>
        <p:nvSpPr>
          <p:cNvPr id="15" name="남은 문제 · 반복·시간·비용 한도">
            <a:extLst xmlns:a="http://schemas.openxmlformats.org/drawingml/2006/main">
              <a:ext uri="{FF2B5EF4-FFF2-40B4-BE49-F238E27FC236}">
                <a16:creationId xmlns:a16="http://schemas.microsoft.com/office/drawing/2014/main" id="{21CCB736-665E-47C8-A5A7-98D0E134840A}"/>
              </a:ext>
            </a:extLst>
          </p:cNvPr>
          <p:cNvSpPr>
            <a:spLocks xmlns:a="http://schemas.openxmlformats.org/drawingml/2006/main" noGrp="1"/>
          </p:cNvSpPr>
          <p:nvPr/>
        </p:nvSpPr>
        <p:spPr>
          <a:xfrm xmlns:a="http://schemas.openxmlformats.org/drawingml/2006/main">
            <a:off x="3162300" y="4419600"/>
            <a:ext cx="5295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남은 문제 · 반복·시간·비용 한도</a:t>
            </a:r>
          </a:p>
        </p:txBody>
      </p:sp>
      <p:cxnSp>
        <p:nvCxnSpPr>
          <p:cNvPr id="16" name="">
            <a:extLst xmlns:a="http://schemas.openxmlformats.org/drawingml/2006/main">
              <a:ext uri="{FF2B5EF4-FFF2-40B4-BE49-F238E27FC236}">
                <a16:creationId xmlns:a16="http://schemas.microsoft.com/office/drawing/2014/main" id="{501B1C54-CD7A-4F7C-9EDB-D10E30AE243B}"/>
              </a:ext>
            </a:extLst>
          </p:cNvPr>
          <p:cNvCxnSpPr/>
          <p:nvPr/>
        </p:nvCxnSpPr>
        <p:spPr>
          <a:xfrm xmlns:a="http://schemas.openxmlformats.org/drawingml/2006/main">
            <a:off x="8648700" y="3762375"/>
            <a:ext cx="8191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시도">
            <a:extLst xmlns:a="http://schemas.openxmlformats.org/drawingml/2006/main">
              <a:ext uri="{FF2B5EF4-FFF2-40B4-BE49-F238E27FC236}">
                <a16:creationId xmlns:a16="http://schemas.microsoft.com/office/drawing/2014/main" id="{910B87B7-672A-4CB2-8955-434F0AF683AD}"/>
              </a:ext>
            </a:extLst>
          </p:cNvPr>
          <p:cNvSpPr>
            <a:spLocks xmlns:a="http://schemas.openxmlformats.org/drawingml/2006/main" noGrp="1"/>
          </p:cNvSpPr>
          <p:nvPr/>
        </p:nvSpPr>
        <p:spPr>
          <a:xfrm xmlns:a="http://schemas.openxmlformats.org/drawingml/2006/main">
            <a:off x="9734550" y="3248025"/>
            <a:ext cx="18478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a:t>
            </a:r>
          </a:p>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시도</a:t>
            </a:r>
          </a:p>
        </p:txBody>
      </p:sp>
      <p:sp>
        <p:nvSpPr>
          <p:cNvPr id="18" name="같은 실패가 반복되거나 회귀하면, 계속 돌리기보다 원인을 확인한다">
            <a:extLst xmlns:a="http://schemas.openxmlformats.org/drawingml/2006/main">
              <a:ext uri="{FF2B5EF4-FFF2-40B4-BE49-F238E27FC236}">
                <a16:creationId xmlns:a16="http://schemas.microsoft.com/office/drawing/2014/main" id="{8FFB57B8-29C4-455A-84B2-E5E29976CBC9}"/>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실패가 반복되거나 회귀하면, 계속 돌리기보다 원인을 확인한다</a:t>
            </a:r>
          </a:p>
        </p:txBody>
      </p:sp>
      <p:sp>
        <p:nvSpPr>
          <p:cNvPr id="19" name="Legacy module connection">
            <a:extLst xmlns:a="http://schemas.openxmlformats.org/drawingml/2006/main">
              <a:ext uri="{FF2B5EF4-FFF2-40B4-BE49-F238E27FC236}">
                <a16:creationId xmlns:a16="http://schemas.microsoft.com/office/drawing/2014/main" id="{6CA4E526-472F-4203-BD7C-E60D7712822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7866831"/>
      </p:ext>
    </p:extLst>
  </p:cSld>
</p:sld>
</file>

<file path=ppt/slides/slide10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루프 운영 설계">
            <a:extLst xmlns:a="http://schemas.openxmlformats.org/drawingml/2006/main">
              <a:ext uri="{FF2B5EF4-FFF2-40B4-BE49-F238E27FC236}">
                <a16:creationId xmlns:a16="http://schemas.microsoft.com/office/drawing/2014/main" id="{2A56FBF8-F0CC-47F6-B260-2A915A7A98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1">
            <a:extLst xmlns:a="http://schemas.openxmlformats.org/drawingml/2006/main">
              <a:ext uri="{FF2B5EF4-FFF2-40B4-BE49-F238E27FC236}">
                <a16:creationId xmlns:a16="http://schemas.microsoft.com/office/drawing/2014/main" id="{C6B8EFD8-E208-45ED-960B-38FF6E2ECE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확인한 근거와 아직 실행하지 않은 설계">
            <a:extLst xmlns:a="http://schemas.openxmlformats.org/drawingml/2006/main">
              <a:ext uri="{FF2B5EF4-FFF2-40B4-BE49-F238E27FC236}">
                <a16:creationId xmlns:a16="http://schemas.microsoft.com/office/drawing/2014/main" id="{A111AC38-131B-4DD9-8CF8-5DAFAA3703B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근거와 아직 실행하지 않은 설계</a:t>
            </a:r>
          </a:p>
        </p:txBody>
      </p:sp>
      <p:sp>
        <p:nvSpPr>
          <p:cNvPr id="4" name="">
            <a:extLst xmlns:a="http://schemas.openxmlformats.org/drawingml/2006/main">
              <a:ext uri="{FF2B5EF4-FFF2-40B4-BE49-F238E27FC236}">
                <a16:creationId xmlns:a16="http://schemas.microsoft.com/office/drawing/2014/main" id="{83DB1543-E2D5-48E3-AEE6-394EFA2542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FE948E45-A6A7-4A39-9F50-FF9D4FCB703A}"/>
              </a:ext>
            </a:extLst>
          </p:cNvPr>
          <p:cNvSpPr>
            <a:spLocks xmlns:a="http://schemas.openxmlformats.org/drawingml/2006/main" noGrp="1"/>
          </p:cNvSpPr>
          <p:nvPr/>
        </p:nvSpPr>
        <p:spPr>
          <a:xfrm xmlns:a="http://schemas.openxmlformats.org/drawingml/2006/main">
            <a:off x="609600" y="25336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실제 Demo">
            <a:extLst xmlns:a="http://schemas.openxmlformats.org/drawingml/2006/main">
              <a:ext uri="{FF2B5EF4-FFF2-40B4-BE49-F238E27FC236}">
                <a16:creationId xmlns:a16="http://schemas.microsoft.com/office/drawing/2014/main" id="{6081467D-B16B-47CC-BE0A-4B7793E10F4F}"/>
              </a:ext>
            </a:extLst>
          </p:cNvPr>
          <p:cNvSpPr>
            <a:spLocks xmlns:a="http://schemas.openxmlformats.org/drawingml/2006/main" noGrp="1"/>
          </p:cNvSpPr>
          <p:nvPr/>
        </p:nvSpPr>
        <p:spPr>
          <a:xfrm xmlns:a="http://schemas.openxmlformats.org/drawingml/2006/main">
            <a:off x="60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실제 Demo</a:t>
            </a:r>
          </a:p>
        </p:txBody>
      </p:sp>
      <p:sp>
        <p:nvSpPr>
          <p:cNvPr id="9" name="관찰 기록">
            <a:extLst xmlns:a="http://schemas.openxmlformats.org/drawingml/2006/main">
              <a:ext uri="{FF2B5EF4-FFF2-40B4-BE49-F238E27FC236}">
                <a16:creationId xmlns:a16="http://schemas.microsoft.com/office/drawing/2014/main" id="{ADAF7D62-E653-4588-A77E-31F7864DAC0A}"/>
              </a:ext>
            </a:extLst>
          </p:cNvPr>
          <p:cNvSpPr>
            <a:spLocks xmlns:a="http://schemas.openxmlformats.org/drawingml/2006/main" noGrp="1"/>
          </p:cNvSpPr>
          <p:nvPr/>
        </p:nvSpPr>
        <p:spPr>
          <a:xfrm xmlns:a="http://schemas.openxmlformats.org/drawingml/2006/main">
            <a:off x="60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관찰 기록</a:t>
            </a:r>
          </a:p>
        </p:txBody>
      </p:sp>
      <p:sp>
        <p:nvSpPr>
          <p:cNvPr id="10" name="제품 변경·출력·측정 확인">
            <a:extLst xmlns:a="http://schemas.openxmlformats.org/drawingml/2006/main">
              <a:ext uri="{FF2B5EF4-FFF2-40B4-BE49-F238E27FC236}">
                <a16:creationId xmlns:a16="http://schemas.microsoft.com/office/drawing/2014/main" id="{29FC9FE6-024F-4039-BC62-BCDAFED84F67}"/>
              </a:ext>
            </a:extLst>
          </p:cNvPr>
          <p:cNvSpPr>
            <a:spLocks xmlns:a="http://schemas.openxmlformats.org/drawingml/2006/main" noGrp="1"/>
          </p:cNvSpPr>
          <p:nvPr/>
        </p:nvSpPr>
        <p:spPr>
          <a:xfrm xmlns:a="http://schemas.openxmlformats.org/drawingml/2006/main">
            <a:off x="60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제품 변경·출력·측정 확인</a:t>
            </a:r>
          </a:p>
        </p:txBody>
      </p:sp>
      <p:sp>
        <p:nvSpPr>
          <p:cNvPr id="11" name="">
            <a:extLst xmlns:a="http://schemas.openxmlformats.org/drawingml/2006/main">
              <a:ext uri="{FF2B5EF4-FFF2-40B4-BE49-F238E27FC236}">
                <a16:creationId xmlns:a16="http://schemas.microsoft.com/office/drawing/2014/main" id="{01DA2007-51D0-411A-B145-9456E1C9DC86}"/>
              </a:ext>
            </a:extLst>
          </p:cNvPr>
          <p:cNvSpPr>
            <a:spLocks xmlns:a="http://schemas.openxmlformats.org/drawingml/2006/main" noGrp="1"/>
          </p:cNvSpPr>
          <p:nvPr/>
        </p:nvSpPr>
        <p:spPr>
          <a:xfrm xmlns:a="http://schemas.openxmlformats.org/drawingml/2006/main">
            <a:off x="4419600" y="2533650"/>
            <a:ext cx="335280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12" name="논문">
            <a:extLst xmlns:a="http://schemas.openxmlformats.org/drawingml/2006/main">
              <a:ext uri="{FF2B5EF4-FFF2-40B4-BE49-F238E27FC236}">
                <a16:creationId xmlns:a16="http://schemas.microsoft.com/office/drawing/2014/main" id="{35EFCCD2-095F-4C5E-A680-F9C73782F236}"/>
              </a:ext>
            </a:extLst>
          </p:cNvPr>
          <p:cNvSpPr>
            <a:spLocks xmlns:a="http://schemas.openxmlformats.org/drawingml/2006/main" noGrp="1"/>
          </p:cNvSpPr>
          <p:nvPr/>
        </p:nvSpPr>
        <p:spPr>
          <a:xfrm xmlns:a="http://schemas.openxmlformats.org/drawingml/2006/main">
            <a:off x="441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논문</a:t>
            </a:r>
          </a:p>
        </p:txBody>
      </p:sp>
      <p:sp>
        <p:nvSpPr>
          <p:cNvPr id="13" name="연구 결과">
            <a:extLst xmlns:a="http://schemas.openxmlformats.org/drawingml/2006/main">
              <a:ext uri="{FF2B5EF4-FFF2-40B4-BE49-F238E27FC236}">
                <a16:creationId xmlns:a16="http://schemas.microsoft.com/office/drawing/2014/main" id="{7099AE3C-C207-455F-9C2F-22353B32ED19}"/>
              </a:ext>
            </a:extLst>
          </p:cNvPr>
          <p:cNvSpPr>
            <a:spLocks xmlns:a="http://schemas.openxmlformats.org/drawingml/2006/main" noGrp="1"/>
          </p:cNvSpPr>
          <p:nvPr/>
        </p:nvSpPr>
        <p:spPr>
          <a:xfrm xmlns:a="http://schemas.openxmlformats.org/drawingml/2006/main">
            <a:off x="441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연구 결과</a:t>
            </a:r>
          </a:p>
        </p:txBody>
      </p:sp>
      <p:sp>
        <p:nvSpPr>
          <p:cNvPr id="14" name="해당 모델·과제·조건의 결과">
            <a:extLst xmlns:a="http://schemas.openxmlformats.org/drawingml/2006/main">
              <a:ext uri="{FF2B5EF4-FFF2-40B4-BE49-F238E27FC236}">
                <a16:creationId xmlns:a16="http://schemas.microsoft.com/office/drawing/2014/main" id="{214B26BA-0703-46D3-B7AE-691B1141258A}"/>
              </a:ext>
            </a:extLst>
          </p:cNvPr>
          <p:cNvSpPr>
            <a:spLocks xmlns:a="http://schemas.openxmlformats.org/drawingml/2006/main" noGrp="1"/>
          </p:cNvSpPr>
          <p:nvPr/>
        </p:nvSpPr>
        <p:spPr>
          <a:xfrm xmlns:a="http://schemas.openxmlformats.org/drawingml/2006/main">
            <a:off x="441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해당 모델·과제·조건의 결과</a:t>
            </a:r>
          </a:p>
        </p:txBody>
      </p:sp>
      <p:sp>
        <p:nvSpPr>
          <p:cNvPr id="15" name="">
            <a:extLst xmlns:a="http://schemas.openxmlformats.org/drawingml/2006/main">
              <a:ext uri="{FF2B5EF4-FFF2-40B4-BE49-F238E27FC236}">
                <a16:creationId xmlns:a16="http://schemas.microsoft.com/office/drawing/2014/main" id="{226BE94C-E2AD-4773-AA76-A1BBE218D3DA}"/>
              </a:ext>
            </a:extLst>
          </p:cNvPr>
          <p:cNvSpPr>
            <a:spLocks xmlns:a="http://schemas.openxmlformats.org/drawingml/2006/main" noGrp="1"/>
          </p:cNvSpPr>
          <p:nvPr/>
        </p:nvSpPr>
        <p:spPr>
          <a:xfrm xmlns:a="http://schemas.openxmlformats.org/drawingml/2006/main">
            <a:off x="8229600" y="2533650"/>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6" name="이번 루프">
            <a:extLst xmlns:a="http://schemas.openxmlformats.org/drawingml/2006/main">
              <a:ext uri="{FF2B5EF4-FFF2-40B4-BE49-F238E27FC236}">
                <a16:creationId xmlns:a16="http://schemas.microsoft.com/office/drawing/2014/main" id="{057EC5A1-2B8C-4AA6-9066-50F4019C78B7}"/>
              </a:ext>
            </a:extLst>
          </p:cNvPr>
          <p:cNvSpPr>
            <a:spLocks xmlns:a="http://schemas.openxmlformats.org/drawingml/2006/main" noGrp="1"/>
          </p:cNvSpPr>
          <p:nvPr/>
        </p:nvSpPr>
        <p:spPr>
          <a:xfrm xmlns:a="http://schemas.openxmlformats.org/drawingml/2006/main">
            <a:off x="8229600" y="274320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805400"/>
                </a:solidFill>
                <a:latin typeface="Malgun Gothic"/>
                <a:ea typeface="Malgun Gothic"/>
                <a:cs typeface="Malgun Gothic"/>
              </a:defRPr>
            </a:defPPr>
            <a:lvl1pPr algn="l">
              <a:defRPr sz="2625" b="1">
                <a:solidFill>
                  <a:srgbClr val="805400"/>
                </a:solidFill>
                <a:latin typeface="Malgun Gothic"/>
                <a:ea typeface="Malgun Gothic"/>
                <a:cs typeface="Malgun Gothic"/>
              </a:defRPr>
            </a:lvl1pPr>
            <a:lvl2pPr algn="l">
              <a:defRPr sz="2625" b="1">
                <a:solidFill>
                  <a:srgbClr val="805400"/>
                </a:solidFill>
                <a:latin typeface="Malgun Gothic"/>
                <a:ea typeface="Malgun Gothic"/>
                <a:cs typeface="Malgun Gothic"/>
              </a:defRPr>
            </a:lvl2pPr>
            <a:lvl3pPr algn="l">
              <a:defRPr sz="2625" b="1">
                <a:solidFill>
                  <a:srgbClr val="805400"/>
                </a:solidFill>
                <a:latin typeface="Malgun Gothic"/>
                <a:ea typeface="Malgun Gothic"/>
                <a:cs typeface="Malgun Gothic"/>
              </a:defRPr>
            </a:lvl3pPr>
            <a:lvl4pPr algn="l">
              <a:defRPr sz="2625" b="1">
                <a:solidFill>
                  <a:srgbClr val="805400"/>
                </a:solidFill>
                <a:latin typeface="Malgun Gothic"/>
                <a:ea typeface="Malgun Gothic"/>
                <a:cs typeface="Malgun Gothic"/>
              </a:defRPr>
            </a:lvl4pPr>
            <a:lvl5pPr algn="l">
              <a:defRPr sz="2625" b="1">
                <a:solidFill>
                  <a:srgbClr val="805400"/>
                </a:solidFill>
                <a:latin typeface="Malgun Gothic"/>
                <a:ea typeface="Malgun Gothic"/>
                <a:cs typeface="Malgun Gothic"/>
              </a:defRPr>
            </a:lvl5pPr>
            <a:lvl6pPr algn="l">
              <a:defRPr sz="2625" b="1">
                <a:solidFill>
                  <a:srgbClr val="805400"/>
                </a:solidFill>
                <a:latin typeface="Malgun Gothic"/>
                <a:ea typeface="Malgun Gothic"/>
                <a:cs typeface="Malgun Gothic"/>
              </a:defRPr>
            </a:lvl6pPr>
            <a:lvl7pPr algn="l">
              <a:defRPr sz="2625" b="1">
                <a:solidFill>
                  <a:srgbClr val="805400"/>
                </a:solidFill>
                <a:latin typeface="Malgun Gothic"/>
                <a:ea typeface="Malgun Gothic"/>
                <a:cs typeface="Malgun Gothic"/>
              </a:defRPr>
            </a:lvl7pPr>
            <a:lvl8pPr algn="l">
              <a:defRPr sz="2625" b="1">
                <a:solidFill>
                  <a:srgbClr val="805400"/>
                </a:solidFill>
                <a:latin typeface="Malgun Gothic"/>
                <a:ea typeface="Malgun Gothic"/>
                <a:cs typeface="Malgun Gothic"/>
              </a:defRPr>
            </a:lvl8pPr>
            <a:lvl9pPr algn="l">
              <a:defRPr sz="2625" b="1">
                <a:solidFill>
                  <a:srgbClr val="805400"/>
                </a:solidFill>
                <a:latin typeface="Malgun Gothic"/>
                <a:ea typeface="Malgun Gothic"/>
                <a:cs typeface="Malgun Gothic"/>
              </a:defRPr>
            </a:lvl9pPr>
          </a:lstStyle>
          <a:p xmlns:a="http://schemas.openxmlformats.org/drawingml/2006/main">
            <a:pPr algn="l">
              <a:defRPr sz="2625" b="1">
                <a:solidFill>
                  <a:srgbClr val="805400"/>
                </a:solidFill>
                <a:latin typeface="Malgun Gothic"/>
                <a:ea typeface="Malgun Gothic"/>
                <a:cs typeface="Malgun Gothic"/>
              </a:defRPr>
            </a:pPr>
            <a:r>
              <a:rPr sz="2625" b="1">
                <a:solidFill>
                  <a:srgbClr val="805400"/>
                </a:solidFill>
                <a:latin typeface="Malgun Gothic"/>
                <a:ea typeface="Malgun Gothic"/>
                <a:cs typeface="Malgun Gothic"/>
              </a:rPr>
              <a:t>이번 루프</a:t>
            </a:r>
          </a:p>
        </p:txBody>
      </p:sp>
      <p:sp>
        <p:nvSpPr>
          <p:cNvPr id="17" name="교육용 설계">
            <a:extLst xmlns:a="http://schemas.openxmlformats.org/drawingml/2006/main">
              <a:ext uri="{FF2B5EF4-FFF2-40B4-BE49-F238E27FC236}">
                <a16:creationId xmlns:a16="http://schemas.microsoft.com/office/drawing/2014/main" id="{59B1FAD3-50FE-42F3-BED1-59F9AA47A154}"/>
              </a:ext>
            </a:extLst>
          </p:cNvPr>
          <p:cNvSpPr>
            <a:spLocks xmlns:a="http://schemas.openxmlformats.org/drawingml/2006/main" noGrp="1"/>
          </p:cNvSpPr>
          <p:nvPr/>
        </p:nvSpPr>
        <p:spPr>
          <a:xfrm xmlns:a="http://schemas.openxmlformats.org/drawingml/2006/main">
            <a:off x="8229600" y="3562350"/>
            <a:ext cx="335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교육용 설계</a:t>
            </a:r>
          </a:p>
        </p:txBody>
      </p:sp>
      <p:sp>
        <p:nvSpPr>
          <p:cNvPr id="18" name="새 실행·효과 검증 전">
            <a:extLst xmlns:a="http://schemas.openxmlformats.org/drawingml/2006/main">
              <a:ext uri="{FF2B5EF4-FFF2-40B4-BE49-F238E27FC236}">
                <a16:creationId xmlns:a16="http://schemas.microsoft.com/office/drawing/2014/main" id="{C73C4401-E0C2-41A1-A524-C85E04BD5485}"/>
              </a:ext>
            </a:extLst>
          </p:cNvPr>
          <p:cNvSpPr>
            <a:spLocks xmlns:a="http://schemas.openxmlformats.org/drawingml/2006/main" noGrp="1"/>
          </p:cNvSpPr>
          <p:nvPr/>
        </p:nvSpPr>
        <p:spPr>
          <a:xfrm xmlns:a="http://schemas.openxmlformats.org/drawingml/2006/main">
            <a:off x="8229600" y="4410075"/>
            <a:ext cx="3352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새 실행·효과 검증 전</a:t>
            </a:r>
          </a:p>
        </p:txBody>
      </p:sp>
      <p:sp>
        <p:nvSpPr>
          <p:cNvPr id="19" name="Legacy module connection">
            <a:extLst xmlns:a="http://schemas.openxmlformats.org/drawingml/2006/main">
              <a:ext uri="{FF2B5EF4-FFF2-40B4-BE49-F238E27FC236}">
                <a16:creationId xmlns:a16="http://schemas.microsoft.com/office/drawing/2014/main" id="{837A1B22-9F54-4A2B-A9CB-D160ED302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40337748"/>
      </p:ext>
    </p:extLst>
  </p:cSld>
</p:sld>
</file>

<file path=ppt/slides/slide10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4 · 제품 기능으로 이어가는 루프">
            <a:extLst xmlns:a="http://schemas.openxmlformats.org/drawingml/2006/main">
              <a:ext uri="{FF2B5EF4-FFF2-40B4-BE49-F238E27FC236}">
                <a16:creationId xmlns:a16="http://schemas.microsoft.com/office/drawing/2014/main" id="{DB1278C8-E6AF-4AAD-BC77-DB1C97752D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제품 기능으로 이어가는 루프</a:t>
            </a:r>
          </a:p>
        </p:txBody>
      </p:sp>
      <p:sp>
        <p:nvSpPr>
          <p:cNvPr id="2" name="S102">
            <a:extLst xmlns:a="http://schemas.openxmlformats.org/drawingml/2006/main">
              <a:ext uri="{FF2B5EF4-FFF2-40B4-BE49-F238E27FC236}">
                <a16:creationId xmlns:a16="http://schemas.microsoft.com/office/drawing/2014/main" id="{10581217-E4AB-4FD3-A33D-9BDECD1A16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Goal이 목표와 다음 작업을 이어준다">
            <a:extLst xmlns:a="http://schemas.openxmlformats.org/drawingml/2006/main">
              <a:ext uri="{FF2B5EF4-FFF2-40B4-BE49-F238E27FC236}">
                <a16:creationId xmlns:a16="http://schemas.microsoft.com/office/drawing/2014/main" id="{E4365392-3C4B-4857-94F1-82EAB8675D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Goal이 목표와 다음 작업을 이어준다</a:t>
            </a:r>
          </a:p>
        </p:txBody>
      </p:sp>
      <p:sp>
        <p:nvSpPr>
          <p:cNvPr id="4" name="">
            <a:extLst xmlns:a="http://schemas.openxmlformats.org/drawingml/2006/main">
              <a:ext uri="{FF2B5EF4-FFF2-40B4-BE49-F238E27FC236}">
                <a16:creationId xmlns:a16="http://schemas.microsoft.com/office/drawing/2014/main" id="{39B41761-A0D4-4DB1-A484-1A4CC4D684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4E40D35A-2580-4A2D-B618-51D0EA9169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사용 예시 · 다른 모델의 검토 역할은 별도 설계</a:t>
            </a:r>
          </a:p>
        </p:txBody>
      </p:sp>
      <p:sp>
        <p:nvSpPr>
          <p:cNvPr id="7" name="ChatGPT 데스크톱에서 /goal로 목표를 설정한다">
            <a:extLst xmlns:a="http://schemas.openxmlformats.org/drawingml/2006/main">
              <a:ext uri="{FF2B5EF4-FFF2-40B4-BE49-F238E27FC236}">
                <a16:creationId xmlns:a16="http://schemas.microsoft.com/office/drawing/2014/main" id="{F175049C-A57A-4054-A118-8D0C11527AD1}"/>
              </a:ext>
            </a:extLst>
          </p:cNvPr>
          <p:cNvSpPr>
            <a:spLocks xmlns:a="http://schemas.openxmlformats.org/drawingml/2006/main" noGrp="1"/>
          </p:cNvSpPr>
          <p:nvPr/>
        </p:nvSpPr>
        <p:spPr>
          <a:xfrm xmlns:a="http://schemas.openxmlformats.org/drawingml/2006/main">
            <a:off x="609600" y="1781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ChatGPT 데스크톱에서 /goal로 목표를 설정한다</a:t>
            </a:r>
          </a:p>
        </p:txBody>
      </p:sp>
      <p:sp>
        <p:nvSpPr>
          <p:cNvPr id="8" name="">
            <a:extLst xmlns:a="http://schemas.openxmlformats.org/drawingml/2006/main">
              <a:ext uri="{FF2B5EF4-FFF2-40B4-BE49-F238E27FC236}">
                <a16:creationId xmlns:a16="http://schemas.microsoft.com/office/drawing/2014/main" id="{C788883E-2DD5-440B-B192-45187E4713B4}"/>
              </a:ext>
            </a:extLst>
          </p:cNvPr>
          <p:cNvSpPr>
            <a:spLocks xmlns:a="http://schemas.openxmlformats.org/drawingml/2006/main" noGrp="1"/>
          </p:cNvSpPr>
          <p:nvPr/>
        </p:nvSpPr>
        <p:spPr>
          <a:xfrm xmlns:a="http://schemas.openxmlformats.org/drawingml/2006/main">
            <a:off x="609600" y="2505075"/>
            <a:ext cx="3200400" cy="23050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목표 설정">
            <a:extLst xmlns:a="http://schemas.openxmlformats.org/drawingml/2006/main">
              <a:ext uri="{FF2B5EF4-FFF2-40B4-BE49-F238E27FC236}">
                <a16:creationId xmlns:a16="http://schemas.microsoft.com/office/drawing/2014/main" id="{55824705-2196-425F-A5EB-F889BE07562F}"/>
              </a:ext>
            </a:extLst>
          </p:cNvPr>
          <p:cNvSpPr>
            <a:spLocks xmlns:a="http://schemas.openxmlformats.org/drawingml/2006/main" noGrp="1"/>
          </p:cNvSpPr>
          <p:nvPr/>
        </p:nvSpPr>
        <p:spPr>
          <a:xfrm xmlns:a="http://schemas.openxmlformats.org/drawingml/2006/main">
            <a:off x="819150" y="2657475"/>
            <a:ext cx="2781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목표 설정</a:t>
            </a:r>
          </a:p>
        </p:txBody>
      </p:sp>
      <p:sp>
        <p:nvSpPr>
          <p:cNvPr id="10" name="">
            <a:extLst xmlns:a="http://schemas.openxmlformats.org/drawingml/2006/main">
              <a:ext uri="{FF2B5EF4-FFF2-40B4-BE49-F238E27FC236}">
                <a16:creationId xmlns:a16="http://schemas.microsoft.com/office/drawing/2014/main" id="{12EB28B6-52E1-4059-A127-A8B1509F22CA}"/>
              </a:ext>
            </a:extLst>
          </p:cNvPr>
          <p:cNvSpPr>
            <a:spLocks xmlns:a="http://schemas.openxmlformats.org/drawingml/2006/main" noGrp="1"/>
          </p:cNvSpPr>
          <p:nvPr/>
        </p:nvSpPr>
        <p:spPr>
          <a:xfrm xmlns:a="http://schemas.openxmlformats.org/drawingml/2006/main">
            <a:off x="800100" y="3152775"/>
            <a:ext cx="2819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a:extLst xmlns:a="http://schemas.openxmlformats.org/drawingml/2006/main">
              <a:ext uri="{FF2B5EF4-FFF2-40B4-BE49-F238E27FC236}">
                <a16:creationId xmlns:a16="http://schemas.microsoft.com/office/drawing/2014/main" id="{557E4A3B-E79B-49C6-A0C5-07ADDBC495C5}"/>
              </a:ext>
            </a:extLst>
          </p:cNvPr>
          <p:cNvSpPr>
            <a:spLocks xmlns:a="http://schemas.openxmlformats.org/drawingml/2006/main" noGrp="1"/>
          </p:cNvSpPr>
          <p:nvPr/>
        </p:nvSpPr>
        <p:spPr>
          <a:xfrm xmlns:a="http://schemas.openxmlformats.org/drawingml/2006/main">
            <a:off x="819150" y="3305175"/>
            <a:ext cx="27813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0B6172"/>
                </a:solidFill>
                <a:latin typeface="Consolas"/>
                <a:ea typeface="Consolas"/>
                <a:cs typeface="Consolas"/>
              </a:defRPr>
            </a:defPPr>
            <a:lvl1pPr algn="l">
              <a:defRPr sz="3150" b="1">
                <a:solidFill>
                  <a:srgbClr val="0B6172"/>
                </a:solidFill>
                <a:latin typeface="Consolas"/>
                <a:ea typeface="Consolas"/>
                <a:cs typeface="Consolas"/>
              </a:defRPr>
            </a:lvl1pPr>
            <a:lvl2pPr algn="l">
              <a:defRPr sz="3150" b="1">
                <a:solidFill>
                  <a:srgbClr val="0B6172"/>
                </a:solidFill>
                <a:latin typeface="Consolas"/>
                <a:ea typeface="Consolas"/>
                <a:cs typeface="Consolas"/>
              </a:defRPr>
            </a:lvl2pPr>
            <a:lvl3pPr algn="l">
              <a:defRPr sz="3150" b="1">
                <a:solidFill>
                  <a:srgbClr val="0B6172"/>
                </a:solidFill>
                <a:latin typeface="Consolas"/>
                <a:ea typeface="Consolas"/>
                <a:cs typeface="Consolas"/>
              </a:defRPr>
            </a:lvl3pPr>
            <a:lvl4pPr algn="l">
              <a:defRPr sz="3150" b="1">
                <a:solidFill>
                  <a:srgbClr val="0B6172"/>
                </a:solidFill>
                <a:latin typeface="Consolas"/>
                <a:ea typeface="Consolas"/>
                <a:cs typeface="Consolas"/>
              </a:defRPr>
            </a:lvl4pPr>
            <a:lvl5pPr algn="l">
              <a:defRPr sz="3150" b="1">
                <a:solidFill>
                  <a:srgbClr val="0B6172"/>
                </a:solidFill>
                <a:latin typeface="Consolas"/>
                <a:ea typeface="Consolas"/>
                <a:cs typeface="Consolas"/>
              </a:defRPr>
            </a:lvl5pPr>
            <a:lvl6pPr algn="l">
              <a:defRPr sz="3150" b="1">
                <a:solidFill>
                  <a:srgbClr val="0B6172"/>
                </a:solidFill>
                <a:latin typeface="Consolas"/>
                <a:ea typeface="Consolas"/>
                <a:cs typeface="Consolas"/>
              </a:defRPr>
            </a:lvl6pPr>
            <a:lvl7pPr algn="l">
              <a:defRPr sz="3150" b="1">
                <a:solidFill>
                  <a:srgbClr val="0B6172"/>
                </a:solidFill>
                <a:latin typeface="Consolas"/>
                <a:ea typeface="Consolas"/>
                <a:cs typeface="Consolas"/>
              </a:defRPr>
            </a:lvl7pPr>
            <a:lvl8pPr algn="l">
              <a:defRPr sz="3150" b="1">
                <a:solidFill>
                  <a:srgbClr val="0B6172"/>
                </a:solidFill>
                <a:latin typeface="Consolas"/>
                <a:ea typeface="Consolas"/>
                <a:cs typeface="Consolas"/>
              </a:defRPr>
            </a:lvl8pPr>
            <a:lvl9pPr algn="l">
              <a:defRPr sz="3150" b="1">
                <a:solidFill>
                  <a:srgbClr val="0B6172"/>
                </a:solidFill>
                <a:latin typeface="Consolas"/>
                <a:ea typeface="Consolas"/>
                <a:cs typeface="Consolas"/>
              </a:defRPr>
            </a:lvl9pPr>
          </a:lstStyle>
          <a:p xmlns:a="http://schemas.openxmlformats.org/drawingml/2006/main">
            <a:pPr algn="l">
              <a:defRPr sz="3150" b="1">
                <a:solidFill>
                  <a:srgbClr val="0B6172"/>
                </a:solidFill>
                <a:latin typeface="Consolas"/>
                <a:ea typeface="Consolas"/>
                <a:cs typeface="Consolas"/>
              </a:defRPr>
            </a:pPr>
            <a:r>
              <a:rPr sz="3150" b="1">
                <a:solidFill>
                  <a:srgbClr val="0B6172"/>
                </a:solidFill>
                <a:latin typeface="Consolas"/>
                <a:ea typeface="Consolas"/>
                <a:cs typeface="Consolas"/>
              </a:rPr>
              <a:t>/goal</a:t>
            </a:r>
          </a:p>
        </p:txBody>
      </p:sp>
      <p:sp>
        <p:nvSpPr>
          <p:cNvPr id="12" name="목표와 완료 기준을&#10;턴이 끝나도 유지">
            <a:extLst xmlns:a="http://schemas.openxmlformats.org/drawingml/2006/main">
              <a:ext uri="{FF2B5EF4-FFF2-40B4-BE49-F238E27FC236}">
                <a16:creationId xmlns:a16="http://schemas.microsoft.com/office/drawing/2014/main" id="{8B74E7AD-DBDB-4804-9A56-83D354E72697}"/>
              </a:ext>
            </a:extLst>
          </p:cNvPr>
          <p:cNvSpPr>
            <a:spLocks xmlns:a="http://schemas.openxmlformats.org/drawingml/2006/main" noGrp="1"/>
          </p:cNvSpPr>
          <p:nvPr/>
        </p:nvSpPr>
        <p:spPr>
          <a:xfrm xmlns:a="http://schemas.openxmlformats.org/drawingml/2006/main">
            <a:off x="819150" y="4057650"/>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목표와 완료 기준을</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턴이 끝나도 유지</a:t>
            </a:r>
          </a:p>
        </p:txBody>
      </p:sp>
      <p:sp>
        <p:nvSpPr>
          <p:cNvPr id="13" name="">
            <a:extLst xmlns:a="http://schemas.openxmlformats.org/drawingml/2006/main">
              <a:ext uri="{FF2B5EF4-FFF2-40B4-BE49-F238E27FC236}">
                <a16:creationId xmlns:a16="http://schemas.microsoft.com/office/drawing/2014/main" id="{3126A20F-2757-4203-BF06-B8896721CB60}"/>
              </a:ext>
            </a:extLst>
          </p:cNvPr>
          <p:cNvSpPr>
            <a:spLocks xmlns:a="http://schemas.openxmlformats.org/drawingml/2006/main" noGrp="1"/>
          </p:cNvSpPr>
          <p:nvPr/>
        </p:nvSpPr>
        <p:spPr>
          <a:xfrm xmlns:a="http://schemas.openxmlformats.org/drawingml/2006/main">
            <a:off x="44767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작업">
            <a:extLst xmlns:a="http://schemas.openxmlformats.org/drawingml/2006/main">
              <a:ext uri="{FF2B5EF4-FFF2-40B4-BE49-F238E27FC236}">
                <a16:creationId xmlns:a16="http://schemas.microsoft.com/office/drawing/2014/main" id="{F14BCDF9-CD8A-4B2B-A60D-14CE412AA6EB}"/>
              </a:ext>
            </a:extLst>
          </p:cNvPr>
          <p:cNvSpPr>
            <a:spLocks xmlns:a="http://schemas.openxmlformats.org/drawingml/2006/main" noGrp="1"/>
          </p:cNvSpPr>
          <p:nvPr/>
        </p:nvSpPr>
        <p:spPr>
          <a:xfrm xmlns:a="http://schemas.openxmlformats.org/drawingml/2006/main">
            <a:off x="44767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a:t>
            </a:r>
          </a:p>
        </p:txBody>
      </p:sp>
      <p:sp>
        <p:nvSpPr>
          <p:cNvPr id="15" name="구현 · 수정">
            <a:extLst xmlns:a="http://schemas.openxmlformats.org/drawingml/2006/main">
              <a:ext uri="{FF2B5EF4-FFF2-40B4-BE49-F238E27FC236}">
                <a16:creationId xmlns:a16="http://schemas.microsoft.com/office/drawing/2014/main" id="{AA341FDF-8F06-49C8-8445-3BBA410E3EC4}"/>
              </a:ext>
            </a:extLst>
          </p:cNvPr>
          <p:cNvSpPr>
            <a:spLocks xmlns:a="http://schemas.openxmlformats.org/drawingml/2006/main" noGrp="1"/>
          </p:cNvSpPr>
          <p:nvPr/>
        </p:nvSpPr>
        <p:spPr>
          <a:xfrm xmlns:a="http://schemas.openxmlformats.org/drawingml/2006/main">
            <a:off x="44767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구현 · 수정</a:t>
            </a:r>
          </a:p>
        </p:txBody>
      </p:sp>
      <p:cxnSp>
        <p:nvCxnSpPr>
          <p:cNvPr id="16" name="">
            <a:extLst xmlns:a="http://schemas.openxmlformats.org/drawingml/2006/main">
              <a:ext uri="{FF2B5EF4-FFF2-40B4-BE49-F238E27FC236}">
                <a16:creationId xmlns:a16="http://schemas.microsoft.com/office/drawing/2014/main" id="{6C492610-78CD-49CD-BC89-4B7955C35352}"/>
              </a:ext>
            </a:extLst>
          </p:cNvPr>
          <p:cNvCxnSpPr/>
          <p:nvPr/>
        </p:nvCxnSpPr>
        <p:spPr>
          <a:xfrm xmlns:a="http://schemas.openxmlformats.org/drawingml/2006/main">
            <a:off x="646747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8C92C0F9-FD4F-40B5-B434-801A07861512}"/>
              </a:ext>
            </a:extLst>
          </p:cNvPr>
          <p:cNvSpPr>
            <a:spLocks xmlns:a="http://schemas.openxmlformats.org/drawingml/2006/main" noGrp="1"/>
          </p:cNvSpPr>
          <p:nvPr/>
        </p:nvSpPr>
        <p:spPr>
          <a:xfrm xmlns:a="http://schemas.openxmlformats.org/drawingml/2006/main">
            <a:off x="712470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8" name="근거 확인">
            <a:extLst xmlns:a="http://schemas.openxmlformats.org/drawingml/2006/main">
              <a:ext uri="{FF2B5EF4-FFF2-40B4-BE49-F238E27FC236}">
                <a16:creationId xmlns:a16="http://schemas.microsoft.com/office/drawing/2014/main" id="{0E9E2877-2884-4195-A857-15F0EF8B7753}"/>
              </a:ext>
            </a:extLst>
          </p:cNvPr>
          <p:cNvSpPr>
            <a:spLocks xmlns:a="http://schemas.openxmlformats.org/drawingml/2006/main" noGrp="1"/>
          </p:cNvSpPr>
          <p:nvPr/>
        </p:nvSpPr>
        <p:spPr>
          <a:xfrm xmlns:a="http://schemas.openxmlformats.org/drawingml/2006/main">
            <a:off x="712470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근거 확인</a:t>
            </a:r>
          </a:p>
        </p:txBody>
      </p:sp>
      <p:sp>
        <p:nvSpPr>
          <p:cNvPr id="19" name="테스트 · 검토">
            <a:extLst xmlns:a="http://schemas.openxmlformats.org/drawingml/2006/main">
              <a:ext uri="{FF2B5EF4-FFF2-40B4-BE49-F238E27FC236}">
                <a16:creationId xmlns:a16="http://schemas.microsoft.com/office/drawing/2014/main" id="{E8EE6967-C779-432A-B859-56159BA0328D}"/>
              </a:ext>
            </a:extLst>
          </p:cNvPr>
          <p:cNvSpPr>
            <a:spLocks xmlns:a="http://schemas.openxmlformats.org/drawingml/2006/main" noGrp="1"/>
          </p:cNvSpPr>
          <p:nvPr/>
        </p:nvSpPr>
        <p:spPr>
          <a:xfrm xmlns:a="http://schemas.openxmlformats.org/drawingml/2006/main">
            <a:off x="712470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검토</a:t>
            </a:r>
          </a:p>
        </p:txBody>
      </p:sp>
      <p:cxnSp>
        <p:nvCxnSpPr>
          <p:cNvPr id="20" name="">
            <a:extLst xmlns:a="http://schemas.openxmlformats.org/drawingml/2006/main">
              <a:ext uri="{FF2B5EF4-FFF2-40B4-BE49-F238E27FC236}">
                <a16:creationId xmlns:a16="http://schemas.microsoft.com/office/drawing/2014/main" id="{32E492AD-73E2-4786-B334-842B12B224AB}"/>
              </a:ext>
            </a:extLst>
          </p:cNvPr>
          <p:cNvCxnSpPr/>
          <p:nvPr/>
        </p:nvCxnSpPr>
        <p:spPr>
          <a:xfrm xmlns:a="http://schemas.openxmlformats.org/drawingml/2006/main">
            <a:off x="9115425" y="3514725"/>
            <a:ext cx="4667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0A8AA900-241A-485A-8ED0-54BA1B106F89}"/>
              </a:ext>
            </a:extLst>
          </p:cNvPr>
          <p:cNvSpPr>
            <a:spLocks xmlns:a="http://schemas.openxmlformats.org/drawingml/2006/main" noGrp="1"/>
          </p:cNvSpPr>
          <p:nvPr/>
        </p:nvSpPr>
        <p:spPr>
          <a:xfrm xmlns:a="http://schemas.openxmlformats.org/drawingml/2006/main">
            <a:off x="9772650" y="2800350"/>
            <a:ext cx="1809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다음 판단">
            <a:extLst xmlns:a="http://schemas.openxmlformats.org/drawingml/2006/main">
              <a:ext uri="{FF2B5EF4-FFF2-40B4-BE49-F238E27FC236}">
                <a16:creationId xmlns:a16="http://schemas.microsoft.com/office/drawing/2014/main" id="{ED04BC1F-7173-4479-BC7E-55578CD9F0B0}"/>
              </a:ext>
            </a:extLst>
          </p:cNvPr>
          <p:cNvSpPr>
            <a:spLocks xmlns:a="http://schemas.openxmlformats.org/drawingml/2006/main" noGrp="1"/>
          </p:cNvSpPr>
          <p:nvPr/>
        </p:nvSpPr>
        <p:spPr>
          <a:xfrm xmlns:a="http://schemas.openxmlformats.org/drawingml/2006/main">
            <a:off x="9772650" y="3019425"/>
            <a:ext cx="1809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다음 판단</a:t>
            </a:r>
          </a:p>
        </p:txBody>
      </p:sp>
      <p:sp>
        <p:nvSpPr>
          <p:cNvPr id="23" name="계속 / 완료">
            <a:extLst xmlns:a="http://schemas.openxmlformats.org/drawingml/2006/main">
              <a:ext uri="{FF2B5EF4-FFF2-40B4-BE49-F238E27FC236}">
                <a16:creationId xmlns:a16="http://schemas.microsoft.com/office/drawing/2014/main" id="{FE92D33A-2A16-4033-AB4B-BE468D81C436}"/>
              </a:ext>
            </a:extLst>
          </p:cNvPr>
          <p:cNvSpPr>
            <a:spLocks xmlns:a="http://schemas.openxmlformats.org/drawingml/2006/main" noGrp="1"/>
          </p:cNvSpPr>
          <p:nvPr/>
        </p:nvSpPr>
        <p:spPr>
          <a:xfrm xmlns:a="http://schemas.openxmlformats.org/drawingml/2006/main">
            <a:off x="9772650" y="36766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계속 / 완료</a:t>
            </a:r>
          </a:p>
        </p:txBody>
      </p:sp>
      <p:sp>
        <p:nvSpPr>
          <p:cNvPr id="24" name="">
            <a:extLst xmlns:a="http://schemas.openxmlformats.org/drawingml/2006/main">
              <a:ext uri="{FF2B5EF4-FFF2-40B4-BE49-F238E27FC236}">
                <a16:creationId xmlns:a16="http://schemas.microsoft.com/office/drawing/2014/main" id="{741AE54D-E57A-4F6D-97C7-1F41E6E5399D}"/>
              </a:ext>
            </a:extLst>
          </p:cNvPr>
          <p:cNvSpPr>
            <a:spLocks xmlns:a="http://schemas.openxmlformats.org/drawingml/2006/main" noGrp="1"/>
          </p:cNvSpPr>
          <p:nvPr/>
        </p:nvSpPr>
        <p:spPr>
          <a:xfrm xmlns:a="http://schemas.openxmlformats.org/drawingml/2006/main">
            <a:off x="10677525" y="4267200"/>
            <a:ext cx="0" cy="561975"/>
          </a:xfrm>
          <a:prstGeom xmlns:a="http://schemas.openxmlformats.org/drawingml/2006/main" prst="line">
            <a:avLst/>
          </a:prstGeom>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756A64BC-8176-496B-AB81-B92836C8A882}"/>
              </a:ext>
            </a:extLst>
          </p:cNvPr>
          <p:cNvSpPr>
            <a:spLocks xmlns:a="http://schemas.openxmlformats.org/drawingml/2006/main" noGrp="1"/>
          </p:cNvSpPr>
          <p:nvPr/>
        </p:nvSpPr>
        <p:spPr>
          <a:xfrm xmlns:a="http://schemas.openxmlformats.org/drawingml/2006/main">
            <a:off x="5381625" y="4829175"/>
            <a:ext cx="52959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6" name="">
            <a:extLst xmlns:a="http://schemas.openxmlformats.org/drawingml/2006/main">
              <a:ext uri="{FF2B5EF4-FFF2-40B4-BE49-F238E27FC236}">
                <a16:creationId xmlns:a16="http://schemas.microsoft.com/office/drawing/2014/main" id="{EA03037D-A1A3-48F1-B6ED-13003F043080}"/>
              </a:ext>
            </a:extLst>
          </p:cNvPr>
          <p:cNvCxnSpPr/>
          <p:nvPr/>
        </p:nvCxnSpPr>
        <p:spPr>
          <a:xfrm xmlns:a="http://schemas.openxmlformats.org/drawingml/2006/main">
            <a:off x="5381625" y="4276725"/>
            <a:ext cx="0" cy="55245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27" name="남은 문제가 있으면 다음 작업으로">
            <a:extLst xmlns:a="http://schemas.openxmlformats.org/drawingml/2006/main">
              <a:ext uri="{FF2B5EF4-FFF2-40B4-BE49-F238E27FC236}">
                <a16:creationId xmlns:a16="http://schemas.microsoft.com/office/drawing/2014/main" id="{E720BD48-90C1-42F5-A980-2D7F8E1238B6}"/>
              </a:ext>
            </a:extLst>
          </p:cNvPr>
          <p:cNvSpPr>
            <a:spLocks xmlns:a="http://schemas.openxmlformats.org/drawingml/2006/main" noGrp="1"/>
          </p:cNvSpPr>
          <p:nvPr/>
        </p:nvSpPr>
        <p:spPr>
          <a:xfrm xmlns:a="http://schemas.openxmlformats.org/drawingml/2006/main">
            <a:off x="6000750" y="4400550"/>
            <a:ext cx="4572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문제가 있으면 다음 작업으로</a:t>
            </a:r>
          </a:p>
        </p:txBody>
      </p:sp>
      <p:sp>
        <p:nvSpPr>
          <p:cNvPr id="28" name="Goal은 계속 수행을 연결하고, 완료는 근거로 판단한다">
            <a:extLst xmlns:a="http://schemas.openxmlformats.org/drawingml/2006/main">
              <a:ext uri="{FF2B5EF4-FFF2-40B4-BE49-F238E27FC236}">
                <a16:creationId xmlns:a16="http://schemas.microsoft.com/office/drawing/2014/main" id="{20560B39-CB98-4E2A-971B-6D78F94BC060}"/>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Goal은 계속 수행을 연결하고, 완료는 근거로 판단한다</a:t>
            </a:r>
          </a:p>
        </p:txBody>
      </p:sp>
      <p:sp>
        <p:nvSpPr>
          <p:cNvPr id="29" name="">
            <a:extLst xmlns:a="http://schemas.openxmlformats.org/drawingml/2006/main">
              <a:ext uri="{FF2B5EF4-FFF2-40B4-BE49-F238E27FC236}">
                <a16:creationId xmlns:a16="http://schemas.microsoft.com/office/drawing/2014/main" id="{42B67707-251B-412C-9240-46584A598818}"/>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0" name="Practical application tip badge">
            <a:extLst xmlns:a="http://schemas.openxmlformats.org/drawingml/2006/main">
              <a:ext uri="{FF2B5EF4-FFF2-40B4-BE49-F238E27FC236}">
                <a16:creationId xmlns:a16="http://schemas.microsoft.com/office/drawing/2014/main" id="{C51DE257-B5EC-4CFC-84FF-3094B16E7F1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31" name="Legacy module connection">
            <a:extLst xmlns:a="http://schemas.openxmlformats.org/drawingml/2006/main">
              <a:ext uri="{FF2B5EF4-FFF2-40B4-BE49-F238E27FC236}">
                <a16:creationId xmlns:a16="http://schemas.microsoft.com/office/drawing/2014/main" id="{E8679322-514C-4957-ABD6-57227AF33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348596"/>
      </p:ext>
    </p:extLst>
  </p:cSld>
</p:sld>
</file>

<file path=ppt/slides/slide10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Goal 요청 작성 예시">
            <a:extLst xmlns:a="http://schemas.openxmlformats.org/drawingml/2006/main">
              <a:ext uri="{FF2B5EF4-FFF2-40B4-BE49-F238E27FC236}">
                <a16:creationId xmlns:a16="http://schemas.microsoft.com/office/drawing/2014/main" id="{A21D3DBE-A1A6-45DF-A46E-1440573C58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Goal 요청 작성 예시</a:t>
            </a:r>
          </a:p>
        </p:txBody>
      </p:sp>
      <p:sp>
        <p:nvSpPr>
          <p:cNvPr id="2" name="S103">
            <a:extLst xmlns:a="http://schemas.openxmlformats.org/drawingml/2006/main">
              <a:ext uri="{FF2B5EF4-FFF2-40B4-BE49-F238E27FC236}">
                <a16:creationId xmlns:a16="http://schemas.microsoft.com/office/drawing/2014/main" id="{96657BE8-95AD-4051-9CDF-6E26FDCABA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Goal에는 완료 근거와 멈출 조건을 담는다">
            <a:extLst xmlns:a="http://schemas.openxmlformats.org/drawingml/2006/main">
              <a:ext uri="{FF2B5EF4-FFF2-40B4-BE49-F238E27FC236}">
                <a16:creationId xmlns:a16="http://schemas.microsoft.com/office/drawing/2014/main" id="{73CFAA50-EA70-474D-9113-4DFDEBD1CD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Goal에는 완료 근거와 멈출 조건을 담는다</a:t>
            </a:r>
          </a:p>
        </p:txBody>
      </p:sp>
      <p:sp>
        <p:nvSpPr>
          <p:cNvPr id="4" name="">
            <a:extLst xmlns:a="http://schemas.openxmlformats.org/drawingml/2006/main">
              <a:ext uri="{FF2B5EF4-FFF2-40B4-BE49-F238E27FC236}">
                <a16:creationId xmlns:a16="http://schemas.microsoft.com/office/drawing/2014/main" id="{B69BBDEB-AE4F-4775-AE00-B982968008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3CD7DF1-3D4B-48C2-B7BD-578A1FFB40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요청 예시 · 완료 기준과 중단 조건은 직접 지정</a:t>
            </a:r>
          </a:p>
        </p:txBody>
      </p:sp>
      <p:sp>
        <p:nvSpPr>
          <p:cNvPr id="7" name="막연한 목표: /goal 성능을 개선해 줘.">
            <a:extLst xmlns:a="http://schemas.openxmlformats.org/drawingml/2006/main">
              <a:ext uri="{FF2B5EF4-FFF2-40B4-BE49-F238E27FC236}">
                <a16:creationId xmlns:a16="http://schemas.microsoft.com/office/drawing/2014/main" id="{4BF83350-CF25-42BB-854F-017545990F08}"/>
              </a:ext>
            </a:extLst>
          </p:cNvPr>
          <p:cNvSpPr>
            <a:spLocks xmlns:a="http://schemas.openxmlformats.org/drawingml/2006/main" noGrp="1"/>
          </p:cNvSpPr>
          <p:nvPr/>
        </p:nvSpPr>
        <p:spPr>
          <a:xfrm xmlns:a="http://schemas.openxmlformats.org/drawingml/2006/main">
            <a:off x="609600" y="17240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4D5A68"/>
                </a:solidFill>
                <a:latin typeface="Malgun Gothic"/>
                <a:ea typeface="Malgun Gothic"/>
                <a:cs typeface="Malgun Gothic"/>
              </a:defRPr>
            </a:defPPr>
            <a:lvl1pPr algn="l">
              <a:defRPr sz="2250" b="0">
                <a:solidFill>
                  <a:srgbClr val="4D5A68"/>
                </a:solidFill>
                <a:latin typeface="Malgun Gothic"/>
                <a:ea typeface="Malgun Gothic"/>
                <a:cs typeface="Malgun Gothic"/>
              </a:defRPr>
            </a:lvl1pPr>
            <a:lvl2pPr algn="l">
              <a:defRPr sz="2250" b="0">
                <a:solidFill>
                  <a:srgbClr val="4D5A68"/>
                </a:solidFill>
                <a:latin typeface="Malgun Gothic"/>
                <a:ea typeface="Malgun Gothic"/>
                <a:cs typeface="Malgun Gothic"/>
              </a:defRPr>
            </a:lvl2pPr>
            <a:lvl3pPr algn="l">
              <a:defRPr sz="2250" b="0">
                <a:solidFill>
                  <a:srgbClr val="4D5A68"/>
                </a:solidFill>
                <a:latin typeface="Malgun Gothic"/>
                <a:ea typeface="Malgun Gothic"/>
                <a:cs typeface="Malgun Gothic"/>
              </a:defRPr>
            </a:lvl3pPr>
            <a:lvl4pPr algn="l">
              <a:defRPr sz="2250" b="0">
                <a:solidFill>
                  <a:srgbClr val="4D5A68"/>
                </a:solidFill>
                <a:latin typeface="Malgun Gothic"/>
                <a:ea typeface="Malgun Gothic"/>
                <a:cs typeface="Malgun Gothic"/>
              </a:defRPr>
            </a:lvl4pPr>
            <a:lvl5pPr algn="l">
              <a:defRPr sz="2250" b="0">
                <a:solidFill>
                  <a:srgbClr val="4D5A68"/>
                </a:solidFill>
                <a:latin typeface="Malgun Gothic"/>
                <a:ea typeface="Malgun Gothic"/>
                <a:cs typeface="Malgun Gothic"/>
              </a:defRPr>
            </a:lvl5pPr>
            <a:lvl6pPr algn="l">
              <a:defRPr sz="2250" b="0">
                <a:solidFill>
                  <a:srgbClr val="4D5A68"/>
                </a:solidFill>
                <a:latin typeface="Malgun Gothic"/>
                <a:ea typeface="Malgun Gothic"/>
                <a:cs typeface="Malgun Gothic"/>
              </a:defRPr>
            </a:lvl6pPr>
            <a:lvl7pPr algn="l">
              <a:defRPr sz="2250" b="0">
                <a:solidFill>
                  <a:srgbClr val="4D5A68"/>
                </a:solidFill>
                <a:latin typeface="Malgun Gothic"/>
                <a:ea typeface="Malgun Gothic"/>
                <a:cs typeface="Malgun Gothic"/>
              </a:defRPr>
            </a:lvl7pPr>
            <a:lvl8pPr algn="l">
              <a:defRPr sz="2250" b="0">
                <a:solidFill>
                  <a:srgbClr val="4D5A68"/>
                </a:solidFill>
                <a:latin typeface="Malgun Gothic"/>
                <a:ea typeface="Malgun Gothic"/>
                <a:cs typeface="Malgun Gothic"/>
              </a:defRPr>
            </a:lvl8pPr>
            <a:lvl9pPr algn="l">
              <a:defRPr sz="2250" b="0">
                <a:solidFill>
                  <a:srgbClr val="4D5A68"/>
                </a:solidFill>
                <a:latin typeface="Malgun Gothic"/>
                <a:ea typeface="Malgun Gothic"/>
                <a:cs typeface="Malgun Gothic"/>
              </a:defRPr>
            </a:lvl9pPr>
          </a:lstStyle>
          <a:p xmlns:a="http://schemas.openxmlformats.org/drawingml/2006/main">
            <a:pPr algn="l">
              <a:defRPr sz="2250" b="0">
                <a:solidFill>
                  <a:srgbClr val="4D5A68"/>
                </a:solidFill>
                <a:latin typeface="Malgun Gothic"/>
                <a:ea typeface="Malgun Gothic"/>
                <a:cs typeface="Malgun Gothic"/>
              </a:defRPr>
            </a:pPr>
            <a:r>
              <a:rPr sz="2250" b="0">
                <a:solidFill>
                  <a:srgbClr val="4D5A68"/>
                </a:solidFill>
                <a:latin typeface="Malgun Gothic"/>
                <a:ea typeface="Malgun Gothic"/>
                <a:cs typeface="Malgun Gothic"/>
              </a:rPr>
              <a:t>막연한 목표: /goal 성능을 개선해 줘.</a:t>
            </a:r>
          </a:p>
        </p:txBody>
      </p:sp>
      <p:sp>
        <p:nvSpPr>
          <p:cNvPr id="8" name="">
            <a:extLst xmlns:a="http://schemas.openxmlformats.org/drawingml/2006/main">
              <a:ext uri="{FF2B5EF4-FFF2-40B4-BE49-F238E27FC236}">
                <a16:creationId xmlns:a16="http://schemas.microsoft.com/office/drawing/2014/main" id="{A4F86464-D1D4-4BD1-BDE1-D3BFBB0C79ED}"/>
              </a:ext>
            </a:extLst>
          </p:cNvPr>
          <p:cNvSpPr>
            <a:spLocks xmlns:a="http://schemas.openxmlformats.org/drawingml/2006/main" noGrp="1"/>
          </p:cNvSpPr>
          <p:nvPr/>
        </p:nvSpPr>
        <p:spPr>
          <a:xfrm xmlns:a="http://schemas.openxmlformats.org/drawingml/2006/main">
            <a:off x="609600" y="2352675"/>
            <a:ext cx="7620000" cy="322897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완료를 확인할 수 있는 요청 예시">
            <a:extLst xmlns:a="http://schemas.openxmlformats.org/drawingml/2006/main">
              <a:ext uri="{FF2B5EF4-FFF2-40B4-BE49-F238E27FC236}">
                <a16:creationId xmlns:a16="http://schemas.microsoft.com/office/drawing/2014/main" id="{695590F4-F981-4D65-8C8A-367550D283CB}"/>
              </a:ext>
            </a:extLst>
          </p:cNvPr>
          <p:cNvSpPr>
            <a:spLocks xmlns:a="http://schemas.openxmlformats.org/drawingml/2006/main" noGrp="1"/>
          </p:cNvSpPr>
          <p:nvPr/>
        </p:nvSpPr>
        <p:spPr>
          <a:xfrm xmlns:a="http://schemas.openxmlformats.org/drawingml/2006/main">
            <a:off x="819150" y="2476500"/>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완료를 확인할 수 있는 요청 예시</a:t>
            </a:r>
          </a:p>
        </p:txBody>
      </p:sp>
      <p:sp>
        <p:nvSpPr>
          <p:cNvPr id="10" name="">
            <a:extLst xmlns:a="http://schemas.openxmlformats.org/drawingml/2006/main">
              <a:ext uri="{FF2B5EF4-FFF2-40B4-BE49-F238E27FC236}">
                <a16:creationId xmlns:a16="http://schemas.microsoft.com/office/drawing/2014/main" id="{1D926AB5-5CC4-487C-A524-771B06CE01DC}"/>
              </a:ext>
            </a:extLst>
          </p:cNvPr>
          <p:cNvSpPr>
            <a:spLocks xmlns:a="http://schemas.openxmlformats.org/drawingml/2006/main" noGrp="1"/>
          </p:cNvSpPr>
          <p:nvPr/>
        </p:nvSpPr>
        <p:spPr>
          <a:xfrm xmlns:a="http://schemas.openxmlformats.org/drawingml/2006/main">
            <a:off x="800100" y="2981325"/>
            <a:ext cx="723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goal 밝기 통계의 임시 할당을 기준판보다 줄여줘.">
            <a:extLst xmlns:a="http://schemas.openxmlformats.org/drawingml/2006/main">
              <a:ext uri="{FF2B5EF4-FFF2-40B4-BE49-F238E27FC236}">
                <a16:creationId xmlns:a16="http://schemas.microsoft.com/office/drawing/2014/main" id="{B502B7F2-75EC-4826-AC19-41C608A016F0}"/>
              </a:ext>
            </a:extLst>
          </p:cNvPr>
          <p:cNvSpPr>
            <a:spLocks xmlns:a="http://schemas.openxmlformats.org/drawingml/2006/main" noGrp="1"/>
          </p:cNvSpPr>
          <p:nvPr/>
        </p:nvSpPr>
        <p:spPr>
          <a:xfrm xmlns:a="http://schemas.openxmlformats.org/drawingml/2006/main">
            <a:off x="819150" y="3133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/goal 밝기 통계의 임시 할당을 기준판보다 줄여줘.</a:t>
            </a:r>
          </a:p>
        </p:txBody>
      </p:sp>
      <p:sp>
        <p:nvSpPr>
          <p:cNvPr id="12" name="기존 6개 출력과 동작은 유지해.">
            <a:extLst xmlns:a="http://schemas.openxmlformats.org/drawingml/2006/main">
              <a:ext uri="{FF2B5EF4-FFF2-40B4-BE49-F238E27FC236}">
                <a16:creationId xmlns:a16="http://schemas.microsoft.com/office/drawing/2014/main" id="{F5F4103B-40B1-4CD3-AC2F-8F0EC74A7547}"/>
              </a:ext>
            </a:extLst>
          </p:cNvPr>
          <p:cNvSpPr>
            <a:spLocks xmlns:a="http://schemas.openxmlformats.org/drawingml/2006/main" noGrp="1"/>
          </p:cNvSpPr>
          <p:nvPr/>
        </p:nvSpPr>
        <p:spPr>
          <a:xfrm xmlns:a="http://schemas.openxmlformats.org/drawingml/2006/main">
            <a:off x="819150" y="3514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기존 6개 출력과 동작은 유지해.</a:t>
            </a:r>
          </a:p>
        </p:txBody>
      </p:sp>
      <p:sp>
        <p:nvSpPr>
          <p:cNvPr id="13" name="같은 대표 입력의 테스트·벤치마크로 확인해.">
            <a:extLst xmlns:a="http://schemas.openxmlformats.org/drawingml/2006/main">
              <a:ext uri="{FF2B5EF4-FFF2-40B4-BE49-F238E27FC236}">
                <a16:creationId xmlns:a16="http://schemas.microsoft.com/office/drawing/2014/main" id="{70879955-B069-4944-A240-B9383E420C98}"/>
              </a:ext>
            </a:extLst>
          </p:cNvPr>
          <p:cNvSpPr>
            <a:spLocks xmlns:a="http://schemas.openxmlformats.org/drawingml/2006/main" noGrp="1"/>
          </p:cNvSpPr>
          <p:nvPr/>
        </p:nvSpPr>
        <p:spPr>
          <a:xfrm xmlns:a="http://schemas.openxmlformats.org/drawingml/2006/main">
            <a:off x="819150" y="3895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대표 입력의 테스트·벤치마크로 확인해.</a:t>
            </a:r>
          </a:p>
        </p:txBody>
      </p:sp>
      <p:sp>
        <p:nvSpPr>
          <p:cNvPr id="14" name="실행시간이 기준판보다 나빠지면 완료로 처리하지 마.">
            <a:extLst xmlns:a="http://schemas.openxmlformats.org/drawingml/2006/main">
              <a:ext uri="{FF2B5EF4-FFF2-40B4-BE49-F238E27FC236}">
                <a16:creationId xmlns:a16="http://schemas.microsoft.com/office/drawing/2014/main" id="{EC17FC56-96E8-478E-B80F-75F732FD1985}"/>
              </a:ext>
            </a:extLst>
          </p:cNvPr>
          <p:cNvSpPr>
            <a:spLocks xmlns:a="http://schemas.openxmlformats.org/drawingml/2006/main" noGrp="1"/>
          </p:cNvSpPr>
          <p:nvPr/>
        </p:nvSpPr>
        <p:spPr>
          <a:xfrm xmlns:a="http://schemas.openxmlformats.org/drawingml/2006/main">
            <a:off x="819150" y="4276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실행시간이 기준판보다 나빠지면 완료로 처리하지 마.</a:t>
            </a:r>
          </a:p>
        </p:txBody>
      </p:sp>
      <p:sp>
        <p:nvSpPr>
          <p:cNvPr id="15" name="검증할 수 없거나 같은 실패가 반복되면,">
            <a:extLst xmlns:a="http://schemas.openxmlformats.org/drawingml/2006/main">
              <a:ext uri="{FF2B5EF4-FFF2-40B4-BE49-F238E27FC236}">
                <a16:creationId xmlns:a16="http://schemas.microsoft.com/office/drawing/2014/main" id="{C80CB819-5D09-4CC0-A28F-C21AE32C96B5}"/>
              </a:ext>
            </a:extLst>
          </p:cNvPr>
          <p:cNvSpPr>
            <a:spLocks xmlns:a="http://schemas.openxmlformats.org/drawingml/2006/main" noGrp="1"/>
          </p:cNvSpPr>
          <p:nvPr/>
        </p:nvSpPr>
        <p:spPr>
          <a:xfrm xmlns:a="http://schemas.openxmlformats.org/drawingml/2006/main">
            <a:off x="819150" y="4657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검증할 수 없거나 같은 실패가 반복되면,</a:t>
            </a:r>
          </a:p>
        </p:txBody>
      </p:sp>
      <p:sp>
        <p:nvSpPr>
          <p:cNvPr id="16" name="미완료 사유와 필요한 판단을 보고해.">
            <a:extLst xmlns:a="http://schemas.openxmlformats.org/drawingml/2006/main">
              <a:ext uri="{FF2B5EF4-FFF2-40B4-BE49-F238E27FC236}">
                <a16:creationId xmlns:a16="http://schemas.microsoft.com/office/drawing/2014/main" id="{9E62A54E-13C9-4463-9EFF-86ED39719C85}"/>
              </a:ext>
            </a:extLst>
          </p:cNvPr>
          <p:cNvSpPr>
            <a:spLocks xmlns:a="http://schemas.openxmlformats.org/drawingml/2006/main" noGrp="1"/>
          </p:cNvSpPr>
          <p:nvPr/>
        </p:nvSpPr>
        <p:spPr>
          <a:xfrm xmlns:a="http://schemas.openxmlformats.org/drawingml/2006/main">
            <a:off x="819150" y="5038725"/>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미완료 사유와 필요한 판단을 보고해.</a:t>
            </a:r>
          </a:p>
        </p:txBody>
      </p:sp>
      <p:sp>
        <p:nvSpPr>
          <p:cNvPr id="17" name="">
            <a:extLst xmlns:a="http://schemas.openxmlformats.org/drawingml/2006/main">
              <a:ext uri="{FF2B5EF4-FFF2-40B4-BE49-F238E27FC236}">
                <a16:creationId xmlns:a16="http://schemas.microsoft.com/office/drawing/2014/main" id="{90FD7D95-3078-420A-BB72-22D408B59753}"/>
              </a:ext>
            </a:extLst>
          </p:cNvPr>
          <p:cNvSpPr>
            <a:spLocks xmlns:a="http://schemas.openxmlformats.org/drawingml/2006/main" noGrp="1"/>
          </p:cNvSpPr>
          <p:nvPr/>
        </p:nvSpPr>
        <p:spPr>
          <a:xfrm xmlns:a="http://schemas.openxmlformats.org/drawingml/2006/main">
            <a:off x="8667750" y="26193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목표와 보존">
            <a:extLst xmlns:a="http://schemas.openxmlformats.org/drawingml/2006/main">
              <a:ext uri="{FF2B5EF4-FFF2-40B4-BE49-F238E27FC236}">
                <a16:creationId xmlns:a16="http://schemas.microsoft.com/office/drawing/2014/main" id="{F2A632BE-F39B-4013-9114-C2F2E2CF1EBE}"/>
              </a:ext>
            </a:extLst>
          </p:cNvPr>
          <p:cNvSpPr>
            <a:spLocks xmlns:a="http://schemas.openxmlformats.org/drawingml/2006/main" noGrp="1"/>
          </p:cNvSpPr>
          <p:nvPr/>
        </p:nvSpPr>
        <p:spPr>
          <a:xfrm xmlns:a="http://schemas.openxmlformats.org/drawingml/2006/main">
            <a:off x="8667750" y="27622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목표와 보존</a:t>
            </a:r>
          </a:p>
        </p:txBody>
      </p:sp>
      <p:sp>
        <p:nvSpPr>
          <p:cNvPr id="19" name="할당량 감소 / 출력 유지">
            <a:extLst xmlns:a="http://schemas.openxmlformats.org/drawingml/2006/main">
              <a:ext uri="{FF2B5EF4-FFF2-40B4-BE49-F238E27FC236}">
                <a16:creationId xmlns:a16="http://schemas.microsoft.com/office/drawing/2014/main" id="{B954EB7D-2B95-4F68-92CC-B5D96818A0AC}"/>
              </a:ext>
            </a:extLst>
          </p:cNvPr>
          <p:cNvSpPr>
            <a:spLocks xmlns:a="http://schemas.openxmlformats.org/drawingml/2006/main" noGrp="1"/>
          </p:cNvSpPr>
          <p:nvPr/>
        </p:nvSpPr>
        <p:spPr>
          <a:xfrm xmlns:a="http://schemas.openxmlformats.org/drawingml/2006/main">
            <a:off x="8667750" y="31813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할당량 감소 / 출력 유지</a:t>
            </a:r>
          </a:p>
        </p:txBody>
      </p:sp>
      <p:sp>
        <p:nvSpPr>
          <p:cNvPr id="20" name="">
            <a:extLst xmlns:a="http://schemas.openxmlformats.org/drawingml/2006/main">
              <a:ext uri="{FF2B5EF4-FFF2-40B4-BE49-F238E27FC236}">
                <a16:creationId xmlns:a16="http://schemas.microsoft.com/office/drawing/2014/main" id="{6D6CD8B5-BACE-48B3-9447-401E756DE6F3}"/>
              </a:ext>
            </a:extLst>
          </p:cNvPr>
          <p:cNvSpPr>
            <a:spLocks xmlns:a="http://schemas.openxmlformats.org/drawingml/2006/main" noGrp="1"/>
          </p:cNvSpPr>
          <p:nvPr/>
        </p:nvSpPr>
        <p:spPr>
          <a:xfrm xmlns:a="http://schemas.openxmlformats.org/drawingml/2006/main">
            <a:off x="8667750" y="36480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1" name="완료 근거">
            <a:extLst xmlns:a="http://schemas.openxmlformats.org/drawingml/2006/main">
              <a:ext uri="{FF2B5EF4-FFF2-40B4-BE49-F238E27FC236}">
                <a16:creationId xmlns:a16="http://schemas.microsoft.com/office/drawing/2014/main" id="{78EA4A33-FC38-4602-8559-8D176BD387CD}"/>
              </a:ext>
            </a:extLst>
          </p:cNvPr>
          <p:cNvSpPr>
            <a:spLocks xmlns:a="http://schemas.openxmlformats.org/drawingml/2006/main" noGrp="1"/>
          </p:cNvSpPr>
          <p:nvPr/>
        </p:nvSpPr>
        <p:spPr>
          <a:xfrm xmlns:a="http://schemas.openxmlformats.org/drawingml/2006/main">
            <a:off x="8667750" y="37909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완료 근거</a:t>
            </a:r>
          </a:p>
        </p:txBody>
      </p:sp>
      <p:sp>
        <p:nvSpPr>
          <p:cNvPr id="22" name="동작·할당량·시간 확인">
            <a:extLst xmlns:a="http://schemas.openxmlformats.org/drawingml/2006/main">
              <a:ext uri="{FF2B5EF4-FFF2-40B4-BE49-F238E27FC236}">
                <a16:creationId xmlns:a16="http://schemas.microsoft.com/office/drawing/2014/main" id="{CEB0732A-C027-44EF-AB9F-83B4BA3D80F3}"/>
              </a:ext>
            </a:extLst>
          </p:cNvPr>
          <p:cNvSpPr>
            <a:spLocks xmlns:a="http://schemas.openxmlformats.org/drawingml/2006/main" noGrp="1"/>
          </p:cNvSpPr>
          <p:nvPr/>
        </p:nvSpPr>
        <p:spPr>
          <a:xfrm xmlns:a="http://schemas.openxmlformats.org/drawingml/2006/main">
            <a:off x="8667750" y="42100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동작·할당량·시간 확인</a:t>
            </a:r>
          </a:p>
        </p:txBody>
      </p:sp>
      <p:sp>
        <p:nvSpPr>
          <p:cNvPr id="23" name="">
            <a:extLst xmlns:a="http://schemas.openxmlformats.org/drawingml/2006/main">
              <a:ext uri="{FF2B5EF4-FFF2-40B4-BE49-F238E27FC236}">
                <a16:creationId xmlns:a16="http://schemas.microsoft.com/office/drawing/2014/main" id="{70678356-8E62-4C18-AE8B-87B2F185DAE8}"/>
              </a:ext>
            </a:extLst>
          </p:cNvPr>
          <p:cNvSpPr>
            <a:spLocks xmlns:a="http://schemas.openxmlformats.org/drawingml/2006/main" noGrp="1"/>
          </p:cNvSpPr>
          <p:nvPr/>
        </p:nvSpPr>
        <p:spPr>
          <a:xfrm xmlns:a="http://schemas.openxmlformats.org/drawingml/2006/main">
            <a:off x="8667750" y="4676775"/>
            <a:ext cx="29146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멈출 조건">
            <a:extLst xmlns:a="http://schemas.openxmlformats.org/drawingml/2006/main">
              <a:ext uri="{FF2B5EF4-FFF2-40B4-BE49-F238E27FC236}">
                <a16:creationId xmlns:a16="http://schemas.microsoft.com/office/drawing/2014/main" id="{C57E9F6E-F2CB-4B8C-ADCD-3AD69108EAE0}"/>
              </a:ext>
            </a:extLst>
          </p:cNvPr>
          <p:cNvSpPr>
            <a:spLocks xmlns:a="http://schemas.openxmlformats.org/drawingml/2006/main" noGrp="1"/>
          </p:cNvSpPr>
          <p:nvPr/>
        </p:nvSpPr>
        <p:spPr>
          <a:xfrm xmlns:a="http://schemas.openxmlformats.org/drawingml/2006/main">
            <a:off x="8667750" y="4819650"/>
            <a:ext cx="29146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멈출 조건</a:t>
            </a:r>
          </a:p>
        </p:txBody>
      </p:sp>
      <p:sp>
        <p:nvSpPr>
          <p:cNvPr id="25" name="막힘을 완료와 구분">
            <a:extLst xmlns:a="http://schemas.openxmlformats.org/drawingml/2006/main">
              <a:ext uri="{FF2B5EF4-FFF2-40B4-BE49-F238E27FC236}">
                <a16:creationId xmlns:a16="http://schemas.microsoft.com/office/drawing/2014/main" id="{D1B87509-856A-43FE-989C-5F3D3640CE0D}"/>
              </a:ext>
            </a:extLst>
          </p:cNvPr>
          <p:cNvSpPr>
            <a:spLocks xmlns:a="http://schemas.openxmlformats.org/drawingml/2006/main" noGrp="1"/>
          </p:cNvSpPr>
          <p:nvPr/>
        </p:nvSpPr>
        <p:spPr>
          <a:xfrm xmlns:a="http://schemas.openxmlformats.org/drawingml/2006/main">
            <a:off x="8667750" y="5238750"/>
            <a:ext cx="2914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막힘을 완료와 구분</a:t>
            </a:r>
          </a:p>
        </p:txBody>
      </p:sp>
      <p:sp>
        <p:nvSpPr>
          <p:cNvPr id="26" name="">
            <a:extLst xmlns:a="http://schemas.openxmlformats.org/drawingml/2006/main">
              <a:ext uri="{FF2B5EF4-FFF2-40B4-BE49-F238E27FC236}">
                <a16:creationId xmlns:a16="http://schemas.microsoft.com/office/drawing/2014/main" id="{DDEF920C-A031-4F43-85D0-DC3FF246987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7" name="Practical application tip badge">
            <a:extLst xmlns:a="http://schemas.openxmlformats.org/drawingml/2006/main">
              <a:ext uri="{FF2B5EF4-FFF2-40B4-BE49-F238E27FC236}">
                <a16:creationId xmlns:a16="http://schemas.microsoft.com/office/drawing/2014/main" id="{799D41FE-B332-47B1-9708-71134EE35D9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8" name="Legacy module connection">
            <a:extLst xmlns:a="http://schemas.openxmlformats.org/drawingml/2006/main">
              <a:ext uri="{FF2B5EF4-FFF2-40B4-BE49-F238E27FC236}">
                <a16:creationId xmlns:a16="http://schemas.microsoft.com/office/drawing/2014/main" id="{D0442BFE-B00E-4AA8-9548-F7CE00A3F2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76444876"/>
      </p:ext>
    </p:extLst>
  </p:cSld>
</p:sld>
</file>

<file path=ppt/slides/slide10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루프 운영 설계">
            <a:extLst xmlns:a="http://schemas.openxmlformats.org/drawingml/2006/main">
              <a:ext uri="{FF2B5EF4-FFF2-40B4-BE49-F238E27FC236}">
                <a16:creationId xmlns:a16="http://schemas.microsoft.com/office/drawing/2014/main" id="{1C79E2B9-1842-45D5-8244-EB420C52155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루프 운영 설계</a:t>
            </a:r>
          </a:p>
        </p:txBody>
      </p:sp>
      <p:sp>
        <p:nvSpPr>
          <p:cNvPr id="2" name="S104">
            <a:extLst xmlns:a="http://schemas.openxmlformats.org/drawingml/2006/main">
              <a:ext uri="{FF2B5EF4-FFF2-40B4-BE49-F238E27FC236}">
                <a16:creationId xmlns:a16="http://schemas.microsoft.com/office/drawing/2014/main" id="{7B05B9C0-EA69-4D39-823D-730AB1F7C47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우리 작업에는 어떤 루프가 필요할까?">
            <a:extLst xmlns:a="http://schemas.openxmlformats.org/drawingml/2006/main">
              <a:ext uri="{FF2B5EF4-FFF2-40B4-BE49-F238E27FC236}">
                <a16:creationId xmlns:a16="http://schemas.microsoft.com/office/drawing/2014/main" id="{449EA91A-07A5-4C1F-B9A3-1C60D5BD25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작업에는 어떤 루프가 필요할까?</a:t>
            </a:r>
          </a:p>
        </p:txBody>
      </p:sp>
      <p:sp>
        <p:nvSpPr>
          <p:cNvPr id="4" name="">
            <a:extLst xmlns:a="http://schemas.openxmlformats.org/drawingml/2006/main">
              <a:ext uri="{FF2B5EF4-FFF2-40B4-BE49-F238E27FC236}">
                <a16:creationId xmlns:a16="http://schemas.microsoft.com/office/drawing/2014/main" id="{7B959AAC-55AB-4DBC-8AB8-7134B3CD507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DD010354-C13F-4712-8ECB-375F5766C2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개인 성찰 · 공유는 선택</a:t>
            </a:r>
          </a:p>
        </p:txBody>
      </p:sp>
      <p:sp>
        <p:nvSpPr>
          <p:cNvPr id="7" name="목표">
            <a:extLst xmlns:a="http://schemas.openxmlformats.org/drawingml/2006/main">
              <a:ext uri="{FF2B5EF4-FFF2-40B4-BE49-F238E27FC236}">
                <a16:creationId xmlns:a16="http://schemas.microsoft.com/office/drawing/2014/main" id="{D7BB1A63-026A-4BDD-96C5-C26908C9A39A}"/>
              </a:ext>
            </a:extLst>
          </p:cNvPr>
          <p:cNvSpPr>
            <a:spLocks xmlns:a="http://schemas.openxmlformats.org/drawingml/2006/main" noGrp="1"/>
          </p:cNvSpPr>
          <p:nvPr/>
        </p:nvSpPr>
        <p:spPr>
          <a:xfrm xmlns:a="http://schemas.openxmlformats.org/drawingml/2006/main">
            <a:off x="609600" y="22955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목표</a:t>
            </a:r>
          </a:p>
        </p:txBody>
      </p:sp>
      <p:sp>
        <p:nvSpPr>
          <p:cNvPr id="8" name="">
            <a:extLst xmlns:a="http://schemas.openxmlformats.org/drawingml/2006/main">
              <a:ext uri="{FF2B5EF4-FFF2-40B4-BE49-F238E27FC236}">
                <a16:creationId xmlns:a16="http://schemas.microsoft.com/office/drawing/2014/main" id="{A17ADC4C-D95F-45F2-AD09-E29FD165D52F}"/>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이 되면 완료인가?">
            <a:extLst xmlns:a="http://schemas.openxmlformats.org/drawingml/2006/main">
              <a:ext uri="{FF2B5EF4-FFF2-40B4-BE49-F238E27FC236}">
                <a16:creationId xmlns:a16="http://schemas.microsoft.com/office/drawing/2014/main" id="{CE12880C-CDDC-4F3A-B503-280735E7A99A}"/>
              </a:ext>
            </a:extLst>
          </p:cNvPr>
          <p:cNvSpPr>
            <a:spLocks xmlns:a="http://schemas.openxmlformats.org/drawingml/2006/main" noGrp="1"/>
          </p:cNvSpPr>
          <p:nvPr/>
        </p:nvSpPr>
        <p:spPr>
          <a:xfrm xmlns:a="http://schemas.openxmlformats.org/drawingml/2006/main">
            <a:off x="3867150" y="22955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무엇이 되면 완료인가?</a:t>
            </a:r>
          </a:p>
        </p:txBody>
      </p:sp>
      <p:sp>
        <p:nvSpPr>
          <p:cNvPr id="10" name="피드백">
            <a:extLst xmlns:a="http://schemas.openxmlformats.org/drawingml/2006/main">
              <a:ext uri="{FF2B5EF4-FFF2-40B4-BE49-F238E27FC236}">
                <a16:creationId xmlns:a16="http://schemas.microsoft.com/office/drawing/2014/main" id="{49D802F6-5A50-4EF4-9C2B-AB13C3A5AC36}"/>
              </a:ext>
            </a:extLst>
          </p:cNvPr>
          <p:cNvSpPr>
            <a:spLocks xmlns:a="http://schemas.openxmlformats.org/drawingml/2006/main" noGrp="1"/>
          </p:cNvSpPr>
          <p:nvPr/>
        </p:nvSpPr>
        <p:spPr>
          <a:xfrm xmlns:a="http://schemas.openxmlformats.org/drawingml/2006/main">
            <a:off x="609600" y="322897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피드백</a:t>
            </a:r>
          </a:p>
        </p:txBody>
      </p:sp>
      <p:sp>
        <p:nvSpPr>
          <p:cNvPr id="11" name="">
            <a:extLst xmlns:a="http://schemas.openxmlformats.org/drawingml/2006/main">
              <a:ext uri="{FF2B5EF4-FFF2-40B4-BE49-F238E27FC236}">
                <a16:creationId xmlns:a16="http://schemas.microsoft.com/office/drawing/2014/main" id="{892E6AA0-4C7B-4599-9643-C809EA854A6A}"/>
              </a:ext>
            </a:extLst>
          </p:cNvPr>
          <p:cNvSpPr>
            <a:spLocks xmlns:a="http://schemas.openxmlformats.org/drawingml/2006/main" noGrp="1"/>
          </p:cNvSpPr>
          <p:nvPr/>
        </p:nvSpPr>
        <p:spPr>
          <a:xfrm xmlns:a="http://schemas.openxmlformats.org/drawingml/2006/main">
            <a:off x="2800350" y="347662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어떤 지적을 다음 수정에 넘길까?">
            <a:extLst xmlns:a="http://schemas.openxmlformats.org/drawingml/2006/main">
              <a:ext uri="{FF2B5EF4-FFF2-40B4-BE49-F238E27FC236}">
                <a16:creationId xmlns:a16="http://schemas.microsoft.com/office/drawing/2014/main" id="{25FDDD2A-D132-4F68-BD7B-860CDB9ABA55}"/>
              </a:ext>
            </a:extLst>
          </p:cNvPr>
          <p:cNvSpPr>
            <a:spLocks xmlns:a="http://schemas.openxmlformats.org/drawingml/2006/main" noGrp="1"/>
          </p:cNvSpPr>
          <p:nvPr/>
        </p:nvSpPr>
        <p:spPr>
          <a:xfrm xmlns:a="http://schemas.openxmlformats.org/drawingml/2006/main">
            <a:off x="3867150" y="322897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어떤 지적을 다음 수정에 넘길까?</a:t>
            </a:r>
          </a:p>
        </p:txBody>
      </p:sp>
      <p:sp>
        <p:nvSpPr>
          <p:cNvPr id="13" name="운영">
            <a:extLst xmlns:a="http://schemas.openxmlformats.org/drawingml/2006/main">
              <a:ext uri="{FF2B5EF4-FFF2-40B4-BE49-F238E27FC236}">
                <a16:creationId xmlns:a16="http://schemas.microsoft.com/office/drawing/2014/main" id="{EDE80CF3-2E54-4646-926E-928EED0B67AC}"/>
              </a:ext>
            </a:extLst>
          </p:cNvPr>
          <p:cNvSpPr>
            <a:spLocks xmlns:a="http://schemas.openxmlformats.org/drawingml/2006/main" noGrp="1"/>
          </p:cNvSpPr>
          <p:nvPr/>
        </p:nvSpPr>
        <p:spPr>
          <a:xfrm xmlns:a="http://schemas.openxmlformats.org/drawingml/2006/main">
            <a:off x="609600" y="4162425"/>
            <a:ext cx="2000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운영</a:t>
            </a:r>
          </a:p>
        </p:txBody>
      </p:sp>
      <p:sp>
        <p:nvSpPr>
          <p:cNvPr id="14" name="">
            <a:extLst xmlns:a="http://schemas.openxmlformats.org/drawingml/2006/main">
              <a:ext uri="{FF2B5EF4-FFF2-40B4-BE49-F238E27FC236}">
                <a16:creationId xmlns:a16="http://schemas.microsoft.com/office/drawing/2014/main" id="{6D45B21E-D3D1-4080-A1C9-FE8A1E409892}"/>
              </a:ext>
            </a:extLst>
          </p:cNvPr>
          <p:cNvSpPr>
            <a:spLocks xmlns:a="http://schemas.openxmlformats.org/drawingml/2006/main" noGrp="1"/>
          </p:cNvSpPr>
          <p:nvPr/>
        </p:nvSpPr>
        <p:spPr>
          <a:xfrm xmlns:a="http://schemas.openxmlformats.org/drawingml/2006/main">
            <a:off x="2800350" y="44100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누가 검토하고 언제 멈출까?">
            <a:extLst xmlns:a="http://schemas.openxmlformats.org/drawingml/2006/main">
              <a:ext uri="{FF2B5EF4-FFF2-40B4-BE49-F238E27FC236}">
                <a16:creationId xmlns:a16="http://schemas.microsoft.com/office/drawing/2014/main" id="{CD593E8F-0BAD-4F51-82FA-983851D35DF0}"/>
              </a:ext>
            </a:extLst>
          </p:cNvPr>
          <p:cNvSpPr>
            <a:spLocks xmlns:a="http://schemas.openxmlformats.org/drawingml/2006/main" noGrp="1"/>
          </p:cNvSpPr>
          <p:nvPr/>
        </p:nvSpPr>
        <p:spPr>
          <a:xfrm xmlns:a="http://schemas.openxmlformats.org/drawingml/2006/main">
            <a:off x="3867150" y="4162425"/>
            <a:ext cx="771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누가 검토하고 언제 멈출까?</a:t>
            </a:r>
          </a:p>
        </p:txBody>
      </p:sp>
      <p:sp>
        <p:nvSpPr>
          <p:cNvPr id="16" name="제품 기능을 활용하고, 내 업무의 검증·검토를 조합한다">
            <a:extLst xmlns:a="http://schemas.openxmlformats.org/drawingml/2006/main">
              <a:ext uri="{FF2B5EF4-FFF2-40B4-BE49-F238E27FC236}">
                <a16:creationId xmlns:a16="http://schemas.microsoft.com/office/drawing/2014/main" id="{682B2798-EB14-43B3-9277-C60036B975A4}"/>
              </a:ext>
            </a:extLst>
          </p:cNvPr>
          <p:cNvSpPr>
            <a:spLocks xmlns:a="http://schemas.openxmlformats.org/drawingml/2006/main" noGrp="1"/>
          </p:cNvSpPr>
          <p:nvPr/>
        </p:nvSpPr>
        <p:spPr>
          <a:xfrm xmlns:a="http://schemas.openxmlformats.org/drawingml/2006/main">
            <a:off x="609600" y="53149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제품 기능을 활용하고, 내 업무의 검증·검토를 조합한다</a:t>
            </a:r>
          </a:p>
        </p:txBody>
      </p:sp>
      <p:sp>
        <p:nvSpPr>
          <p:cNvPr id="17" name="Legacy module connection">
            <a:extLst xmlns:a="http://schemas.openxmlformats.org/drawingml/2006/main">
              <a:ext uri="{FF2B5EF4-FFF2-40B4-BE49-F238E27FC236}">
                <a16:creationId xmlns:a16="http://schemas.microsoft.com/office/drawing/2014/main" id="{ED2DF51F-4B51-4D57-A6BD-03D4639B7B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6634994"/>
      </p:ext>
    </p:extLst>
  </p:cSld>
</p:sld>
</file>

<file path=ppt/slides/slide10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DECEF2ED-96A7-4C99-999C-A7CE3284793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105">
            <a:extLst xmlns:a="http://schemas.openxmlformats.org/drawingml/2006/main">
              <a:ext uri="{FF2B5EF4-FFF2-40B4-BE49-F238E27FC236}">
                <a16:creationId xmlns:a16="http://schemas.microsoft.com/office/drawing/2014/main" id="{76B07620-D1EF-4EC2-B81D-59BC912437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
            <a:extLst xmlns:a="http://schemas.openxmlformats.org/drawingml/2006/main">
              <a:ext uri="{FF2B5EF4-FFF2-40B4-BE49-F238E27FC236}">
                <a16:creationId xmlns:a16="http://schemas.microsoft.com/office/drawing/2014/main" id="{C75BC62A-1642-495E-AD1C-6A3B9D92221B}"/>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D1877452-4827-4FD6-B1A0-2B366AAAD42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1017CCBA-6E8B-4D17-B2D9-9E6BB42A9A7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F1E347D6-78AB-4D8C-9554-3A4DB25D778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599AB86-3CB0-4797-A35F-B863A822C2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902978018"/>
      </p:ext>
    </p:extLst>
  </p:cSld>
</p:sld>
</file>

<file path=ppt/slides/slide10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5 · 전체 여정의 의미">
            <a:extLst xmlns:a="http://schemas.openxmlformats.org/drawingml/2006/main">
              <a:ext uri="{FF2B5EF4-FFF2-40B4-BE49-F238E27FC236}">
                <a16:creationId xmlns:a16="http://schemas.microsoft.com/office/drawing/2014/main" id="{3B8A042F-07CF-4A4F-9DD5-4EA68A9FAB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여정의 의미</a:t>
            </a:r>
          </a:p>
        </p:txBody>
      </p:sp>
      <p:sp>
        <p:nvSpPr>
          <p:cNvPr id="2" name="S106">
            <a:extLst xmlns:a="http://schemas.openxmlformats.org/drawingml/2006/main">
              <a:ext uri="{FF2B5EF4-FFF2-40B4-BE49-F238E27FC236}">
                <a16:creationId xmlns:a16="http://schemas.microsoft.com/office/drawing/2014/main" id="{B2A28520-A890-4B22-BB8E-F6C1C51FA45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AI에게 맡기는 범위가 넓어졌다">
            <a:extLst xmlns:a="http://schemas.openxmlformats.org/drawingml/2006/main">
              <a:ext uri="{FF2B5EF4-FFF2-40B4-BE49-F238E27FC236}">
                <a16:creationId xmlns:a16="http://schemas.microsoft.com/office/drawing/2014/main" id="{1334A17A-5E32-4C7D-BC73-4408F5C5DE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맡기는 범위가 넓어졌다</a:t>
            </a:r>
          </a:p>
        </p:txBody>
      </p:sp>
      <p:sp>
        <p:nvSpPr>
          <p:cNvPr id="4" name="">
            <a:extLst xmlns:a="http://schemas.openxmlformats.org/drawingml/2006/main">
              <a:ext uri="{FF2B5EF4-FFF2-40B4-BE49-F238E27FC236}">
                <a16:creationId xmlns:a16="http://schemas.microsoft.com/office/drawing/2014/main" id="{C64E9A4F-C1DA-436B-8179-D18C51895CC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질문에 답하는 것에서, 기준에 따라 작업을 이어가는 방식으로">
            <a:extLst xmlns:a="http://schemas.openxmlformats.org/drawingml/2006/main">
              <a:ext uri="{FF2B5EF4-FFF2-40B4-BE49-F238E27FC236}">
                <a16:creationId xmlns:a16="http://schemas.microsoft.com/office/drawing/2014/main" id="{DF3FEEFA-7FE9-4635-A733-149D5C14856E}"/>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질문에 답하는 것에서, 기준에 따라 작업을 이어가는 방식으로</a:t>
            </a:r>
          </a:p>
        </p:txBody>
      </p:sp>
      <p:sp>
        <p:nvSpPr>
          <p:cNvPr id="8" name="">
            <a:extLst xmlns:a="http://schemas.openxmlformats.org/drawingml/2006/main">
              <a:ext uri="{FF2B5EF4-FFF2-40B4-BE49-F238E27FC236}">
                <a16:creationId xmlns:a16="http://schemas.microsoft.com/office/drawing/2014/main" id="{1DAD4EF7-6B1E-4A40-89D7-EA0B3567E3E0}"/>
              </a:ext>
            </a:extLst>
          </p:cNvPr>
          <p:cNvSpPr>
            <a:spLocks xmlns:a="http://schemas.openxmlformats.org/drawingml/2006/main" noGrp="1"/>
          </p:cNvSpPr>
          <p:nvPr/>
        </p:nvSpPr>
        <p:spPr>
          <a:xfrm xmlns:a="http://schemas.openxmlformats.org/drawingml/2006/main">
            <a:off x="6096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Chatbot">
            <a:extLst xmlns:a="http://schemas.openxmlformats.org/drawingml/2006/main">
              <a:ext uri="{FF2B5EF4-FFF2-40B4-BE49-F238E27FC236}">
                <a16:creationId xmlns:a16="http://schemas.microsoft.com/office/drawing/2014/main" id="{7040B7B4-68F3-4C95-BC25-B491FB8AFF0A}"/>
              </a:ext>
            </a:extLst>
          </p:cNvPr>
          <p:cNvSpPr>
            <a:spLocks xmlns:a="http://schemas.openxmlformats.org/drawingml/2006/main" noGrp="1"/>
          </p:cNvSpPr>
          <p:nvPr/>
        </p:nvSpPr>
        <p:spPr>
          <a:xfrm xmlns:a="http://schemas.openxmlformats.org/drawingml/2006/main">
            <a:off x="6096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0" name="질문과 답변">
            <a:extLst xmlns:a="http://schemas.openxmlformats.org/drawingml/2006/main">
              <a:ext uri="{FF2B5EF4-FFF2-40B4-BE49-F238E27FC236}">
                <a16:creationId xmlns:a16="http://schemas.microsoft.com/office/drawing/2014/main" id="{282E4FD5-47FB-4B42-BB8C-EE29F3E7F674}"/>
              </a:ext>
            </a:extLst>
          </p:cNvPr>
          <p:cNvSpPr>
            <a:spLocks xmlns:a="http://schemas.openxmlformats.org/drawingml/2006/main" noGrp="1"/>
          </p:cNvSpPr>
          <p:nvPr/>
        </p:nvSpPr>
        <p:spPr>
          <a:xfrm xmlns:a="http://schemas.openxmlformats.org/drawingml/2006/main">
            <a:off x="6096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질문과 답변</a:t>
            </a:r>
          </a:p>
        </p:txBody>
      </p:sp>
      <p:cxnSp>
        <p:nvCxnSpPr>
          <p:cNvPr id="11" name="">
            <a:extLst xmlns:a="http://schemas.openxmlformats.org/drawingml/2006/main">
              <a:ext uri="{FF2B5EF4-FFF2-40B4-BE49-F238E27FC236}">
                <a16:creationId xmlns:a16="http://schemas.microsoft.com/office/drawing/2014/main" id="{9B7AF675-5A51-4024-BE48-621A0577067F}"/>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E27665FC-0496-4088-9DEC-6076FE448624}"/>
              </a:ext>
            </a:extLst>
          </p:cNvPr>
          <p:cNvSpPr>
            <a:spLocks xmlns:a="http://schemas.openxmlformats.org/drawingml/2006/main" noGrp="1"/>
          </p:cNvSpPr>
          <p:nvPr/>
        </p:nvSpPr>
        <p:spPr>
          <a:xfrm xmlns:a="http://schemas.openxmlformats.org/drawingml/2006/main">
            <a:off x="28575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Prompt">
            <a:extLst xmlns:a="http://schemas.openxmlformats.org/drawingml/2006/main">
              <a:ext uri="{FF2B5EF4-FFF2-40B4-BE49-F238E27FC236}">
                <a16:creationId xmlns:a16="http://schemas.microsoft.com/office/drawing/2014/main" id="{C7C7A0CE-E7BF-4719-8F69-A2447157E9B7}"/>
              </a:ext>
            </a:extLst>
          </p:cNvPr>
          <p:cNvSpPr>
            <a:spLocks xmlns:a="http://schemas.openxmlformats.org/drawingml/2006/main" noGrp="1"/>
          </p:cNvSpPr>
          <p:nvPr/>
        </p:nvSpPr>
        <p:spPr>
          <a:xfrm xmlns:a="http://schemas.openxmlformats.org/drawingml/2006/main">
            <a:off x="28575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4" name="목표와 제약">
            <a:extLst xmlns:a="http://schemas.openxmlformats.org/drawingml/2006/main">
              <a:ext uri="{FF2B5EF4-FFF2-40B4-BE49-F238E27FC236}">
                <a16:creationId xmlns:a16="http://schemas.microsoft.com/office/drawing/2014/main" id="{2C240A64-1955-4CA1-87D0-8C91A38C814A}"/>
              </a:ext>
            </a:extLst>
          </p:cNvPr>
          <p:cNvSpPr>
            <a:spLocks xmlns:a="http://schemas.openxmlformats.org/drawingml/2006/main" noGrp="1"/>
          </p:cNvSpPr>
          <p:nvPr/>
        </p:nvSpPr>
        <p:spPr>
          <a:xfrm xmlns:a="http://schemas.openxmlformats.org/drawingml/2006/main">
            <a:off x="28575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목표와 제약</a:t>
            </a:r>
          </a:p>
        </p:txBody>
      </p:sp>
      <p:cxnSp>
        <p:nvCxnSpPr>
          <p:cNvPr id="15" name="">
            <a:extLst xmlns:a="http://schemas.openxmlformats.org/drawingml/2006/main">
              <a:ext uri="{FF2B5EF4-FFF2-40B4-BE49-F238E27FC236}">
                <a16:creationId xmlns:a16="http://schemas.microsoft.com/office/drawing/2014/main" id="{0001D547-3C6B-474B-98D3-F8C919D6FD24}"/>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B594077A-310B-4F0E-82D4-8CCE0AA0C29F}"/>
              </a:ext>
            </a:extLst>
          </p:cNvPr>
          <p:cNvSpPr>
            <a:spLocks xmlns:a="http://schemas.openxmlformats.org/drawingml/2006/main" noGrp="1"/>
          </p:cNvSpPr>
          <p:nvPr/>
        </p:nvSpPr>
        <p:spPr>
          <a:xfrm xmlns:a="http://schemas.openxmlformats.org/drawingml/2006/main">
            <a:off x="51054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Context">
            <a:extLst xmlns:a="http://schemas.openxmlformats.org/drawingml/2006/main">
              <a:ext uri="{FF2B5EF4-FFF2-40B4-BE49-F238E27FC236}">
                <a16:creationId xmlns:a16="http://schemas.microsoft.com/office/drawing/2014/main" id="{567CF878-9689-4F2B-87EA-DCF13A299656}"/>
              </a:ext>
            </a:extLst>
          </p:cNvPr>
          <p:cNvSpPr>
            <a:spLocks xmlns:a="http://schemas.openxmlformats.org/drawingml/2006/main" noGrp="1"/>
          </p:cNvSpPr>
          <p:nvPr/>
        </p:nvSpPr>
        <p:spPr>
          <a:xfrm xmlns:a="http://schemas.openxmlformats.org/drawingml/2006/main">
            <a:off x="51054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18" name="필요한 정보와&#10;명세">
            <a:extLst xmlns:a="http://schemas.openxmlformats.org/drawingml/2006/main">
              <a:ext uri="{FF2B5EF4-FFF2-40B4-BE49-F238E27FC236}">
                <a16:creationId xmlns:a16="http://schemas.microsoft.com/office/drawing/2014/main" id="{DBBAF6D3-D330-4327-955B-CD3B6B3A4C96}"/>
              </a:ext>
            </a:extLst>
          </p:cNvPr>
          <p:cNvSpPr>
            <a:spLocks xmlns:a="http://schemas.openxmlformats.org/drawingml/2006/main" noGrp="1"/>
          </p:cNvSpPr>
          <p:nvPr/>
        </p:nvSpPr>
        <p:spPr>
          <a:xfrm xmlns:a="http://schemas.openxmlformats.org/drawingml/2006/main">
            <a:off x="51054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필요한 정보와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명세</a:t>
            </a:r>
          </a:p>
        </p:txBody>
      </p:sp>
      <p:cxnSp>
        <p:nvCxnSpPr>
          <p:cNvPr id="19" name="">
            <a:extLst xmlns:a="http://schemas.openxmlformats.org/drawingml/2006/main">
              <a:ext uri="{FF2B5EF4-FFF2-40B4-BE49-F238E27FC236}">
                <a16:creationId xmlns:a16="http://schemas.microsoft.com/office/drawing/2014/main" id="{01FD94FD-8DB9-449A-BFB1-AD3218E12719}"/>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F47E66A-7770-4993-A878-F63033A791CE}"/>
              </a:ext>
            </a:extLst>
          </p:cNvPr>
          <p:cNvSpPr>
            <a:spLocks xmlns:a="http://schemas.openxmlformats.org/drawingml/2006/main" noGrp="1"/>
          </p:cNvSpPr>
          <p:nvPr/>
        </p:nvSpPr>
        <p:spPr>
          <a:xfrm xmlns:a="http://schemas.openxmlformats.org/drawingml/2006/main">
            <a:off x="73533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Harness">
            <a:extLst xmlns:a="http://schemas.openxmlformats.org/drawingml/2006/main">
              <a:ext uri="{FF2B5EF4-FFF2-40B4-BE49-F238E27FC236}">
                <a16:creationId xmlns:a16="http://schemas.microsoft.com/office/drawing/2014/main" id="{EDD910D1-C07C-44A8-A2CF-4351E6A3B87A}"/>
              </a:ext>
            </a:extLst>
          </p:cNvPr>
          <p:cNvSpPr>
            <a:spLocks xmlns:a="http://schemas.openxmlformats.org/drawingml/2006/main" noGrp="1"/>
          </p:cNvSpPr>
          <p:nvPr/>
        </p:nvSpPr>
        <p:spPr>
          <a:xfrm xmlns:a="http://schemas.openxmlformats.org/drawingml/2006/main">
            <a:off x="73533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2" name="수행 방법과&#10;환경">
            <a:extLst xmlns:a="http://schemas.openxmlformats.org/drawingml/2006/main">
              <a:ext uri="{FF2B5EF4-FFF2-40B4-BE49-F238E27FC236}">
                <a16:creationId xmlns:a16="http://schemas.microsoft.com/office/drawing/2014/main" id="{E22F5597-537D-48D0-93D7-F333CD3F87CF}"/>
              </a:ext>
            </a:extLst>
          </p:cNvPr>
          <p:cNvSpPr>
            <a:spLocks xmlns:a="http://schemas.openxmlformats.org/drawingml/2006/main" noGrp="1"/>
          </p:cNvSpPr>
          <p:nvPr/>
        </p:nvSpPr>
        <p:spPr>
          <a:xfrm xmlns:a="http://schemas.openxmlformats.org/drawingml/2006/main">
            <a:off x="73533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방법과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환경</a:t>
            </a:r>
          </a:p>
        </p:txBody>
      </p:sp>
      <p:cxnSp>
        <p:nvCxnSpPr>
          <p:cNvPr id="23" name="">
            <a:extLst xmlns:a="http://schemas.openxmlformats.org/drawingml/2006/main">
              <a:ext uri="{FF2B5EF4-FFF2-40B4-BE49-F238E27FC236}">
                <a16:creationId xmlns:a16="http://schemas.microsoft.com/office/drawing/2014/main" id="{2039BD68-59AB-406B-A289-9C9B52A3F171}"/>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D070B20F-48FC-471E-A624-F2369E8B183D}"/>
              </a:ext>
            </a:extLst>
          </p:cNvPr>
          <p:cNvSpPr>
            <a:spLocks xmlns:a="http://schemas.openxmlformats.org/drawingml/2006/main" noGrp="1"/>
          </p:cNvSpPr>
          <p:nvPr/>
        </p:nvSpPr>
        <p:spPr>
          <a:xfrm xmlns:a="http://schemas.openxmlformats.org/drawingml/2006/main">
            <a:off x="9601200" y="283845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Loop">
            <a:extLst xmlns:a="http://schemas.openxmlformats.org/drawingml/2006/main">
              <a:ext uri="{FF2B5EF4-FFF2-40B4-BE49-F238E27FC236}">
                <a16:creationId xmlns:a16="http://schemas.microsoft.com/office/drawing/2014/main" id="{A63F5B8E-D0EB-47BF-A94B-B5198462322C}"/>
              </a:ext>
            </a:extLst>
          </p:cNvPr>
          <p:cNvSpPr>
            <a:spLocks xmlns:a="http://schemas.openxmlformats.org/drawingml/2006/main" noGrp="1"/>
          </p:cNvSpPr>
          <p:nvPr/>
        </p:nvSpPr>
        <p:spPr>
          <a:xfrm xmlns:a="http://schemas.openxmlformats.org/drawingml/2006/main">
            <a:off x="9601200" y="3076575"/>
            <a:ext cx="198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26" name="검토·수정·재검토">
            <a:extLst xmlns:a="http://schemas.openxmlformats.org/drawingml/2006/main">
              <a:ext uri="{FF2B5EF4-FFF2-40B4-BE49-F238E27FC236}">
                <a16:creationId xmlns:a16="http://schemas.microsoft.com/office/drawing/2014/main" id="{1BE1E9E5-B2AA-4CC8-9802-BC60B6F603CA}"/>
              </a:ext>
            </a:extLst>
          </p:cNvPr>
          <p:cNvSpPr>
            <a:spLocks xmlns:a="http://schemas.openxmlformats.org/drawingml/2006/main" noGrp="1"/>
          </p:cNvSpPr>
          <p:nvPr/>
        </p:nvSpPr>
        <p:spPr>
          <a:xfrm xmlns:a="http://schemas.openxmlformats.org/drawingml/2006/main">
            <a:off x="9601200" y="3876675"/>
            <a:ext cx="19812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검토·수정·재검토</a:t>
            </a:r>
          </a:p>
        </p:txBody>
      </p:sp>
      <p:sp>
        <p:nvSpPr>
          <p:cNvPr id="27" name="한 번의 답변에서, 근거를 확인하며 일을 맡기는 방식으로">
            <a:extLst xmlns:a="http://schemas.openxmlformats.org/drawingml/2006/main">
              <a:ext uri="{FF2B5EF4-FFF2-40B4-BE49-F238E27FC236}">
                <a16:creationId xmlns:a16="http://schemas.microsoft.com/office/drawing/2014/main" id="{A1B9904B-A51E-4C8B-BD87-56FCE14FF903}"/>
              </a:ext>
            </a:extLst>
          </p:cNvPr>
          <p:cNvSpPr>
            <a:spLocks xmlns:a="http://schemas.openxmlformats.org/drawingml/2006/main" noGrp="1"/>
          </p:cNvSpPr>
          <p:nvPr/>
        </p:nvSpPr>
        <p:spPr>
          <a:xfrm xmlns:a="http://schemas.openxmlformats.org/drawingml/2006/main">
            <a:off x="609600" y="5248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번의 답변에서, 근거를 확인하며 일을 맡기는 방식으로</a:t>
            </a:r>
          </a:p>
        </p:txBody>
      </p:sp>
      <p:sp>
        <p:nvSpPr>
          <p:cNvPr id="28" name="Legacy module connection">
            <a:extLst xmlns:a="http://schemas.openxmlformats.org/drawingml/2006/main">
              <a:ext uri="{FF2B5EF4-FFF2-40B4-BE49-F238E27FC236}">
                <a16:creationId xmlns:a16="http://schemas.microsoft.com/office/drawing/2014/main" id="{0823411A-2026-401F-AE62-D9C6F40B7A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2631212"/>
      </p:ext>
    </p:extLst>
  </p:cSld>
</p:sld>
</file>

<file path=ppt/slides/slide10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목표와 피드백이 연결되는 작업">
            <a:extLst xmlns:a="http://schemas.openxmlformats.org/drawingml/2006/main">
              <a:ext uri="{FF2B5EF4-FFF2-40B4-BE49-F238E27FC236}">
                <a16:creationId xmlns:a16="http://schemas.microsoft.com/office/drawing/2014/main" id="{85286088-2EB6-41F0-8D5A-DB68137743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목표와 피드백이 연결되는 작업</a:t>
            </a:r>
          </a:p>
        </p:txBody>
      </p:sp>
      <p:sp>
        <p:nvSpPr>
          <p:cNvPr id="2" name="S107">
            <a:extLst xmlns:a="http://schemas.openxmlformats.org/drawingml/2006/main">
              <a:ext uri="{FF2B5EF4-FFF2-40B4-BE49-F238E27FC236}">
                <a16:creationId xmlns:a16="http://schemas.microsoft.com/office/drawing/2014/main" id="{E049C4A2-E2C8-435D-852F-CEDEA1748F4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작업은 요청부터 검토·수정까지 이어진다">
            <a:extLst xmlns:a="http://schemas.openxmlformats.org/drawingml/2006/main">
              <a:ext uri="{FF2B5EF4-FFF2-40B4-BE49-F238E27FC236}">
                <a16:creationId xmlns:a16="http://schemas.microsoft.com/office/drawing/2014/main" id="{58595375-C493-4459-BE5F-146CB67926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작업은 요청부터 검토·수정까지 이어진다</a:t>
            </a:r>
          </a:p>
        </p:txBody>
      </p:sp>
      <p:sp>
        <p:nvSpPr>
          <p:cNvPr id="4" name="">
            <a:extLst xmlns:a="http://schemas.openxmlformats.org/drawingml/2006/main">
              <a:ext uri="{FF2B5EF4-FFF2-40B4-BE49-F238E27FC236}">
                <a16:creationId xmlns:a16="http://schemas.microsoft.com/office/drawing/2014/main" id="{56B0246E-18F1-4863-A487-CEFE51F5844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목표와 완료 기준을 유지하며, 남은 문제를 다음 수정으로 연결한다">
            <a:extLst xmlns:a="http://schemas.openxmlformats.org/drawingml/2006/main">
              <a:ext uri="{FF2B5EF4-FFF2-40B4-BE49-F238E27FC236}">
                <a16:creationId xmlns:a16="http://schemas.microsoft.com/office/drawing/2014/main" id="{F7AF834B-2409-4CA2-B3D3-8BD7109BCA08}"/>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목표와 완료 기준을 유지하며, 남은 문제를 다음 수정으로 연결한다</a:t>
            </a:r>
          </a:p>
        </p:txBody>
      </p:sp>
      <p:sp>
        <p:nvSpPr>
          <p:cNvPr id="8" name="">
            <a:extLst xmlns:a="http://schemas.openxmlformats.org/drawingml/2006/main">
              <a:ext uri="{FF2B5EF4-FFF2-40B4-BE49-F238E27FC236}">
                <a16:creationId xmlns:a16="http://schemas.microsoft.com/office/drawing/2014/main" id="{1F5E097B-E465-4ED2-89CC-5D22B443618B}"/>
              </a:ext>
            </a:extLst>
          </p:cNvPr>
          <p:cNvSpPr>
            <a:spLocks xmlns:a="http://schemas.openxmlformats.org/drawingml/2006/main" noGrp="1"/>
          </p:cNvSpPr>
          <p:nvPr/>
        </p:nvSpPr>
        <p:spPr>
          <a:xfrm xmlns:a="http://schemas.openxmlformats.org/drawingml/2006/main">
            <a:off x="6096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요청">
            <a:extLst xmlns:a="http://schemas.openxmlformats.org/drawingml/2006/main">
              <a:ext uri="{FF2B5EF4-FFF2-40B4-BE49-F238E27FC236}">
                <a16:creationId xmlns:a16="http://schemas.microsoft.com/office/drawing/2014/main" id="{A34D956D-24DD-4E5F-BCC6-7B9D47DE7D4C}"/>
              </a:ext>
            </a:extLst>
          </p:cNvPr>
          <p:cNvSpPr>
            <a:spLocks xmlns:a="http://schemas.openxmlformats.org/drawingml/2006/main" noGrp="1"/>
          </p:cNvSpPr>
          <p:nvPr/>
        </p:nvSpPr>
        <p:spPr>
          <a:xfrm xmlns:a="http://schemas.openxmlformats.org/drawingml/2006/main">
            <a:off x="6096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요청</a:t>
            </a:r>
          </a:p>
        </p:txBody>
      </p:sp>
      <p:sp>
        <p:nvSpPr>
          <p:cNvPr id="10" name="목표·완료 기준">
            <a:extLst xmlns:a="http://schemas.openxmlformats.org/drawingml/2006/main">
              <a:ext uri="{FF2B5EF4-FFF2-40B4-BE49-F238E27FC236}">
                <a16:creationId xmlns:a16="http://schemas.microsoft.com/office/drawing/2014/main" id="{1486CA28-31EE-4E23-A198-D8EB674FC972}"/>
              </a:ext>
            </a:extLst>
          </p:cNvPr>
          <p:cNvSpPr>
            <a:spLocks xmlns:a="http://schemas.openxmlformats.org/drawingml/2006/main" noGrp="1"/>
          </p:cNvSpPr>
          <p:nvPr/>
        </p:nvSpPr>
        <p:spPr>
          <a:xfrm xmlns:a="http://schemas.openxmlformats.org/drawingml/2006/main">
            <a:off x="6096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목표·완료 기준</a:t>
            </a:r>
          </a:p>
        </p:txBody>
      </p:sp>
      <p:cxnSp>
        <p:nvCxnSpPr>
          <p:cNvPr id="11" name="">
            <a:extLst xmlns:a="http://schemas.openxmlformats.org/drawingml/2006/main">
              <a:ext uri="{FF2B5EF4-FFF2-40B4-BE49-F238E27FC236}">
                <a16:creationId xmlns:a16="http://schemas.microsoft.com/office/drawing/2014/main" id="{93BCDE06-D8CB-4E2F-8A73-FFFA8EC8EB13}"/>
              </a:ext>
            </a:extLst>
          </p:cNvPr>
          <p:cNvCxnSpPr/>
          <p:nvPr/>
        </p:nvCxnSpPr>
        <p:spPr>
          <a:xfrm xmlns:a="http://schemas.openxmlformats.org/drawingml/2006/main">
            <a:off x="26479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3A8E447-5B8A-4ECE-B6E0-F618E370D173}"/>
              </a:ext>
            </a:extLst>
          </p:cNvPr>
          <p:cNvSpPr>
            <a:spLocks xmlns:a="http://schemas.openxmlformats.org/drawingml/2006/main" noGrp="1"/>
          </p:cNvSpPr>
          <p:nvPr/>
        </p:nvSpPr>
        <p:spPr>
          <a:xfrm xmlns:a="http://schemas.openxmlformats.org/drawingml/2006/main">
            <a:off x="28575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조사">
            <a:extLst xmlns:a="http://schemas.openxmlformats.org/drawingml/2006/main">
              <a:ext uri="{FF2B5EF4-FFF2-40B4-BE49-F238E27FC236}">
                <a16:creationId xmlns:a16="http://schemas.microsoft.com/office/drawing/2014/main" id="{7E8F4167-464A-4B48-A2D1-AD362A60F78F}"/>
              </a:ext>
            </a:extLst>
          </p:cNvPr>
          <p:cNvSpPr>
            <a:spLocks xmlns:a="http://schemas.openxmlformats.org/drawingml/2006/main" noGrp="1"/>
          </p:cNvSpPr>
          <p:nvPr/>
        </p:nvSpPr>
        <p:spPr>
          <a:xfrm xmlns:a="http://schemas.openxmlformats.org/drawingml/2006/main">
            <a:off x="28575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조사</a:t>
            </a:r>
          </a:p>
        </p:txBody>
      </p:sp>
      <p:sp>
        <p:nvSpPr>
          <p:cNvPr id="14" name="필요한 자료 찾기">
            <a:extLst xmlns:a="http://schemas.openxmlformats.org/drawingml/2006/main">
              <a:ext uri="{FF2B5EF4-FFF2-40B4-BE49-F238E27FC236}">
                <a16:creationId xmlns:a16="http://schemas.microsoft.com/office/drawing/2014/main" id="{6ADBB28A-A403-4508-B328-140641BB1B43}"/>
              </a:ext>
            </a:extLst>
          </p:cNvPr>
          <p:cNvSpPr>
            <a:spLocks xmlns:a="http://schemas.openxmlformats.org/drawingml/2006/main" noGrp="1"/>
          </p:cNvSpPr>
          <p:nvPr/>
        </p:nvSpPr>
        <p:spPr>
          <a:xfrm xmlns:a="http://schemas.openxmlformats.org/drawingml/2006/main">
            <a:off x="28575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필요한 자료 찾기</a:t>
            </a:r>
          </a:p>
        </p:txBody>
      </p:sp>
      <p:cxnSp>
        <p:nvCxnSpPr>
          <p:cNvPr id="15" name="">
            <a:extLst xmlns:a="http://schemas.openxmlformats.org/drawingml/2006/main">
              <a:ext uri="{FF2B5EF4-FFF2-40B4-BE49-F238E27FC236}">
                <a16:creationId xmlns:a16="http://schemas.microsoft.com/office/drawing/2014/main" id="{8AF4EB52-B6CB-4609-995B-9FFBB78DD319}"/>
              </a:ext>
            </a:extLst>
          </p:cNvPr>
          <p:cNvCxnSpPr/>
          <p:nvPr/>
        </p:nvCxnSpPr>
        <p:spPr>
          <a:xfrm xmlns:a="http://schemas.openxmlformats.org/drawingml/2006/main">
            <a:off x="48958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C571CE61-636E-4028-81EB-0B2A7C65B57C}"/>
              </a:ext>
            </a:extLst>
          </p:cNvPr>
          <p:cNvSpPr>
            <a:spLocks xmlns:a="http://schemas.openxmlformats.org/drawingml/2006/main" noGrp="1"/>
          </p:cNvSpPr>
          <p:nvPr/>
        </p:nvSpPr>
        <p:spPr>
          <a:xfrm xmlns:a="http://schemas.openxmlformats.org/drawingml/2006/main">
            <a:off x="51054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변경">
            <a:extLst xmlns:a="http://schemas.openxmlformats.org/drawingml/2006/main">
              <a:ext uri="{FF2B5EF4-FFF2-40B4-BE49-F238E27FC236}">
                <a16:creationId xmlns:a16="http://schemas.microsoft.com/office/drawing/2014/main" id="{D9300083-7FDE-4F2A-B400-52322C0CD7D5}"/>
              </a:ext>
            </a:extLst>
          </p:cNvPr>
          <p:cNvSpPr>
            <a:spLocks xmlns:a="http://schemas.openxmlformats.org/drawingml/2006/main" noGrp="1"/>
          </p:cNvSpPr>
          <p:nvPr/>
        </p:nvSpPr>
        <p:spPr>
          <a:xfrm xmlns:a="http://schemas.openxmlformats.org/drawingml/2006/main">
            <a:off x="51054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변경</a:t>
            </a:r>
          </a:p>
        </p:txBody>
      </p:sp>
      <p:sp>
        <p:nvSpPr>
          <p:cNvPr id="18" name="정한 범위 수정">
            <a:extLst xmlns:a="http://schemas.openxmlformats.org/drawingml/2006/main">
              <a:ext uri="{FF2B5EF4-FFF2-40B4-BE49-F238E27FC236}">
                <a16:creationId xmlns:a16="http://schemas.microsoft.com/office/drawing/2014/main" id="{1BA6B802-447A-4CF6-AA2B-1532A0A96867}"/>
              </a:ext>
            </a:extLst>
          </p:cNvPr>
          <p:cNvSpPr>
            <a:spLocks xmlns:a="http://schemas.openxmlformats.org/drawingml/2006/main" noGrp="1"/>
          </p:cNvSpPr>
          <p:nvPr/>
        </p:nvSpPr>
        <p:spPr>
          <a:xfrm xmlns:a="http://schemas.openxmlformats.org/drawingml/2006/main">
            <a:off x="51054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정한 범위 수정</a:t>
            </a:r>
          </a:p>
        </p:txBody>
      </p:sp>
      <p:cxnSp>
        <p:nvCxnSpPr>
          <p:cNvPr id="19" name="">
            <a:extLst xmlns:a="http://schemas.openxmlformats.org/drawingml/2006/main">
              <a:ext uri="{FF2B5EF4-FFF2-40B4-BE49-F238E27FC236}">
                <a16:creationId xmlns:a16="http://schemas.microsoft.com/office/drawing/2014/main" id="{3E98C9F8-E342-4C88-8948-1B57A924CDEC}"/>
              </a:ext>
            </a:extLst>
          </p:cNvPr>
          <p:cNvCxnSpPr/>
          <p:nvPr/>
        </p:nvCxnSpPr>
        <p:spPr>
          <a:xfrm xmlns:a="http://schemas.openxmlformats.org/drawingml/2006/main">
            <a:off x="71437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A5620E37-F35E-4A5A-812E-06ED3C7D2413}"/>
              </a:ext>
            </a:extLst>
          </p:cNvPr>
          <p:cNvSpPr>
            <a:spLocks xmlns:a="http://schemas.openxmlformats.org/drawingml/2006/main" noGrp="1"/>
          </p:cNvSpPr>
          <p:nvPr/>
        </p:nvSpPr>
        <p:spPr>
          <a:xfrm xmlns:a="http://schemas.openxmlformats.org/drawingml/2006/main">
            <a:off x="73533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확인">
            <a:extLst xmlns:a="http://schemas.openxmlformats.org/drawingml/2006/main">
              <a:ext uri="{FF2B5EF4-FFF2-40B4-BE49-F238E27FC236}">
                <a16:creationId xmlns:a16="http://schemas.microsoft.com/office/drawing/2014/main" id="{533B1A94-7B68-4F05-AA3B-B2CA30316028}"/>
              </a:ext>
            </a:extLst>
          </p:cNvPr>
          <p:cNvSpPr>
            <a:spLocks xmlns:a="http://schemas.openxmlformats.org/drawingml/2006/main" noGrp="1"/>
          </p:cNvSpPr>
          <p:nvPr/>
        </p:nvSpPr>
        <p:spPr>
          <a:xfrm xmlns:a="http://schemas.openxmlformats.org/drawingml/2006/main">
            <a:off x="73533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확인</a:t>
            </a:r>
          </a:p>
        </p:txBody>
      </p:sp>
      <p:sp>
        <p:nvSpPr>
          <p:cNvPr id="22" name="테스트와 검토">
            <a:extLst xmlns:a="http://schemas.openxmlformats.org/drawingml/2006/main">
              <a:ext uri="{FF2B5EF4-FFF2-40B4-BE49-F238E27FC236}">
                <a16:creationId xmlns:a16="http://schemas.microsoft.com/office/drawing/2014/main" id="{5A974587-77FE-49E8-B2E4-2230DFB7EF98}"/>
              </a:ext>
            </a:extLst>
          </p:cNvPr>
          <p:cNvSpPr>
            <a:spLocks xmlns:a="http://schemas.openxmlformats.org/drawingml/2006/main" noGrp="1"/>
          </p:cNvSpPr>
          <p:nvPr/>
        </p:nvSpPr>
        <p:spPr>
          <a:xfrm xmlns:a="http://schemas.openxmlformats.org/drawingml/2006/main">
            <a:off x="73533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테스트와 검토</a:t>
            </a:r>
          </a:p>
        </p:txBody>
      </p:sp>
      <p:cxnSp>
        <p:nvCxnSpPr>
          <p:cNvPr id="23" name="">
            <a:extLst xmlns:a="http://schemas.openxmlformats.org/drawingml/2006/main">
              <a:ext uri="{FF2B5EF4-FFF2-40B4-BE49-F238E27FC236}">
                <a16:creationId xmlns:a16="http://schemas.microsoft.com/office/drawing/2014/main" id="{A7C31FF9-0627-4EFE-8CB8-F9E5EBB794B3}"/>
              </a:ext>
            </a:extLst>
          </p:cNvPr>
          <p:cNvCxnSpPr/>
          <p:nvPr/>
        </p:nvCxnSpPr>
        <p:spPr>
          <a:xfrm xmlns:a="http://schemas.openxmlformats.org/drawingml/2006/main">
            <a:off x="9391650" y="327660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
            <a:extLst xmlns:a="http://schemas.openxmlformats.org/drawingml/2006/main">
              <a:ext uri="{FF2B5EF4-FFF2-40B4-BE49-F238E27FC236}">
                <a16:creationId xmlns:a16="http://schemas.microsoft.com/office/drawing/2014/main" id="{7C52DB90-9DE2-4D36-BE80-1CA34B90EA7A}"/>
              </a:ext>
            </a:extLst>
          </p:cNvPr>
          <p:cNvSpPr>
            <a:spLocks xmlns:a="http://schemas.openxmlformats.org/drawingml/2006/main" noGrp="1"/>
          </p:cNvSpPr>
          <p:nvPr/>
        </p:nvSpPr>
        <p:spPr>
          <a:xfrm xmlns:a="http://schemas.openxmlformats.org/drawingml/2006/main">
            <a:off x="9601200" y="27813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판단">
            <a:extLst xmlns:a="http://schemas.openxmlformats.org/drawingml/2006/main">
              <a:ext uri="{FF2B5EF4-FFF2-40B4-BE49-F238E27FC236}">
                <a16:creationId xmlns:a16="http://schemas.microsoft.com/office/drawing/2014/main" id="{3977EDF5-BA9C-40D0-A326-9112B87133D9}"/>
              </a:ext>
            </a:extLst>
          </p:cNvPr>
          <p:cNvSpPr>
            <a:spLocks xmlns:a="http://schemas.openxmlformats.org/drawingml/2006/main" noGrp="1"/>
          </p:cNvSpPr>
          <p:nvPr/>
        </p:nvSpPr>
        <p:spPr>
          <a:xfrm xmlns:a="http://schemas.openxmlformats.org/drawingml/2006/main">
            <a:off x="9601200" y="2990850"/>
            <a:ext cx="1981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판단</a:t>
            </a:r>
          </a:p>
        </p:txBody>
      </p:sp>
      <p:sp>
        <p:nvSpPr>
          <p:cNvPr id="26" name="완료·수정·중단">
            <a:extLst xmlns:a="http://schemas.openxmlformats.org/drawingml/2006/main">
              <a:ext uri="{FF2B5EF4-FFF2-40B4-BE49-F238E27FC236}">
                <a16:creationId xmlns:a16="http://schemas.microsoft.com/office/drawing/2014/main" id="{EABC5C45-A606-4128-9040-8A5197E605E1}"/>
              </a:ext>
            </a:extLst>
          </p:cNvPr>
          <p:cNvSpPr>
            <a:spLocks xmlns:a="http://schemas.openxmlformats.org/drawingml/2006/main" noGrp="1"/>
          </p:cNvSpPr>
          <p:nvPr/>
        </p:nvSpPr>
        <p:spPr>
          <a:xfrm xmlns:a="http://schemas.openxmlformats.org/drawingml/2006/main">
            <a:off x="9601200" y="3695700"/>
            <a:ext cx="1981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완료·수정·중단</a:t>
            </a:r>
          </a:p>
        </p:txBody>
      </p:sp>
      <p:sp>
        <p:nvSpPr>
          <p:cNvPr id="27" name="">
            <a:extLst xmlns:a="http://schemas.openxmlformats.org/drawingml/2006/main">
              <a:ext uri="{FF2B5EF4-FFF2-40B4-BE49-F238E27FC236}">
                <a16:creationId xmlns:a16="http://schemas.microsoft.com/office/drawing/2014/main" id="{11CB1B6A-932D-4F5F-930C-2437393BCE19}"/>
              </a:ext>
            </a:extLst>
          </p:cNvPr>
          <p:cNvSpPr>
            <a:spLocks xmlns:a="http://schemas.openxmlformats.org/drawingml/2006/main" noGrp="1"/>
          </p:cNvSpPr>
          <p:nvPr/>
        </p:nvSpPr>
        <p:spPr>
          <a:xfrm xmlns:a="http://schemas.openxmlformats.org/drawingml/2006/main">
            <a:off x="6096000" y="4924425"/>
            <a:ext cx="449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8" name="">
            <a:extLst xmlns:a="http://schemas.openxmlformats.org/drawingml/2006/main">
              <a:ext uri="{FF2B5EF4-FFF2-40B4-BE49-F238E27FC236}">
                <a16:creationId xmlns:a16="http://schemas.microsoft.com/office/drawing/2014/main" id="{4CED8B9B-7D05-4D74-90C9-829F539C2CE6}"/>
              </a:ext>
            </a:extLst>
          </p:cNvPr>
          <p:cNvSpPr>
            <a:spLocks xmlns:a="http://schemas.openxmlformats.org/drawingml/2006/main" noGrp="1"/>
          </p:cNvSpPr>
          <p:nvPr/>
        </p:nvSpPr>
        <p:spPr>
          <a:xfrm xmlns:a="http://schemas.openxmlformats.org/drawingml/2006/main">
            <a:off x="10591800" y="4314825"/>
            <a:ext cx="0" cy="609600"/>
          </a:xfrm>
          <a:prstGeom xmlns:a="http://schemas.openxmlformats.org/drawingml/2006/main" prst="line">
            <a:avLst/>
          </a:prstGeom>
          <a:ln xmlns:a="http://schemas.openxmlformats.org/drawingml/2006/main" w="23813">
            <a:solidFill>
              <a:srgbClr val="0B6172"/>
            </a:solidFill>
          </a:ln>
        </p:spPr>
      </p:sp>
      <p:cxnSp>
        <p:nvCxnSpPr>
          <p:cNvPr id="29" name="">
            <a:extLst xmlns:a="http://schemas.openxmlformats.org/drawingml/2006/main">
              <a:ext uri="{FF2B5EF4-FFF2-40B4-BE49-F238E27FC236}">
                <a16:creationId xmlns:a16="http://schemas.microsoft.com/office/drawing/2014/main" id="{27D43F10-E460-49F2-B5DA-938112EAA938}"/>
              </a:ext>
            </a:extLst>
          </p:cNvPr>
          <p:cNvCxnSpPr/>
          <p:nvPr/>
        </p:nvCxnSpPr>
        <p:spPr>
          <a:xfrm xmlns:a="http://schemas.openxmlformats.org/drawingml/2006/main">
            <a:off x="6096000" y="4314825"/>
            <a:ext cx="0" cy="6096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0" name="남은 지적과 근거를 다음 수정에 전달">
            <a:extLst xmlns:a="http://schemas.openxmlformats.org/drawingml/2006/main">
              <a:ext uri="{FF2B5EF4-FFF2-40B4-BE49-F238E27FC236}">
                <a16:creationId xmlns:a16="http://schemas.microsoft.com/office/drawing/2014/main" id="{EA0BF241-E63C-4EC9-98C3-EE225490CAD9}"/>
              </a:ext>
            </a:extLst>
          </p:cNvPr>
          <p:cNvSpPr>
            <a:spLocks xmlns:a="http://schemas.openxmlformats.org/drawingml/2006/main" noGrp="1"/>
          </p:cNvSpPr>
          <p:nvPr/>
        </p:nvSpPr>
        <p:spPr>
          <a:xfrm xmlns:a="http://schemas.openxmlformats.org/drawingml/2006/main">
            <a:off x="6343650" y="4448175"/>
            <a:ext cx="5048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지적과 근거를 다음 수정에 전달</a:t>
            </a:r>
          </a:p>
        </p:txBody>
      </p:sp>
      <p:sp>
        <p:nvSpPr>
          <p:cNvPr id="31" name="목표를 충족한 완료와, 검증하지 못한 중단을 구분한다">
            <a:extLst xmlns:a="http://schemas.openxmlformats.org/drawingml/2006/main">
              <a:ext uri="{FF2B5EF4-FFF2-40B4-BE49-F238E27FC236}">
                <a16:creationId xmlns:a16="http://schemas.microsoft.com/office/drawing/2014/main" id="{A9F98C5D-05E6-4A3F-860E-B4C65C15CE61}"/>
              </a:ext>
            </a:extLst>
          </p:cNvPr>
          <p:cNvSpPr>
            <a:spLocks xmlns:a="http://schemas.openxmlformats.org/drawingml/2006/main" noGrp="1"/>
          </p:cNvSpPr>
          <p:nvPr/>
        </p:nvSpPr>
        <p:spPr>
          <a:xfrm xmlns:a="http://schemas.openxmlformats.org/drawingml/2006/main">
            <a:off x="609600" y="52959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목표를 충족한 완료와, 검증하지 못한 중단을 구분한다</a:t>
            </a:r>
          </a:p>
        </p:txBody>
      </p:sp>
      <p:sp>
        <p:nvSpPr>
          <p:cNvPr id="32" name="Legacy module connection">
            <a:extLst xmlns:a="http://schemas.openxmlformats.org/drawingml/2006/main">
              <a:ext uri="{FF2B5EF4-FFF2-40B4-BE49-F238E27FC236}">
                <a16:creationId xmlns:a16="http://schemas.microsoft.com/office/drawing/2014/main" id="{B42F17E7-FE03-408D-9F6A-0C8F0618C8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7480081"/>
      </p:ext>
    </p:extLst>
  </p:cSld>
</p:sld>
</file>

<file path=ppt/slides/slide10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5 · AI가 일하는 조건">
            <a:extLst xmlns:a="http://schemas.openxmlformats.org/drawingml/2006/main">
              <a:ext uri="{FF2B5EF4-FFF2-40B4-BE49-F238E27FC236}">
                <a16:creationId xmlns:a16="http://schemas.microsoft.com/office/drawing/2014/main" id="{8C88EA2B-E612-41E2-9ED3-7FEB806944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AI가 일하는 조건</a:t>
            </a:r>
          </a:p>
        </p:txBody>
      </p:sp>
      <p:sp>
        <p:nvSpPr>
          <p:cNvPr id="2" name="S108">
            <a:extLst xmlns:a="http://schemas.openxmlformats.org/drawingml/2006/main">
              <a:ext uri="{FF2B5EF4-FFF2-40B4-BE49-F238E27FC236}">
                <a16:creationId xmlns:a16="http://schemas.microsoft.com/office/drawing/2014/main" id="{13BE381B-7E5A-4CD7-9919-93AC74C2E1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작업 흐름에는 정보·절차·도구가 연결된다">
            <a:extLst xmlns:a="http://schemas.openxmlformats.org/drawingml/2006/main">
              <a:ext uri="{FF2B5EF4-FFF2-40B4-BE49-F238E27FC236}">
                <a16:creationId xmlns:a16="http://schemas.microsoft.com/office/drawing/2014/main" id="{07AB9B31-6459-4315-BFBE-E11643E715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작업 흐름에는 정보·절차·도구가 연결된다</a:t>
            </a:r>
          </a:p>
        </p:txBody>
      </p:sp>
      <p:sp>
        <p:nvSpPr>
          <p:cNvPr id="4" name="">
            <a:extLst xmlns:a="http://schemas.openxmlformats.org/drawingml/2006/main">
              <a:ext uri="{FF2B5EF4-FFF2-40B4-BE49-F238E27FC236}">
                <a16:creationId xmlns:a16="http://schemas.microsoft.com/office/drawing/2014/main" id="{FB929122-891B-4AB2-AC71-E339147D9E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Agent의 작업은 주어진 명세·수행 방법·확인 도구와 연결된다">
            <a:extLst xmlns:a="http://schemas.openxmlformats.org/drawingml/2006/main">
              <a:ext uri="{FF2B5EF4-FFF2-40B4-BE49-F238E27FC236}">
                <a16:creationId xmlns:a16="http://schemas.microsoft.com/office/drawing/2014/main" id="{3EA3858D-8EC3-4128-B25E-D7A643ED32F9}"/>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Agent의 작업은 주어진 명세·수행 방법·확인 도구와 연결된다</a:t>
            </a:r>
          </a:p>
        </p:txBody>
      </p:sp>
      <p:sp>
        <p:nvSpPr>
          <p:cNvPr id="8" name="">
            <a:extLst xmlns:a="http://schemas.openxmlformats.org/drawingml/2006/main">
              <a:ext uri="{FF2B5EF4-FFF2-40B4-BE49-F238E27FC236}">
                <a16:creationId xmlns:a16="http://schemas.microsoft.com/office/drawing/2014/main" id="{06F8612B-C628-4AF5-9A39-E1D99CB2E466}"/>
              </a:ext>
            </a:extLst>
          </p:cNvPr>
          <p:cNvSpPr>
            <a:spLocks xmlns:a="http://schemas.openxmlformats.org/drawingml/2006/main" noGrp="1"/>
          </p:cNvSpPr>
          <p:nvPr/>
        </p:nvSpPr>
        <p:spPr>
          <a:xfrm xmlns:a="http://schemas.openxmlformats.org/drawingml/2006/main">
            <a:off x="60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프로젝트 정보">
            <a:extLst xmlns:a="http://schemas.openxmlformats.org/drawingml/2006/main">
              <a:ext uri="{FF2B5EF4-FFF2-40B4-BE49-F238E27FC236}">
                <a16:creationId xmlns:a16="http://schemas.microsoft.com/office/drawing/2014/main" id="{05EC56EB-C45E-4A5C-91D3-4D340A8A84BB}"/>
              </a:ext>
            </a:extLst>
          </p:cNvPr>
          <p:cNvSpPr>
            <a:spLocks xmlns:a="http://schemas.openxmlformats.org/drawingml/2006/main" noGrp="1"/>
          </p:cNvSpPr>
          <p:nvPr/>
        </p:nvSpPr>
        <p:spPr>
          <a:xfrm xmlns:a="http://schemas.openxmlformats.org/drawingml/2006/main">
            <a:off x="60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 정보</a:t>
            </a:r>
          </a:p>
        </p:txBody>
      </p:sp>
      <p:sp>
        <p:nvSpPr>
          <p:cNvPr id="10" name="코드 · 명세 · 프로젝트 지식">
            <a:extLst xmlns:a="http://schemas.openxmlformats.org/drawingml/2006/main">
              <a:ext uri="{FF2B5EF4-FFF2-40B4-BE49-F238E27FC236}">
                <a16:creationId xmlns:a16="http://schemas.microsoft.com/office/drawing/2014/main" id="{B72E7B73-C976-41D0-9479-C2C9E8BAF0EB}"/>
              </a:ext>
            </a:extLst>
          </p:cNvPr>
          <p:cNvSpPr>
            <a:spLocks xmlns:a="http://schemas.openxmlformats.org/drawingml/2006/main" noGrp="1"/>
          </p:cNvSpPr>
          <p:nvPr/>
        </p:nvSpPr>
        <p:spPr>
          <a:xfrm xmlns:a="http://schemas.openxmlformats.org/drawingml/2006/main">
            <a:off x="60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코드 · 명세 · 프로젝트 지식</a:t>
            </a:r>
          </a:p>
        </p:txBody>
      </p:sp>
      <p:sp>
        <p:nvSpPr>
          <p:cNvPr id="11" name="">
            <a:extLst xmlns:a="http://schemas.openxmlformats.org/drawingml/2006/main">
              <a:ext uri="{FF2B5EF4-FFF2-40B4-BE49-F238E27FC236}">
                <a16:creationId xmlns:a16="http://schemas.microsoft.com/office/drawing/2014/main" id="{F9499B88-508C-4E05-B483-6656922DCC5F}"/>
              </a:ext>
            </a:extLst>
          </p:cNvPr>
          <p:cNvSpPr>
            <a:spLocks xmlns:a="http://schemas.openxmlformats.org/drawingml/2006/main" noGrp="1"/>
          </p:cNvSpPr>
          <p:nvPr/>
        </p:nvSpPr>
        <p:spPr>
          <a:xfrm xmlns:a="http://schemas.openxmlformats.org/drawingml/2006/main">
            <a:off x="2286000" y="3829050"/>
            <a:ext cx="0" cy="247650"/>
          </a:xfrm>
          <a:prstGeom xmlns:a="http://schemas.openxmlformats.org/drawingml/2006/main" prst="line">
            <a:avLst/>
          </a:prstGeom>
          <a:ln xmlns:a="http://schemas.openxmlformats.org/drawingml/2006/main" w="23813">
            <a:solidFill>
              <a:srgbClr val="0B6172"/>
            </a:solidFill>
          </a:ln>
        </p:spPr>
      </p:sp>
      <p:sp>
        <p:nvSpPr>
          <p:cNvPr id="12" name="">
            <a:extLst xmlns:a="http://schemas.openxmlformats.org/drawingml/2006/main">
              <a:ext uri="{FF2B5EF4-FFF2-40B4-BE49-F238E27FC236}">
                <a16:creationId xmlns:a16="http://schemas.microsoft.com/office/drawing/2014/main" id="{F89680FD-6ABB-4639-BE00-015E99EA4438}"/>
              </a:ext>
            </a:extLst>
          </p:cNvPr>
          <p:cNvSpPr>
            <a:spLocks xmlns:a="http://schemas.openxmlformats.org/drawingml/2006/main" noGrp="1"/>
          </p:cNvSpPr>
          <p:nvPr/>
        </p:nvSpPr>
        <p:spPr>
          <a:xfrm xmlns:a="http://schemas.openxmlformats.org/drawingml/2006/main">
            <a:off x="441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재사용할 수행 방법">
            <a:extLst xmlns:a="http://schemas.openxmlformats.org/drawingml/2006/main">
              <a:ext uri="{FF2B5EF4-FFF2-40B4-BE49-F238E27FC236}">
                <a16:creationId xmlns:a16="http://schemas.microsoft.com/office/drawing/2014/main" id="{D8B2AB35-DB66-4817-9366-D2CC3C50C39A}"/>
              </a:ext>
            </a:extLst>
          </p:cNvPr>
          <p:cNvSpPr>
            <a:spLocks xmlns:a="http://schemas.openxmlformats.org/drawingml/2006/main" noGrp="1"/>
          </p:cNvSpPr>
          <p:nvPr/>
        </p:nvSpPr>
        <p:spPr>
          <a:xfrm xmlns:a="http://schemas.openxmlformats.org/drawingml/2006/main">
            <a:off x="441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수행 방법</a:t>
            </a:r>
          </a:p>
        </p:txBody>
      </p:sp>
      <p:sp>
        <p:nvSpPr>
          <p:cNvPr id="14" name="조사 · 변경 · 검증 순서">
            <a:extLst xmlns:a="http://schemas.openxmlformats.org/drawingml/2006/main">
              <a:ext uri="{FF2B5EF4-FFF2-40B4-BE49-F238E27FC236}">
                <a16:creationId xmlns:a16="http://schemas.microsoft.com/office/drawing/2014/main" id="{4EDC5BFA-1243-49D5-ACDC-B9B905502652}"/>
              </a:ext>
            </a:extLst>
          </p:cNvPr>
          <p:cNvSpPr>
            <a:spLocks xmlns:a="http://schemas.openxmlformats.org/drawingml/2006/main" noGrp="1"/>
          </p:cNvSpPr>
          <p:nvPr/>
        </p:nvSpPr>
        <p:spPr>
          <a:xfrm xmlns:a="http://schemas.openxmlformats.org/drawingml/2006/main">
            <a:off x="441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 순서</a:t>
            </a:r>
          </a:p>
        </p:txBody>
      </p:sp>
      <p:sp>
        <p:nvSpPr>
          <p:cNvPr id="15" name="">
            <a:extLst xmlns:a="http://schemas.openxmlformats.org/drawingml/2006/main">
              <a:ext uri="{FF2B5EF4-FFF2-40B4-BE49-F238E27FC236}">
                <a16:creationId xmlns:a16="http://schemas.microsoft.com/office/drawing/2014/main" id="{EF211687-DCCC-4C25-A5AE-62A15C932CE5}"/>
              </a:ext>
            </a:extLst>
          </p:cNvPr>
          <p:cNvSpPr>
            <a:spLocks xmlns:a="http://schemas.openxmlformats.org/drawingml/2006/main" noGrp="1"/>
          </p:cNvSpPr>
          <p:nvPr/>
        </p:nvSpPr>
        <p:spPr>
          <a:xfrm xmlns:a="http://schemas.openxmlformats.org/drawingml/2006/main">
            <a:off x="8229600" y="26003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도구">
            <a:extLst xmlns:a="http://schemas.openxmlformats.org/drawingml/2006/main">
              <a:ext uri="{FF2B5EF4-FFF2-40B4-BE49-F238E27FC236}">
                <a16:creationId xmlns:a16="http://schemas.microsoft.com/office/drawing/2014/main" id="{C6653433-28D1-4780-8C26-87564A08FAAB}"/>
              </a:ext>
            </a:extLst>
          </p:cNvPr>
          <p:cNvSpPr>
            <a:spLocks xmlns:a="http://schemas.openxmlformats.org/drawingml/2006/main" noGrp="1"/>
          </p:cNvSpPr>
          <p:nvPr/>
        </p:nvSpPr>
        <p:spPr>
          <a:xfrm xmlns:a="http://schemas.openxmlformats.org/drawingml/2006/main">
            <a:off x="8229600" y="27717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도구</a:t>
            </a:r>
          </a:p>
        </p:txBody>
      </p:sp>
      <p:sp>
        <p:nvSpPr>
          <p:cNvPr id="17" name="테스트 · 측정 · 결과 비교">
            <a:extLst xmlns:a="http://schemas.openxmlformats.org/drawingml/2006/main">
              <a:ext uri="{FF2B5EF4-FFF2-40B4-BE49-F238E27FC236}">
                <a16:creationId xmlns:a16="http://schemas.microsoft.com/office/drawing/2014/main" id="{1DB6972F-0A05-4E1E-B63B-B704EA2C150C}"/>
              </a:ext>
            </a:extLst>
          </p:cNvPr>
          <p:cNvSpPr>
            <a:spLocks xmlns:a="http://schemas.openxmlformats.org/drawingml/2006/main" noGrp="1"/>
          </p:cNvSpPr>
          <p:nvPr/>
        </p:nvSpPr>
        <p:spPr>
          <a:xfrm xmlns:a="http://schemas.openxmlformats.org/drawingml/2006/main">
            <a:off x="8229600" y="32956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 결과 비교</a:t>
            </a:r>
          </a:p>
        </p:txBody>
      </p:sp>
      <p:sp>
        <p:nvSpPr>
          <p:cNvPr id="18" name="">
            <a:extLst xmlns:a="http://schemas.openxmlformats.org/drawingml/2006/main">
              <a:ext uri="{FF2B5EF4-FFF2-40B4-BE49-F238E27FC236}">
                <a16:creationId xmlns:a16="http://schemas.microsoft.com/office/drawing/2014/main" id="{1ADCB255-4B39-4168-99FA-CDD9F8D29615}"/>
              </a:ext>
            </a:extLst>
          </p:cNvPr>
          <p:cNvSpPr>
            <a:spLocks xmlns:a="http://schemas.openxmlformats.org/drawingml/2006/main" noGrp="1"/>
          </p:cNvSpPr>
          <p:nvPr/>
        </p:nvSpPr>
        <p:spPr>
          <a:xfrm xmlns:a="http://schemas.openxmlformats.org/drawingml/2006/main">
            <a:off x="9906000" y="3829050"/>
            <a:ext cx="0" cy="2476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5B15085C-765C-49D7-9ED2-60C410EE592E}"/>
              </a:ext>
            </a:extLst>
          </p:cNvPr>
          <p:cNvSpPr>
            <a:spLocks xmlns:a="http://schemas.openxmlformats.org/drawingml/2006/main" noGrp="1"/>
          </p:cNvSpPr>
          <p:nvPr/>
        </p:nvSpPr>
        <p:spPr>
          <a:xfrm xmlns:a="http://schemas.openxmlformats.org/drawingml/2006/main">
            <a:off x="2286000" y="407670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BCAC0637-8364-488D-9870-2647A972C5FA}"/>
              </a:ext>
            </a:extLst>
          </p:cNvPr>
          <p:cNvCxnSpPr/>
          <p:nvPr/>
        </p:nvCxnSpPr>
        <p:spPr>
          <a:xfrm xmlns:a="http://schemas.openxmlformats.org/drawingml/2006/main">
            <a:off x="6096000" y="3781425"/>
            <a:ext cx="0" cy="6000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E5517B83-C98F-4ABF-B0D3-74A6E9952848}"/>
              </a:ext>
            </a:extLst>
          </p:cNvPr>
          <p:cNvSpPr>
            <a:spLocks xmlns:a="http://schemas.openxmlformats.org/drawingml/2006/main" noGrp="1"/>
          </p:cNvSpPr>
          <p:nvPr/>
        </p:nvSpPr>
        <p:spPr>
          <a:xfrm xmlns:a="http://schemas.openxmlformats.org/drawingml/2006/main">
            <a:off x="3962400" y="4381500"/>
            <a:ext cx="42672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조사·변경·검토하는 Agent">
            <a:extLst xmlns:a="http://schemas.openxmlformats.org/drawingml/2006/main">
              <a:ext uri="{FF2B5EF4-FFF2-40B4-BE49-F238E27FC236}">
                <a16:creationId xmlns:a16="http://schemas.microsoft.com/office/drawing/2014/main" id="{927FB579-2D09-4432-BB0C-E1FE9B9FB219}"/>
              </a:ext>
            </a:extLst>
          </p:cNvPr>
          <p:cNvSpPr>
            <a:spLocks xmlns:a="http://schemas.openxmlformats.org/drawingml/2006/main" noGrp="1"/>
          </p:cNvSpPr>
          <p:nvPr/>
        </p:nvSpPr>
        <p:spPr>
          <a:xfrm xmlns:a="http://schemas.openxmlformats.org/drawingml/2006/main">
            <a:off x="4152900" y="4495800"/>
            <a:ext cx="3886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조사·변경·검토하는 Agent</a:t>
            </a:r>
          </a:p>
        </p:txBody>
      </p:sp>
      <p:sp>
        <p:nvSpPr>
          <p:cNvPr id="23" name="결과로 남길 것: 변경 내용 · 확인 근거 · 미해결 항목">
            <a:extLst xmlns:a="http://schemas.openxmlformats.org/drawingml/2006/main">
              <a:ext uri="{FF2B5EF4-FFF2-40B4-BE49-F238E27FC236}">
                <a16:creationId xmlns:a16="http://schemas.microsoft.com/office/drawing/2014/main" id="{A95D0918-0361-4073-B6AD-735DEA5B7422}"/>
              </a:ext>
            </a:extLst>
          </p:cNvPr>
          <p:cNvSpPr>
            <a:spLocks xmlns:a="http://schemas.openxmlformats.org/drawingml/2006/main" noGrp="1"/>
          </p:cNvSpPr>
          <p:nvPr/>
        </p:nvSpPr>
        <p:spPr>
          <a:xfrm xmlns:a="http://schemas.openxmlformats.org/drawingml/2006/main">
            <a:off x="609600" y="5276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결과로 남길 것: 변경 내용 · 확인 근거 · 미해결 항목</a:t>
            </a:r>
          </a:p>
        </p:txBody>
      </p:sp>
      <p:sp>
        <p:nvSpPr>
          <p:cNvPr id="24" name="Legacy module connection">
            <a:extLst xmlns:a="http://schemas.openxmlformats.org/drawingml/2006/main">
              <a:ext uri="{FF2B5EF4-FFF2-40B4-BE49-F238E27FC236}">
                <a16:creationId xmlns:a16="http://schemas.microsoft.com/office/drawing/2014/main" id="{2E16B966-62E2-4D2C-85B5-7AAB63048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종합</a:t>
            </a:r>
          </a:p>
        </p:txBody>
      </p:sp>
    </p:spTree>
    <p:extLst>
      <p:ext uri="{BB962C8B-B14F-4D97-AF65-F5344CB8AC3E}">
        <p14:creationId xmlns:p14="http://schemas.microsoft.com/office/powerpoint/2010/main" val="1397326974"/>
      </p:ext>
    </p:extLst>
  </p:cSld>
</p:sld>
</file>

<file path=ppt/slides/slide10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완료 보고와 수용 판단">
            <a:extLst xmlns:a="http://schemas.openxmlformats.org/drawingml/2006/main">
              <a:ext uri="{FF2B5EF4-FFF2-40B4-BE49-F238E27FC236}">
                <a16:creationId xmlns:a16="http://schemas.microsoft.com/office/drawing/2014/main" id="{7BC4A09B-5DD8-462B-B8C7-204D7AD1C7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완료 보고와 수용 판단</a:t>
            </a:r>
          </a:p>
        </p:txBody>
      </p:sp>
      <p:sp>
        <p:nvSpPr>
          <p:cNvPr id="2" name="S109">
            <a:extLst xmlns:a="http://schemas.openxmlformats.org/drawingml/2006/main">
              <a:ext uri="{FF2B5EF4-FFF2-40B4-BE49-F238E27FC236}">
                <a16:creationId xmlns:a16="http://schemas.microsoft.com/office/drawing/2014/main" id="{D57D1879-B4BF-4C86-AA89-06C8BDE19E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결과를 수용할지는 사람이 판단한다">
            <a:extLst xmlns:a="http://schemas.openxmlformats.org/drawingml/2006/main">
              <a:ext uri="{FF2B5EF4-FFF2-40B4-BE49-F238E27FC236}">
                <a16:creationId xmlns:a16="http://schemas.microsoft.com/office/drawing/2014/main" id="{F4DBE855-CCEB-4901-9051-A5C0A0EF78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80DAEEDE-B0D2-4DEA-801D-95E79AA5FE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 완료 보고 뒤에도, 목표·근거·남은 위험을 확인한다">
            <a:extLst xmlns:a="http://schemas.openxmlformats.org/drawingml/2006/main">
              <a:ext uri="{FF2B5EF4-FFF2-40B4-BE49-F238E27FC236}">
                <a16:creationId xmlns:a16="http://schemas.microsoft.com/office/drawing/2014/main" id="{BE85A14E-655B-4C15-9FD7-4B9502CFA786}"/>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완료 보고 뒤에도, 목표·근거·남은 위험을 확인한다</a:t>
            </a:r>
          </a:p>
        </p:txBody>
      </p:sp>
      <p:sp>
        <p:nvSpPr>
          <p:cNvPr id="8" name="AI의 작업 결과">
            <a:extLst xmlns:a="http://schemas.openxmlformats.org/drawingml/2006/main">
              <a:ext uri="{FF2B5EF4-FFF2-40B4-BE49-F238E27FC236}">
                <a16:creationId xmlns:a16="http://schemas.microsoft.com/office/drawing/2014/main" id="{BF56A914-A171-4CBA-AEC7-7403CDF46157}"/>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8C5763F4-DDA8-4476-B0F9-F139B86169E9}"/>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4CED0F98-49BC-42CC-8FE1-3ECD136C7A75}"/>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B7C0CCE7-6F14-4ECD-BC53-C94C01ABBCCD}"/>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EA4AD46F-5204-4C07-931A-987EF7BA6819}"/>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0A6A33D0-3910-4855-8353-C17FD914D4A3}"/>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2269840-F996-4714-8D31-CB80FAA32B26}"/>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855E2B7C-066A-4889-A21F-8286BD38DCE9}"/>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79939080-CD1E-4D7C-B783-48B9453F0F46}"/>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40D71E02-109A-4C87-9D8A-8D6B7507141E}"/>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B5D54200-6623-472E-9D46-45500C9699C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4D77A7D3-E36E-4E07-9180-088608327CBD}"/>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5EF53662-FDB2-437D-B4FE-8FE459ADB422}"/>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3278BE83-9AE5-4AF2-8540-89BC944D5501}"/>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36881CFF-5B9E-46A9-8FFE-C8F1136F81DB}"/>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7351D950-E7B7-4C85-B24E-0BD6FDD78BC0}"/>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5517926D-4A94-4311-9576-6B219BC98000}"/>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7ABDB20D-EDF7-47DC-B5DD-8B39712D05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52418672"/>
      </p:ext>
    </p:extLst>
  </p:cSld>
</p:sld>
</file>

<file path=ppt/slides/slide110.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AI-Native Development / 이 교육의 관점">
            <a:extLst xmlns:a="http://schemas.openxmlformats.org/drawingml/2006/main">
              <a:ext uri="{FF2B5EF4-FFF2-40B4-BE49-F238E27FC236}">
                <a16:creationId xmlns:a16="http://schemas.microsoft.com/office/drawing/2014/main" id="{28E70CCD-9538-46BC-9CBF-B27D0D3B313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관점</a:t>
            </a:r>
          </a:p>
        </p:txBody>
      </p:sp>
      <p:sp>
        <p:nvSpPr>
          <p:cNvPr id="2" name="S110">
            <a:extLst xmlns:a="http://schemas.openxmlformats.org/drawingml/2006/main">
              <a:ext uri="{FF2B5EF4-FFF2-40B4-BE49-F238E27FC236}">
                <a16:creationId xmlns:a16="http://schemas.microsoft.com/office/drawing/2014/main" id="{183E1EEA-927E-430D-9538-683E6EBE5FD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AI가 일할 조건과 확인 경로를 설계한다">
            <a:extLst xmlns:a="http://schemas.openxmlformats.org/drawingml/2006/main">
              <a:ext uri="{FF2B5EF4-FFF2-40B4-BE49-F238E27FC236}">
                <a16:creationId xmlns:a16="http://schemas.microsoft.com/office/drawing/2014/main" id="{919848CC-02D0-48C8-8D56-CB3EA693EF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868DDA0D-4B9D-44D4-A414-58DC32EDA6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작업을 맡기는 범위와, 수행·검토·수용의 연결을 설계한다">
            <a:extLst xmlns:a="http://schemas.openxmlformats.org/drawingml/2006/main">
              <a:ext uri="{FF2B5EF4-FFF2-40B4-BE49-F238E27FC236}">
                <a16:creationId xmlns:a16="http://schemas.microsoft.com/office/drawing/2014/main" id="{5F3F0D1C-A422-438C-8F34-BB11E8FF8115}"/>
              </a:ext>
            </a:extLst>
          </p:cNvPr>
          <p:cNvSpPr>
            <a:spLocks xmlns:a="http://schemas.openxmlformats.org/drawingml/2006/main" noGrp="1"/>
          </p:cNvSpPr>
          <p:nvPr/>
        </p:nvSpPr>
        <p:spPr>
          <a:xfrm xmlns:a="http://schemas.openxmlformats.org/drawingml/2006/main">
            <a:off x="609600" y="18097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작업을 맡기는 범위와, 수행·검토·수용의 연결을 설계한다</a:t>
            </a:r>
          </a:p>
        </p:txBody>
      </p:sp>
      <p:sp>
        <p:nvSpPr>
          <p:cNvPr id="8" name="">
            <a:extLst xmlns:a="http://schemas.openxmlformats.org/drawingml/2006/main">
              <a:ext uri="{FF2B5EF4-FFF2-40B4-BE49-F238E27FC236}">
                <a16:creationId xmlns:a16="http://schemas.microsoft.com/office/drawing/2014/main" id="{BCE39582-A96C-43AE-818C-1CFE82A1D4B2}"/>
              </a:ext>
            </a:extLst>
          </p:cNvPr>
          <p:cNvSpPr>
            <a:spLocks xmlns:a="http://schemas.openxmlformats.org/drawingml/2006/main" noGrp="1"/>
          </p:cNvSpPr>
          <p:nvPr/>
        </p:nvSpPr>
        <p:spPr>
          <a:xfrm xmlns:a="http://schemas.openxmlformats.org/drawingml/2006/main">
            <a:off x="60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7ABCEC2-E7C4-4ADE-8571-1CD1751CCA4E}"/>
              </a:ext>
            </a:extLst>
          </p:cNvPr>
          <p:cNvSpPr>
            <a:spLocks xmlns:a="http://schemas.openxmlformats.org/drawingml/2006/main" noGrp="1"/>
          </p:cNvSpPr>
          <p:nvPr/>
        </p:nvSpPr>
        <p:spPr>
          <a:xfrm xmlns:a="http://schemas.openxmlformats.org/drawingml/2006/main">
            <a:off x="60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10;완료 기준">
            <a:extLst xmlns:a="http://schemas.openxmlformats.org/drawingml/2006/main">
              <a:ext uri="{FF2B5EF4-FFF2-40B4-BE49-F238E27FC236}">
                <a16:creationId xmlns:a16="http://schemas.microsoft.com/office/drawing/2014/main" id="{477B3844-ED2C-4987-97A7-62DB9263B15D}"/>
              </a:ext>
            </a:extLst>
          </p:cNvPr>
          <p:cNvSpPr>
            <a:spLocks xmlns:a="http://schemas.openxmlformats.org/drawingml/2006/main" noGrp="1"/>
          </p:cNvSpPr>
          <p:nvPr/>
        </p:nvSpPr>
        <p:spPr>
          <a:xfrm xmlns:a="http://schemas.openxmlformats.org/drawingml/2006/main">
            <a:off x="60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완료 기준</a:t>
            </a:r>
          </a:p>
        </p:txBody>
      </p:sp>
      <p:cxnSp>
        <p:nvCxnSpPr>
          <p:cNvPr id="11" name="">
            <a:extLst xmlns:a="http://schemas.openxmlformats.org/drawingml/2006/main">
              <a:ext uri="{FF2B5EF4-FFF2-40B4-BE49-F238E27FC236}">
                <a16:creationId xmlns:a16="http://schemas.microsoft.com/office/drawing/2014/main" id="{25D9700E-77EA-4E33-A658-96A30343209C}"/>
              </a:ext>
            </a:extLst>
          </p:cNvPr>
          <p:cNvCxnSpPr/>
          <p:nvPr/>
        </p:nvCxnSpPr>
        <p:spPr>
          <a:xfrm xmlns:a="http://schemas.openxmlformats.org/drawingml/2006/main">
            <a:off x="404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AEEA15DC-A80A-4BCA-AC58-8DD1D9DE459B}"/>
              </a:ext>
            </a:extLst>
          </p:cNvPr>
          <p:cNvSpPr>
            <a:spLocks xmlns:a="http://schemas.openxmlformats.org/drawingml/2006/main" noGrp="1"/>
          </p:cNvSpPr>
          <p:nvPr/>
        </p:nvSpPr>
        <p:spPr>
          <a:xfrm xmlns:a="http://schemas.openxmlformats.org/drawingml/2006/main">
            <a:off x="441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일할 조건">
            <a:extLst xmlns:a="http://schemas.openxmlformats.org/drawingml/2006/main">
              <a:ext uri="{FF2B5EF4-FFF2-40B4-BE49-F238E27FC236}">
                <a16:creationId xmlns:a16="http://schemas.microsoft.com/office/drawing/2014/main" id="{8256166C-B859-4124-BBD8-648FC5B0D9F2}"/>
              </a:ext>
            </a:extLst>
          </p:cNvPr>
          <p:cNvSpPr>
            <a:spLocks xmlns:a="http://schemas.openxmlformats.org/drawingml/2006/main" noGrp="1"/>
          </p:cNvSpPr>
          <p:nvPr/>
        </p:nvSpPr>
        <p:spPr>
          <a:xfrm xmlns:a="http://schemas.openxmlformats.org/drawingml/2006/main">
            <a:off x="441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4" name="정보·수행 방법&#10;도구·검토 역할">
            <a:extLst xmlns:a="http://schemas.openxmlformats.org/drawingml/2006/main">
              <a:ext uri="{FF2B5EF4-FFF2-40B4-BE49-F238E27FC236}">
                <a16:creationId xmlns:a16="http://schemas.microsoft.com/office/drawing/2014/main" id="{9006B090-2AA2-4EB7-BE08-A83E34EE8AA9}"/>
              </a:ext>
            </a:extLst>
          </p:cNvPr>
          <p:cNvSpPr>
            <a:spLocks xmlns:a="http://schemas.openxmlformats.org/drawingml/2006/main" noGrp="1"/>
          </p:cNvSpPr>
          <p:nvPr/>
        </p:nvSpPr>
        <p:spPr>
          <a:xfrm xmlns:a="http://schemas.openxmlformats.org/drawingml/2006/main">
            <a:off x="441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정보·수행 방법</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도구·검토 역할</a:t>
            </a:r>
          </a:p>
        </p:txBody>
      </p:sp>
      <p:cxnSp>
        <p:nvCxnSpPr>
          <p:cNvPr id="15" name="">
            <a:extLst xmlns:a="http://schemas.openxmlformats.org/drawingml/2006/main">
              <a:ext uri="{FF2B5EF4-FFF2-40B4-BE49-F238E27FC236}">
                <a16:creationId xmlns:a16="http://schemas.microsoft.com/office/drawing/2014/main" id="{B92379BE-46C4-4758-B3F9-3C71AEE0A827}"/>
              </a:ext>
            </a:extLst>
          </p:cNvPr>
          <p:cNvCxnSpPr/>
          <p:nvPr/>
        </p:nvCxnSpPr>
        <p:spPr>
          <a:xfrm xmlns:a="http://schemas.openxmlformats.org/drawingml/2006/main">
            <a:off x="7858125" y="40005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5EDD40F6-44DE-44D5-AF80-CC251BD6FD5A}"/>
              </a:ext>
            </a:extLst>
          </p:cNvPr>
          <p:cNvSpPr>
            <a:spLocks xmlns:a="http://schemas.openxmlformats.org/drawingml/2006/main" noGrp="1"/>
          </p:cNvSpPr>
          <p:nvPr/>
        </p:nvSpPr>
        <p:spPr>
          <a:xfrm xmlns:a="http://schemas.openxmlformats.org/drawingml/2006/main">
            <a:off x="8229600" y="27241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확인과 책임">
            <a:extLst xmlns:a="http://schemas.openxmlformats.org/drawingml/2006/main">
              <a:ext uri="{FF2B5EF4-FFF2-40B4-BE49-F238E27FC236}">
                <a16:creationId xmlns:a16="http://schemas.microsoft.com/office/drawing/2014/main" id="{E41D8737-9F04-4CF2-8103-F951406E3D50}"/>
              </a:ext>
            </a:extLst>
          </p:cNvPr>
          <p:cNvSpPr>
            <a:spLocks xmlns:a="http://schemas.openxmlformats.org/drawingml/2006/main" noGrp="1"/>
          </p:cNvSpPr>
          <p:nvPr/>
        </p:nvSpPr>
        <p:spPr>
          <a:xfrm xmlns:a="http://schemas.openxmlformats.org/drawingml/2006/main">
            <a:off x="8229600" y="2933700"/>
            <a:ext cx="335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책임</a:t>
            </a:r>
          </a:p>
        </p:txBody>
      </p:sp>
      <p:sp>
        <p:nvSpPr>
          <p:cNvPr id="18" name="검증·수정·재검토&#10;사람의 수용 판단">
            <a:extLst xmlns:a="http://schemas.openxmlformats.org/drawingml/2006/main">
              <a:ext uri="{FF2B5EF4-FFF2-40B4-BE49-F238E27FC236}">
                <a16:creationId xmlns:a16="http://schemas.microsoft.com/office/drawing/2014/main" id="{B12FF429-FED9-41F7-8E4C-BDB130386723}"/>
              </a:ext>
            </a:extLst>
          </p:cNvPr>
          <p:cNvSpPr>
            <a:spLocks xmlns:a="http://schemas.openxmlformats.org/drawingml/2006/main" noGrp="1"/>
          </p:cNvSpPr>
          <p:nvPr/>
        </p:nvSpPr>
        <p:spPr>
          <a:xfrm xmlns:a="http://schemas.openxmlformats.org/drawingml/2006/main">
            <a:off x="8229600" y="3619500"/>
            <a:ext cx="335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검증·수정·재검토</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사람의 수용 판단</a:t>
            </a:r>
          </a:p>
        </p:txBody>
      </p:sp>
      <p:sp>
        <p:nvSpPr>
          <p:cNvPr id="19" name="이 교육에서는 이를 AI-Native Development의 관점으로 본다">
            <a:extLst xmlns:a="http://schemas.openxmlformats.org/drawingml/2006/main">
              <a:ext uri="{FF2B5EF4-FFF2-40B4-BE49-F238E27FC236}">
                <a16:creationId xmlns:a16="http://schemas.microsoft.com/office/drawing/2014/main" id="{3126C60D-535F-405D-AFAE-6E0049CB7309}"/>
              </a:ext>
            </a:extLst>
          </p:cNvPr>
          <p:cNvSpPr>
            <a:spLocks xmlns:a="http://schemas.openxmlformats.org/drawingml/2006/main" noGrp="1"/>
          </p:cNvSpPr>
          <p:nvPr/>
        </p:nvSpPr>
        <p:spPr>
          <a:xfrm xmlns:a="http://schemas.openxmlformats.org/drawingml/2006/main">
            <a:off x="609600" y="4857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 교육에서는 이를 AI-Native Development의 관점으로 본다</a:t>
            </a:r>
          </a:p>
        </p:txBody>
      </p:sp>
      <p:sp>
        <p:nvSpPr>
          <p:cNvPr id="20" name="모델·플랫폼이 달라져도, 지금의 구성이 모두 필요할까?">
            <a:extLst xmlns:a="http://schemas.openxmlformats.org/drawingml/2006/main">
              <a:ext uri="{FF2B5EF4-FFF2-40B4-BE49-F238E27FC236}">
                <a16:creationId xmlns:a16="http://schemas.microsoft.com/office/drawing/2014/main" id="{9C5DF8D7-88A0-47B6-82FE-D909214E8EFB}"/>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모델·플랫폼이 달라져도, 지금의 구성이 모두 필요할까?</a:t>
            </a:r>
          </a:p>
        </p:txBody>
      </p:sp>
      <p:sp>
        <p:nvSpPr>
          <p:cNvPr id="21" name="Legacy module connection">
            <a:extLst xmlns:a="http://schemas.openxmlformats.org/drawingml/2006/main">
              <a:ext uri="{FF2B5EF4-FFF2-40B4-BE49-F238E27FC236}">
                <a16:creationId xmlns:a16="http://schemas.microsoft.com/office/drawing/2014/main" id="{9C67C335-4D94-4A96-9C4B-A47E8F4520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4247212"/>
      </p:ext>
    </p:extLst>
  </p:cSld>
</p:sld>
</file>

<file path=ppt/slides/slide111.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687A535-82D5-4E43-AC5C-9D30F24D8B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11">
            <a:extLst xmlns:a="http://schemas.openxmlformats.org/drawingml/2006/main">
              <a:ext uri="{FF2B5EF4-FFF2-40B4-BE49-F238E27FC236}">
                <a16:creationId xmlns:a16="http://schemas.microsoft.com/office/drawing/2014/main" id="{C48AD8E0-002A-43D1-ABFA-2B9329C4AD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모델·플랫폼이 바뀌면 Harness도 다시 본다">
            <a:extLst xmlns:a="http://schemas.openxmlformats.org/drawingml/2006/main">
              <a:ext uri="{FF2B5EF4-FFF2-40B4-BE49-F238E27FC236}">
                <a16:creationId xmlns:a16="http://schemas.microsoft.com/office/drawing/2014/main" id="{6A8D64C6-BE9A-4DF0-87BA-CAEA3A2AA5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F4F7A1AC-155D-4E2A-AF8E-A24F7D723B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1ECBC099-C5BB-4A0F-A303-1BB0B6632A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Anthropic(2026) · 외부 기업의 통합 사례</a:t>
            </a:r>
          </a:p>
        </p:txBody>
      </p:sp>
      <p:sp>
        <p:nvSpPr>
          <p:cNvPr id="7" name="그때 필요했던 보조 장치가, 지금도 필요할까?">
            <a:extLst xmlns:a="http://schemas.openxmlformats.org/drawingml/2006/main">
              <a:ext uri="{FF2B5EF4-FFF2-40B4-BE49-F238E27FC236}">
                <a16:creationId xmlns:a16="http://schemas.microsoft.com/office/drawing/2014/main" id="{537BDE93-4AA1-45EA-BE5B-AE7283C7678F}"/>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53DD9E7C-BAB4-4034-B8A3-37532CB2E14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66DB1D69-9601-446F-BC3E-E0CB4C0E7E51}"/>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87CE48AD-B68C-455E-A4B3-A3AAAB2444A1}"/>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11A5D4C4-4D6F-42CE-BD00-43FC1B3921D6}"/>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A4F052B2-6DE1-4909-8979-F979E600C4A8}"/>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45167298-4787-4A88-916D-A6566C96EAA4}"/>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470E9AA9-EAFC-4C7B-B9B5-E1BB31B2C86E}"/>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D3318396-4B47-4DE2-83EB-3D6542DE0912}"/>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9C1CD6FE-6954-4F0E-B4BD-996D5548E255}"/>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0487818-EB43-4A3B-A25F-0243FC758C7F}"/>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EA83EB33-A829-4D11-B520-9A32549B082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5A97205C-CE2A-431F-B818-0AE5BF58E576}"/>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B8445EA4-9193-4E80-9971-2295760DC239}"/>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2AE0719F-2024-4F6F-B406-A29BED565027}"/>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C7235D37-F4F7-4947-BE47-5671DF57B187}"/>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D90ABC20-42E6-4B3E-B2C4-AA85D00E1DCF}"/>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C67959A-A9DC-4183-A61C-116ED639D07E}"/>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44EC3702-280A-4BB8-B52F-8840F97DC565}"/>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D3D62D3-FBF6-448B-8C8C-2F88EF45F0E6}"/>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630FD4DC-DDB6-41E9-B069-151B8E0A22B8}"/>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2A53A432-780E-4D8D-9032-ECFBB34834BF}"/>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C57EF79-5A18-476E-BA2A-CC4062550BA2}"/>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ED4A3453-F6BF-4599-A031-B69B0EEDB05A}"/>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A73EB2FF-758C-47C8-B1B8-B0F278373B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9973681"/>
      </p:ext>
    </p:extLst>
  </p:cSld>
</p:sld>
</file>

<file path=ppt/slides/slide112.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6FAA231C-92EF-4AB7-9B4E-8018AB15BF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12">
            <a:extLst xmlns:a="http://schemas.openxmlformats.org/drawingml/2006/main">
              <a:ext uri="{FF2B5EF4-FFF2-40B4-BE49-F238E27FC236}">
                <a16:creationId xmlns:a16="http://schemas.microsoft.com/office/drawing/2014/main" id="{5334EBF8-7B3E-49DB-A6DC-1A648B778A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무엇을 남기고, 무엇을 덜어낼까?">
            <a:extLst xmlns:a="http://schemas.openxmlformats.org/drawingml/2006/main">
              <a:ext uri="{FF2B5EF4-FFF2-40B4-BE49-F238E27FC236}">
                <a16:creationId xmlns:a16="http://schemas.microsoft.com/office/drawing/2014/main" id="{00463C4D-6DBE-4979-A7C3-637C7E3290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8E01A01D-8A40-4885-9585-4FDD8A74F3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74A9992A-7ED4-4235-965C-BED9BF8E91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구조를 덜어내도 명세·권한·검증 요구는 유지</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8A066031-E90C-420E-8B76-B64CEC8606B5}"/>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7AFAC211-61A7-44D7-BBD7-09042FCAD559}"/>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F501793C-FE26-4EC9-A0A8-7113E1F62608}"/>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6A3DB74F-CEEA-4A03-B7DF-1FE2194845D9}"/>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63DEF16C-B25B-40DE-B9AF-95ADEFBD2833}"/>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5F5A396B-568A-454A-9B2F-B36A2AE964BB}"/>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954F385C-C411-4584-AD21-CC1548234DBE}"/>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481D3B4C-B5E1-4D58-A015-10DEB5C16B78}"/>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92F9A54A-8503-43FD-A28C-A870DD7F256A}"/>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41ACAE2D-385B-46CB-A843-B09539F99962}"/>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9DE4E861-07F3-41A0-B179-91CA9E288167}"/>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28FF4271-9D7A-435F-BC66-5BE3665900A0}"/>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CAB45493-F8B4-43EA-8BB6-445DF778DA0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DE243494-7034-41B0-AFDE-CB337DC4E7B3}"/>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157522A1-3D9F-48E6-9C1A-8CBE93D7D4E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CBECB455-180A-4141-966B-B32B63DA5A6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42A58988-4648-481A-AC05-6CC76DC2E0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622538"/>
      </p:ext>
    </p:extLst>
  </p:cSld>
</p:sld>
</file>

<file path=ppt/slides/slide113.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6FA32C23-5115-41FE-80AC-0DB6693150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13">
            <a:extLst xmlns:a="http://schemas.openxmlformats.org/drawingml/2006/main">
              <a:ext uri="{FF2B5EF4-FFF2-40B4-BE49-F238E27FC236}">
                <a16:creationId xmlns:a16="http://schemas.microsoft.com/office/drawing/2014/main" id="{3EE1BC0E-CACD-4098-BF09-3820915D92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덜어낸 뒤에도 필요한 일을 하는가?">
            <a:extLst xmlns:a="http://schemas.openxmlformats.org/drawingml/2006/main">
              <a:ext uri="{FF2B5EF4-FFF2-40B4-BE49-F238E27FC236}">
                <a16:creationId xmlns:a16="http://schemas.microsoft.com/office/drawing/2014/main" id="{D70E8CF3-CBA3-469E-A7F2-7C43114E21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4A32FC0F-4578-4349-8547-3553D88C7A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8BDDD56B-5CE3-4B1A-A89C-5C7D902031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평가 설계 예시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08B27B5E-7682-4E60-B95D-B75A70D6C14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75D4CE70-D1D3-4342-8E76-182CE53C7957}"/>
              </a:ext>
            </a:extLst>
          </p:cNvPr>
          <p:cNvSpPr>
            <a:spLocks xmlns:a="http://schemas.openxmlformats.org/drawingml/2006/main" noGrp="1"/>
          </p:cNvSpPr>
          <p:nvPr/>
        </p:nvSpPr>
        <p:spPr>
          <a:xfrm xmlns:a="http://schemas.openxmlformats.org/drawingml/2006/main">
            <a:off x="609600" y="335280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582030E4-F3A5-4232-9EF9-FD843D6044F1}"/>
              </a:ext>
            </a:extLst>
          </p:cNvPr>
          <p:cNvSpPr>
            <a:spLocks xmlns:a="http://schemas.openxmlformats.org/drawingml/2006/main" noGrp="1"/>
          </p:cNvSpPr>
          <p:nvPr/>
        </p:nvSpPr>
        <p:spPr>
          <a:xfrm xmlns:a="http://schemas.openxmlformats.org/drawingml/2006/main">
            <a:off x="762000" y="3486150"/>
            <a:ext cx="19812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63652CD7-9A34-49EE-8F46-C33C9625039E}"/>
              </a:ext>
            </a:extLst>
          </p:cNvPr>
          <p:cNvCxnSpPr/>
          <p:nvPr/>
        </p:nvCxnSpPr>
        <p:spPr>
          <a:xfrm xmlns:a="http://schemas.openxmlformats.org/drawingml/2006/main">
            <a:off x="2895600" y="38481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76744380-7665-4251-B81E-6B955E13567D}"/>
              </a:ext>
            </a:extLst>
          </p:cNvPr>
          <p:cNvCxnSpPr/>
          <p:nvPr/>
        </p:nvCxnSpPr>
        <p:spPr>
          <a:xfrm xmlns:a="http://schemas.openxmlformats.org/drawingml/2006/main">
            <a:off x="33528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E2BDE618-4369-4618-AB80-7EE7AA09B9A0}"/>
              </a:ext>
            </a:extLst>
          </p:cNvPr>
          <p:cNvCxnSpPr/>
          <p:nvPr/>
        </p:nvCxnSpPr>
        <p:spPr>
          <a:xfrm xmlns:a="http://schemas.openxmlformats.org/drawingml/2006/main">
            <a:off x="7315200" y="3124200"/>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0ED0A9C6-762F-4EAF-A452-6027133BFB74}"/>
              </a:ext>
            </a:extLst>
          </p:cNvPr>
          <p:cNvCxnSpPr/>
          <p:nvPr/>
        </p:nvCxnSpPr>
        <p:spPr>
          <a:xfrm xmlns:a="http://schemas.openxmlformats.org/drawingml/2006/main">
            <a:off x="7315200" y="38481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E87236DA-3B96-465A-A3DB-AFF8C3801085}"/>
              </a:ext>
            </a:extLst>
          </p:cNvPr>
          <p:cNvCxnSpPr/>
          <p:nvPr/>
        </p:nvCxnSpPr>
        <p:spPr>
          <a:xfrm xmlns:a="http://schemas.openxmlformats.org/drawingml/2006/main">
            <a:off x="33528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AF82A0FA-110A-4D9C-AD3C-DCEC4D0118CA}"/>
              </a:ext>
            </a:extLst>
          </p:cNvPr>
          <p:cNvSpPr>
            <a:spLocks xmlns:a="http://schemas.openxmlformats.org/drawingml/2006/main" noGrp="1"/>
          </p:cNvSpPr>
          <p:nvPr/>
        </p:nvSpPr>
        <p:spPr>
          <a:xfrm xmlns:a="http://schemas.openxmlformats.org/drawingml/2006/main">
            <a:off x="3810000" y="2743200"/>
            <a:ext cx="304800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445D9055-8453-4660-92D0-9FD8E4133140}"/>
              </a:ext>
            </a:extLst>
          </p:cNvPr>
          <p:cNvSpPr>
            <a:spLocks xmlns:a="http://schemas.openxmlformats.org/drawingml/2006/main" noGrp="1"/>
          </p:cNvSpPr>
          <p:nvPr/>
        </p:nvSpPr>
        <p:spPr>
          <a:xfrm xmlns:a="http://schemas.openxmlformats.org/drawingml/2006/main">
            <a:off x="3962400" y="28765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1086DCF5-6661-469E-97BA-0C7C923DE949}"/>
              </a:ext>
            </a:extLst>
          </p:cNvPr>
          <p:cNvCxnSpPr/>
          <p:nvPr/>
        </p:nvCxnSpPr>
        <p:spPr>
          <a:xfrm xmlns:a="http://schemas.openxmlformats.org/drawingml/2006/main">
            <a:off x="6858000" y="31242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FA643444-8407-4535-8B2B-87DCF87E46F9}"/>
              </a:ext>
            </a:extLst>
          </p:cNvPr>
          <p:cNvCxnSpPr/>
          <p:nvPr/>
        </p:nvCxnSpPr>
        <p:spPr>
          <a:xfrm xmlns:a="http://schemas.openxmlformats.org/drawingml/2006/main">
            <a:off x="33528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A9D111FF-FB81-44FC-8BCE-5CE0AD6C6571}"/>
              </a:ext>
            </a:extLst>
          </p:cNvPr>
          <p:cNvSpPr>
            <a:spLocks xmlns:a="http://schemas.openxmlformats.org/drawingml/2006/main" noGrp="1"/>
          </p:cNvSpPr>
          <p:nvPr/>
        </p:nvSpPr>
        <p:spPr>
          <a:xfrm xmlns:a="http://schemas.openxmlformats.org/drawingml/2006/main">
            <a:off x="3810000" y="4191000"/>
            <a:ext cx="3048000" cy="762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E31DAD00-E8B3-4695-B5E6-2AE33243D96C}"/>
              </a:ext>
            </a:extLst>
          </p:cNvPr>
          <p:cNvSpPr>
            <a:spLocks xmlns:a="http://schemas.openxmlformats.org/drawingml/2006/main" noGrp="1"/>
          </p:cNvSpPr>
          <p:nvPr/>
        </p:nvSpPr>
        <p:spPr>
          <a:xfrm xmlns:a="http://schemas.openxmlformats.org/drawingml/2006/main">
            <a:off x="3962400" y="4324350"/>
            <a:ext cx="2743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8D9B9730-E95E-4B1B-AC7A-D509DB7243D4}"/>
              </a:ext>
            </a:extLst>
          </p:cNvPr>
          <p:cNvCxnSpPr/>
          <p:nvPr/>
        </p:nvCxnSpPr>
        <p:spPr>
          <a:xfrm xmlns:a="http://schemas.openxmlformats.org/drawingml/2006/main">
            <a:off x="6858000" y="4572000"/>
            <a:ext cx="4572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11BC4E9C-13A9-48B3-9307-7C032A22E526}"/>
              </a:ext>
            </a:extLst>
          </p:cNvPr>
          <p:cNvSpPr>
            <a:spLocks xmlns:a="http://schemas.openxmlformats.org/drawingml/2006/main" noGrp="1"/>
          </p:cNvSpPr>
          <p:nvPr/>
        </p:nvSpPr>
        <p:spPr>
          <a:xfrm xmlns:a="http://schemas.openxmlformats.org/drawingml/2006/main">
            <a:off x="7924800" y="2590800"/>
            <a:ext cx="365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12ED393-48B5-4D35-8740-9552E4634A45}"/>
              </a:ext>
            </a:extLst>
          </p:cNvPr>
          <p:cNvSpPr>
            <a:spLocks xmlns:a="http://schemas.openxmlformats.org/drawingml/2006/main" noGrp="1"/>
          </p:cNvSpPr>
          <p:nvPr/>
        </p:nvSpPr>
        <p:spPr>
          <a:xfrm xmlns:a="http://schemas.openxmlformats.org/drawingml/2006/main">
            <a:off x="7924800" y="31146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B1C41C68-4079-46C9-A8DD-D1A0C537CB64}"/>
              </a:ext>
            </a:extLst>
          </p:cNvPr>
          <p:cNvSpPr>
            <a:spLocks xmlns:a="http://schemas.openxmlformats.org/drawingml/2006/main" noGrp="1"/>
          </p:cNvSpPr>
          <p:nvPr/>
        </p:nvSpPr>
        <p:spPr>
          <a:xfrm xmlns:a="http://schemas.openxmlformats.org/drawingml/2006/main">
            <a:off x="7924800" y="31623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6F2500F4-AB89-4824-82C8-AD30541C0E44}"/>
              </a:ext>
            </a:extLst>
          </p:cNvPr>
          <p:cNvSpPr>
            <a:spLocks xmlns:a="http://schemas.openxmlformats.org/drawingml/2006/main" noGrp="1"/>
          </p:cNvSpPr>
          <p:nvPr/>
        </p:nvSpPr>
        <p:spPr>
          <a:xfrm xmlns:a="http://schemas.openxmlformats.org/drawingml/2006/main">
            <a:off x="7924800" y="34671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2D4ED17-A534-450D-B084-B1786C27A4E3}"/>
              </a:ext>
            </a:extLst>
          </p:cNvPr>
          <p:cNvSpPr>
            <a:spLocks xmlns:a="http://schemas.openxmlformats.org/drawingml/2006/main" noGrp="1"/>
          </p:cNvSpPr>
          <p:nvPr/>
        </p:nvSpPr>
        <p:spPr>
          <a:xfrm xmlns:a="http://schemas.openxmlformats.org/drawingml/2006/main">
            <a:off x="7924800" y="378142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361DC4A6-39B4-4261-A226-E62A637E4902}"/>
              </a:ext>
            </a:extLst>
          </p:cNvPr>
          <p:cNvSpPr>
            <a:spLocks xmlns:a="http://schemas.openxmlformats.org/drawingml/2006/main" noGrp="1"/>
          </p:cNvSpPr>
          <p:nvPr/>
        </p:nvSpPr>
        <p:spPr>
          <a:xfrm xmlns:a="http://schemas.openxmlformats.org/drawingml/2006/main">
            <a:off x="7924800" y="38290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DE63865-FC9A-4C4F-BD27-90773F9CAE4C}"/>
              </a:ext>
            </a:extLst>
          </p:cNvPr>
          <p:cNvSpPr>
            <a:spLocks xmlns:a="http://schemas.openxmlformats.org/drawingml/2006/main" noGrp="1"/>
          </p:cNvSpPr>
          <p:nvPr/>
        </p:nvSpPr>
        <p:spPr>
          <a:xfrm xmlns:a="http://schemas.openxmlformats.org/drawingml/2006/main">
            <a:off x="7924800" y="413385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C524DE38-C2F1-48E2-BAD4-12E84F3725A7}"/>
              </a:ext>
            </a:extLst>
          </p:cNvPr>
          <p:cNvSpPr>
            <a:spLocks xmlns:a="http://schemas.openxmlformats.org/drawingml/2006/main" noGrp="1"/>
          </p:cNvSpPr>
          <p:nvPr/>
        </p:nvSpPr>
        <p:spPr>
          <a:xfrm xmlns:a="http://schemas.openxmlformats.org/drawingml/2006/main">
            <a:off x="7924800" y="4448175"/>
            <a:ext cx="3657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0ABA5593-F9EC-4B8D-A429-7F91594CC280}"/>
              </a:ext>
            </a:extLst>
          </p:cNvPr>
          <p:cNvSpPr>
            <a:spLocks xmlns:a="http://schemas.openxmlformats.org/drawingml/2006/main" noGrp="1"/>
          </p:cNvSpPr>
          <p:nvPr/>
        </p:nvSpPr>
        <p:spPr>
          <a:xfrm xmlns:a="http://schemas.openxmlformats.org/drawingml/2006/main">
            <a:off x="7924800" y="44958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F4929614-2AA6-427D-9E54-5DD2BEB074E9}"/>
              </a:ext>
            </a:extLst>
          </p:cNvPr>
          <p:cNvSpPr>
            <a:spLocks xmlns:a="http://schemas.openxmlformats.org/drawingml/2006/main" noGrp="1"/>
          </p:cNvSpPr>
          <p:nvPr/>
        </p:nvSpPr>
        <p:spPr>
          <a:xfrm xmlns:a="http://schemas.openxmlformats.org/drawingml/2006/main">
            <a:off x="7924800" y="4800600"/>
            <a:ext cx="365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27C39A96-AE36-4856-B115-1A34BCEFBE13}"/>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8FA6E09E-F439-4305-B28C-ECA8EECE377C}"/>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10E02566-B9AB-4104-92E3-D9CA258F05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E53CEC3F-2648-410C-94FA-BBEE61FA3D3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BAD99C6A-AF36-43FF-8F18-237B11EB60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8838459"/>
      </p:ext>
    </p:extLst>
  </p:cSld>
</p:sld>
</file>

<file path=ppt/slides/slide114.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DE4CD243-F252-4F87-9039-874A423071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14">
            <a:extLst xmlns:a="http://schemas.openxmlformats.org/drawingml/2006/main">
              <a:ext uri="{FF2B5EF4-FFF2-40B4-BE49-F238E27FC236}">
                <a16:creationId xmlns:a16="http://schemas.microsoft.com/office/drawing/2014/main" id="{B12C8E1D-CBFC-4A20-9BFB-A00631D972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S114</a:t>
            </a:r>
          </a:p>
        </p:txBody>
      </p:sp>
      <p:sp>
        <p:nvSpPr>
          <p:cNvPr id="3" name="내 업무에서는 무엇이 반복해서 막힐까?">
            <a:extLst xmlns:a="http://schemas.openxmlformats.org/drawingml/2006/main">
              <a:ext uri="{FF2B5EF4-FFF2-40B4-BE49-F238E27FC236}">
                <a16:creationId xmlns:a16="http://schemas.microsoft.com/office/drawing/2014/main" id="{FD91F6AA-04C9-4A24-8E28-1BBFB16887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30B02BAA-325E-4B6A-B484-B242F417E69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부족한 기준과 겹쳐 쌓인 구성 중, 가까운 문제 하나만">
            <a:extLst xmlns:a="http://schemas.openxmlformats.org/drawingml/2006/main">
              <a:ext uri="{FF2B5EF4-FFF2-40B4-BE49-F238E27FC236}">
                <a16:creationId xmlns:a16="http://schemas.microsoft.com/office/drawing/2014/main" id="{2AC99624-DB14-4286-958B-F80441E9EFA0}"/>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8E6664AC-CB82-4467-B598-23D920F8211A}"/>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D7E088EB-9DBF-41C5-880C-532DEAFFDE8B}"/>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D16F057-D16D-46E6-973B-6FBD1DFF3CFB}"/>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99BD6103-255E-4B43-8C2B-0BDC345610F3}"/>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28872CF2-40F1-4CB3-99C1-A19ACE86666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37BC3CEB-44D5-4403-8B3F-8FAC105BFF6C}"/>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D62504-74E0-48AB-A70F-D2A1104309A4}"/>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4A59A15-4E16-4A45-83AB-B97B246B372A}"/>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E529A4C7-817E-415A-8C5D-D31B251DC3B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378658A6-A9AB-40FE-A3B2-7DC2CFFE0512}"/>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FE3CF269-6C60-4DD8-9696-0530A6528597}"/>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8C7F220-433F-4020-A5F0-E58D81FFFF71}"/>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025FFDEC-EB00-4FA8-BEC5-F97BFE098CD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9C61B593-E07D-4DA9-919B-9937A5D02ED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C09DCC71-F740-4C4F-84A6-5FD3E547C87A}"/>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17617241-45DC-4313-A224-F28101153A1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A2B50634-5446-48A7-80EF-666E6AFA57A5}"/>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7B853DD6-C31D-4247-BB54-42FFA84C3DD4}"/>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2387EE2F-CEA2-49A7-AA71-D9BE1D93E180}"/>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BDE8113F-8B4F-423C-87A9-E8274357E5E8}"/>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58B79821-79BD-4BBC-9E16-D1825006C94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FA9C9FA-50A1-42D0-BCF6-577D1B44E4D4}"/>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0CDEFA4-0F56-4CFE-80F7-8AF54D007BD7}"/>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검토 지적이 다음 수정으로 이어지지 않는다">
            <a:extLst xmlns:a="http://schemas.openxmlformats.org/drawingml/2006/main">
              <a:ext uri="{FF2B5EF4-FFF2-40B4-BE49-F238E27FC236}">
                <a16:creationId xmlns:a16="http://schemas.microsoft.com/office/drawing/2014/main" id="{6317B8DF-E8EF-4573-8252-6EEB7908F4C2}"/>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검토 지적이 다음 수정으로 이어지지 않는다</a:t>
            </a:r>
          </a:p>
        </p:txBody>
      </p:sp>
      <p:sp>
        <p:nvSpPr>
          <p:cNvPr id="32" name="개선 · Feedback Loop">
            <a:extLst xmlns:a="http://schemas.openxmlformats.org/drawingml/2006/main">
              <a:ext uri="{FF2B5EF4-FFF2-40B4-BE49-F238E27FC236}">
                <a16:creationId xmlns:a16="http://schemas.microsoft.com/office/drawing/2014/main" id="{5748FDC1-5FAE-465D-B859-C53313E5FA34}"/>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B46D7A8D-D11F-42EC-93B5-90973BC0117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02994816"/>
      </p:ext>
    </p:extLst>
  </p:cSld>
</p:sld>
</file>

<file path=ppt/slides/slide115.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4CA535CD-3C9A-49EB-8E2E-D3EE89CE4A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15">
            <a:extLst xmlns:a="http://schemas.openxmlformats.org/drawingml/2006/main">
              <a:ext uri="{FF2B5EF4-FFF2-40B4-BE49-F238E27FC236}">
                <a16:creationId xmlns:a16="http://schemas.microsoft.com/office/drawing/2014/main" id="{953260D9-DB2A-4E6E-B1CC-DE5C9DC75B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S115</a:t>
            </a:r>
          </a:p>
        </p:txBody>
      </p:sp>
      <p:sp>
        <p:nvSpPr>
          <p:cNvPr id="3" name="고른 문제에서, 다음 행동 하나로">
            <a:extLst xmlns:a="http://schemas.openxmlformats.org/drawingml/2006/main">
              <a:ext uri="{FF2B5EF4-FFF2-40B4-BE49-F238E27FC236}">
                <a16:creationId xmlns:a16="http://schemas.microsoft.com/office/drawing/2014/main" id="{B39D3E4A-9CB1-4EBA-8B96-8466709A17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8087735-A88D-48C1-A8C5-9717036E5A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0AC8D299-3962-47B0-845C-F14A7AEF28C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공유는 선택</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EEBD5C74-BC64-4674-85E5-F81AD7B6F30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979F8714-5913-4103-871A-45BE8015870E}"/>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4DB2425-37AB-4CCB-8572-03062F1B0F34}"/>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9EED362C-6D49-4BCD-80DD-63233AECDDA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C008E39-E9A6-4C34-AA16-E2DCFB9883EB}"/>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489CA784-3439-41CD-953B-333A222BC866}"/>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131926EA-078D-454E-9C1D-26A0CB15380A}"/>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D47E7435-AA09-44E6-AC16-969071422CA4}"/>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C5977E56-FD4D-42E7-A456-C31B78F5721B}"/>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D09A836-0CF1-4219-8A6E-7465C973507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C2AB23E-0E13-4281-99AA-72E4D8C57349}"/>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BD8C21FF-92A5-465D-8662-DA97BEC7FA2E}"/>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E8580C2-5CED-41AD-B644-669E70E1FE43}"/>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0CE43B8-73F9-48E9-807C-3352A36537D2}"/>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1C6795C-A03A-4989-8340-8A7ED16EB68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CB4512C0-2AE2-4095-8DAD-495024E559E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44CAC60E-9050-4BA9-80EA-4A92889862DD}"/>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E6483E0D-11C6-4219-BCC2-FE2EAF9A1BC4}"/>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39A4AF8-9D4A-4BB4-879D-C9BC62C5D70B}"/>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74A89C6E-4F53-457A-8DAC-4CF4370455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검토 지적·다음 수정·완료 기준을 잇는다">
            <a:extLst xmlns:a="http://schemas.openxmlformats.org/drawingml/2006/main">
              <a:ext uri="{FF2B5EF4-FFF2-40B4-BE49-F238E27FC236}">
                <a16:creationId xmlns:a16="http://schemas.microsoft.com/office/drawing/2014/main" id="{C1A6319A-A040-45B4-85B5-81A4DDCCB318}"/>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검토 지적·다음 수정·완료 기준을 잇는다</a:t>
            </a:r>
          </a:p>
        </p:txBody>
      </p:sp>
      <p:sp>
        <p:nvSpPr>
          <p:cNvPr id="28" name="그리고,&#10;확인할 근거 하나">
            <a:extLst xmlns:a="http://schemas.openxmlformats.org/drawingml/2006/main">
              <a:ext uri="{FF2B5EF4-FFF2-40B4-BE49-F238E27FC236}">
                <a16:creationId xmlns:a16="http://schemas.microsoft.com/office/drawing/2014/main" id="{BDB3AFDE-BCC6-4944-89D1-5FE5D61C9E18}"/>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BA6CEF4-5511-4C0D-A1CE-0F4683686899}"/>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54DE5913-7516-419F-959D-E6DCD06194DD}"/>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7EFC6A18-7AD1-4DB3-B5C1-876CA878D8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438199090"/>
      </p:ext>
    </p:extLst>
  </p:cSld>
</p:sld>
</file>

<file path=ppt/slides/slide116.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 name="마지막 정리 · 찾아보기 1/3">
            <a:extLst xmlns:a="http://schemas.openxmlformats.org/drawingml/2006/main">
              <a:ext uri="{FF2B5EF4-FFF2-40B4-BE49-F238E27FC236}">
                <a16:creationId xmlns:a16="http://schemas.microsoft.com/office/drawing/2014/main" id="{3E1E62D3-1D71-42EC-8497-82A9BAAAF8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6">
            <a:extLst xmlns:a="http://schemas.openxmlformats.org/drawingml/2006/main">
              <a:ext uri="{FF2B5EF4-FFF2-40B4-BE49-F238E27FC236}">
                <a16:creationId xmlns:a16="http://schemas.microsoft.com/office/drawing/2014/main" id="{8B8D2424-E6AD-4C81-A865-8F209AB4C4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S116</a:t>
            </a:r>
          </a:p>
        </p:txBody>
      </p:sp>
      <p:sp>
        <p:nvSpPr>
          <p:cNvPr id="3" name="실무 적용 팁 · 작업 환경과 기준">
            <a:extLst xmlns:a="http://schemas.openxmlformats.org/drawingml/2006/main">
              <a:ext uri="{FF2B5EF4-FFF2-40B4-BE49-F238E27FC236}">
                <a16:creationId xmlns:a16="http://schemas.microsoft.com/office/drawing/2014/main" id="{3F8B09FA-4511-4146-A7D2-DE34828BB4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B64B3ECC-AFF9-42F3-859C-353A007993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필요한 상황이 생기면, 아래 Slide로 돌아오세요">
            <a:extLst xmlns:a="http://schemas.openxmlformats.org/drawingml/2006/main">
              <a:ext uri="{FF2B5EF4-FFF2-40B4-BE49-F238E27FC236}">
                <a16:creationId xmlns:a16="http://schemas.microsoft.com/office/drawing/2014/main" id="{2204430C-8542-42F3-8563-CE82475E8FC6}"/>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8" name="">
            <a:extLst xmlns:a="http://schemas.openxmlformats.org/drawingml/2006/main">
              <a:ext uri="{FF2B5EF4-FFF2-40B4-BE49-F238E27FC236}">
                <a16:creationId xmlns:a16="http://schemas.microsoft.com/office/drawing/2014/main" id="{BBDA0EC3-BC84-4631-B58B-21B0176BD446}"/>
              </a:ext>
            </a:extLst>
          </p:cNvPr>
          <p:cNvSpPr>
            <a:spLocks xmlns:a="http://schemas.openxmlformats.org/drawingml/2006/main" noGrp="1"/>
          </p:cNvSpPr>
          <p:nvPr/>
        </p:nvSpPr>
        <p:spPr>
          <a:xfrm xmlns:a="http://schemas.openxmlformats.org/drawingml/2006/main">
            <a:off x="609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532A34A2-4AB9-411E-8D1D-C9A43D5F4516}"/>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S13">
            <a:extLst xmlns:a="http://schemas.openxmlformats.org/drawingml/2006/main">
              <a:ext uri="{FF2B5EF4-FFF2-40B4-BE49-F238E27FC236}">
                <a16:creationId xmlns:a16="http://schemas.microsoft.com/office/drawing/2014/main" id="{3186C8EA-7EB7-4437-9B66-41390954F6B0}"/>
              </a:ext>
            </a:extLst>
          </p:cNvPr>
          <p:cNvSpPr>
            <a:spLocks xmlns:a="http://schemas.openxmlformats.org/drawingml/2006/main" noGrp="1"/>
          </p:cNvSpPr>
          <p:nvPr/>
        </p:nvSpPr>
        <p:spPr>
          <a:xfrm xmlns:a="http://schemas.openxmlformats.org/drawingml/2006/main">
            <a:off x="609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S13</a:t>
            </a:r>
          </a:p>
        </p:txBody>
      </p:sp>
      <p:sp>
        <p:nvSpPr>
          <p:cNvPr id="11" name="개발 프로젝트 조사는 Codex에서 시작한다">
            <a:extLst xmlns:a="http://schemas.openxmlformats.org/drawingml/2006/main">
              <a:ext uri="{FF2B5EF4-FFF2-40B4-BE49-F238E27FC236}">
                <a16:creationId xmlns:a16="http://schemas.microsoft.com/office/drawing/2014/main" id="{DE8931CC-C22B-4AA2-94BE-5E8C80041ED2}"/>
              </a:ext>
            </a:extLst>
          </p:cNvPr>
          <p:cNvSpPr>
            <a:spLocks xmlns:a="http://schemas.openxmlformats.org/drawingml/2006/main" noGrp="1"/>
          </p:cNvSpPr>
          <p:nvPr/>
        </p:nvSpPr>
        <p:spPr>
          <a:xfrm xmlns:a="http://schemas.openxmlformats.org/drawingml/2006/main">
            <a:off x="1905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개발 프로젝트 조사는 Codex에서 시작한다</a:t>
            </a:r>
          </a:p>
        </p:txBody>
      </p:sp>
      <p:sp>
        <p:nvSpPr>
          <p:cNvPr id="12" name="">
            <a:extLst xmlns:a="http://schemas.openxmlformats.org/drawingml/2006/main">
              <a:ext uri="{FF2B5EF4-FFF2-40B4-BE49-F238E27FC236}">
                <a16:creationId xmlns:a16="http://schemas.microsoft.com/office/drawing/2014/main" id="{00DD245A-712E-4019-8685-AA1E2F7DBF84}"/>
              </a:ext>
            </a:extLst>
          </p:cNvPr>
          <p:cNvSpPr>
            <a:spLocks xmlns:a="http://schemas.openxmlformats.org/drawingml/2006/main" noGrp="1"/>
          </p:cNvSpPr>
          <p:nvPr/>
        </p:nvSpPr>
        <p:spPr>
          <a:xfrm xmlns:a="http://schemas.openxmlformats.org/drawingml/2006/main">
            <a:off x="609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412FAD4-D3AE-431A-8110-AA441D654A9C}"/>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S48">
            <a:extLst xmlns:a="http://schemas.openxmlformats.org/drawingml/2006/main">
              <a:ext uri="{FF2B5EF4-FFF2-40B4-BE49-F238E27FC236}">
                <a16:creationId xmlns:a16="http://schemas.microsoft.com/office/drawing/2014/main" id="{654BB29F-D845-44D1-B599-D260833952B2}"/>
              </a:ext>
            </a:extLst>
          </p:cNvPr>
          <p:cNvSpPr>
            <a:spLocks xmlns:a="http://schemas.openxmlformats.org/drawingml/2006/main" noGrp="1"/>
          </p:cNvSpPr>
          <p:nvPr/>
        </p:nvSpPr>
        <p:spPr>
          <a:xfrm xmlns:a="http://schemas.openxmlformats.org/drawingml/2006/main">
            <a:off x="609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5" name="AGENTS.md에는 무엇을 남길까?">
            <a:extLst xmlns:a="http://schemas.openxmlformats.org/drawingml/2006/main">
              <a:ext uri="{FF2B5EF4-FFF2-40B4-BE49-F238E27FC236}">
                <a16:creationId xmlns:a16="http://schemas.microsoft.com/office/drawing/2014/main" id="{2AB1CDD0-E730-4C17-877A-2654910F44E3}"/>
              </a:ext>
            </a:extLst>
          </p:cNvPr>
          <p:cNvSpPr>
            <a:spLocks xmlns:a="http://schemas.openxmlformats.org/drawingml/2006/main" noGrp="1"/>
          </p:cNvSpPr>
          <p:nvPr/>
        </p:nvSpPr>
        <p:spPr>
          <a:xfrm xmlns:a="http://schemas.openxmlformats.org/drawingml/2006/main">
            <a:off x="1905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AGENTS.md에는 무엇을 남길까?</a:t>
            </a:r>
          </a:p>
        </p:txBody>
      </p:sp>
      <p:sp>
        <p:nvSpPr>
          <p:cNvPr id="16" name="">
            <a:extLst xmlns:a="http://schemas.openxmlformats.org/drawingml/2006/main">
              <a:ext uri="{FF2B5EF4-FFF2-40B4-BE49-F238E27FC236}">
                <a16:creationId xmlns:a16="http://schemas.microsoft.com/office/drawing/2014/main" id="{D47F81F2-22F3-41C4-B9A0-DF71EB0EF156}"/>
              </a:ext>
            </a:extLst>
          </p:cNvPr>
          <p:cNvSpPr>
            <a:spLocks xmlns:a="http://schemas.openxmlformats.org/drawingml/2006/main" noGrp="1"/>
          </p:cNvSpPr>
          <p:nvPr/>
        </p:nvSpPr>
        <p:spPr>
          <a:xfrm xmlns:a="http://schemas.openxmlformats.org/drawingml/2006/main">
            <a:off x="609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45C09F9-B83B-413A-994B-0CDD80156C64}"/>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S55–57">
            <a:extLst xmlns:a="http://schemas.openxmlformats.org/drawingml/2006/main">
              <a:ext uri="{FF2B5EF4-FFF2-40B4-BE49-F238E27FC236}">
                <a16:creationId xmlns:a16="http://schemas.microsoft.com/office/drawing/2014/main" id="{18AF90CD-BC7E-45A6-97A8-F95ED76C3BE0}"/>
              </a:ext>
            </a:extLst>
          </p:cNvPr>
          <p:cNvSpPr>
            <a:spLocks xmlns:a="http://schemas.openxmlformats.org/drawingml/2006/main" noGrp="1"/>
          </p:cNvSpPr>
          <p:nvPr/>
        </p:nvSpPr>
        <p:spPr>
          <a:xfrm xmlns:a="http://schemas.openxmlformats.org/drawingml/2006/main">
            <a:off x="609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S55–57</a:t>
            </a:r>
          </a:p>
        </p:txBody>
      </p:sp>
      <p:sp>
        <p:nvSpPr>
          <p:cNvPr id="19" name="AGENTS.md의 위치와 적용 범위">
            <a:extLst xmlns:a="http://schemas.openxmlformats.org/drawingml/2006/main">
              <a:ext uri="{FF2B5EF4-FFF2-40B4-BE49-F238E27FC236}">
                <a16:creationId xmlns:a16="http://schemas.microsoft.com/office/drawing/2014/main" id="{B834F6D3-D30F-4E45-A6BB-734783A08630}"/>
              </a:ext>
            </a:extLst>
          </p:cNvPr>
          <p:cNvSpPr>
            <a:spLocks xmlns:a="http://schemas.openxmlformats.org/drawingml/2006/main" noGrp="1"/>
          </p:cNvSpPr>
          <p:nvPr/>
        </p:nvSpPr>
        <p:spPr>
          <a:xfrm xmlns:a="http://schemas.openxmlformats.org/drawingml/2006/main">
            <a:off x="1905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AGENTS.md의 위치와 적용 범위</a:t>
            </a:r>
          </a:p>
        </p:txBody>
      </p:sp>
      <p:sp>
        <p:nvSpPr>
          <p:cNvPr id="20" name="">
            <a:extLst xmlns:a="http://schemas.openxmlformats.org/drawingml/2006/main">
              <a:ext uri="{FF2B5EF4-FFF2-40B4-BE49-F238E27FC236}">
                <a16:creationId xmlns:a16="http://schemas.microsoft.com/office/drawing/2014/main" id="{639A3F4C-41B3-499C-8CDA-879FC36660EE}"/>
              </a:ext>
            </a:extLst>
          </p:cNvPr>
          <p:cNvSpPr>
            <a:spLocks xmlns:a="http://schemas.openxmlformats.org/drawingml/2006/main" noGrp="1"/>
          </p:cNvSpPr>
          <p:nvPr/>
        </p:nvSpPr>
        <p:spPr>
          <a:xfrm xmlns:a="http://schemas.openxmlformats.org/drawingml/2006/main">
            <a:off x="609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1FA89CD3-CDA5-4453-ADF4-71C313D2F36C}"/>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S61">
            <a:extLst xmlns:a="http://schemas.openxmlformats.org/drawingml/2006/main">
              <a:ext uri="{FF2B5EF4-FFF2-40B4-BE49-F238E27FC236}">
                <a16:creationId xmlns:a16="http://schemas.microsoft.com/office/drawing/2014/main" id="{4AFA0404-FCA3-4254-99E7-CAE380F714C9}"/>
              </a:ext>
            </a:extLst>
          </p:cNvPr>
          <p:cNvSpPr>
            <a:spLocks xmlns:a="http://schemas.openxmlformats.org/drawingml/2006/main" noGrp="1"/>
          </p:cNvSpPr>
          <p:nvPr/>
        </p:nvSpPr>
        <p:spPr>
          <a:xfrm xmlns:a="http://schemas.openxmlformats.org/drawingml/2006/main">
            <a:off x="609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S61</a:t>
            </a:r>
          </a:p>
        </p:txBody>
      </p:sp>
      <p:sp>
        <p:nvSpPr>
          <p:cNvPr id="23" name="테스트 명령을 언제 쓰고 무엇을 판단할까?">
            <a:extLst xmlns:a="http://schemas.openxmlformats.org/drawingml/2006/main">
              <a:ext uri="{FF2B5EF4-FFF2-40B4-BE49-F238E27FC236}">
                <a16:creationId xmlns:a16="http://schemas.microsoft.com/office/drawing/2014/main" id="{A21C956E-2DB7-444F-AC46-F58DBC2659BF}"/>
              </a:ext>
            </a:extLst>
          </p:cNvPr>
          <p:cNvSpPr>
            <a:spLocks xmlns:a="http://schemas.openxmlformats.org/drawingml/2006/main" noGrp="1"/>
          </p:cNvSpPr>
          <p:nvPr/>
        </p:nvSpPr>
        <p:spPr>
          <a:xfrm xmlns:a="http://schemas.openxmlformats.org/drawingml/2006/main">
            <a:off x="1905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테스트 명령을 언제 쓰고 무엇을 판단할까?</a:t>
            </a:r>
          </a:p>
        </p:txBody>
      </p:sp>
      <p:sp>
        <p:nvSpPr>
          <p:cNvPr id="24" name="">
            <a:extLst xmlns:a="http://schemas.openxmlformats.org/drawingml/2006/main">
              <a:ext uri="{FF2B5EF4-FFF2-40B4-BE49-F238E27FC236}">
                <a16:creationId xmlns:a16="http://schemas.microsoft.com/office/drawing/2014/main" id="{C5B707AE-7A94-46BA-98DE-1D0BA9A88EBB}"/>
              </a:ext>
            </a:extLst>
          </p:cNvPr>
          <p:cNvSpPr>
            <a:spLocks xmlns:a="http://schemas.openxmlformats.org/drawingml/2006/main" noGrp="1"/>
          </p:cNvSpPr>
          <p:nvPr/>
        </p:nvSpPr>
        <p:spPr>
          <a:xfrm xmlns:a="http://schemas.openxmlformats.org/drawingml/2006/main">
            <a:off x="609600" y="48387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8316D55-1D25-4AFA-82B2-BAA37B80630C}"/>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S66">
            <a:extLst xmlns:a="http://schemas.openxmlformats.org/drawingml/2006/main">
              <a:ext uri="{FF2B5EF4-FFF2-40B4-BE49-F238E27FC236}">
                <a16:creationId xmlns:a16="http://schemas.microsoft.com/office/drawing/2014/main" id="{DB465964-50DA-46AE-9CED-FDDC28903854}"/>
              </a:ext>
            </a:extLst>
          </p:cNvPr>
          <p:cNvSpPr>
            <a:spLocks xmlns:a="http://schemas.openxmlformats.org/drawingml/2006/main" noGrp="1"/>
          </p:cNvSpPr>
          <p:nvPr/>
        </p:nvSpPr>
        <p:spPr>
          <a:xfrm xmlns:a="http://schemas.openxmlformats.org/drawingml/2006/main">
            <a:off x="609600" y="49434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S66</a:t>
            </a:r>
          </a:p>
        </p:txBody>
      </p:sp>
      <p:sp>
        <p:nvSpPr>
          <p:cNvPr id="27" name="대화로 재사용할 Skill 만들기">
            <a:extLst xmlns:a="http://schemas.openxmlformats.org/drawingml/2006/main">
              <a:ext uri="{FF2B5EF4-FFF2-40B4-BE49-F238E27FC236}">
                <a16:creationId xmlns:a16="http://schemas.microsoft.com/office/drawing/2014/main" id="{BBDCA8A9-8B23-4CB9-8D61-922BFE2E6FEB}"/>
              </a:ext>
            </a:extLst>
          </p:cNvPr>
          <p:cNvSpPr>
            <a:spLocks xmlns:a="http://schemas.openxmlformats.org/drawingml/2006/main" noGrp="1"/>
          </p:cNvSpPr>
          <p:nvPr/>
        </p:nvSpPr>
        <p:spPr>
          <a:xfrm xmlns:a="http://schemas.openxmlformats.org/drawingml/2006/main">
            <a:off x="1905000" y="49434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재사용할 Skill 만들기</a:t>
            </a:r>
          </a:p>
        </p:txBody>
      </p:sp>
      <p:sp>
        <p:nvSpPr>
          <p:cNvPr id="28" name="">
            <a:extLst xmlns:a="http://schemas.openxmlformats.org/drawingml/2006/main">
              <a:ext uri="{FF2B5EF4-FFF2-40B4-BE49-F238E27FC236}">
                <a16:creationId xmlns:a16="http://schemas.microsoft.com/office/drawing/2014/main" id="{C33B2E91-2D35-4081-A7B2-D344F96DD313}"/>
              </a:ext>
            </a:extLst>
          </p:cNvPr>
          <p:cNvSpPr>
            <a:spLocks xmlns:a="http://schemas.openxmlformats.org/drawingml/2006/main" noGrp="1"/>
          </p:cNvSpPr>
          <p:nvPr/>
        </p:nvSpPr>
        <p:spPr>
          <a:xfrm xmlns:a="http://schemas.openxmlformats.org/drawingml/2006/main">
            <a:off x="6324600" y="2286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433ED1F-F5AE-4F4A-9AA9-5719E8DD3DAD}"/>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S71">
            <a:extLst xmlns:a="http://schemas.openxmlformats.org/drawingml/2006/main">
              <a:ext uri="{FF2B5EF4-FFF2-40B4-BE49-F238E27FC236}">
                <a16:creationId xmlns:a16="http://schemas.microsoft.com/office/drawing/2014/main" id="{6FD4F11D-B5E7-4579-A761-9E4B6B87B6BB}"/>
              </a:ext>
            </a:extLst>
          </p:cNvPr>
          <p:cNvSpPr>
            <a:spLocks xmlns:a="http://schemas.openxmlformats.org/drawingml/2006/main" noGrp="1"/>
          </p:cNvSpPr>
          <p:nvPr/>
        </p:nvSpPr>
        <p:spPr>
          <a:xfrm xmlns:a="http://schemas.openxmlformats.org/drawingml/2006/main">
            <a:off x="6324600" y="239077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S71</a:t>
            </a:r>
          </a:p>
        </p:txBody>
      </p:sp>
      <p:sp>
        <p:nvSpPr>
          <p:cNvPr id="31" name="대화로 조사 Agent 만들기">
            <a:extLst xmlns:a="http://schemas.openxmlformats.org/drawingml/2006/main">
              <a:ext uri="{FF2B5EF4-FFF2-40B4-BE49-F238E27FC236}">
                <a16:creationId xmlns:a16="http://schemas.microsoft.com/office/drawing/2014/main" id="{91062D32-6C5F-4851-B244-4438E462184E}"/>
              </a:ext>
            </a:extLst>
          </p:cNvPr>
          <p:cNvSpPr>
            <a:spLocks xmlns:a="http://schemas.openxmlformats.org/drawingml/2006/main" noGrp="1"/>
          </p:cNvSpPr>
          <p:nvPr/>
        </p:nvSpPr>
        <p:spPr>
          <a:xfrm xmlns:a="http://schemas.openxmlformats.org/drawingml/2006/main">
            <a:off x="7620000" y="239077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대화로 조사 Agent 만들기</a:t>
            </a:r>
          </a:p>
        </p:txBody>
      </p:sp>
      <p:sp>
        <p:nvSpPr>
          <p:cNvPr id="32" name="">
            <a:extLst xmlns:a="http://schemas.openxmlformats.org/drawingml/2006/main">
              <a:ext uri="{FF2B5EF4-FFF2-40B4-BE49-F238E27FC236}">
                <a16:creationId xmlns:a16="http://schemas.microsoft.com/office/drawing/2014/main" id="{173A499A-C9B2-4DCE-8D38-358EF273F072}"/>
              </a:ext>
            </a:extLst>
          </p:cNvPr>
          <p:cNvSpPr>
            <a:spLocks xmlns:a="http://schemas.openxmlformats.org/drawingml/2006/main" noGrp="1"/>
          </p:cNvSpPr>
          <p:nvPr/>
        </p:nvSpPr>
        <p:spPr>
          <a:xfrm xmlns:a="http://schemas.openxmlformats.org/drawingml/2006/main">
            <a:off x="6324600" y="292417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
            <a:extLst xmlns:a="http://schemas.openxmlformats.org/drawingml/2006/main">
              <a:ext uri="{FF2B5EF4-FFF2-40B4-BE49-F238E27FC236}">
                <a16:creationId xmlns:a16="http://schemas.microsoft.com/office/drawing/2014/main" id="{4AA7FFD1-41DF-4FA6-942B-8CE1ADD2BE86}"/>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S73">
            <a:extLst xmlns:a="http://schemas.openxmlformats.org/drawingml/2006/main">
              <a:ext uri="{FF2B5EF4-FFF2-40B4-BE49-F238E27FC236}">
                <a16:creationId xmlns:a16="http://schemas.microsoft.com/office/drawing/2014/main" id="{C66EF95A-032D-48B1-A9D2-5F21CE496F8E}"/>
              </a:ext>
            </a:extLst>
          </p:cNvPr>
          <p:cNvSpPr>
            <a:spLocks xmlns:a="http://schemas.openxmlformats.org/drawingml/2006/main" noGrp="1"/>
          </p:cNvSpPr>
          <p:nvPr/>
        </p:nvSpPr>
        <p:spPr>
          <a:xfrm xmlns:a="http://schemas.openxmlformats.org/drawingml/2006/main">
            <a:off x="6324600" y="302895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S73</a:t>
            </a:r>
          </a:p>
        </p:txBody>
      </p:sp>
      <p:sp>
        <p:nvSpPr>
          <p:cNvPr id="35" name="이번 Context와 다시 쓸 지식">
            <a:extLst xmlns:a="http://schemas.openxmlformats.org/drawingml/2006/main">
              <a:ext uri="{FF2B5EF4-FFF2-40B4-BE49-F238E27FC236}">
                <a16:creationId xmlns:a16="http://schemas.microsoft.com/office/drawing/2014/main" id="{93DC875D-632C-4515-84D8-B433FB5CF454}"/>
              </a:ext>
            </a:extLst>
          </p:cNvPr>
          <p:cNvSpPr>
            <a:spLocks xmlns:a="http://schemas.openxmlformats.org/drawingml/2006/main" noGrp="1"/>
          </p:cNvSpPr>
          <p:nvPr/>
        </p:nvSpPr>
        <p:spPr>
          <a:xfrm xmlns:a="http://schemas.openxmlformats.org/drawingml/2006/main">
            <a:off x="7620000" y="302895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이번 Context와 다시 쓸 지식</a:t>
            </a:r>
          </a:p>
        </p:txBody>
      </p:sp>
      <p:sp>
        <p:nvSpPr>
          <p:cNvPr id="36" name="">
            <a:extLst xmlns:a="http://schemas.openxmlformats.org/drawingml/2006/main">
              <a:ext uri="{FF2B5EF4-FFF2-40B4-BE49-F238E27FC236}">
                <a16:creationId xmlns:a16="http://schemas.microsoft.com/office/drawing/2014/main" id="{7016F433-B757-40CA-AFB5-A8A8ABC0F184}"/>
              </a:ext>
            </a:extLst>
          </p:cNvPr>
          <p:cNvSpPr>
            <a:spLocks xmlns:a="http://schemas.openxmlformats.org/drawingml/2006/main" noGrp="1"/>
          </p:cNvSpPr>
          <p:nvPr/>
        </p:nvSpPr>
        <p:spPr>
          <a:xfrm xmlns:a="http://schemas.openxmlformats.org/drawingml/2006/main">
            <a:off x="6324600" y="35623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7" name="">
            <a:extLst xmlns:a="http://schemas.openxmlformats.org/drawingml/2006/main">
              <a:ext uri="{FF2B5EF4-FFF2-40B4-BE49-F238E27FC236}">
                <a16:creationId xmlns:a16="http://schemas.microsoft.com/office/drawing/2014/main" id="{1CC76E8E-907C-4031-A344-05FEEA948B8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8" name="S83">
            <a:extLst xmlns:a="http://schemas.openxmlformats.org/drawingml/2006/main">
              <a:ext uri="{FF2B5EF4-FFF2-40B4-BE49-F238E27FC236}">
                <a16:creationId xmlns:a16="http://schemas.microsoft.com/office/drawing/2014/main" id="{ED47D997-0C64-4677-B15D-529B53FFA4AD}"/>
              </a:ext>
            </a:extLst>
          </p:cNvPr>
          <p:cNvSpPr>
            <a:spLocks xmlns:a="http://schemas.openxmlformats.org/drawingml/2006/main" noGrp="1"/>
          </p:cNvSpPr>
          <p:nvPr/>
        </p:nvSpPr>
        <p:spPr>
          <a:xfrm xmlns:a="http://schemas.openxmlformats.org/drawingml/2006/main">
            <a:off x="6324600" y="3667125"/>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S83</a:t>
            </a:r>
          </a:p>
        </p:txBody>
      </p:sp>
      <p:sp>
        <p:nvSpPr>
          <p:cNvPr id="39" name="다음 수정에 넘길 기록">
            <a:extLst xmlns:a="http://schemas.openxmlformats.org/drawingml/2006/main">
              <a:ext uri="{FF2B5EF4-FFF2-40B4-BE49-F238E27FC236}">
                <a16:creationId xmlns:a16="http://schemas.microsoft.com/office/drawing/2014/main" id="{6B8A4115-1616-4F25-8876-8F73CEC3ACE7}"/>
              </a:ext>
            </a:extLst>
          </p:cNvPr>
          <p:cNvSpPr>
            <a:spLocks xmlns:a="http://schemas.openxmlformats.org/drawingml/2006/main" noGrp="1"/>
          </p:cNvSpPr>
          <p:nvPr/>
        </p:nvSpPr>
        <p:spPr>
          <a:xfrm xmlns:a="http://schemas.openxmlformats.org/drawingml/2006/main">
            <a:off x="7620000" y="3667125"/>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다음 수정에 넘길 기록</a:t>
            </a:r>
          </a:p>
        </p:txBody>
      </p:sp>
      <p:sp>
        <p:nvSpPr>
          <p:cNvPr id="40" name="">
            <a:extLst xmlns:a="http://schemas.openxmlformats.org/drawingml/2006/main">
              <a:ext uri="{FF2B5EF4-FFF2-40B4-BE49-F238E27FC236}">
                <a16:creationId xmlns:a16="http://schemas.microsoft.com/office/drawing/2014/main" id="{42C14DD0-B600-4336-9FF6-98DC311121AA}"/>
              </a:ext>
            </a:extLst>
          </p:cNvPr>
          <p:cNvSpPr>
            <a:spLocks xmlns:a="http://schemas.openxmlformats.org/drawingml/2006/main" noGrp="1"/>
          </p:cNvSpPr>
          <p:nvPr/>
        </p:nvSpPr>
        <p:spPr>
          <a:xfrm xmlns:a="http://schemas.openxmlformats.org/drawingml/2006/main">
            <a:off x="6324600" y="4200525"/>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1" name="">
            <a:extLst xmlns:a="http://schemas.openxmlformats.org/drawingml/2006/main">
              <a:ext uri="{FF2B5EF4-FFF2-40B4-BE49-F238E27FC236}">
                <a16:creationId xmlns:a16="http://schemas.microsoft.com/office/drawing/2014/main" id="{3852B320-B25B-41F7-B854-A27A489C98C3}"/>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2" name="S102">
            <a:extLst xmlns:a="http://schemas.openxmlformats.org/drawingml/2006/main">
              <a:ext uri="{FF2B5EF4-FFF2-40B4-BE49-F238E27FC236}">
                <a16:creationId xmlns:a16="http://schemas.microsoft.com/office/drawing/2014/main" id="{30E989B7-FDCC-4028-8C2A-E91B53534B6B}"/>
              </a:ext>
            </a:extLst>
          </p:cNvPr>
          <p:cNvSpPr>
            <a:spLocks xmlns:a="http://schemas.openxmlformats.org/drawingml/2006/main" noGrp="1"/>
          </p:cNvSpPr>
          <p:nvPr/>
        </p:nvSpPr>
        <p:spPr>
          <a:xfrm xmlns:a="http://schemas.openxmlformats.org/drawingml/2006/main">
            <a:off x="6324600" y="4305300"/>
            <a:ext cx="114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S102</a:t>
            </a:r>
          </a:p>
        </p:txBody>
      </p:sp>
      <p:sp>
        <p:nvSpPr>
          <p:cNvPr id="43" name="Goal이 목표와 다음 작업을 이어준다">
            <a:extLst xmlns:a="http://schemas.openxmlformats.org/drawingml/2006/main">
              <a:ext uri="{FF2B5EF4-FFF2-40B4-BE49-F238E27FC236}">
                <a16:creationId xmlns:a16="http://schemas.microsoft.com/office/drawing/2014/main" id="{098C1A8B-FB2D-46A0-B792-E9CA6902565B}"/>
              </a:ext>
            </a:extLst>
          </p:cNvPr>
          <p:cNvSpPr>
            <a:spLocks xmlns:a="http://schemas.openxmlformats.org/drawingml/2006/main" noGrp="1"/>
          </p:cNvSpPr>
          <p:nvPr/>
        </p:nvSpPr>
        <p:spPr>
          <a:xfrm xmlns:a="http://schemas.openxmlformats.org/drawingml/2006/main">
            <a:off x="7620000" y="4305300"/>
            <a:ext cx="3962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Goal이 목표와 다음 작업을 이어준다</a:t>
            </a:r>
          </a:p>
        </p:txBody>
      </p:sp>
      <p:sp>
        <p:nvSpPr>
          <p:cNvPr id="44" name="">
            <a:extLst xmlns:a="http://schemas.openxmlformats.org/drawingml/2006/main">
              <a:ext uri="{FF2B5EF4-FFF2-40B4-BE49-F238E27FC236}">
                <a16:creationId xmlns:a16="http://schemas.microsoft.com/office/drawing/2014/main" id="{2701D048-74BD-4991-8C45-7FBDA9EE133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5" name="Practical application tip badge">
            <a:extLst xmlns:a="http://schemas.openxmlformats.org/drawingml/2006/main">
              <a:ext uri="{FF2B5EF4-FFF2-40B4-BE49-F238E27FC236}">
                <a16:creationId xmlns:a16="http://schemas.microsoft.com/office/drawing/2014/main" id="{F46414F0-EEF3-4838-8C74-9C967FA18B1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46" name="Legacy module connection">
            <a:extLst xmlns:a="http://schemas.openxmlformats.org/drawingml/2006/main">
              <a:ext uri="{FF2B5EF4-FFF2-40B4-BE49-F238E27FC236}">
                <a16:creationId xmlns:a16="http://schemas.microsoft.com/office/drawing/2014/main" id="{3DABB5CB-AF87-4260-8B6B-E57CF3A9481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6126760"/>
      </p:ext>
    </p:extLst>
  </p:cSld>
</p:sld>
</file>

<file path=ppt/slides/slide117.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DA5C8170-5F4B-48F4-B89F-26DD67F51A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7">
            <a:extLst xmlns:a="http://schemas.openxmlformats.org/drawingml/2006/main">
              <a:ext uri="{FF2B5EF4-FFF2-40B4-BE49-F238E27FC236}">
                <a16:creationId xmlns:a16="http://schemas.microsoft.com/office/drawing/2014/main" id="{B9946B98-6CBA-49F6-B12D-621C35BB56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S117</a:t>
            </a:r>
          </a:p>
        </p:txBody>
      </p:sp>
      <p:sp>
        <p:nvSpPr>
          <p:cNvPr id="3" name="실무 적용 팁 · 요청 작성">
            <a:extLst xmlns:a="http://schemas.openxmlformats.org/drawingml/2006/main">
              <a:ext uri="{FF2B5EF4-FFF2-40B4-BE49-F238E27FC236}">
                <a16:creationId xmlns:a16="http://schemas.microsoft.com/office/drawing/2014/main" id="{BC116B57-AC23-412C-A883-D606429645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013F286A-ABDD-4E0C-853D-67FA3A8CB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BAE24B3-5102-41F1-AC76-385A2FE76E1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F51DD88B-3FD3-4B69-AA33-E85C3354587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D433577-A078-4D63-9F3F-D9274A1786E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CF5B6684-F35F-47A7-A429-5E8F0211AC79}"/>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59D2FDB8-E980-4ABC-8555-D5607D5607EA}"/>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27ACBA16-79A9-454E-9D91-9973E23F195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ABE7E168-B664-4DE0-B61D-37858A7B69F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AC74EB22-ACA7-4641-9A4E-0F21125304EF}"/>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CCDDB72-FBF3-49AD-981F-BD7188847298}"/>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62B5A7C7-57BD-4575-9D35-DD28CA729BC9}"/>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744D83F9-B9E3-4636-A9F6-444373D5358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D62A4F62-2654-4C86-899F-56AE332430F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E94AF7B-A247-46A2-899B-22799892578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05BB8184-59FE-4F16-A0BA-CB8B46BC3C6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22B3E98C-423C-4AF2-85E1-49F6B2D93E18}"/>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0704580C-845D-4A84-B4BE-6358BFB06BC1}"/>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457A3C2-3DF8-44B2-84F3-5B2CF5A50B68}"/>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D581EC17-436E-4B98-BFC0-9B184DB26B15}"/>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455F48B2-7925-4419-8AC0-878B24491FAC}"/>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05F83732-79E4-42B1-AAFE-2459DDE002B8}"/>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F065AF7-FCCB-44D8-9072-8409B7162E23}"/>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6E1F4D9D-384F-43AC-8337-CA16F0491416}"/>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83C1B18D-D346-4C83-95A5-82816B72B7F8}"/>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F445936A-CBCD-4A4F-A1A5-EB73B342892D}"/>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2353D19-4C01-4DD8-8CBA-3419181F58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76B867CC-01BE-421A-9837-937E61AA982F}"/>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FAC68F0A-4EFD-4CC5-B8D2-D99182B6BD03}"/>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B5BBBBBC-31DE-43B1-915C-D88C2D1FE6AC}"/>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F747026C-2FBD-4951-A54B-9771CECDF99C}"/>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0C772CEF-360B-465C-8FA7-D5ED04C74D3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FDC9F023-979D-415A-B233-2C03DAF9BF7E}"/>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5216ABDC-78D6-4C23-9718-5A09FDE53C95}"/>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4D0EABA8-142B-4A24-A938-D1F42F2A51E4}"/>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0148A296-8784-418D-BC99-5B07F5786BD2}"/>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015CFE56-3AF7-4C0F-9734-C33C908137FF}"/>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4DFAC05D-6AAA-4F21-A3DA-69C68F4AF5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394664419"/>
      </p:ext>
    </p:extLst>
  </p:cSld>
</p:sld>
</file>

<file path=ppt/slides/slide118.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3/3">
            <a:extLst xmlns:a="http://schemas.openxmlformats.org/drawingml/2006/main">
              <a:ext uri="{FF2B5EF4-FFF2-40B4-BE49-F238E27FC236}">
                <a16:creationId xmlns:a16="http://schemas.microsoft.com/office/drawing/2014/main" id="{1B1DB6F3-98AE-44D8-BDEF-0B35BA6534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8">
            <a:extLst xmlns:a="http://schemas.openxmlformats.org/drawingml/2006/main">
              <a:ext uri="{FF2B5EF4-FFF2-40B4-BE49-F238E27FC236}">
                <a16:creationId xmlns:a16="http://schemas.microsoft.com/office/drawing/2014/main" id="{54DB643B-06CE-4BAE-8AEC-365D6BA55F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S118</a:t>
            </a:r>
          </a:p>
        </p:txBody>
      </p:sp>
      <p:sp>
        <p:nvSpPr>
          <p:cNvPr id="3" name="실무 적용 팁 · 검증과 개선">
            <a:extLst xmlns:a="http://schemas.openxmlformats.org/drawingml/2006/main">
              <a:ext uri="{FF2B5EF4-FFF2-40B4-BE49-F238E27FC236}">
                <a16:creationId xmlns:a16="http://schemas.microsoft.com/office/drawing/2014/main" id="{F9D3ABAE-B0F0-4525-B397-96D21A62C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B83497BC-E5E6-43A0-A527-12BED3C947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7" name="">
            <a:extLst xmlns:a="http://schemas.openxmlformats.org/drawingml/2006/main">
              <a:ext uri="{FF2B5EF4-FFF2-40B4-BE49-F238E27FC236}">
                <a16:creationId xmlns:a16="http://schemas.microsoft.com/office/drawing/2014/main" id="{52B692D6-3A5C-4234-9749-144AECE0F6E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EBBC61CE-B0E4-4D39-8A9C-6FD9C52FA1F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0120F8B8-D947-40C4-BE58-5A1E219C5A7C}"/>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57875DB2-7DF3-4F5C-9D18-227FB027D11B}"/>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20835427-7CD9-43F7-86C4-2F9E863F112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90">
            <a:extLst xmlns:a="http://schemas.openxmlformats.org/drawingml/2006/main">
              <a:ext uri="{FF2B5EF4-FFF2-40B4-BE49-F238E27FC236}">
                <a16:creationId xmlns:a16="http://schemas.microsoft.com/office/drawing/2014/main" id="{99AE878A-7552-49CE-BE6F-A77D9C6E4AC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S90</a:t>
            </a:r>
          </a:p>
        </p:txBody>
      </p:sp>
      <p:sp>
        <p:nvSpPr>
          <p:cNvPr id="13" name="모델 B는 무엇을 근거로 검토할까?">
            <a:extLst xmlns:a="http://schemas.openxmlformats.org/drawingml/2006/main">
              <a:ext uri="{FF2B5EF4-FFF2-40B4-BE49-F238E27FC236}">
                <a16:creationId xmlns:a16="http://schemas.microsoft.com/office/drawing/2014/main" id="{EEDCA703-AE42-4088-AC9E-18EA3F7C38CB}"/>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 B는 무엇을 근거로 검토할까?</a:t>
            </a:r>
          </a:p>
        </p:txBody>
      </p:sp>
      <p:sp>
        <p:nvSpPr>
          <p:cNvPr id="14" name="">
            <a:extLst xmlns:a="http://schemas.openxmlformats.org/drawingml/2006/main">
              <a:ext uri="{FF2B5EF4-FFF2-40B4-BE49-F238E27FC236}">
                <a16:creationId xmlns:a16="http://schemas.microsoft.com/office/drawing/2014/main" id="{002D9C54-A1E3-4389-9295-50108AEF0E81}"/>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EAA989F7-5E58-4F88-A02E-CE31CE15C4BE}"/>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94">
            <a:extLst xmlns:a="http://schemas.openxmlformats.org/drawingml/2006/main">
              <a:ext uri="{FF2B5EF4-FFF2-40B4-BE49-F238E27FC236}">
                <a16:creationId xmlns:a16="http://schemas.microsoft.com/office/drawing/2014/main" id="{1ECA1E25-9438-498C-AD63-E20A99226BAC}"/>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S94</a:t>
            </a:r>
          </a:p>
        </p:txBody>
      </p:sp>
      <p:sp>
        <p:nvSpPr>
          <p:cNvPr id="17" name="언제 계속하고, 언제 끝낼까?">
            <a:extLst xmlns:a="http://schemas.openxmlformats.org/drawingml/2006/main">
              <a:ext uri="{FF2B5EF4-FFF2-40B4-BE49-F238E27FC236}">
                <a16:creationId xmlns:a16="http://schemas.microsoft.com/office/drawing/2014/main" id="{ACB58AE8-E812-43A2-9067-7ED35DCAE01A}"/>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언제 계속하고, 언제 끝낼까?</a:t>
            </a:r>
          </a:p>
        </p:txBody>
      </p:sp>
      <p:sp>
        <p:nvSpPr>
          <p:cNvPr id="18" name="">
            <a:extLst xmlns:a="http://schemas.openxmlformats.org/drawingml/2006/main">
              <a:ext uri="{FF2B5EF4-FFF2-40B4-BE49-F238E27FC236}">
                <a16:creationId xmlns:a16="http://schemas.microsoft.com/office/drawing/2014/main" id="{7B5411C0-5346-40DE-80B4-E08754023AC5}"/>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5878B674-92DE-4588-93D9-C1BC3AC11C4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3">
            <a:extLst xmlns:a="http://schemas.openxmlformats.org/drawingml/2006/main">
              <a:ext uri="{FF2B5EF4-FFF2-40B4-BE49-F238E27FC236}">
                <a16:creationId xmlns:a16="http://schemas.microsoft.com/office/drawing/2014/main" id="{ABB5C707-230E-4D48-B3AF-A12A02152B2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S103</a:t>
            </a:r>
          </a:p>
        </p:txBody>
      </p:sp>
      <p:sp>
        <p:nvSpPr>
          <p:cNvPr id="21" name="Goal에는 완료 근거와 멈출 조건을 담는다">
            <a:extLst xmlns:a="http://schemas.openxmlformats.org/drawingml/2006/main">
              <a:ext uri="{FF2B5EF4-FFF2-40B4-BE49-F238E27FC236}">
                <a16:creationId xmlns:a16="http://schemas.microsoft.com/office/drawing/2014/main" id="{B39A2C08-4561-4AD4-9FC9-FA3F043D8614}"/>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Goal에는 완료 근거와 멈출 조건을 담는다</a:t>
            </a:r>
          </a:p>
        </p:txBody>
      </p:sp>
      <p:sp>
        <p:nvSpPr>
          <p:cNvPr id="22" name="">
            <a:extLst xmlns:a="http://schemas.openxmlformats.org/drawingml/2006/main">
              <a:ext uri="{FF2B5EF4-FFF2-40B4-BE49-F238E27FC236}">
                <a16:creationId xmlns:a16="http://schemas.microsoft.com/office/drawing/2014/main" id="{EB45D3DB-A2DA-4A9F-A6EC-42D41ECEFC19}"/>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804F4ED4-12B4-4735-B288-21D22518969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12">
            <a:extLst xmlns:a="http://schemas.openxmlformats.org/drawingml/2006/main">
              <a:ext uri="{FF2B5EF4-FFF2-40B4-BE49-F238E27FC236}">
                <a16:creationId xmlns:a16="http://schemas.microsoft.com/office/drawing/2014/main" id="{5A652302-2576-4F1F-BF3E-74B74EE0FB90}"/>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S112</a:t>
            </a:r>
          </a:p>
        </p:txBody>
      </p:sp>
      <p:sp>
        <p:nvSpPr>
          <p:cNvPr id="25" name="무엇을 남기고, 무엇을 덜어낼까?">
            <a:extLst xmlns:a="http://schemas.openxmlformats.org/drawingml/2006/main">
              <a:ext uri="{FF2B5EF4-FFF2-40B4-BE49-F238E27FC236}">
                <a16:creationId xmlns:a16="http://schemas.microsoft.com/office/drawing/2014/main" id="{250664C0-9A42-4B5D-B556-8F5B855B0957}"/>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무엇을 남기고, 무엇을 덜어낼까?</a:t>
            </a:r>
          </a:p>
        </p:txBody>
      </p:sp>
      <p:sp>
        <p:nvSpPr>
          <p:cNvPr id="26" name="">
            <a:extLst xmlns:a="http://schemas.openxmlformats.org/drawingml/2006/main">
              <a:ext uri="{FF2B5EF4-FFF2-40B4-BE49-F238E27FC236}">
                <a16:creationId xmlns:a16="http://schemas.microsoft.com/office/drawing/2014/main" id="{4ACD01A4-69AB-4A47-B2B3-6290729393D2}"/>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A1AA566-7D44-4965-8FC6-9313EACF9B88}"/>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113">
            <a:extLst xmlns:a="http://schemas.openxmlformats.org/drawingml/2006/main">
              <a:ext uri="{FF2B5EF4-FFF2-40B4-BE49-F238E27FC236}">
                <a16:creationId xmlns:a16="http://schemas.microsoft.com/office/drawing/2014/main" id="{CBCC6CDF-5601-42AA-BACB-5F67D619D5C3}"/>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S113</a:t>
            </a:r>
          </a:p>
        </p:txBody>
      </p:sp>
      <p:sp>
        <p:nvSpPr>
          <p:cNvPr id="29" name="덜어낸 뒤에도 필요한 일을 하는가?">
            <a:extLst xmlns:a="http://schemas.openxmlformats.org/drawingml/2006/main">
              <a:ext uri="{FF2B5EF4-FFF2-40B4-BE49-F238E27FC236}">
                <a16:creationId xmlns:a16="http://schemas.microsoft.com/office/drawing/2014/main" id="{63308B9E-0AE1-402E-91BE-5202F0477826}"/>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덜어낸 뒤에도 필요한 일을 하는가?</a:t>
            </a:r>
          </a:p>
        </p:txBody>
      </p:sp>
      <p:sp>
        <p:nvSpPr>
          <p:cNvPr id="30" name="Legacy module connection">
            <a:extLst xmlns:a="http://schemas.openxmlformats.org/drawingml/2006/main">
              <a:ext uri="{FF2B5EF4-FFF2-40B4-BE49-F238E27FC236}">
                <a16:creationId xmlns:a16="http://schemas.microsoft.com/office/drawing/2014/main" id="{829D6569-A998-440F-B6CA-032140F69AE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2027861693"/>
      </p:ext>
    </p:extLst>
  </p:cSld>
</p:sld>
</file>

<file path=ppt/slides/slide119.xml><?xml version="1.0" encoding="utf-8"?>
<p:sld xmlns:p="http://schemas.openxmlformats.org/presentationml/2006/main" xmlns:a="http://schemas.openxmlformats.org/drawing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2DA3401B-80F8-4EE2-9E9C-49EE692890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9">
            <a:extLst xmlns:a="http://schemas.openxmlformats.org/drawingml/2006/main">
              <a:ext uri="{FF2B5EF4-FFF2-40B4-BE49-F238E27FC236}">
                <a16:creationId xmlns:a16="http://schemas.microsoft.com/office/drawing/2014/main" id="{DA249FCF-9053-4F27-A56D-7B10794248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S119</a:t>
            </a:r>
          </a:p>
        </p:txBody>
      </p:sp>
      <p:sp>
        <p:nvSpPr>
          <p:cNvPr id="3" name="Q&amp;A와 교육 마무리">
            <a:extLst xmlns:a="http://schemas.openxmlformats.org/drawingml/2006/main">
              <a:ext uri="{FF2B5EF4-FFF2-40B4-BE49-F238E27FC236}">
                <a16:creationId xmlns:a16="http://schemas.microsoft.com/office/drawing/2014/main" id="{C00773E5-1841-4512-9251-435CD5A1B4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63F982C-7446-4A66-8EB9-E72769DD8A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Audience footer 1">
            <a:extLst xmlns:a="http://schemas.openxmlformats.org/drawingml/2006/main">
              <a:ext uri="{FF2B5EF4-FFF2-40B4-BE49-F238E27FC236}">
                <a16:creationId xmlns:a16="http://schemas.microsoft.com/office/drawing/2014/main" id="{EBF0FCDB-C0D6-431B-A495-257F61A6AD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a:r>
              <a:rPr sz="1425" b="1">
                <a:solidFill>
                  <a:srgbClr val="4D5A68"/>
                </a:solidFill>
                <a:latin typeface="Malgun Gothic"/>
                <a:ea typeface="Malgun Gothic"/>
                <a:cs typeface="Malgun Gothic"/>
              </a:rPr>
              <a:t xml:space="preserve">목표·판단·검증·책임은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0FBA3DFA-0114-4C82-ADD3-0B5045EDE44D}"/>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8383EC58-FD1F-4CCF-8A7B-50CAF7AB79F3}"/>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E13532FF-8DDE-4493-AEF3-02AD0ABD05BF}"/>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F2B44C54-5E7A-4CDC-B7A7-1AD9F16D94A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7CC3701E-275E-4629-A258-42F5536F05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7317213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119</ap:Slides>
  <ap:Notes>119</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2026-10-25T13:24:28.4200000Z</dcterms:created>
  <dcterms:modified xsi:type="dcterms:W3CDTF">2026-10-25T13:24:28.4210000Z</dcterms:modified>
</coreProperties>
</file>