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slides/charts/chart1.xml" ContentType="application/vnd.openxmlformats-officedocument.drawingml.chart+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slides/charts/chart2.xml" ContentType="application/vnd.openxmlformats-officedocument.drawingml.chart+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id="376" r:id="R562e068ad94c4fc2"/>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2324ea7a59984abf"/><Relationship Type="http://schemas.openxmlformats.org/officeDocument/2006/relationships/slide" Target="/ppt/slides/slide16.xml" Id="Rf88a5bd1ecff4210"/><Relationship Type="http://schemas.openxmlformats.org/officeDocument/2006/relationships/slide" Target="/ppt/slides/slide17.xml" Id="R1421b08bfab84d0b"/><Relationship Type="http://schemas.openxmlformats.org/officeDocument/2006/relationships/slide" Target="/ppt/slides/slide18.xml" Id="Red86b0ab0212481f"/><Relationship Type="http://schemas.openxmlformats.org/officeDocument/2006/relationships/slide" Target="/ppt/slides/slide19.xml" Id="R41b4a79e1bc846f7"/><Relationship Type="http://schemas.openxmlformats.org/officeDocument/2006/relationships/slide" Target="/ppt/slides/slide20.xml" Id="R3dbb0943ab734dff"/><Relationship Type="http://schemas.openxmlformats.org/officeDocument/2006/relationships/slide" Target="/ppt/slides/slide21.xml" Id="R96043fbd1ea34e90"/><Relationship Type="http://schemas.openxmlformats.org/officeDocument/2006/relationships/slide" Target="/ppt/slides/slide22.xml" Id="Rb8c818146ddd40f3"/><Relationship Type="http://schemas.openxmlformats.org/officeDocument/2006/relationships/slide" Target="/ppt/slides/slide23.xml" Id="R267ceaad1ce848fb"/><Relationship Type="http://schemas.openxmlformats.org/officeDocument/2006/relationships/slide" Target="/ppt/slides/slide24.xml" Id="R3f5116ae7ea24a19"/><Relationship Type="http://schemas.openxmlformats.org/officeDocument/2006/relationships/slide" Target="/ppt/slides/slide25.xml" Id="Rd68979a1358147e4"/><Relationship Type="http://schemas.openxmlformats.org/officeDocument/2006/relationships/slide" Target="/ppt/slides/slide26.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9.xml" Id="R72ff6461cb0746fc"/><Relationship Type="http://schemas.openxmlformats.org/officeDocument/2006/relationships/slide" Target="/ppt/slides/slide60.xml" Id="R87f28cc747584435"/><Relationship Type="http://schemas.openxmlformats.org/officeDocument/2006/relationships/slide" Target="/ppt/slides/slide61.xml" Id="R0e388af578a5444a"/><Relationship Type="http://schemas.openxmlformats.org/officeDocument/2006/relationships/slide" Target="/ppt/slides/slide62.xml" Id="R4e80fc39125a409a"/><Relationship Type="http://schemas.openxmlformats.org/officeDocument/2006/relationships/slide" Target="/ppt/slides/slide63.xml" Id="Rb7fc36f3748e4e7e"/><Relationship Type="http://schemas.openxmlformats.org/officeDocument/2006/relationships/slide" Target="/ppt/slides/slide64.xml" Id="Rb594a747736746eb"/><Relationship Type="http://schemas.openxmlformats.org/officeDocument/2006/relationships/slide" Target="/ppt/slides/slide65.xml" Id="Rf904dae589414f4f"/><Relationship Type="http://schemas.openxmlformats.org/officeDocument/2006/relationships/slide" Target="/ppt/slides/slide66.xml" Id="R895eb660f69e4832"/><Relationship Type="http://schemas.openxmlformats.org/officeDocument/2006/relationships/slide" Target="/ppt/slides/slide67.xml" Id="R367ed24082b94b6a"/><Relationship Type="http://schemas.openxmlformats.org/officeDocument/2006/relationships/slide" Target="/ppt/slides/slide68.xml" Id="R78b603dd886a4965"/><Relationship Type="http://schemas.openxmlformats.org/officeDocument/2006/relationships/slide" Target="/ppt/slides/slide69.xml" Id="R7ded63a3ac80466c"/><Relationship Type="http://schemas.openxmlformats.org/officeDocument/2006/relationships/slide" Target="/ppt/slides/slide70.xml" Id="Ra7181b8897284bc1"/><Relationship Type="http://schemas.openxmlformats.org/officeDocument/2006/relationships/slide" Target="/ppt/slides/slide71.xml" Id="R0fd1a67510f34c5f"/><Relationship Type="http://schemas.openxmlformats.org/officeDocument/2006/relationships/slide" Target="/ppt/slides/slide72.xml" Id="R9f16bb685f974f5e"/><Relationship Type="http://schemas.openxmlformats.org/officeDocument/2006/relationships/slide" Target="/ppt/slides/slide73.xml" Id="R5eeb4ae768104820"/><Relationship Type="http://schemas.openxmlformats.org/officeDocument/2006/relationships/slide" Target="/ppt/slides/slide74.xml" Id="Ref8225c5602949ad"/><Relationship Type="http://schemas.openxmlformats.org/officeDocument/2006/relationships/slide" Target="/ppt/slides/slide75.xml" Id="R7597ca53a04c459b"/><Relationship Type="http://schemas.openxmlformats.org/officeDocument/2006/relationships/slide" Target="/ppt/slides/slide76.xml" Id="Rc773ae6f18264ef1"/><Relationship Type="http://schemas.openxmlformats.org/officeDocument/2006/relationships/slide" Target="/ppt/slides/slide77.xml" Id="R7b53866a56f3425e"/><Relationship Type="http://schemas.openxmlformats.org/officeDocument/2006/relationships/slide" Target="/ppt/slides/slide78.xml" Id="R2153275503b2476a"/><Relationship Type="http://schemas.openxmlformats.org/officeDocument/2006/relationships/slide" Target="/ppt/slides/slide79.xml" Id="R608ce4adbdcf4ccb"/><Relationship Type="http://schemas.openxmlformats.org/officeDocument/2006/relationships/slide" Target="/ppt/slides/slide80.xml" Id="R4678d8fca4c642b9"/><Relationship Type="http://schemas.openxmlformats.org/officeDocument/2006/relationships/slide" Target="/ppt/slides/slide81.xml" Id="Re835f6281a3e439f"/><Relationship Type="http://schemas.openxmlformats.org/officeDocument/2006/relationships/slide" Target="/ppt/slides/slide82.xml" Id="Rcacc6d5c4ad749f0"/><Relationship Type="http://schemas.openxmlformats.org/officeDocument/2006/relationships/slide" Target="/ppt/slides/slide83.xml" Id="R016396d127394e1a"/><Relationship Type="http://schemas.openxmlformats.org/officeDocument/2006/relationships/slide" Target="/ppt/slides/slide84.xml" Id="R5f303c360e3a43f7"/><Relationship Type="http://schemas.openxmlformats.org/officeDocument/2006/relationships/slide" Target="/ppt/slides/slide85.xml" Id="R70a347417a0e4436"/><Relationship Type="http://schemas.openxmlformats.org/officeDocument/2006/relationships/slide" Target="/ppt/slides/slide86.xml" Id="R427f8faf69084bf2"/><Relationship Type="http://schemas.openxmlformats.org/officeDocument/2006/relationships/slide" Target="/ppt/slides/slide87.xml" Id="R7b1929d697764fed"/><Relationship Type="http://schemas.openxmlformats.org/officeDocument/2006/relationships/slide" Target="/ppt/slides/slide88.xml" Id="R7b8f7c435d8b461f"/><Relationship Type="http://schemas.openxmlformats.org/officeDocument/2006/relationships/slide" Target="/ppt/slides/slide89.xml" Id="R507d9a6a7b414991"/><Relationship Type="http://schemas.openxmlformats.org/officeDocument/2006/relationships/slide" Target="/ppt/slides/slide90.xml" Id="Rae9abd65533e4896"/><Relationship Type="http://schemas.openxmlformats.org/officeDocument/2006/relationships/slide" Target="/ppt/slides/slide91.xml" Id="R972055e3d0974d3d"/><Relationship Type="http://schemas.openxmlformats.org/officeDocument/2006/relationships/slide" Target="/ppt/slides/slide92.xml" Id="Rfab2baeaf6c2489e"/><Relationship Type="http://schemas.openxmlformats.org/officeDocument/2006/relationships/slide" Target="/ppt/slides/slide93.xml" Id="R1a08854b15af4bcd"/><Relationship Type="http://schemas.openxmlformats.org/officeDocument/2006/relationships/slide" Target="/ppt/slides/slide94.xml" Id="R78079090e17c4a8c"/><Relationship Type="http://schemas.openxmlformats.org/officeDocument/2006/relationships/slide" Target="/ppt/slides/slide95.xml" Id="R5b1111aade374262"/><Relationship Type="http://schemas.openxmlformats.org/officeDocument/2006/relationships/slide" Target="/ppt/slides/slide96.xml" Id="Rf817ae0da26b49b8"/><Relationship Type="http://schemas.openxmlformats.org/officeDocument/2006/relationships/slide" Target="/ppt/slides/slide97.xml" Id="R5cc79f0d8ad94df8"/><Relationship Type="http://schemas.openxmlformats.org/officeDocument/2006/relationships/slide" Target="/ppt/slides/slide98.xml" Id="R7e79aaa9bff346fa"/><Relationship Type="http://schemas.openxmlformats.org/officeDocument/2006/relationships/slide" Target="/ppt/slides/slide99.xml" Id="R0063c448f38e4336"/><Relationship Type="http://schemas.openxmlformats.org/officeDocument/2006/relationships/slide" Target="/ppt/slides/slide100.xml" Id="Rb0627c4a99df4d4f"/><Relationship Type="http://schemas.openxmlformats.org/officeDocument/2006/relationships/slide" Target="/ppt/slides/slide101.xml" Id="Ra10a0e13a2184135"/><Relationship Type="http://schemas.openxmlformats.org/officeDocument/2006/relationships/slide" Target="/ppt/slides/slide102.xml" Id="R9b60d9b4a2e44dd3"/><Relationship Type="http://schemas.openxmlformats.org/officeDocument/2006/relationships/slide" Target="/ppt/slides/slide103.xml" Id="Rc17d36dd79264453"/><Relationship Type="http://schemas.openxmlformats.org/officeDocument/2006/relationships/slide" Target="/ppt/slides/slide104.xml" Id="R603e33c25b484f54"/><Relationship Type="http://schemas.openxmlformats.org/officeDocument/2006/relationships/slide" Target="/ppt/slides/slide105.xml" Id="R6fd503a3177f4d06"/><Relationship Type="http://schemas.openxmlformats.org/officeDocument/2006/relationships/slide" Target="/ppt/slides/slide106.xml" Id="Rd07a9a0a0d094a1f"/><Relationship Type="http://schemas.openxmlformats.org/officeDocument/2006/relationships/slide" Target="/ppt/slides/slide107.xml" Id="R718f7d508df64340"/><Relationship Type="http://schemas.openxmlformats.org/officeDocument/2006/relationships/slide" Target="/ppt/slides/slide108.xml" Id="Rb2144a6581f3498a"/><Relationship Type="http://schemas.openxmlformats.org/officeDocument/2006/relationships/slide" Target="/ppt/slides/slide109.xml" Id="R7e193bf32174419f"/><Relationship Type="http://schemas.openxmlformats.org/officeDocument/2006/relationships/slide" Target="/ppt/slides/slide110.xml" Id="R3b2b3b2837f345d7"/><Relationship Type="http://schemas.openxmlformats.org/officeDocument/2006/relationships/slide" Target="/ppt/slides/slide111.xml" Id="Rc8d64c078fdb4e93"/><Relationship Type="http://schemas.openxmlformats.org/officeDocument/2006/relationships/slide" Target="/ppt/slides/slide112.xml" Id="R14761046fa0449ad"/><Relationship Type="http://schemas.openxmlformats.org/officeDocument/2006/relationships/slide" Target="/ppt/slides/slide113.xml" Id="R308e5dcf86374f7a"/><Relationship Type="http://schemas.openxmlformats.org/officeDocument/2006/relationships/slide" Target="/ppt/slides/slide114.xml" Id="Rb70d6e328be74d60"/><Relationship Type="http://schemas.openxmlformats.org/officeDocument/2006/relationships/slide" Target="/ppt/slides/slide115.xml" Id="Re9f94e65c1024047"/><Relationship Type="http://schemas.openxmlformats.org/officeDocument/2006/relationships/slide" Target="/ppt/slides/slide116.xml" Id="R44280ecc75ac417f"/><Relationship Type="http://schemas.openxmlformats.org/officeDocument/2006/relationships/slide" Target="/ppt/slides/slide117.xml" Id="R350e5087273b43f8"/><Relationship Type="http://schemas.openxmlformats.org/officeDocument/2006/relationships/slide" Target="/ppt/slides/slide118.xml" Id="R99aa14256c364cca"/><Relationship Type="http://schemas.openxmlformats.org/officeDocument/2006/relationships/slide" Target="/ppt/slides/slide119.xml" Id="Re7befaa2280e40d8"/><Relationship Type="http://schemas.openxmlformats.org/officeDocument/2006/relationships/slide" Target="/ppt/slides/slide120.xml" Id="Rb72241cc12ab4b73"/><Relationship Id="CopilotTipAfterS03" Type="http://schemas.openxmlformats.org/officeDocument/2006/relationships/slide" Target="/ppt/slides/slide4.xml"/><Relationship Id="AgentsScopeTip1" Type="http://schemas.openxmlformats.org/officeDocument/2006/relationships/slide" Target="/ppt/slides/slide56.xml"/><Relationship Id="AgentsScopeTip2" Type="http://schemas.openxmlformats.org/officeDocument/2006/relationships/slide" Target="/ppt/slides/slide57.xml"/><Relationship Id="AgentsScopeTip3" Type="http://schemas.openxmlformats.org/officeDocument/2006/relationships/slide" Target="/ppt/slides/slide58.xml"/><Relationship Type="http://schemas.openxmlformats.org/officeDocument/2006/relationships/slide" Target="/ppt/slides/slide27.xml" Id="R562e068ad94c4fc2"/></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2cf5e4e08ef949c1"/><Relationship Type="http://schemas.openxmlformats.org/officeDocument/2006/relationships/notesMaster" Target="/ppt/notesMasters/notesMaster1.xml" Id="Rb0de13c330b04519"/></Relationships>
</file>

<file path=ppt/notesSlides/_rels/notesSlide16.xml.rels><?xml version="1.0" encoding="utf-8"?><Relationships xmlns="http://schemas.openxmlformats.org/package/2006/relationships"><Relationship Type="http://schemas.openxmlformats.org/officeDocument/2006/relationships/slide" Target="/ppt/slides/slide16.xml" Id="R7301750abf6f4a83"/><Relationship Type="http://schemas.openxmlformats.org/officeDocument/2006/relationships/notesMaster" Target="/ppt/notesMasters/notesMaster1.xml" Id="Rc66635230a774473"/></Relationships>
</file>

<file path=ppt/notesSlides/_rels/notesSlide17.xml.rels><?xml version="1.0" encoding="utf-8"?><Relationships xmlns="http://schemas.openxmlformats.org/package/2006/relationships"><Relationship Type="http://schemas.openxmlformats.org/officeDocument/2006/relationships/slide" Target="/ppt/slides/slide17.xml" Id="Re6fa6a9d378647c4"/><Relationship Type="http://schemas.openxmlformats.org/officeDocument/2006/relationships/notesMaster" Target="/ppt/notesMasters/notesMaster1.xml" Id="Rd04df728b5b1496b"/></Relationships>
</file>

<file path=ppt/notesSlides/_rels/notesSlide18.xml.rels><?xml version="1.0" encoding="utf-8"?><Relationships xmlns="http://schemas.openxmlformats.org/package/2006/relationships"><Relationship Type="http://schemas.openxmlformats.org/officeDocument/2006/relationships/slide" Target="/ppt/slides/slide18.xml" Id="Rc49004c64dcc4114"/><Relationship Type="http://schemas.openxmlformats.org/officeDocument/2006/relationships/notesMaster" Target="/ppt/notesMasters/notesMaster1.xml" Id="R8597ca8eebd94fe2"/></Relationships>
</file>

<file path=ppt/notesSlides/_rels/notesSlide19.xml.rels><?xml version="1.0" encoding="utf-8"?><Relationships xmlns="http://schemas.openxmlformats.org/package/2006/relationships"><Relationship Type="http://schemas.openxmlformats.org/officeDocument/2006/relationships/slide" Target="/ppt/slides/slide19.xml" Id="R029c79815b914f6e"/><Relationship Type="http://schemas.openxmlformats.org/officeDocument/2006/relationships/notesMaster" Target="/ppt/notesMasters/notesMaster1.xml" Id="R3d15e51f2b8c46c6"/></Relationships>
</file>

<file path=ppt/notesSlides/_rels/notesSlide20.xml.rels><?xml version="1.0" encoding="utf-8"?><Relationships xmlns="http://schemas.openxmlformats.org/package/2006/relationships"><Relationship Type="http://schemas.openxmlformats.org/officeDocument/2006/relationships/slide" Target="/ppt/slides/slide20.xml" Id="R9e178c6ca04b403f"/><Relationship Type="http://schemas.openxmlformats.org/officeDocument/2006/relationships/notesMaster" Target="/ppt/notesMasters/notesMaster1.xml" Id="R4bba528c2e944dd4"/></Relationships>
</file>

<file path=ppt/notesSlides/_rels/notesSlide21.xml.rels><?xml version="1.0" encoding="utf-8"?><Relationships xmlns="http://schemas.openxmlformats.org/package/2006/relationships"><Relationship Type="http://schemas.openxmlformats.org/officeDocument/2006/relationships/slide" Target="/ppt/slides/slide21.xml" Id="R73db2b646f9f4c5d"/><Relationship Type="http://schemas.openxmlformats.org/officeDocument/2006/relationships/notesMaster" Target="/ppt/notesMasters/notesMaster1.xml" Id="R8c8e0b0a71694e52"/></Relationships>
</file>

<file path=ppt/notesSlides/_rels/notesSlide22.xml.rels><?xml version="1.0" encoding="utf-8"?><Relationships xmlns="http://schemas.openxmlformats.org/package/2006/relationships"><Relationship Type="http://schemas.openxmlformats.org/officeDocument/2006/relationships/slide" Target="/ppt/slides/slide22.xml" Id="R4ca6d8b892654ee8"/><Relationship Type="http://schemas.openxmlformats.org/officeDocument/2006/relationships/notesMaster" Target="/ppt/notesMasters/notesMaster1.xml" Id="R614a5fd6875b4611"/></Relationships>
</file>

<file path=ppt/notesSlides/_rels/notesSlide23.xml.rels><?xml version="1.0" encoding="utf-8"?><Relationships xmlns="http://schemas.openxmlformats.org/package/2006/relationships"><Relationship Type="http://schemas.openxmlformats.org/officeDocument/2006/relationships/slide" Target="/ppt/slides/slide23.xml" Id="Rd63b94f958c64bfc"/><Relationship Type="http://schemas.openxmlformats.org/officeDocument/2006/relationships/notesMaster" Target="/ppt/notesMasters/notesMaster1.xml" Id="R33ff3b357a2e4278"/></Relationships>
</file>

<file path=ppt/notesSlides/_rels/notesSlide24.xml.rels><?xml version="1.0" encoding="utf-8"?><Relationships xmlns="http://schemas.openxmlformats.org/package/2006/relationships"><Relationship Type="http://schemas.openxmlformats.org/officeDocument/2006/relationships/slide" Target="/ppt/slides/slide24.xml" Id="R8d9284509cb040bf"/><Relationship Type="http://schemas.openxmlformats.org/officeDocument/2006/relationships/notesMaster" Target="/ppt/notesMasters/notesMaster1.xml" Id="R94341f82308244b7"/></Relationships>
</file>

<file path=ppt/notesSlides/_rels/notesSlide25.xml.rels><?xml version="1.0" encoding="utf-8"?><Relationships xmlns="http://schemas.openxmlformats.org/package/2006/relationships"><Relationship Type="http://schemas.openxmlformats.org/officeDocument/2006/relationships/slide" Target="/ppt/slides/slide25.xml" Id="Rf121fc86bf444ad2"/><Relationship Type="http://schemas.openxmlformats.org/officeDocument/2006/relationships/notesMaster" Target="/ppt/notesMasters/notesMaster1.xml" Id="R3478b766b2b34cb1"/></Relationships>
</file>

<file path=ppt/notesSlides/_rels/notesSlide26.xml.rels><?xml version="1.0" encoding="utf-8"?><Relationships xmlns="http://schemas.openxmlformats.org/package/2006/relationships"><Relationship Type="http://schemas.openxmlformats.org/officeDocument/2006/relationships/slide" Target="/ppt/slides/slide26.xml" Id="R7ac060aac17e48a6"/><Relationship Type="http://schemas.openxmlformats.org/officeDocument/2006/relationships/notesMaster" Target="/ppt/notesMasters/notesMaster1.xml" Id="Rda8a433128fa4b16"/></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Relationship Type="http://schemas.openxmlformats.org/officeDocument/2006/relationships/notesMaster" Target="/ppt/notesMasters/notesMaster1.xml" Id="Rda8a433128fa4b16"/></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Relationship Type="http://schemas.openxmlformats.org/officeDocument/2006/relationships/notesMaster" Target="/ppt/notesMasters/notesMaster1.xml" Id="R92f313188ba24d0c"/></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Relationship Type="http://schemas.openxmlformats.org/officeDocument/2006/relationships/notesMaster" Target="/ppt/notesMasters/notesMaster1.xml" Id="R1059aaca941e4630"/></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Relationship Type="http://schemas.openxmlformats.org/officeDocument/2006/relationships/notesMaster" Target="/ppt/notesMasters/notesMaster1.xml" Id="R153d5f827a8646a6"/></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Relationship Type="http://schemas.openxmlformats.org/officeDocument/2006/relationships/notesMaster" Target="/ppt/notesMasters/notesMaster1.xml" Id="R6fc6def0efcb4d94"/></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Relationship Type="http://schemas.openxmlformats.org/officeDocument/2006/relationships/notesMaster" Target="/ppt/notesMasters/notesMaster1.xml" Id="R5d345cc6a40b4ef8"/></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Relationship Type="http://schemas.openxmlformats.org/officeDocument/2006/relationships/notesMaster" Target="/ppt/notesMasters/notesMaster1.xml" Id="R6e020c48cfce4997"/></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Relationship Type="http://schemas.openxmlformats.org/officeDocument/2006/relationships/notesMaster" Target="/ppt/notesMasters/notesMaster1.xml" Id="R75de794708ea41ad"/></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Relationship Type="http://schemas.openxmlformats.org/officeDocument/2006/relationships/notesMaster" Target="/ppt/notesMasters/notesMaster1.xml" Id="R6e1a705c247c45d5"/></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Relationship Type="http://schemas.openxmlformats.org/officeDocument/2006/relationships/notesMaster" Target="/ppt/notesMasters/notesMaster1.xml" Id="R3c74c6a455244d15"/></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Relationship Type="http://schemas.openxmlformats.org/officeDocument/2006/relationships/notesMaster" Target="/ppt/notesMasters/notesMaster1.xml" Id="Reee8baa74f6e44fc"/></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Relationship Type="http://schemas.openxmlformats.org/officeDocument/2006/relationships/notesMaster" Target="/ppt/notesMasters/notesMaster1.xml" Id="R0a067a864a764a6e"/></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Relationship Type="http://schemas.openxmlformats.org/officeDocument/2006/relationships/notesMaster" Target="/ppt/notesMasters/notesMaster1.xml" Id="R690345a37f2240d5"/></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Relationship Type="http://schemas.openxmlformats.org/officeDocument/2006/relationships/notesMaster" Target="/ppt/notesMasters/notesMaster1.xml" Id="R9a1b31d13d1e488c"/></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Relationship Type="http://schemas.openxmlformats.org/officeDocument/2006/relationships/notesMaster" Target="/ppt/notesMasters/notesMaster1.xml" Id="Rb3c5eb7838514888"/></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Relationship Type="http://schemas.openxmlformats.org/officeDocument/2006/relationships/notesMaster" Target="/ppt/notesMasters/notesMaster1.xml" Id="R1a9e99f102ab47bb"/></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Relationship Type="http://schemas.openxmlformats.org/officeDocument/2006/relationships/notesMaster" Target="/ppt/notesMasters/notesMaster1.xml" Id="R4932c0f27fd44bfe"/></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Relationship Type="http://schemas.openxmlformats.org/officeDocument/2006/relationships/notesMaster" Target="/ppt/notesMasters/notesMaster1.xml" Id="Rc3d8815449fa4306"/></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Relationship Type="http://schemas.openxmlformats.org/officeDocument/2006/relationships/notesMaster" Target="/ppt/notesMasters/notesMaster1.xml" Id="Rfed2bd914ede4447"/></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Relationship Type="http://schemas.openxmlformats.org/officeDocument/2006/relationships/notesMaster" Target="/ppt/notesMasters/notesMaster1.xml" Id="R38c9e617f9274904"/></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Relationship Type="http://schemas.openxmlformats.org/officeDocument/2006/relationships/notesMaster" Target="/ppt/notesMasters/notesMaster1.xml" Id="R998ca9207282418a"/></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Relationship Type="http://schemas.openxmlformats.org/officeDocument/2006/relationships/notesMaster" Target="/ppt/notesMasters/notesMaster1.xml" Id="Rd38075829c4a4204"/></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Relationship Type="http://schemas.openxmlformats.org/officeDocument/2006/relationships/notesMaster" Target="/ppt/notesMasters/notesMaster1.xml" Id="Ra035fd65003543d4"/></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Relationship Type="http://schemas.openxmlformats.org/officeDocument/2006/relationships/notesMaster" Target="/ppt/notesMasters/notesMaster1.xml" Id="Rff4917388cae47d6"/></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Relationship Type="http://schemas.openxmlformats.org/officeDocument/2006/relationships/notesMaster" Target="/ppt/notesMasters/notesMaster1.xml" Id="Rb201c12cec194cc2"/></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Relationship Type="http://schemas.openxmlformats.org/officeDocument/2006/relationships/notesMaster" Target="/ppt/notesMasters/notesMaster1.xml" Id="R98b78708a46841a7"/></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Relationship Type="http://schemas.openxmlformats.org/officeDocument/2006/relationships/notesMaster" Target="/ppt/notesMasters/notesMaster1.xml" Id="R5d4d024401be4f35"/></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Relationship Type="http://schemas.openxmlformats.org/officeDocument/2006/relationships/notesMaster" Target="/ppt/notesMasters/notesMaster1.xml" Id="R2beee451bb4f417e"/></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Relationship Type="http://schemas.openxmlformats.org/officeDocument/2006/relationships/notesMaster" Target="/ppt/notesMasters/notesMaster1.xml" Id="Rec895c04a376450f"/></Relationships>
</file>

<file path=ppt/notesSlides/_rels/notesSlide56.xml.rels><?xml version="1.0" encoding="utf-8"?><Relationships xmlns="http://schemas.openxmlformats.org/package/2006/relationships"><Relationship Type="http://schemas.openxmlformats.org/officeDocument/2006/relationships/slide" Target="/ppt/slides/slide56.xml" Id="Rc318f49d3acc4830"/><Relationship Type="http://schemas.openxmlformats.org/officeDocument/2006/relationships/notesMaster" Target="/ppt/notesMasters/notesMaster1.xml" Id="Rab283a938dc64efe"/></Relationships>
</file>

<file path=ppt/notesSlides/_rels/notesSlide57.xml.rels><?xml version="1.0" encoding="utf-8"?><Relationships xmlns="http://schemas.openxmlformats.org/package/2006/relationships"><Relationship Type="http://schemas.openxmlformats.org/officeDocument/2006/relationships/slide" Target="/ppt/slides/slide57.xml" Id="R37b3914b36894636"/><Relationship Type="http://schemas.openxmlformats.org/officeDocument/2006/relationships/notesMaster" Target="/ppt/notesMasters/notesMaster1.xml" Id="Rd01408e265974e05"/></Relationships>
</file>

<file path=ppt/notesSlides/_rels/notesSlide58.xml.rels><?xml version="1.0" encoding="utf-8"?><Relationships xmlns="http://schemas.openxmlformats.org/package/2006/relationships"><Relationship Type="http://schemas.openxmlformats.org/officeDocument/2006/relationships/slide" Target="/ppt/slides/slide58.xml" Id="R04c54d61fbfb4c39"/><Relationship Type="http://schemas.openxmlformats.org/officeDocument/2006/relationships/notesMaster" Target="/ppt/notesMasters/notesMaster1.xml" Id="R50058a4ee4ca4c37"/></Relationships>
</file>

<file path=ppt/notesSlides/_rels/notesSlide59.xml.rels><?xml version="1.0" encoding="utf-8"?><Relationships xmlns="http://schemas.openxmlformats.org/package/2006/relationships"><Relationship Type="http://schemas.openxmlformats.org/officeDocument/2006/relationships/slide" Target="/ppt/slides/slide59.xml" Id="R34c2dfb647954740"/><Relationship Type="http://schemas.openxmlformats.org/officeDocument/2006/relationships/notesMaster" Target="/ppt/notesMasters/notesMaster1.xml" Id="R772b29c6f08a48a9"/></Relationships>
</file>

<file path=ppt/notesSlides/_rels/notesSlide60.xml.rels><?xml version="1.0" encoding="utf-8"?><Relationships xmlns="http://schemas.openxmlformats.org/package/2006/relationships"><Relationship Type="http://schemas.openxmlformats.org/officeDocument/2006/relationships/slide" Target="/ppt/slides/slide60.xml" Id="R34d6c63d743b4d95"/><Relationship Type="http://schemas.openxmlformats.org/officeDocument/2006/relationships/notesMaster" Target="/ppt/notesMasters/notesMaster1.xml" Id="Rc9843874f9a745f4"/></Relationships>
</file>

<file path=ppt/notesSlides/_rels/notesSlide61.xml.rels><?xml version="1.0" encoding="utf-8"?><Relationships xmlns="http://schemas.openxmlformats.org/package/2006/relationships"><Relationship Type="http://schemas.openxmlformats.org/officeDocument/2006/relationships/slide" Target="/ppt/slides/slide61.xml" Id="Rb66f601fa32245e6"/><Relationship Type="http://schemas.openxmlformats.org/officeDocument/2006/relationships/notesMaster" Target="/ppt/notesMasters/notesMaster1.xml" Id="R14cd720d54274fa1"/></Relationships>
</file>

<file path=ppt/notesSlides/_rels/notesSlide62.xml.rels><?xml version="1.0" encoding="utf-8"?><Relationships xmlns="http://schemas.openxmlformats.org/package/2006/relationships"><Relationship Type="http://schemas.openxmlformats.org/officeDocument/2006/relationships/slide" Target="/ppt/slides/slide62.xml" Id="R25ede0acb2394a3e"/><Relationship Type="http://schemas.openxmlformats.org/officeDocument/2006/relationships/notesMaster" Target="/ppt/notesMasters/notesMaster1.xml" Id="R733e545b2c744b6f"/></Relationships>
</file>

<file path=ppt/notesSlides/_rels/notesSlide63.xml.rels><?xml version="1.0" encoding="utf-8"?><Relationships xmlns="http://schemas.openxmlformats.org/package/2006/relationships"><Relationship Type="http://schemas.openxmlformats.org/officeDocument/2006/relationships/slide" Target="/ppt/slides/slide63.xml" Id="Rf7349916333445a4"/><Relationship Type="http://schemas.openxmlformats.org/officeDocument/2006/relationships/notesMaster" Target="/ppt/notesMasters/notesMaster1.xml" Id="R592735f8936f47da"/></Relationships>
</file>

<file path=ppt/notesSlides/_rels/notesSlide64.xml.rels><?xml version="1.0" encoding="utf-8"?><Relationships xmlns="http://schemas.openxmlformats.org/package/2006/relationships"><Relationship Type="http://schemas.openxmlformats.org/officeDocument/2006/relationships/slide" Target="/ppt/slides/slide64.xml" Id="R17b760d51b6e468a"/><Relationship Type="http://schemas.openxmlformats.org/officeDocument/2006/relationships/notesMaster" Target="/ppt/notesMasters/notesMaster1.xml" Id="R8adb15f9dad74c78"/></Relationships>
</file>

<file path=ppt/notesSlides/_rels/notesSlide65.xml.rels><?xml version="1.0" encoding="utf-8"?><Relationships xmlns="http://schemas.openxmlformats.org/package/2006/relationships"><Relationship Type="http://schemas.openxmlformats.org/officeDocument/2006/relationships/slide" Target="/ppt/slides/slide65.xml" Id="Rf6ecd46fd4544049"/><Relationship Type="http://schemas.openxmlformats.org/officeDocument/2006/relationships/notesMaster" Target="/ppt/notesMasters/notesMaster1.xml" Id="Rf406a0ad792440e8"/></Relationships>
</file>

<file path=ppt/notesSlides/_rels/notesSlide66.xml.rels><?xml version="1.0" encoding="utf-8"?><Relationships xmlns="http://schemas.openxmlformats.org/package/2006/relationships"><Relationship Type="http://schemas.openxmlformats.org/officeDocument/2006/relationships/slide" Target="/ppt/slides/slide66.xml" Id="Re0bd13ceb21948cb"/><Relationship Type="http://schemas.openxmlformats.org/officeDocument/2006/relationships/notesMaster" Target="/ppt/notesMasters/notesMaster1.xml" Id="Rfe8ae5366316458c"/></Relationships>
</file>

<file path=ppt/notesSlides/_rels/notesSlide67.xml.rels><?xml version="1.0" encoding="utf-8"?><Relationships xmlns="http://schemas.openxmlformats.org/package/2006/relationships"><Relationship Type="http://schemas.openxmlformats.org/officeDocument/2006/relationships/slide" Target="/ppt/slides/slide67.xml" Id="R4f047f8673e04507"/><Relationship Type="http://schemas.openxmlformats.org/officeDocument/2006/relationships/notesMaster" Target="/ppt/notesMasters/notesMaster1.xml" Id="R733d4ec229824b70"/></Relationships>
</file>

<file path=ppt/notesSlides/_rels/notesSlide68.xml.rels><?xml version="1.0" encoding="utf-8"?><Relationships xmlns="http://schemas.openxmlformats.org/package/2006/relationships"><Relationship Type="http://schemas.openxmlformats.org/officeDocument/2006/relationships/slide" Target="/ppt/slides/slide68.xml" Id="R62d2e02935a7486a"/><Relationship Type="http://schemas.openxmlformats.org/officeDocument/2006/relationships/notesMaster" Target="/ppt/notesMasters/notesMaster1.xml" Id="R150fc5a78fd140b6"/></Relationships>
</file>

<file path=ppt/notesSlides/_rels/notesSlide69.xml.rels><?xml version="1.0" encoding="utf-8"?><Relationships xmlns="http://schemas.openxmlformats.org/package/2006/relationships"><Relationship Type="http://schemas.openxmlformats.org/officeDocument/2006/relationships/slide" Target="/ppt/slides/slide69.xml" Id="Rcad2e2ecdc5646dd"/><Relationship Type="http://schemas.openxmlformats.org/officeDocument/2006/relationships/notesMaster" Target="/ppt/notesMasters/notesMaster1.xml" Id="R886e991404294ab7"/></Relationships>
</file>

<file path=ppt/notesSlides/_rels/notesSlide70.xml.rels><?xml version="1.0" encoding="utf-8"?><Relationships xmlns="http://schemas.openxmlformats.org/package/2006/relationships"><Relationship Type="http://schemas.openxmlformats.org/officeDocument/2006/relationships/slide" Target="/ppt/slides/slide70.xml" Id="R4673147063e34b11"/><Relationship Type="http://schemas.openxmlformats.org/officeDocument/2006/relationships/notesMaster" Target="/ppt/notesMasters/notesMaster1.xml" Id="R63d921fc331b4280"/></Relationships>
</file>

<file path=ppt/notesSlides/_rels/notesSlide71.xml.rels><?xml version="1.0" encoding="utf-8"?><Relationships xmlns="http://schemas.openxmlformats.org/package/2006/relationships"><Relationship Type="http://schemas.openxmlformats.org/officeDocument/2006/relationships/slide" Target="/ppt/slides/slide71.xml" Id="R1e80c3c74e264b95"/><Relationship Type="http://schemas.openxmlformats.org/officeDocument/2006/relationships/notesMaster" Target="/ppt/notesMasters/notesMaster1.xml" Id="R318b408e272c4369"/></Relationships>
</file>

<file path=ppt/notesSlides/_rels/notesSlide72.xml.rels><?xml version="1.0" encoding="utf-8"?><Relationships xmlns="http://schemas.openxmlformats.org/package/2006/relationships"><Relationship Type="http://schemas.openxmlformats.org/officeDocument/2006/relationships/slide" Target="/ppt/slides/slide72.xml" Id="Rd42e793e8c8f4085"/><Relationship Type="http://schemas.openxmlformats.org/officeDocument/2006/relationships/notesMaster" Target="/ppt/notesMasters/notesMaster1.xml" Id="Raa78ffb4470f4114"/></Relationships>
</file>

<file path=ppt/notesSlides/_rels/notesSlide73.xml.rels><?xml version="1.0" encoding="utf-8"?><Relationships xmlns="http://schemas.openxmlformats.org/package/2006/relationships"><Relationship Type="http://schemas.openxmlformats.org/officeDocument/2006/relationships/slide" Target="/ppt/slides/slide73.xml" Id="R9061ea39fbf8475e"/><Relationship Type="http://schemas.openxmlformats.org/officeDocument/2006/relationships/notesMaster" Target="/ppt/notesMasters/notesMaster1.xml" Id="Re69af64665704edd"/></Relationships>
</file>

<file path=ppt/notesSlides/_rels/notesSlide74.xml.rels><?xml version="1.0" encoding="utf-8"?><Relationships xmlns="http://schemas.openxmlformats.org/package/2006/relationships"><Relationship Type="http://schemas.openxmlformats.org/officeDocument/2006/relationships/slide" Target="/ppt/slides/slide74.xml" Id="R27bfc235a3304140"/><Relationship Type="http://schemas.openxmlformats.org/officeDocument/2006/relationships/notesMaster" Target="/ppt/notesMasters/notesMaster1.xml" Id="Rae8aa6d06c57427d"/></Relationships>
</file>

<file path=ppt/notesSlides/_rels/notesSlide75.xml.rels><?xml version="1.0" encoding="utf-8"?><Relationships xmlns="http://schemas.openxmlformats.org/package/2006/relationships"><Relationship Type="http://schemas.openxmlformats.org/officeDocument/2006/relationships/slide" Target="/ppt/slides/slide75.xml" Id="Re5ea548712ec48dd"/><Relationship Type="http://schemas.openxmlformats.org/officeDocument/2006/relationships/notesMaster" Target="/ppt/notesMasters/notesMaster1.xml" Id="R2e5242e14e0a4391"/></Relationships>
</file>

<file path=ppt/notesSlides/_rels/notesSlide76.xml.rels><?xml version="1.0" encoding="utf-8"?><Relationships xmlns="http://schemas.openxmlformats.org/package/2006/relationships"><Relationship Type="http://schemas.openxmlformats.org/officeDocument/2006/relationships/slide" Target="/ppt/slides/slide76.xml" Id="R9547e52616064d1f"/><Relationship Type="http://schemas.openxmlformats.org/officeDocument/2006/relationships/notesMaster" Target="/ppt/notesMasters/notesMaster1.xml" Id="Rbfbf5fb2658247a4"/></Relationships>
</file>

<file path=ppt/notesSlides/_rels/notesSlide77.xml.rels><?xml version="1.0" encoding="utf-8"?><Relationships xmlns="http://schemas.openxmlformats.org/package/2006/relationships"><Relationship Type="http://schemas.openxmlformats.org/officeDocument/2006/relationships/slide" Target="/ppt/slides/slide77.xml" Id="R0b3e933c4e3345fb"/><Relationship Type="http://schemas.openxmlformats.org/officeDocument/2006/relationships/notesMaster" Target="/ppt/notesMasters/notesMaster1.xml" Id="R881e018f7d3a4212"/></Relationships>
</file>

<file path=ppt/notesSlides/_rels/notesSlide78.xml.rels><?xml version="1.0" encoding="utf-8"?><Relationships xmlns="http://schemas.openxmlformats.org/package/2006/relationships"><Relationship Type="http://schemas.openxmlformats.org/officeDocument/2006/relationships/slide" Target="/ppt/slides/slide78.xml" Id="R6163cd5fdb3a40c7"/><Relationship Type="http://schemas.openxmlformats.org/officeDocument/2006/relationships/notesMaster" Target="/ppt/notesMasters/notesMaster1.xml" Id="R74aabc30838745da"/></Relationships>
</file>

<file path=ppt/notesSlides/_rels/notesSlide79.xml.rels><?xml version="1.0" encoding="utf-8"?><Relationships xmlns="http://schemas.openxmlformats.org/package/2006/relationships"><Relationship Type="http://schemas.openxmlformats.org/officeDocument/2006/relationships/slide" Target="/ppt/slides/slide79.xml" Id="R2d64f837e3af43c0"/><Relationship Type="http://schemas.openxmlformats.org/officeDocument/2006/relationships/notesMaster" Target="/ppt/notesMasters/notesMaster1.xml" Id="R98c0d1f05ec04ed7"/></Relationships>
</file>

<file path=ppt/notesSlides/_rels/notesSlide80.xml.rels><?xml version="1.0" encoding="utf-8"?><Relationships xmlns="http://schemas.openxmlformats.org/package/2006/relationships"><Relationship Type="http://schemas.openxmlformats.org/officeDocument/2006/relationships/slide" Target="/ppt/slides/slide80.xml" Id="Race410cb1044427e"/><Relationship Type="http://schemas.openxmlformats.org/officeDocument/2006/relationships/notesMaster" Target="/ppt/notesMasters/notesMaster1.xml" Id="Rda5d90d4963145f2"/></Relationships>
</file>

<file path=ppt/notesSlides/_rels/notesSlide81.xml.rels><?xml version="1.0" encoding="utf-8"?><Relationships xmlns="http://schemas.openxmlformats.org/package/2006/relationships"><Relationship Type="http://schemas.openxmlformats.org/officeDocument/2006/relationships/slide" Target="/ppt/slides/slide81.xml" Id="R21c7f53710cc4461"/><Relationship Type="http://schemas.openxmlformats.org/officeDocument/2006/relationships/notesMaster" Target="/ppt/notesMasters/notesMaster1.xml" Id="R7955f82dd04b405c"/></Relationships>
</file>

<file path=ppt/notesSlides/_rels/notesSlide82.xml.rels><?xml version="1.0" encoding="utf-8"?><Relationships xmlns="http://schemas.openxmlformats.org/package/2006/relationships"><Relationship Type="http://schemas.openxmlformats.org/officeDocument/2006/relationships/slide" Target="/ppt/slides/slide82.xml" Id="R79b12de649d04f9e"/><Relationship Type="http://schemas.openxmlformats.org/officeDocument/2006/relationships/notesMaster" Target="/ppt/notesMasters/notesMaster1.xml" Id="Rf3b67b75301c4e34"/></Relationships>
</file>

<file path=ppt/notesSlides/_rels/notesSlide83.xml.rels><?xml version="1.0" encoding="utf-8"?><Relationships xmlns="http://schemas.openxmlformats.org/package/2006/relationships"><Relationship Type="http://schemas.openxmlformats.org/officeDocument/2006/relationships/slide" Target="/ppt/slides/slide83.xml" Id="R1926d21be99e477c"/><Relationship Type="http://schemas.openxmlformats.org/officeDocument/2006/relationships/notesMaster" Target="/ppt/notesMasters/notesMaster1.xml" Id="R28d9e3e5c7be4691"/></Relationships>
</file>

<file path=ppt/notesSlides/_rels/notesSlide84.xml.rels><?xml version="1.0" encoding="utf-8"?><Relationships xmlns="http://schemas.openxmlformats.org/package/2006/relationships"><Relationship Type="http://schemas.openxmlformats.org/officeDocument/2006/relationships/slide" Target="/ppt/slides/slide84.xml" Id="R84d7346d013f4f98"/><Relationship Type="http://schemas.openxmlformats.org/officeDocument/2006/relationships/notesMaster" Target="/ppt/notesMasters/notesMaster1.xml" Id="R9b6a1a62bcff403c"/></Relationships>
</file>

<file path=ppt/notesSlides/_rels/notesSlide85.xml.rels><?xml version="1.0" encoding="utf-8"?><Relationships xmlns="http://schemas.openxmlformats.org/package/2006/relationships"><Relationship Type="http://schemas.openxmlformats.org/officeDocument/2006/relationships/slide" Target="/ppt/slides/slide85.xml" Id="R7f388a0b87bc41a4"/><Relationship Type="http://schemas.openxmlformats.org/officeDocument/2006/relationships/notesMaster" Target="/ppt/notesMasters/notesMaster1.xml" Id="Raf8067029d9042b1"/></Relationships>
</file>

<file path=ppt/notesSlides/_rels/notesSlide86.xml.rels><?xml version="1.0" encoding="utf-8"?><Relationships xmlns="http://schemas.openxmlformats.org/package/2006/relationships"><Relationship Type="http://schemas.openxmlformats.org/officeDocument/2006/relationships/slide" Target="/ppt/slides/slide86.xml" Id="R7bff9e49879f4dc3"/><Relationship Type="http://schemas.openxmlformats.org/officeDocument/2006/relationships/notesMaster" Target="/ppt/notesMasters/notesMaster1.xml" Id="R2d73c16ab9a64e3a"/></Relationships>
</file>

<file path=ppt/notesSlides/_rels/notesSlide87.xml.rels><?xml version="1.0" encoding="utf-8"?><Relationships xmlns="http://schemas.openxmlformats.org/package/2006/relationships"><Relationship Type="http://schemas.openxmlformats.org/officeDocument/2006/relationships/slide" Target="/ppt/slides/slide87.xml" Id="Rbc671a57a8154956"/><Relationship Type="http://schemas.openxmlformats.org/officeDocument/2006/relationships/notesMaster" Target="/ppt/notesMasters/notesMaster1.xml" Id="Reee7ba3618f64ddd"/></Relationships>
</file>

<file path=ppt/notesSlides/_rels/notesSlide88.xml.rels><?xml version="1.0" encoding="utf-8"?><Relationships xmlns="http://schemas.openxmlformats.org/package/2006/relationships"><Relationship Type="http://schemas.openxmlformats.org/officeDocument/2006/relationships/slide" Target="/ppt/slides/slide88.xml" Id="R7aca11c5c68a4641"/><Relationship Type="http://schemas.openxmlformats.org/officeDocument/2006/relationships/notesMaster" Target="/ppt/notesMasters/notesMaster1.xml" Id="Rc9bcb6b574a24d5c"/></Relationships>
</file>

<file path=ppt/notesSlides/_rels/notesSlide89.xml.rels><?xml version="1.0" encoding="utf-8"?><Relationships xmlns="http://schemas.openxmlformats.org/package/2006/relationships"><Relationship Type="http://schemas.openxmlformats.org/officeDocument/2006/relationships/slide" Target="/ppt/slides/slide89.xml" Id="Redeb9fcbb3244743"/><Relationship Type="http://schemas.openxmlformats.org/officeDocument/2006/relationships/notesMaster" Target="/ppt/notesMasters/notesMaster1.xml" Id="R8b690a0caba34ba7"/></Relationships>
</file>

<file path=ppt/notesSlides/_rels/notesSlide90.xml.rels><?xml version="1.0" encoding="utf-8"?><Relationships xmlns="http://schemas.openxmlformats.org/package/2006/relationships"><Relationship Type="http://schemas.openxmlformats.org/officeDocument/2006/relationships/slide" Target="/ppt/slides/slide90.xml" Id="R3de799a0b79b4526"/><Relationship Type="http://schemas.openxmlformats.org/officeDocument/2006/relationships/notesMaster" Target="/ppt/notesMasters/notesMaster1.xml" Id="Rb8ac526fdffe42d6"/></Relationships>
</file>

<file path=ppt/notesSlides/_rels/notesSlide91.xml.rels><?xml version="1.0" encoding="utf-8"?><Relationships xmlns="http://schemas.openxmlformats.org/package/2006/relationships"><Relationship Type="http://schemas.openxmlformats.org/officeDocument/2006/relationships/slide" Target="/ppt/slides/slide91.xml" Id="R4659f865bd5d4fdb"/><Relationship Type="http://schemas.openxmlformats.org/officeDocument/2006/relationships/notesMaster" Target="/ppt/notesMasters/notesMaster1.xml" Id="R57b5507cc7b3492b"/></Relationships>
</file>

<file path=ppt/notesSlides/_rels/notesSlide92.xml.rels><?xml version="1.0" encoding="utf-8"?><Relationships xmlns="http://schemas.openxmlformats.org/package/2006/relationships"><Relationship Type="http://schemas.openxmlformats.org/officeDocument/2006/relationships/slide" Target="/ppt/slides/slide92.xml" Id="R211db036e4e840df"/><Relationship Type="http://schemas.openxmlformats.org/officeDocument/2006/relationships/notesMaster" Target="/ppt/notesMasters/notesMaster1.xml" Id="R27be2f8e114f43a0"/></Relationships>
</file>

<file path=ppt/notesSlides/_rels/notesSlide93.xml.rels><?xml version="1.0" encoding="utf-8"?><Relationships xmlns="http://schemas.openxmlformats.org/package/2006/relationships"><Relationship Type="http://schemas.openxmlformats.org/officeDocument/2006/relationships/slide" Target="/ppt/slides/slide93.xml" Id="Rb4c0a11d27d9406b"/><Relationship Type="http://schemas.openxmlformats.org/officeDocument/2006/relationships/notesMaster" Target="/ppt/notesMasters/notesMaster1.xml" Id="Rd151ca23e93d4eaf"/></Relationships>
</file>

<file path=ppt/notesSlides/_rels/notesSlide94.xml.rels><?xml version="1.0" encoding="utf-8"?><Relationships xmlns="http://schemas.openxmlformats.org/package/2006/relationships"><Relationship Type="http://schemas.openxmlformats.org/officeDocument/2006/relationships/slide" Target="/ppt/slides/slide94.xml" Id="R691b5c445fe543d4"/><Relationship Type="http://schemas.openxmlformats.org/officeDocument/2006/relationships/notesMaster" Target="/ppt/notesMasters/notesMaster1.xml" Id="R7e6a7ed19e3a40cb"/></Relationships>
</file>

<file path=ppt/notesSlides/_rels/notesSlide95.xml.rels><?xml version="1.0" encoding="utf-8"?><Relationships xmlns="http://schemas.openxmlformats.org/package/2006/relationships"><Relationship Type="http://schemas.openxmlformats.org/officeDocument/2006/relationships/slide" Target="/ppt/slides/slide95.xml" Id="R9d98e90578e745c7"/><Relationship Type="http://schemas.openxmlformats.org/officeDocument/2006/relationships/notesMaster" Target="/ppt/notesMasters/notesMaster1.xml" Id="R7a670bf595fa4529"/></Relationships>
</file>

<file path=ppt/notesSlides/_rels/notesSlide96.xml.rels><?xml version="1.0" encoding="utf-8"?><Relationships xmlns="http://schemas.openxmlformats.org/package/2006/relationships"><Relationship Type="http://schemas.openxmlformats.org/officeDocument/2006/relationships/slide" Target="/ppt/slides/slide96.xml" Id="R5b141234bd884dcf"/><Relationship Type="http://schemas.openxmlformats.org/officeDocument/2006/relationships/notesMaster" Target="/ppt/notesMasters/notesMaster1.xml" Id="R04c69684547247e2"/></Relationships>
</file>

<file path=ppt/notesSlides/_rels/notesSlide97.xml.rels><?xml version="1.0" encoding="utf-8"?><Relationships xmlns="http://schemas.openxmlformats.org/package/2006/relationships"><Relationship Type="http://schemas.openxmlformats.org/officeDocument/2006/relationships/slide" Target="/ppt/slides/slide97.xml" Id="R0127c760534f42a4"/><Relationship Type="http://schemas.openxmlformats.org/officeDocument/2006/relationships/notesMaster" Target="/ppt/notesMasters/notesMaster1.xml" Id="R7ace7c5f8e04458f"/></Relationships>
</file>

<file path=ppt/notesSlides/_rels/notesSlide98.xml.rels><?xml version="1.0" encoding="utf-8"?><Relationships xmlns="http://schemas.openxmlformats.org/package/2006/relationships"><Relationship Type="http://schemas.openxmlformats.org/officeDocument/2006/relationships/slide" Target="/ppt/slides/slide98.xml" Id="R45271ed003694ba9"/><Relationship Type="http://schemas.openxmlformats.org/officeDocument/2006/relationships/notesMaster" Target="/ppt/notesMasters/notesMaster1.xml" Id="R7d1404e76a174da2"/></Relationships>
</file>

<file path=ppt/notesSlides/_rels/notesSlide99.xml.rels><?xml version="1.0" encoding="utf-8"?><Relationships xmlns="http://schemas.openxmlformats.org/package/2006/relationships"><Relationship Type="http://schemas.openxmlformats.org/officeDocument/2006/relationships/slide" Target="/ppt/slides/slide99.xml" Id="R8a7c9e37e6e14582"/><Relationship Type="http://schemas.openxmlformats.org/officeDocument/2006/relationships/notesMaster" Target="/ppt/notesMasters/notesMaster1.xml" Id="R89005aee29154fdf"/></Relationships>
</file>

<file path=ppt/notesSlides/_rels/notesSlide100.xml.rels><?xml version="1.0" encoding="utf-8"?><Relationships xmlns="http://schemas.openxmlformats.org/package/2006/relationships"><Relationship Type="http://schemas.openxmlformats.org/officeDocument/2006/relationships/slide" Target="/ppt/slides/slide100.xml" Id="R0063070daffd43e4"/><Relationship Type="http://schemas.openxmlformats.org/officeDocument/2006/relationships/notesMaster" Target="/ppt/notesMasters/notesMaster1.xml" Id="R7b112601c2a64208"/></Relationships>
</file>

<file path=ppt/notesSlides/_rels/notesSlide101.xml.rels><?xml version="1.0" encoding="utf-8"?><Relationships xmlns="http://schemas.openxmlformats.org/package/2006/relationships"><Relationship Type="http://schemas.openxmlformats.org/officeDocument/2006/relationships/slide" Target="/ppt/slides/slide101.xml" Id="R560a355944224827"/><Relationship Type="http://schemas.openxmlformats.org/officeDocument/2006/relationships/notesMaster" Target="/ppt/notesMasters/notesMaster1.xml" Id="R2956a2047df44dcc"/></Relationships>
</file>

<file path=ppt/notesSlides/_rels/notesSlide102.xml.rels><?xml version="1.0" encoding="utf-8"?><Relationships xmlns="http://schemas.openxmlformats.org/package/2006/relationships"><Relationship Type="http://schemas.openxmlformats.org/officeDocument/2006/relationships/slide" Target="/ppt/slides/slide102.xml" Id="R4df44b7c0ec54bcb"/><Relationship Type="http://schemas.openxmlformats.org/officeDocument/2006/relationships/notesMaster" Target="/ppt/notesMasters/notesMaster1.xml" Id="R8078dc63f9ad408a"/></Relationships>
</file>

<file path=ppt/notesSlides/_rels/notesSlide103.xml.rels><?xml version="1.0" encoding="utf-8"?><Relationships xmlns="http://schemas.openxmlformats.org/package/2006/relationships"><Relationship Type="http://schemas.openxmlformats.org/officeDocument/2006/relationships/slide" Target="/ppt/slides/slide103.xml" Id="R9ec1be889abf4747"/><Relationship Type="http://schemas.openxmlformats.org/officeDocument/2006/relationships/notesMaster" Target="/ppt/notesMasters/notesMaster1.xml" Id="Ra4cbf48a85004011"/></Relationships>
</file>

<file path=ppt/notesSlides/_rels/notesSlide104.xml.rels><?xml version="1.0" encoding="utf-8"?><Relationships xmlns="http://schemas.openxmlformats.org/package/2006/relationships"><Relationship Type="http://schemas.openxmlformats.org/officeDocument/2006/relationships/slide" Target="/ppt/slides/slide104.xml" Id="R4118d3e401d44e6c"/><Relationship Type="http://schemas.openxmlformats.org/officeDocument/2006/relationships/notesMaster" Target="/ppt/notesMasters/notesMaster1.xml" Id="R59b9d3aca398484b"/></Relationships>
</file>

<file path=ppt/notesSlides/_rels/notesSlide105.xml.rels><?xml version="1.0" encoding="utf-8"?><Relationships xmlns="http://schemas.openxmlformats.org/package/2006/relationships"><Relationship Type="http://schemas.openxmlformats.org/officeDocument/2006/relationships/slide" Target="/ppt/slides/slide105.xml" Id="R28d3a752c1654d93"/><Relationship Type="http://schemas.openxmlformats.org/officeDocument/2006/relationships/notesMaster" Target="/ppt/notesMasters/notesMaster1.xml" Id="Ra809662fe7414499"/></Relationships>
</file>

<file path=ppt/notesSlides/_rels/notesSlide106.xml.rels><?xml version="1.0" encoding="utf-8"?><Relationships xmlns="http://schemas.openxmlformats.org/package/2006/relationships"><Relationship Type="http://schemas.openxmlformats.org/officeDocument/2006/relationships/slide" Target="/ppt/slides/slide106.xml" Id="R30e45e9a0633454a"/><Relationship Type="http://schemas.openxmlformats.org/officeDocument/2006/relationships/notesMaster" Target="/ppt/notesMasters/notesMaster1.xml" Id="R789f04a5ee1340b9"/></Relationships>
</file>

<file path=ppt/notesSlides/_rels/notesSlide107.xml.rels><?xml version="1.0" encoding="utf-8"?><Relationships xmlns="http://schemas.openxmlformats.org/package/2006/relationships"><Relationship Type="http://schemas.openxmlformats.org/officeDocument/2006/relationships/slide" Target="/ppt/slides/slide107.xml" Id="R6d958c84c0a24bdb"/><Relationship Type="http://schemas.openxmlformats.org/officeDocument/2006/relationships/notesMaster" Target="/ppt/notesMasters/notesMaster1.xml" Id="R498467402c07474b"/></Relationships>
</file>

<file path=ppt/notesSlides/_rels/notesSlide108.xml.rels><?xml version="1.0" encoding="utf-8"?><Relationships xmlns="http://schemas.openxmlformats.org/package/2006/relationships"><Relationship Type="http://schemas.openxmlformats.org/officeDocument/2006/relationships/slide" Target="/ppt/slides/slide108.xml" Id="R339477906d8e4199"/><Relationship Type="http://schemas.openxmlformats.org/officeDocument/2006/relationships/notesMaster" Target="/ppt/notesMasters/notesMaster1.xml" Id="Rd231d4a707e548bc"/></Relationships>
</file>

<file path=ppt/notesSlides/_rels/notesSlide109.xml.rels><?xml version="1.0" encoding="utf-8"?><Relationships xmlns="http://schemas.openxmlformats.org/package/2006/relationships"><Relationship Type="http://schemas.openxmlformats.org/officeDocument/2006/relationships/slide" Target="/ppt/slides/slide109.xml" Id="R7135a359516b4f01"/><Relationship Type="http://schemas.openxmlformats.org/officeDocument/2006/relationships/notesMaster" Target="/ppt/notesMasters/notesMaster1.xml" Id="R49e2134f87444dec"/></Relationships>
</file>

<file path=ppt/notesSlides/_rels/notesSlide110.xml.rels><?xml version="1.0" encoding="utf-8"?><Relationships xmlns="http://schemas.openxmlformats.org/package/2006/relationships"><Relationship Type="http://schemas.openxmlformats.org/officeDocument/2006/relationships/slide" Target="/ppt/slides/slide110.xml" Id="R73e62c672b6149a9"/><Relationship Type="http://schemas.openxmlformats.org/officeDocument/2006/relationships/notesMaster" Target="/ppt/notesMasters/notesMaster1.xml" Id="Rcf79b18562284a12"/></Relationships>
</file>

<file path=ppt/notesSlides/_rels/notesSlide111.xml.rels><?xml version="1.0" encoding="utf-8"?><Relationships xmlns="http://schemas.openxmlformats.org/package/2006/relationships"><Relationship Type="http://schemas.openxmlformats.org/officeDocument/2006/relationships/slide" Target="/ppt/slides/slide111.xml" Id="Rcbbf893184ea4b4f"/><Relationship Type="http://schemas.openxmlformats.org/officeDocument/2006/relationships/notesMaster" Target="/ppt/notesMasters/notesMaster1.xml" Id="Re73de6cf821b4c89"/></Relationships>
</file>

<file path=ppt/notesSlides/_rels/notesSlide112.xml.rels><?xml version="1.0" encoding="utf-8"?><Relationships xmlns="http://schemas.openxmlformats.org/package/2006/relationships"><Relationship Type="http://schemas.openxmlformats.org/officeDocument/2006/relationships/slide" Target="/ppt/slides/slide112.xml" Id="R7702ee77e1344abd"/><Relationship Type="http://schemas.openxmlformats.org/officeDocument/2006/relationships/notesMaster" Target="/ppt/notesMasters/notesMaster1.xml" Id="R9ce33fbf1e97475c"/></Relationships>
</file>

<file path=ppt/notesSlides/_rels/notesSlide113.xml.rels><?xml version="1.0" encoding="utf-8"?><Relationships xmlns="http://schemas.openxmlformats.org/package/2006/relationships"><Relationship Type="http://schemas.openxmlformats.org/officeDocument/2006/relationships/slide" Target="/ppt/slides/slide113.xml" Id="R7d0b24138dea41be"/><Relationship Type="http://schemas.openxmlformats.org/officeDocument/2006/relationships/notesMaster" Target="/ppt/notesMasters/notesMaster1.xml" Id="Rd6d4f46725ed4448"/></Relationships>
</file>

<file path=ppt/notesSlides/_rels/notesSlide114.xml.rels><?xml version="1.0" encoding="utf-8"?><Relationships xmlns="http://schemas.openxmlformats.org/package/2006/relationships"><Relationship Type="http://schemas.openxmlformats.org/officeDocument/2006/relationships/slide" Target="/ppt/slides/slide114.xml" Id="R45e579cfd1b74751"/><Relationship Type="http://schemas.openxmlformats.org/officeDocument/2006/relationships/notesMaster" Target="/ppt/notesMasters/notesMaster1.xml" Id="Rc6bf7d350d8f400a"/></Relationships>
</file>

<file path=ppt/notesSlides/_rels/notesSlide115.xml.rels><?xml version="1.0" encoding="utf-8"?><Relationships xmlns="http://schemas.openxmlformats.org/package/2006/relationships"><Relationship Type="http://schemas.openxmlformats.org/officeDocument/2006/relationships/slide" Target="/ppt/slides/slide115.xml" Id="Rae043a76808647db"/><Relationship Type="http://schemas.openxmlformats.org/officeDocument/2006/relationships/notesMaster" Target="/ppt/notesMasters/notesMaster1.xml" Id="R67ed9e5ab2d544b5"/></Relationships>
</file>

<file path=ppt/notesSlides/_rels/notesSlide116.xml.rels><?xml version="1.0" encoding="utf-8"?><Relationships xmlns="http://schemas.openxmlformats.org/package/2006/relationships"><Relationship Type="http://schemas.openxmlformats.org/officeDocument/2006/relationships/slide" Target="/ppt/slides/slide116.xml" Id="Redcec79e7d494b53"/><Relationship Type="http://schemas.openxmlformats.org/officeDocument/2006/relationships/notesMaster" Target="/ppt/notesMasters/notesMaster1.xml" Id="R44c72230652f43f5"/></Relationships>
</file>

<file path=ppt/notesSlides/_rels/notesSlide117.xml.rels><?xml version="1.0" encoding="utf-8"?><Relationships xmlns="http://schemas.openxmlformats.org/package/2006/relationships"><Relationship Type="http://schemas.openxmlformats.org/officeDocument/2006/relationships/slide" Target="/ppt/slides/slide117.xml" Id="R58179a36448c4275"/><Relationship Type="http://schemas.openxmlformats.org/officeDocument/2006/relationships/notesMaster" Target="/ppt/notesMasters/notesMaster1.xml" Id="R38560c6956584fa4"/></Relationships>
</file>

<file path=ppt/notesSlides/_rels/notesSlide118.xml.rels><?xml version="1.0" encoding="utf-8"?><Relationships xmlns="http://schemas.openxmlformats.org/package/2006/relationships"><Relationship Type="http://schemas.openxmlformats.org/officeDocument/2006/relationships/slide" Target="/ppt/slides/slide118.xml" Id="Rb745a901479e4157"/><Relationship Type="http://schemas.openxmlformats.org/officeDocument/2006/relationships/notesMaster" Target="/ppt/notesMasters/notesMaster1.xml" Id="R9b2585fdc2c843bb"/></Relationships>
</file>

<file path=ppt/notesSlides/_rels/notesSlide119.xml.rels><?xml version="1.0" encoding="utf-8"?><Relationships xmlns="http://schemas.openxmlformats.org/package/2006/relationships"><Relationship Type="http://schemas.openxmlformats.org/officeDocument/2006/relationships/slide" Target="/ppt/slides/slide119.xml" Id="Re9189c18ad9a47e6"/><Relationship Type="http://schemas.openxmlformats.org/officeDocument/2006/relationships/notesMaster" Target="/ppt/notesMasters/notesMaster1.xml" Id="Rf35708420cc741cc"/></Relationships>
</file>

<file path=ppt/notesSlides/_rels/notesSlide120.xml.rels><?xml version="1.0" encoding="utf-8"?><Relationships xmlns="http://schemas.openxmlformats.org/package/2006/relationships"><Relationship Type="http://schemas.openxmlformats.org/officeDocument/2006/relationships/slide" Target="/ppt/slides/slide120.xml" Id="Rf7e4586e1afd46f0"/><Relationship Type="http://schemas.openxmlformats.org/officeDocument/2006/relationships/notesMaster" Target="/ppt/notesMasters/notesMaster1.xml" Id="R9a58555e79244a2d"/></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**CLOSE (1:30–2:00 / Lecture):** 이전 화면의 마지막 문장 “Agent는 제안하고, 사람은 최종 선택·승인한다”로 역할과 책임을 묶는다. 화면에 별도 요청 작성 문장은 없으며 ACT1의 기법·사례 답을 미리 설명하지 않는다.</a:t>
            </a:r>
          </a:p>
          <a:p>
            <a:r>
              <a:t xml:space="preserve">5. **Q&amp;A (2:00–5:00):** ACT0의 자발적인 질문을 받는다. 질문이 없으면 자료 접근과 사람의 최종 책임 구분을 짧게 회수한다. 응답·실습을 강제하지 않는다. Q&amp;A 종료 후 S15의 ACT1 제목으로 이동한다.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작업을 요청으로 어떻게 전달할지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이전 역할 도식을 사용한다. “자료는 함께 살펴보고, 목표·허용 범위·완료 수용은 사람이 최종 정합니다”라고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전체417분이다.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의도·명세·조건이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의도·명세·조건이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의도·명세·조건이나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conflicting specifications or unclear task conditions.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S21에서 실제 TRIAL-002 요청을 읽고 S22 이후에서 같은 요청의 행동·변경·검증 기록을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S21의 실제 요청에 대응하는 결과이며 S16–S18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완료를 판단하려는 결과에 맞춰 어떤 확인을 요청할지 다음 장에서 고른다고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확인 방법 선택 뒤 S27의 같은 crop 목표별 검증 요청으로 연결한다. vector·GoogleTest 반례는 S27의 선택 참고 Notes에만 둔다. 주요 C++ 패턴 전이는 S76에서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판단하려는 결과에 맞춰 어떤 확인을 요청해야 할까요?”라고 S26의 확인 범위 선택으로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원하는 결과에 맞춰 확인 방법을 고른다</a:t>
            </a:r>
          </a:p>
          <a:p>
            <a:r>
              <a:t xml:space="preserve"/>
            </a:r>
          </a:p>
          <a:p>
            <a:r>
              <a:t xml:space="preserve">Slide ID:</a:t>
            </a:r>
          </a:p>
          <a:p>
            <a:r>
              <a:t xml:space="preserve">S26</a:t>
            </a:r>
          </a:p>
          <a:p>
            <a:r>
              <a:t xml:space="preserve"/>
            </a:r>
          </a:p>
          <a:p>
            <a:r>
              <a:t xml:space="preserve">Working Title:</a:t>
            </a:r>
          </a:p>
          <a:p>
            <a:r>
              <a:t xml:space="preserve">원하는 결과에 맞춰 확인 방법을 고른다</a:t>
            </a:r>
          </a:p>
          <a:p>
            <a:r>
              <a:t xml:space="preserve"/>
            </a:r>
          </a:p>
          <a:p>
            <a:r>
              <a:t xml:space="preserve">ACT / Section:</a:t>
            </a:r>
          </a:p>
          <a:p>
            <a:r>
              <a:t xml:space="preserve">ACT 1 / 1E + 1F</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명세 준수·기존 테스트 범위의 동작·CLI 샘플 경로·변경 범위·실행시간은 서로 다른 확인을 필요로 한다. 확인한 입력과 범위 안에서 판단한다.</a:t>
            </a:r>
          </a:p>
          <a:p>
            <a:r>
              <a:t xml:space="preserve"/>
            </a:r>
          </a:p>
          <a:p>
            <a:r>
              <a:t xml:space="preserve">Opening Question:</a:t>
            </a:r>
          </a:p>
          <a:p>
            <a:r>
              <a:t xml:space="preserve">“원하는 결과를 무엇으로 확인해 달라고 요청할까?”</a:t>
            </a:r>
          </a:p>
          <a:p>
            <a:r>
              <a:t xml:space="preserve"/>
            </a:r>
          </a:p>
          <a:p>
            <a:r>
              <a:t xml:space="preserve">Speaker Flow:</a:t>
            </a:r>
          </a:p>
          <a:p>
            <a:r>
              <a:t xml:space="preserve">1. (0:00–0:20 / Lecture) S25는 근거를 받아 사람이 완료를 판단한다는 원칙이었다. 이제 그 판단을 위해 어떤 확인을 요청할지 고른다.</a:t>
            </a:r>
          </a:p>
          <a:p>
            <a:r>
              <a:t xml:space="preserve">2. (0:20–1:35 / Lecture) 왼쪽 질문에서 오른쪽 확인으로 읽는다. 명세 준수는 관련 동작 테스트, 기존 테스트가 다루는 동작은 전체 테스트, CLI는 해당 샘플 경로, diff는 변경 범위를 확인한다. 기존 관련3건에는 resize도 있어 crop만의3건이라 하지 않는다.</a:t>
            </a:r>
          </a:p>
          <a:p>
            <a:r>
              <a:t xml:space="preserve">3. (1:35–1:50 / Lecture) 시간 단축을 주장하려면 같은 입력·환경의 전후 측정이 필요하다. 당시 TRIAL-002에서 성능은 측정하지 않았고, 테스트 통과만으로 시간 단축을 말하지 않는다.</a:t>
            </a:r>
          </a:p>
          <a:p>
            <a:r>
              <a:t xml:space="preserve">4. (1:50–2:00 / Lecture) 같은 crop이어도 목표가 오류 수정인지 시간 단축인지에 따라 검증 요청이 어떻게 달라지는지 S27로 연결한다.</a:t>
            </a:r>
          </a:p>
          <a:p>
            <a:r>
              <a:t xml:space="preserve"/>
            </a:r>
          </a:p>
          <a:p>
            <a:r>
              <a:t xml:space="preserve">Evidence / Source:</a:t>
            </a:r>
          </a:p>
          <a:p>
            <a:r>
              <a:t xml:space="preserve">OBSERVED_PRODUCT / TEACHING_MODEL. plan/DEMO_MATRIX.md TRIAL-002의 기존 Python 검증 기록. 검사와 판단 범위의 대응은 교육 모델이다. 성능 미측정. DEC-0114.</a:t>
            </a:r>
          </a:p>
          <a:p>
            <a:r>
              <a:t xml:space="preserve"/>
            </a:r>
          </a:p>
          <a:p>
            <a:r>
              <a:t xml:space="preserve">Claim Boundary:</a:t>
            </a:r>
          </a:p>
          <a:p>
            <a:r>
              <a:t xml:space="preserve">FROZEN WITH SCOPE / TEACHING MODEL — TRIAL-002에서 실제 수행한 관련·전체 테스트, CLI 샘플, diff 확인은 기존 Python 기록에 한정한다. 검사와 주장 범위의 대응은 교육 모델이며 성능 측정은 미실행이다. 현재 CLI/제품 재현·Prompt 우월성·비용 절감·성능 향상을 새로 주장하지 않는다. 검사가 다룬 입력·범위 안에서 판단한다.</a:t>
            </a:r>
          </a:p>
          <a:p>
            <a:r>
              <a:t xml:space="preserve"/>
            </a:r>
          </a:p>
          <a:p>
            <a:r>
              <a:t xml:space="preserve">Beginner Explanation:</a:t>
            </a:r>
          </a:p>
          <a:p>
            <a:r>
              <a:t xml:space="preserve">완료를 판단하려는 질문에 맞는 확인을 요청한다.</a:t>
            </a:r>
          </a:p>
          <a:p>
            <a:r>
              <a:t xml:space="preserve"/>
            </a:r>
          </a:p>
          <a:p>
            <a:r>
              <a:t xml:space="preserve">Advanced Insight:</a:t>
            </a:r>
          </a:p>
          <a:p>
            <a:r>
              <a:t xml:space="preserve">검사 범위를 통과 범위 이상으로 일반화하지 않는다.</a:t>
            </a:r>
          </a:p>
          <a:p>
            <a:r>
              <a:t xml:space="preserve"/>
            </a:r>
          </a:p>
          <a:p>
            <a:r>
              <a:t xml:space="preserve">C++ Vision Bridge:</a:t>
            </a:r>
          </a:p>
          <a:p>
            <a:r>
              <a:t xml:space="preserve">화면에는 C++ 코드나 vector 예시를 넣지 않는다. 선택적 assertion 반례와 Release/API/ABI·측정 조건 대응은 S27 Notes에만 보존한다.</a:t>
            </a:r>
          </a:p>
          <a:p>
            <a:r>
              <a:t xml:space="preserve"/>
            </a:r>
          </a:p>
          <a:p>
            <a:r>
              <a:t xml:space="preserve">Demo Operation:</a:t>
            </a:r>
          </a:p>
          <a:p>
            <a:r>
              <a:t xml:space="preserve">실제 TRIAL-002 확인 기록을 회수하되 새로운 Demo 시간·실행·비교를 추가하지 않는다. 정적 Lecture/Reflection이며 별도 Demo 배정·Live 실행을 추가하지 않는다.</a:t>
            </a:r>
          </a:p>
          <a:p>
            <a:r>
              <a:t xml:space="preserve"/>
            </a:r>
          </a:p>
          <a:p>
            <a:r>
              <a:t xml:space="preserve">Audience Interaction:</a:t>
            </a:r>
          </a:p>
          <a:p>
            <a:r>
              <a:t xml:space="preserve">질문은 기존 ACT1 Q&amp;A로 회수한다. 별도 실습·답변 시간을 추가하지 않는다.</a:t>
            </a:r>
          </a:p>
          <a:p>
            <a:r>
              <a:t xml:space="preserve"/>
            </a:r>
          </a:p>
          <a:p>
            <a:r>
              <a:t xml:space="preserve">Transition:</a:t>
            </a:r>
          </a:p>
          <a:p>
            <a:r>
              <a:t xml:space="preserve">“같은 crop 작업이라도 목표가 달라지면 확인 요청도 달라질까요?”라고 S27의 교육용 요청 비교로 연결한다.</a:t>
            </a:r>
          </a:p>
          <a:p>
            <a:r>
              <a:t xml:space="preserve"/>
            </a:r>
          </a:p>
          <a:p>
            <a:r>
              <a:t xml:space="preserve">Time Management:</a:t>
            </a:r>
          </a:p>
          <a:p>
            <a:r>
              <a:t xml:space="preserve">Lecture2분. 다섯 확인을 읽되 테스트 문법·crop 수치 예시를 다시 강의하지 않는다.</a:t>
            </a:r>
          </a:p>
          <a:p>
            <a:r>
              <a:t xml:space="preserve"/>
            </a:r>
          </a:p>
          <a:p>
            <a:r>
              <a:t xml:space="preserve">Fallback:</a:t>
            </a:r>
          </a:p>
          <a:p>
            <a:r>
              <a:t xml:space="preserve">production/ACT_1.pptx S26 또는 production/preview/act1/S26.png의 정적 화면을 사용한다. 근거 경계를 유지하고 새 실행을 시연하지 않는다.</a:t>
            </a:r>
          </a:p>
          <a:p>
            <a:r>
              <a:t xml:space="preserve"/>
            </a:r>
          </a:p>
          <a:p>
            <a:r>
              <a:t xml:space="preserve">Validation Status:</a:t>
            </a:r>
          </a:p>
          <a:p>
            <a:r>
              <a:t xml:space="preserve">ALIGNED — DEC-0114의 두 장·기존5분·근거 경계를 따른다. 최종 렌더·내장 Notes 검증은 production/evaluation/VERIFICATION_REQUEST_DESIGN_REVISION.md를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목표가 달라지면 검증 요청도 달라진다</a:t>
            </a:r>
          </a:p>
          <a:p>
            <a:r>
              <a:t xml:space="preserve"/>
            </a:r>
          </a:p>
          <a:p>
            <a:r>
              <a:t xml:space="preserve">Slide ID:</a:t>
            </a:r>
          </a:p>
          <a:p>
            <a:r>
              <a:t xml:space="preserve">S27</a:t>
            </a:r>
          </a:p>
          <a:p>
            <a:r>
              <a:t xml:space="preserve"/>
            </a:r>
          </a:p>
          <a:p>
            <a:r>
              <a:t xml:space="preserve">Working Title:</a:t>
            </a:r>
          </a:p>
          <a:p>
            <a:r>
              <a:t xml:space="preserve">목표가 달라지면 검증 요청도 달라진다</a:t>
            </a:r>
          </a:p>
          <a:p>
            <a:r>
              <a:t xml:space="preserve"/>
            </a:r>
          </a:p>
          <a:p>
            <a:r>
              <a:t xml:space="preserve">ACT / Section:</a:t>
            </a:r>
          </a:p>
          <a:p>
            <a:r>
              <a:t xml:space="preserve">ACT 1 / 1E + 1F</a:t>
            </a:r>
          </a:p>
          <a:p>
            <a:r>
              <a:t xml:space="preserve"/>
            </a:r>
          </a:p>
          <a:p>
            <a:r>
              <a:t xml:space="preserve">Allocated Time:</a:t>
            </a:r>
          </a:p>
          <a:p>
            <a:r>
              <a:t xml:space="preserve">3 minutes</a:t>
            </a:r>
          </a:p>
          <a:p>
            <a:r>
              <a:t xml:space="preserve"/>
            </a:r>
          </a:p>
          <a:p>
            <a:r>
              <a:t xml:space="preserve">Mode Split:</a:t>
            </a:r>
          </a:p>
          <a:p>
            <a:r>
              <a:t xml:space="preserve">Lecture 2 minutes + Reflection 1 minute</a:t>
            </a:r>
          </a:p>
          <a:p>
            <a:r>
              <a:t xml:space="preserve"/>
            </a:r>
          </a:p>
          <a:p>
            <a:r>
              <a:t xml:space="preserve">Primary Message:</a:t>
            </a:r>
          </a:p>
          <a:p>
            <a:r>
              <a:t xml:space="preserve">오류 수정은 명세와 관련·전체 테스트, CLI 샘플과 변경 범위를 확인한다. 시간 단축은 기존 동작 확인에 같은 입력·환경의 변경 전후 시간 측정을 더 요청한다. 결과와 미확인 사항도 받는다.</a:t>
            </a:r>
          </a:p>
          <a:p>
            <a:r>
              <a:t xml:space="preserve"/>
            </a:r>
          </a:p>
          <a:p>
            <a:r>
              <a:t xml:space="preserve">Opening Question:</a:t>
            </a:r>
          </a:p>
          <a:p>
            <a:r>
              <a:t xml:space="preserve">“오류 수정과 시간 단축에서 무엇을 확인·보고해 달라고 요청할까?”</a:t>
            </a:r>
          </a:p>
          <a:p>
            <a:r>
              <a:t xml:space="preserve"/>
            </a:r>
          </a:p>
          <a:p>
            <a:r>
              <a:t xml:space="preserve">Speaker Flow:</a:t>
            </a:r>
          </a:p>
          <a:p>
            <a:r>
              <a:t xml:space="preserve">1. (0:00–0:20 / Lecture) 두 문장은 검증 부분의 교육용 작성 예시이며 실제 Trial 원문이 아님을 분명히 한다. 같은 crop의 두 목표를 읽는다.</a:t>
            </a:r>
          </a:p>
          <a:p>
            <a:r>
              <a:t xml:space="preserve">2. (0:20–1:05 / Lecture) 왼쪽은 경계 오류 수정이다. 저장소의 기존 crop 명세를 참조하고 관련·전체 테스트, CLI 샘플, 최종 diff와 결과·미확인 보고를 요청한다. 명세의 기대 수치나 assertion을 다시 강의하지 않는다.</a:t>
            </a:r>
          </a:p>
          <a:p>
            <a:r>
              <a:t xml:space="preserve">3. (1:05–1:45 / Lecture) 오른쪽은 실행시간 단축을 맡기는 가정이다. 기존 동작을 확인하면서 같은 입력·환경의 변경 전후 시간을 측정하고 조건·결과·미확인을 보고하도록 요청한다. 측정하지 않은 결과를 성과로 말하지 않는다.</a:t>
            </a:r>
          </a:p>
          <a:p>
            <a:r>
              <a:t xml:space="preserve">4. (1:45–2:00 / Lecture) 차이는 원하는 변화에 맞는 근거를 요청한다는 점이다. 모든 작업에 모든 검사를 넣거나 명세의 모든 값을 복사하도록 가르치지 않는다.</a:t>
            </a:r>
          </a:p>
          <a:p>
            <a:r>
              <a:t xml:space="preserve">5. (2:00–3:00 / Reflection) 다음에 맡길 작업 하나와 완료를 판단할 근거 하나를 조용히 떠올리게 한다. 작성·발표·실습을 요구하지 않는다.3분에 S28 문장 도구로 이동한다.</a:t>
            </a:r>
          </a:p>
          <a:p>
            <a:r>
              <a:t xml:space="preserve"/>
            </a:r>
          </a:p>
          <a:p>
            <a:r>
              <a:t xml:space="preserve">Evidence / Source:</a:t>
            </a:r>
          </a:p>
          <a:p>
            <a:r>
              <a:t xml:space="preserve">TEACHING_MODEL. DEC-0114의 두 교육용 검증 요청이다. 실제 S21 원문 발췌·S22 행동·S23 수정·S24 검증 기록과 분리하며 새 실행·측정이 없다.</a:t>
            </a:r>
          </a:p>
          <a:p>
            <a:r>
              <a:t xml:space="preserve"/>
            </a:r>
          </a:p>
          <a:p>
            <a:r>
              <a:t xml:space="preserve">Claim Boundary:</a:t>
            </a:r>
          </a:p>
          <a:p>
            <a:r>
              <a:t xml:space="preserve">TEACHING MODEL — 두 요청은 검증 부분의 교육용 작성 예시다. 실제 TRIAL-002 요청의 인용·새 실행·측정 결과·Prompt 우월성·성능 개선 성과가 아니다. 당시 crop Trial의 성능은 미측정이다. 현재 CLI/제품 재현·Prompt 우월성·비용 절감·성능 향상을 새로 주장하지 않는다. 검사가 다룬 입력·범위 안에서 판단한다.</a:t>
            </a:r>
          </a:p>
          <a:p>
            <a:r>
              <a:t xml:space="preserve"/>
            </a:r>
          </a:p>
          <a:p>
            <a:r>
              <a:t xml:space="preserve">Beginner Explanation:</a:t>
            </a:r>
          </a:p>
          <a:p>
            <a:r>
              <a:t xml:space="preserve">원하는 변화에 맞춰 무엇을 확인하고 보고할지 요청 문장으로 쓸 수 있다.</a:t>
            </a:r>
          </a:p>
          <a:p>
            <a:r>
              <a:t xml:space="preserve"/>
            </a:r>
          </a:p>
          <a:p>
            <a:r>
              <a:t xml:space="preserve">Advanced Insight:</a:t>
            </a:r>
          </a:p>
          <a:p>
            <a:r>
              <a:t xml:space="preserve">동작 검증과 성능 검증의 근거 범위를 구분한다. 이미 저장소에 있는 명세를 참조하며 모든 기대값을 매번 복사하도록 요구하지 않는다.</a:t>
            </a:r>
          </a:p>
          <a:p>
            <a:r>
              <a:t xml:space="preserve"/>
            </a:r>
          </a:p>
          <a:p>
            <a:r>
              <a:t xml:space="preserve">C++ Vision Bridge:</a:t>
            </a:r>
          </a:p>
          <a:p>
            <a:r>
              <a:t xml:space="preserve">선택 참고 — ACT0에서 본 명세를 다시 설명하는 기본 발표 내용은 아니다. 기존 DEC-0041/DEC-0112의 C++ 교육용 반례를 보존한다.</a:t>
            </a:r>
          </a:p>
          <a:p>
            <a:r>
              <a:t xml:space="preserve">입력 {1,2,3,4}의 반열림 crop [1,3)에서 기대는 {2,3}, 명세를 어긴 예는 {2,3,4}다. 두 vector는 모두 비어 있지 않아 EXPECT_FALSE(actual.empty());만으로는 이 차이를 구별하지 못한다.</a:t>
            </a:r>
          </a:p>
          <a:p>
            <a:r>
              <a:t xml:space="preserve">```cpp</a:t>
            </a:r>
          </a:p>
          <a:p>
            <a:r>
              <a:t xml:space="preserve">std::vector&lt;int&gt; expected{2, 3};</a:t>
            </a:r>
          </a:p>
          <a:p>
            <a:r>
              <a:t xml:space="preserve">EXPECT_EQ(actual, expected);</a:t>
            </a:r>
          </a:p>
          <a:p>
            <a:r>
              <a:t xml:space="preserve">```</a:t>
            </a:r>
          </a:p>
          <a:p>
            <a:r>
              <a:t xml:space="preserve">vector 동등 비교는 길이·순서별 값을 비교한다. EXPECT_EQ(actual.size(), 2u);는 폭 조건을 따로 드러내지만 위 동등 비교와 중복된다. 하나의 입력이 모든 입력의 정확성을 입증하지 않는다. 이 반례·코드·가상 요청은 실제 Python TRIAL-002 assertion, 잘못된 결과의 PASS 기록, 새 컴파일·GoogleTest 실행이 아니다.</a:t>
            </a:r>
          </a:p>
          <a:p>
            <a:r>
              <a:t xml:space="preserve">기술 의미 출처: [GoogleTest Primer](https://google.github.io/googletest/primer.html), [Microsoft vector operators](https://learn.microsoft.com/en-us/cpp/standard-library/vector-operators?view=msvc-170). 기존 확인2026-10-27의 의미만 보존한다. Release/API/ABI 등 프로젝트별 조건은 해당 프로젝트에서 정하고 확인한다.</a:t>
            </a:r>
          </a:p>
          <a:p>
            <a:r>
              <a:t xml:space="preserve"/>
            </a:r>
          </a:p>
          <a:p>
            <a:r>
              <a:t xml:space="preserve">Demo Operation:</a:t>
            </a:r>
          </a:p>
          <a:p>
            <a:r>
              <a:t xml:space="preserve">기존 crop을 유지한 두 목표의 교육용 요청 비교다. S21–S24 실제 요청·행동·수정·검증 기록과 구분한다. 새 Trial·Demo 시간·benchmark 결과를 추가하지 않는다. 정적 Lecture/Reflection이며 별도 Demo 배정·Live 실행을 추가하지 않는다.</a:t>
            </a:r>
          </a:p>
          <a:p>
            <a:r>
              <a:t xml:space="preserve"/>
            </a:r>
          </a:p>
          <a:p>
            <a:r>
              <a:t xml:space="preserve">Audience Interaction:</a:t>
            </a:r>
          </a:p>
          <a:p>
            <a:r>
              <a:t xml:space="preserve">마지막1분은 자신이 맡길 작업과 완료를 판단할 근거 하나를 조용히 떠올린다. 작성·공유·실습을 요구하지 않는다.</a:t>
            </a:r>
          </a:p>
          <a:p>
            <a:r>
              <a:t xml:space="preserve"/>
            </a:r>
          </a:p>
          <a:p>
            <a:r>
              <a:t xml:space="preserve">Transition:</a:t>
            </a:r>
          </a:p>
          <a:p>
            <a:r>
              <a:t xml:space="preserve">“요청에 담을 확인 기준을 정했습니다. 이제 이를 명확하게 전달하는 문장 도구를 보겠습니다.”라고 S28의 실무 적용 팁으로 연결한다.</a:t>
            </a:r>
          </a:p>
          <a:p>
            <a:r>
              <a:t xml:space="preserve"/>
            </a:r>
          </a:p>
          <a:p>
            <a:r>
              <a:t xml:space="preserve">Time Management:</a:t>
            </a:r>
          </a:p>
          <a:p>
            <a:r>
              <a:t xml:space="preserve">Lecture2분+Reflection1분=3분. S26/S27 합계5분=Lecture4+Reflection1이다.2분에 설명을 마치고 조용히 생각할1분을 보장한다.3분에 S28로 이동한다. 실제 시간 적합성은 리허설 전까지 UNVERIFIED.</a:t>
            </a:r>
          </a:p>
          <a:p>
            <a:r>
              <a:t xml:space="preserve"/>
            </a:r>
          </a:p>
          <a:p>
            <a:r>
              <a:t xml:space="preserve">Fallback:</a:t>
            </a:r>
          </a:p>
          <a:p>
            <a:r>
              <a:t xml:space="preserve">production/ACT_1.pptx S27 또는 production/preview/act1/S27.png의 정적 화면을 사용한다. 근거 경계를 유지하고 새 실행을 시연하지 않는다.</a:t>
            </a:r>
          </a:p>
          <a:p>
            <a:r>
              <a:t xml:space="preserve"/>
            </a:r>
          </a:p>
          <a:p>
            <a:r>
              <a:t xml:space="preserve">Validation Status:</a:t>
            </a:r>
          </a:p>
          <a:p>
            <a:r>
              <a:t xml:space="preserve">ALIGNED — DEC-0114의 두 장·기존5분·근거 경계를 따른다. 최종 렌더·내장 Notes 검증은 production/evaluation/VERIFICATION_REQUEST_DESIGN_REVISION.md를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지시와 참고 자료의 구분</a:t>
            </a:r>
          </a:p>
          <a:p>
            <a:r>
              <a:t xml:space="preserve"/>
            </a:r>
          </a:p>
          <a:p>
            <a:r>
              <a:t xml:space="preserve">Slide ID:</a:t>
            </a:r>
          </a:p>
          <a:p>
            <a:r>
              <a:t xml:space="preserve">S28</a:t>
            </a:r>
          </a:p>
          <a:p>
            <a:r>
              <a:t xml:space="preserve"/>
            </a:r>
          </a:p>
          <a:p>
            <a:r>
              <a:t xml:space="preserve">Working Title:</a:t>
            </a:r>
          </a:p>
          <a:p>
            <a:r>
              <a:t xml:space="preserve">지시와 참고 자료의 구분</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여러 자료가 섞일 때, 제목으로 읽을 경계를 표시한다.</a:t>
            </a:r>
          </a:p>
          <a:p>
            <a:r>
              <a:t xml:space="preserve"/>
            </a:r>
          </a:p>
          <a:p>
            <a:r>
              <a:t xml:space="preserve">Opening Question:</a:t>
            </a:r>
          </a:p>
          <a:p>
            <a:r>
              <a:t xml:space="preserve">“요청과 로그·명세가 한 메시지에 섞일 때, 어떤 요청 문장이 도움이 될까요?”</a:t>
            </a:r>
          </a:p>
          <a:p>
            <a:r>
              <a:t xml:space="preserve"/>
            </a:r>
          </a:p>
          <a:p>
            <a:r>
              <a:t xml:space="preserve">Speaker Flow:</a:t>
            </a:r>
          </a:p>
          <a:p>
            <a:r>
              <a:t xml:space="preserve">1. 0:00–0:15: 상단의 “조건부”과 “이럴 때 사용”을 짚는다. 핵심5개는 교육 우선순위이며 모든 요청에 의무로 넣는 뜻은 아니다. 조건부3개는 해당 상황일 때만 선택한다.</a:t>
            </a:r>
          </a:p>
          <a:p>
            <a:r>
              <a:t xml:space="preserve">2. 0:15–0:45: 요청 예시의 핵심 두세 행과 오른쪽 선택 기준만 연결한다. 구획의 존재보다 지시와 참고 자료의 역할을 구분한다.</a:t>
            </a:r>
          </a:p>
          <a:p>
            <a:r>
              <a:t xml:space="preserve"/>
            </a:r>
          </a:p>
          <a:p>
            <a:r>
              <a:t xml:space="preserve">```text</a:t>
            </a:r>
          </a:p>
          <a:p>
            <a:r>
              <a:t xml:space="preserve"># 요청</a:t>
            </a:r>
          </a:p>
          <a:p>
            <a:r>
              <a:t xml:space="preserve">crop 경계 오류의 원인만 조사해줘.</a:t>
            </a:r>
          </a:p>
          <a:p>
            <a:r>
              <a:t xml:space="preserve">코드는 수정하지 마.</a:t>
            </a:r>
          </a:p>
          <a:p>
            <a:r>
              <a:t xml:space="preserve"># 참고 명세</a:t>
            </a:r>
          </a:p>
          <a:p>
            <a:r>
              <a:t xml:space="preserve">crop [1,3)의 기대 폭은 2</a:t>
            </a:r>
          </a:p>
          <a:p>
            <a:r>
              <a:t xml:space="preserve"># 참고 로그</a:t>
            </a:r>
          </a:p>
          <a:p>
            <a:r>
              <a:t xml:space="preserve">expected=2, actual=3</a:t>
            </a:r>
          </a:p>
          <a:p>
            <a:r>
              <a:t xml:space="preserve">```</a:t>
            </a:r>
          </a:p>
          <a:p>
            <a:r>
              <a:t xml:space="preserve"/>
            </a:r>
          </a:p>
          <a:p>
            <a:r>
              <a:t xml:space="preserve">3. 0:45–1:00: “여러 자료가 섞일 때, 제목으로 읽을 경계를 표시한다.”를 회수하고 다음 장으로 이동한다. 자료의 구획 다음에는, 모델이 모르는 팀 고유 표기를 예시로 알려주는 S29로 이동한다.</a:t>
            </a:r>
          </a:p>
          <a:p>
            <a:r>
              <a:t xml:space="preserve"/>
            </a:r>
          </a:p>
          <a:p>
            <a:r>
              <a:t xml:space="preserve">Evidence / Source:</a:t>
            </a:r>
          </a:p>
          <a:p>
            <a:r>
              <a:t xml:space="preserve">CLM-0032; SRC-0230, SRC-0231. 공식 문서 본문을2026-10-30 재확인했다. https://developers.openai.com/api/docs/guides/prompt-engineering; https://developers.openai.com/api/docs/guides/reasoning-best-practices.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
            </a:r>
          </a:p>
          <a:p>
            <a:r>
              <a:t xml:space="preserve">Claim Boundary:</a:t>
            </a:r>
          </a:p>
          <a:p>
            <a:r>
              <a:t xml:space="preserve">교육용 요청 문장이다. 실제 TRIAL-002의 원문·행동 기록·추가 실행·비교 실험이 아니다. 구획은 해석을 돕는 표시이며, 보안 격리를 보장하지 않는다.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구획의 존재보다 지시와 참고 자료의 역할을 구분한다.</a:t>
            </a:r>
          </a:p>
          <a:p>
            <a:r>
              <a:t xml:space="preserve"/>
            </a:r>
          </a:p>
          <a:p>
            <a:r>
              <a:t xml:space="preserve">Advanced Insight:</a:t>
            </a:r>
          </a:p>
          <a:p>
            <a:r>
              <a:t xml:space="preserve">제목·태그는 논리적 구획이다. 모든 짧은 요청에 XML을 붙일 필요가 없고 자료의 진위·보안 격리를 보장하지 않는다.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자료의 구획 다음에는, 모델이 모르는 팀 고유 표기를 예시로 알려주는 S29로 이동한다.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S28 또는 production/preview/act1/S28.png의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DEC-0116. 최종 PPT/Notes/렌더 검사는 production/evaluation/PROMPT_METHODS_REVISION.md를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입력과 기대 결과의 작은 예시</a:t>
            </a:r>
          </a:p>
          <a:p>
            <a:r>
              <a:t xml:space="preserve"/>
            </a:r>
          </a:p>
          <a:p>
            <a:r>
              <a:t xml:space="preserve">Slide ID:</a:t>
            </a:r>
          </a:p>
          <a:p>
            <a:r>
              <a:t xml:space="preserve">S29</a:t>
            </a:r>
          </a:p>
          <a:p>
            <a:r>
              <a:t xml:space="preserve"/>
            </a:r>
          </a:p>
          <a:p>
            <a:r>
              <a:t xml:space="preserve">Working Title:</a:t>
            </a:r>
          </a:p>
          <a:p>
            <a:r>
              <a:t xml:space="preserve">입력과 기대 결과의 작은 예시</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Case 1 minute</a:t>
            </a:r>
          </a:p>
          <a:p>
            <a:r>
              <a:t xml:space="preserve"/>
            </a:r>
          </a:p>
          <a:p>
            <a:r>
              <a:t xml:space="preserve">Primary Message:</a:t>
            </a:r>
          </a:p>
          <a:p>
            <a:r>
              <a:t xml:space="preserve">모델이 모르는 우리 기준을 입력·출력 예시로 전달한다.</a:t>
            </a:r>
          </a:p>
          <a:p>
            <a:r>
              <a:t xml:space="preserve"/>
            </a:r>
          </a:p>
          <a:p>
            <a:r>
              <a:t xml:space="preserve">Opening Question:</a:t>
            </a:r>
          </a:p>
          <a:p>
            <a:r>
              <a:t xml:space="preserve">“사내 고유 표기·분류가 설명만으로 안 맞을 때, 어떤 요청 문장이 도움이 될까요?”</a:t>
            </a:r>
          </a:p>
          <a:p>
            <a:r>
              <a:t xml:space="preserve"/>
            </a:r>
          </a:p>
          <a:p>
            <a:r>
              <a:t xml:space="preserve">Speaker Flow:</a:t>
            </a:r>
          </a:p>
          <a:p>
            <a:r>
              <a:t xml:space="preserve">1. 0:00–0:15: 상단의 “조건부”과 “이럴 때 사용”을 짚는다. 핵심5개는 교육 우선순위이며 모든 요청에 의무로 넣는 뜻은 아니다. 조건부3개는 해당 상황일 때만 선택한다.</a:t>
            </a:r>
          </a:p>
          <a:p>
            <a:r>
              <a:t xml:space="preserve">2. 0:15–0:45: 요청 예시의 핵심 두세 행과 오른쪽 선택 기준만 연결한다. 예시를 먼저 쌓지 않고 간단한 요청이 부족할 때 추가한다.</a:t>
            </a:r>
          </a:p>
          <a:p>
            <a:r>
              <a:t xml:space="preserve"/>
            </a:r>
          </a:p>
          <a:p>
            <a:r>
              <a:t xml:space="preserve">```text</a:t>
            </a:r>
          </a:p>
          <a:p>
            <a:r>
              <a:t xml:space="preserve">우리 팀의 보고 표기를 아래 예시처럼 맞춰줘.</a:t>
            </a:r>
          </a:p>
          <a:p>
            <a:r>
              <a:t xml:space="preserve">테스트 로그 있음: [실행 확인] 명령·결과</a:t>
            </a:r>
          </a:p>
          <a:p>
            <a:r>
              <a:t xml:space="preserve">코드만 검토함: [코드 검토] 파일·판단</a:t>
            </a:r>
          </a:p>
          <a:p>
            <a:r>
              <a:t xml:space="preserve">근거를 못 찾음: [미확인] 필요한 자료</a:t>
            </a:r>
          </a:p>
          <a:p>
            <a:r>
              <a:t xml:space="preserve"/>
            </a:r>
          </a:p>
          <a:p>
            <a:r>
              <a:t xml:space="preserve">첨부한 변경 보고서를 같은 형식으로 정리해줘.</a:t>
            </a:r>
          </a:p>
          <a:p>
            <a:r>
              <a:t xml:space="preserve">```</a:t>
            </a:r>
          </a:p>
          <a:p>
            <a:r>
              <a:t xml:space="preserve"/>
            </a:r>
          </a:p>
          <a:p>
            <a:r>
              <a:t xml:space="preserve">3. 0:45–1:00: “모델이 모르는 우리 기준을 입력·출력 예시로 전달한다.”를 회수하고 다음 장으로 이동한다. 예시가 필요한 상황을 확인했다. 다음 S30에서는 보고 전체의 항목과 읽을 순서를 정한다.</a:t>
            </a:r>
          </a:p>
          <a:p>
            <a:r>
              <a:t xml:space="preserve">S29의 팀 기준은 교육용 가정이며 실제 회사 규정을 제공받거나 검증한 것이 아니다. 첨부 보고서는 수강자가 자기 자료로 바꿔 넣는 자리다. [실행 확인]은 실제 명령·결과 근거가 있을 때만 쓰며 이 화면에 실행 결과를 제시하지 않는다.</a:t>
            </a:r>
          </a:p>
          <a:p>
            <a:r>
              <a:t xml:space="preserve"/>
            </a:r>
          </a:p>
          <a:p>
            <a:r>
              <a:t xml:space="preserve">Evidence / Source:</a:t>
            </a:r>
          </a:p>
          <a:p>
            <a:r>
              <a:t xml:space="preserve">CLM-0033; SRC-0230, SRC-0231. 공식 문서 본문을2026-10-30 재확인했다. https://developers.openai.com/api/docs/guides/reasoning-best-practices; https://developers.openai.com/api/docs/guides/prompt-engineering.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
            </a:r>
          </a:p>
          <a:p>
            <a:r>
              <a:t xml:space="preserve">Claim Boundary:</a:t>
            </a:r>
          </a:p>
          <a:p>
            <a:r>
              <a:t xml:space="preserve">교육용 요청 문장이다. 실제 TRIAL-002의 원문·행동 기록·추가 실행·비교 실험이 아니다. 가상 팀의 보고 기준 · 실제 사내 규정이나 실행 결과가 아님 S29의 팀 기준은 교육용 가정이며 실제 회사 규정을 제공받거나 검증한 것이 아니다. 첨부 보고서는 수강자가 자기 자료로 바꿔 넣는 자리다. [실행 확인]은 실제 명령·결과 근거가 있을 때만 쓰며 이 화면에 실행 결과를 제시하지 않는다.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예시를 먼저 쌓지 않고 간단한 요청이 부족할 때 추가한다.</a:t>
            </a:r>
          </a:p>
          <a:p>
            <a:r>
              <a:t xml:space="preserve"/>
            </a:r>
          </a:p>
          <a:p>
            <a:r>
              <a:t xml:space="preserve">Advanced Insight:</a:t>
            </a:r>
          </a:p>
          <a:p>
            <a:r>
              <a:t xml:space="preserve">공식 추론 가이드는 zero-shot부터 시도하고 필요한 경우 정렬된 예시를 추가하도록 권한다. 일반 배열 인덱싱을 다시 가르치지 않고 업무 고유 표기·분류에 적용한다. 예시는 전체 정책·명세를 대신하지 않는다.</a:t>
            </a:r>
          </a:p>
          <a:p>
            <a:r>
              <a:t xml:space="preserve"/>
            </a:r>
          </a:p>
          <a:p>
            <a:r>
              <a:t xml:space="preserve">C++ Vision Bridge:</a:t>
            </a:r>
          </a:p>
          <a:p>
            <a:r>
              <a:t xml:space="preserve">검사 프로젝트의 변경 보고에 적용할 수 있는 가상 팀 표기 예시다. 실제 회사 정책·장비 판정·실행 결과를 새로 확정하지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예시가 필요한 상황을 확인했다. 다음 S30에서는 보고 전체의 항목과 읽을 순서를 정한다.</a:t>
            </a:r>
          </a:p>
          <a:p>
            <a:r>
              <a:t xml:space="preserve"/>
            </a:r>
          </a:p>
          <a:p>
            <a:r>
              <a:t xml:space="preserve">Time Management:</a:t>
            </a:r>
          </a:p>
          <a:p>
            <a:r>
              <a:t xml:space="preserve">Case1분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S29 또는 production/preview/act1/S29.png의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DEC-0116. 최종 PPT/Notes/렌더 검사는 production/evaluation/PROMPT_METHODS_REVISION.md를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바로 검토할 수 있는 결과 형식</a:t>
            </a:r>
          </a:p>
          <a:p>
            <a:r>
              <a:t xml:space="preserve"/>
            </a:r>
          </a:p>
          <a:p>
            <a:r>
              <a:t xml:space="preserve">Slide ID:</a:t>
            </a:r>
          </a:p>
          <a:p>
            <a:r>
              <a:t xml:space="preserve">S30</a:t>
            </a:r>
          </a:p>
          <a:p>
            <a:r>
              <a:t xml:space="preserve"/>
            </a:r>
          </a:p>
          <a:p>
            <a:r>
              <a:t xml:space="preserve">Working Title:</a:t>
            </a:r>
          </a:p>
          <a:p>
            <a:r>
              <a:t xml:space="preserve">바로 검토할 수 있는 결과 형식</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검토에 필요한 항목을 지정하고, 중요한 근거는 남긴다.</a:t>
            </a:r>
          </a:p>
          <a:p>
            <a:r>
              <a:t xml:space="preserve"/>
            </a:r>
          </a:p>
          <a:p>
            <a:r>
              <a:t xml:space="preserve">Opening Question:</a:t>
            </a:r>
          </a:p>
          <a:p>
            <a:r>
              <a:t xml:space="preserve">“완료 보고에서 필요한 정보를 빨리 찾고 싶을 때, 어떤 요청 문장이 도움이 될까요?”</a:t>
            </a:r>
          </a:p>
          <a:p>
            <a:r>
              <a:t xml:space="preserve"/>
            </a:r>
          </a:p>
          <a:p>
            <a:r>
              <a:t xml:space="preserve">Speaker Flow:</a:t>
            </a:r>
          </a:p>
          <a:p>
            <a:r>
              <a:t xml:space="preserve">1. 0:00–0:15: 상단의 “핵심”과 “이럴 때 사용”을 짚는다. 핵심5개는 교육 우선순위이며 모든 요청에 의무로 넣는 뜻은 아니다. 조건부3개는 해당 상황일 때만 선택한다.</a:t>
            </a:r>
          </a:p>
          <a:p>
            <a:r>
              <a:t xml:space="preserve">2. 0:15–0:45: 요청 예시의 핵심 두세 행과 오른쪽 선택 기준만 연결한다. 기계적인 문장 수 제한보다 필요한 보고 항목을 정한다.</a:t>
            </a:r>
          </a:p>
          <a:p>
            <a:r>
              <a:t xml:space="preserve"/>
            </a:r>
          </a:p>
          <a:p>
            <a:r>
              <a:t xml:space="preserve">```text</a:t>
            </a:r>
          </a:p>
          <a:p>
            <a:r>
              <a:t xml:space="preserve">crop 수정 결과를 아래 항목으로 보고해줘.</a:t>
            </a:r>
          </a:p>
          <a:p>
            <a:r>
              <a:t xml:space="preserve">1. 변경 파일과 이유</a:t>
            </a:r>
          </a:p>
          <a:p>
            <a:r>
              <a:t xml:space="preserve">2. 실행한 검사·결과</a:t>
            </a:r>
          </a:p>
          <a:p>
            <a:r>
              <a:t xml:space="preserve">3. 미실행 검사·이유</a:t>
            </a:r>
          </a:p>
          <a:p>
            <a:r>
              <a:t xml:space="preserve">4. 남은 위험·결정</a:t>
            </a:r>
          </a:p>
          <a:p>
            <a:r>
              <a:t xml:space="preserve">완료 판단에 필요한 근거는 생략하지 마.</a:t>
            </a:r>
          </a:p>
          <a:p>
            <a:r>
              <a:t xml:space="preserve">```</a:t>
            </a:r>
          </a:p>
          <a:p>
            <a:r>
              <a:t xml:space="preserve"/>
            </a:r>
          </a:p>
          <a:p>
            <a:r>
              <a:t xml:space="preserve">3. 0:45–1:00: “검토에 필요한 항목을 지정하고, 중요한 근거는 남긴다.”를 회수하고 다음 장으로 이동한다. 보고 항목이 있어도 설명의 근거는 따로 확인한다. S31에서 중요한 판단을 자료와 연결한다.</a:t>
            </a:r>
          </a:p>
          <a:p>
            <a:r>
              <a:t xml:space="preserve"/>
            </a:r>
          </a:p>
          <a:p>
            <a:r>
              <a:t xml:space="preserve">Evidence / Source:</a:t>
            </a:r>
          </a:p>
          <a:p>
            <a:r>
              <a:t xml:space="preserve">CLM-0034; SRC-0233, SRC-0234. 공식 문서 본문을2026-10-30 재확인했다. https://learn.chatgpt.com/docs/prompting; https://developers.openai.com/api/docs/guides/structured-outputs.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
            </a:r>
          </a:p>
          <a:p>
            <a:r>
              <a:t xml:space="preserve">Claim Boundary:</a:t>
            </a:r>
          </a:p>
          <a:p>
            <a:r>
              <a:t xml:space="preserve">교육용 요청 문장이다. 실제 TRIAL-002의 원문·행동 기록·추가 실행·비교 실험이 아니다. 형식과 내용은 별도 확인 · 채팅의 형식 요청은 API Structured Outputs와 다름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기계적인 문장 수 제한보다 필요한 보고 항목을 정한다.</a:t>
            </a:r>
          </a:p>
          <a:p>
            <a:r>
              <a:t xml:space="preserve"/>
            </a:r>
          </a:p>
          <a:p>
            <a:r>
              <a:t xml:space="preserve">Advanced Insight:</a:t>
            </a:r>
          </a:p>
          <a:p>
            <a:r>
              <a:t xml:space="preserve">고정된 두 문장 제한을 제거했다. 중요한 근거·위험을 담을 분량을 허용한다. 자연어의 표/JSON 요청과 API JSON Schema 기반 Structured Outputs는 다르고 형식 준수만으로 내용이 옳지는 않다.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보고 항목이 있어도 설명의 근거는 따로 확인한다. S31에서 중요한 판단을 자료와 연결한다.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S30 또는 production/preview/act1/S30.png의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DEC-0116. 최종 PPT/Notes/렌더 검사는 production/evaluation/PROMPT_METHODS_REVISION.md를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근거가 있는 설명과 미확인의 구분</a:t>
            </a:r>
          </a:p>
          <a:p>
            <a:r>
              <a:t xml:space="preserve"/>
            </a:r>
          </a:p>
          <a:p>
            <a:r>
              <a:t xml:space="preserve">Slide ID:</a:t>
            </a:r>
          </a:p>
          <a:p>
            <a:r>
              <a:t xml:space="preserve">S31</a:t>
            </a:r>
          </a:p>
          <a:p>
            <a:r>
              <a:t xml:space="preserve"/>
            </a:r>
          </a:p>
          <a:p>
            <a:r>
              <a:t xml:space="preserve">Working Title:</a:t>
            </a:r>
          </a:p>
          <a:p>
            <a:r>
              <a:t xml:space="preserve">근거가 있는 설명과 미확인의 구분</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중요한 판단에 근거를 받고, 추정·미확인은 구분한다.</a:t>
            </a:r>
          </a:p>
          <a:p>
            <a:r>
              <a:t xml:space="preserve"/>
            </a:r>
          </a:p>
          <a:p>
            <a:r>
              <a:t xml:space="preserve">Opening Question:</a:t>
            </a:r>
          </a:p>
          <a:p>
            <a:r>
              <a:t xml:space="preserve">“설명을 믿기 전에 실제 자료를 대조해야 할 때, 어떤 요청 문장이 도움이 될까요?”</a:t>
            </a:r>
          </a:p>
          <a:p>
            <a:r>
              <a:t xml:space="preserve"/>
            </a:r>
          </a:p>
          <a:p>
            <a:r>
              <a:t xml:space="preserve">Speaker Flow:</a:t>
            </a:r>
          </a:p>
          <a:p>
            <a:r>
              <a:t xml:space="preserve">1. 0:00–0:15: 상단의 “핵심”과 “이럴 때 사용”을 짚는다. 핵심5개는 교육 우선순위이며 모든 요청에 의무로 넣는 뜻은 아니다. 조건부3개는 해당 상황일 때만 선택한다.</a:t>
            </a:r>
          </a:p>
          <a:p>
            <a:r>
              <a:t xml:space="preserve">2. 0:15–0:45: 요청 예시의 핵심 두세 행과 오른쪽 선택 기준만 연결한다. S30의 보고 형식과 달리 여기서는 판단을 뒷받침하는 자료를 다룬다.</a:t>
            </a:r>
          </a:p>
          <a:p>
            <a:r>
              <a:t xml:space="preserve"/>
            </a:r>
          </a:p>
          <a:p>
            <a:r>
              <a:t xml:space="preserve">```text</a:t>
            </a:r>
          </a:p>
          <a:p>
            <a:r>
              <a:t xml:space="preserve">crop의 명세·구현·테스트를 비교해줘.</a:t>
            </a:r>
          </a:p>
          <a:p>
            <a:r>
              <a:t xml:space="preserve">중요한 결론마다 파일·함수 근거를 붙여줘.</a:t>
            </a:r>
          </a:p>
          <a:p>
            <a:r>
              <a:t xml:space="preserve">확인한 내용과 추정·미확인을 구분해줘.</a:t>
            </a:r>
          </a:p>
          <a:p>
            <a:r>
              <a:t xml:space="preserve">자료가 충돌하면 차이를 먼저 알려줘.</a:t>
            </a:r>
          </a:p>
          <a:p>
            <a:r>
              <a:t xml:space="preserve">없는 정책은 만들어 채우지 마.</a:t>
            </a:r>
          </a:p>
          <a:p>
            <a:r>
              <a:t xml:space="preserve">```</a:t>
            </a:r>
          </a:p>
          <a:p>
            <a:r>
              <a:t xml:space="preserve"/>
            </a:r>
          </a:p>
          <a:p>
            <a:r>
              <a:t xml:space="preserve">3. 0:45–1:00: “중요한 판단에 근거를 받고, 추정·미확인은 구분한다.”를 회수하고 다음 장으로 이동한다. 자료를 찾아도 정책이 없다면 사람이 선택해야 한다. S32에서 질문할 결정의 범위를 본다.</a:t>
            </a:r>
          </a:p>
          <a:p>
            <a:r>
              <a:t xml:space="preserve"/>
            </a:r>
          </a:p>
          <a:p>
            <a:r>
              <a:t xml:space="preserve">Evidence / Source:</a:t>
            </a:r>
          </a:p>
          <a:p>
            <a:r>
              <a:t xml:space="preserve">CLM-0035; SRC-0230, SRC-0234. 공식 문서 본문을2026-10-30 재확인했다. https://learn.chatgpt.com/docs/prompting; https://developers.openai.com/api/docs/guides/prompt-engineering.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
            </a:r>
          </a:p>
          <a:p>
            <a:r>
              <a:t xml:space="preserve">Claim Boundary:</a:t>
            </a:r>
          </a:p>
          <a:p>
            <a:r>
              <a:t xml:space="preserve">교육용 요청 문장이다. 실제 TRIAL-002의 원문·행동 기록·추가 실행·비교 실험이 아니다. 출처가 있어도 원문과 대조한다 · 인용 자체가 정확성의 보증은 아님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S30의 보고 형식과 달리 여기서는 판단을 뒷받침하는 자료를 다룬다.</a:t>
            </a:r>
          </a:p>
          <a:p>
            <a:r>
              <a:t xml:space="preserve"/>
            </a:r>
          </a:p>
          <a:p>
            <a:r>
              <a:t xml:space="preserve">Advanced Insight:</a:t>
            </a:r>
          </a:p>
          <a:p>
            <a:r>
              <a:t xml:space="preserve">모든 사소한 문장에 줄 번호를 강제하지 않고 중요한 결론을 실제 자료와 연결한다. 보고 형식(S30), 설명의 근거(S31), 변경안 위반 검토(S34)의 역할을 구분한다.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자료를 찾아도 정책이 없다면 사람이 선택해야 한다. S32에서 질문할 결정의 범위를 본다.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S31 또는 production/preview/act1/S31.png의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DEC-0116. 최종 PPT/Notes/렌더 검사는 production/evaluation/PROMPT_METHODS_REVISION.md를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결과를 바꾸는 결정에서 확인 질문</a:t>
            </a:r>
          </a:p>
          <a:p>
            <a:r>
              <a:t xml:space="preserve"/>
            </a:r>
          </a:p>
          <a:p>
            <a:r>
              <a:t xml:space="preserve">Slide ID:</a:t>
            </a:r>
          </a:p>
          <a:p>
            <a:r>
              <a:t xml:space="preserve">S32</a:t>
            </a:r>
          </a:p>
          <a:p>
            <a:r>
              <a:t xml:space="preserve"/>
            </a:r>
          </a:p>
          <a:p>
            <a:r>
              <a:t xml:space="preserve">Working Title:</a:t>
            </a:r>
          </a:p>
          <a:p>
            <a:r>
              <a:t xml:space="preserve">결과를 바꾸는 결정에서 확인 질문</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조사할 사실은 찾게 하고, 결과를 바꾸는 결정은 묻는다.</a:t>
            </a:r>
          </a:p>
          <a:p>
            <a:r>
              <a:t xml:space="preserve"/>
            </a:r>
          </a:p>
          <a:p>
            <a:r>
              <a:t xml:space="preserve">Opening Question:</a:t>
            </a:r>
          </a:p>
          <a:p>
            <a:r>
              <a:t xml:space="preserve">“사람의 선택에 따라 구현이나 완료 기준이 바뀔 때, 어떤 요청 문장이 도움이 될까요?”</a:t>
            </a:r>
          </a:p>
          <a:p>
            <a:r>
              <a:t xml:space="preserve"/>
            </a:r>
          </a:p>
          <a:p>
            <a:r>
              <a:t xml:space="preserve">Speaker Flow:</a:t>
            </a:r>
          </a:p>
          <a:p>
            <a:r>
              <a:t xml:space="preserve">1. 0:00–0:15: 상단의 “핵심”과 “이럴 때 사용”을 짚는다. 핵심5개는 교육 우선순위이며 모든 요청에 의무로 넣는 뜻은 아니다. 조건부3개는 해당 상황일 때만 선택한다.</a:t>
            </a:r>
          </a:p>
          <a:p>
            <a:r>
              <a:t xml:space="preserve">2. 0:15–0:45: 요청 예시의 핵심 두세 행과 오른쪽 선택 기준만 연결한다. 조사 가능한 사실을 모두 사람에게 되묻지 않도록 범위를 정한다.</a:t>
            </a:r>
          </a:p>
          <a:p>
            <a:r>
              <a:t xml:space="preserve"/>
            </a:r>
          </a:p>
          <a:p>
            <a:r>
              <a:t xml:space="preserve">```text</a:t>
            </a:r>
          </a:p>
          <a:p>
            <a:r>
              <a:t xml:space="preserve">빈 crop 범위의 처리 정책을 조사해줘.</a:t>
            </a:r>
          </a:p>
          <a:p>
            <a:r>
              <a:t xml:space="preserve">문서·테스트·호출부에서 먼저 찾아줘.</a:t>
            </a:r>
          </a:p>
          <a:p>
            <a:r>
              <a:t xml:space="preserve">정책이 없어 동작을 선택해야 한다면</a:t>
            </a:r>
          </a:p>
          <a:p>
            <a:r>
              <a:t xml:space="preserve">선택지와 영향을 정리하고 질문해줘.</a:t>
            </a:r>
          </a:p>
          <a:p>
            <a:r>
              <a:t xml:space="preserve">그 선택에 의존하는 수정은 답변 뒤 진행해줘.</a:t>
            </a:r>
          </a:p>
          <a:p>
            <a:r>
              <a:t xml:space="preserve">결정과 무관한 조사는 계속해줘.</a:t>
            </a:r>
          </a:p>
          <a:p>
            <a:r>
              <a:t xml:space="preserve">```</a:t>
            </a:r>
          </a:p>
          <a:p>
            <a:r>
              <a:t xml:space="preserve"/>
            </a:r>
          </a:p>
          <a:p>
            <a:r>
              <a:t xml:space="preserve">3. 0:45–1:00: “조사할 사실은 찾게 하고, 결과를 바꾸는 결정은 묻는다.”를 회수하고 다음 장으로 이동한다. 사람의 결정이 필요한 변경은 구현 전에 검토할 계획을 받을 수 있다. S33에서 그 사용 조건을 본다.</a:t>
            </a:r>
          </a:p>
          <a:p>
            <a:r>
              <a:t xml:space="preserve"/>
            </a:r>
          </a:p>
          <a:p>
            <a:r>
              <a:t xml:space="preserve">Evidence / Source:</a:t>
            </a:r>
          </a:p>
          <a:p>
            <a:r>
              <a:t xml:space="preserve">CLM-0036; SRC-0234, SRC-0235, SRC-0243. 공식 문서 본문을2026-10-30 재확인했다. https://developers.openai.com/api/docs/guides/latest-model; https://learn.chatgpt.com/docs/prompting.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
            </a:r>
          </a:p>
          <a:p>
            <a:r>
              <a:t xml:space="preserve">Claim Boundary:</a:t>
            </a:r>
          </a:p>
          <a:p>
            <a:r>
              <a:t xml:space="preserve">교육용 요청 문장이다. 실제 TRIAL-002의 원문·행동 기록·추가 실행·비교 실험이 아니다. 모든 세부를 질문하지 않는다 · 결정과 무관한 허용된 작업은 계속 진행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조사 가능한 사실을 모두 사람에게 되묻지 않도록 범위를 정한다.</a:t>
            </a:r>
          </a:p>
          <a:p>
            <a:r>
              <a:t xml:space="preserve"/>
            </a:r>
          </a:p>
          <a:p>
            <a:r>
              <a:t xml:space="preserve">Advanced Insight:</a:t>
            </a:r>
          </a:p>
          <a:p>
            <a:r>
              <a:t xml:space="preserve">질문 기준은 결과를 바꾸는 의도·명세·조건의 결정이다. 자료에서 조사할 사실을 모두 사용자에게 되묻지 않는다. 승인이 필요한 결정에 의존하는 작업만 대기하고 승인된 독립 조사는 계속한다.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사람의 결정이 필요한 변경은 구현 전에 검토할 계획을 받을 수 있다. S33에서 그 사용 조건을 본다.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S32 또는 production/preview/act1/S32.png의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DEC-0116. 최종 PPT/Notes/렌더 검사는 production/evaluation/PROMPT_METHODS_REVISION.md를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큰 작업을 검토할 결과물로 나누기</a:t>
            </a:r>
          </a:p>
          <a:p>
            <a:r>
              <a:t xml:space="preserve"/>
            </a:r>
          </a:p>
          <a:p>
            <a:r>
              <a:t xml:space="preserve">Slide ID:</a:t>
            </a:r>
          </a:p>
          <a:p>
            <a:r>
              <a:t xml:space="preserve">S33</a:t>
            </a:r>
          </a:p>
          <a:p>
            <a:r>
              <a:t xml:space="preserve"/>
            </a:r>
          </a:p>
          <a:p>
            <a:r>
              <a:t xml:space="preserve">Working Title:</a:t>
            </a:r>
          </a:p>
          <a:p>
            <a:r>
              <a:t xml:space="preserve">큰 작업을 검토할 결과물로 나누기</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중간 판단이 필요한 작업은, 구현 전에 검토할 계획을 받는다.</a:t>
            </a:r>
          </a:p>
          <a:p>
            <a:r>
              <a:t xml:space="preserve"/>
            </a:r>
          </a:p>
          <a:p>
            <a:r>
              <a:t xml:space="preserve">Opening Question:</a:t>
            </a:r>
          </a:p>
          <a:p>
            <a:r>
              <a:t xml:space="preserve">“조사 결과를 보고 구현 범위를 결정해야 할 때, 어떤 요청 문장이 도움이 될까요?”</a:t>
            </a:r>
          </a:p>
          <a:p>
            <a:r>
              <a:t xml:space="preserve"/>
            </a:r>
          </a:p>
          <a:p>
            <a:r>
              <a:t xml:space="preserve">Speaker Flow:</a:t>
            </a:r>
          </a:p>
          <a:p>
            <a:r>
              <a:t xml:space="preserve">1. 0:00–0:15: 상단의 “조건부”과 “이럴 때 사용”을 짚는다. 핵심5개는 교육 우선순위이며 모든 요청에 의무로 넣는 뜻은 아니다. 조건부3개는 해당 상황일 때만 선택한다.</a:t>
            </a:r>
          </a:p>
          <a:p>
            <a:r>
              <a:t xml:space="preserve">2. 0:15–0:45: 요청 예시의 핵심 두세 행과 오른쪽 선택 기준만 연결한다. 큰 작업이라는 이유만으로 잘게 나누거나 승인 단계를 늘리지 않는다.</a:t>
            </a:r>
          </a:p>
          <a:p>
            <a:r>
              <a:t xml:space="preserve"/>
            </a:r>
          </a:p>
          <a:p>
            <a:r>
              <a:t xml:space="preserve">```text</a:t>
            </a:r>
          </a:p>
          <a:p>
            <a:r>
              <a:t xml:space="preserve">ROI 설정을 crop에 연결하려 한다.</a:t>
            </a:r>
          </a:p>
          <a:p>
            <a:r>
              <a:t xml:space="preserve">먼저 현재 경로와 변경 후보를 조사해줘.</a:t>
            </a:r>
          </a:p>
          <a:p>
            <a:r>
              <a:t xml:space="preserve">범위·호환성에 선택이 필요한 지점을 알려줘.</a:t>
            </a:r>
          </a:p>
          <a:p>
            <a:r>
              <a:t xml:space="preserve">이번에는 수정 없이 계획만 제안해줘.</a:t>
            </a:r>
          </a:p>
          <a:p>
            <a:r>
              <a:t xml:space="preserve"/>
            </a:r>
          </a:p>
          <a:p>
            <a:r>
              <a:t xml:space="preserve">계획을 검토한 뒤 구현 범위를 정하겠다.</a:t>
            </a:r>
          </a:p>
          <a:p>
            <a:r>
              <a:t xml:space="preserve">```</a:t>
            </a:r>
          </a:p>
          <a:p>
            <a:r>
              <a:t xml:space="preserve"/>
            </a:r>
          </a:p>
          <a:p>
            <a:r>
              <a:t xml:space="preserve">3. 0:45–1:00: “중간 판단이 필요한 작업은, 구현 전에 검토할 계획을 받는다.”를 회수하고 다음 장으로 이동한다. 계획 뒤의 변경안에서 무엇을 중점 검토할지 S34로 연결한다.</a:t>
            </a:r>
          </a:p>
          <a:p>
            <a:r>
              <a:t xml:space="preserve"/>
            </a:r>
          </a:p>
          <a:p>
            <a:r>
              <a:t xml:space="preserve">Evidence / Source:</a:t>
            </a:r>
          </a:p>
          <a:p>
            <a:r>
              <a:t xml:space="preserve">CLM-0037; SRC-0231, SRC-0232, SRC-0243. 공식 문서 본문을2026-10-30 재확인했다. https://learn.chatgpt.com/guides/best-practices; https://developers.openai.com/api/docs/guides/reasoning-best-practices.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
            </a:r>
          </a:p>
          <a:p>
            <a:r>
              <a:t xml:space="preserve">Claim Boundary:</a:t>
            </a:r>
          </a:p>
          <a:p>
            <a:r>
              <a:t xml:space="preserve">교육용 요청 문장이다. 실제 TRIAL-002의 원문·행동 기록·추가 실행·비교 실험이 아니다. 작업 계획과 검토 지점을 요청한다 · 내부 사고 과정의 출력을 요구하지 않음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큰 작업이라는 이유만으로 잘게 나누거나 승인 단계를 늘리지 않는다.</a:t>
            </a:r>
          </a:p>
          <a:p>
            <a:r>
              <a:t xml:space="preserve"/>
            </a:r>
          </a:p>
          <a:p>
            <a:r>
              <a:t xml:space="preserve">Advanced Insight:</a:t>
            </a:r>
          </a:p>
          <a:p>
            <a:r>
              <a:t xml:space="preserve">작업이 크다는 이유만으로 세분화하거나 단계별 승인을 의무화하지 않는다. 조사 결과에 따라 구현 범위·호환성 선택이 바뀔 때 계획 산출물이 필요하다. 작업 계획 요청은 내부 사고 과정 공개와 다르다.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계획 뒤의 변경안에서 무엇을 중점 검토할지 S34로 연결한다.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S33 또는 production/preview/act1/S33.png의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DEC-0116. 최종 PPT/Notes/렌더 검사는 production/evaluation/PROMPT_METHODS_REVISION.md를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기준을 지정한 코드 리뷰 요청</a:t>
            </a:r>
          </a:p>
          <a:p>
            <a:r>
              <a:t xml:space="preserve"/>
            </a:r>
          </a:p>
          <a:p>
            <a:r>
              <a:t xml:space="preserve">Slide ID:</a:t>
            </a:r>
          </a:p>
          <a:p>
            <a:r>
              <a:t xml:space="preserve">S34</a:t>
            </a:r>
          </a:p>
          <a:p>
            <a:r>
              <a:t xml:space="preserve"/>
            </a:r>
          </a:p>
          <a:p>
            <a:r>
              <a:t xml:space="preserve">Working Title:</a:t>
            </a:r>
          </a:p>
          <a:p>
            <a:r>
              <a:t xml:space="preserve">기준을 지정한 코드 리뷰 요청</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검토 기준과 실패 조건을 지정하고, 실제 검사와 구분한다.</a:t>
            </a:r>
          </a:p>
          <a:p>
            <a:r>
              <a:t xml:space="preserve"/>
            </a:r>
          </a:p>
          <a:p>
            <a:r>
              <a:t xml:space="preserve">Opening Question:</a:t>
            </a:r>
          </a:p>
          <a:p>
            <a:r>
              <a:t xml:space="preserve">“변경안에서 놓치면 안 될 문제를 검토할 때, 어떤 요청 문장이 도움이 될까요?”</a:t>
            </a:r>
          </a:p>
          <a:p>
            <a:r>
              <a:t xml:space="preserve"/>
            </a:r>
          </a:p>
          <a:p>
            <a:r>
              <a:t xml:space="preserve">Speaker Flow:</a:t>
            </a:r>
          </a:p>
          <a:p>
            <a:r>
              <a:t xml:space="preserve">1. 0:00–0:15: 상단의 “핵심”과 “이럴 때 사용”을 짚는다. 핵심5개는 교육 우선순위이며 모든 요청에 의무로 넣는 뜻은 아니다. 조건부3개는 해당 상황일 때만 선택한다.</a:t>
            </a:r>
          </a:p>
          <a:p>
            <a:r>
              <a:t xml:space="preserve">2. 0:15–0:45: 요청 예시의 핵심 두세 행과 오른쪽 선택 기준만 연결한다. S31은 설명 근거, S34는 변경안의 위반 검토다. 문제 개수를 억지로 채우지 않는다.</a:t>
            </a:r>
          </a:p>
          <a:p>
            <a:r>
              <a:t xml:space="preserve"/>
            </a:r>
          </a:p>
          <a:p>
            <a:r>
              <a:t xml:space="preserve">```text</a:t>
            </a:r>
          </a:p>
          <a:p>
            <a:r>
              <a:t xml:space="preserve">crop 변경안에서 다음을 검토해줘.</a:t>
            </a:r>
          </a:p>
          <a:p>
            <a:r>
              <a:t xml:space="preserve">끝 좌표 제외 명세·공개 API·오류 정책 보존</a:t>
            </a:r>
          </a:p>
          <a:p>
            <a:r>
              <a:t xml:space="preserve">요청과 무관한 변경 여부</a:t>
            </a:r>
          </a:p>
          <a:p>
            <a:r>
              <a:t xml:space="preserve">발견 사항은 위치·실패 조건·영향으로 보고해줘.</a:t>
            </a:r>
          </a:p>
          <a:p>
            <a:r>
              <a:t xml:space="preserve">정적 검토와 실제 실행한 검사를 구분해줘.</a:t>
            </a:r>
          </a:p>
          <a:p>
            <a:r>
              <a:t xml:space="preserve">이번에는 코드를 바꾸지 마.</a:t>
            </a:r>
          </a:p>
          <a:p>
            <a:r>
              <a:t xml:space="preserve">```</a:t>
            </a:r>
          </a:p>
          <a:p>
            <a:r>
              <a:t xml:space="preserve"/>
            </a:r>
          </a:p>
          <a:p>
            <a:r>
              <a:t xml:space="preserve">3. 0:45–1:00: “검토 기준과 실패 조건을 지정하고, 실제 검사와 구분한다.”를 회수하고 다음 장으로 이동한다. 첫 제안이나 리뷰에서 요구와 다른 지점을 알았다면, S35에서 근거와 수정 범위를 전달한다.</a:t>
            </a:r>
          </a:p>
          <a:p>
            <a:r>
              <a:t xml:space="preserve"/>
            </a:r>
          </a:p>
          <a:p>
            <a:r>
              <a:t xml:space="preserve">Evidence / Source:</a:t>
            </a:r>
          </a:p>
          <a:p>
            <a:r>
              <a:t xml:space="preserve">CLM-0038; SRC-0232, SRC-0235, SRC-0243. 공식 문서 본문을2026-10-30 재확인했다. https://learn.chatgpt.com/guides/best-practices; https://developers.openai.com/api/docs/guides/latest-model.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
            </a:r>
          </a:p>
          <a:p>
            <a:r>
              <a:t xml:space="preserve">Claim Boundary:</a:t>
            </a:r>
          </a:p>
          <a:p>
            <a:r>
              <a:t xml:space="preserve">교육용 요청 문장이다. 실제 TRIAL-002의 원문·행동 기록·추가 실행·비교 실험이 아니다. 리뷰에도 누락이 있을 수 있다 · 실행 근거와 사람의 완료 판단을 함께 확인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S31은 설명 근거, S34는 변경안의 위반 검토다. 문제 개수를 억지로 채우지 않는다.</a:t>
            </a:r>
          </a:p>
          <a:p>
            <a:r>
              <a:t xml:space="preserve"/>
            </a:r>
          </a:p>
          <a:p>
            <a:r>
              <a:t xml:space="preserve">Advanced Insight:</a:t>
            </a:r>
          </a:p>
          <a:p>
            <a:r>
              <a:t xml:space="preserve">리뷰 관점은 업무별 실패 조건이다. 발견을 억지로 채우거나 전문가 역할만으로 정확성을 보장하지 않는다. 정적 분석과 실제 실행 근거를 구분하고 검사 범위는 변경 영향에 맞춘다. 이 예시는 검토 요청이므로 코드를 수정하지 않는다.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첫 제안이나 리뷰에서 요구와 다른 지점을 알았다면, S35에서 근거와 수정 범위를 전달한다.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S34 또는 production/preview/act1/S34.png의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DEC-0116. 최종 PPT/Notes/렌더 검사는 production/evaluation/PROMPT_METHODS_REVISION.md를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구체적인 근거로 수정 방향 피드백</a:t>
            </a:r>
          </a:p>
          <a:p>
            <a:r>
              <a:t xml:space="preserve"/>
            </a:r>
          </a:p>
          <a:p>
            <a:r>
              <a:t xml:space="preserve">Slide ID:</a:t>
            </a:r>
          </a:p>
          <a:p>
            <a:r>
              <a:t xml:space="preserve">S35</a:t>
            </a:r>
          </a:p>
          <a:p>
            <a:r>
              <a:t xml:space="preserve"/>
            </a:r>
          </a:p>
          <a:p>
            <a:r>
              <a:t xml:space="preserve">Working Title:</a:t>
            </a:r>
          </a:p>
          <a:p>
            <a:r>
              <a:t xml:space="preserve">구체적인 근거로 수정 방향 피드백</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어긋난 지점·기대 결과·유지할 조건으로 방향을 고친다.</a:t>
            </a:r>
          </a:p>
          <a:p>
            <a:r>
              <a:t xml:space="preserve"/>
            </a:r>
          </a:p>
          <a:p>
            <a:r>
              <a:t xml:space="preserve">Opening Question:</a:t>
            </a:r>
          </a:p>
          <a:p>
            <a:r>
              <a:t xml:space="preserve">“첫 제안의 어떤 부분이 요구와 다른지 알 때, 어떤 요청 문장이 도움이 될까요?”</a:t>
            </a:r>
          </a:p>
          <a:p>
            <a:r>
              <a:t xml:space="preserve"/>
            </a:r>
          </a:p>
          <a:p>
            <a:r>
              <a:t xml:space="preserve">Speaker Flow:</a:t>
            </a:r>
          </a:p>
          <a:p>
            <a:r>
              <a:t xml:space="preserve">1. 0:00–0:15: 상단의 “핵심”과 “이럴 때 사용”을 짚는다. 핵심5개는 교육 우선순위이며 모든 요청에 의무로 넣는 뜻은 아니다. 조건부3개는 해당 상황일 때만 선택한다.</a:t>
            </a:r>
          </a:p>
          <a:p>
            <a:r>
              <a:t xml:space="preserve">2. 0:15–0:45: 요청 예시의 핵심 두세 행과 오른쪽 선택 기준만 연결한다. 고친 요청에도 다음 작업에 다시 적을 공통 조건이 남는지 S36으로 연결한다.</a:t>
            </a:r>
          </a:p>
          <a:p>
            <a:r>
              <a:t xml:space="preserve"/>
            </a:r>
          </a:p>
          <a:p>
            <a:r>
              <a:t xml:space="preserve">```text</a:t>
            </a:r>
          </a:p>
          <a:p>
            <a:r>
              <a:t xml:space="preserve">앞선 “기대 폭을 3으로 바꾸자”는 제안을</a:t>
            </a:r>
          </a:p>
          <a:p>
            <a:r>
              <a:t xml:space="preserve">고쳐줘. 명세는 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바뀐 제안과 미확인 사항을 알려줘.</a:t>
            </a:r>
          </a:p>
          <a:p>
            <a:r>
              <a:t xml:space="preserve">```</a:t>
            </a:r>
          </a:p>
          <a:p>
            <a:r>
              <a:t xml:space="preserve"/>
            </a:r>
          </a:p>
          <a:p>
            <a:r>
              <a:t xml:space="preserve">3. 0:45–1:00: “어긋난 지점·기대 결과·유지할 조건으로 방향을 고친다.”를 회수하고 다음 장으로 이동한다. 요청을 구체화해도 다음 작업에 다시 적을 조건이 남습니다. S36에서 같은 crop 요청을 보며 찾아봅니다.</a:t>
            </a:r>
          </a:p>
          <a:p>
            <a:r>
              <a:t xml:space="preserve"/>
            </a:r>
          </a:p>
          <a:p>
            <a:r>
              <a:t xml:space="preserve">Evidence / Source:</a:t>
            </a:r>
          </a:p>
          <a:p>
            <a:r>
              <a:t xml:space="preserve">CLM-0039; SRC-0234. 공식 문서 본문을2026-10-30 재확인했다. https://learn.chatgpt.com/docs/prompting.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
            </a:r>
          </a:p>
          <a:p>
            <a:r>
              <a:t xml:space="preserve">Claim Boundary:</a:t>
            </a:r>
          </a:p>
          <a:p>
            <a:r>
              <a:t xml:space="preserve">교육용 요청 문장이다. 실제 TRIAL-002의 원문·행동 기록·추가 실행·비교 실험이 아니다. 앞선 제안은 가상 예시 · 반복 요청만으로 품질 향상을 보장하지 않음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고친 요청에도 다음 작업에 다시 적을 공통 조건이 남는지 S36으로 연결한다.</a:t>
            </a:r>
          </a:p>
          <a:p>
            <a:r>
              <a:t xml:space="preserve"/>
            </a:r>
          </a:p>
          <a:p>
            <a:r>
              <a:t xml:space="preserve">Advanced Insight:</a:t>
            </a:r>
          </a:p>
          <a:p>
            <a:r>
              <a:t xml:space="preserve">막연한 반복·동의 요구 대신 명세와 실제 근거에 맞춰 범위를 좁힌다. 여기의 앞선 제안은 가상 구성이며 실제 실패 응답·반복 비교·개선률이 아니다. 다음 반복 Context 질문을 앞당겨 답하지 않는다.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요청을 구체화해도 다음 작업에 다시 적을 조건이 남습니다. S36에서 같은 crop 요청을 보며 찾아봅니다.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S35 또는 production/preview/act1/S35.png의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DEC-0116. 최종 PPT/Notes/렌더 검사는 production/evaluation/PROMPT_METHODS_REVISION.md를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다음 작업에도 이 내용을 다시 적어야 할까?</a:t>
            </a:r>
          </a:p>
          <a:p>
            <a:r>
              <a:t xml:space="preserve"/>
            </a:r>
          </a:p>
          <a:p>
            <a:r>
              <a:t xml:space="preserve">Slide ID:</a:t>
            </a:r>
          </a:p>
          <a:p>
            <a:r>
              <a:t xml:space="preserve">S36</a:t>
            </a:r>
          </a:p>
          <a:p>
            <a:r>
              <a:t xml:space="preserve"/>
            </a:r>
          </a:p>
          <a:p>
            <a:r>
              <a:t xml:space="preserve">Working Title:</a:t>
            </a:r>
          </a:p>
          <a:p>
            <a:r>
              <a:t xml:space="preserve">다음 작업에도 이 내용을 다시 적어야 할까?</a:t>
            </a:r>
          </a:p>
          <a:p>
            <a:r>
              <a:t xml:space="preserve"/>
            </a:r>
          </a:p>
          <a:p>
            <a:r>
              <a:t xml:space="preserve">ACT / Section:</a:t>
            </a:r>
          </a:p>
          <a:p>
            <a:r>
              <a:t xml:space="preserve">ACT 1 / 1G</a:t>
            </a:r>
          </a:p>
          <a:p>
            <a:r>
              <a:t xml:space="preserve"/>
            </a:r>
          </a:p>
          <a:p>
            <a:r>
              <a:t xml:space="preserve">Allocated Time:</a:t>
            </a:r>
          </a:p>
          <a:p>
            <a:r>
              <a:t xml:space="preserve">3 minutes</a:t>
            </a:r>
          </a:p>
          <a:p>
            <a:r>
              <a:t xml:space="preserve"/>
            </a:r>
          </a:p>
          <a:p>
            <a:r>
              <a:t xml:space="preserve">Mode Split:</a:t>
            </a:r>
          </a:p>
          <a:p>
            <a:r>
              <a:t xml:space="preserve">Reflection 1 minute + Q&amp;A 2 minutes</a:t>
            </a:r>
          </a:p>
          <a:p>
            <a:r>
              <a:t xml:space="preserve"/>
            </a:r>
          </a:p>
          <a:p>
            <a:r>
              <a:t xml:space="preserve">Primary Message:</a:t>
            </a:r>
          </a:p>
          <a:p>
            <a:r>
              <a:t xml:space="preserve">잘 작성한 요청에서도 다음 작업에 다시 필요한 정보·기준이 있음을 발견한다. 이번 목표와 공통 기준을 같은 세 문장에서 살피며, 관리 방법의 질문은 S37에서 연다.</a:t>
            </a:r>
          </a:p>
          <a:p>
            <a:r>
              <a:t xml:space="preserve"/>
            </a:r>
          </a:p>
          <a:p>
            <a:r>
              <a:t xml:space="preserve">Opening Question:</a:t>
            </a:r>
          </a:p>
          <a:p>
            <a:r>
              <a:t xml:space="preserve">“작업이 바뀌어도 다시 말하게 될 문장은 무엇일까요?”</a:t>
            </a:r>
          </a:p>
          <a:p>
            <a:r>
              <a:t xml:space="preserve"/>
            </a:r>
          </a:p>
          <a:p>
            <a:r>
              <a:t xml:space="preserve">Speaker Flow:</a:t>
            </a:r>
          </a:p>
          <a:p>
            <a:r>
              <a:t xml:space="preserve">1. (0:00–0:15 / Reflection) S35에서 원하는 변경과 유지할 조건을 명확히 썼다는 성과를 회수한다. 화면은 같은 crop의 교육용 요청이며 실제 TRIAL-002 발췌가 아니다. 세 문장을 그대로 두고 분류·정답을 먼저 주지 않는다.</a:t>
            </a:r>
          </a:p>
          <a:p>
            <a:r>
              <a:t xml:space="preserve">2. (0:15–1:00 / Reflection) 작업이 바뀌어도 다시 말할 문장이 무엇인지 조용히 생각하게 한다. 작성·공유·개인 업무 공개를 요구하지 않는다.</a:t>
            </a:r>
          </a:p>
          <a:p>
            <a:r>
              <a:t xml:space="preserve">3. (1:00–3:00 / Q&amp;A) 자발적인 질문을 받는다. 질문이 없으면 이번 목표와 다음 작업에도 지킬 조건이 같은 범위·수명인지 한 번 묻고 침묵을 허용한다. 저장 파일이나 자동 적용을 답으로 먼저 설명하지 않는다.</a:t>
            </a:r>
          </a:p>
          <a:p>
            <a:r>
              <a:t xml:space="preserve">4. (3:00) 다음 장에서 같은 세 문장을 나누고, 공통 기준을 어떻게 관리하고 참고하게 할지 질문한다고 S37로 이동한다.</a:t>
            </a:r>
          </a:p>
          <a:p>
            <a:r>
              <a:t xml:space="preserve"/>
            </a:r>
          </a:p>
          <a:p>
            <a:r>
              <a:t xml:space="preserve">Evidence / Source:</a:t>
            </a:r>
          </a:p>
          <a:p>
            <a:r>
              <a:t xml:space="preserve">TEACHING_MODEL. BEAT-007 → BEAT-008, CLM-0029, CLM-0027, CLM-0003, CLM-0005, DEC-0042, DEC-0113. S35의 crop·API 보존 요청과 기존 프로젝트 테스트 기준을 짧게 각색한 교육용 요청이다. 실제 TRIAL-002 입력·행동 로그·제품 화면이나 새 실험의 근거가 아니다.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구체적인 문장에서 반복할 내용을 떠올리는 교육용 Reflection이다. 실제 Trial에서 이 요청을 사용했다거나 정답·현재 제품 기능·효과를 확인했다고 표현하지 않는다. 문장의 적용 범위는 다음 장에서 프로젝트 합의 조건과 함께 검토한다.</a:t>
            </a:r>
          </a:p>
          <a:p>
            <a:r>
              <a:t xml:space="preserve"/>
            </a:r>
          </a:p>
          <a:p>
            <a:r>
              <a:t xml:space="preserve">Beginner Explanation:</a:t>
            </a:r>
          </a:p>
          <a:p>
            <a:r>
              <a:t xml:space="preserve">좋은 요청을 쓰는 법을 배운 뒤에도 다음 작업에 다시 필요한 기준은 남는다. 먼저 같은 crop 요청에서 그 문장을 찾는다.</a:t>
            </a:r>
          </a:p>
          <a:p>
            <a:r>
              <a:t xml:space="preserve"/>
            </a:r>
          </a:p>
          <a:p>
            <a:r>
              <a:t xml:space="preserve">Advanced Insight:</a:t>
            </a:r>
          </a:p>
          <a:p>
            <a:r>
              <a:t xml:space="preserve">Separate the recurrence question from storage design. A repeated sentence does not automatically deserve global instruction scope.</a:t>
            </a:r>
          </a:p>
          <a:p>
            <a:r>
              <a:t xml:space="preserve"/>
            </a:r>
          </a:p>
          <a:p>
            <a:r>
              <a:t xml:space="preserve">C++ Vision Bridge:</a:t>
            </a:r>
          </a:p>
          <a:p>
            <a:r>
              <a:t xml:space="preserve">N/A.</a:t>
            </a:r>
          </a:p>
          <a:p>
            <a:r>
              <a:t xml:space="preserve"/>
            </a:r>
          </a:p>
          <a:p>
            <a:r>
              <a:t xml:space="preserve">Demo Operation:</a:t>
            </a:r>
          </a:p>
          <a:p>
            <a:r>
              <a:t xml:space="preserve">N/A — 정적 교육용 요청과 Reflection/Q&amp;A다. 새 Trial·모델 호출·Demo 시간·테스트 실행·결과 화면을 추가하지 않는다.</a:t>
            </a:r>
          </a:p>
          <a:p>
            <a:r>
              <a:t xml:space="preserve"/>
            </a:r>
          </a:p>
          <a:p>
            <a:r>
              <a:t xml:space="preserve">Audience Interaction:</a:t>
            </a:r>
          </a:p>
          <a:p>
            <a:r>
              <a:t xml:space="preserve">Reflection1분(안내15초+개인적 생각45초) 후 자발적 Q&amp;A2분이다. 문장 선택·답안 작성·공유·개인 업무 공개를 요구하지 않는다. 답이 없어도 정시에 진행한다.</a:t>
            </a:r>
          </a:p>
          <a:p>
            <a:r>
              <a:t xml:space="preserve"/>
            </a:r>
          </a:p>
          <a:p>
            <a:r>
              <a:t xml:space="preserve">Transition:</a:t>
            </a:r>
          </a:p>
          <a:p>
            <a:r>
              <a:t xml:space="preserve">“같은 요청에서 이번 목표와 계속 참고할 기준을 나눠 보고, 그 기준을 어디에서 관리할지 생각해 보겠습니다.”라고 S37로 이동한다.</a:t>
            </a:r>
          </a:p>
          <a:p>
            <a:r>
              <a:t xml:space="preserve"/>
            </a:r>
          </a:p>
          <a:p>
            <a:r>
              <a:t xml:space="preserve">Time Management:</a:t>
            </a:r>
          </a:p>
          <a:p>
            <a:r>
              <a:t xml:space="preserve">Reflection1분 + Q&amp;A2분 = 3분. 요청을 이해할 단서3개만 제공한다. 별도 Lecture·설명 시간이나 필수 응답을 추가하지 않는다. 실제 운영 적합성은 리허설 전까지 UNVERIFIED다.</a:t>
            </a:r>
          </a:p>
          <a:p>
            <a:r>
              <a:t xml:space="preserve"/>
            </a:r>
          </a:p>
          <a:p>
            <a:r>
              <a:t xml:space="preserve">Fallback:</a:t>
            </a:r>
          </a:p>
          <a:p>
            <a:r>
              <a:t xml:space="preserve">production/ACT_1.pptx S36 또는 production/preview/act1/S36.png의 정적 요청을 사용한다. 질문이 없으면 요청의 세 문장을 읽어 보게 하고3분에 같은 문장을 분리한 S37로 넘긴다.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작업마다 바뀌는 목표, 계속 쓰는 기준</a:t>
            </a:r>
          </a:p>
          <a:p>
            <a:r>
              <a:t xml:space="preserve"/>
            </a:r>
          </a:p>
          <a:p>
            <a:r>
              <a:t xml:space="preserve">Slide ID:</a:t>
            </a:r>
          </a:p>
          <a:p>
            <a:r>
              <a:t xml:space="preserve">S37</a:t>
            </a:r>
          </a:p>
          <a:p>
            <a:r>
              <a:t xml:space="preserve"/>
            </a:r>
          </a:p>
          <a:p>
            <a:r>
              <a:t xml:space="preserve">Working Title:</a:t>
            </a:r>
          </a:p>
          <a:p>
            <a:r>
              <a:t xml:space="preserve">작업마다 바뀌는 목표, 계속 쓰는 기준</a:t>
            </a:r>
          </a:p>
          <a:p>
            <a:r>
              <a:t xml:space="preserve"/>
            </a:r>
          </a:p>
          <a:p>
            <a:r>
              <a:t xml:space="preserve">ACT / Section:</a:t>
            </a:r>
          </a:p>
          <a:p>
            <a:r>
              <a:t xml:space="preserve">ACT 1 / 1G</a:t>
            </a:r>
          </a:p>
          <a:p>
            <a:r>
              <a:t xml:space="preserve"/>
            </a:r>
          </a:p>
          <a:p>
            <a:r>
              <a:t xml:space="preserve">Allocated Time:</a:t>
            </a:r>
          </a:p>
          <a:p>
            <a:r>
              <a:t xml:space="preserve">6 minutes</a:t>
            </a:r>
          </a:p>
          <a:p>
            <a:r>
              <a:t xml:space="preserve"/>
            </a:r>
          </a:p>
          <a:p>
            <a:r>
              <a:t xml:space="preserve">Mode Split:</a:t>
            </a:r>
          </a:p>
          <a:p>
            <a:r>
              <a:t xml:space="preserve">Reflection 1 minute + Transition 3 minutes + Q&amp;A 2 minutes</a:t>
            </a:r>
          </a:p>
          <a:p>
            <a:r>
              <a:t xml:space="preserve"/>
            </a:r>
          </a:p>
          <a:p>
            <a:r>
              <a:t xml:space="preserve">Primary Message:</a:t>
            </a:r>
          </a:p>
          <a:p>
            <a:r>
              <a:t xml:space="preserve">이번 작업의 목표·특수 조건은 요청에 담는다. 프로젝트에서 공통으로 적용하기로 합의한 정보·기준은 관리할 위치와 작업 시 제공·참조 방법을 설계한다.</a:t>
            </a:r>
          </a:p>
          <a:p>
            <a:r>
              <a:t xml:space="preserve"/>
            </a:r>
          </a:p>
          <a:p>
            <a:r>
              <a:t xml:space="preserve">Opening Question:</a:t>
            </a:r>
          </a:p>
          <a:p>
            <a:r>
              <a:t xml:space="preserve">“이 기준을 프로젝트에서 관리하고, 작업할 때 찾아 참고하게 할 수 없을까?”</a:t>
            </a:r>
          </a:p>
          <a:p>
            <a:r>
              <a:t xml:space="preserve"/>
            </a:r>
          </a:p>
          <a:p>
            <a:r>
              <a:t xml:space="preserve">Speaker Flow:</a:t>
            </a:r>
          </a:p>
          <a:p>
            <a:r>
              <a:t xml:space="preserve">1. (0:00–1:00 / Reflection) S36과 같은 요청에서 자신의 프로젝트가 여러 작업에 계속 적용하기로 합의한 기준을 생각하게 한다. 공개 분류·답안 작성은 요구하지 않는다.</a:t>
            </a:r>
          </a:p>
          <a:p>
            <a:r>
              <a:t xml:space="preserve">2. (1:00–2:00 / Transition) crop 수정 목표 한 줄과 API·정해진 테스트 명령 두 줄의 역할을 짚는다. 이번 작업에만 필요한 조건도 요청에 남아야 한다.</a:t>
            </a:r>
          </a:p>
          <a:p>
            <a:r>
              <a:t xml:space="preserve">3. (2:00–3:00 / Transition) 아래 두 줄은 이 프로젝트에서 계속 적용하기로 한 경우의 공통 기준이다. 반복 횟수만으로 전역·영구 지침으로 만들지 않는다. 기준이 바뀌면 여러 요청의 사본에 어떻게 반영할지도 관리할 문제임을 교육용 질문으로 남긴다.</a:t>
            </a:r>
          </a:p>
          <a:p>
            <a:r>
              <a:t xml:space="preserve">4. (3:00–4:00 / Transition) 하단 질문을 읽는다. 이번 전환은 여러 작업에 필요한 정보의 위치와 제공 방식을 설계하는 Context Engineering의 문제다. AGENTS.md·자동 로딩·Skill·수행 환경을 여기서 답으로 미리 보여주지 않는다.</a:t>
            </a:r>
          </a:p>
          <a:p>
            <a:r>
              <a:t xml:space="preserve">5. (4:00–6:00 / Q&amp;A) 자발적인 질문을 받는다. 질문이 없으면 같은 기준을 여러 요청에 각각 복사해 두면 변경 때 무엇을 확인해야 할지 묻는다.6분에 S38 제목을 거쳐 S39의 서로 다른 세 작업으로 범위를 넓힌다.</a:t>
            </a:r>
          </a:p>
          <a:p>
            <a:r>
              <a:t xml:space="preserve"/>
            </a:r>
          </a:p>
          <a:p>
            <a:r>
              <a:t xml:space="preserve">Evidence / Source:</a:t>
            </a:r>
          </a:p>
          <a:p>
            <a:r>
              <a:t xml:space="preserve">TEACHING_MODEL / CONCEPTUAL. BEAT-007, BEAT-008, TRANS-003, CLM-0029, CLM-0027, CLM-0003, CLM-0005, DEC-0042, DEC-0113. S36과 완전히 같은3문장을 사용한다. 구분과 적용 범위는 교육용 예시이며 실제 STATE-01/Trial의 지침 원문·자동 적용·수행 결과가 아니다. 실제 기록과 기존 정책의 조건은 DEMO_MATRIX.md에 보존한다.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공개 API와 테스트 기준을 프로젝트에서 합의해 계속 적용하기로 한 경우의 교육용 구분이다. 모든 반복 조건이 영구·전역 지침이거나 모든 요청에 전체 테스트가 필수라고 일반화하지 않는다. 실제 TRIAL-002 입력·STATE-01 원문·새 실행·측정·자동 지침 적용·효과를 주장하지 않는다. 저장 메커니즘과 AGENTS.md는 아직 답으로 보여주지 않는다.</a:t>
            </a:r>
          </a:p>
          <a:p>
            <a:r>
              <a:t xml:space="preserve"/>
            </a:r>
          </a:p>
          <a:p>
            <a:r>
              <a:t xml:space="preserve">Beginner Explanation:</a:t>
            </a:r>
          </a:p>
          <a:p>
            <a:r>
              <a:t xml:space="preserve">이번 목표와 조건을 요청에 명확히 쓰면서, 여러 작업에 공통인 기준의 관리 위치와 참고 방법도 생각한다. 원하는 목표를 문서에 모두 옮기거나 공통 기준을 요청에서 무조건 빼는 뜻이 아니다.</a:t>
            </a:r>
          </a:p>
          <a:p>
            <a:r>
              <a:t xml:space="preserve"/>
            </a:r>
          </a:p>
          <a:p>
            <a:r>
              <a:t xml:space="preserve">Advanced Insight:</a:t>
            </a:r>
          </a:p>
          <a:p>
            <a:r>
              <a:t xml:space="preserve">The distinction concerns information scope, ownership and update responsibility. A prompt can provide context too. A project record is not evidence of automatic loading or successful use; S40 shows the record and S41 shows bounded observed use. Keep task-specific conditions explicit.</a:t>
            </a:r>
          </a:p>
          <a:p>
            <a:r>
              <a:t xml:space="preserve"/>
            </a:r>
          </a:p>
          <a:p>
            <a:r>
              <a:t xml:space="preserve">C++ Vision Bridge:</a:t>
            </a:r>
          </a:p>
          <a:p>
            <a:r>
              <a:t xml:space="preserve">N/A.</a:t>
            </a:r>
          </a:p>
          <a:p>
            <a:r>
              <a:t xml:space="preserve"/>
            </a:r>
          </a:p>
          <a:p>
            <a:r>
              <a:t xml:space="preserve">Demo Operation:</a:t>
            </a:r>
          </a:p>
          <a:p>
            <a:r>
              <a:t xml:space="preserve">N/A — S36의 동일한 교육용 요청을 범위별로 설명하는 정적 장이다. 새로운 Prompt 입력·Trial·C++/Python 실행·현재 제품 수집 동작·성과를 보여주지 않는다.</a:t>
            </a:r>
          </a:p>
          <a:p>
            <a:r>
              <a:t xml:space="preserve"/>
            </a:r>
          </a:p>
          <a:p>
            <a:r>
              <a:t xml:space="preserve">Audience Interaction:</a:t>
            </a:r>
          </a:p>
          <a:p>
            <a:r>
              <a:t xml:space="preserve">Reflection1분 뒤 Transition3분과 자발적 Q&amp;A2분이다. 공통 기준의 변경·제공을 생각하게 하되 정답 분류·실습·업무 공개를 요구하지 않는다. 질문이 없으면 하단 질문을 회수하고 정시에 다음 ACT로 이동한다.</a:t>
            </a:r>
          </a:p>
          <a:p>
            <a:r>
              <a:t xml:space="preserve"/>
            </a:r>
          </a:p>
          <a:p>
            <a:r>
              <a:t xml:space="preserve">Transition:</a:t>
            </a:r>
          </a:p>
          <a:p>
            <a:r>
              <a:t xml:space="preserve">“이 기준을 프로젝트에서 관리하고 작업할 때 찾아 참고하게 할 수 없을까요? 다음에는 서로 다른 세 작업에서도 같은 기준을 쓰는지 보겠습니다.”라고 S38 제목→S39로 이동한다.</a:t>
            </a:r>
          </a:p>
          <a:p>
            <a:r>
              <a:t xml:space="preserve"/>
            </a:r>
          </a:p>
          <a:p>
            <a:r>
              <a:t xml:space="preserve">Time Management:</a:t>
            </a:r>
          </a:p>
          <a:p>
            <a:r>
              <a:t xml:space="preserve">0–1분 Reflection,1–4분 Transition,4–6분 Q&amp;A를 유지한다. S38 ACT2 제목의1분은 별도다. 두 장 합계9분과 Reflection2/Transition3/Q&amp;A4를 보존한다. 실측 시간 적합성은 UNVERIFIED다.</a:t>
            </a:r>
          </a:p>
          <a:p>
            <a:r>
              <a:t xml:space="preserve"/>
            </a:r>
          </a:p>
          <a:p>
            <a:r>
              <a:t xml:space="preserve">Fallback:</a:t>
            </a:r>
          </a:p>
          <a:p>
            <a:r>
              <a:t xml:space="preserve">production/ACT_1.pptx S37 또는 production/preview/act1/S37.png의 정적 분리 도식을 사용한다. 프로젝트 합의·조건 범위를 밝히고 S38 제목→S39의 세 작업 반복 장면으로 이어간다. 저장 방법을 먼저 설명하지 않는다.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S37의 공통 기준 관리·참조 질문을 받아 ACT2 제목을 가리킨다.</a:t>
            </a:r>
          </a:p>
          <a:p>
            <a:r>
              <a:t xml:space="preserve">2. (0:20–0:40 / Transition) Context Engineering은 여러 작업에 필요한 정보를 어디에 두고 어떤 범위에서 제공·참고하게 할지 살피는 이번 구간의 관점이라고 짧게 연결한다. 저장 기능·해결 결과를 앞당기지 않는다.</a:t>
            </a:r>
          </a:p>
          <a:p>
            <a:r>
              <a:t xml:space="preserve">3. (0:40–1:00 / Transition) S39의 서로 다른 세 요청에서 공통 기준을 확인하겠다고 이동한다. 앞 장의 질문이나 성찰을 다시 운영하지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“서로 다른 세 작업에서도 같은 프로젝트 기준이 필요한지 보겠습니다.”라고 S39로 이동한다.</a:t>
            </a:r>
          </a:p>
          <a:p>
            <a:r>
              <a:t xml:space="preserve"/>
            </a:r>
          </a:p>
          <a:p>
            <a:r>
              <a:t xml:space="preserve">Time Management:</a:t>
            </a:r>
          </a:p>
          <a:p>
            <a:r>
              <a:t xml:space="preserve">Transition1분. ACT2 총90분, 전체417분을 유지한다. 제목과 연결만 안내하고1분에 S39로 넘긴다. 실제 시간 적합성은 리허설 전까지 UNVERIFIED다.</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a:t>
            </a:r>
          </a:p>
          <a:p>
            <a:r>
              <a:t xml:space="preserve">S39</a:t>
            </a:r>
          </a:p>
          <a:p>
            <a:r>
              <a:t xml:space="preserve"/>
            </a:r>
          </a:p>
          <a:p>
            <a:r>
              <a:t xml:space="preserve">Working Title:</a:t>
            </a:r>
          </a:p>
          <a:p>
            <a:r>
              <a:t xml:space="preserve">다른 Task에 같은 설명이 반복된다</a:t>
            </a:r>
          </a:p>
          <a:p>
            <a:r>
              <a:t xml:space="preserve"/>
            </a:r>
          </a:p>
          <a:p>
            <a:r>
              <a:t xml:space="preserve">ACT / Section:</a:t>
            </a:r>
          </a:p>
          <a:p>
            <a:r>
              <a:t xml:space="preserve">ACT 2 / 2A</a:t>
            </a:r>
          </a:p>
          <a:p>
            <a:r>
              <a:t xml:space="preserve"/>
            </a:r>
          </a:p>
          <a:p>
            <a:r>
              <a:t xml:space="preserve">Allocated Time:</a:t>
            </a:r>
          </a:p>
          <a:p>
            <a:r>
              <a:t xml:space="preserve">5 minutes</a:t>
            </a:r>
          </a:p>
          <a:p>
            <a:r>
              <a:t xml:space="preserve"/>
            </a:r>
          </a:p>
          <a:p>
            <a:r>
              <a:t xml:space="preserve">Mode Split:</a:t>
            </a:r>
          </a:p>
          <a:p>
            <a:r>
              <a:t xml:space="preserve">Lecture 4 minutes + Case 1 minute</a:t>
            </a:r>
          </a:p>
          <a:p>
            <a:r>
              <a:t xml:space="preserve"/>
            </a:r>
          </a:p>
          <a:p>
            <a:r>
              <a:t xml:space="preserve">Primary Message:</a:t>
            </a:r>
          </a:p>
          <a:p>
            <a:r>
              <a:t xml:space="preserve">버그 수정·성능 조사·README 수정의 목표는 달라도 같은 프로젝트 기준을 참고할 수 있다. 공통 기준의 변경을 여러 요청에 어떻게 반영할지가 다음 관리 질문이다.</a:t>
            </a:r>
          </a:p>
          <a:p>
            <a:r>
              <a:t xml:space="preserve"/>
            </a:r>
          </a:p>
          <a:p>
            <a:r>
              <a:t xml:space="preserve">Opening Question:</a:t>
            </a:r>
          </a:p>
          <a:p>
            <a:r>
              <a:t xml:space="preserve">“공통 기준이 바뀌면, 세 요청에 어떻게 반영할까?”</a:t>
            </a:r>
          </a:p>
          <a:p>
            <a:r>
              <a:t xml:space="preserve"/>
            </a:r>
          </a:p>
          <a:p>
            <a:r>
              <a:t xml:space="preserve">Speaker Flow:</a:t>
            </a:r>
          </a:p>
          <a:p>
            <a:r>
              <a:t xml:space="preserve">1. (0:00–1:30 / Lecture) S36/S37의 한 crop 요청에서 범위를 넓혀 버그 수정·성능 조사·README 수정이라는 서로 다른 세 목표를 가리킨다. 다시 문장 분류를 시험하지 않는다.</a:t>
            </a:r>
          </a:p>
          <a:p>
            <a:r>
              <a:t xml:space="preserve">2. (1:30–3:30 / Lecture) 아래에 반복된 테스트 실행, 근거가 있을 때 의존성 추가, 로컬 합성 데이터, 기존 동작 보존의 공통 기준을 비교한다. 세 요청은 교육용 구성이고 실제 Trial 원문이 아니다.</a:t>
            </a:r>
          </a:p>
          <a:p>
            <a:r>
              <a:t xml:space="preserve">3. (3:30–4:00 / Lecture) 복사 입력의 수고에서 공통 정보의 관리 문제로 연결한다. 기준이 바뀐 경우를 가정한 하단 질문이며 실제 프로젝트에서 잘못된 기준을 실행한 관찰이 아니다.</a:t>
            </a:r>
          </a:p>
          <a:p>
            <a:r>
              <a:t xml:space="preserve">4. (4:00–5:00 / Case) 세 요청에 같은 기준을 어떻게 제공할지 조용히 생각하게 한다. 저장 파일이나 자동 적용 결과를 답으로 먼저 보여주지 않고 S40의 실제 기록 위치로 넘긴다.</a:t>
            </a:r>
          </a:p>
          <a:p>
            <a:r>
              <a:t xml:space="preserve"/>
            </a:r>
          </a:p>
          <a:p>
            <a:r>
              <a:t xml:space="preserve">Evidence / Source:</a:t>
            </a:r>
          </a:p>
          <a:p>
            <a:r>
              <a:t xml:space="preserve">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a:t>
            </a:r>
          </a:p>
          <a:p>
            <a:r>
              <a:t xml:space="preserve">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 공통 기준이 바뀌는 경우는 교육용 관리 질문이며 실제 Demo 실패나 새 실험이 아니다.</a:t>
            </a:r>
          </a:p>
          <a:p>
            <a:r>
              <a:t xml:space="preserve"/>
            </a:r>
          </a:p>
          <a:p>
            <a:r>
              <a:t xml:space="preserve">Beginner Explanation:</a:t>
            </a:r>
          </a:p>
          <a:p>
            <a:r>
              <a:t xml:space="preserve">서로 다른 작업에도 공통인 프로젝트 정보가 있다. 같은 정보를 요청마다 따로 관리할지, 프로젝트에서 관리하고 참고하게 할지 생각한다.</a:t>
            </a:r>
          </a:p>
          <a:p>
            <a:r>
              <a:t xml:space="preserve"/>
            </a:r>
          </a:p>
          <a:p>
            <a:r>
              <a:t xml:space="preserve">Advanced Insight:</a:t>
            </a:r>
          </a:p>
          <a:p>
            <a:r>
              <a:t xml:space="preserve">Broaden a single request to several tasks before choosing a source for common guidance. The change-propagation question is conceptual and supplies no observed failure, automatic consistency guarantee or measured efficiency claim.</a:t>
            </a:r>
          </a:p>
          <a:p>
            <a:r>
              <a:t xml:space="preserve"/>
            </a:r>
          </a:p>
          <a:p>
            <a:r>
              <a:t xml:space="preserve">C++ Vision Bridge:</a:t>
            </a:r>
          </a:p>
          <a:p>
            <a:r>
              <a:t xml:space="preserve">N/A.</a:t>
            </a:r>
          </a:p>
          <a:p>
            <a:r>
              <a:t xml:space="preserve"/>
            </a:r>
          </a:p>
          <a:p>
            <a:r>
              <a:t xml:space="preserve">Demo Operation:</a:t>
            </a:r>
          </a:p>
          <a:p>
            <a:r>
              <a:t xml:space="preserve">N/A.</a:t>
            </a:r>
          </a:p>
          <a:p>
            <a:r>
              <a:t xml:space="preserve"/>
            </a:r>
          </a:p>
          <a:p>
            <a:r>
              <a:t xml:space="preserve">Audience Interaction:</a:t>
            </a:r>
          </a:p>
          <a:p>
            <a:r>
              <a:t xml:space="preserve">마지막1분은 세 요청에 공통 기준을 어떻게 제공할지 생각하는 Case 시간이다. 실습·답안·공개 응답은 요구하지 않는다.</a:t>
            </a:r>
          </a:p>
          <a:p>
            <a:r>
              <a:t xml:space="preserve"/>
            </a:r>
          </a:p>
          <a:p>
            <a:r>
              <a:t xml:space="preserve">Transition:</a:t>
            </a:r>
          </a:p>
          <a:p>
            <a:r>
              <a:t xml:space="preserve">“반복되던 프로젝트 정보를 실제로 어디에 기록했는지 보겠습니다.”라고 S40로 이동한다.</a:t>
            </a:r>
          </a:p>
          <a:p>
            <a:r>
              <a:t xml:space="preserve"/>
            </a:r>
          </a:p>
          <a:p>
            <a:r>
              <a:t xml:space="preserve">Time Management:</a:t>
            </a:r>
          </a:p>
          <a:p>
            <a:r>
              <a:t xml:space="preserve">Spend four minutes on the repeated facts and one minute on the question. Do not preview the solution.</a:t>
            </a:r>
          </a:p>
          <a:p>
            <a:r>
              <a:t xml:space="preserve"/>
            </a:r>
          </a:p>
          <a:p>
            <a:r>
              <a:t xml:space="preserve">Fallback:</a:t>
            </a:r>
          </a:p>
          <a:p>
            <a:r>
              <a:t xml:space="preserve">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a:t>
            </a:r>
          </a:p>
          <a:p>
            <a:r>
              <a:t xml:space="preserve">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a:t>
            </a:r>
          </a:p>
          <a:p>
            <a:r>
              <a:t xml:space="preserve">S40</a:t>
            </a:r>
          </a:p>
          <a:p>
            <a:r>
              <a:t xml:space="preserve"/>
            </a:r>
          </a:p>
          <a:p>
            <a:r>
              <a:t xml:space="preserve">Working Title:</a:t>
            </a:r>
          </a:p>
          <a:p>
            <a:r>
              <a:t xml:space="preserve">작은 Project Context의 첫 기록</a:t>
            </a:r>
          </a:p>
          <a:p>
            <a:r>
              <a:t xml:space="preserve"/>
            </a:r>
          </a:p>
          <a:p>
            <a:r>
              <a:t xml:space="preserve">ACT / Section:</a:t>
            </a:r>
          </a:p>
          <a:p>
            <a:r>
              <a:t xml:space="preserve">ACT 2 / 2B</a:t>
            </a:r>
          </a:p>
          <a:p>
            <a:r>
              <a:t xml:space="preserve"/>
            </a:r>
          </a:p>
          <a:p>
            <a:r>
              <a:t xml:space="preserve">Allocated Time:</a:t>
            </a:r>
          </a:p>
          <a:p>
            <a:r>
              <a:t xml:space="preserve">4 minutes</a:t>
            </a:r>
          </a:p>
          <a:p>
            <a:r>
              <a:t xml:space="preserve"/>
            </a:r>
          </a:p>
          <a:p>
            <a:r>
              <a:t xml:space="preserve">Mode Split:</a:t>
            </a:r>
          </a:p>
          <a:p>
            <a:r>
              <a:t xml:space="preserve">Demo 4 minutes (HYBRID planned; activation unverified)</a:t>
            </a:r>
          </a:p>
          <a:p>
            <a:r>
              <a:t xml:space="preserve"/>
            </a:r>
          </a:p>
          <a:p>
            <a:r>
              <a:t xml:space="preserve">Primary Message:</a:t>
            </a:r>
          </a:p>
          <a:p>
            <a:r>
              <a:t xml:space="preserve">STATE-01의 실제 AGENTS.md에 프로젝트 목적·실행 방법·테스트 명령·기본 제약을 기록했다. 이 장은 기록 위치와 내용을 보여주고, 실제 사용 기록은 S41에서 확인한다.</a:t>
            </a:r>
          </a:p>
          <a:p>
            <a:r>
              <a:t xml:space="preserve"/>
            </a:r>
          </a:p>
          <a:p>
            <a:r>
              <a:t xml:space="preserve">Opening Question:</a:t>
            </a:r>
          </a:p>
          <a:p>
            <a:r>
              <a:t xml:space="preserve">“반복되던 프로젝트 정보를 실제로 어디에 기록했을까?”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a:t>
            </a:r>
          </a:p>
          <a:p>
            <a:r>
              <a:t xml:space="preserve">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a:t>
            </a:r>
          </a:p>
          <a:p>
            <a:r>
              <a:t xml:space="preserve">A small set of facts that applies across Project Tasks can be written down once in the repository.</a:t>
            </a:r>
          </a:p>
          <a:p>
            <a:r>
              <a:t xml:space="preserve"/>
            </a:r>
          </a:p>
          <a:p>
            <a:r>
              <a:t xml:space="preserve">Advanced Insight:</a:t>
            </a:r>
          </a:p>
          <a:p>
            <a:r>
              <a:t xml:space="preserve">The design choice is about context scope and maintenance ownership, not a measured quality or performance effect.</a:t>
            </a:r>
          </a:p>
          <a:p>
            <a:r>
              <a:t xml:space="preserve"/>
            </a:r>
          </a:p>
          <a:p>
            <a:r>
              <a:t xml:space="preserve">C++ Vision Bridge:</a:t>
            </a:r>
          </a:p>
          <a:p>
            <a:r>
              <a:t xml:space="preserve">N/A.</a:t>
            </a:r>
          </a:p>
          <a:p>
            <a:r>
              <a:t xml:space="preserve"/>
            </a:r>
          </a:p>
          <a:p>
            <a:r>
              <a:t xml:space="preserve">Demo Operation:</a:t>
            </a:r>
          </a:p>
          <a:p>
            <a:r>
              <a:t xml:space="preserve">`production/ACT_2.pptx`의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a:t>
            </a:r>
          </a:p>
          <a:p>
            <a:r>
              <a:t xml:space="preserve">Point out the recurring facts without asking the audience to inspect a repository.</a:t>
            </a:r>
          </a:p>
          <a:p>
            <a:r>
              <a:t xml:space="preserve"/>
            </a:r>
          </a:p>
          <a:p>
            <a:r>
              <a:t xml:space="preserve">Transition:</a:t>
            </a:r>
          </a:p>
          <a:p>
            <a:r>
              <a:t xml:space="preserve">“기록해 둔 것과 실제로 참고한 것은 각각 확인해야 합니다. 다음에는 이 지침을 사용한 실행 기록을 보겠습니다.”라고 S41로 이동한다.</a:t>
            </a:r>
          </a:p>
          <a:p>
            <a:r>
              <a:t xml:space="preserve"/>
            </a:r>
          </a:p>
          <a:p>
            <a:r>
              <a:t xml:space="preserve">Time Management:</a:t>
            </a:r>
          </a:p>
          <a:p>
            <a:r>
              <a:t xml:space="preserve">Demo 4분 유지. 1분 상태 전환, 2분 네 발췌, 1분 의미와 S41 handoff. 명령어 옵션별 설명은 생략한다.</a:t>
            </a:r>
          </a:p>
          <a:p>
            <a:r>
              <a:t xml:space="preserve"/>
            </a:r>
          </a:p>
          <a:p>
            <a:r>
              <a:t xml:space="preserve">Fallback:</a:t>
            </a:r>
          </a:p>
          <a:p>
            <a:r>
              <a:t xml:space="preserve">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a:t>
            </a:r>
          </a:p>
          <a:p>
            <a:r>
              <a:t xml:space="preserve">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a:t>
            </a:r>
          </a:p>
          <a:p>
            <a:r>
              <a:t xml:space="preserve">S41</a:t>
            </a:r>
          </a:p>
          <a:p>
            <a:r>
              <a:t xml:space="preserve"/>
            </a:r>
          </a:p>
          <a:p>
            <a:r>
              <a:t xml:space="preserve">Working Title:</a:t>
            </a:r>
          </a:p>
          <a:p>
            <a:r>
              <a:t xml:space="preserve">AGENTS.md의 지침대로 검증했다</a:t>
            </a:r>
          </a:p>
          <a:p>
            <a:r>
              <a:t xml:space="preserve"/>
            </a:r>
          </a:p>
          <a:p>
            <a:r>
              <a:t xml:space="preserve">ACT / Section:</a:t>
            </a:r>
          </a:p>
          <a:p>
            <a:r>
              <a:t xml:space="preserve">ACT 2 / 2B</a:t>
            </a:r>
          </a:p>
          <a:p>
            <a:r>
              <a:t xml:space="preserve"/>
            </a:r>
          </a:p>
          <a:p>
            <a:r>
              <a:t xml:space="preserve">Allocated Time:</a:t>
            </a:r>
          </a:p>
          <a:p>
            <a:r>
              <a:t xml:space="preserve">4 minutes</a:t>
            </a:r>
          </a:p>
          <a:p>
            <a:r>
              <a:t xml:space="preserve"/>
            </a:r>
          </a:p>
          <a:p>
            <a:r>
              <a:t xml:space="preserve">Mode Split:</a:t>
            </a:r>
          </a:p>
          <a:p>
            <a:r>
              <a:t xml:space="preserve">Demo 4 minutes (HYBRID planned; activation unverified)</a:t>
            </a:r>
          </a:p>
          <a:p>
            <a:r>
              <a:t xml:space="preserve"/>
            </a:r>
          </a:p>
          <a:p>
            <a:r>
              <a:t xml:space="preserve">Primary Message:</a:t>
            </a:r>
          </a:p>
          <a:p>
            <a:r>
              <a:t xml:space="preserve">이번 기록에서는 Agent가 AGENTS.md의 테스트 지침을 실제 작업에 적용했다. 작업 Prompt에는 검증 근거 보고가 있었지만 테스트 실행 명령은 없었다.</a:t>
            </a:r>
          </a:p>
          <a:p>
            <a:r>
              <a:t xml:space="preserve"/>
            </a:r>
          </a:p>
          <a:p>
            <a:r>
              <a:t xml:space="preserve">Opening Question:</a:t>
            </a:r>
          </a:p>
          <a:p>
            <a:r>
              <a:t xml:space="preserve">“Prompt에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a:t>
            </a:r>
          </a:p>
          <a:p>
            <a:r>
              <a:t xml:space="preserve">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a:t>
            </a:r>
          </a:p>
          <a:p>
            <a:r>
              <a:t xml:space="preserve">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a:t>
            </a:r>
          </a:p>
          <a:p>
            <a:r>
              <a:t xml:space="preserve">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a:t>
            </a:r>
          </a:p>
          <a:p>
            <a:r>
              <a:t xml:space="preserve">Observed use of the repository test instruction is supported. Enforcement, an isolated instruction-loading cause and attribution of README-only scope to AGENTS.md are not established by this run.</a:t>
            </a:r>
          </a:p>
          <a:p>
            <a:r>
              <a:t xml:space="preserve"/>
            </a:r>
          </a:p>
          <a:p>
            <a:r>
              <a:t xml:space="preserve">C++ Vision Bridge:</a:t>
            </a:r>
          </a:p>
          <a:p>
            <a:r>
              <a:t xml:space="preserve">N/A.</a:t>
            </a:r>
          </a:p>
          <a:p>
            <a:r>
              <a:t xml:space="preserve"/>
            </a:r>
          </a:p>
          <a:p>
            <a:r>
              <a:t xml:space="preserve">Demo Operation:</a:t>
            </a:r>
          </a:p>
          <a:p>
            <a:r>
              <a:t xml:space="preserve">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a:t>
            </a:r>
          </a:p>
          <a:p>
            <a:r>
              <a:t xml:space="preserve">Ask the opening question, pause briefly, then reveal the record. Do not require an answer.</a:t>
            </a:r>
          </a:p>
          <a:p>
            <a:r>
              <a:t xml:space="preserve"/>
            </a:r>
          </a:p>
          <a:p>
            <a:r>
              <a:t xml:space="preserve">Transition:</a:t>
            </a:r>
          </a:p>
          <a:p>
            <a:r>
              <a:t xml:space="preserve">“방금 본 이번 README 요청과 다시 참고한 테스트 지침을 Task Prompt와 Project Context의 역할로 정리해 보겠습니다.”라고 S42로 이동한다.</a:t>
            </a:r>
          </a:p>
          <a:p>
            <a:r>
              <a:t xml:space="preserve"/>
            </a:r>
          </a:p>
          <a:p>
            <a:r>
              <a:t xml:space="preserve">Time Management:</a:t>
            </a:r>
          </a:p>
          <a:p>
            <a:r>
              <a:t xml:space="preserve">1분 실제 요청과 외부 주석,1분 프로젝트 작업 지침,1분 테스트 실행·11/11 결과,1분 해석 한계와 S42 연결. Demo4분·기존 Mode는 유지하며 실측 리허설은 UNVERIFIED다.</a:t>
            </a:r>
          </a:p>
          <a:p>
            <a:r>
              <a:t xml:space="preserve"/>
            </a:r>
          </a:p>
          <a:p>
            <a:r>
              <a:t xml:space="preserve">Fallback:</a:t>
            </a:r>
          </a:p>
          <a:p>
            <a:r>
              <a:t xml:space="preserve">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a:t>
            </a:r>
          </a:p>
          <a:p>
            <a:r>
              <a:t xml:space="preserve">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a:t>
            </a:r>
          </a:p>
          <a:p>
            <a:r>
              <a:t xml:space="preserve">S42</a:t>
            </a:r>
          </a:p>
          <a:p>
            <a:r>
              <a:t xml:space="preserve"/>
            </a:r>
          </a:p>
          <a:p>
            <a:r>
              <a:t xml:space="preserve">Working Title:</a:t>
            </a:r>
          </a:p>
          <a:p>
            <a:r>
              <a:t xml:space="preserve">Task Prompt와 Project Context</a:t>
            </a:r>
          </a:p>
          <a:p>
            <a:r>
              <a:t xml:space="preserve"/>
            </a:r>
          </a:p>
          <a:p>
            <a:r>
              <a:t xml:space="preserve">ACT / Section:</a:t>
            </a:r>
          </a:p>
          <a:p>
            <a:r>
              <a:t xml:space="preserve">ACT 2 / 2C</a:t>
            </a:r>
          </a:p>
          <a:p>
            <a:r>
              <a:t xml:space="preserve"/>
            </a:r>
          </a:p>
          <a:p>
            <a:r>
              <a:t xml:space="preserve">Allocated Time:</a:t>
            </a:r>
          </a:p>
          <a:p>
            <a:r>
              <a:t xml:space="preserve">5 minutes</a:t>
            </a:r>
          </a:p>
          <a:p>
            <a:r>
              <a:t xml:space="preserve"/>
            </a:r>
          </a:p>
          <a:p>
            <a:r>
              <a:t xml:space="preserve">Mode Split:</a:t>
            </a:r>
          </a:p>
          <a:p>
            <a:r>
              <a:t xml:space="preserve">Lecture 5 minutes</a:t>
            </a:r>
          </a:p>
          <a:p>
            <a:r>
              <a:t xml:space="preserve"/>
            </a:r>
          </a:p>
          <a:p>
            <a:r>
              <a:t xml:space="preserve">Primary Message:</a:t>
            </a:r>
          </a:p>
          <a:p>
            <a:r>
              <a:t xml:space="preserve">앞선 실제 기록의 현재 작업 요청과 재참고한 프로젝트 정보를 Task Prompt와 Project Context의 범위·수명으로 정리한다. 정보가 Prompt 또는 문서 한 곳에만 들어가야 한다는 뜻은 아니다.</a:t>
            </a:r>
          </a:p>
          <a:p>
            <a:r>
              <a:t xml:space="preserve"/>
            </a:r>
          </a:p>
          <a:p>
            <a:r>
              <a:t xml:space="preserve">Opening Question:</a:t>
            </a:r>
          </a:p>
          <a:p>
            <a:r>
              <a:t xml:space="preserve">“이 정보는 언제까지 유효한가?”</a:t>
            </a:r>
          </a:p>
          <a:p>
            <a:r>
              <a:t xml:space="preserve"/>
            </a:r>
          </a:p>
          <a:p>
            <a:r>
              <a:t xml:space="preserve">Speaker Flow:</a:t>
            </a:r>
          </a:p>
          <a:p>
            <a:r>
              <a:t xml:space="preserve">1. (0:00–1:30 / Lecture) S40의 프로젝트 안내와 S41의 실제 README 요청·테스트 명령 사용을 회수한다. S37의 crop 문장 분류를 다시 시험하지 않는다.</a:t>
            </a:r>
          </a:p>
          <a:p>
            <a:r>
              <a:t xml:space="preserve">2. (1:30–3:30 / Lecture) 이번 목표·수정 범위는 Task Prompt, 여러 작업에서 유지·참고할 명령·규칙은 Project Context라는 역할 이름으로 정리한다. 방금 본 관찰의 관리 범위와 유효 기간을 설명하는 교육 모델이다.</a:t>
            </a:r>
          </a:p>
          <a:p>
            <a:r>
              <a:t xml:space="preserve">3. (3:30–4:30 / Lecture) Prompt도 Context를 제공할 수 있고, 이번 작업만의 조건도 요청에 남는다. 문서의 존재와 실제 참고·적용은 별도로 확인하며 모든 규칙의 자동 적용을 주장하지 않는다. 테스트 지침도 프로젝트 안내에 들어갈 수 있다.</a:t>
            </a:r>
          </a:p>
          <a:p>
            <a:r>
              <a:t xml:space="preserve">4. (4:30–5:00 / Lecture) 이번에는 정보의 관리·제공 범위를 배웠다는 성과를 회수하고, 정확한 정보가 계속 늘어날 때 어떤 질문이 생기는지 S43으로 연결한다. 수행 절차·도구·환경의 구성은 여기서 새로 강의하지 않는다.</a:t>
            </a:r>
          </a:p>
          <a:p>
            <a:r>
              <a:t xml:space="preserve"/>
            </a:r>
          </a:p>
          <a:p>
            <a:r>
              <a:t xml:space="preserve">Evidence / Source:</a:t>
            </a:r>
          </a:p>
          <a:p>
            <a:r>
              <a:t xml:space="preserve">BEAT-009–010, TRANS-003, CLM-0003, CLM-0005, DEC-0047. TEACHING_MODEL / CONCEPTUAL; examples summarize S39–S41.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a:t>
            </a:r>
          </a:p>
          <a:p>
            <a:r>
              <a:t xml:space="preserve">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a:t>
            </a:r>
          </a:p>
          <a:p>
            <a:r>
              <a:t xml:space="preserve">이번에 원하는 일과 여러 작업에 계속 필요한 정보를 구분해 관리한다. 정보는 요청 안에서도 제공할 수 있으며, 프로젝트 문서가 실제로 참고됐는지는 별도로 확인한다.</a:t>
            </a:r>
          </a:p>
          <a:p>
            <a:r>
              <a:t xml:space="preserve"/>
            </a:r>
          </a:p>
          <a:p>
            <a:r>
              <a:t xml:space="preserve">Advanced Insight:</a:t>
            </a:r>
          </a:p>
          <a:p>
            <a:r>
              <a:t xml:space="preserve">Scope and lifetime are useful dimensions for deciding ownership and update responsibility.</a:t>
            </a:r>
          </a:p>
          <a:p>
            <a:r>
              <a:t xml:space="preserve"/>
            </a:r>
          </a:p>
          <a:p>
            <a:r>
              <a:t xml:space="preserve">C++ Vision Bridge:</a:t>
            </a:r>
          </a:p>
          <a:p>
            <a:r>
              <a:t xml:space="preserve">Briefly distinguish a general Project constraint from a Task-specific algorithm condition; do not list tools or hardware.</a:t>
            </a:r>
          </a:p>
          <a:p>
            <a:r>
              <a:t xml:space="preserve"/>
            </a:r>
          </a:p>
          <a:p>
            <a:r>
              <a:t xml:space="preserve">Demo Operation:</a:t>
            </a:r>
          </a:p>
          <a:p>
            <a:r>
              <a:t xml:space="preserve">N/A.</a:t>
            </a:r>
          </a:p>
          <a:p>
            <a:r>
              <a:t xml:space="preserve"/>
            </a:r>
          </a:p>
          <a:p>
            <a:r>
              <a:t xml:space="preserve">Audience Interaction:</a:t>
            </a:r>
          </a:p>
          <a:p>
            <a:r>
              <a:t xml:space="preserve">Give the audience a brief silent pause to classify the examples mentally. Do not turn it into a hands-on task.</a:t>
            </a:r>
          </a:p>
          <a:p>
            <a:r>
              <a:t xml:space="preserve"/>
            </a:r>
          </a:p>
          <a:p>
            <a:r>
              <a:t xml:space="preserve">Transition:</a:t>
            </a:r>
          </a:p>
          <a:p>
            <a:r>
              <a:t xml:space="preserve">“정확한 정보를 더 많이 넣으면 언제나 괜찮을까?”</a:t>
            </a:r>
          </a:p>
          <a:p>
            <a:r>
              <a:t xml:space="preserve"/>
            </a:r>
          </a:p>
          <a:p>
            <a:r>
              <a:t xml:space="preserve">Time Management:</a:t>
            </a:r>
          </a:p>
          <a:p>
            <a:r>
              <a:t xml:space="preserve">Keep the model to two layers and four examples. Leave research and detailed routing for later slides.</a:t>
            </a:r>
          </a:p>
          <a:p>
            <a:r>
              <a:t xml:space="preserve"/>
            </a:r>
          </a:p>
          <a:p>
            <a:r>
              <a:t xml:space="preserve">Fallback:</a:t>
            </a:r>
          </a:p>
          <a:p>
            <a:r>
              <a:t xml:space="preserve">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a:t>
            </a:r>
          </a:p>
          <a:p>
            <a:r>
              <a:t xml:space="preserve">REVIEWED — DEC-0060의 근거·운영·19필드 구조를 대조했다. 최종 PPT/PNG/내장 Notes 재대조는 production/evaluation/ACT_2_FLOW_REVISION.md에 기록한다. Windows PowerPoint/room/product/account/timed rehearsal remain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a:t>
            </a:r>
          </a:p>
          <a:p>
            <a:r>
              <a:t xml:space="preserve">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a:t>
            </a:r>
          </a:p>
          <a:p>
            <a:r>
              <a:t xml:space="preserve">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a:t>
            </a:r>
          </a:p>
          <a:p>
            <a:r>
              <a:t xml:space="preserve">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S45/TRIAL-004의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S44 회수30초, 공통 안내1분, 요청별 상세1분, 재사용 절차1분, 경계·S46 연결30초로 Lecture4분을 유지한다. 제품 기능이나 Skill 호출 설명으로 확장하지 않는다.</a:t>
            </a:r>
          </a:p>
          <a:p>
            <a:r>
              <a:t xml:space="preserve"/>
            </a:r>
          </a:p>
          <a:p>
            <a:r>
              <a:t xml:space="preserve">Fallback:</a:t>
            </a:r>
          </a:p>
          <a:p>
            <a:r>
              <a:t xml:space="preserve">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a:t>
            </a:r>
          </a:p>
          <a:p>
            <a:r>
              <a:t xml:space="preserve">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a:t>
            </a:r>
          </a:p>
          <a:p>
            <a:r>
              <a:t xml:space="preserve">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S46의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S48의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S46 연결40초, 위치 확인40초, 명세·코드 대응60초, 주변 근거60초, S48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S47; production/preview/act2/S47.png.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S46→S47→S48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a:t>
            </a:r>
          </a:p>
          <a:p>
            <a:r>
              <a:t xml:space="preserve">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a:t>
            </a:r>
          </a:p>
          <a:p>
            <a:r>
              <a:t xml:space="preserve">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S51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a:t>
            </a:r>
          </a:p>
          <a:p>
            <a:r>
              <a:t xml:space="preserve">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a:t>
            </a:r>
          </a:p>
          <a:p>
            <a:r>
              <a:t xml:space="preserve">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S53–S54.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a:t>
            </a:r>
          </a:p>
          <a:p>
            <a:r>
              <a:t xml:space="preserve">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a:t>
            </a:r>
          </a:p>
          <a:p>
            <a:r>
              <a:t xml:space="preserve">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a:t>
            </a:r>
          </a:p>
          <a:p>
            <a:r>
              <a:t xml:space="preserve">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a:t>
            </a:r>
          </a:p>
          <a:p>
            <a:r>
              <a:t xml:space="preserve">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AGENTS.md는 어디에 둘까?</a:t>
            </a:r>
          </a:p>
          <a:p>
            <a:r>
              <a:t xml:space="preserve"/>
            </a:r>
          </a:p>
          <a:p>
            <a:r>
              <a:t xml:space="preserve">**Slide ID:**</a:t>
            </a:r>
          </a:p>
          <a:p>
            <a:r>
              <a:t xml:space="preserve">S56</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S55는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S57로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S56; production/preview/act2/S56.png.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공통 지침에 모듈 지침을 더한다</a:t>
            </a:r>
          </a:p>
          <a:p>
            <a:r>
              <a:t xml:space="preserve"/>
            </a:r>
          </a:p>
          <a:p>
            <a:r>
              <a:t xml:space="preserve">**Slide ID:**</a:t>
            </a:r>
          </a:p>
          <a:p>
            <a:r>
              <a:t xml:space="preserve">S57</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S58로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적용할 지침을 실제로 읽었을까?</a:t>
            </a:r>
          </a:p>
          <a:p>
            <a:r>
              <a:t xml:space="preserve"/>
            </a:r>
          </a:p>
          <a:p>
            <a:r>
              <a:t xml:space="preserve">**Slide ID:**</a:t>
            </a:r>
          </a:p>
          <a:p>
            <a:r>
              <a:t xml:space="preserve">S58</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S59의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S58; production/preview/act2/S58.png.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a:t>
            </a:r>
          </a:p>
          <a:p>
            <a:r>
              <a:t xml:space="preserve">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a:t>
            </a:r>
          </a:p>
          <a:p>
            <a:r>
              <a:t xml:space="preserve">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S61으로 handoff한다.</a:t>
            </a:r>
          </a:p>
          <a:p>
            <a:r>
              <a:t xml:space="preserve"/>
            </a:r>
          </a:p>
          <a:p>
            <a:r>
              <a:t xml:space="preserve">Fallback:</a:t>
            </a:r>
          </a:p>
          <a:p>
            <a:r>
              <a:t xml:space="preserve">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AI가 일할 방법과 환경 설계하기</a:t>
            </a:r>
          </a:p>
          <a:p>
            <a:r>
              <a:t xml:space="preserve"/>
            </a:r>
          </a:p>
          <a:p>
            <a:r>
              <a:t xml:space="preserve">**Slide ID:**</a:t>
            </a:r>
          </a:p>
          <a:p>
            <a:r>
              <a:t xml:space="preserve">S60</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S61의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S61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S61로 넘긴다. 실측 리허설 UNVERIFIED.</a:t>
            </a:r>
          </a:p>
          <a:p>
            <a:r>
              <a:t xml:space="preserve"/>
            </a:r>
          </a:p>
          <a:p>
            <a:r>
              <a:t xml:space="preserve">**Fallback:**</a:t>
            </a:r>
          </a:p>
          <a:p>
            <a:r>
              <a:t xml:space="preserve">LOCAL STATIC ARTIFACT — production/preview/full/S60.png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두 실제 요청에 같은 절차가 반복됐다</a:t>
            </a:r>
          </a:p>
          <a:p>
            <a:r>
              <a:t xml:space="preserve"/>
            </a:r>
          </a:p>
          <a:p>
            <a:r>
              <a:t xml:space="preserve">Slide ID:</a:t>
            </a:r>
          </a:p>
          <a:p>
            <a:r>
              <a:t xml:space="preserve">S61</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S59의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테스트 명령을 언제 쓰고 무엇을 판단할까?</a:t>
            </a:r>
          </a:p>
          <a:p>
            <a:r>
              <a:t xml:space="preserve"/>
            </a:r>
          </a:p>
          <a:p>
            <a:r>
              <a:t xml:space="preserve">Slide ID:</a:t>
            </a:r>
          </a:p>
          <a:p>
            <a:r>
              <a:t xml:space="preserve">S62</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S61의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S63의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S63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S62, production/preview/act3/S62.png 및 production/preview/full/S62.png.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목표·기준·방법을 한 작업에 적용한다</a:t>
            </a:r>
          </a:p>
          <a:p>
            <a:r>
              <a:t xml:space="preserve"/>
            </a:r>
          </a:p>
          <a:p>
            <a:r>
              <a:t xml:space="preserve">Slide ID:</a:t>
            </a:r>
          </a:p>
          <a:p>
            <a:r>
              <a:t xml:space="preserve">S63</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S62에서 명령의 사용 시점·판단 기준까지 정한 방법을 봤음을 한 문장으로 회수한다. 상단 이번 목표 ‘normalize 성능을 조사해줘’를 읽고, 아래 작업 영역으로 들어가는 연결을 짚는다. S62의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S64에서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S62 회수·목표1, 기준·한 작업1.5, 방법 적용1.5, S64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S63, production/preview/act3/S63.png 및 production/preview/full/S63.png.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반복 절차를 Skill로 모으는 이유</a:t>
            </a:r>
          </a:p>
          <a:p>
            <a:r>
              <a:t xml:space="preserve"/>
            </a:r>
          </a:p>
          <a:p>
            <a:r>
              <a:t xml:space="preserve">Slide ID:</a:t>
            </a:r>
          </a:p>
          <a:p>
            <a:r>
              <a:t xml:space="preserve">S64</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S63의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S63의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S62에서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S65의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S66에서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S63 회수0.75, 요청/기준 구분1, 공통 Skill과 관리 이유1.25, 선택 범위/S61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S64, production/preview/act3/S64.png 및 production/preview/full/S64.png.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발견·호출·본문 포함의 근거</a:t>
            </a:r>
          </a:p>
          <a:p>
            <a:r>
              <a:t xml:space="preserve"/>
            </a:r>
          </a:p>
          <a:p>
            <a:r>
              <a:t xml:space="preserve">Slide ID:</a:t>
            </a:r>
          </a:p>
          <a:p>
            <a:r>
              <a:t xml:space="preserve">S65</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S64의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S66에서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S66로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S64 회수·업무 목적0.75, 목록1, 요청1, trace1.5, 범위·S66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S65, production/preview/act3/S65.png 및 production/preview/full/S65.png.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지침과 실제 작업 기록의 대응</a:t>
            </a:r>
          </a:p>
          <a:p>
            <a:r>
              <a:t xml:space="preserve"/>
            </a:r>
          </a:p>
          <a:p>
            <a:r>
              <a:t xml:space="preserve">Slide ID:</a:t>
            </a:r>
          </a:p>
          <a:p>
            <a:r>
              <a:t xml:space="preserve">S66</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S65의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S68에서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S65의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S69–S70로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S67 팁 뒤 S68에서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범위·S68 연결1.5). 지연 시 명령과 테스트 이름을 낭독하지 않고 행별 대응을 짚는다. 조건부 계획, 입력/수행 구분, 단독 효과 미입증은 생략하지 않는다. 6분에 S68으로 이동한다.</a:t>
            </a:r>
          </a:p>
          <a:p>
            <a:r>
              <a:t xml:space="preserve"/>
            </a:r>
          </a:p>
          <a:p>
            <a:r>
              <a:t xml:space="preserve">Fallback:</a:t>
            </a:r>
          </a:p>
          <a:p>
            <a:r>
              <a:t xml:space="preserve">LOCAL STATIC ARTIFACT — production/ACT_3.pptx의 S66, production/preview/act3/S66.png 및 production/preview/full/S66.png.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대화로 재사용할 Skill 만들기</a:t>
            </a:r>
          </a:p>
          <a:p>
            <a:r>
              <a:t xml:space="preserve"/>
            </a:r>
          </a:p>
          <a:p>
            <a:r>
              <a:t xml:space="preserve">**Slide ID:**</a:t>
            </a:r>
          </a:p>
          <a:p>
            <a:r>
              <a:t xml:space="preserve">S67</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S66에서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S68의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S67이 이동한 S68로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S67 / production/preview/full/S67.png.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절차는 재사용하고, 답은 근거로 정한다</a:t>
            </a:r>
          </a:p>
          <a:p>
            <a:r>
              <a:t xml:space="preserve"/>
            </a:r>
          </a:p>
          <a:p>
            <a:r>
              <a:t xml:space="preserve">Slide ID:</a:t>
            </a:r>
          </a:p>
          <a:p>
            <a:r>
              <a:t xml:space="preserve">S68</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S67에서 대화로 Skill 초안을 만들 수 있음을 봤다. 이제 그 지침 안에서 다음 작업에도 유지할 수행 절차와 이번 Task의 근거로 결정할 답을 나눈다. 앞의 S66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S69에서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S69/S65보다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S66 회수0.5, 재사용 방법0.75, 이번 근거·답1, 채택/보류와 S69 연결0.75. 지연 시 지침 원문과 세 질문을 전부 낭독하지 않는다. 허용된 보류와 실제 결과의 구분은 생략하지 않고3분에 S69으로 이동한다.</a:t>
            </a:r>
          </a:p>
          <a:p>
            <a:r>
              <a:t xml:space="preserve"/>
            </a:r>
          </a:p>
          <a:p>
            <a:r>
              <a:t xml:space="preserve">Fallback:</a:t>
            </a:r>
          </a:p>
          <a:p>
            <a:r>
              <a:t xml:space="preserve">LOCAL STATIC ARTIFACT — production/ACT_3.pptx의 S68, production/preview/act3/S68.png 및 production/preview/full/S68.png.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밝기 통계 계산의 성능 개선 후보</a:t>
            </a:r>
          </a:p>
          <a:p>
            <a:r>
              <a:t xml:space="preserve"/>
            </a:r>
          </a:p>
          <a:p>
            <a:r>
              <a:t xml:space="preserve">Slide ID:</a:t>
            </a:r>
          </a:p>
          <a:p>
            <a:r>
              <a:t xml:space="preserve">S69</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S68의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S70은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S69에는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S70의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S69, production/preview/act3/S69.png 및 production/preview/full/S69.png.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선택한 변경의 시간·메모리·동작 확인</a:t>
            </a:r>
          </a:p>
          <a:p>
            <a:r>
              <a:t xml:space="preserve"/>
            </a:r>
          </a:p>
          <a:p>
            <a:r>
              <a:t xml:space="preserve">Slide ID:</a:t>
            </a:r>
          </a:p>
          <a:p>
            <a:r>
              <a:t xml:space="preserve">S70</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S69에서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S70, production/preview/act3/S70.png 및 production/preview/full/S70.png.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한 Agent 조사와 Subagent 역할 분리</a:t>
            </a:r>
          </a:p>
          <a:p>
            <a:r>
              <a:t xml:space="preserve"/>
            </a:r>
          </a:p>
          <a:p>
            <a:r>
              <a:t xml:space="preserve">Slide ID:</a:t>
            </a:r>
          </a:p>
          <a:p>
            <a:r>
              <a:t xml:space="preserve">S71</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S70의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S73의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S74에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S72 제작 팁을 거친 뒤 S73의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S73으로 이동한다.</a:t>
            </a:r>
          </a:p>
          <a:p>
            <a:r>
              <a:t xml:space="preserve"/>
            </a:r>
          </a:p>
          <a:p>
            <a:r>
              <a:t xml:space="preserve">Fallback:</a:t>
            </a:r>
          </a:p>
          <a:p>
            <a:r>
              <a:t xml:space="preserve">LOCAL STATIC ARTIFACT — production/ACT_3.pptx의 S71, production/preview/act3/S71.png 및 production/preview/full/S71.png.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대화로 조사 Agent 만들기</a:t>
            </a:r>
          </a:p>
          <a:p>
            <a:r>
              <a:t xml:space="preserve"/>
            </a:r>
          </a:p>
          <a:p>
            <a:r>
              <a:t xml:space="preserve">**Slide ID:**</a:t>
            </a:r>
          </a:p>
          <a:p>
            <a:r>
              <a:t xml:space="preserve">S72</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S71의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S73의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S71이 이동한 S73에서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S72 / production/preview/full/S72.png.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밝기 통계 작업을 나누지 않은 이유</a:t>
            </a:r>
          </a:p>
          <a:p>
            <a:r>
              <a:t xml:space="preserve"/>
            </a:r>
          </a:p>
          <a:p>
            <a:r>
              <a:t xml:space="preserve">Slide ID:</a:t>
            </a:r>
          </a:p>
          <a:p>
            <a:r>
              <a:t xml:space="preserve">S73</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“S71의 독립 조사 기준을 이 밝기 통계 작업에도 적용할 수 있었을까요?”</a:t>
            </a:r>
          </a:p>
          <a:p>
            <a:r>
              <a:t xml:space="preserve"/>
            </a:r>
          </a:p>
          <a:p>
            <a:r>
              <a:t xml:space="preserve">Speaker Flow:</a:t>
            </a:r>
          </a:p>
          <a:p>
            <a:r>
              <a:t xml:space="preserve">1. (0:00–1:00 / Lecture) S71에서는 성능·빌드·테스트 조사가 서로 기다리지 않아도 된다고 가정했다. 이제 S69/S65의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S69에서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S70에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S71의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S71의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Lecture1분(S71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S74로 이동한다.</a:t>
            </a:r>
          </a:p>
          <a:p>
            <a:r>
              <a:t xml:space="preserve"/>
            </a:r>
          </a:p>
          <a:p>
            <a:r>
              <a:t xml:space="preserve">Fallback:</a:t>
            </a:r>
          </a:p>
          <a:p>
            <a:r>
              <a:t xml:space="preserve">LOCAL STATIC ARTIFACT — production/ACT_3.pptx의 S73, production/preview/act3/S73.png 및 production/preview/full/S73.png.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이번 Context와 다시 쓸 지식</a:t>
            </a:r>
          </a:p>
          <a:p>
            <a:r>
              <a:t xml:space="preserve"/>
            </a:r>
          </a:p>
          <a:p>
            <a:r>
              <a:t xml:space="preserve">Slide ID:</a:t>
            </a:r>
          </a:p>
          <a:p>
            <a:r>
              <a:t xml:space="preserve">S74</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S75에서는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S76에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S75로 이동한다.</a:t>
            </a:r>
          </a:p>
          <a:p>
            <a:r>
              <a:t xml:space="preserve"/>
            </a:r>
          </a:p>
          <a:p>
            <a:r>
              <a:t xml:space="preserve">Fallback:</a:t>
            </a:r>
          </a:p>
          <a:p>
            <a:r>
              <a:t xml:space="preserve">LOCAL STATIC ARTIFACT — production/ACT_3.pptx의 S74, production/preview/act3/S74.png 및 production/preview/full/S74.png.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실제 Demo 지식의 원래 출처</a:t>
            </a:r>
          </a:p>
          <a:p>
            <a:r>
              <a:t xml:space="preserve"/>
            </a:r>
          </a:p>
          <a:p>
            <a:r>
              <a:t xml:space="preserve">Slide ID:</a:t>
            </a:r>
          </a:p>
          <a:p>
            <a:r>
              <a:t xml:space="preserve">S75</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“S74의 보존 기준으로 실제 Demo를 보면, 새로 남길 지식은 어디에 있었을까요?”</a:t>
            </a:r>
          </a:p>
          <a:p>
            <a:r>
              <a:t xml:space="preserve"/>
            </a:r>
          </a:p>
          <a:p>
            <a:r>
              <a:t xml:space="preserve">Speaker Flow:</a:t>
            </a:r>
          </a:p>
          <a:p>
            <a:r>
              <a:t xml:space="preserve">1. (0:00–0:30) S74의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S76으로 이동한다.</a:t>
            </a:r>
          </a:p>
          <a:p>
            <a:r>
              <a:t xml:space="preserve"/>
            </a:r>
          </a:p>
          <a:p>
            <a:r>
              <a:t xml:space="preserve">Fallback:</a:t>
            </a:r>
          </a:p>
          <a:p>
            <a:r>
              <a:t xml:space="preserve">LOCAL STATIC ARTIFACT — production/ACT_3.pptx의 S75, production/preview/act3/S75.png 및 production/preview/full/S75.png.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밝기 통계 작업에 쓰인 구성의 역할</a:t>
            </a:r>
          </a:p>
          <a:p>
            <a:r>
              <a:t xml:space="preserve"/>
            </a:r>
          </a:p>
          <a:p>
            <a:r>
              <a:t xml:space="preserve">Slide ID:</a:t>
            </a:r>
          </a:p>
          <a:p>
            <a:r>
              <a:t xml:space="preserve">S76</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“S75에서 본 자료들이 실제 밝기 통계 작업에서는 각각 무엇을 맡았을까요?”</a:t>
            </a:r>
          </a:p>
          <a:p>
            <a:r>
              <a:t xml:space="preserve"/>
            </a:r>
          </a:p>
          <a:p>
            <a:r>
              <a:t xml:space="preserve">Speaker Flow:</a:t>
            </a:r>
          </a:p>
          <a:p>
            <a:r>
              <a:t xml:space="preserve">1. (0:00–0:30 / Demo) S75의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S65/S62에서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S70처럼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S77에서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S65–S70의 지침·수치 설명을 반복하지 않는다. 실제3분 리허설은 UNVERIFIED다.</a:t>
            </a:r>
          </a:p>
          <a:p>
            <a:r>
              <a:t xml:space="preserve"/>
            </a:r>
          </a:p>
          <a:p>
            <a:r>
              <a:t xml:space="preserve">Fallback:</a:t>
            </a:r>
          </a:p>
          <a:p>
            <a:r>
              <a:t xml:space="preserve">LOCAL STATIC ARTIFACT — production/ACT_3.pptx의 S76, production/preview/act3/S76.png 및 production/preview/full/S76.png.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함께 작동하는 작업 환경, Harness</a:t>
            </a:r>
          </a:p>
          <a:p>
            <a:r>
              <a:t xml:space="preserve"/>
            </a:r>
          </a:p>
          <a:p>
            <a:r>
              <a:t xml:space="preserve">Slide ID:</a:t>
            </a:r>
          </a:p>
          <a:p>
            <a:r>
              <a:t xml:space="preserve">S77</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“S76의 구성에 실행·검증 환경까지 함께 연결하면, Agent가 일하는 전체 구조는 어떻게 보일까요?”</a:t>
            </a:r>
          </a:p>
          <a:p>
            <a:r>
              <a:t xml:space="preserve"/>
            </a:r>
          </a:p>
          <a:p>
            <a:r>
              <a:t xml:space="preserve">**Speaker Flow:**</a:t>
            </a:r>
          </a:p>
          <a:p>
            <a:r>
              <a:t xml:space="preserve">1. (0:00–0:30 / Lecture) S76의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S78–S79를 연다. 제품이나 새 명령을 실행하지 않는다.</a:t>
            </a:r>
          </a:p>
          <a:p>
            <a:r>
              <a:t xml:space="preserve">마지막 연결은 다음 프로젝트에서도 사용할 기반의 가치다. 실행 조건의 세부는 S80–S84에서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S77의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S78–S79은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S76/STATE-04-PERF의 AGENTS.md·docs·Skill·tests·benchmark와 기록된 입력/실행 조건을 같은 도식에 대응하는 CAPTURED 정적 요약이다. 실제 실행 캡처가 아니며 제품·Agent·benchmark·Demo repository를 실행하거나 새 Trial을 만들지 않는다. S76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S77, production/preview/act3/S77.png 및 production/preview/full/S77.png.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만든 Harness를 다음 프로젝트의 기반으로</a:t>
            </a:r>
          </a:p>
          <a:p>
            <a:r>
              <a:t xml:space="preserve"/>
            </a:r>
          </a:p>
          <a:p>
            <a:r>
              <a:t xml:space="preserve">**Slide ID:**</a:t>
            </a:r>
          </a:p>
          <a:p>
            <a:r>
              <a:t xml:space="preserve">S78</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S77의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공통 기반에 프로젝트 기준을 연결한다</a:t>
            </a:r>
          </a:p>
          <a:p>
            <a:r>
              <a:t xml:space="preserve"/>
            </a:r>
          </a:p>
          <a:p>
            <a:r>
              <a:t xml:space="preserve">**Slide ID:**</a:t>
            </a:r>
          </a:p>
          <a:p>
            <a:r>
              <a:t xml:space="preserve">S79</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S80의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이번 성공만으로 다음 작업까지 확인되지는 않는다</a:t>
            </a:r>
          </a:p>
          <a:p>
            <a:r>
              <a:t xml:space="preserve"/>
            </a:r>
          </a:p>
          <a:p>
            <a:r>
              <a:t xml:space="preserve">**Slide ID:**</a:t>
            </a:r>
          </a:p>
          <a:p>
            <a:r>
              <a:t xml:space="preserve">S80</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S79의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S81을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S80 또는 production/preview/full/S80.png.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첫 결과 뒤에도, 확인할 일이 남는다면?</a:t>
            </a:r>
          </a:p>
          <a:p>
            <a:r>
              <a:t xml:space="preserve"/>
            </a:r>
          </a:p>
          <a:p>
            <a:r>
              <a:t xml:space="preserve">**Slide ID:**</a:t>
            </a:r>
          </a:p>
          <a:p>
            <a:r>
              <a:t xml:space="preserve">S81</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남은 문제를 다음 수정으로 이어주는 사람</a:t>
            </a:r>
          </a:p>
          <a:p>
            <a:r>
              <a:t xml:space="preserve"/>
            </a:r>
          </a:p>
          <a:p>
            <a:r>
              <a:t xml:space="preserve">**Slide ID:**</a:t>
            </a:r>
          </a:p>
          <a:p>
            <a:r>
              <a:t xml:space="preserve">S82</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같은 목표의 수정과 검토가 끊기지 않게</a:t>
            </a:r>
          </a:p>
          <a:p>
            <a:r>
              <a:t xml:space="preserve"/>
            </a:r>
          </a:p>
          <a:p>
            <a:r>
              <a:t xml:space="preserve">**Slide ID:**</a:t>
            </a:r>
          </a:p>
          <a:p>
            <a:r>
              <a:t xml:space="preserve">S83</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S84에서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S84에서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다음 수정에 넘길 기록</a:t>
            </a:r>
          </a:p>
          <a:p>
            <a:r>
              <a:t xml:space="preserve"/>
            </a:r>
          </a:p>
          <a:p>
            <a:r>
              <a:t xml:space="preserve">**Slide ID:**</a:t>
            </a:r>
          </a:p>
          <a:p>
            <a:r>
              <a:t xml:space="preserve">S84</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S85에서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S85에서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내가 매번 이어 주는 다음 단계는 무엇일까?</a:t>
            </a:r>
          </a:p>
          <a:p>
            <a:r>
              <a:t xml:space="preserve"/>
            </a:r>
          </a:p>
          <a:p>
            <a:r>
              <a:t xml:space="preserve">**Slide ID:**</a:t>
            </a:r>
          </a:p>
          <a:p>
            <a:r>
              <a:t xml:space="preserve">S85</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S86의 목표 기반 실행·검토 시스템 제목을 거쳐 S87의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S86의 목표 기반 실행·검토 시스템 제목을 거쳐 S87의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목표를 이룰 때까지 수정하고 검토하기</a:t>
            </a:r>
          </a:p>
          <a:p>
            <a:r>
              <a:t xml:space="preserve"/>
            </a:r>
          </a:p>
          <a:p>
            <a:r>
              <a:t xml:space="preserve">**Slide ID:**</a:t>
            </a:r>
          </a:p>
          <a:p>
            <a:r>
              <a:t xml:space="preserve">S86</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S87으로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다음 수정도 사람이 매번 이어줘야 할까?</a:t>
            </a:r>
          </a:p>
          <a:p>
            <a:r>
              <a:t xml:space="preserve"/>
            </a:r>
          </a:p>
          <a:p>
            <a:r>
              <a:t xml:space="preserve">**Slide ID:**</a:t>
            </a:r>
          </a:p>
          <a:p>
            <a:r>
              <a:t xml:space="preserve">S87</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S85의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S88의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먼저, 무엇이 되면 완료인지 정한다</a:t>
            </a:r>
          </a:p>
          <a:p>
            <a:r>
              <a:t xml:space="preserve"/>
            </a:r>
          </a:p>
          <a:p>
            <a:r>
              <a:t xml:space="preserve">**Slide ID:**</a:t>
            </a:r>
          </a:p>
          <a:p>
            <a:r>
              <a:t xml:space="preserve">S88</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모델 A가 첫 변경 후보를 만든다</a:t>
            </a:r>
          </a:p>
          <a:p>
            <a:r>
              <a:t xml:space="preserve"/>
            </a:r>
          </a:p>
          <a:p>
            <a:r>
              <a:t xml:space="preserve">**Slide ID:**</a:t>
            </a:r>
          </a:p>
          <a:p>
            <a:r>
              <a:t xml:space="preserve">S89</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실제 동작과 비용은 도구로 확인한다</a:t>
            </a:r>
          </a:p>
          <a:p>
            <a:r>
              <a:t xml:space="preserve"/>
            </a:r>
          </a:p>
          <a:p>
            <a:r>
              <a:t xml:space="preserve">**Slide ID:**</a:t>
            </a:r>
          </a:p>
          <a:p>
            <a:r>
              <a:t xml:space="preserve">S90</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모델 B는 무엇을 근거로 검토할까?</a:t>
            </a:r>
          </a:p>
          <a:p>
            <a:r>
              <a:t xml:space="preserve"/>
            </a:r>
          </a:p>
          <a:p>
            <a:r>
              <a:t xml:space="preserve">**Slide ID:**</a:t>
            </a:r>
          </a:p>
          <a:p>
            <a:r>
              <a:t xml:space="preserve">S91</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지적이 다음 수정으로 이어진다</a:t>
            </a:r>
          </a:p>
          <a:p>
            <a:r>
              <a:t xml:space="preserve"/>
            </a:r>
          </a:p>
          <a:p>
            <a:r>
              <a:t xml:space="preserve">**Slide ID:**</a:t>
            </a:r>
          </a:p>
          <a:p>
            <a:r>
              <a:t xml:space="preserve">S92</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고쳤다면, 같은 기준으로 다시 본다</a:t>
            </a:r>
          </a:p>
          <a:p>
            <a:r>
              <a:t xml:space="preserve"/>
            </a:r>
          </a:p>
          <a:p>
            <a:r>
              <a:t xml:space="preserve">**Slide ID:**</a:t>
            </a:r>
          </a:p>
          <a:p>
            <a:r>
              <a:t xml:space="preserve">S93</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같은 목표의 구현·검토 루프</a:t>
            </a:r>
          </a:p>
          <a:p>
            <a:r>
              <a:t xml:space="preserve"/>
            </a:r>
          </a:p>
          <a:p>
            <a:r>
              <a:t xml:space="preserve">**Slide ID:**</a:t>
            </a:r>
          </a:p>
          <a:p>
            <a:r>
              <a:t xml:space="preserve">S94</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언제 계속하고, 언제 끝낼까?</a:t>
            </a:r>
          </a:p>
          <a:p>
            <a:r>
              <a:t xml:space="preserve"/>
            </a:r>
          </a:p>
          <a:p>
            <a:r>
              <a:t xml:space="preserve">**Slide ID:**</a:t>
            </a:r>
          </a:p>
          <a:p>
            <a:r>
              <a:t xml:space="preserve">S95</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구현한 모델에게 다시 물으면 충분할까?</a:t>
            </a:r>
          </a:p>
          <a:p>
            <a:r>
              <a:t xml:space="preserve"/>
            </a:r>
          </a:p>
          <a:p>
            <a:r>
              <a:t xml:space="preserve">**Slide ID:**</a:t>
            </a:r>
          </a:p>
          <a:p>
            <a:r>
              <a:t xml:space="preserve">S96</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다른 모델의 관점이 도움이 된 실험</a:t>
            </a:r>
          </a:p>
          <a:p>
            <a:r>
              <a:t xml:space="preserve"/>
            </a:r>
          </a:p>
          <a:p>
            <a:r>
              <a:t xml:space="preserve">**Slide ID:**</a:t>
            </a:r>
          </a:p>
          <a:p>
            <a:r>
              <a:t xml:space="preserve">S97</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잘 만드는 능력과 잘 검토하는 능력</a:t>
            </a:r>
          </a:p>
          <a:p>
            <a:r>
              <a:t xml:space="preserve"/>
            </a:r>
          </a:p>
          <a:p>
            <a:r>
              <a:t xml:space="preserve">**Slide ID:**</a:t>
            </a:r>
          </a:p>
          <a:p>
            <a:r>
              <a:t xml:space="preserve">S98</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구현과 검토에 모델을 어떻게 나눌까?</a:t>
            </a:r>
          </a:p>
          <a:p>
            <a:r>
              <a:t xml:space="preserve"/>
            </a:r>
          </a:p>
          <a:p>
            <a:r>
              <a:t xml:space="preserve">**Slide ID:**</a:t>
            </a:r>
          </a:p>
          <a:p>
            <a:r>
              <a:t xml:space="preserve">S99</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검토 모델의 말도 확인해야 한다</a:t>
            </a:r>
          </a:p>
          <a:p>
            <a:r>
              <a:t xml:space="preserve"/>
            </a:r>
          </a:p>
          <a:p>
            <a:r>
              <a:t xml:space="preserve">**Slide ID:**</a:t>
            </a:r>
          </a:p>
          <a:p>
            <a:r>
              <a:t xml:space="preserve">S100</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반복하려면 무엇을 이어받아야 할까?</a:t>
            </a:r>
          </a:p>
          <a:p>
            <a:r>
              <a:t xml:space="preserve"/>
            </a:r>
          </a:p>
          <a:p>
            <a:r>
              <a:t xml:space="preserve">**Slide ID:**</a:t>
            </a:r>
          </a:p>
          <a:p>
            <a:r>
              <a:t xml:space="preserve">S101</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확인한 근거와 아직 실행하지 않은 설계</a:t>
            </a:r>
          </a:p>
          <a:p>
            <a:r>
              <a:t xml:space="preserve"/>
            </a:r>
          </a:p>
          <a:p>
            <a:r>
              <a:t xml:space="preserve">**Slide ID:**</a:t>
            </a:r>
          </a:p>
          <a:p>
            <a:r>
              <a:t xml:space="preserve">S102</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Goal이 목표와 다음 작업을 이어준다</a:t>
            </a:r>
          </a:p>
          <a:p>
            <a:r>
              <a:t xml:space="preserve"/>
            </a:r>
          </a:p>
          <a:p>
            <a:r>
              <a:t xml:space="preserve">**Slide ID:**</a:t>
            </a:r>
          </a:p>
          <a:p>
            <a:r>
              <a:t xml:space="preserve">S103</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Goal에는 완료 근거와 멈출 조건을 담는다</a:t>
            </a:r>
          </a:p>
          <a:p>
            <a:r>
              <a:t xml:space="preserve"/>
            </a:r>
          </a:p>
          <a:p>
            <a:r>
              <a:t xml:space="preserve">**Slide ID:**</a:t>
            </a:r>
          </a:p>
          <a:p>
            <a:r>
              <a:t xml:space="preserve">S104</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S105에서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우리 작업에는 어떤 루프가 필요할까?</a:t>
            </a:r>
          </a:p>
          <a:p>
            <a:r>
              <a:t xml:space="preserve"/>
            </a:r>
          </a:p>
          <a:p>
            <a:r>
              <a:t xml:space="preserve">**Slide ID:**</a:t>
            </a:r>
          </a:p>
          <a:p>
            <a:r>
              <a:t xml:space="preserve">S105</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S106의 ACT5 제목을 거쳐 S107의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S106의 ACT5 제목을 거쳐 S107에서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S105; production/preview/act4/S105.png 및 production/preview/full/S105.png.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작업 환경과 기준</a:t>
            </a:r>
          </a:p>
          <a:p>
            <a:r>
              <a:t xml:space="preserve"/>
            </a:r>
          </a:p>
          <a:p>
            <a:r>
              <a:t xml:space="preserve">**Slide ID:**</a:t>
            </a:r>
          </a:p>
          <a:p>
            <a:r>
              <a:t xml:space="preserve">S117</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S49, S56–S58, S62, S67, S72, S74, S84, S103다.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S56–S58은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a:r>
              <a:t xml:space="preserve">3. (0:45–1:00 / Lecture) 요청 작성 팁 목록 S118으로 이어간다.</a:t>
            </a:r>
          </a:p>
          <a:p>
            <a:r>
              <a:t xml:space="preserve"/>
            </a:r>
          </a:p>
          <a:p>
            <a:r>
              <a:t xml:space="preserve">**Evidence / Source:**</a:t>
            </a:r>
          </a:p>
          <a:p>
            <a:r>
              <a:t xml:space="preserve">DEC-0088, DEC-0093. 현재 Slide Map의 제목·ID와 실무 팁 목록. S68/S73은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S118으로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bc86d1ae9543496c"/><Relationship Type="http://schemas.openxmlformats.org/officeDocument/2006/relationships/notesSlide" Target="/ppt/notesSlides/notesSlide15.xml" Id="R2cc36672ded34c82"/></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94f82fb1fd3d49e1"/><Relationship Type="http://schemas.openxmlformats.org/officeDocument/2006/relationships/image" Target="/ppt/media/image8.png" Id="R2efa1f36d4c346d5"/><Relationship Type="http://schemas.openxmlformats.org/officeDocument/2006/relationships/image" Target="/ppt/media/image9.png" Id="R5a17842974b84b23"/><Relationship Type="http://schemas.openxmlformats.org/officeDocument/2006/relationships/image" Target="/ppt/media/image10.png" Id="Rc8496ccfbdb24bbd"/><Relationship Type="http://schemas.openxmlformats.org/officeDocument/2006/relationships/notesSlide" Target="/ppt/notesSlides/notesSlide16.xml" Id="Rc08dc7fbcbd84338"/></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f942763dc26745cc"/><Relationship Type="http://schemas.openxmlformats.org/officeDocument/2006/relationships/image" Target="/ppt/media/image11.png" Id="Rb45237697da14b98"/><Relationship Type="http://schemas.openxmlformats.org/officeDocument/2006/relationships/notesSlide" Target="/ppt/notesSlides/notesSlide17.xml" Id="R06f8a877baaf45b2"/></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6e647ebdd4334133"/><Relationship Type="http://schemas.openxmlformats.org/officeDocument/2006/relationships/image" Target="/ppt/media/image12.png" Id="R81713f9dcd884bf4"/><Relationship Type="http://schemas.openxmlformats.org/officeDocument/2006/relationships/notesSlide" Target="/ppt/notesSlides/notesSlide18.xml" Id="R6fb5276abe7941d0"/></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39de8e9d68904bb8"/><Relationship Type="http://schemas.openxmlformats.org/officeDocument/2006/relationships/notesSlide" Target="/ppt/notesSlides/notesSlide19.xml" Id="Rc75a195855f14ad6"/></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693d96199f1f4efb"/><Relationship Type="http://schemas.openxmlformats.org/officeDocument/2006/relationships/notesSlide" Target="/ppt/notesSlides/notesSlide20.xml" Id="Ra6ad3e79cf3245b4"/></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d1df4d96fb934631"/><Relationship Type="http://schemas.openxmlformats.org/officeDocument/2006/relationships/notesSlide" Target="/ppt/notesSlides/notesSlide21.xml" Id="R4792164f98424cd4"/></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5d6fdb91f6c749e9"/><Relationship Type="http://schemas.openxmlformats.org/officeDocument/2006/relationships/notesSlide" Target="/ppt/notesSlides/notesSlide22.xml" Id="R54f20733bb7944bf"/></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14e40d28c8eb402a"/><Relationship Type="http://schemas.openxmlformats.org/officeDocument/2006/relationships/notesSlide" Target="/ppt/notesSlides/notesSlide23.xml" Id="Rd9144291845145ef"/></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57b46db97083401e"/><Relationship Type="http://schemas.openxmlformats.org/officeDocument/2006/relationships/notesSlide" Target="/ppt/notesSlides/notesSlide24.xml" Id="R576996315fe9456a"/></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f719519429ab499f"/><Relationship Type="http://schemas.openxmlformats.org/officeDocument/2006/relationships/notesSlide" Target="/ppt/notesSlides/notesSlide25.xml" Id="R5b0a6ebd2da54a31"/></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6.xml" Id="R67557043997c4b2f"/></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7.xml" Id="R67557043997c4b2f"/></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Relationship Type="http://schemas.openxmlformats.org/officeDocument/2006/relationships/notesSlide" Target="/ppt/notesSlides/notesSlide28.xml" Id="Rff27a015abf24948"/></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Relationship Type="http://schemas.openxmlformats.org/officeDocument/2006/relationships/notesSlide" Target="/ppt/notesSlides/notesSlide29.xml" Id="R3a498e5233dc4a5a"/></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Relationship Type="http://schemas.openxmlformats.org/officeDocument/2006/relationships/notesSlide" Target="/ppt/notesSlides/notesSlide30.xml" Id="Rca442c894a154a13"/></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Relationship Type="http://schemas.openxmlformats.org/officeDocument/2006/relationships/notesSlide" Target="/ppt/notesSlides/notesSlide31.xml" Id="R613eb6ac2da543d3"/></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Relationship Type="http://schemas.openxmlformats.org/officeDocument/2006/relationships/notesSlide" Target="/ppt/notesSlides/notesSlide32.xml" Id="R3f20303f114447e2"/></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Relationship Type="http://schemas.openxmlformats.org/officeDocument/2006/relationships/notesSlide" Target="/ppt/notesSlides/notesSlide33.xml" Id="R0acbc4fac3ad4c39"/></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Relationship Type="http://schemas.openxmlformats.org/officeDocument/2006/relationships/notesSlide" Target="/ppt/notesSlides/notesSlide34.xml" Id="R840a07ea16114c83"/></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Relationship Type="http://schemas.openxmlformats.org/officeDocument/2006/relationships/notesSlide" Target="/ppt/notesSlides/notesSlide35.xml" Id="Re0b8525972544589"/></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Relationship Type="http://schemas.openxmlformats.org/officeDocument/2006/relationships/notesSlide" Target="/ppt/notesSlides/notesSlide36.xml" Id="R7efc610a93a54954"/></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Relationship Type="http://schemas.openxmlformats.org/officeDocument/2006/relationships/notesSlide" Target="/ppt/notesSlides/notesSlide37.xml" Id="R497580c3f0c3424c"/></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Relationship Type="http://schemas.openxmlformats.org/officeDocument/2006/relationships/notesSlide" Target="/ppt/notesSlides/notesSlide38.xml" Id="Rd075c9a9e36d48b4"/></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Relationship Type="http://schemas.openxmlformats.org/officeDocument/2006/relationships/notesSlide" Target="/ppt/notesSlides/notesSlide39.xml" Id="Ra72fc7dcfd7b41b1"/></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Relationship Type="http://schemas.openxmlformats.org/officeDocument/2006/relationships/notesSlide" Target="/ppt/notesSlides/notesSlide40.xml" Id="R68e31d9f2fc14051"/></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Relationship Type="http://schemas.openxmlformats.org/officeDocument/2006/relationships/notesSlide" Target="/ppt/notesSlides/notesSlide41.xml" Id="R1c812969c94f4890"/></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Relationship Type="http://schemas.openxmlformats.org/officeDocument/2006/relationships/image" Target="/ppt/media/image13.png" Id="Ra2c2df2b248644e1"/><Relationship Type="http://schemas.openxmlformats.org/officeDocument/2006/relationships/image" Target="/ppt/media/image14.png" Id="R72384f96cf10468c"/><Relationship Type="http://schemas.openxmlformats.org/officeDocument/2006/relationships/notesSlide" Target="/ppt/notesSlides/notesSlide42.xml" Id="R9dcd712c96cb4920"/></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Relationship Type="http://schemas.openxmlformats.org/officeDocument/2006/relationships/image" Target="/ppt/media/image15.png" Id="R05dd841e246a4bca"/><Relationship Type="http://schemas.openxmlformats.org/officeDocument/2006/relationships/notesSlide" Target="/ppt/notesSlides/notesSlide43.xml" Id="Rb3607c7c5ecc4fd4"/></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Relationship Type="http://schemas.openxmlformats.org/officeDocument/2006/relationships/notesSlide" Target="/ppt/notesSlides/notesSlide44.xml" Id="R3f6a00bc3ef44a1b"/></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Relationship Type="http://schemas.openxmlformats.org/officeDocument/2006/relationships/notesSlide" Target="/ppt/notesSlides/notesSlide45.xml" Id="R1c76f09a75e243d8"/></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Relationship Type="http://schemas.openxmlformats.org/officeDocument/2006/relationships/notesSlide" Target="/ppt/notesSlides/notesSlide46.xml" Id="R4c7fbbd0eaca47b2"/></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Relationship Type="http://schemas.openxmlformats.org/officeDocument/2006/relationships/notesSlide" Target="/ppt/notesSlides/notesSlide47.xml" Id="R7fc76b79800c4517"/></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Relationship Type="http://schemas.openxmlformats.org/officeDocument/2006/relationships/notesSlide" Target="/ppt/notesSlides/notesSlide48.xml" Id="Rddf3b25f9736491c"/></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Relationship Type="http://schemas.openxmlformats.org/officeDocument/2006/relationships/notesSlide" Target="/ppt/notesSlides/notesSlide49.xml" Id="R3e24ddfd65984de7"/></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Relationship Type="http://schemas.openxmlformats.org/officeDocument/2006/relationships/notesSlide" Target="/ppt/notesSlides/notesSlide50.xml" Id="Rf4c40cfa733f4d6f"/></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Relationship Type="http://schemas.openxmlformats.org/officeDocument/2006/relationships/notesSlide" Target="/ppt/notesSlides/notesSlide51.xml" Id="R57634cd0349c4959"/></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Relationship Type="http://schemas.openxmlformats.org/officeDocument/2006/relationships/notesSlide" Target="/ppt/notesSlides/notesSlide52.xml" Id="Re888c36c54cf4b94"/></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Relationship Type="http://schemas.openxmlformats.org/officeDocument/2006/relationships/notesSlide" Target="/ppt/notesSlides/notesSlide53.xml" Id="R47ee9cce5b494bbf"/></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Relationship Type="http://schemas.openxmlformats.org/officeDocument/2006/relationships/notesSlide" Target="/ppt/notesSlides/notesSlide54.xml" Id="R65929069c5bf430e"/></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Relationship Type="http://schemas.openxmlformats.org/officeDocument/2006/relationships/notesSlide" Target="/ppt/notesSlides/notesSlide55.xml" Id="Rcdd85d3d7ee74629"/></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6.xml" Id="R2fb43c6f704045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7.xml" Id="R20a4959413924f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8.xml" Id="R438ccbd9d6504e36"/></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3d60f040df744a36"/><Relationship Type="http://schemas.openxmlformats.org/officeDocument/2006/relationships/notesSlide" Target="/ppt/notesSlides/notesSlide59.xml" Id="Raa20956d6d1b4479"/></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cef566e4003a4b25"/><Relationship Type="http://schemas.openxmlformats.org/officeDocument/2006/relationships/notesSlide" Target="/ppt/notesSlides/notesSlide60.xml" Id="R54ba7668537b43fe"/></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3337c18cf1e045bd"/><Relationship Type="http://schemas.openxmlformats.org/officeDocument/2006/relationships/image" Target="/ppt/media/image16.png" Id="R2d4c45c5b4fd41f7"/><Relationship Type="http://schemas.openxmlformats.org/officeDocument/2006/relationships/image" Target="/ppt/media/image17.png" Id="Rc08951a4c1184da2"/><Relationship Type="http://schemas.openxmlformats.org/officeDocument/2006/relationships/notesSlide" Target="/ppt/notesSlides/notesSlide61.xml" Id="Rf4394eb0efae4bc2"/></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2d18b6cf2a8242bb"/><Relationship Type="http://schemas.openxmlformats.org/officeDocument/2006/relationships/notesSlide" Target="/ppt/notesSlides/notesSlide62.xml" Id="Rf2667cbaf12645c5"/></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af5c822f6d824712"/><Relationship Type="http://schemas.openxmlformats.org/officeDocument/2006/relationships/notesSlide" Target="/ppt/notesSlides/notesSlide63.xml" Id="Rd8f3f37e8c0e4855"/></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4555fbd5a9d746b3"/><Relationship Type="http://schemas.openxmlformats.org/officeDocument/2006/relationships/notesSlide" Target="/ppt/notesSlides/notesSlide64.xml" Id="R85a14c9750344ec0"/></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12eccc3c88542ce"/><Relationship Type="http://schemas.openxmlformats.org/officeDocument/2006/relationships/notesSlide" Target="/ppt/notesSlides/notesSlide65.xml" Id="Raf1d5a7b0c524dfa"/></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063de0ef4a442ab"/><Relationship Type="http://schemas.openxmlformats.org/officeDocument/2006/relationships/notesSlide" Target="/ppt/notesSlides/notesSlide66.xml" Id="Rad52161ddcca407b"/></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6c202077a84e4c02"/><Relationship Type="http://schemas.openxmlformats.org/officeDocument/2006/relationships/notesSlide" Target="/ppt/notesSlides/notesSlide67.xml" Id="R16825de3fab740bf"/></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f1a717a3fb9647c8"/><Relationship Type="http://schemas.openxmlformats.org/officeDocument/2006/relationships/notesSlide" Target="/ppt/notesSlides/notesSlide68.xml" Id="R8b0233aae6a140ac"/></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00fadb9970d441f"/><Relationship Type="http://schemas.openxmlformats.org/officeDocument/2006/relationships/notesSlide" Target="/ppt/notesSlides/notesSlide69.xml" Id="R3d7c7a685cac4014"/></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93c3e6aad380400e"/><Relationship Type="http://schemas.openxmlformats.org/officeDocument/2006/relationships/chart" Target="/ppt/slides/charts/chart1.xml" Id="R17f0dc71d73a47f9"/><Relationship Type="http://schemas.openxmlformats.org/officeDocument/2006/relationships/notesSlide" Target="/ppt/notesSlides/notesSlide70.xml" Id="Raff3ca3ec59a4149"/></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2e17a19683704424"/><Relationship Type="http://schemas.openxmlformats.org/officeDocument/2006/relationships/notesSlide" Target="/ppt/notesSlides/notesSlide71.xml" Id="R1cbda8e4c54b4dd1"/></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0a88614b8bfd47c8"/><Relationship Type="http://schemas.openxmlformats.org/officeDocument/2006/relationships/notesSlide" Target="/ppt/notesSlides/notesSlide72.xml" Id="Rc8ffa309e5c34afa"/></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1b39ea3a0c344e75"/><Relationship Type="http://schemas.openxmlformats.org/officeDocument/2006/relationships/notesSlide" Target="/ppt/notesSlides/notesSlide73.xml" Id="Rf159e342b5e341d6"/></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cc7c79556b3c44e8"/><Relationship Type="http://schemas.openxmlformats.org/officeDocument/2006/relationships/notesSlide" Target="/ppt/notesSlides/notesSlide74.xml" Id="R63b536d641b84715"/></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35f3978e82494274"/><Relationship Type="http://schemas.openxmlformats.org/officeDocument/2006/relationships/notesSlide" Target="/ppt/notesSlides/notesSlide75.xml" Id="R32d6c074a7e4497a"/></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6fe0dca14c1f4fd3"/><Relationship Type="http://schemas.openxmlformats.org/officeDocument/2006/relationships/notesSlide" Target="/ppt/notesSlides/notesSlide76.xml" Id="Rc54545c27dea4caf"/></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88f114412418432e"/><Relationship Type="http://schemas.openxmlformats.org/officeDocument/2006/relationships/notesSlide" Target="/ppt/notesSlides/notesSlide77.xml" Id="R7f78e7867aa5421f"/></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f02938cab19f4130"/><Relationship Type="http://schemas.openxmlformats.org/officeDocument/2006/relationships/notesSlide" Target="/ppt/notesSlides/notesSlide78.xml" Id="R089a47929ed34abd"/></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b33c76af76314bef"/><Relationship Type="http://schemas.openxmlformats.org/officeDocument/2006/relationships/notesSlide" Target="/ppt/notesSlides/notesSlide79.xml" Id="R3b61134a2a454803"/></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ed7a40cfc3e478b"/><Relationship Type="http://schemas.openxmlformats.org/officeDocument/2006/relationships/notesSlide" Target="/ppt/notesSlides/notesSlide80.xml" Id="R9e690c9a8b01411e"/></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804990a871b4b14"/><Relationship Type="http://schemas.openxmlformats.org/officeDocument/2006/relationships/notesSlide" Target="/ppt/notesSlides/notesSlide81.xml" Id="Rcaebcb7911fd42e4"/></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1cd231f382843c6"/><Relationship Type="http://schemas.openxmlformats.org/officeDocument/2006/relationships/notesSlide" Target="/ppt/notesSlides/notesSlide82.xml" Id="R6bc44724aebe46dd"/></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55b225ea4f5b4aa2"/><Relationship Type="http://schemas.openxmlformats.org/officeDocument/2006/relationships/notesSlide" Target="/ppt/notesSlides/notesSlide83.xml" Id="R3aedd29c6ea7436c"/></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3bb9d0d8532148bf"/><Relationship Type="http://schemas.openxmlformats.org/officeDocument/2006/relationships/notesSlide" Target="/ppt/notesSlides/notesSlide84.xml" Id="Rae1cfc68b74141de"/></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6a218b8d785e4ded"/><Relationship Type="http://schemas.openxmlformats.org/officeDocument/2006/relationships/notesSlide" Target="/ppt/notesSlides/notesSlide85.xml" Id="R30e64919739f4c81"/></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9ec76ef1877f4d6a"/><Relationship Type="http://schemas.openxmlformats.org/officeDocument/2006/relationships/notesSlide" Target="/ppt/notesSlides/notesSlide86.xml" Id="R7da67322bac34beb"/></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81d29e1c6eb74e99"/><Relationship Type="http://schemas.openxmlformats.org/officeDocument/2006/relationships/notesSlide" Target="/ppt/notesSlides/notesSlide87.xml" Id="R983ef1b4941f47df"/></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ad9329a05df54960"/><Relationship Type="http://schemas.openxmlformats.org/officeDocument/2006/relationships/notesSlide" Target="/ppt/notesSlides/notesSlide88.xml" Id="R2bb221648fd04a50"/></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1286b6491ead4c4e"/><Relationship Type="http://schemas.openxmlformats.org/officeDocument/2006/relationships/notesSlide" Target="/ppt/notesSlides/notesSlide89.xml" Id="R87b72ed4cafc40d3"/></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ee1a9567d1114f97"/><Relationship Type="http://schemas.openxmlformats.org/officeDocument/2006/relationships/notesSlide" Target="/ppt/notesSlides/notesSlide90.xml" Id="Re6d646379adb4da1"/></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de6b98ba60334ffc"/><Relationship Type="http://schemas.openxmlformats.org/officeDocument/2006/relationships/notesSlide" Target="/ppt/notesSlides/notesSlide91.xml" Id="Rc4e6ef3588d54767"/></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c63ed8f256e046ae"/><Relationship Type="http://schemas.openxmlformats.org/officeDocument/2006/relationships/notesSlide" Target="/ppt/notesSlides/notesSlide92.xml" Id="R3bb29d806ae04c5c"/></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306159353bd44048"/><Relationship Type="http://schemas.openxmlformats.org/officeDocument/2006/relationships/notesSlide" Target="/ppt/notesSlides/notesSlide93.xml" Id="R4191341ed86e4215"/></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ae85677103a54aa9"/><Relationship Type="http://schemas.openxmlformats.org/officeDocument/2006/relationships/notesSlide" Target="/ppt/notesSlides/notesSlide94.xml" Id="R36180a95ed3c43fa"/></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d78715b41345c9"/><Relationship Type="http://schemas.openxmlformats.org/officeDocument/2006/relationships/notesSlide" Target="/ppt/notesSlides/notesSlide95.xml" Id="R5ef00a4c4bb04823"/></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c6691b946b4f7e"/><Relationship Type="http://schemas.openxmlformats.org/officeDocument/2006/relationships/notesSlide" Target="/ppt/notesSlides/notesSlide96.xml" Id="R1e275696a25b470a"/></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051f2b1126c74b66"/><Relationship Type="http://schemas.openxmlformats.org/officeDocument/2006/relationships/chart" Target="/ppt/slides/charts/chart2.xml" Id="R8424e74d430f440d"/><Relationship Type="http://schemas.openxmlformats.org/officeDocument/2006/relationships/notesSlide" Target="/ppt/notesSlides/notesSlide97.xml" Id="Reafb085964c34056"/></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9fae1ba01bf44f1"/><Relationship Type="http://schemas.openxmlformats.org/officeDocument/2006/relationships/notesSlide" Target="/ppt/notesSlides/notesSlide98.xml" Id="R7ea86b7511cd4629"/></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8a51a7220e14aff"/><Relationship Type="http://schemas.openxmlformats.org/officeDocument/2006/relationships/notesSlide" Target="/ppt/notesSlides/notesSlide99.xml" Id="Rd241e076ae0c4c89"/></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df1856371da24377"/><Relationship Type="http://schemas.openxmlformats.org/officeDocument/2006/relationships/notesSlide" Target="/ppt/notesSlides/notesSlide100.xml" Id="R9fd9b4d481214a08"/></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178e0f3a90104f65"/><Relationship Type="http://schemas.openxmlformats.org/officeDocument/2006/relationships/notesSlide" Target="/ppt/notesSlides/notesSlide101.xml" Id="R212a1ecf528b465a"/></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b2dc162891be401c"/><Relationship Type="http://schemas.openxmlformats.org/officeDocument/2006/relationships/notesSlide" Target="/ppt/notesSlides/notesSlide102.xml" Id="R7c714979becd470e"/></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299602d0ca914412"/><Relationship Type="http://schemas.openxmlformats.org/officeDocument/2006/relationships/notesSlide" Target="/ppt/notesSlides/notesSlide103.xml" Id="R068559301c394576"/></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a9f8ae37510c4d76"/><Relationship Type="http://schemas.openxmlformats.org/officeDocument/2006/relationships/notesSlide" Target="/ppt/notesSlides/notesSlide104.xml" Id="R24afd0dfb79d41f0"/></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a1aacd4ca7047da"/><Relationship Type="http://schemas.openxmlformats.org/officeDocument/2006/relationships/notesSlide" Target="/ppt/notesSlides/notesSlide105.xml" Id="R908895dc2cd64f82"/></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8dbaf0c429c24e9c"/><Relationship Type="http://schemas.openxmlformats.org/officeDocument/2006/relationships/notesSlide" Target="/ppt/notesSlides/notesSlide106.xml" Id="R9030d1fdb5114f76"/></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7beed766b02548d0"/><Relationship Type="http://schemas.openxmlformats.org/officeDocument/2006/relationships/notesSlide" Target="/ppt/notesSlides/notesSlide107.xml" Id="R311f6d7d4b354399"/></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9f22b112e6e94dd4"/><Relationship Type="http://schemas.openxmlformats.org/officeDocument/2006/relationships/notesSlide" Target="/ppt/notesSlides/notesSlide108.xml" Id="R5248189ceda34d20"/></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2045274a7abc4a46"/><Relationship Type="http://schemas.openxmlformats.org/officeDocument/2006/relationships/notesSlide" Target="/ppt/notesSlides/notesSlide109.xml" Id="Rb075385bb68b49a3"/></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581eabaa06924d52"/><Relationship Type="http://schemas.openxmlformats.org/officeDocument/2006/relationships/notesSlide" Target="/ppt/notesSlides/notesSlide110.xml" Id="Rfca130f2343a4cf9"/></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b6940130d634b17"/><Relationship Type="http://schemas.openxmlformats.org/officeDocument/2006/relationships/notesSlide" Target="/ppt/notesSlides/notesSlide111.xml" Id="R0a5721e8688f465f"/></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11120660fc84ee3"/><Relationship Type="http://schemas.openxmlformats.org/officeDocument/2006/relationships/notesSlide" Target="/ppt/notesSlides/notesSlide112.xml" Id="Ree3d1ac02cbb4442"/></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855433a5e91a4c16"/><Relationship Type="http://schemas.openxmlformats.org/officeDocument/2006/relationships/notesSlide" Target="/ppt/notesSlides/notesSlide113.xml" Id="Rd75f8c7cfc1e4c42"/></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0475320a47d34ddd"/><Relationship Type="http://schemas.openxmlformats.org/officeDocument/2006/relationships/notesSlide" Target="/ppt/notesSlides/notesSlide114.xml" Id="R2fbfac11f8a04b0a"/></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fbd2458269354b52"/><Relationship Type="http://schemas.openxmlformats.org/officeDocument/2006/relationships/notesSlide" Target="/ppt/notesSlides/notesSlide115.xml" Id="Rfb9c411f0bc743b8"/></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85446bd54374fad"/><Relationship Type="http://schemas.openxmlformats.org/officeDocument/2006/relationships/notesSlide" Target="/ppt/notesSlides/notesSlide116.xml" Id="R690e88ea3d1c4b3f"/></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7.xml" Id="R4a5121eea5284374"/></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966b7a57abd049bd"/><Relationship Type="http://schemas.openxmlformats.org/officeDocument/2006/relationships/notesSlide" Target="/ppt/notesSlides/notesSlide118.xml" Id="Ra6812a34cdf44996"/></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c6ffb81ea8f44af4"/><Relationship Type="http://schemas.openxmlformats.org/officeDocument/2006/relationships/notesSlide" Target="/ppt/notesSlides/notesSlide119.xml" Id="R619b15d573e54123"/></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160ffd9a6510466b"/><Relationship Type="http://schemas.openxmlformats.org/officeDocument/2006/relationships/notesSlide" Target="/ppt/notesSlides/notesSlide120.xml" Id="R48d24d913b224978"/></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조건이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의도·명세·조건이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완료 조건을 요청에 담기">
            <a:extLst xmlns:a="http://schemas.openxmlformats.org/drawingml/2006/main">
              <a:ext uri="{FF2B5EF4-FFF2-40B4-BE49-F238E27FC236}">
                <a16:creationId xmlns:a16="http://schemas.microsoft.com/office/drawing/2014/main" id="{D499A798-D33A-414A-995A-85A4E31D7C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6">
            <a:extLst xmlns:a="http://schemas.openxmlformats.org/drawingml/2006/main">
              <a:ext uri="{FF2B5EF4-FFF2-40B4-BE49-F238E27FC236}">
                <a16:creationId xmlns:a16="http://schemas.microsoft.com/office/drawing/2014/main" id="{0688F738-6CB5-452C-81E8-61D23E0E48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원하는 결과에 맞춰 확인 방법을 고른다">
            <a:extLst xmlns:a="http://schemas.openxmlformats.org/drawingml/2006/main">
              <a:ext uri="{FF2B5EF4-FFF2-40B4-BE49-F238E27FC236}">
                <a16:creationId xmlns:a16="http://schemas.microsoft.com/office/drawing/2014/main" id="{03019E4F-5D52-45E0-8177-BF597C587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결과에 맞춰 확인 방법을 고른다</a:t>
            </a:r>
          </a:p>
        </p:txBody>
      </p:sp>
      <p:sp>
        <p:nvSpPr>
          <p:cNvPr id="4" name="">
            <a:extLst xmlns:a="http://schemas.openxmlformats.org/drawingml/2006/main">
              <a:ext uri="{FF2B5EF4-FFF2-40B4-BE49-F238E27FC236}">
                <a16:creationId xmlns:a16="http://schemas.microsoft.com/office/drawing/2014/main" id="{69A07154-B8E6-4FB8-AB86-6A5C026F7B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는 Python 검증 기록 · 성능 측정은 수행하지 않음">
            <a:extLst xmlns:a="http://schemas.openxmlformats.org/drawingml/2006/main">
              <a:ext uri="{FF2B5EF4-FFF2-40B4-BE49-F238E27FC236}">
                <a16:creationId xmlns:a16="http://schemas.microsoft.com/office/drawing/2014/main" id="{5DC81845-37D1-4ADB-9161-88A24278BF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TRIAL-002는 Python 검증 기록 · 성능 측정은 수행하지 않음</a:t>
            </a:r>
          </a:p>
        </p:txBody>
      </p:sp>
      <p:sp>
        <p:nvSpPr>
          <p:cNvPr id="6" name="M 연계 · M5 / M6">
            <a:extLst xmlns:a="http://schemas.openxmlformats.org/drawingml/2006/main">
              <a:ext uri="{FF2B5EF4-FFF2-40B4-BE49-F238E27FC236}">
                <a16:creationId xmlns:a16="http://schemas.microsoft.com/office/drawing/2014/main" id="{4C0CB576-34E3-4459-9901-C1D53387FA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판단하고 싶은 것">
            <a:extLst xmlns:a="http://schemas.openxmlformats.org/drawingml/2006/main">
              <a:ext uri="{FF2B5EF4-FFF2-40B4-BE49-F238E27FC236}">
                <a16:creationId xmlns:a16="http://schemas.microsoft.com/office/drawing/2014/main" id="{9CFB66B8-D3AB-496E-82E2-B5202248ADEA}"/>
              </a:ext>
            </a:extLst>
          </p:cNvPr>
          <p:cNvSpPr>
            <a:spLocks xmlns:a="http://schemas.openxmlformats.org/drawingml/2006/main" noGrp="1"/>
          </p:cNvSpPr>
          <p:nvPr/>
        </p:nvSpPr>
        <p:spPr>
          <a:xfrm xmlns:a="http://schemas.openxmlformats.org/drawingml/2006/main">
            <a:off x="762000" y="1866900"/>
            <a:ext cx="609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판단하고 싶은 것</a:t>
            </a:r>
          </a:p>
        </p:txBody>
      </p:sp>
      <p:sp>
        <p:nvSpPr>
          <p:cNvPr id="8" name="요청할 확인">
            <a:extLst xmlns:a="http://schemas.openxmlformats.org/drawingml/2006/main">
              <a:ext uri="{FF2B5EF4-FFF2-40B4-BE49-F238E27FC236}">
                <a16:creationId xmlns:a16="http://schemas.microsoft.com/office/drawing/2014/main" id="{0C07EA6A-8AF7-49C8-8407-CB8F72D4BAC4}"/>
              </a:ext>
            </a:extLst>
          </p:cNvPr>
          <p:cNvSpPr>
            <a:spLocks xmlns:a="http://schemas.openxmlformats.org/drawingml/2006/main" noGrp="1"/>
          </p:cNvSpPr>
          <p:nvPr/>
        </p:nvSpPr>
        <p:spPr>
          <a:xfrm xmlns:a="http://schemas.openxmlformats.org/drawingml/2006/main">
            <a:off x="7162800" y="1866900"/>
            <a:ext cx="4267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요청할 확인</a:t>
            </a:r>
          </a:p>
        </p:txBody>
      </p:sp>
      <p:sp>
        <p:nvSpPr>
          <p:cNvPr id="9" name="">
            <a:extLst xmlns:a="http://schemas.openxmlformats.org/drawingml/2006/main">
              <a:ext uri="{FF2B5EF4-FFF2-40B4-BE49-F238E27FC236}">
                <a16:creationId xmlns:a16="http://schemas.microsoft.com/office/drawing/2014/main" id="{BF128DF1-081A-49B2-A3D1-71C12EF8688B}"/>
              </a:ext>
            </a:extLst>
          </p:cNvPr>
          <p:cNvSpPr>
            <a:spLocks xmlns:a="http://schemas.openxmlformats.org/drawingml/2006/main" noGrp="1"/>
          </p:cNvSpPr>
          <p:nvPr/>
        </p:nvSpPr>
        <p:spPr>
          <a:xfrm xmlns:a="http://schemas.openxmlformats.org/drawingml/2006/main">
            <a:off x="762000" y="23717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이 명세대로 동작하는가?">
            <a:extLst xmlns:a="http://schemas.openxmlformats.org/drawingml/2006/main">
              <a:ext uri="{FF2B5EF4-FFF2-40B4-BE49-F238E27FC236}">
                <a16:creationId xmlns:a16="http://schemas.microsoft.com/office/drawing/2014/main" id="{7DB93B99-5A7D-4807-B5A7-12714F98E198}"/>
              </a:ext>
            </a:extLst>
          </p:cNvPr>
          <p:cNvSpPr>
            <a:spLocks xmlns:a="http://schemas.openxmlformats.org/drawingml/2006/main" noGrp="1"/>
          </p:cNvSpPr>
          <p:nvPr/>
        </p:nvSpPr>
        <p:spPr>
          <a:xfrm xmlns:a="http://schemas.openxmlformats.org/drawingml/2006/main">
            <a:off x="762000" y="244792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crop이 명세대로 동작하는가?</a:t>
            </a:r>
          </a:p>
        </p:txBody>
      </p:sp>
      <p:sp>
        <p:nvSpPr>
          <p:cNvPr id="11" name="관련 동작 테스트">
            <a:extLst xmlns:a="http://schemas.openxmlformats.org/drawingml/2006/main">
              <a:ext uri="{FF2B5EF4-FFF2-40B4-BE49-F238E27FC236}">
                <a16:creationId xmlns:a16="http://schemas.microsoft.com/office/drawing/2014/main" id="{3756C1CA-66CB-4A7C-B033-105F5694275E}"/>
              </a:ext>
            </a:extLst>
          </p:cNvPr>
          <p:cNvSpPr>
            <a:spLocks xmlns:a="http://schemas.openxmlformats.org/drawingml/2006/main" noGrp="1"/>
          </p:cNvSpPr>
          <p:nvPr/>
        </p:nvSpPr>
        <p:spPr>
          <a:xfrm xmlns:a="http://schemas.openxmlformats.org/drawingml/2006/main">
            <a:off x="7162800" y="244792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동작 테스트</a:t>
            </a:r>
          </a:p>
        </p:txBody>
      </p:sp>
      <p:sp>
        <p:nvSpPr>
          <p:cNvPr id="12" name="">
            <a:extLst xmlns:a="http://schemas.openxmlformats.org/drawingml/2006/main">
              <a:ext uri="{FF2B5EF4-FFF2-40B4-BE49-F238E27FC236}">
                <a16:creationId xmlns:a16="http://schemas.microsoft.com/office/drawing/2014/main" id="{16618176-AC19-4FC3-A973-4FA36EDA9DFF}"/>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기존 테스트가 다루던 동작도 유지되는가?">
            <a:extLst xmlns:a="http://schemas.openxmlformats.org/drawingml/2006/main">
              <a:ext uri="{FF2B5EF4-FFF2-40B4-BE49-F238E27FC236}">
                <a16:creationId xmlns:a16="http://schemas.microsoft.com/office/drawing/2014/main" id="{156F7DF7-018E-4B19-9A11-5695A02D00BC}"/>
              </a:ext>
            </a:extLst>
          </p:cNvPr>
          <p:cNvSpPr>
            <a:spLocks xmlns:a="http://schemas.openxmlformats.org/drawingml/2006/main" noGrp="1"/>
          </p:cNvSpPr>
          <p:nvPr/>
        </p:nvSpPr>
        <p:spPr>
          <a:xfrm xmlns:a="http://schemas.openxmlformats.org/drawingml/2006/main">
            <a:off x="762000" y="3028950"/>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기존 테스트가 다루던 동작도 유지되는가?</a:t>
            </a:r>
          </a:p>
        </p:txBody>
      </p:sp>
      <p:sp>
        <p:nvSpPr>
          <p:cNvPr id="14" name="프로젝트 전체 테스트">
            <a:extLst xmlns:a="http://schemas.openxmlformats.org/drawingml/2006/main">
              <a:ext uri="{FF2B5EF4-FFF2-40B4-BE49-F238E27FC236}">
                <a16:creationId xmlns:a16="http://schemas.microsoft.com/office/drawing/2014/main" id="{1F2BE043-FDCB-43BB-A0C6-D24C9C8D0639}"/>
              </a:ext>
            </a:extLst>
          </p:cNvPr>
          <p:cNvSpPr>
            <a:spLocks xmlns:a="http://schemas.openxmlformats.org/drawingml/2006/main" noGrp="1"/>
          </p:cNvSpPr>
          <p:nvPr/>
        </p:nvSpPr>
        <p:spPr>
          <a:xfrm xmlns:a="http://schemas.openxmlformats.org/drawingml/2006/main">
            <a:off x="7162800" y="3028950"/>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 전체 테스트</a:t>
            </a:r>
          </a:p>
        </p:txBody>
      </p:sp>
      <p:sp>
        <p:nvSpPr>
          <p:cNvPr id="15" name="">
            <a:extLst xmlns:a="http://schemas.openxmlformats.org/drawingml/2006/main">
              <a:ext uri="{FF2B5EF4-FFF2-40B4-BE49-F238E27FC236}">
                <a16:creationId xmlns:a16="http://schemas.microsoft.com/office/drawing/2014/main" id="{6C3D47E6-DE64-4611-8FC8-35E2375BD118}"/>
              </a:ext>
            </a:extLst>
          </p:cNvPr>
          <p:cNvSpPr>
            <a:spLocks xmlns:a="http://schemas.openxmlformats.org/drawingml/2006/main" noGrp="1"/>
          </p:cNvSpPr>
          <p:nvPr/>
        </p:nvSpPr>
        <p:spPr>
          <a:xfrm xmlns:a="http://schemas.openxmlformats.org/drawingml/2006/main">
            <a:off x="762000" y="353377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경로가 동작하는가?">
            <a:extLst xmlns:a="http://schemas.openxmlformats.org/drawingml/2006/main">
              <a:ext uri="{FF2B5EF4-FFF2-40B4-BE49-F238E27FC236}">
                <a16:creationId xmlns:a16="http://schemas.microsoft.com/office/drawing/2014/main" id="{0E6D00F5-C144-40C7-A678-D7ED24AC00F4}"/>
              </a:ext>
            </a:extLst>
          </p:cNvPr>
          <p:cNvSpPr>
            <a:spLocks xmlns:a="http://schemas.openxmlformats.org/drawingml/2006/main" noGrp="1"/>
          </p:cNvSpPr>
          <p:nvPr/>
        </p:nvSpPr>
        <p:spPr>
          <a:xfrm xmlns:a="http://schemas.openxmlformats.org/drawingml/2006/main">
            <a:off x="762000" y="360997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CLI 샘플 경로가 동작하는가?</a:t>
            </a:r>
          </a:p>
        </p:txBody>
      </p:sp>
      <p:sp>
        <p:nvSpPr>
          <p:cNvPr id="17" name="CLI 샘플 실행">
            <a:extLst xmlns:a="http://schemas.openxmlformats.org/drawingml/2006/main">
              <a:ext uri="{FF2B5EF4-FFF2-40B4-BE49-F238E27FC236}">
                <a16:creationId xmlns:a16="http://schemas.microsoft.com/office/drawing/2014/main" id="{75F8A59D-4539-470E-B7EC-737FF3E39C33}"/>
              </a:ext>
            </a:extLst>
          </p:cNvPr>
          <p:cNvSpPr>
            <a:spLocks xmlns:a="http://schemas.openxmlformats.org/drawingml/2006/main" noGrp="1"/>
          </p:cNvSpPr>
          <p:nvPr/>
        </p:nvSpPr>
        <p:spPr>
          <a:xfrm xmlns:a="http://schemas.openxmlformats.org/drawingml/2006/main">
            <a:off x="7162800" y="360997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8" name="">
            <a:extLst xmlns:a="http://schemas.openxmlformats.org/drawingml/2006/main">
              <a:ext uri="{FF2B5EF4-FFF2-40B4-BE49-F238E27FC236}">
                <a16:creationId xmlns:a16="http://schemas.microsoft.com/office/drawing/2014/main" id="{3D110382-AE8F-4A8F-A33E-81C09EDDDA7D}"/>
              </a:ext>
            </a:extLst>
          </p:cNvPr>
          <p:cNvSpPr>
            <a:spLocks xmlns:a="http://schemas.openxmlformats.org/drawingml/2006/main" noGrp="1"/>
          </p:cNvSpPr>
          <p:nvPr/>
        </p:nvSpPr>
        <p:spPr>
          <a:xfrm xmlns:a="http://schemas.openxmlformats.org/drawingml/2006/main">
            <a:off x="762000" y="411480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요청한 범위만 수정했는가?">
            <a:extLst xmlns:a="http://schemas.openxmlformats.org/drawingml/2006/main">
              <a:ext uri="{FF2B5EF4-FFF2-40B4-BE49-F238E27FC236}">
                <a16:creationId xmlns:a16="http://schemas.microsoft.com/office/drawing/2014/main" id="{E6505514-E3D8-448B-9A50-8C9FBCACB51E}"/>
              </a:ext>
            </a:extLst>
          </p:cNvPr>
          <p:cNvSpPr>
            <a:spLocks xmlns:a="http://schemas.openxmlformats.org/drawingml/2006/main" noGrp="1"/>
          </p:cNvSpPr>
          <p:nvPr/>
        </p:nvSpPr>
        <p:spPr>
          <a:xfrm xmlns:a="http://schemas.openxmlformats.org/drawingml/2006/main">
            <a:off x="762000" y="4191000"/>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요청한 범위만 수정했는가?</a:t>
            </a:r>
          </a:p>
        </p:txBody>
      </p:sp>
      <p:sp>
        <p:nvSpPr>
          <p:cNvPr id="20" name="최종 diff 검토">
            <a:extLst xmlns:a="http://schemas.openxmlformats.org/drawingml/2006/main">
              <a:ext uri="{FF2B5EF4-FFF2-40B4-BE49-F238E27FC236}">
                <a16:creationId xmlns:a16="http://schemas.microsoft.com/office/drawing/2014/main" id="{8E1AFA8C-2D44-473F-86A6-CDBAD77B7F2E}"/>
              </a:ext>
            </a:extLst>
          </p:cNvPr>
          <p:cNvSpPr>
            <a:spLocks xmlns:a="http://schemas.openxmlformats.org/drawingml/2006/main" noGrp="1"/>
          </p:cNvSpPr>
          <p:nvPr/>
        </p:nvSpPr>
        <p:spPr>
          <a:xfrm xmlns:a="http://schemas.openxmlformats.org/drawingml/2006/main">
            <a:off x="7162800" y="4191000"/>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최종 diff 검토</a:t>
            </a:r>
          </a:p>
        </p:txBody>
      </p:sp>
      <p:sp>
        <p:nvSpPr>
          <p:cNvPr id="21" name="">
            <a:extLst xmlns:a="http://schemas.openxmlformats.org/drawingml/2006/main">
              <a:ext uri="{FF2B5EF4-FFF2-40B4-BE49-F238E27FC236}">
                <a16:creationId xmlns:a16="http://schemas.microsoft.com/office/drawing/2014/main" id="{613A8935-2967-4D5D-BDD6-1E0AF8387356}"/>
              </a:ext>
            </a:extLst>
          </p:cNvPr>
          <p:cNvSpPr>
            <a:spLocks xmlns:a="http://schemas.openxmlformats.org/drawingml/2006/main" noGrp="1"/>
          </p:cNvSpPr>
          <p:nvPr/>
        </p:nvSpPr>
        <p:spPr>
          <a:xfrm xmlns:a="http://schemas.openxmlformats.org/drawingml/2006/main">
            <a:off x="762000" y="46958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실행시간이 줄었는가?">
            <a:extLst xmlns:a="http://schemas.openxmlformats.org/drawingml/2006/main">
              <a:ext uri="{FF2B5EF4-FFF2-40B4-BE49-F238E27FC236}">
                <a16:creationId xmlns:a16="http://schemas.microsoft.com/office/drawing/2014/main" id="{CC84C71F-C690-4C73-ADC3-B41CC4838273}"/>
              </a:ext>
            </a:extLst>
          </p:cNvPr>
          <p:cNvSpPr>
            <a:spLocks xmlns:a="http://schemas.openxmlformats.org/drawingml/2006/main" noGrp="1"/>
          </p:cNvSpPr>
          <p:nvPr/>
        </p:nvSpPr>
        <p:spPr>
          <a:xfrm xmlns:a="http://schemas.openxmlformats.org/drawingml/2006/main">
            <a:off x="762000" y="477202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실행시간이 줄었는가?</a:t>
            </a:r>
          </a:p>
        </p:txBody>
      </p:sp>
      <p:sp>
        <p:nvSpPr>
          <p:cNvPr id="23" name="같은 조건의 전후 측정">
            <a:extLst xmlns:a="http://schemas.openxmlformats.org/drawingml/2006/main">
              <a:ext uri="{FF2B5EF4-FFF2-40B4-BE49-F238E27FC236}">
                <a16:creationId xmlns:a16="http://schemas.microsoft.com/office/drawing/2014/main" id="{0DF5AEDB-9E8D-4A40-83C8-E693983B89EF}"/>
              </a:ext>
            </a:extLst>
          </p:cNvPr>
          <p:cNvSpPr>
            <a:spLocks xmlns:a="http://schemas.openxmlformats.org/drawingml/2006/main" noGrp="1"/>
          </p:cNvSpPr>
          <p:nvPr/>
        </p:nvSpPr>
        <p:spPr>
          <a:xfrm xmlns:a="http://schemas.openxmlformats.org/drawingml/2006/main">
            <a:off x="7162800" y="477202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같은 조건의 전후 측정</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완료 조건을 요청에 담기">
            <a:extLst xmlns:a="http://schemas.openxmlformats.org/drawingml/2006/main">
              <a:ext uri="{FF2B5EF4-FFF2-40B4-BE49-F238E27FC236}">
                <a16:creationId xmlns:a16="http://schemas.microsoft.com/office/drawing/2014/main" id="{AFCEC3D2-1F5F-45B4-8A72-EE3293D94D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7">
            <a:extLst xmlns:a="http://schemas.openxmlformats.org/drawingml/2006/main">
              <a:ext uri="{FF2B5EF4-FFF2-40B4-BE49-F238E27FC236}">
                <a16:creationId xmlns:a16="http://schemas.microsoft.com/office/drawing/2014/main" id="{F876B097-C7AB-4C5A-A562-4F990B05B6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목표가 달라지면 검증 요청도 달라진다">
            <a:extLst xmlns:a="http://schemas.openxmlformats.org/drawingml/2006/main">
              <a:ext uri="{FF2B5EF4-FFF2-40B4-BE49-F238E27FC236}">
                <a16:creationId xmlns:a16="http://schemas.microsoft.com/office/drawing/2014/main" id="{36522554-B5DF-4933-B0EA-CC6E617244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목표가 달라지면 검증 요청도 달라진다</a:t>
            </a:r>
          </a:p>
        </p:txBody>
      </p:sp>
      <p:sp>
        <p:nvSpPr>
          <p:cNvPr id="4" name="">
            <a:extLst xmlns:a="http://schemas.openxmlformats.org/drawingml/2006/main">
              <a:ext uri="{FF2B5EF4-FFF2-40B4-BE49-F238E27FC236}">
                <a16:creationId xmlns:a16="http://schemas.microsoft.com/office/drawing/2014/main" id="{1CF74B21-7623-4B60-A5D2-AA60DFD8B5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비교 · 실제 TRIAL-002 원문이나 새 실행 결과가 아님">
            <a:extLst xmlns:a="http://schemas.openxmlformats.org/drawingml/2006/main">
              <a:ext uri="{FF2B5EF4-FFF2-40B4-BE49-F238E27FC236}">
                <a16:creationId xmlns:a16="http://schemas.microsoft.com/office/drawing/2014/main" id="{CFF12D8D-5E24-4C43-8620-A83025B033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교육용 요청 비교 · 실제 TRIAL-002 원문이나 새 실행 결과가 아님</a:t>
            </a:r>
          </a:p>
        </p:txBody>
      </p:sp>
      <p:sp>
        <p:nvSpPr>
          <p:cNvPr id="6" name="M 연계 · M5 / M6">
            <a:extLst xmlns:a="http://schemas.openxmlformats.org/drawingml/2006/main">
              <a:ext uri="{FF2B5EF4-FFF2-40B4-BE49-F238E27FC236}">
                <a16:creationId xmlns:a16="http://schemas.microsoft.com/office/drawing/2014/main" id="{B86641DB-9DCD-44E0-8D3C-FDC95C3D75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같은 crop · 검증 부분의 작성 예시">
            <a:extLst xmlns:a="http://schemas.openxmlformats.org/drawingml/2006/main">
              <a:ext uri="{FF2B5EF4-FFF2-40B4-BE49-F238E27FC236}">
                <a16:creationId xmlns:a16="http://schemas.microsoft.com/office/drawing/2014/main" id="{18A28F38-4FAF-47A9-A493-D7E9DBCE8054}"/>
              </a:ext>
            </a:extLst>
          </p:cNvPr>
          <p:cNvSpPr>
            <a:spLocks xmlns:a="http://schemas.openxmlformats.org/drawingml/2006/main" noGrp="1"/>
          </p:cNvSpPr>
          <p:nvPr/>
        </p:nvSpPr>
        <p:spPr>
          <a:xfrm xmlns:a="http://schemas.openxmlformats.org/drawingml/2006/main">
            <a:off x="609600" y="17621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같은 crop · 검증 부분의 작성 예시</a:t>
            </a:r>
          </a:p>
        </p:txBody>
      </p:sp>
      <p:sp>
        <p:nvSpPr>
          <p:cNvPr id="8" name="목표 1 · 경계 오류 수정">
            <a:extLst xmlns:a="http://schemas.openxmlformats.org/drawingml/2006/main">
              <a:ext uri="{FF2B5EF4-FFF2-40B4-BE49-F238E27FC236}">
                <a16:creationId xmlns:a16="http://schemas.microsoft.com/office/drawing/2014/main" id="{896248B0-8149-465F-9351-4E66D463015D}"/>
              </a:ext>
            </a:extLst>
          </p:cNvPr>
          <p:cNvSpPr>
            <a:spLocks xmlns:a="http://schemas.openxmlformats.org/drawingml/2006/main" noGrp="1"/>
          </p:cNvSpPr>
          <p:nvPr/>
        </p:nvSpPr>
        <p:spPr>
          <a:xfrm xmlns:a="http://schemas.openxmlformats.org/drawingml/2006/main">
            <a:off x="609600" y="2276475"/>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목표 1 · 경계 오류 수정</a:t>
            </a:r>
          </a:p>
        </p:txBody>
      </p:sp>
      <p:sp>
        <p:nvSpPr>
          <p:cNvPr id="9" name="">
            <a:extLst xmlns:a="http://schemas.openxmlformats.org/drawingml/2006/main">
              <a:ext uri="{FF2B5EF4-FFF2-40B4-BE49-F238E27FC236}">
                <a16:creationId xmlns:a16="http://schemas.microsoft.com/office/drawing/2014/main" id="{00487F51-27AA-4120-8B19-9C95CA4AE563}"/>
              </a:ext>
            </a:extLst>
          </p:cNvPr>
          <p:cNvSpPr>
            <a:spLocks xmlns:a="http://schemas.openxmlformats.org/drawingml/2006/main" noGrp="1"/>
          </p:cNvSpPr>
          <p:nvPr/>
        </p:nvSpPr>
        <p:spPr>
          <a:xfrm xmlns:a="http://schemas.openxmlformats.org/drawingml/2006/main">
            <a:off x="609600" y="2819400"/>
            <a:ext cx="5295900" cy="2085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검증 요청">
            <a:extLst xmlns:a="http://schemas.openxmlformats.org/drawingml/2006/main">
              <a:ext uri="{FF2B5EF4-FFF2-40B4-BE49-F238E27FC236}">
                <a16:creationId xmlns:a16="http://schemas.microsoft.com/office/drawing/2014/main" id="{89DC81CA-8E55-448C-BB51-17D5AD24E1E6}"/>
              </a:ext>
            </a:extLst>
          </p:cNvPr>
          <p:cNvSpPr>
            <a:spLocks xmlns:a="http://schemas.openxmlformats.org/drawingml/2006/main" noGrp="1"/>
          </p:cNvSpPr>
          <p:nvPr/>
        </p:nvSpPr>
        <p:spPr>
          <a:xfrm xmlns:a="http://schemas.openxmlformats.org/drawingml/2006/main">
            <a:off x="819150" y="2933700"/>
            <a:ext cx="4876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검증 요청</a:t>
            </a:r>
          </a:p>
        </p:txBody>
      </p:sp>
      <p:sp>
        <p:nvSpPr>
          <p:cNvPr id="11" name="">
            <a:extLst xmlns:a="http://schemas.openxmlformats.org/drawingml/2006/main">
              <a:ext uri="{FF2B5EF4-FFF2-40B4-BE49-F238E27FC236}">
                <a16:creationId xmlns:a16="http://schemas.microsoft.com/office/drawing/2014/main" id="{129C3F2C-ABE8-4568-BED2-BE31DBEC024B}"/>
              </a:ext>
            </a:extLst>
          </p:cNvPr>
          <p:cNvSpPr>
            <a:spLocks xmlns:a="http://schemas.openxmlformats.org/drawingml/2006/main" noGrp="1"/>
          </p:cNvSpPr>
          <p:nvPr/>
        </p:nvSpPr>
        <p:spPr>
          <a:xfrm xmlns:a="http://schemas.openxmlformats.org/drawingml/2006/main">
            <a:off x="819150" y="3286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기존 crop 명세를 기준으로">
            <a:extLst xmlns:a="http://schemas.openxmlformats.org/drawingml/2006/main">
              <a:ext uri="{FF2B5EF4-FFF2-40B4-BE49-F238E27FC236}">
                <a16:creationId xmlns:a16="http://schemas.microsoft.com/office/drawing/2014/main" id="{3CA04E5A-F2BB-43E0-A896-D98D791779EA}"/>
              </a:ext>
            </a:extLst>
          </p:cNvPr>
          <p:cNvSpPr>
            <a:spLocks xmlns:a="http://schemas.openxmlformats.org/drawingml/2006/main" noGrp="1"/>
          </p:cNvSpPr>
          <p:nvPr/>
        </p:nvSpPr>
        <p:spPr>
          <a:xfrm xmlns:a="http://schemas.openxmlformats.org/drawingml/2006/main">
            <a:off x="819150" y="340042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crop 명세를 기준으로</a:t>
            </a:r>
          </a:p>
        </p:txBody>
      </p:sp>
      <p:sp>
        <p:nvSpPr>
          <p:cNvPr id="13" name="관련·전체 테스트를 실행해줘.">
            <a:extLst xmlns:a="http://schemas.openxmlformats.org/drawingml/2006/main">
              <a:ext uri="{FF2B5EF4-FFF2-40B4-BE49-F238E27FC236}">
                <a16:creationId xmlns:a16="http://schemas.microsoft.com/office/drawing/2014/main" id="{E23B1B89-C58E-4345-A735-0217E1140803}"/>
              </a:ext>
            </a:extLst>
          </p:cNvPr>
          <p:cNvSpPr>
            <a:spLocks xmlns:a="http://schemas.openxmlformats.org/drawingml/2006/main" noGrp="1"/>
          </p:cNvSpPr>
          <p:nvPr/>
        </p:nvSpPr>
        <p:spPr>
          <a:xfrm xmlns:a="http://schemas.openxmlformats.org/drawingml/2006/main">
            <a:off x="819150" y="373380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관련·전체 테스트를 실행해줘.</a:t>
            </a:r>
          </a:p>
        </p:txBody>
      </p:sp>
      <p:sp>
        <p:nvSpPr>
          <p:cNvPr id="14" name="CLI 샘플과 최종 diff도 확인하고,">
            <a:extLst xmlns:a="http://schemas.openxmlformats.org/drawingml/2006/main">
              <a:ext uri="{FF2B5EF4-FFF2-40B4-BE49-F238E27FC236}">
                <a16:creationId xmlns:a16="http://schemas.microsoft.com/office/drawing/2014/main" id="{C9EEA342-7016-417A-BB99-D2396F4DAEB0}"/>
              </a:ext>
            </a:extLst>
          </p:cNvPr>
          <p:cNvSpPr>
            <a:spLocks xmlns:a="http://schemas.openxmlformats.org/drawingml/2006/main" noGrp="1"/>
          </p:cNvSpPr>
          <p:nvPr/>
        </p:nvSpPr>
        <p:spPr>
          <a:xfrm xmlns:a="http://schemas.openxmlformats.org/drawingml/2006/main">
            <a:off x="819150" y="40671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CLI 샘플과 최종 diff도 확인하고,</a:t>
            </a:r>
          </a:p>
        </p:txBody>
      </p:sp>
      <p:sp>
        <p:nvSpPr>
          <p:cNvPr id="15" name="검사·결과·미확인을 보고해줘.">
            <a:extLst xmlns:a="http://schemas.openxmlformats.org/drawingml/2006/main">
              <a:ext uri="{FF2B5EF4-FFF2-40B4-BE49-F238E27FC236}">
                <a16:creationId xmlns:a16="http://schemas.microsoft.com/office/drawing/2014/main" id="{1E491E6E-0717-4779-8ED9-0E726B8634CA}"/>
              </a:ext>
            </a:extLst>
          </p:cNvPr>
          <p:cNvSpPr>
            <a:spLocks xmlns:a="http://schemas.openxmlformats.org/drawingml/2006/main" noGrp="1"/>
          </p:cNvSpPr>
          <p:nvPr/>
        </p:nvSpPr>
        <p:spPr>
          <a:xfrm xmlns:a="http://schemas.openxmlformats.org/drawingml/2006/main">
            <a:off x="819150" y="44005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검사·결과·미확인을 보고해줘.</a:t>
            </a:r>
          </a:p>
        </p:txBody>
      </p:sp>
      <p:sp>
        <p:nvSpPr>
          <p:cNvPr id="16" name="목표 2 · 실행시간 단축">
            <a:extLst xmlns:a="http://schemas.openxmlformats.org/drawingml/2006/main">
              <a:ext uri="{FF2B5EF4-FFF2-40B4-BE49-F238E27FC236}">
                <a16:creationId xmlns:a16="http://schemas.microsoft.com/office/drawing/2014/main" id="{1C6EFD3B-6AB0-442B-8FEA-1CF8A9EFC9E8}"/>
              </a:ext>
            </a:extLst>
          </p:cNvPr>
          <p:cNvSpPr>
            <a:spLocks xmlns:a="http://schemas.openxmlformats.org/drawingml/2006/main" noGrp="1"/>
          </p:cNvSpPr>
          <p:nvPr/>
        </p:nvSpPr>
        <p:spPr>
          <a:xfrm xmlns:a="http://schemas.openxmlformats.org/drawingml/2006/main">
            <a:off x="6286500" y="2276475"/>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목표 2 · 실행시간 단축</a:t>
            </a:r>
          </a:p>
        </p:txBody>
      </p:sp>
      <p:sp>
        <p:nvSpPr>
          <p:cNvPr id="17" name="">
            <a:extLst xmlns:a="http://schemas.openxmlformats.org/drawingml/2006/main">
              <a:ext uri="{FF2B5EF4-FFF2-40B4-BE49-F238E27FC236}">
                <a16:creationId xmlns:a16="http://schemas.microsoft.com/office/drawing/2014/main" id="{E99A9B78-1BEA-4BC2-9590-C943A90855E6}"/>
              </a:ext>
            </a:extLst>
          </p:cNvPr>
          <p:cNvSpPr>
            <a:spLocks xmlns:a="http://schemas.openxmlformats.org/drawingml/2006/main" noGrp="1"/>
          </p:cNvSpPr>
          <p:nvPr/>
        </p:nvSpPr>
        <p:spPr>
          <a:xfrm xmlns:a="http://schemas.openxmlformats.org/drawingml/2006/main">
            <a:off x="6286500" y="2819400"/>
            <a:ext cx="5295900" cy="2085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검증 요청">
            <a:extLst xmlns:a="http://schemas.openxmlformats.org/drawingml/2006/main">
              <a:ext uri="{FF2B5EF4-FFF2-40B4-BE49-F238E27FC236}">
                <a16:creationId xmlns:a16="http://schemas.microsoft.com/office/drawing/2014/main" id="{54F0C16F-0D98-4841-99FB-0800AC596E01}"/>
              </a:ext>
            </a:extLst>
          </p:cNvPr>
          <p:cNvSpPr>
            <a:spLocks xmlns:a="http://schemas.openxmlformats.org/drawingml/2006/main" noGrp="1"/>
          </p:cNvSpPr>
          <p:nvPr/>
        </p:nvSpPr>
        <p:spPr>
          <a:xfrm xmlns:a="http://schemas.openxmlformats.org/drawingml/2006/main">
            <a:off x="6496050" y="2933700"/>
            <a:ext cx="4876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검증 요청</a:t>
            </a:r>
          </a:p>
        </p:txBody>
      </p:sp>
      <p:sp>
        <p:nvSpPr>
          <p:cNvPr id="19" name="">
            <a:extLst xmlns:a="http://schemas.openxmlformats.org/drawingml/2006/main">
              <a:ext uri="{FF2B5EF4-FFF2-40B4-BE49-F238E27FC236}">
                <a16:creationId xmlns:a16="http://schemas.microsoft.com/office/drawing/2014/main" id="{191EAA0E-22C5-4152-8B30-80498BDDFABE}"/>
              </a:ext>
            </a:extLst>
          </p:cNvPr>
          <p:cNvSpPr>
            <a:spLocks xmlns:a="http://schemas.openxmlformats.org/drawingml/2006/main" noGrp="1"/>
          </p:cNvSpPr>
          <p:nvPr/>
        </p:nvSpPr>
        <p:spPr>
          <a:xfrm xmlns:a="http://schemas.openxmlformats.org/drawingml/2006/main">
            <a:off x="6496050" y="3286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기존 동작은 테스트로 확인해줘.">
            <a:extLst xmlns:a="http://schemas.openxmlformats.org/drawingml/2006/main">
              <a:ext uri="{FF2B5EF4-FFF2-40B4-BE49-F238E27FC236}">
                <a16:creationId xmlns:a16="http://schemas.microsoft.com/office/drawing/2014/main" id="{7AEECCF7-9A2B-40CC-A540-FBE7764F95BB}"/>
              </a:ext>
            </a:extLst>
          </p:cNvPr>
          <p:cNvSpPr>
            <a:spLocks xmlns:a="http://schemas.openxmlformats.org/drawingml/2006/main" noGrp="1"/>
          </p:cNvSpPr>
          <p:nvPr/>
        </p:nvSpPr>
        <p:spPr>
          <a:xfrm xmlns:a="http://schemas.openxmlformats.org/drawingml/2006/main">
            <a:off x="6496050" y="340042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동작은 테스트로 확인해줘.</a:t>
            </a:r>
          </a:p>
        </p:txBody>
      </p:sp>
      <p:sp>
        <p:nvSpPr>
          <p:cNvPr id="21" name="같은 입력·환경에서">
            <a:extLst xmlns:a="http://schemas.openxmlformats.org/drawingml/2006/main">
              <a:ext uri="{FF2B5EF4-FFF2-40B4-BE49-F238E27FC236}">
                <a16:creationId xmlns:a16="http://schemas.microsoft.com/office/drawing/2014/main" id="{69BC512E-AAD8-484C-BC97-ADFE48AA4D4F}"/>
              </a:ext>
            </a:extLst>
          </p:cNvPr>
          <p:cNvSpPr>
            <a:spLocks xmlns:a="http://schemas.openxmlformats.org/drawingml/2006/main" noGrp="1"/>
          </p:cNvSpPr>
          <p:nvPr/>
        </p:nvSpPr>
        <p:spPr>
          <a:xfrm xmlns:a="http://schemas.openxmlformats.org/drawingml/2006/main">
            <a:off x="6496050" y="373380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입력·환경에서</a:t>
            </a:r>
          </a:p>
        </p:txBody>
      </p:sp>
      <p:sp>
        <p:nvSpPr>
          <p:cNvPr id="22" name="변경 전후 시간을 측정해줘.">
            <a:extLst xmlns:a="http://schemas.openxmlformats.org/drawingml/2006/main">
              <a:ext uri="{FF2B5EF4-FFF2-40B4-BE49-F238E27FC236}">
                <a16:creationId xmlns:a16="http://schemas.microsoft.com/office/drawing/2014/main" id="{B316F524-ADF7-4AB3-AFA2-DF63A0231860}"/>
              </a:ext>
            </a:extLst>
          </p:cNvPr>
          <p:cNvSpPr>
            <a:spLocks xmlns:a="http://schemas.openxmlformats.org/drawingml/2006/main" noGrp="1"/>
          </p:cNvSpPr>
          <p:nvPr/>
        </p:nvSpPr>
        <p:spPr>
          <a:xfrm xmlns:a="http://schemas.openxmlformats.org/drawingml/2006/main">
            <a:off x="6496050" y="40671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전후 시간을 측정해줘.</a:t>
            </a:r>
          </a:p>
        </p:txBody>
      </p:sp>
      <p:sp>
        <p:nvSpPr>
          <p:cNvPr id="23" name="측정 조건·결과·미확인을 보고해줘.">
            <a:extLst xmlns:a="http://schemas.openxmlformats.org/drawingml/2006/main">
              <a:ext uri="{FF2B5EF4-FFF2-40B4-BE49-F238E27FC236}">
                <a16:creationId xmlns:a16="http://schemas.microsoft.com/office/drawing/2014/main" id="{01848AB8-479E-43E0-B403-5324537E3076}"/>
              </a:ext>
            </a:extLst>
          </p:cNvPr>
          <p:cNvSpPr>
            <a:spLocks xmlns:a="http://schemas.openxmlformats.org/drawingml/2006/main" noGrp="1"/>
          </p:cNvSpPr>
          <p:nvPr/>
        </p:nvSpPr>
        <p:spPr>
          <a:xfrm xmlns:a="http://schemas.openxmlformats.org/drawingml/2006/main">
            <a:off x="6496050" y="44005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 조건·결과·미확인을 보고해줘.</a:t>
            </a:r>
          </a:p>
        </p:txBody>
      </p:sp>
      <p:sp>
        <p:nvSpPr>
          <p:cNvPr id="24" name="동작 확인과 성능 확인은 필요한 근거가 다르다">
            <a:extLst xmlns:a="http://schemas.openxmlformats.org/drawingml/2006/main">
              <a:ext uri="{FF2B5EF4-FFF2-40B4-BE49-F238E27FC236}">
                <a16:creationId xmlns:a16="http://schemas.microsoft.com/office/drawing/2014/main" id="{EC4D4EFC-6EDA-4D9C-9526-EF2DD63B7B1E}"/>
              </a:ext>
            </a:extLst>
          </p:cNvPr>
          <p:cNvSpPr>
            <a:spLocks xmlns:a="http://schemas.openxmlformats.org/drawingml/2006/main" noGrp="1"/>
          </p:cNvSpPr>
          <p:nvPr/>
        </p:nvSpPr>
        <p:spPr>
          <a:xfrm xmlns:a="http://schemas.openxmlformats.org/drawingml/2006/main">
            <a:off x="609600" y="5229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동작 확인과 성능 확인은 필요한 근거가 다르다</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 문장 도구 1/8 · 조건부">
            <a:extLst xmlns:a="http://schemas.openxmlformats.org/drawingml/2006/main">
              <a:ext uri="{FF2B5EF4-FFF2-40B4-BE49-F238E27FC236}">
                <a16:creationId xmlns:a16="http://schemas.microsoft.com/office/drawing/2014/main" id="{6F9F7EB1-2115-4DF7-94CE-4CD3955A06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조건부</a:t>
            </a:r>
          </a:p>
        </p:txBody>
      </p:sp>
      <p:sp>
        <p:nvSpPr>
          <p:cNvPr id="2" name="S28">
            <a:extLst xmlns:a="http://schemas.openxmlformats.org/drawingml/2006/main">
              <a:ext uri="{FF2B5EF4-FFF2-40B4-BE49-F238E27FC236}">
                <a16:creationId xmlns:a16="http://schemas.microsoft.com/office/drawing/2014/main" id="{9460607D-EB5C-435F-B95F-33AAD52A21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E215F381-2933-4E33-8419-AE5FC9FF85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07D21055-1AE4-4422-93E7-3FB12D14A4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1ACDB8B-99DC-4445-A0A8-2BF6185A94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구획은 해석을 돕는 표시이며, 보안 격리를 보장하지 않는다.</a:t>
            </a:r>
          </a:p>
        </p:txBody>
      </p:sp>
      <p:sp>
        <p:nvSpPr>
          <p:cNvPr id="7" name="">
            <a:extLst xmlns:a="http://schemas.openxmlformats.org/drawingml/2006/main">
              <a:ext uri="{FF2B5EF4-FFF2-40B4-BE49-F238E27FC236}">
                <a16:creationId xmlns:a16="http://schemas.microsoft.com/office/drawing/2014/main" id="{E9EC4D82-F13B-4E4F-97E1-485A0AED663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6144890-DD76-4961-994F-F4FD06B65EA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요청과 로그·명세가 한 메시지에 섞일 때">
            <a:extLst xmlns:a="http://schemas.openxmlformats.org/drawingml/2006/main">
              <a:ext uri="{FF2B5EF4-FFF2-40B4-BE49-F238E27FC236}">
                <a16:creationId xmlns:a16="http://schemas.microsoft.com/office/drawing/2014/main" id="{FAA6D38F-0A60-4FDE-A5A9-965496531A3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요청과 로그·명세가 한 메시지에 섞일 때</a:t>
            </a:r>
          </a:p>
        </p:txBody>
      </p:sp>
      <p:sp>
        <p:nvSpPr>
          <p:cNvPr id="10" name="">
            <a:extLst xmlns:a="http://schemas.openxmlformats.org/drawingml/2006/main">
              <a:ext uri="{FF2B5EF4-FFF2-40B4-BE49-F238E27FC236}">
                <a16:creationId xmlns:a16="http://schemas.microsoft.com/office/drawing/2014/main" id="{E3B9E62D-9EE7-46E8-B6F2-F1848B0C57E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a:extLst xmlns:a="http://schemas.openxmlformats.org/drawingml/2006/main">
              <a:ext uri="{FF2B5EF4-FFF2-40B4-BE49-F238E27FC236}">
                <a16:creationId xmlns:a16="http://schemas.microsoft.com/office/drawing/2014/main" id="{942BC27E-3F97-4497-892C-C47C51F69C4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a:t>
            </a:r>
          </a:p>
        </p:txBody>
      </p:sp>
      <p:sp>
        <p:nvSpPr>
          <p:cNvPr id="12" name="">
            <a:extLst xmlns:a="http://schemas.openxmlformats.org/drawingml/2006/main">
              <a:ext uri="{FF2B5EF4-FFF2-40B4-BE49-F238E27FC236}">
                <a16:creationId xmlns:a16="http://schemas.microsoft.com/office/drawing/2014/main" id="{B616CA4D-C8E1-4AF9-9982-4665CD2A772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만 조사해줘.&#10;코드는 수정하지 마.&#10;# 참고 명세&#10;crop [1,3)의 기">
            <a:extLst xmlns:a="http://schemas.openxmlformats.org/drawingml/2006/main">
              <a:ext uri="{FF2B5EF4-FFF2-40B4-BE49-F238E27FC236}">
                <a16:creationId xmlns:a16="http://schemas.microsoft.com/office/drawing/2014/main" id="{A9AE39E7-D95D-477A-90CB-01A6DB477E23}"/>
              </a:ext>
            </a:extLst>
          </p:cNvPr>
          <p:cNvSpPr>
            <a:spLocks xmlns:a="http://schemas.openxmlformats.org/drawingml/2006/main" noGrp="1"/>
          </p:cNvSpPr>
          <p:nvPr/>
        </p:nvSpPr>
        <p:spPr>
          <a:xfrm xmlns:a="http://schemas.openxmlformats.org/drawingml/2006/main">
            <a:off x="800100" y="2762250"/>
            <a:ext cx="68008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 요청</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오류의 원인만 조사해줘.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코드는 수정하지 마.</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 참고 명세</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[1,3)의 기대 폭은 2</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 참고 로그</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expected=2, actual=3</a:t>
            </a:r>
          </a:p>
        </p:txBody>
      </p:sp>
      <p:sp>
        <p:nvSpPr>
          <p:cNvPr id="14" name="구획이 필요한 상황">
            <a:extLst xmlns:a="http://schemas.openxmlformats.org/drawingml/2006/main">
              <a:ext uri="{FF2B5EF4-FFF2-40B4-BE49-F238E27FC236}">
                <a16:creationId xmlns:a16="http://schemas.microsoft.com/office/drawing/2014/main" id="{634167C5-9059-4F83-84EB-52EC188C4344}"/>
              </a:ext>
            </a:extLst>
          </p:cNvPr>
          <p:cNvSpPr>
            <a:spLocks xmlns:a="http://schemas.openxmlformats.org/drawingml/2006/main" noGrp="1"/>
          </p:cNvSpPr>
          <p:nvPr/>
        </p:nvSpPr>
        <p:spPr>
          <a:xfrm xmlns:a="http://schemas.openxmlformats.org/drawingml/2006/main">
            <a:off x="8229600" y="2257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구획이 필요한 상황</a:t>
            </a:r>
          </a:p>
        </p:txBody>
      </p:sp>
      <p:sp>
        <p:nvSpPr>
          <p:cNvPr id="15" name="">
            <a:extLst xmlns:a="http://schemas.openxmlformats.org/drawingml/2006/main">
              <a:ext uri="{FF2B5EF4-FFF2-40B4-BE49-F238E27FC236}">
                <a16:creationId xmlns:a16="http://schemas.microsoft.com/office/drawing/2014/main" id="{C931D6E9-D98B-4A49-9990-657D7CF6A983}"/>
              </a:ext>
            </a:extLst>
          </p:cNvPr>
          <p:cNvSpPr>
            <a:spLocks xmlns:a="http://schemas.openxmlformats.org/drawingml/2006/main" noGrp="1"/>
          </p:cNvSpPr>
          <p:nvPr/>
        </p:nvSpPr>
        <p:spPr>
          <a:xfrm xmlns:a="http://schemas.openxmlformats.org/drawingml/2006/main">
            <a:off x="8229600" y="26765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지시와 자료가&#10;섞여 있을 때">
            <a:extLst xmlns:a="http://schemas.openxmlformats.org/drawingml/2006/main">
              <a:ext uri="{FF2B5EF4-FFF2-40B4-BE49-F238E27FC236}">
                <a16:creationId xmlns:a16="http://schemas.microsoft.com/office/drawing/2014/main" id="{F0FAA3E0-2DB4-48C9-85EF-5A9CCCE4F709}"/>
              </a:ext>
            </a:extLst>
          </p:cNvPr>
          <p:cNvSpPr>
            <a:spLocks xmlns:a="http://schemas.openxmlformats.org/drawingml/2006/main" noGrp="1"/>
          </p:cNvSpPr>
          <p:nvPr/>
        </p:nvSpPr>
        <p:spPr>
          <a:xfrm xmlns:a="http://schemas.openxmlformats.org/drawingml/2006/main">
            <a:off x="8229600" y="27908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지시와 자료가</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섞여 있을 때</a:t>
            </a:r>
          </a:p>
        </p:txBody>
      </p:sp>
      <p:sp>
        <p:nvSpPr>
          <p:cNvPr id="17" name="짧고 명확한 요청">
            <a:extLst xmlns:a="http://schemas.openxmlformats.org/drawingml/2006/main">
              <a:ext uri="{FF2B5EF4-FFF2-40B4-BE49-F238E27FC236}">
                <a16:creationId xmlns:a16="http://schemas.microsoft.com/office/drawing/2014/main" id="{3B20C067-C9CB-47E5-8D97-C37DB65D69EB}"/>
              </a:ext>
            </a:extLst>
          </p:cNvPr>
          <p:cNvSpPr>
            <a:spLocks xmlns:a="http://schemas.openxmlformats.org/drawingml/2006/main" noGrp="1"/>
          </p:cNvSpPr>
          <p:nvPr/>
        </p:nvSpPr>
        <p:spPr>
          <a:xfrm xmlns:a="http://schemas.openxmlformats.org/drawingml/2006/main">
            <a:off x="8229600" y="37433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짧고 명확한 요청</a:t>
            </a:r>
          </a:p>
        </p:txBody>
      </p:sp>
      <p:sp>
        <p:nvSpPr>
          <p:cNvPr id="18" name="">
            <a:extLst xmlns:a="http://schemas.openxmlformats.org/drawingml/2006/main">
              <a:ext uri="{FF2B5EF4-FFF2-40B4-BE49-F238E27FC236}">
                <a16:creationId xmlns:a16="http://schemas.microsoft.com/office/drawing/2014/main" id="{D82A4A4B-FD3B-46BD-A26F-688D330ABAA9}"/>
              </a:ext>
            </a:extLst>
          </p:cNvPr>
          <p:cNvSpPr>
            <a:spLocks xmlns:a="http://schemas.openxmlformats.org/drawingml/2006/main" noGrp="1"/>
          </p:cNvSpPr>
          <p:nvPr/>
        </p:nvSpPr>
        <p:spPr>
          <a:xfrm xmlns:a="http://schemas.openxmlformats.org/drawingml/2006/main">
            <a:off x="8229600" y="4162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태그를 매번&#10;추가할 필요 없음">
            <a:extLst xmlns:a="http://schemas.openxmlformats.org/drawingml/2006/main">
              <a:ext uri="{FF2B5EF4-FFF2-40B4-BE49-F238E27FC236}">
                <a16:creationId xmlns:a16="http://schemas.microsoft.com/office/drawing/2014/main" id="{576ED1B1-B9AA-47E5-94A7-DCF78A873430}"/>
              </a:ext>
            </a:extLst>
          </p:cNvPr>
          <p:cNvSpPr>
            <a:spLocks xmlns:a="http://schemas.openxmlformats.org/drawingml/2006/main" noGrp="1"/>
          </p:cNvSpPr>
          <p:nvPr/>
        </p:nvSpPr>
        <p:spPr>
          <a:xfrm xmlns:a="http://schemas.openxmlformats.org/drawingml/2006/main">
            <a:off x="8229600" y="42767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태그를 매번</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추가할 필요 없음</a:t>
            </a:r>
          </a:p>
        </p:txBody>
      </p:sp>
      <p:sp>
        <p:nvSpPr>
          <p:cNvPr id="20" name="여러 자료가 섞일 때, 제목으로 읽을 경계를 표시한다.">
            <a:extLst xmlns:a="http://schemas.openxmlformats.org/drawingml/2006/main">
              <a:ext uri="{FF2B5EF4-FFF2-40B4-BE49-F238E27FC236}">
                <a16:creationId xmlns:a16="http://schemas.microsoft.com/office/drawing/2014/main" id="{D024C483-CBEA-48CF-9A0E-F68332420AAD}"/>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자료가 섞일 때, 제목으로 읽을 경계를 표시한다.</a:t>
            </a:r>
          </a:p>
        </p:txBody>
      </p:sp>
      <p:sp>
        <p:nvSpPr>
          <p:cNvPr id="21" name="">
            <a:extLst xmlns:a="http://schemas.openxmlformats.org/drawingml/2006/main">
              <a:ext uri="{FF2B5EF4-FFF2-40B4-BE49-F238E27FC236}">
                <a16:creationId xmlns:a16="http://schemas.microsoft.com/office/drawing/2014/main" id="{2B4BCA74-3E94-470B-9798-38A9E64AA6C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C7F0AFA-7A8F-4D42-ADC6-8A9D8EB1AE4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CDD8F77-098E-4F96-A4E0-95B5802150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3080690"/>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 문장 도구 2/8 · 조건부">
            <a:extLst xmlns:a="http://schemas.openxmlformats.org/drawingml/2006/main">
              <a:ext uri="{FF2B5EF4-FFF2-40B4-BE49-F238E27FC236}">
                <a16:creationId xmlns:a16="http://schemas.microsoft.com/office/drawing/2014/main" id="{4704318B-6A7B-4C18-85E3-A6D153E280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조건부</a:t>
            </a:r>
          </a:p>
        </p:txBody>
      </p:sp>
      <p:sp>
        <p:nvSpPr>
          <p:cNvPr id="2" name="S29">
            <a:extLst xmlns:a="http://schemas.openxmlformats.org/drawingml/2006/main">
              <a:ext uri="{FF2B5EF4-FFF2-40B4-BE49-F238E27FC236}">
                <a16:creationId xmlns:a16="http://schemas.microsoft.com/office/drawing/2014/main" id="{E6CC889C-DAEE-4167-A0AF-F9A2B9CFC1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672001B7-2D47-44AC-93D6-A74CD7C42A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839E733-1FD7-4AF1-A1B6-7F6FD77EEE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7F1E747-7373-4468-9056-C6E114354B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가상 팀의 보고 기준 · 실제 사내 규정이나 실행 결과가 아님</a:t>
            </a:r>
          </a:p>
        </p:txBody>
      </p:sp>
      <p:sp>
        <p:nvSpPr>
          <p:cNvPr id="7" name="">
            <a:extLst xmlns:a="http://schemas.openxmlformats.org/drawingml/2006/main">
              <a:ext uri="{FF2B5EF4-FFF2-40B4-BE49-F238E27FC236}">
                <a16:creationId xmlns:a16="http://schemas.microsoft.com/office/drawing/2014/main" id="{3D863AF2-9789-48D5-B8B8-C317C510615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4976076-9949-4CF8-AE7C-6436CA6FCE6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사내 고유 표기·분류가 설명만으로 안 맞을 때">
            <a:extLst xmlns:a="http://schemas.openxmlformats.org/drawingml/2006/main">
              <a:ext uri="{FF2B5EF4-FFF2-40B4-BE49-F238E27FC236}">
                <a16:creationId xmlns:a16="http://schemas.microsoft.com/office/drawing/2014/main" id="{67B182EE-3F3C-4063-BB50-A77554245D7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사내 고유 표기·분류가 설명만으로 안 맞을 때</a:t>
            </a:r>
          </a:p>
        </p:txBody>
      </p:sp>
      <p:sp>
        <p:nvSpPr>
          <p:cNvPr id="10" name="">
            <a:extLst xmlns:a="http://schemas.openxmlformats.org/drawingml/2006/main">
              <a:ext uri="{FF2B5EF4-FFF2-40B4-BE49-F238E27FC236}">
                <a16:creationId xmlns:a16="http://schemas.microsoft.com/office/drawing/2014/main" id="{84CD1B21-AA2A-45EA-8F60-3CE15FF4BE5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가상 팀 기준을 전달하는 요청 예시">
            <a:extLst xmlns:a="http://schemas.openxmlformats.org/drawingml/2006/main">
              <a:ext uri="{FF2B5EF4-FFF2-40B4-BE49-F238E27FC236}">
                <a16:creationId xmlns:a16="http://schemas.microsoft.com/office/drawing/2014/main" id="{41CAB0B9-2642-4C06-AF04-A8D30810539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가상 팀 기준을 전달하는 요청 예시</a:t>
            </a:r>
          </a:p>
        </p:txBody>
      </p:sp>
      <p:sp>
        <p:nvSpPr>
          <p:cNvPr id="12" name="">
            <a:extLst xmlns:a="http://schemas.openxmlformats.org/drawingml/2006/main">
              <a:ext uri="{FF2B5EF4-FFF2-40B4-BE49-F238E27FC236}">
                <a16:creationId xmlns:a16="http://schemas.microsoft.com/office/drawing/2014/main" id="{68AC5CA1-FA8B-459F-8FBC-F97F46AD8B4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우리 팀의 보고 표기를 아래 예시처럼 맞춰줘.&#10;테스트 로그 있음: [실행 확인] 명령·결과&#10;코드만 검토함: ">
            <a:extLst xmlns:a="http://schemas.openxmlformats.org/drawingml/2006/main">
              <a:ext uri="{FF2B5EF4-FFF2-40B4-BE49-F238E27FC236}">
                <a16:creationId xmlns:a16="http://schemas.microsoft.com/office/drawing/2014/main" id="{7CED5BA8-5F57-45B5-B8D0-346D6B50A986}"/>
              </a:ext>
            </a:extLst>
          </p:cNvPr>
          <p:cNvSpPr>
            <a:spLocks xmlns:a="http://schemas.openxmlformats.org/drawingml/2006/main" noGrp="1"/>
          </p:cNvSpPr>
          <p:nvPr/>
        </p:nvSpPr>
        <p:spPr>
          <a:xfrm xmlns:a="http://schemas.openxmlformats.org/drawingml/2006/main">
            <a:off x="800100" y="2762250"/>
            <a:ext cx="68008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우리 팀의 보고 표기를 아래 예시처럼 맞춰줘.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테스트 로그 있음: [실행 확인] 명령·결과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코드만 검토함: [코드 검토] 파일·판단</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근거를 못 찾음: [미확인] 필요한 자료</a:t>
            </a:r>
          </a:p>
          <a:p xmlns:a="http://schemas.openxmlformats.org/drawingml/2006/main">
            <a:r>
              <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첨부한 변경 보고서를 같은 형식으로 정리해줘.</a:t>
            </a:r>
          </a:p>
        </p:txBody>
      </p:sp>
      <p:sp>
        <p:nvSpPr>
          <p:cNvPr id="14" name="먼저 간단히 요청">
            <a:extLst xmlns:a="http://schemas.openxmlformats.org/drawingml/2006/main">
              <a:ext uri="{FF2B5EF4-FFF2-40B4-BE49-F238E27FC236}">
                <a16:creationId xmlns:a16="http://schemas.microsoft.com/office/drawing/2014/main" id="{2B849340-ACA4-46DB-A06F-D98758704056}"/>
              </a:ext>
            </a:extLst>
          </p:cNvPr>
          <p:cNvSpPr>
            <a:spLocks xmlns:a="http://schemas.openxmlformats.org/drawingml/2006/main" noGrp="1"/>
          </p:cNvSpPr>
          <p:nvPr/>
        </p:nvSpPr>
        <p:spPr>
          <a:xfrm xmlns:a="http://schemas.openxmlformats.org/drawingml/2006/main">
            <a:off x="8229600" y="2257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먼저 간단히 요청</a:t>
            </a:r>
          </a:p>
        </p:txBody>
      </p:sp>
      <p:sp>
        <p:nvSpPr>
          <p:cNvPr id="15" name="">
            <a:extLst xmlns:a="http://schemas.openxmlformats.org/drawingml/2006/main">
              <a:ext uri="{FF2B5EF4-FFF2-40B4-BE49-F238E27FC236}">
                <a16:creationId xmlns:a16="http://schemas.microsoft.com/office/drawing/2014/main" id="{52A7C842-828B-4D15-A120-F960378A8E7B}"/>
              </a:ext>
            </a:extLst>
          </p:cNvPr>
          <p:cNvSpPr>
            <a:spLocks xmlns:a="http://schemas.openxmlformats.org/drawingml/2006/main" noGrp="1"/>
          </p:cNvSpPr>
          <p:nvPr/>
        </p:nvSpPr>
        <p:spPr>
          <a:xfrm xmlns:a="http://schemas.openxmlformats.org/drawingml/2006/main">
            <a:off x="8229600" y="26765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기준과 형식이&#10;맞는지 확인">
            <a:extLst xmlns:a="http://schemas.openxmlformats.org/drawingml/2006/main">
              <a:ext uri="{FF2B5EF4-FFF2-40B4-BE49-F238E27FC236}">
                <a16:creationId xmlns:a16="http://schemas.microsoft.com/office/drawing/2014/main" id="{8DF1638E-75B3-49ED-871A-DB10B0F5570F}"/>
              </a:ext>
            </a:extLst>
          </p:cNvPr>
          <p:cNvSpPr>
            <a:spLocks xmlns:a="http://schemas.openxmlformats.org/drawingml/2006/main" noGrp="1"/>
          </p:cNvSpPr>
          <p:nvPr/>
        </p:nvSpPr>
        <p:spPr>
          <a:xfrm xmlns:a="http://schemas.openxmlformats.org/drawingml/2006/main">
            <a:off x="8229600" y="27908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기준과 형식이</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맞는지 확인</a:t>
            </a:r>
          </a:p>
        </p:txBody>
      </p:sp>
      <p:sp>
        <p:nvSpPr>
          <p:cNvPr id="17" name="부족할 때 예시 추가">
            <a:extLst xmlns:a="http://schemas.openxmlformats.org/drawingml/2006/main">
              <a:ext uri="{FF2B5EF4-FFF2-40B4-BE49-F238E27FC236}">
                <a16:creationId xmlns:a16="http://schemas.microsoft.com/office/drawing/2014/main" id="{56B2C7ED-B787-4568-B76B-4738C772952D}"/>
              </a:ext>
            </a:extLst>
          </p:cNvPr>
          <p:cNvSpPr>
            <a:spLocks xmlns:a="http://schemas.openxmlformats.org/drawingml/2006/main" noGrp="1"/>
          </p:cNvSpPr>
          <p:nvPr/>
        </p:nvSpPr>
        <p:spPr>
          <a:xfrm xmlns:a="http://schemas.openxmlformats.org/drawingml/2006/main">
            <a:off x="8229600" y="37433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부족할 때 예시 추가</a:t>
            </a:r>
          </a:p>
        </p:txBody>
      </p:sp>
      <p:sp>
        <p:nvSpPr>
          <p:cNvPr id="18" name="">
            <a:extLst xmlns:a="http://schemas.openxmlformats.org/drawingml/2006/main">
              <a:ext uri="{FF2B5EF4-FFF2-40B4-BE49-F238E27FC236}">
                <a16:creationId xmlns:a16="http://schemas.microsoft.com/office/drawing/2014/main" id="{229D9EFD-9EBB-4638-A433-136D21680CCB}"/>
              </a:ext>
            </a:extLst>
          </p:cNvPr>
          <p:cNvSpPr>
            <a:spLocks xmlns:a="http://schemas.openxmlformats.org/drawingml/2006/main" noGrp="1"/>
          </p:cNvSpPr>
          <p:nvPr/>
        </p:nvSpPr>
        <p:spPr>
          <a:xfrm xmlns:a="http://schemas.openxmlformats.org/drawingml/2006/main">
            <a:off x="8229600" y="4162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우리 팀이 쓰는&#10;표기·판정의 예">
            <a:extLst xmlns:a="http://schemas.openxmlformats.org/drawingml/2006/main">
              <a:ext uri="{FF2B5EF4-FFF2-40B4-BE49-F238E27FC236}">
                <a16:creationId xmlns:a16="http://schemas.microsoft.com/office/drawing/2014/main" id="{14DADD86-DA7D-444C-94BB-985F622780EE}"/>
              </a:ext>
            </a:extLst>
          </p:cNvPr>
          <p:cNvSpPr>
            <a:spLocks xmlns:a="http://schemas.openxmlformats.org/drawingml/2006/main" noGrp="1"/>
          </p:cNvSpPr>
          <p:nvPr/>
        </p:nvSpPr>
        <p:spPr>
          <a:xfrm xmlns:a="http://schemas.openxmlformats.org/drawingml/2006/main">
            <a:off x="8229600" y="42767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우리 팀이 쓰는</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표기·판정의 예</a:t>
            </a:r>
          </a:p>
        </p:txBody>
      </p:sp>
      <p:sp>
        <p:nvSpPr>
          <p:cNvPr id="20" name="모델이 모르는 우리 기준을 입력·출력 예시로 전달한다.">
            <a:extLst xmlns:a="http://schemas.openxmlformats.org/drawingml/2006/main">
              <a:ext uri="{FF2B5EF4-FFF2-40B4-BE49-F238E27FC236}">
                <a16:creationId xmlns:a16="http://schemas.microsoft.com/office/drawing/2014/main" id="{CAECAFFE-E35E-4204-87C0-E2355EBDDB4A}"/>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모델이 모르는 우리 기준을 입력·출력 예시로 전달한다.</a:t>
            </a:r>
          </a:p>
        </p:txBody>
      </p:sp>
      <p:sp>
        <p:nvSpPr>
          <p:cNvPr id="21" name="">
            <a:extLst xmlns:a="http://schemas.openxmlformats.org/drawingml/2006/main">
              <a:ext uri="{FF2B5EF4-FFF2-40B4-BE49-F238E27FC236}">
                <a16:creationId xmlns:a16="http://schemas.microsoft.com/office/drawing/2014/main" id="{A7A8E1E0-C043-4630-826A-6FE8146439B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2943E84-7305-46DD-8BC1-65E84E052F4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A47E2E8-DEEE-42F1-83A7-D2FD86E4B3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209435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 문장 도구 3/8 · 핵심">
            <a:extLst xmlns:a="http://schemas.openxmlformats.org/drawingml/2006/main">
              <a:ext uri="{FF2B5EF4-FFF2-40B4-BE49-F238E27FC236}">
                <a16:creationId xmlns:a16="http://schemas.microsoft.com/office/drawing/2014/main" id="{D049186D-BD5D-4DAF-8AB8-BAE88AF0FE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핵심</a:t>
            </a:r>
          </a:p>
        </p:txBody>
      </p:sp>
      <p:sp>
        <p:nvSpPr>
          <p:cNvPr id="2" name="S30">
            <a:extLst xmlns:a="http://schemas.openxmlformats.org/drawingml/2006/main">
              <a:ext uri="{FF2B5EF4-FFF2-40B4-BE49-F238E27FC236}">
                <a16:creationId xmlns:a16="http://schemas.microsoft.com/office/drawing/2014/main" id="{D0185920-694B-4480-B9A9-6CBC59D1C1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2FEB996B-F82F-4366-BA7A-7559E704EC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2F678C8E-D30C-4DB8-84F8-1C2380EAE9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DA3A039-1315-4C75-A407-CA411D1ABA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형식과 내용은 별도 확인 · 채팅의 형식 요청은 API Structured Outputs와 다름</a:t>
            </a:r>
          </a:p>
        </p:txBody>
      </p:sp>
      <p:sp>
        <p:nvSpPr>
          <p:cNvPr id="7" name="">
            <a:extLst xmlns:a="http://schemas.openxmlformats.org/drawingml/2006/main">
              <a:ext uri="{FF2B5EF4-FFF2-40B4-BE49-F238E27FC236}">
                <a16:creationId xmlns:a16="http://schemas.microsoft.com/office/drawing/2014/main" id="{A67B5DA4-ABA1-4E84-A097-FF21637F54F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4040126-9FBB-40E1-A42F-7DA5EDBFA6D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완료 보고에서 필요한 정보를 빨리 찾고 싶을 때">
            <a:extLst xmlns:a="http://schemas.openxmlformats.org/drawingml/2006/main">
              <a:ext uri="{FF2B5EF4-FFF2-40B4-BE49-F238E27FC236}">
                <a16:creationId xmlns:a16="http://schemas.microsoft.com/office/drawing/2014/main" id="{6C0A6BB6-6EFC-4211-A70D-D5563B61372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보고에서 필요한 정보를 빨리 찾고 싶을 때</a:t>
            </a:r>
          </a:p>
        </p:txBody>
      </p:sp>
      <p:sp>
        <p:nvSpPr>
          <p:cNvPr id="10" name="">
            <a:extLst xmlns:a="http://schemas.openxmlformats.org/drawingml/2006/main">
              <a:ext uri="{FF2B5EF4-FFF2-40B4-BE49-F238E27FC236}">
                <a16:creationId xmlns:a16="http://schemas.microsoft.com/office/drawing/2014/main" id="{B030A0F6-8E35-4F43-B1BF-3BB5BE80284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a:extLst xmlns:a="http://schemas.openxmlformats.org/drawingml/2006/main">
              <a:ext uri="{FF2B5EF4-FFF2-40B4-BE49-F238E27FC236}">
                <a16:creationId xmlns:a16="http://schemas.microsoft.com/office/drawing/2014/main" id="{37296ECE-7E8A-4DD3-8126-05D1FC94C19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a:t>
            </a:r>
          </a:p>
        </p:txBody>
      </p:sp>
      <p:sp>
        <p:nvSpPr>
          <p:cNvPr id="12" name="">
            <a:extLst xmlns:a="http://schemas.openxmlformats.org/drawingml/2006/main">
              <a:ext uri="{FF2B5EF4-FFF2-40B4-BE49-F238E27FC236}">
                <a16:creationId xmlns:a16="http://schemas.microsoft.com/office/drawing/2014/main" id="{DAD69425-7FA6-4E7F-AED7-CD008C0329C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아래 항목으로 보고해줘.&#10;1. 변경 파일과 이유&#10;2. 실행한 검사·결과&#10;3. 미실행 검">
            <a:extLst xmlns:a="http://schemas.openxmlformats.org/drawingml/2006/main">
              <a:ext uri="{FF2B5EF4-FFF2-40B4-BE49-F238E27FC236}">
                <a16:creationId xmlns:a16="http://schemas.microsoft.com/office/drawing/2014/main" id="{C7D13D42-8AE6-4B24-BB8A-CA8B0BAA5E01}"/>
              </a:ext>
            </a:extLst>
          </p:cNvPr>
          <p:cNvSpPr>
            <a:spLocks xmlns:a="http://schemas.openxmlformats.org/drawingml/2006/main" noGrp="1"/>
          </p:cNvSpPr>
          <p:nvPr/>
        </p:nvSpPr>
        <p:spPr>
          <a:xfrm xmlns:a="http://schemas.openxmlformats.org/drawingml/2006/main">
            <a:off x="800100" y="2762250"/>
            <a:ext cx="68008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수정 결과를 아래 항목으로 보고해줘.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1. 변경 파일과 이유</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2. 실행한 검사·결과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3. 미실행 검사·이유</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4. 남은 위험·결정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완료 판단에 필요한 근거는 생략하지 마.</a:t>
            </a:r>
          </a:p>
        </p:txBody>
      </p:sp>
      <p:sp>
        <p:nvSpPr>
          <p:cNvPr id="14" name="지정할 것">
            <a:extLst xmlns:a="http://schemas.openxmlformats.org/drawingml/2006/main">
              <a:ext uri="{FF2B5EF4-FFF2-40B4-BE49-F238E27FC236}">
                <a16:creationId xmlns:a16="http://schemas.microsoft.com/office/drawing/2014/main" id="{0AEB13DB-169B-437F-A66C-829D810C75CB}"/>
              </a:ext>
            </a:extLst>
          </p:cNvPr>
          <p:cNvSpPr>
            <a:spLocks xmlns:a="http://schemas.openxmlformats.org/drawingml/2006/main" noGrp="1"/>
          </p:cNvSpPr>
          <p:nvPr/>
        </p:nvSpPr>
        <p:spPr>
          <a:xfrm xmlns:a="http://schemas.openxmlformats.org/drawingml/2006/main">
            <a:off x="8229600" y="2257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지정할 것</a:t>
            </a:r>
          </a:p>
        </p:txBody>
      </p:sp>
      <p:sp>
        <p:nvSpPr>
          <p:cNvPr id="15" name="">
            <a:extLst xmlns:a="http://schemas.openxmlformats.org/drawingml/2006/main">
              <a:ext uri="{FF2B5EF4-FFF2-40B4-BE49-F238E27FC236}">
                <a16:creationId xmlns:a16="http://schemas.microsoft.com/office/drawing/2014/main" id="{46D30F69-28BF-4ABA-A927-37EE43C1439A}"/>
              </a:ext>
            </a:extLst>
          </p:cNvPr>
          <p:cNvSpPr>
            <a:spLocks xmlns:a="http://schemas.openxmlformats.org/drawingml/2006/main" noGrp="1"/>
          </p:cNvSpPr>
          <p:nvPr/>
        </p:nvSpPr>
        <p:spPr>
          <a:xfrm xmlns:a="http://schemas.openxmlformats.org/drawingml/2006/main">
            <a:off x="8229600" y="26765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보고 항목과&#10;읽을 순서">
            <a:extLst xmlns:a="http://schemas.openxmlformats.org/drawingml/2006/main">
              <a:ext uri="{FF2B5EF4-FFF2-40B4-BE49-F238E27FC236}">
                <a16:creationId xmlns:a16="http://schemas.microsoft.com/office/drawing/2014/main" id="{0A9B4325-64A9-468D-B890-FF8029584C32}"/>
              </a:ext>
            </a:extLst>
          </p:cNvPr>
          <p:cNvSpPr>
            <a:spLocks xmlns:a="http://schemas.openxmlformats.org/drawingml/2006/main" noGrp="1"/>
          </p:cNvSpPr>
          <p:nvPr/>
        </p:nvSpPr>
        <p:spPr>
          <a:xfrm xmlns:a="http://schemas.openxmlformats.org/drawingml/2006/main">
            <a:off x="8229600" y="27908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보고 항목과</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읽을 순서</a:t>
            </a:r>
          </a:p>
        </p:txBody>
      </p:sp>
      <p:sp>
        <p:nvSpPr>
          <p:cNvPr id="17" name="분량의 기준">
            <a:extLst xmlns:a="http://schemas.openxmlformats.org/drawingml/2006/main">
              <a:ext uri="{FF2B5EF4-FFF2-40B4-BE49-F238E27FC236}">
                <a16:creationId xmlns:a16="http://schemas.microsoft.com/office/drawing/2014/main" id="{A19273FA-4B84-4DF8-8618-E4BDAF19032B}"/>
              </a:ext>
            </a:extLst>
          </p:cNvPr>
          <p:cNvSpPr>
            <a:spLocks xmlns:a="http://schemas.openxmlformats.org/drawingml/2006/main" noGrp="1"/>
          </p:cNvSpPr>
          <p:nvPr/>
        </p:nvSpPr>
        <p:spPr>
          <a:xfrm xmlns:a="http://schemas.openxmlformats.org/drawingml/2006/main">
            <a:off x="8229600" y="37433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분량의 기준</a:t>
            </a:r>
          </a:p>
        </p:txBody>
      </p:sp>
      <p:sp>
        <p:nvSpPr>
          <p:cNvPr id="18" name="">
            <a:extLst xmlns:a="http://schemas.openxmlformats.org/drawingml/2006/main">
              <a:ext uri="{FF2B5EF4-FFF2-40B4-BE49-F238E27FC236}">
                <a16:creationId xmlns:a16="http://schemas.microsoft.com/office/drawing/2014/main" id="{4B05B7F1-9D41-4AB2-992E-877AC26930C1}"/>
              </a:ext>
            </a:extLst>
          </p:cNvPr>
          <p:cNvSpPr>
            <a:spLocks xmlns:a="http://schemas.openxmlformats.org/drawingml/2006/main" noGrp="1"/>
          </p:cNvSpPr>
          <p:nvPr/>
        </p:nvSpPr>
        <p:spPr>
          <a:xfrm xmlns:a="http://schemas.openxmlformats.org/drawingml/2006/main">
            <a:off x="8229600" y="4162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판단에 필요한&#10;근거를 담을 만큼">
            <a:extLst xmlns:a="http://schemas.openxmlformats.org/drawingml/2006/main">
              <a:ext uri="{FF2B5EF4-FFF2-40B4-BE49-F238E27FC236}">
                <a16:creationId xmlns:a16="http://schemas.microsoft.com/office/drawing/2014/main" id="{8B4CA9F3-8931-4BAC-90B7-7927A0DC5DC6}"/>
              </a:ext>
            </a:extLst>
          </p:cNvPr>
          <p:cNvSpPr>
            <a:spLocks xmlns:a="http://schemas.openxmlformats.org/drawingml/2006/main" noGrp="1"/>
          </p:cNvSpPr>
          <p:nvPr/>
        </p:nvSpPr>
        <p:spPr>
          <a:xfrm xmlns:a="http://schemas.openxmlformats.org/drawingml/2006/main">
            <a:off x="8229600" y="42767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판단에 필요한</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근거를 담을 만큼</a:t>
            </a:r>
          </a:p>
        </p:txBody>
      </p:sp>
      <p:sp>
        <p:nvSpPr>
          <p:cNvPr id="20" name="검토에 필요한 항목을 지정하고, 중요한 근거는 남긴다.">
            <a:extLst xmlns:a="http://schemas.openxmlformats.org/drawingml/2006/main">
              <a:ext uri="{FF2B5EF4-FFF2-40B4-BE49-F238E27FC236}">
                <a16:creationId xmlns:a16="http://schemas.microsoft.com/office/drawing/2014/main" id="{E9FBBA28-A69C-4390-B9EF-A28E0816B887}"/>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검토에 필요한 항목을 지정하고, 중요한 근거는 남긴다.</a:t>
            </a:r>
          </a:p>
        </p:txBody>
      </p:sp>
      <p:sp>
        <p:nvSpPr>
          <p:cNvPr id="21" name="">
            <a:extLst xmlns:a="http://schemas.openxmlformats.org/drawingml/2006/main">
              <a:ext uri="{FF2B5EF4-FFF2-40B4-BE49-F238E27FC236}">
                <a16:creationId xmlns:a16="http://schemas.microsoft.com/office/drawing/2014/main" id="{0053493E-0F5B-48C1-AF3D-482905E623A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61800F7-47C2-447F-BA79-5D1C858AB79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2FC2B1C-27F5-4951-8731-DE84474016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767932"/>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 문장 도구 4/8 · 핵심">
            <a:extLst xmlns:a="http://schemas.openxmlformats.org/drawingml/2006/main">
              <a:ext uri="{FF2B5EF4-FFF2-40B4-BE49-F238E27FC236}">
                <a16:creationId xmlns:a16="http://schemas.microsoft.com/office/drawing/2014/main" id="{5CBB59F7-51E8-4E89-816C-5202E88080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핵심</a:t>
            </a:r>
          </a:p>
        </p:txBody>
      </p:sp>
      <p:sp>
        <p:nvSpPr>
          <p:cNvPr id="2" name="S31">
            <a:extLst xmlns:a="http://schemas.openxmlformats.org/drawingml/2006/main">
              <a:ext uri="{FF2B5EF4-FFF2-40B4-BE49-F238E27FC236}">
                <a16:creationId xmlns:a16="http://schemas.microsoft.com/office/drawing/2014/main" id="{A4C41A5B-B945-4196-814C-3B4E5DA8C3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42B19324-4486-48D6-9F78-F8A39F8D76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F1887B87-998E-4A3F-9B01-7B08EFC8EF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3FC19AF-946E-4158-A49D-4417726535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출처가 있어도 원문과 대조한다 · 인용 자체가 정확성의 보증은 아님</a:t>
            </a:r>
          </a:p>
        </p:txBody>
      </p:sp>
      <p:sp>
        <p:nvSpPr>
          <p:cNvPr id="7" name="">
            <a:extLst xmlns:a="http://schemas.openxmlformats.org/drawingml/2006/main">
              <a:ext uri="{FF2B5EF4-FFF2-40B4-BE49-F238E27FC236}">
                <a16:creationId xmlns:a16="http://schemas.microsoft.com/office/drawing/2014/main" id="{797D8A7D-3E70-47D1-9A19-2DC7033982F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D956B69-FC02-40E8-B379-A0A371A00F5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설명을 믿기 전에 실제 자료를 대조해야 할 때">
            <a:extLst xmlns:a="http://schemas.openxmlformats.org/drawingml/2006/main">
              <a:ext uri="{FF2B5EF4-FFF2-40B4-BE49-F238E27FC236}">
                <a16:creationId xmlns:a16="http://schemas.microsoft.com/office/drawing/2014/main" id="{3608E57A-EA36-4EFB-84F6-9F4428E4A9A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설명을 믿기 전에 실제 자료를 대조해야 할 때</a:t>
            </a:r>
          </a:p>
        </p:txBody>
      </p:sp>
      <p:sp>
        <p:nvSpPr>
          <p:cNvPr id="10" name="">
            <a:extLst xmlns:a="http://schemas.openxmlformats.org/drawingml/2006/main">
              <a:ext uri="{FF2B5EF4-FFF2-40B4-BE49-F238E27FC236}">
                <a16:creationId xmlns:a16="http://schemas.microsoft.com/office/drawing/2014/main" id="{2A061197-4586-42A0-BFCA-AAEE52FFEE9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a:extLst xmlns:a="http://schemas.openxmlformats.org/drawingml/2006/main">
              <a:ext uri="{FF2B5EF4-FFF2-40B4-BE49-F238E27FC236}">
                <a16:creationId xmlns:a16="http://schemas.microsoft.com/office/drawing/2014/main" id="{FFC47100-0330-4815-B826-006111DE70C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a:t>
            </a:r>
          </a:p>
        </p:txBody>
      </p:sp>
      <p:sp>
        <p:nvSpPr>
          <p:cNvPr id="12" name="">
            <a:extLst xmlns:a="http://schemas.openxmlformats.org/drawingml/2006/main">
              <a:ext uri="{FF2B5EF4-FFF2-40B4-BE49-F238E27FC236}">
                <a16:creationId xmlns:a16="http://schemas.microsoft.com/office/drawing/2014/main" id="{9A36FF75-E433-42F7-AEFF-8E79E9680FD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비교해줘.&#10;중요한 결론마다 파일·함수 근거를 붙여줘.&#10;확인한 내용과 추정·미확">
            <a:extLst xmlns:a="http://schemas.openxmlformats.org/drawingml/2006/main">
              <a:ext uri="{FF2B5EF4-FFF2-40B4-BE49-F238E27FC236}">
                <a16:creationId xmlns:a16="http://schemas.microsoft.com/office/drawing/2014/main" id="{1DC8F469-FB13-463B-93E0-F7186A69178F}"/>
              </a:ext>
            </a:extLst>
          </p:cNvPr>
          <p:cNvSpPr>
            <a:spLocks xmlns:a="http://schemas.openxmlformats.org/drawingml/2006/main" noGrp="1"/>
          </p:cNvSpPr>
          <p:nvPr/>
        </p:nvSpPr>
        <p:spPr>
          <a:xfrm xmlns:a="http://schemas.openxmlformats.org/drawingml/2006/main">
            <a:off x="800100" y="2762250"/>
            <a:ext cx="68008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crop의 명세·구현·테스트를 비교해줘.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중요한 결론마다 파일·함수 근거를 붙여줘.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확인한 내용과 추정·미확인을 구분해줘.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자료가 충돌하면 차이를 먼저 알려줘.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없는 정책은 만들어 채우지 마.</a:t>
            </a:r>
          </a:p>
        </p:txBody>
      </p:sp>
      <p:sp>
        <p:nvSpPr>
          <p:cNvPr id="14" name="받아야 할 것">
            <a:extLst xmlns:a="http://schemas.openxmlformats.org/drawingml/2006/main">
              <a:ext uri="{FF2B5EF4-FFF2-40B4-BE49-F238E27FC236}">
                <a16:creationId xmlns:a16="http://schemas.microsoft.com/office/drawing/2014/main" id="{9F997F03-C5E4-4843-A94A-90F6DD877049}"/>
              </a:ext>
            </a:extLst>
          </p:cNvPr>
          <p:cNvSpPr>
            <a:spLocks xmlns:a="http://schemas.openxmlformats.org/drawingml/2006/main" noGrp="1"/>
          </p:cNvSpPr>
          <p:nvPr/>
        </p:nvSpPr>
        <p:spPr>
          <a:xfrm xmlns:a="http://schemas.openxmlformats.org/drawingml/2006/main">
            <a:off x="8229600" y="2257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것</a:t>
            </a:r>
          </a:p>
        </p:txBody>
      </p:sp>
      <p:sp>
        <p:nvSpPr>
          <p:cNvPr id="15" name="">
            <a:extLst xmlns:a="http://schemas.openxmlformats.org/drawingml/2006/main">
              <a:ext uri="{FF2B5EF4-FFF2-40B4-BE49-F238E27FC236}">
                <a16:creationId xmlns:a16="http://schemas.microsoft.com/office/drawing/2014/main" id="{36D7C1F2-6C71-411B-B813-64E4784F7130}"/>
              </a:ext>
            </a:extLst>
          </p:cNvPr>
          <p:cNvSpPr>
            <a:spLocks xmlns:a="http://schemas.openxmlformats.org/drawingml/2006/main" noGrp="1"/>
          </p:cNvSpPr>
          <p:nvPr/>
        </p:nvSpPr>
        <p:spPr>
          <a:xfrm xmlns:a="http://schemas.openxmlformats.org/drawingml/2006/main">
            <a:off x="8229600" y="26765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설명을 뒷받침하는&#10;실제 자료 위치">
            <a:extLst xmlns:a="http://schemas.openxmlformats.org/drawingml/2006/main">
              <a:ext uri="{FF2B5EF4-FFF2-40B4-BE49-F238E27FC236}">
                <a16:creationId xmlns:a16="http://schemas.microsoft.com/office/drawing/2014/main" id="{F3C75075-CFA4-43E0-A553-016ADCC0603E}"/>
              </a:ext>
            </a:extLst>
          </p:cNvPr>
          <p:cNvSpPr>
            <a:spLocks xmlns:a="http://schemas.openxmlformats.org/drawingml/2006/main" noGrp="1"/>
          </p:cNvSpPr>
          <p:nvPr/>
        </p:nvSpPr>
        <p:spPr>
          <a:xfrm xmlns:a="http://schemas.openxmlformats.org/drawingml/2006/main">
            <a:off x="8229600" y="27908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설명을 뒷받침하는</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실제 자료 위치</a:t>
            </a:r>
          </a:p>
        </p:txBody>
      </p:sp>
      <p:sp>
        <p:nvSpPr>
          <p:cNvPr id="17" name="사람이 확인할 것">
            <a:extLst xmlns:a="http://schemas.openxmlformats.org/drawingml/2006/main">
              <a:ext uri="{FF2B5EF4-FFF2-40B4-BE49-F238E27FC236}">
                <a16:creationId xmlns:a16="http://schemas.microsoft.com/office/drawing/2014/main" id="{8BEA64A6-6969-4DED-A4D2-C00759E042A4}"/>
              </a:ext>
            </a:extLst>
          </p:cNvPr>
          <p:cNvSpPr>
            <a:spLocks xmlns:a="http://schemas.openxmlformats.org/drawingml/2006/main" noGrp="1"/>
          </p:cNvSpPr>
          <p:nvPr/>
        </p:nvSpPr>
        <p:spPr>
          <a:xfrm xmlns:a="http://schemas.openxmlformats.org/drawingml/2006/main">
            <a:off x="8229600" y="37433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사람이 확인할 것</a:t>
            </a:r>
          </a:p>
        </p:txBody>
      </p:sp>
      <p:sp>
        <p:nvSpPr>
          <p:cNvPr id="18" name="">
            <a:extLst xmlns:a="http://schemas.openxmlformats.org/drawingml/2006/main">
              <a:ext uri="{FF2B5EF4-FFF2-40B4-BE49-F238E27FC236}">
                <a16:creationId xmlns:a16="http://schemas.microsoft.com/office/drawing/2014/main" id="{D399859B-5156-4FC8-924B-238FD8CC2EED}"/>
              </a:ext>
            </a:extLst>
          </p:cNvPr>
          <p:cNvSpPr>
            <a:spLocks xmlns:a="http://schemas.openxmlformats.org/drawingml/2006/main" noGrp="1"/>
          </p:cNvSpPr>
          <p:nvPr/>
        </p:nvSpPr>
        <p:spPr>
          <a:xfrm xmlns:a="http://schemas.openxmlformats.org/drawingml/2006/main">
            <a:off x="8229600" y="4162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원문과&#10;판단이 맞는지">
            <a:extLst xmlns:a="http://schemas.openxmlformats.org/drawingml/2006/main">
              <a:ext uri="{FF2B5EF4-FFF2-40B4-BE49-F238E27FC236}">
                <a16:creationId xmlns:a16="http://schemas.microsoft.com/office/drawing/2014/main" id="{EF31CD2F-8FA6-465C-804F-5BA02016834A}"/>
              </a:ext>
            </a:extLst>
          </p:cNvPr>
          <p:cNvSpPr>
            <a:spLocks xmlns:a="http://schemas.openxmlformats.org/drawingml/2006/main" noGrp="1"/>
          </p:cNvSpPr>
          <p:nvPr/>
        </p:nvSpPr>
        <p:spPr>
          <a:xfrm xmlns:a="http://schemas.openxmlformats.org/drawingml/2006/main">
            <a:off x="8229600" y="42767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인용한 원문과</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판단이 맞는지</a:t>
            </a:r>
          </a:p>
        </p:txBody>
      </p:sp>
      <p:sp>
        <p:nvSpPr>
          <p:cNvPr id="20" name="중요한 판단에 근거를 받고, 추정·미확인은 구분한다.">
            <a:extLst xmlns:a="http://schemas.openxmlformats.org/drawingml/2006/main">
              <a:ext uri="{FF2B5EF4-FFF2-40B4-BE49-F238E27FC236}">
                <a16:creationId xmlns:a16="http://schemas.microsoft.com/office/drawing/2014/main" id="{D10AF55D-5B83-4EC2-8B21-38541AFF5C84}"/>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중요한 판단에 근거를 받고, 추정·미확인은 구분한다.</a:t>
            </a:r>
          </a:p>
        </p:txBody>
      </p:sp>
      <p:sp>
        <p:nvSpPr>
          <p:cNvPr id="21" name="">
            <a:extLst xmlns:a="http://schemas.openxmlformats.org/drawingml/2006/main">
              <a:ext uri="{FF2B5EF4-FFF2-40B4-BE49-F238E27FC236}">
                <a16:creationId xmlns:a16="http://schemas.microsoft.com/office/drawing/2014/main" id="{AC6F3F29-74F4-45AD-85B2-FABABBFA8BC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034E19E-89D3-4D70-8D16-48C1D7F55AD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79C541-ABB2-43D5-9D59-90417A95A7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1234208"/>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 문장 도구 5/8 · 핵심">
            <a:extLst xmlns:a="http://schemas.openxmlformats.org/drawingml/2006/main">
              <a:ext uri="{FF2B5EF4-FFF2-40B4-BE49-F238E27FC236}">
                <a16:creationId xmlns:a16="http://schemas.microsoft.com/office/drawing/2014/main" id="{D095882F-A451-4CB8-9B61-C9D4405400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핵심</a:t>
            </a:r>
          </a:p>
        </p:txBody>
      </p:sp>
      <p:sp>
        <p:nvSpPr>
          <p:cNvPr id="2" name="S32">
            <a:extLst xmlns:a="http://schemas.openxmlformats.org/drawingml/2006/main">
              <a:ext uri="{FF2B5EF4-FFF2-40B4-BE49-F238E27FC236}">
                <a16:creationId xmlns:a16="http://schemas.microsoft.com/office/drawing/2014/main" id="{140534AE-637F-4EE0-825A-C6EC1B20D7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564F6082-E4FC-4FFC-89C2-68824F4863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E4E1D44E-F029-4166-896F-E4530EF251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B287970-3858-41A2-8EED-BE1277118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모든 세부를 질문하지 않는다 · 결정과 무관한 허용된 작업은 계속 진행</a:t>
            </a:r>
          </a:p>
        </p:txBody>
      </p:sp>
      <p:sp>
        <p:nvSpPr>
          <p:cNvPr id="7" name="">
            <a:extLst xmlns:a="http://schemas.openxmlformats.org/drawingml/2006/main">
              <a:ext uri="{FF2B5EF4-FFF2-40B4-BE49-F238E27FC236}">
                <a16:creationId xmlns:a16="http://schemas.microsoft.com/office/drawing/2014/main" id="{E5106134-2808-4A23-AF6A-878ABB5A26D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E50D6C3-1C3A-4D5A-A6C5-056DCF90501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사람의 선택에 따라 구현이나 완료 기준이 바뀔 때">
            <a:extLst xmlns:a="http://schemas.openxmlformats.org/drawingml/2006/main">
              <a:ext uri="{FF2B5EF4-FFF2-40B4-BE49-F238E27FC236}">
                <a16:creationId xmlns:a16="http://schemas.microsoft.com/office/drawing/2014/main" id="{2E428A9B-EED8-4810-9960-45C5C0C3ABF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사람의 선택에 따라 구현이나 완료 기준이 바뀔 때</a:t>
            </a:r>
          </a:p>
        </p:txBody>
      </p:sp>
      <p:sp>
        <p:nvSpPr>
          <p:cNvPr id="10" name="">
            <a:extLst xmlns:a="http://schemas.openxmlformats.org/drawingml/2006/main">
              <a:ext uri="{FF2B5EF4-FFF2-40B4-BE49-F238E27FC236}">
                <a16:creationId xmlns:a16="http://schemas.microsoft.com/office/drawing/2014/main" id="{B554F61F-BCEC-44D7-9E21-3C5E3EC13CB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a:extLst xmlns:a="http://schemas.openxmlformats.org/drawingml/2006/main">
              <a:ext uri="{FF2B5EF4-FFF2-40B4-BE49-F238E27FC236}">
                <a16:creationId xmlns:a16="http://schemas.microsoft.com/office/drawing/2014/main" id="{B5EF7EC8-5EE4-4149-B29D-CE552E64F34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a:t>
            </a:r>
          </a:p>
        </p:txBody>
      </p:sp>
      <p:sp>
        <p:nvSpPr>
          <p:cNvPr id="12" name="">
            <a:extLst xmlns:a="http://schemas.openxmlformats.org/drawingml/2006/main">
              <a:ext uri="{FF2B5EF4-FFF2-40B4-BE49-F238E27FC236}">
                <a16:creationId xmlns:a16="http://schemas.microsoft.com/office/drawing/2014/main" id="{6B2DCC32-B9CC-4C1C-820F-3C2EC4E07D6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에서 먼저 찾아줘.&#10;정책이 없어 동작을 선택해야">
            <a:extLst xmlns:a="http://schemas.openxmlformats.org/drawingml/2006/main">
              <a:ext uri="{FF2B5EF4-FFF2-40B4-BE49-F238E27FC236}">
                <a16:creationId xmlns:a16="http://schemas.microsoft.com/office/drawing/2014/main" id="{B3C38564-AB59-4F61-A286-41130E6C7323}"/>
              </a:ext>
            </a:extLst>
          </p:cNvPr>
          <p:cNvSpPr>
            <a:spLocks xmlns:a="http://schemas.openxmlformats.org/drawingml/2006/main" noGrp="1"/>
          </p:cNvSpPr>
          <p:nvPr/>
        </p:nvSpPr>
        <p:spPr>
          <a:xfrm xmlns:a="http://schemas.openxmlformats.org/drawingml/2006/main">
            <a:off x="800100" y="2762250"/>
            <a:ext cx="68008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빈 crop 범위의 처리 정책을 조사해줘.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문서·테스트·호출부에서 먼저 찾아줘.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정책이 없어 동작을 선택해야 한다면</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선택지와 영향을 정리하고 질문해줘.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그 선택에 의존하는 수정은 답변 뒤 진행해줘.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결정과 무관한 조사는 계속해줘.</a:t>
            </a:r>
          </a:p>
        </p:txBody>
      </p:sp>
      <p:sp>
        <p:nvSpPr>
          <p:cNvPr id="14" name="자료에 답이 있으면">
            <a:extLst xmlns:a="http://schemas.openxmlformats.org/drawingml/2006/main">
              <a:ext uri="{FF2B5EF4-FFF2-40B4-BE49-F238E27FC236}">
                <a16:creationId xmlns:a16="http://schemas.microsoft.com/office/drawing/2014/main" id="{758CC73D-18E5-4FF3-84AE-509F233BF8A3}"/>
              </a:ext>
            </a:extLst>
          </p:cNvPr>
          <p:cNvSpPr>
            <a:spLocks xmlns:a="http://schemas.openxmlformats.org/drawingml/2006/main" noGrp="1"/>
          </p:cNvSpPr>
          <p:nvPr/>
        </p:nvSpPr>
        <p:spPr>
          <a:xfrm xmlns:a="http://schemas.openxmlformats.org/drawingml/2006/main">
            <a:off x="8229600" y="2257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자료에 답이 있으면</a:t>
            </a:r>
          </a:p>
        </p:txBody>
      </p:sp>
      <p:sp>
        <p:nvSpPr>
          <p:cNvPr id="15" name="">
            <a:extLst xmlns:a="http://schemas.openxmlformats.org/drawingml/2006/main">
              <a:ext uri="{FF2B5EF4-FFF2-40B4-BE49-F238E27FC236}">
                <a16:creationId xmlns:a16="http://schemas.microsoft.com/office/drawing/2014/main" id="{D75BE5CA-024C-410C-B502-5FA5DDD3BD87}"/>
              </a:ext>
            </a:extLst>
          </p:cNvPr>
          <p:cNvSpPr>
            <a:spLocks xmlns:a="http://schemas.openxmlformats.org/drawingml/2006/main" noGrp="1"/>
          </p:cNvSpPr>
          <p:nvPr/>
        </p:nvSpPr>
        <p:spPr>
          <a:xfrm xmlns:a="http://schemas.openxmlformats.org/drawingml/2006/main">
            <a:off x="8229600" y="26765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직접 조사하고&#10;근거를 보고">
            <a:extLst xmlns:a="http://schemas.openxmlformats.org/drawingml/2006/main">
              <a:ext uri="{FF2B5EF4-FFF2-40B4-BE49-F238E27FC236}">
                <a16:creationId xmlns:a16="http://schemas.microsoft.com/office/drawing/2014/main" id="{6F24D831-F98F-4401-9F5B-4F5BEF8CA421}"/>
              </a:ext>
            </a:extLst>
          </p:cNvPr>
          <p:cNvSpPr>
            <a:spLocks xmlns:a="http://schemas.openxmlformats.org/drawingml/2006/main" noGrp="1"/>
          </p:cNvSpPr>
          <p:nvPr/>
        </p:nvSpPr>
        <p:spPr>
          <a:xfrm xmlns:a="http://schemas.openxmlformats.org/drawingml/2006/main">
            <a:off x="8229600" y="27908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직접 조사하고</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근거를 보고</a:t>
            </a:r>
          </a:p>
        </p:txBody>
      </p:sp>
      <p:sp>
        <p:nvSpPr>
          <p:cNvPr id="17" name="결정이 남아 있으면">
            <a:extLst xmlns:a="http://schemas.openxmlformats.org/drawingml/2006/main">
              <a:ext uri="{FF2B5EF4-FFF2-40B4-BE49-F238E27FC236}">
                <a16:creationId xmlns:a16="http://schemas.microsoft.com/office/drawing/2014/main" id="{2C221E6B-0599-45E5-91D2-2591758DEB67}"/>
              </a:ext>
            </a:extLst>
          </p:cNvPr>
          <p:cNvSpPr>
            <a:spLocks xmlns:a="http://schemas.openxmlformats.org/drawingml/2006/main" noGrp="1"/>
          </p:cNvSpPr>
          <p:nvPr/>
        </p:nvSpPr>
        <p:spPr>
          <a:xfrm xmlns:a="http://schemas.openxmlformats.org/drawingml/2006/main">
            <a:off x="8229600" y="37433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결정이 남아 있으면</a:t>
            </a:r>
          </a:p>
        </p:txBody>
      </p:sp>
      <p:sp>
        <p:nvSpPr>
          <p:cNvPr id="18" name="">
            <a:extLst xmlns:a="http://schemas.openxmlformats.org/drawingml/2006/main">
              <a:ext uri="{FF2B5EF4-FFF2-40B4-BE49-F238E27FC236}">
                <a16:creationId xmlns:a16="http://schemas.microsoft.com/office/drawing/2014/main" id="{351F6693-1873-4BF8-A117-AD8E883E0833}"/>
              </a:ext>
            </a:extLst>
          </p:cNvPr>
          <p:cNvSpPr>
            <a:spLocks xmlns:a="http://schemas.openxmlformats.org/drawingml/2006/main" noGrp="1"/>
          </p:cNvSpPr>
          <p:nvPr/>
        </p:nvSpPr>
        <p:spPr>
          <a:xfrm xmlns:a="http://schemas.openxmlformats.org/drawingml/2006/main">
            <a:off x="8229600" y="4162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13657E73-0EA9-4311-95A8-2EDA00C279D7}"/>
              </a:ext>
            </a:extLst>
          </p:cNvPr>
          <p:cNvSpPr>
            <a:spLocks xmlns:a="http://schemas.openxmlformats.org/drawingml/2006/main" noGrp="1"/>
          </p:cNvSpPr>
          <p:nvPr/>
        </p:nvSpPr>
        <p:spPr>
          <a:xfrm xmlns:a="http://schemas.openxmlformats.org/drawingml/2006/main">
            <a:off x="8229600" y="42767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영향을 설명하고</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사람에게 질문</a:t>
            </a:r>
          </a:p>
        </p:txBody>
      </p:sp>
      <p:sp>
        <p:nvSpPr>
          <p:cNvPr id="20" name="조사할 사실은 찾게 하고, 결과를 바꾸는 결정은 묻는다.">
            <a:extLst xmlns:a="http://schemas.openxmlformats.org/drawingml/2006/main">
              <a:ext uri="{FF2B5EF4-FFF2-40B4-BE49-F238E27FC236}">
                <a16:creationId xmlns:a16="http://schemas.microsoft.com/office/drawing/2014/main" id="{DE3D80A1-9EB0-4E8A-AF8F-8A64A8A386A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조사할 사실은 찾게 하고, 결과를 바꾸는 결정은 묻는다.</a:t>
            </a:r>
          </a:p>
        </p:txBody>
      </p:sp>
      <p:sp>
        <p:nvSpPr>
          <p:cNvPr id="21" name="">
            <a:extLst xmlns:a="http://schemas.openxmlformats.org/drawingml/2006/main">
              <a:ext uri="{FF2B5EF4-FFF2-40B4-BE49-F238E27FC236}">
                <a16:creationId xmlns:a16="http://schemas.microsoft.com/office/drawing/2014/main" id="{85B17E8D-BC85-4F52-89B5-6222983E428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E1ACF3E-9ECD-40DE-8D15-C889BA7D40A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D35420B-1E5E-469D-ACAD-ED7D324263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16742802"/>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 문장 도구 6/8 · 조건부">
            <a:extLst xmlns:a="http://schemas.openxmlformats.org/drawingml/2006/main">
              <a:ext uri="{FF2B5EF4-FFF2-40B4-BE49-F238E27FC236}">
                <a16:creationId xmlns:a16="http://schemas.microsoft.com/office/drawing/2014/main" id="{5FB33F2F-1175-4823-9376-4187195B07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조건부</a:t>
            </a:r>
          </a:p>
        </p:txBody>
      </p:sp>
      <p:sp>
        <p:nvSpPr>
          <p:cNvPr id="2" name="S33">
            <a:extLst xmlns:a="http://schemas.openxmlformats.org/drawingml/2006/main">
              <a:ext uri="{FF2B5EF4-FFF2-40B4-BE49-F238E27FC236}">
                <a16:creationId xmlns:a16="http://schemas.microsoft.com/office/drawing/2014/main" id="{2E47ADF4-6ABA-40B0-A2FF-0B5881C75C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2AE42CBA-7F92-49DC-A398-2874C225D2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9A9BE9A0-950D-4852-AA2A-F20D3C3110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A4AD175-E51C-4CC9-9F90-A54D4BE046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작업 계획과 검토 지점을 요청한다 · 내부 사고 과정의 출력을 요구하지 않음</a:t>
            </a:r>
          </a:p>
        </p:txBody>
      </p:sp>
      <p:sp>
        <p:nvSpPr>
          <p:cNvPr id="7" name="">
            <a:extLst xmlns:a="http://schemas.openxmlformats.org/drawingml/2006/main">
              <a:ext uri="{FF2B5EF4-FFF2-40B4-BE49-F238E27FC236}">
                <a16:creationId xmlns:a16="http://schemas.microsoft.com/office/drawing/2014/main" id="{9B01ABC6-0974-44DD-88DE-7EAC0A2CD57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3DCEBF4-F6E1-4906-9785-8F2CA4EF86F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를 보고 구현 범위를 결정해야 할 때">
            <a:extLst xmlns:a="http://schemas.openxmlformats.org/drawingml/2006/main">
              <a:ext uri="{FF2B5EF4-FFF2-40B4-BE49-F238E27FC236}">
                <a16:creationId xmlns:a16="http://schemas.microsoft.com/office/drawing/2014/main" id="{FBC72CF1-4A14-4B59-B607-7B59D6833EA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결과를 보고 구현 범위를 결정해야 할 때</a:t>
            </a:r>
          </a:p>
        </p:txBody>
      </p:sp>
      <p:sp>
        <p:nvSpPr>
          <p:cNvPr id="10" name="">
            <a:extLst xmlns:a="http://schemas.openxmlformats.org/drawingml/2006/main">
              <a:ext uri="{FF2B5EF4-FFF2-40B4-BE49-F238E27FC236}">
                <a16:creationId xmlns:a16="http://schemas.microsoft.com/office/drawing/2014/main" id="{9F5ED5F7-DF88-47F0-BB49-C8CD57E866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a:extLst xmlns:a="http://schemas.openxmlformats.org/drawingml/2006/main">
              <a:ext uri="{FF2B5EF4-FFF2-40B4-BE49-F238E27FC236}">
                <a16:creationId xmlns:a16="http://schemas.microsoft.com/office/drawing/2014/main" id="{E4B55318-38BD-47DB-91CB-BF9F7ED1C18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a:t>
            </a:r>
          </a:p>
        </p:txBody>
      </p:sp>
      <p:sp>
        <p:nvSpPr>
          <p:cNvPr id="12" name="">
            <a:extLst xmlns:a="http://schemas.openxmlformats.org/drawingml/2006/main">
              <a:ext uri="{FF2B5EF4-FFF2-40B4-BE49-F238E27FC236}">
                <a16:creationId xmlns:a16="http://schemas.microsoft.com/office/drawing/2014/main" id="{6900CE68-D6CF-496B-BCA6-C2D5A7F3E16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OI 설정을 crop에 연결하려 한다.&#10;먼저 현재 경로와 변경 후보를 조사해줘.&#10;범위·호환성에 선택이 필요">
            <a:extLst xmlns:a="http://schemas.openxmlformats.org/drawingml/2006/main">
              <a:ext uri="{FF2B5EF4-FFF2-40B4-BE49-F238E27FC236}">
                <a16:creationId xmlns:a16="http://schemas.microsoft.com/office/drawing/2014/main" id="{572DB298-A168-4592-89EA-49790CAE6E04}"/>
              </a:ext>
            </a:extLst>
          </p:cNvPr>
          <p:cNvSpPr>
            <a:spLocks xmlns:a="http://schemas.openxmlformats.org/drawingml/2006/main" noGrp="1"/>
          </p:cNvSpPr>
          <p:nvPr/>
        </p:nvSpPr>
        <p:spPr>
          <a:xfrm xmlns:a="http://schemas.openxmlformats.org/drawingml/2006/main">
            <a:off x="800100" y="2762250"/>
            <a:ext cx="68008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ROI 설정을 crop에 연결하려 한다.</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먼저 현재 경로와 변경 후보를 조사해줘.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범위·호환성에 선택이 필요한 지점을 알려줘.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수정 없이 계획만 제안해줘.</a:t>
            </a:r>
          </a:p>
          <a:p xmlns:a="http://schemas.openxmlformats.org/drawingml/2006/main">
            <a:r>
              <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계획을 검토한 뒤 구현 범위를 정하겠다.</a:t>
            </a:r>
          </a:p>
        </p:txBody>
      </p:sp>
      <p:sp>
        <p:nvSpPr>
          <p:cNvPr id="14" name="계획을 먼저 받을 때">
            <a:extLst xmlns:a="http://schemas.openxmlformats.org/drawingml/2006/main">
              <a:ext uri="{FF2B5EF4-FFF2-40B4-BE49-F238E27FC236}">
                <a16:creationId xmlns:a16="http://schemas.microsoft.com/office/drawing/2014/main" id="{ED3001BC-A629-4982-9D30-A7869220F42E}"/>
              </a:ext>
            </a:extLst>
          </p:cNvPr>
          <p:cNvSpPr>
            <a:spLocks xmlns:a="http://schemas.openxmlformats.org/drawingml/2006/main" noGrp="1"/>
          </p:cNvSpPr>
          <p:nvPr/>
        </p:nvSpPr>
        <p:spPr>
          <a:xfrm xmlns:a="http://schemas.openxmlformats.org/drawingml/2006/main">
            <a:off x="8229600" y="2257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계획을 먼저 받을 때</a:t>
            </a:r>
          </a:p>
        </p:txBody>
      </p:sp>
      <p:sp>
        <p:nvSpPr>
          <p:cNvPr id="15" name="">
            <a:extLst xmlns:a="http://schemas.openxmlformats.org/drawingml/2006/main">
              <a:ext uri="{FF2B5EF4-FFF2-40B4-BE49-F238E27FC236}">
                <a16:creationId xmlns:a16="http://schemas.microsoft.com/office/drawing/2014/main" id="{C5A7F584-0FF7-4B3C-A0EA-CDBE908FBDE5}"/>
              </a:ext>
            </a:extLst>
          </p:cNvPr>
          <p:cNvSpPr>
            <a:spLocks xmlns:a="http://schemas.openxmlformats.org/drawingml/2006/main" noGrp="1"/>
          </p:cNvSpPr>
          <p:nvPr/>
        </p:nvSpPr>
        <p:spPr>
          <a:xfrm xmlns:a="http://schemas.openxmlformats.org/drawingml/2006/main">
            <a:off x="8229600" y="26765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 결과로&#10;구현 범위가 바뀔 때">
            <a:extLst xmlns:a="http://schemas.openxmlformats.org/drawingml/2006/main">
              <a:ext uri="{FF2B5EF4-FFF2-40B4-BE49-F238E27FC236}">
                <a16:creationId xmlns:a16="http://schemas.microsoft.com/office/drawing/2014/main" id="{8B8977E3-CC9B-42ED-9F89-62288B07E9E0}"/>
              </a:ext>
            </a:extLst>
          </p:cNvPr>
          <p:cNvSpPr>
            <a:spLocks xmlns:a="http://schemas.openxmlformats.org/drawingml/2006/main" noGrp="1"/>
          </p:cNvSpPr>
          <p:nvPr/>
        </p:nvSpPr>
        <p:spPr>
          <a:xfrm xmlns:a="http://schemas.openxmlformats.org/drawingml/2006/main">
            <a:off x="8229600" y="27908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조사 결과로</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구현 범위가 바뀔 때</a:t>
            </a:r>
          </a:p>
        </p:txBody>
      </p:sp>
      <p:sp>
        <p:nvSpPr>
          <p:cNvPr id="17" name="범위가 정해진 수정">
            <a:extLst xmlns:a="http://schemas.openxmlformats.org/drawingml/2006/main">
              <a:ext uri="{FF2B5EF4-FFF2-40B4-BE49-F238E27FC236}">
                <a16:creationId xmlns:a16="http://schemas.microsoft.com/office/drawing/2014/main" id="{9DEBFD07-1FEE-4D4F-AAA4-E80840238D52}"/>
              </a:ext>
            </a:extLst>
          </p:cNvPr>
          <p:cNvSpPr>
            <a:spLocks xmlns:a="http://schemas.openxmlformats.org/drawingml/2006/main" noGrp="1"/>
          </p:cNvSpPr>
          <p:nvPr/>
        </p:nvSpPr>
        <p:spPr>
          <a:xfrm xmlns:a="http://schemas.openxmlformats.org/drawingml/2006/main">
            <a:off x="8229600" y="37433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범위가 정해진 수정</a:t>
            </a:r>
          </a:p>
        </p:txBody>
      </p:sp>
      <p:sp>
        <p:nvSpPr>
          <p:cNvPr id="18" name="">
            <a:extLst xmlns:a="http://schemas.openxmlformats.org/drawingml/2006/main">
              <a:ext uri="{FF2B5EF4-FFF2-40B4-BE49-F238E27FC236}">
                <a16:creationId xmlns:a16="http://schemas.microsoft.com/office/drawing/2014/main" id="{A307648E-4FC4-431C-BB92-8DC9FB6D313B}"/>
              </a:ext>
            </a:extLst>
          </p:cNvPr>
          <p:cNvSpPr>
            <a:spLocks xmlns:a="http://schemas.openxmlformats.org/drawingml/2006/main" noGrp="1"/>
          </p:cNvSpPr>
          <p:nvPr/>
        </p:nvSpPr>
        <p:spPr>
          <a:xfrm xmlns:a="http://schemas.openxmlformats.org/drawingml/2006/main">
            <a:off x="8229600" y="4162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매 단계 멈추지 않고&#10;허용 범위에서 진행">
            <a:extLst xmlns:a="http://schemas.openxmlformats.org/drawingml/2006/main">
              <a:ext uri="{FF2B5EF4-FFF2-40B4-BE49-F238E27FC236}">
                <a16:creationId xmlns:a16="http://schemas.microsoft.com/office/drawing/2014/main" id="{D453AA4B-EFE1-4C52-A68E-3B7994A705CE}"/>
              </a:ext>
            </a:extLst>
          </p:cNvPr>
          <p:cNvSpPr>
            <a:spLocks xmlns:a="http://schemas.openxmlformats.org/drawingml/2006/main" noGrp="1"/>
          </p:cNvSpPr>
          <p:nvPr/>
        </p:nvSpPr>
        <p:spPr>
          <a:xfrm xmlns:a="http://schemas.openxmlformats.org/drawingml/2006/main">
            <a:off x="8229600" y="42767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매 단계 멈추지 않고</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허용 범위에서 진행</a:t>
            </a:r>
          </a:p>
        </p:txBody>
      </p:sp>
      <p:sp>
        <p:nvSpPr>
          <p:cNvPr id="20" name="중간 판단이 필요한 작업은, 구현 전에 검토할 계획을 받는다.">
            <a:extLst xmlns:a="http://schemas.openxmlformats.org/drawingml/2006/main">
              <a:ext uri="{FF2B5EF4-FFF2-40B4-BE49-F238E27FC236}">
                <a16:creationId xmlns:a16="http://schemas.microsoft.com/office/drawing/2014/main" id="{3E52594A-2276-491D-AEE3-EF94FBD2DF92}"/>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중간 판단이 필요한 작업은, 구현 전에 검토할 계획을 받는다.</a:t>
            </a:r>
          </a:p>
        </p:txBody>
      </p:sp>
      <p:sp>
        <p:nvSpPr>
          <p:cNvPr id="21" name="">
            <a:extLst xmlns:a="http://schemas.openxmlformats.org/drawingml/2006/main">
              <a:ext uri="{FF2B5EF4-FFF2-40B4-BE49-F238E27FC236}">
                <a16:creationId xmlns:a16="http://schemas.microsoft.com/office/drawing/2014/main" id="{56436C6A-79BA-467F-B419-BFD661FA490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D7E1AF3-295C-44B9-8BCC-59884930C4E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0D435BC-DF13-447F-8676-04DB25614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22774778"/>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 문장 도구 7/8 · 핵심">
            <a:extLst xmlns:a="http://schemas.openxmlformats.org/drawingml/2006/main">
              <a:ext uri="{FF2B5EF4-FFF2-40B4-BE49-F238E27FC236}">
                <a16:creationId xmlns:a16="http://schemas.microsoft.com/office/drawing/2014/main" id="{5B05FA9D-C574-468C-9917-379795508D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핵심</a:t>
            </a:r>
          </a:p>
        </p:txBody>
      </p:sp>
      <p:sp>
        <p:nvSpPr>
          <p:cNvPr id="2" name="S34">
            <a:extLst xmlns:a="http://schemas.openxmlformats.org/drawingml/2006/main">
              <a:ext uri="{FF2B5EF4-FFF2-40B4-BE49-F238E27FC236}">
                <a16:creationId xmlns:a16="http://schemas.microsoft.com/office/drawing/2014/main" id="{F989292E-309C-471C-9F86-861C3146A3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1180E5F2-672E-4B67-B1BD-9E4528E8C5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60DBB2B1-47FA-40A4-B56F-E4976E427B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E28D143-DFC4-4194-B638-2F46F75516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리뷰에도 누락이 있을 수 있다 · 실행 근거와 사람의 완료 판단을 함께 확인</a:t>
            </a:r>
          </a:p>
        </p:txBody>
      </p:sp>
      <p:sp>
        <p:nvSpPr>
          <p:cNvPr id="7" name="">
            <a:extLst xmlns:a="http://schemas.openxmlformats.org/drawingml/2006/main">
              <a:ext uri="{FF2B5EF4-FFF2-40B4-BE49-F238E27FC236}">
                <a16:creationId xmlns:a16="http://schemas.microsoft.com/office/drawing/2014/main" id="{17F26413-A4F0-4D48-9FB1-DC87461B311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2B05E96-0E72-48DC-ADFB-AC05ECFEBCE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변경안에서 놓치면 안 될 문제를 검토할 때">
            <a:extLst xmlns:a="http://schemas.openxmlformats.org/drawingml/2006/main">
              <a:ext uri="{FF2B5EF4-FFF2-40B4-BE49-F238E27FC236}">
                <a16:creationId xmlns:a16="http://schemas.microsoft.com/office/drawing/2014/main" id="{9304817A-8A97-43EF-B1A1-9C36DB5D2C3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변경안에서 놓치면 안 될 문제를 검토할 때</a:t>
            </a:r>
          </a:p>
        </p:txBody>
      </p:sp>
      <p:sp>
        <p:nvSpPr>
          <p:cNvPr id="10" name="">
            <a:extLst xmlns:a="http://schemas.openxmlformats.org/drawingml/2006/main">
              <a:ext uri="{FF2B5EF4-FFF2-40B4-BE49-F238E27FC236}">
                <a16:creationId xmlns:a16="http://schemas.microsoft.com/office/drawing/2014/main" id="{6A0A99CC-77EE-4D5D-BC6F-9648C8A031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a:extLst xmlns:a="http://schemas.openxmlformats.org/drawingml/2006/main">
              <a:ext uri="{FF2B5EF4-FFF2-40B4-BE49-F238E27FC236}">
                <a16:creationId xmlns:a16="http://schemas.microsoft.com/office/drawing/2014/main" id="{637992DE-83C3-4806-AFD3-ED84FA6563F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a:t>
            </a:r>
          </a:p>
        </p:txBody>
      </p:sp>
      <p:sp>
        <p:nvSpPr>
          <p:cNvPr id="12" name="">
            <a:extLst xmlns:a="http://schemas.openxmlformats.org/drawingml/2006/main">
              <a:ext uri="{FF2B5EF4-FFF2-40B4-BE49-F238E27FC236}">
                <a16:creationId xmlns:a16="http://schemas.microsoft.com/office/drawing/2014/main" id="{55338289-4612-46FE-9C27-638E8AAE5C4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에서 다음을 검토해줘.&#10;끝 좌표 제외 명세·공개 API·오류 정책 보존&#10;요청과 무관한 변경 여">
            <a:extLst xmlns:a="http://schemas.openxmlformats.org/drawingml/2006/main">
              <a:ext uri="{FF2B5EF4-FFF2-40B4-BE49-F238E27FC236}">
                <a16:creationId xmlns:a16="http://schemas.microsoft.com/office/drawing/2014/main" id="{8CADDC05-88AB-4D7B-8716-776CD0B6A18A}"/>
              </a:ext>
            </a:extLst>
          </p:cNvPr>
          <p:cNvSpPr>
            <a:spLocks xmlns:a="http://schemas.openxmlformats.org/drawingml/2006/main" noGrp="1"/>
          </p:cNvSpPr>
          <p:nvPr/>
        </p:nvSpPr>
        <p:spPr>
          <a:xfrm xmlns:a="http://schemas.openxmlformats.org/drawingml/2006/main">
            <a:off x="800100" y="2762250"/>
            <a:ext cx="68008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변경안에서 다음을 검토해줘.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끝 좌표 제외 명세·공개 API·오류 정책 보존</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요청과 무관한 변경 여부</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발견 사항은 위치·실패 조건·영향으로 보고해줘.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정적 검토와 실제 실행한 검사를 구분해줘.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코드를 바꾸지 마.</a:t>
            </a:r>
          </a:p>
        </p:txBody>
      </p:sp>
      <p:sp>
        <p:nvSpPr>
          <p:cNvPr id="14" name="찾을 문제를 지정">
            <a:extLst xmlns:a="http://schemas.openxmlformats.org/drawingml/2006/main">
              <a:ext uri="{FF2B5EF4-FFF2-40B4-BE49-F238E27FC236}">
                <a16:creationId xmlns:a16="http://schemas.microsoft.com/office/drawing/2014/main" id="{3D37F9F3-BE99-4C37-996C-153E516A4FF5}"/>
              </a:ext>
            </a:extLst>
          </p:cNvPr>
          <p:cNvSpPr>
            <a:spLocks xmlns:a="http://schemas.openxmlformats.org/drawingml/2006/main" noGrp="1"/>
          </p:cNvSpPr>
          <p:nvPr/>
        </p:nvSpPr>
        <p:spPr>
          <a:xfrm xmlns:a="http://schemas.openxmlformats.org/drawingml/2006/main">
            <a:off x="8229600" y="2257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찾을 문제를 지정</a:t>
            </a:r>
          </a:p>
        </p:txBody>
      </p:sp>
      <p:sp>
        <p:nvSpPr>
          <p:cNvPr id="15" name="">
            <a:extLst xmlns:a="http://schemas.openxmlformats.org/drawingml/2006/main">
              <a:ext uri="{FF2B5EF4-FFF2-40B4-BE49-F238E27FC236}">
                <a16:creationId xmlns:a16="http://schemas.microsoft.com/office/drawing/2014/main" id="{2488CFBD-2BA8-401B-9463-13AB84196B37}"/>
              </a:ext>
            </a:extLst>
          </p:cNvPr>
          <p:cNvSpPr>
            <a:spLocks xmlns:a="http://schemas.openxmlformats.org/drawingml/2006/main" noGrp="1"/>
          </p:cNvSpPr>
          <p:nvPr/>
        </p:nvSpPr>
        <p:spPr>
          <a:xfrm xmlns:a="http://schemas.openxmlformats.org/drawingml/2006/main">
            <a:off x="8229600" y="26765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명세 위반과&#10;허용 범위 밖 변경">
            <a:extLst xmlns:a="http://schemas.openxmlformats.org/drawingml/2006/main">
              <a:ext uri="{FF2B5EF4-FFF2-40B4-BE49-F238E27FC236}">
                <a16:creationId xmlns:a16="http://schemas.microsoft.com/office/drawing/2014/main" id="{E2617C06-7954-4B7C-8990-05F2FA6A2FF9}"/>
              </a:ext>
            </a:extLst>
          </p:cNvPr>
          <p:cNvSpPr>
            <a:spLocks xmlns:a="http://schemas.openxmlformats.org/drawingml/2006/main" noGrp="1"/>
          </p:cNvSpPr>
          <p:nvPr/>
        </p:nvSpPr>
        <p:spPr>
          <a:xfrm xmlns:a="http://schemas.openxmlformats.org/drawingml/2006/main">
            <a:off x="8229600" y="27908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명세 위반과</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허용 범위 밖 변경</a:t>
            </a:r>
          </a:p>
        </p:txBody>
      </p:sp>
      <p:sp>
        <p:nvSpPr>
          <p:cNvPr id="17" name="검증의 범위">
            <a:extLst xmlns:a="http://schemas.openxmlformats.org/drawingml/2006/main">
              <a:ext uri="{FF2B5EF4-FFF2-40B4-BE49-F238E27FC236}">
                <a16:creationId xmlns:a16="http://schemas.microsoft.com/office/drawing/2014/main" id="{D2E4AFD9-4916-4599-8078-E9DFEE10D0D9}"/>
              </a:ext>
            </a:extLst>
          </p:cNvPr>
          <p:cNvSpPr>
            <a:spLocks xmlns:a="http://schemas.openxmlformats.org/drawingml/2006/main" noGrp="1"/>
          </p:cNvSpPr>
          <p:nvPr/>
        </p:nvSpPr>
        <p:spPr>
          <a:xfrm xmlns:a="http://schemas.openxmlformats.org/drawingml/2006/main">
            <a:off x="8229600" y="37433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검증의 범위</a:t>
            </a:r>
          </a:p>
        </p:txBody>
      </p:sp>
      <p:sp>
        <p:nvSpPr>
          <p:cNvPr id="18" name="">
            <a:extLst xmlns:a="http://schemas.openxmlformats.org/drawingml/2006/main">
              <a:ext uri="{FF2B5EF4-FFF2-40B4-BE49-F238E27FC236}">
                <a16:creationId xmlns:a16="http://schemas.microsoft.com/office/drawing/2014/main" id="{957E8194-BE70-47B6-84BD-1FCD69C10B8C}"/>
              </a:ext>
            </a:extLst>
          </p:cNvPr>
          <p:cNvSpPr>
            <a:spLocks xmlns:a="http://schemas.openxmlformats.org/drawingml/2006/main" noGrp="1"/>
          </p:cNvSpPr>
          <p:nvPr/>
        </p:nvSpPr>
        <p:spPr>
          <a:xfrm xmlns:a="http://schemas.openxmlformats.org/drawingml/2006/main">
            <a:off x="8229600" y="4162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의 영향에 맞게&#10;필요한 검사 선택">
            <a:extLst xmlns:a="http://schemas.openxmlformats.org/drawingml/2006/main">
              <a:ext uri="{FF2B5EF4-FFF2-40B4-BE49-F238E27FC236}">
                <a16:creationId xmlns:a16="http://schemas.microsoft.com/office/drawing/2014/main" id="{17CC8A78-E528-4E46-BDE0-59274D3CC586}"/>
              </a:ext>
            </a:extLst>
          </p:cNvPr>
          <p:cNvSpPr>
            <a:spLocks xmlns:a="http://schemas.openxmlformats.org/drawingml/2006/main" noGrp="1"/>
          </p:cNvSpPr>
          <p:nvPr/>
        </p:nvSpPr>
        <p:spPr>
          <a:xfrm xmlns:a="http://schemas.openxmlformats.org/drawingml/2006/main">
            <a:off x="8229600" y="42767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변경의 영향에 맞게</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필요한 검사 선택</a:t>
            </a:r>
          </a:p>
        </p:txBody>
      </p:sp>
      <p:sp>
        <p:nvSpPr>
          <p:cNvPr id="20" name="검토 기준과 실패 조건을 지정하고, 실제 검사와 구분한다.">
            <a:extLst xmlns:a="http://schemas.openxmlformats.org/drawingml/2006/main">
              <a:ext uri="{FF2B5EF4-FFF2-40B4-BE49-F238E27FC236}">
                <a16:creationId xmlns:a16="http://schemas.microsoft.com/office/drawing/2014/main" id="{91BE2369-AB47-4241-9D7E-9631FB1AA766}"/>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기준과 실패 조건을 지정하고, 실제 검사와 구분한다.</a:t>
            </a:r>
          </a:p>
        </p:txBody>
      </p:sp>
      <p:sp>
        <p:nvSpPr>
          <p:cNvPr id="21" name="">
            <a:extLst xmlns:a="http://schemas.openxmlformats.org/drawingml/2006/main">
              <a:ext uri="{FF2B5EF4-FFF2-40B4-BE49-F238E27FC236}">
                <a16:creationId xmlns:a16="http://schemas.microsoft.com/office/drawing/2014/main" id="{EAB723CD-F9D2-4677-B002-1621F85E6D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76B246A-2DFB-42E6-BFB7-36342880F7E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C05EE027-0803-445E-A893-AE6934007C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048442"/>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 문장 도구 8/8 · 핵심">
            <a:extLst xmlns:a="http://schemas.openxmlformats.org/drawingml/2006/main">
              <a:ext uri="{FF2B5EF4-FFF2-40B4-BE49-F238E27FC236}">
                <a16:creationId xmlns:a16="http://schemas.microsoft.com/office/drawing/2014/main" id="{2942CC36-209D-4259-B294-E553270A24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핵심</a:t>
            </a:r>
          </a:p>
        </p:txBody>
      </p:sp>
      <p:sp>
        <p:nvSpPr>
          <p:cNvPr id="2" name="S35">
            <a:extLst xmlns:a="http://schemas.openxmlformats.org/drawingml/2006/main">
              <a:ext uri="{FF2B5EF4-FFF2-40B4-BE49-F238E27FC236}">
                <a16:creationId xmlns:a16="http://schemas.microsoft.com/office/drawing/2014/main" id="{F3579F80-40C8-4C67-BB0F-A16894D795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BB072B70-7754-4F5E-8987-A4599F8C6E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74BD6734-55EA-4A42-B27A-97D2405396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6636EF4-DBBB-4040-9800-21D60211F5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앞선 제안은 가상 예시 · 반복 요청만으로 품질 향상을 보장하지 않음</a:t>
            </a:r>
          </a:p>
        </p:txBody>
      </p:sp>
      <p:sp>
        <p:nvSpPr>
          <p:cNvPr id="7" name="">
            <a:extLst xmlns:a="http://schemas.openxmlformats.org/drawingml/2006/main">
              <a:ext uri="{FF2B5EF4-FFF2-40B4-BE49-F238E27FC236}">
                <a16:creationId xmlns:a16="http://schemas.microsoft.com/office/drawing/2014/main" id="{0E9CB519-FBDC-448D-816F-5E30E319134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79D0193-B609-4454-B6A6-335AF99C2DA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어떤 부분이 요구와 다른지 알 때">
            <a:extLst xmlns:a="http://schemas.openxmlformats.org/drawingml/2006/main">
              <a:ext uri="{FF2B5EF4-FFF2-40B4-BE49-F238E27FC236}">
                <a16:creationId xmlns:a16="http://schemas.microsoft.com/office/drawing/2014/main" id="{5C23E93E-BBAA-4DB6-AF23-B566DBCBCB2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어떤 부분이 요구와 다른지 알 때</a:t>
            </a:r>
          </a:p>
        </p:txBody>
      </p:sp>
      <p:sp>
        <p:nvSpPr>
          <p:cNvPr id="10" name="">
            <a:extLst xmlns:a="http://schemas.openxmlformats.org/drawingml/2006/main">
              <a:ext uri="{FF2B5EF4-FFF2-40B4-BE49-F238E27FC236}">
                <a16:creationId xmlns:a16="http://schemas.microsoft.com/office/drawing/2014/main" id="{C17495D9-C2A2-4785-A1D6-389FE9FFA9F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a:extLst xmlns:a="http://schemas.openxmlformats.org/drawingml/2006/main">
              <a:ext uri="{FF2B5EF4-FFF2-40B4-BE49-F238E27FC236}">
                <a16:creationId xmlns:a16="http://schemas.microsoft.com/office/drawing/2014/main" id="{E769F25F-52A0-4152-AED5-BF4F017AFAD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a:t>
            </a:r>
          </a:p>
        </p:txBody>
      </p:sp>
      <p:sp>
        <p:nvSpPr>
          <p:cNvPr id="12" name="">
            <a:extLst xmlns:a="http://schemas.openxmlformats.org/drawingml/2006/main">
              <a:ext uri="{FF2B5EF4-FFF2-40B4-BE49-F238E27FC236}">
                <a16:creationId xmlns:a16="http://schemas.microsoft.com/office/drawing/2014/main" id="{B75D2ABF-3269-4E7F-AF50-AA132E365F2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기대 폭을 3으로 바꾸자”는 제안을&#10;고쳐줘. 명세는 crop [1,3)에서 폭 2야.&#10;테스트 기대값은">
            <a:extLst xmlns:a="http://schemas.openxmlformats.org/drawingml/2006/main">
              <a:ext uri="{FF2B5EF4-FFF2-40B4-BE49-F238E27FC236}">
                <a16:creationId xmlns:a16="http://schemas.microsoft.com/office/drawing/2014/main" id="{9B5AAC7A-408F-46F4-8D8B-C3FC0496A4EC}"/>
              </a:ext>
            </a:extLst>
          </p:cNvPr>
          <p:cNvSpPr>
            <a:spLocks xmlns:a="http://schemas.openxmlformats.org/drawingml/2006/main" noGrp="1"/>
          </p:cNvSpPr>
          <p:nvPr/>
        </p:nvSpPr>
        <p:spPr>
          <a:xfrm xmlns:a="http://schemas.openxmlformats.org/drawingml/2006/main">
            <a:off x="800100" y="2762250"/>
            <a:ext cx="68008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앞선 “기대 폭을 3으로 바꾸자”는 제안을</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고쳐줘. 명세는 crop [1,3)에서 폭 2야.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테스트 기대값은 유지하고</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구현의 끝 좌표 처리만 다시 검토해줘.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기존 API·의존성은 유지해줘.</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바뀐 제안과 미확인 사항을 알려줘.</a:t>
            </a:r>
          </a:p>
        </p:txBody>
      </p:sp>
      <p:sp>
        <p:nvSpPr>
          <p:cNvPr id="14" name="피드백에 담을 것">
            <a:extLst xmlns:a="http://schemas.openxmlformats.org/drawingml/2006/main">
              <a:ext uri="{FF2B5EF4-FFF2-40B4-BE49-F238E27FC236}">
                <a16:creationId xmlns:a16="http://schemas.microsoft.com/office/drawing/2014/main" id="{F1BA9A9A-3E25-4EA2-8B13-CC05981BB00D}"/>
              </a:ext>
            </a:extLst>
          </p:cNvPr>
          <p:cNvSpPr>
            <a:spLocks xmlns:a="http://schemas.openxmlformats.org/drawingml/2006/main" noGrp="1"/>
          </p:cNvSpPr>
          <p:nvPr/>
        </p:nvSpPr>
        <p:spPr>
          <a:xfrm xmlns:a="http://schemas.openxmlformats.org/drawingml/2006/main">
            <a:off x="8229600" y="2257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170EE251-3F59-4CCF-88BC-D49ABB3D852B}"/>
              </a:ext>
            </a:extLst>
          </p:cNvPr>
          <p:cNvSpPr>
            <a:spLocks xmlns:a="http://schemas.openxmlformats.org/drawingml/2006/main" noGrp="1"/>
          </p:cNvSpPr>
          <p:nvPr/>
        </p:nvSpPr>
        <p:spPr>
          <a:xfrm xmlns:a="http://schemas.openxmlformats.org/drawingml/2006/main">
            <a:off x="8229600" y="26765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어긋난 지점과&#10;판단의 근거">
            <a:extLst xmlns:a="http://schemas.openxmlformats.org/drawingml/2006/main">
              <a:ext uri="{FF2B5EF4-FFF2-40B4-BE49-F238E27FC236}">
                <a16:creationId xmlns:a16="http://schemas.microsoft.com/office/drawing/2014/main" id="{B706D834-7C18-4E02-8D5C-C7406BA2AB2D}"/>
              </a:ext>
            </a:extLst>
          </p:cNvPr>
          <p:cNvSpPr>
            <a:spLocks xmlns:a="http://schemas.openxmlformats.org/drawingml/2006/main" noGrp="1"/>
          </p:cNvSpPr>
          <p:nvPr/>
        </p:nvSpPr>
        <p:spPr>
          <a:xfrm xmlns:a="http://schemas.openxmlformats.org/drawingml/2006/main">
            <a:off x="8229600" y="27908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어긋난 지점과</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판단의 근거</a:t>
            </a:r>
          </a:p>
        </p:txBody>
      </p:sp>
      <p:sp>
        <p:nvSpPr>
          <p:cNvPr id="17" name="수정 범위도 지정">
            <a:extLst xmlns:a="http://schemas.openxmlformats.org/drawingml/2006/main">
              <a:ext uri="{FF2B5EF4-FFF2-40B4-BE49-F238E27FC236}">
                <a16:creationId xmlns:a16="http://schemas.microsoft.com/office/drawing/2014/main" id="{2BD15797-E0D3-409F-A461-48DA27FB8480}"/>
              </a:ext>
            </a:extLst>
          </p:cNvPr>
          <p:cNvSpPr>
            <a:spLocks xmlns:a="http://schemas.openxmlformats.org/drawingml/2006/main" noGrp="1"/>
          </p:cNvSpPr>
          <p:nvPr/>
        </p:nvSpPr>
        <p:spPr>
          <a:xfrm xmlns:a="http://schemas.openxmlformats.org/drawingml/2006/main">
            <a:off x="8229600" y="37433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수정 범위도 지정</a:t>
            </a:r>
          </a:p>
        </p:txBody>
      </p:sp>
      <p:sp>
        <p:nvSpPr>
          <p:cNvPr id="18" name="">
            <a:extLst xmlns:a="http://schemas.openxmlformats.org/drawingml/2006/main">
              <a:ext uri="{FF2B5EF4-FFF2-40B4-BE49-F238E27FC236}">
                <a16:creationId xmlns:a16="http://schemas.microsoft.com/office/drawing/2014/main" id="{151692A6-AB5B-4C71-9866-9FFA9D4B7396}"/>
              </a:ext>
            </a:extLst>
          </p:cNvPr>
          <p:cNvSpPr>
            <a:spLocks xmlns:a="http://schemas.openxmlformats.org/drawingml/2006/main" noGrp="1"/>
          </p:cNvSpPr>
          <p:nvPr/>
        </p:nvSpPr>
        <p:spPr>
          <a:xfrm xmlns:a="http://schemas.openxmlformats.org/drawingml/2006/main">
            <a:off x="8229600" y="4162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바꿀 부분과&#10;유지할 조건">
            <a:extLst xmlns:a="http://schemas.openxmlformats.org/drawingml/2006/main">
              <a:ext uri="{FF2B5EF4-FFF2-40B4-BE49-F238E27FC236}">
                <a16:creationId xmlns:a16="http://schemas.microsoft.com/office/drawing/2014/main" id="{58CA7D64-2EFC-4225-87B8-BC42F75576D5}"/>
              </a:ext>
            </a:extLst>
          </p:cNvPr>
          <p:cNvSpPr>
            <a:spLocks xmlns:a="http://schemas.openxmlformats.org/drawingml/2006/main" noGrp="1"/>
          </p:cNvSpPr>
          <p:nvPr/>
        </p:nvSpPr>
        <p:spPr>
          <a:xfrm xmlns:a="http://schemas.openxmlformats.org/drawingml/2006/main">
            <a:off x="8229600" y="42767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바꿀 부분과</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유지할 조건</a:t>
            </a:r>
          </a:p>
        </p:txBody>
      </p:sp>
      <p:sp>
        <p:nvSpPr>
          <p:cNvPr id="20" name="어긋난 지점·기대 결과·유지할 조건으로 방향을 고친다.">
            <a:extLst xmlns:a="http://schemas.openxmlformats.org/drawingml/2006/main">
              <a:ext uri="{FF2B5EF4-FFF2-40B4-BE49-F238E27FC236}">
                <a16:creationId xmlns:a16="http://schemas.microsoft.com/office/drawing/2014/main" id="{BFE91D1B-66B1-4ECE-B710-1E5019FA9A4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어긋난 지점·기대 결과·유지할 조건으로 방향을 고친다.</a:t>
            </a:r>
          </a:p>
        </p:txBody>
      </p:sp>
      <p:sp>
        <p:nvSpPr>
          <p:cNvPr id="21" name="">
            <a:extLst xmlns:a="http://schemas.openxmlformats.org/drawingml/2006/main">
              <a:ext uri="{FF2B5EF4-FFF2-40B4-BE49-F238E27FC236}">
                <a16:creationId xmlns:a16="http://schemas.microsoft.com/office/drawing/2014/main" id="{1D48F0F7-72DE-4326-922E-9483F9FD148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94DFEAF-8018-4092-8670-6BB843CD888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474F13-CF8F-453F-8C05-92DD6E513A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56257100"/>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다음 작업에도 필요한 정보">
            <a:extLst xmlns:a="http://schemas.openxmlformats.org/drawingml/2006/main">
              <a:ext uri="{FF2B5EF4-FFF2-40B4-BE49-F238E27FC236}">
                <a16:creationId xmlns:a16="http://schemas.microsoft.com/office/drawing/2014/main" id="{BF91D67D-B24C-4EF6-A4CE-11B0C3E9B4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6">
            <a:extLst xmlns:a="http://schemas.openxmlformats.org/drawingml/2006/main">
              <a:ext uri="{FF2B5EF4-FFF2-40B4-BE49-F238E27FC236}">
                <a16:creationId xmlns:a16="http://schemas.microsoft.com/office/drawing/2014/main" id="{2BC4F1FC-4C5B-4034-8C22-0AA9821CC4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다음 작업에도 이 내용을 다시 적어야 할까?">
            <a:extLst xmlns:a="http://schemas.openxmlformats.org/drawingml/2006/main">
              <a:ext uri="{FF2B5EF4-FFF2-40B4-BE49-F238E27FC236}">
                <a16:creationId xmlns:a16="http://schemas.microsoft.com/office/drawing/2014/main" id="{FC2F10CE-037A-4B7E-81F0-D709E541E1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작업에도 이 내용을 다시 적어야 할까?</a:t>
            </a:r>
          </a:p>
        </p:txBody>
      </p:sp>
      <p:sp>
        <p:nvSpPr>
          <p:cNvPr id="4" name="">
            <a:extLst xmlns:a="http://schemas.openxmlformats.org/drawingml/2006/main">
              <a:ext uri="{FF2B5EF4-FFF2-40B4-BE49-F238E27FC236}">
                <a16:creationId xmlns:a16="http://schemas.microsoft.com/office/drawing/2014/main" id="{17645D68-DF59-4937-9D80-0913DB0EE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예시 · 실제 TRIAL-002 입력이나 수행 결과가 아님">
            <a:extLst xmlns:a="http://schemas.openxmlformats.org/drawingml/2006/main">
              <a:ext uri="{FF2B5EF4-FFF2-40B4-BE49-F238E27FC236}">
                <a16:creationId xmlns:a16="http://schemas.microsoft.com/office/drawing/2014/main" id="{E2E12353-CDA8-4722-B84A-E51AFB7827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요청 예시 · 실제 TRIAL-002 입력이나 수행 결과가 아님</a:t>
            </a:r>
          </a:p>
        </p:txBody>
      </p:sp>
      <p:sp>
        <p:nvSpPr>
          <p:cNvPr id="6" name="M 연계 · M2">
            <a:extLst xmlns:a="http://schemas.openxmlformats.org/drawingml/2006/main">
              <a:ext uri="{FF2B5EF4-FFF2-40B4-BE49-F238E27FC236}">
                <a16:creationId xmlns:a16="http://schemas.microsoft.com/office/drawing/2014/main" id="{5F864EAA-F844-455F-90CF-63C4CD6750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3C015A55-4223-4AE5-87AC-4C5B9520D3C6}"/>
              </a:ext>
            </a:extLst>
          </p:cNvPr>
          <p:cNvSpPr>
            <a:spLocks xmlns:a="http://schemas.openxmlformats.org/drawingml/2006/main" noGrp="1"/>
          </p:cNvSpPr>
          <p:nvPr/>
        </p:nvSpPr>
        <p:spPr>
          <a:xfrm xmlns:a="http://schemas.openxmlformats.org/drawingml/2006/main">
            <a:off x="609600" y="1885950"/>
            <a:ext cx="1097280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 교육용 예시">
            <a:extLst xmlns:a="http://schemas.openxmlformats.org/drawingml/2006/main">
              <a:ext uri="{FF2B5EF4-FFF2-40B4-BE49-F238E27FC236}">
                <a16:creationId xmlns:a16="http://schemas.microsoft.com/office/drawing/2014/main" id="{604E93C8-F017-42FE-9CF5-4A624CE45136}"/>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 · 교육용 예시</a:t>
            </a:r>
          </a:p>
        </p:txBody>
      </p:sp>
      <p:sp>
        <p:nvSpPr>
          <p:cNvPr id="9" name="">
            <a:extLst xmlns:a="http://schemas.openxmlformats.org/drawingml/2006/main">
              <a:ext uri="{FF2B5EF4-FFF2-40B4-BE49-F238E27FC236}">
                <a16:creationId xmlns:a16="http://schemas.microsoft.com/office/drawing/2014/main" id="{DC459E79-F839-496B-A91B-DB7FB4C20C5C}"/>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B7BA108A-5999-428A-A6C5-CA9976E3E324}"/>
              </a:ext>
            </a:extLst>
          </p:cNvPr>
          <p:cNvSpPr>
            <a:spLocks xmlns:a="http://schemas.openxmlformats.org/drawingml/2006/main" noGrp="1"/>
          </p:cNvSpPr>
          <p:nvPr/>
        </p:nvSpPr>
        <p:spPr>
          <a:xfrm xmlns:a="http://schemas.openxmlformats.org/drawingml/2006/main">
            <a:off x="838200" y="26098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crop 경계 오류를 고쳐줘.</a:t>
            </a:r>
          </a:p>
        </p:txBody>
      </p:sp>
      <p:sp>
        <p:nvSpPr>
          <p:cNvPr id="11" name="기존 공개 API는 유지해.">
            <a:extLst xmlns:a="http://schemas.openxmlformats.org/drawingml/2006/main">
              <a:ext uri="{FF2B5EF4-FFF2-40B4-BE49-F238E27FC236}">
                <a16:creationId xmlns:a16="http://schemas.microsoft.com/office/drawing/2014/main" id="{02EF7DD0-F1CA-45CF-970F-3A0C243E4342}"/>
              </a:ext>
            </a:extLst>
          </p:cNvPr>
          <p:cNvSpPr>
            <a:spLocks xmlns:a="http://schemas.openxmlformats.org/drawingml/2006/main" noGrp="1"/>
          </p:cNvSpPr>
          <p:nvPr/>
        </p:nvSpPr>
        <p:spPr>
          <a:xfrm xmlns:a="http://schemas.openxmlformats.org/drawingml/2006/main">
            <a:off x="838200" y="31051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기존 공개 API는 유지해.</a:t>
            </a:r>
          </a:p>
        </p:txBody>
      </p:sp>
      <p:sp>
        <p:nvSpPr>
          <p:cNvPr id="12" name="프로젝트에 정해진 테스트 명령으로 확인해.">
            <a:extLst xmlns:a="http://schemas.openxmlformats.org/drawingml/2006/main">
              <a:ext uri="{FF2B5EF4-FFF2-40B4-BE49-F238E27FC236}">
                <a16:creationId xmlns:a16="http://schemas.microsoft.com/office/drawing/2014/main" id="{DBBD974C-B943-41F1-B4E7-85DDBC34D09E}"/>
              </a:ext>
            </a:extLst>
          </p:cNvPr>
          <p:cNvSpPr>
            <a:spLocks xmlns:a="http://schemas.openxmlformats.org/drawingml/2006/main" noGrp="1"/>
          </p:cNvSpPr>
          <p:nvPr/>
        </p:nvSpPr>
        <p:spPr>
          <a:xfrm xmlns:a="http://schemas.openxmlformats.org/drawingml/2006/main">
            <a:off x="838200" y="36004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프로젝트에 정해진 테스트 명령으로 확인해.</a:t>
            </a:r>
          </a:p>
        </p:txBody>
      </p:sp>
      <p:sp>
        <p:nvSpPr>
          <p:cNvPr id="13" name="작업이 바뀌어도 다시 말하게 될 문장은?">
            <a:extLst xmlns:a="http://schemas.openxmlformats.org/drawingml/2006/main">
              <a:ext uri="{FF2B5EF4-FFF2-40B4-BE49-F238E27FC236}">
                <a16:creationId xmlns:a16="http://schemas.microsoft.com/office/drawing/2014/main" id="{36407025-2CD1-4E20-9DB1-759F49BF5E69}"/>
              </a:ext>
            </a:extLst>
          </p:cNvPr>
          <p:cNvSpPr>
            <a:spLocks xmlns:a="http://schemas.openxmlformats.org/drawingml/2006/main" noGrp="1"/>
          </p:cNvSpPr>
          <p:nvPr/>
        </p:nvSpPr>
        <p:spPr>
          <a:xfrm xmlns:a="http://schemas.openxmlformats.org/drawingml/2006/main">
            <a:off x="609600" y="48291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작업이 바뀌어도 다시 말하게 될 문장은?</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다음 작업에도 필요한 정보">
            <a:extLst xmlns:a="http://schemas.openxmlformats.org/drawingml/2006/main">
              <a:ext uri="{FF2B5EF4-FFF2-40B4-BE49-F238E27FC236}">
                <a16:creationId xmlns:a16="http://schemas.microsoft.com/office/drawing/2014/main" id="{2CEE96A3-7967-4E64-A702-B299987215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7">
            <a:extLst xmlns:a="http://schemas.openxmlformats.org/drawingml/2006/main">
              <a:ext uri="{FF2B5EF4-FFF2-40B4-BE49-F238E27FC236}">
                <a16:creationId xmlns:a16="http://schemas.microsoft.com/office/drawing/2014/main" id="{96B057E4-68D6-461C-95ED-385C0355CC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작업마다 바뀌는 목표, 계속 쓰는 기준">
            <a:extLst xmlns:a="http://schemas.openxmlformats.org/drawingml/2006/main">
              <a:ext uri="{FF2B5EF4-FFF2-40B4-BE49-F238E27FC236}">
                <a16:creationId xmlns:a16="http://schemas.microsoft.com/office/drawing/2014/main" id="{F58A74CE-DF15-4FCB-B826-FDCEFC5443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작업마다 바뀌는 목표, 계속 쓰는 기준</a:t>
            </a:r>
          </a:p>
        </p:txBody>
      </p:sp>
      <p:sp>
        <p:nvSpPr>
          <p:cNvPr id="4" name="">
            <a:extLst xmlns:a="http://schemas.openxmlformats.org/drawingml/2006/main">
              <a:ext uri="{FF2B5EF4-FFF2-40B4-BE49-F238E27FC236}">
                <a16:creationId xmlns:a16="http://schemas.microsoft.com/office/drawing/2014/main" id="{E12A1E39-8CE9-4932-8B3C-37A7900FC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리 예시 · 계속 적용할지는 프로젝트의 합의와 조건을 확인한다">
            <a:extLst xmlns:a="http://schemas.openxmlformats.org/drawingml/2006/main">
              <a:ext uri="{FF2B5EF4-FFF2-40B4-BE49-F238E27FC236}">
                <a16:creationId xmlns:a16="http://schemas.microsoft.com/office/drawing/2014/main" id="{9E7E36AE-D6ED-46DD-861C-331F5CE341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분리 예시 · 계속 적용할지는 프로젝트의 합의와 조건을 확인한다</a:t>
            </a:r>
          </a:p>
        </p:txBody>
      </p:sp>
      <p:sp>
        <p:nvSpPr>
          <p:cNvPr id="6" name="M 연계 · M2">
            <a:extLst xmlns:a="http://schemas.openxmlformats.org/drawingml/2006/main">
              <a:ext uri="{FF2B5EF4-FFF2-40B4-BE49-F238E27FC236}">
                <a16:creationId xmlns:a16="http://schemas.microsoft.com/office/drawing/2014/main" id="{2B83EC11-A618-4D54-A832-A0585AF6ED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2CC532FF-1F4B-44C1-8B03-E193EFFA7A37}"/>
              </a:ext>
            </a:extLst>
          </p:cNvPr>
          <p:cNvSpPr>
            <a:spLocks xmlns:a="http://schemas.openxmlformats.org/drawingml/2006/main" noGrp="1"/>
          </p:cNvSpPr>
          <p:nvPr/>
        </p:nvSpPr>
        <p:spPr>
          <a:xfrm xmlns:a="http://schemas.openxmlformats.org/drawingml/2006/main">
            <a:off x="609600" y="1885950"/>
            <a:ext cx="7296150" cy="30289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앞 장과 같은 요청 · 교육용 예시">
            <a:extLst xmlns:a="http://schemas.openxmlformats.org/drawingml/2006/main">
              <a:ext uri="{FF2B5EF4-FFF2-40B4-BE49-F238E27FC236}">
                <a16:creationId xmlns:a16="http://schemas.microsoft.com/office/drawing/2014/main" id="{EBF154D2-8AF5-4D99-A2D2-6E2BCE069283}"/>
              </a:ext>
            </a:extLst>
          </p:cNvPr>
          <p:cNvSpPr>
            <a:spLocks xmlns:a="http://schemas.openxmlformats.org/drawingml/2006/main" noGrp="1"/>
          </p:cNvSpPr>
          <p:nvPr/>
        </p:nvSpPr>
        <p:spPr>
          <a:xfrm xmlns:a="http://schemas.openxmlformats.org/drawingml/2006/main">
            <a:off x="838200" y="2000250"/>
            <a:ext cx="6838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 장과 같은 요청 · 교육용 예시</a:t>
            </a:r>
          </a:p>
        </p:txBody>
      </p:sp>
      <p:sp>
        <p:nvSpPr>
          <p:cNvPr id="9" name="">
            <a:extLst xmlns:a="http://schemas.openxmlformats.org/drawingml/2006/main">
              <a:ext uri="{FF2B5EF4-FFF2-40B4-BE49-F238E27FC236}">
                <a16:creationId xmlns:a16="http://schemas.microsoft.com/office/drawing/2014/main" id="{EED0E040-E4DB-40EB-80BD-8B096EDF3BED}"/>
              </a:ext>
            </a:extLst>
          </p:cNvPr>
          <p:cNvSpPr>
            <a:spLocks xmlns:a="http://schemas.openxmlformats.org/drawingml/2006/main" noGrp="1"/>
          </p:cNvSpPr>
          <p:nvPr/>
        </p:nvSpPr>
        <p:spPr>
          <a:xfrm xmlns:a="http://schemas.openxmlformats.org/drawingml/2006/main">
            <a:off x="838200" y="2409825"/>
            <a:ext cx="68389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5A80D446-BFC6-4F7E-934D-82A3B4159DC1}"/>
              </a:ext>
            </a:extLst>
          </p:cNvPr>
          <p:cNvSpPr>
            <a:spLocks xmlns:a="http://schemas.openxmlformats.org/drawingml/2006/main" noGrp="1"/>
          </p:cNvSpPr>
          <p:nvPr/>
        </p:nvSpPr>
        <p:spPr>
          <a:xfrm xmlns:a="http://schemas.openxmlformats.org/drawingml/2006/main">
            <a:off x="838200" y="26479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오류를 고쳐줘.</a:t>
            </a:r>
          </a:p>
        </p:txBody>
      </p:sp>
      <p:sp>
        <p:nvSpPr>
          <p:cNvPr id="11" name="">
            <a:extLst xmlns:a="http://schemas.openxmlformats.org/drawingml/2006/main">
              <a:ext uri="{FF2B5EF4-FFF2-40B4-BE49-F238E27FC236}">
                <a16:creationId xmlns:a16="http://schemas.microsoft.com/office/drawing/2014/main" id="{1435D55F-FA6B-4578-97C6-84D92BF09AEB}"/>
              </a:ext>
            </a:extLst>
          </p:cNvPr>
          <p:cNvSpPr>
            <a:spLocks xmlns:a="http://schemas.openxmlformats.org/drawingml/2006/main" noGrp="1"/>
          </p:cNvSpPr>
          <p:nvPr/>
        </p:nvSpPr>
        <p:spPr>
          <a:xfrm xmlns:a="http://schemas.openxmlformats.org/drawingml/2006/main">
            <a:off x="781050" y="3267075"/>
            <a:ext cx="687705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기존 공개 API는 유지해.">
            <a:extLst xmlns:a="http://schemas.openxmlformats.org/drawingml/2006/main">
              <a:ext uri="{FF2B5EF4-FFF2-40B4-BE49-F238E27FC236}">
                <a16:creationId xmlns:a16="http://schemas.microsoft.com/office/drawing/2014/main" id="{2CB992A8-087E-45FD-85A3-045CCBDE0A1C}"/>
              </a:ext>
            </a:extLst>
          </p:cNvPr>
          <p:cNvSpPr>
            <a:spLocks xmlns:a="http://schemas.openxmlformats.org/drawingml/2006/main" noGrp="1"/>
          </p:cNvSpPr>
          <p:nvPr/>
        </p:nvSpPr>
        <p:spPr>
          <a:xfrm xmlns:a="http://schemas.openxmlformats.org/drawingml/2006/main">
            <a:off x="838200" y="331470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기존 공개 API는 유지해.</a:t>
            </a:r>
          </a:p>
        </p:txBody>
      </p:sp>
      <p:sp>
        <p:nvSpPr>
          <p:cNvPr id="13" name="프로젝트에 정해진 테스트 명령으로 확인해.">
            <a:extLst xmlns:a="http://schemas.openxmlformats.org/drawingml/2006/main">
              <a:ext uri="{FF2B5EF4-FFF2-40B4-BE49-F238E27FC236}">
                <a16:creationId xmlns:a16="http://schemas.microsoft.com/office/drawing/2014/main" id="{AB8ACAC8-ED21-465D-B90B-B7115ECC4C8E}"/>
              </a:ext>
            </a:extLst>
          </p:cNvPr>
          <p:cNvSpPr>
            <a:spLocks xmlns:a="http://schemas.openxmlformats.org/drawingml/2006/main" noGrp="1"/>
          </p:cNvSpPr>
          <p:nvPr/>
        </p:nvSpPr>
        <p:spPr>
          <a:xfrm xmlns:a="http://schemas.openxmlformats.org/drawingml/2006/main">
            <a:off x="838200" y="38290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프로젝트에 정해진 테스트 명령으로 확인해.</a:t>
            </a:r>
          </a:p>
        </p:txBody>
      </p:sp>
      <p:sp>
        <p:nvSpPr>
          <p:cNvPr id="14" name="">
            <a:extLst xmlns:a="http://schemas.openxmlformats.org/drawingml/2006/main">
              <a:ext uri="{FF2B5EF4-FFF2-40B4-BE49-F238E27FC236}">
                <a16:creationId xmlns:a16="http://schemas.microsoft.com/office/drawing/2014/main" id="{5EAA6226-19D0-4EAB-B98B-D73E45E48A2E}"/>
              </a:ext>
            </a:extLst>
          </p:cNvPr>
          <p:cNvSpPr>
            <a:spLocks xmlns:a="http://schemas.openxmlformats.org/drawingml/2006/main" noGrp="1"/>
          </p:cNvSpPr>
          <p:nvPr/>
        </p:nvSpPr>
        <p:spPr>
          <a:xfrm xmlns:a="http://schemas.openxmlformats.org/drawingml/2006/main">
            <a:off x="7905750" y="2867025"/>
            <a:ext cx="552450" cy="0"/>
          </a:xfrm>
          <a:prstGeom xmlns:a="http://schemas.openxmlformats.org/drawingml/2006/main" prst="line">
            <a:avLst/>
          </a:prstGeom>
          <a:noFill xmlns:a="http://schemas.openxmlformats.org/drawingml/2006/main"/>
          <a:ln xmlns:a="http://schemas.openxmlformats.org/drawingml/2006/main" w="14288">
            <a:solidFill>
              <a:srgbClr val="4D5A68"/>
            </a:solidFill>
            <a:prstDash val="solid"/>
          </a:ln>
        </p:spPr>
      </p:sp>
      <p:sp>
        <p:nvSpPr>
          <p:cNvPr id="15" name="이번 작업의 목표">
            <a:extLst xmlns:a="http://schemas.openxmlformats.org/drawingml/2006/main">
              <a:ext uri="{FF2B5EF4-FFF2-40B4-BE49-F238E27FC236}">
                <a16:creationId xmlns:a16="http://schemas.microsoft.com/office/drawing/2014/main" id="{6074FC9A-A60D-45E5-BC5C-1A33824CF900}"/>
              </a:ext>
            </a:extLst>
          </p:cNvPr>
          <p:cNvSpPr>
            <a:spLocks xmlns:a="http://schemas.openxmlformats.org/drawingml/2006/main" noGrp="1"/>
          </p:cNvSpPr>
          <p:nvPr/>
        </p:nvSpPr>
        <p:spPr>
          <a:xfrm xmlns:a="http://schemas.openxmlformats.org/drawingml/2006/main">
            <a:off x="8629650" y="257175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작업의 목표</a:t>
            </a:r>
          </a:p>
        </p:txBody>
      </p:sp>
      <p:sp>
        <p:nvSpPr>
          <p:cNvPr id="16" name="이번 작업에만 적용">
            <a:extLst xmlns:a="http://schemas.openxmlformats.org/drawingml/2006/main">
              <a:ext uri="{FF2B5EF4-FFF2-40B4-BE49-F238E27FC236}">
                <a16:creationId xmlns:a16="http://schemas.microsoft.com/office/drawing/2014/main" id="{9C77E6AA-0620-4AA9-A99D-98D472E9A8CC}"/>
              </a:ext>
            </a:extLst>
          </p:cNvPr>
          <p:cNvSpPr>
            <a:spLocks xmlns:a="http://schemas.openxmlformats.org/drawingml/2006/main" noGrp="1"/>
          </p:cNvSpPr>
          <p:nvPr/>
        </p:nvSpPr>
        <p:spPr>
          <a:xfrm xmlns:a="http://schemas.openxmlformats.org/drawingml/2006/main">
            <a:off x="8629650" y="29718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작업에만 적용</a:t>
            </a:r>
          </a:p>
        </p:txBody>
      </p:sp>
      <p:sp>
        <p:nvSpPr>
          <p:cNvPr id="17" name="Shared criteria bracket">
            <a:extLst xmlns:a="http://schemas.openxmlformats.org/drawingml/2006/main">
              <a:ext uri="{FF2B5EF4-FFF2-40B4-BE49-F238E27FC236}">
                <a16:creationId xmlns:a16="http://schemas.microsoft.com/office/drawing/2014/main" id="{7C9B4178-4AA7-47C9-811F-5432FEDECF9A}"/>
              </a:ext>
            </a:extLst>
          </p:cNvPr>
          <p:cNvSpPr>
            <a:spLocks xmlns:a="http://schemas.openxmlformats.org/drawingml/2006/main" noGrp="1"/>
          </p:cNvSpPr>
          <p:nvPr/>
        </p:nvSpPr>
        <p:spPr>
          <a:xfrm xmlns:a="http://schemas.openxmlformats.org/drawingml/2006/main">
            <a:off x="7905750" y="3495675"/>
            <a:ext cx="552450" cy="571500"/>
          </a:xfrm>
          <a:custGeom xmlns:a="http://schemas.openxmlformats.org/drawingml/2006/main">
            <a:pathLst>
              <a:path w="552450" h="571500">
                <a:moveTo>
                  <a:pt x="0" y="0"/>
                </a:moveTo>
                <a:lnTo>
                  <a:pt x="228600" y="0"/>
                </a:lnTo>
                <a:lnTo>
                  <a:pt x="228600" y="571500"/>
                </a:lnTo>
                <a:lnTo>
                  <a:pt x="0" y="571500"/>
                </a:lnTo>
                <a:moveTo>
                  <a:pt x="228600" y="285750"/>
                </a:moveTo>
                <a:lnTo>
                  <a:pt x="552450" y="285750"/>
                </a:lnTo>
              </a:path>
            </a:pathLst>
          </a:custGeom>
          <a:noFill xmlns:a="http://schemas.openxmlformats.org/drawingml/2006/main"/>
          <a:ln xmlns:a="http://schemas.openxmlformats.org/drawingml/2006/main" w="14288">
            <a:solidFill>
              <a:srgbClr val="0B6172"/>
            </a:solidFill>
          </a:ln>
        </p:spPr>
      </p:sp>
      <p:sp>
        <p:nvSpPr>
          <p:cNvPr id="18" name="계속 쓰는 기준">
            <a:extLst xmlns:a="http://schemas.openxmlformats.org/drawingml/2006/main">
              <a:ext uri="{FF2B5EF4-FFF2-40B4-BE49-F238E27FC236}">
                <a16:creationId xmlns:a16="http://schemas.microsoft.com/office/drawing/2014/main" id="{59585CF4-45AB-4FEB-993C-9E757D8718EA}"/>
              </a:ext>
            </a:extLst>
          </p:cNvPr>
          <p:cNvSpPr>
            <a:spLocks xmlns:a="http://schemas.openxmlformats.org/drawingml/2006/main" noGrp="1"/>
          </p:cNvSpPr>
          <p:nvPr/>
        </p:nvSpPr>
        <p:spPr>
          <a:xfrm xmlns:a="http://schemas.openxmlformats.org/drawingml/2006/main">
            <a:off x="8629650" y="34004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계속 쓰는 기준</a:t>
            </a:r>
          </a:p>
        </p:txBody>
      </p:sp>
      <p:sp>
        <p:nvSpPr>
          <p:cNvPr id="19" name="프로젝트에서 합의해&#10;여러 작업에 적용">
            <a:extLst xmlns:a="http://schemas.openxmlformats.org/drawingml/2006/main">
              <a:ext uri="{FF2B5EF4-FFF2-40B4-BE49-F238E27FC236}">
                <a16:creationId xmlns:a16="http://schemas.microsoft.com/office/drawing/2014/main" id="{93C4FB32-48FC-43DF-9ED6-8D6524E1A639}"/>
              </a:ext>
            </a:extLst>
          </p:cNvPr>
          <p:cNvSpPr>
            <a:spLocks xmlns:a="http://schemas.openxmlformats.org/drawingml/2006/main" noGrp="1"/>
          </p:cNvSpPr>
          <p:nvPr/>
        </p:nvSpPr>
        <p:spPr>
          <a:xfrm xmlns:a="http://schemas.openxmlformats.org/drawingml/2006/main">
            <a:off x="8629650" y="38290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프로젝트에서 합의해</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작업에 적용</a:t>
            </a:r>
          </a:p>
        </p:txBody>
      </p:sp>
      <p:sp>
        <p:nvSpPr>
          <p:cNvPr id="20" name="이 기준을 프로젝트에서 관리하고, 작업할 때 찾아 참고하게 할 수 없을까?">
            <a:extLst xmlns:a="http://schemas.openxmlformats.org/drawingml/2006/main">
              <a:ext uri="{FF2B5EF4-FFF2-40B4-BE49-F238E27FC236}">
                <a16:creationId xmlns:a16="http://schemas.microsoft.com/office/drawing/2014/main" id="{882C0CDE-D7AF-4487-8FCE-D48381D151D3}"/>
              </a:ext>
            </a:extLst>
          </p:cNvPr>
          <p:cNvSpPr>
            <a:spLocks xmlns:a="http://schemas.openxmlformats.org/drawingml/2006/main" noGrp="1"/>
          </p:cNvSpPr>
          <p:nvPr/>
        </p:nvSpPr>
        <p:spPr>
          <a:xfrm xmlns:a="http://schemas.openxmlformats.org/drawingml/2006/main">
            <a:off x="609600" y="51435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기준을 프로젝트에서 관리하고, 작업할 때 찾아 참고하게 할 수 없을까?</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8">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9">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공통 기준이 바뀌면, 세 요청에 어떻게 반영할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기준이 바뀌면, 세 요청에 어떻게 반영할까?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40">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1">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2">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3">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4">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5">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6">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7">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8">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9">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50">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1">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2">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3">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4">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5">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9">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60">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1">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2">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3">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4">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5">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6">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7">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8">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9">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70">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1">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2">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3">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4">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5">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6">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7">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8">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9">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80">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1">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2">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3">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4">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5">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6">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0">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1">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2">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3">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4">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6">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7">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8">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9">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0">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2">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103">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4">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5">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6">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7">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8">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9">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10">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1">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2">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3">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4">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5">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6">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8">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8">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9">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30">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1">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2">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3">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4">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5">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9">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1">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5">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4">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3">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4">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20">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120</ap:Slides>
  <ap:Notes>120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