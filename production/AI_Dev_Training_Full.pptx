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 Type="http://schemas.openxmlformats.org/officeDocument/2006/relationships/slide" Target="/ppt/slides/slide27.xml" Id="R562e068ad94c4fc2"/></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Relationship Type="http://schemas.openxmlformats.org/officeDocument/2006/relationships/notesMaster" Target="/ppt/notesMasters/notesMaster1.xml" Id="R92f313188ba24d0c"/></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Relationship Type="http://schemas.openxmlformats.org/officeDocument/2006/relationships/notesMaster" Target="/ppt/notesMasters/notesMaster1.xml" Id="R1059aaca941e4630"/></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Relationship Type="http://schemas.openxmlformats.org/officeDocument/2006/relationships/notesMaster" Target="/ppt/notesMasters/notesMaster1.xml" Id="R153d5f827a8646a6"/></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Relationship Type="http://schemas.openxmlformats.org/officeDocument/2006/relationships/notesMaster" Target="/ppt/notesMasters/notesMaster1.xml" Id="R6fc6def0efcb4d94"/></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Relationship Type="http://schemas.openxmlformats.org/officeDocument/2006/relationships/notesMaster" Target="/ppt/notesMasters/notesMaster1.xml" Id="R5d345cc6a40b4ef8"/></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Relationship Type="http://schemas.openxmlformats.org/officeDocument/2006/relationships/notesMaster" Target="/ppt/notesMasters/notesMaster1.xml" Id="R6e020c48cfce4997"/></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Relationship Type="http://schemas.openxmlformats.org/officeDocument/2006/relationships/notesMaster" Target="/ppt/notesMasters/notesMaster1.xml" Id="R75de794708ea41ad"/></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Relationship Type="http://schemas.openxmlformats.org/officeDocument/2006/relationships/notesMaster" Target="/ppt/notesMasters/notesMaster1.xml" Id="R6e1a705c247c45d5"/></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Relationship Type="http://schemas.openxmlformats.org/officeDocument/2006/relationships/notesMaster" Target="/ppt/notesMasters/notesMaster1.xml" Id="R3c74c6a455244d15"/></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Relationship Type="http://schemas.openxmlformats.org/officeDocument/2006/relationships/notesMaster" Target="/ppt/notesMasters/notesMaster1.xml" Id="Reee8baa74f6e44fc"/></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Relationship Type="http://schemas.openxmlformats.org/officeDocument/2006/relationships/notesMaster" Target="/ppt/notesMasters/notesMaster1.xml" Id="R0a067a864a764a6e"/></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Relationship Type="http://schemas.openxmlformats.org/officeDocument/2006/relationships/notesMaster" Target="/ppt/notesMasters/notesMaster1.xml" Id="R690345a37f2240d5"/></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Relationship Type="http://schemas.openxmlformats.org/officeDocument/2006/relationships/notesMaster" Target="/ppt/notesMasters/notesMaster1.xml" Id="R9a1b31d13d1e488c"/></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Relationship Type="http://schemas.openxmlformats.org/officeDocument/2006/relationships/notesMaster" Target="/ppt/notesMasters/notesMaster1.xml" Id="Rb3c5eb7838514888"/></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Relationship Type="http://schemas.openxmlformats.org/officeDocument/2006/relationships/notesMaster" Target="/ppt/notesMasters/notesMaster1.xml" Id="R1a9e99f102ab47bb"/></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Relationship Type="http://schemas.openxmlformats.org/officeDocument/2006/relationships/notesMaster" Target="/ppt/notesMasters/notesMaster1.xml" Id="R4932c0f27fd44bfe"/></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Relationship Type="http://schemas.openxmlformats.org/officeDocument/2006/relationships/notesMaster" Target="/ppt/notesMasters/notesMaster1.xml" Id="Rc3d8815449fa4306"/></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Relationship Type="http://schemas.openxmlformats.org/officeDocument/2006/relationships/notesMaster" Target="/ppt/notesMasters/notesMaster1.xml" Id="Rfed2bd914ede4447"/></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Relationship Type="http://schemas.openxmlformats.org/officeDocument/2006/relationships/notesMaster" Target="/ppt/notesMasters/notesMaster1.xml" Id="R38c9e617f9274904"/></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Relationship Type="http://schemas.openxmlformats.org/officeDocument/2006/relationships/notesMaster" Target="/ppt/notesMasters/notesMaster1.xml" Id="R998ca9207282418a"/></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Relationship Type="http://schemas.openxmlformats.org/officeDocument/2006/relationships/notesMaster" Target="/ppt/notesMasters/notesMaster1.xml" Id="Rd38075829c4a4204"/></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Relationship Type="http://schemas.openxmlformats.org/officeDocument/2006/relationships/notesMaster" Target="/ppt/notesMasters/notesMaster1.xml" Id="Ra035fd65003543d4"/></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Relationship Type="http://schemas.openxmlformats.org/officeDocument/2006/relationships/notesMaster" Target="/ppt/notesMasters/notesMaster1.xml" Id="Rff4917388cae47d6"/></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Relationship Type="http://schemas.openxmlformats.org/officeDocument/2006/relationships/notesMaster" Target="/ppt/notesMasters/notesMaster1.xml" Id="Rb201c12cec194cc2"/></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Relationship Type="http://schemas.openxmlformats.org/officeDocument/2006/relationships/notesMaster" Target="/ppt/notesMasters/notesMaster1.xml" Id="R98b78708a46841a7"/></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Relationship Type="http://schemas.openxmlformats.org/officeDocument/2006/relationships/notesMaster" Target="/ppt/notesMasters/notesMaster1.xml" Id="R5d4d024401be4f35"/></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Relationship Type="http://schemas.openxmlformats.org/officeDocument/2006/relationships/notesMaster" Target="/ppt/notesMasters/notesMaster1.xml" Id="R2beee451bb4f417e"/></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Relationship Type="http://schemas.openxmlformats.org/officeDocument/2006/relationships/notesMaster" Target="/ppt/notesMasters/notesMaster1.xml" Id="Rec895c04a376450f"/></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Relationship Type="http://schemas.openxmlformats.org/officeDocument/2006/relationships/notesMaster" Target="/ppt/notesMasters/notesMaster1.xml" Id="R772b29c6f08a48a9"/></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Relationship Type="http://schemas.openxmlformats.org/officeDocument/2006/relationships/notesMaster" Target="/ppt/notesMasters/notesMaster1.xml" Id="Rc9843874f9a745f4"/></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Relationship Type="http://schemas.openxmlformats.org/officeDocument/2006/relationships/notesMaster" Target="/ppt/notesMasters/notesMaster1.xml" Id="R14cd720d54274fa1"/></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Relationship Type="http://schemas.openxmlformats.org/officeDocument/2006/relationships/notesMaster" Target="/ppt/notesMasters/notesMaster1.xml" Id="R733e545b2c744b6f"/></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Relationship Type="http://schemas.openxmlformats.org/officeDocument/2006/relationships/notesMaster" Target="/ppt/notesMasters/notesMaster1.xml" Id="R592735f8936f47da"/></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Relationship Type="http://schemas.openxmlformats.org/officeDocument/2006/relationships/notesMaster" Target="/ppt/notesMasters/notesMaster1.xml" Id="R8adb15f9dad74c78"/></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Relationship Type="http://schemas.openxmlformats.org/officeDocument/2006/relationships/notesMaster" Target="/ppt/notesMasters/notesMaster1.xml" Id="Rf406a0ad792440e8"/></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Relationship Type="http://schemas.openxmlformats.org/officeDocument/2006/relationships/notesMaster" Target="/ppt/notesMasters/notesMaster1.xml" Id="Rfe8ae5366316458c"/></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Relationship Type="http://schemas.openxmlformats.org/officeDocument/2006/relationships/notesMaster" Target="/ppt/notesMasters/notesMaster1.xml" Id="R733d4ec229824b70"/></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Relationship Type="http://schemas.openxmlformats.org/officeDocument/2006/relationships/notesMaster" Target="/ppt/notesMasters/notesMaster1.xml" Id="R150fc5a78fd140b6"/></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Relationship Type="http://schemas.openxmlformats.org/officeDocument/2006/relationships/notesMaster" Target="/ppt/notesMasters/notesMaster1.xml" Id="R886e991404294ab7"/></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Relationship Type="http://schemas.openxmlformats.org/officeDocument/2006/relationships/notesMaster" Target="/ppt/notesMasters/notesMaster1.xml" Id="R63d921fc331b4280"/></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Relationship Type="http://schemas.openxmlformats.org/officeDocument/2006/relationships/notesMaster" Target="/ppt/notesMasters/notesMaster1.xml" Id="R318b408e272c4369"/></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Relationship Type="http://schemas.openxmlformats.org/officeDocument/2006/relationships/notesMaster" Target="/ppt/notesMasters/notesMaster1.xml" Id="Raa78ffb4470f4114"/></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Relationship Type="http://schemas.openxmlformats.org/officeDocument/2006/relationships/notesMaster" Target="/ppt/notesMasters/notesMaster1.xml" Id="Re69af64665704edd"/></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Relationship Type="http://schemas.openxmlformats.org/officeDocument/2006/relationships/notesMaster" Target="/ppt/notesMasters/notesMaster1.xml" Id="Rae8aa6d06c57427d"/></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Relationship Type="http://schemas.openxmlformats.org/officeDocument/2006/relationships/notesMaster" Target="/ppt/notesMasters/notesMaster1.xml" Id="R2e5242e14e0a4391"/></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Relationship Type="http://schemas.openxmlformats.org/officeDocument/2006/relationships/notesMaster" Target="/ppt/notesMasters/notesMaster1.xml" Id="Rbfbf5fb2658247a4"/></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Relationship Type="http://schemas.openxmlformats.org/officeDocument/2006/relationships/notesMaster" Target="/ppt/notesMasters/notesMaster1.xml" Id="R881e018f7d3a4212"/></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Relationship Type="http://schemas.openxmlformats.org/officeDocument/2006/relationships/notesMaster" Target="/ppt/notesMasters/notesMaster1.xml" Id="R74aabc30838745da"/></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Relationship Type="http://schemas.openxmlformats.org/officeDocument/2006/relationships/notesMaster" Target="/ppt/notesMasters/notesMaster1.xml" Id="R98c0d1f05ec04ed7"/></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Relationship Type="http://schemas.openxmlformats.org/officeDocument/2006/relationships/notesMaster" Target="/ppt/notesMasters/notesMaster1.xml" Id="Rda5d90d4963145f2"/></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Relationship Type="http://schemas.openxmlformats.org/officeDocument/2006/relationships/notesMaster" Target="/ppt/notesMasters/notesMaster1.xml" Id="R7955f82dd04b405c"/></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Relationship Type="http://schemas.openxmlformats.org/officeDocument/2006/relationships/notesMaster" Target="/ppt/notesMasters/notesMaster1.xml" Id="Rf3b67b75301c4e34"/></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Relationship Type="http://schemas.openxmlformats.org/officeDocument/2006/relationships/notesMaster" Target="/ppt/notesMasters/notesMaster1.xml" Id="R28d9e3e5c7be4691"/></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Relationship Type="http://schemas.openxmlformats.org/officeDocument/2006/relationships/notesMaster" Target="/ppt/notesMasters/notesMaster1.xml" Id="R9b6a1a62bcff403c"/></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Relationship Type="http://schemas.openxmlformats.org/officeDocument/2006/relationships/notesMaster" Target="/ppt/notesMasters/notesMaster1.xml" Id="Raf8067029d9042b1"/></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Relationship Type="http://schemas.openxmlformats.org/officeDocument/2006/relationships/notesMaster" Target="/ppt/notesMasters/notesMaster1.xml" Id="R2d73c16ab9a64e3a"/></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Relationship Type="http://schemas.openxmlformats.org/officeDocument/2006/relationships/notesMaster" Target="/ppt/notesMasters/notesMaster1.xml" Id="Reee7ba3618f64ddd"/></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Relationship Type="http://schemas.openxmlformats.org/officeDocument/2006/relationships/notesMaster" Target="/ppt/notesMasters/notesMaster1.xml" Id="Rc9bcb6b574a24d5c"/></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Relationship Type="http://schemas.openxmlformats.org/officeDocument/2006/relationships/notesMaster" Target="/ppt/notesMasters/notesMaster1.xml" Id="R8b690a0caba34ba7"/></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Relationship Type="http://schemas.openxmlformats.org/officeDocument/2006/relationships/notesMaster" Target="/ppt/notesMasters/notesMaster1.xml" Id="Rb8ac526fdffe42d6"/></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Relationship Type="http://schemas.openxmlformats.org/officeDocument/2006/relationships/notesMaster" Target="/ppt/notesMasters/notesMaster1.xml" Id="R57b5507cc7b3492b"/></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Relationship Type="http://schemas.openxmlformats.org/officeDocument/2006/relationships/notesMaster" Target="/ppt/notesMasters/notesMaster1.xml" Id="R27be2f8e114f43a0"/></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Relationship Type="http://schemas.openxmlformats.org/officeDocument/2006/relationships/notesMaster" Target="/ppt/notesMasters/notesMaster1.xml" Id="Rd151ca23e93d4eaf"/></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Relationship Type="http://schemas.openxmlformats.org/officeDocument/2006/relationships/notesMaster" Target="/ppt/notesMasters/notesMaster1.xml" Id="R7e6a7ed19e3a40cb"/></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Relationship Type="http://schemas.openxmlformats.org/officeDocument/2006/relationships/notesMaster" Target="/ppt/notesMasters/notesMaster1.xml" Id="R7a670bf595fa4529"/></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Relationship Type="http://schemas.openxmlformats.org/officeDocument/2006/relationships/notesMaster" Target="/ppt/notesMasters/notesMaster1.xml" Id="R04c69684547247e2"/></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Relationship Type="http://schemas.openxmlformats.org/officeDocument/2006/relationships/notesMaster" Target="/ppt/notesMasters/notesMaster1.xml" Id="R7ace7c5f8e04458f"/></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Relationship Type="http://schemas.openxmlformats.org/officeDocument/2006/relationships/notesMaster" Target="/ppt/notesMasters/notesMaster1.xml" Id="R7d1404e76a174da2"/></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Relationship Type="http://schemas.openxmlformats.org/officeDocument/2006/relationships/notesMaster" Target="/ppt/notesMasters/notesMaster1.xml" Id="R89005aee29154fdf"/></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Relationship Type="http://schemas.openxmlformats.org/officeDocument/2006/relationships/notesMaster" Target="/ppt/notesMasters/notesMaster1.xml" Id="R7b112601c2a64208"/></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Relationship Type="http://schemas.openxmlformats.org/officeDocument/2006/relationships/notesMaster" Target="/ppt/notesMasters/notesMaster1.xml" Id="R2956a2047df44dcc"/></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Relationship Type="http://schemas.openxmlformats.org/officeDocument/2006/relationships/notesMaster" Target="/ppt/notesMasters/notesMaster1.xml" Id="R8078dc63f9ad408a"/></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Relationship Type="http://schemas.openxmlformats.org/officeDocument/2006/relationships/notesMaster" Target="/ppt/notesMasters/notesMaster1.xml" Id="Ra4cbf48a85004011"/></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Relationship Type="http://schemas.openxmlformats.org/officeDocument/2006/relationships/notesMaster" Target="/ppt/notesMasters/notesMaster1.xml" Id="R59b9d3aca398484b"/></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Relationship Type="http://schemas.openxmlformats.org/officeDocument/2006/relationships/notesMaster" Target="/ppt/notesMasters/notesMaster1.xml" Id="Ra809662fe7414499"/></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Relationship Type="http://schemas.openxmlformats.org/officeDocument/2006/relationships/notesMaster" Target="/ppt/notesMasters/notesMaster1.xml" Id="R789f04a5ee1340b9"/></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Relationship Type="http://schemas.openxmlformats.org/officeDocument/2006/relationships/notesMaster" Target="/ppt/notesMasters/notesMaster1.xml" Id="R498467402c07474b"/></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Relationship Type="http://schemas.openxmlformats.org/officeDocument/2006/relationships/notesMaster" Target="/ppt/notesMasters/notesMaster1.xml" Id="Rd231d4a707e548bc"/></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Relationship Type="http://schemas.openxmlformats.org/officeDocument/2006/relationships/notesMaster" Target="/ppt/notesMasters/notesMaster1.xml" Id="R49e2134f87444dec"/></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Relationship Type="http://schemas.openxmlformats.org/officeDocument/2006/relationships/notesMaster" Target="/ppt/notesMasters/notesMaster1.xml" Id="Rcf79b18562284a12"/></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Relationship Type="http://schemas.openxmlformats.org/officeDocument/2006/relationships/notesMaster" Target="/ppt/notesMasters/notesMaster1.xml" Id="Re73de6cf821b4c89"/></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Relationship Type="http://schemas.openxmlformats.org/officeDocument/2006/relationships/notesMaster" Target="/ppt/notesMasters/notesMaster1.xml" Id="R9ce33fbf1e97475c"/></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Relationship Type="http://schemas.openxmlformats.org/officeDocument/2006/relationships/notesMaster" Target="/ppt/notesMasters/notesMaster1.xml" Id="Rd6d4f46725ed4448"/></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Relationship Type="http://schemas.openxmlformats.org/officeDocument/2006/relationships/notesMaster" Target="/ppt/notesMasters/notesMaster1.xml" Id="Rc6bf7d350d8f400a"/></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Relationship Type="http://schemas.openxmlformats.org/officeDocument/2006/relationships/notesMaster" Target="/ppt/notesMasters/notesMaster1.xml" Id="R67ed9e5ab2d544b5"/></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Relationship Type="http://schemas.openxmlformats.org/officeDocument/2006/relationships/notesMaster" Target="/ppt/notesMasters/notesMaster1.xml" Id="R44c72230652f43f5"/></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Relationship Type="http://schemas.openxmlformats.org/officeDocument/2006/relationships/notesMaster" Target="/ppt/notesMasters/notesMaster1.xml" Id="R9b2585fdc2c843bb"/></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Relationship Type="http://schemas.openxmlformats.org/officeDocument/2006/relationships/notesMaster" Target="/ppt/notesMasters/notesMaster1.xml" Id="Rf35708420cc741cc"/></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완료를 판단하려는 결과에 맞춰 어떤 확인을 요청할지 다음 장에서 고른다고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방법 선택 뒤 S27의 같은 crop 목표별 검증 요청으로 연결한다. vector·GoogleTest 반례는 S27의 선택 참고 Notes에만 둔다.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판단하려는 결과에 맞춰 어떤 확인을 요청해야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원하는 결과에 맞춰 확인 방법을 고른다</a:t>
            </a:r>
          </a:p>
          <a:p>
            <a:r>
              <a:t xml:space="preserve"/>
            </a:r>
          </a:p>
          <a:p>
            <a:r>
              <a:t xml:space="preserve">Slide ID:</a:t>
            </a:r>
          </a:p>
          <a:p>
            <a:r>
              <a:t xml:space="preserve">S26</a:t>
            </a:r>
          </a:p>
          <a:p>
            <a:r>
              <a:t xml:space="preserve"/>
            </a:r>
          </a:p>
          <a:p>
            <a:r>
              <a:t xml:space="preserve">Working Title:</a:t>
            </a:r>
          </a:p>
          <a:p>
            <a:r>
              <a:t xml:space="preserve">원하는 결과에 맞춰 확인 방법을 고른다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명세 준수·기존 테스트 범위의 동작·CLI 샘플 경로·변경 범위·실행시간은 서로 다른 확인을 필요로 한다. 확인한 입력과 범위 안에서 판단한다.</a:t>
            </a:r>
          </a:p>
          <a:p>
            <a:r>
              <a:t xml:space="preserve"/>
            </a:r>
          </a:p>
          <a:p>
            <a:r>
              <a:t xml:space="preserve">Opening Question:</a:t>
            </a:r>
          </a:p>
          <a:p>
            <a:r>
              <a:t xml:space="preserve">“원하는 결과를 무엇으로 확인해 달라고 요청할까?”</a:t>
            </a:r>
          </a:p>
          <a:p>
            <a:r>
              <a:t xml:space="preserve"/>
            </a:r>
          </a:p>
          <a:p>
            <a:r>
              <a:t xml:space="preserve">Speaker Flow:</a:t>
            </a:r>
          </a:p>
          <a:p>
            <a:r>
              <a:t xml:space="preserve">1. (0:00–0:20 / Lecture) S25는 근거를 받아 사람이 완료를 판단한다는 원칙이었다. 이제 그 판단을 위해 어떤 확인을 요청할지 고른다.</a:t>
            </a:r>
          </a:p>
          <a:p>
            <a:r>
              <a:t xml:space="preserve">2. (0:20–1:35 / Lecture) 왼쪽 질문에서 오른쪽 확인으로 읽는다. 명세 준수는 관련 동작 테스트, 기존 테스트가 다루는 동작은 전체 테스트, CLI는 해당 샘플 경로, diff는 변경 범위를 확인한다. 기존 관련3건에는 resize도 있어 crop만의3건이라 하지 않는다.</a:t>
            </a:r>
          </a:p>
          <a:p>
            <a:r>
              <a:t xml:space="preserve">3. (1:35–1:50 / Lecture) 시간 단축을 주장하려면 같은 입력·환경의 전후 측정이 필요하다. 당시 TRIAL-002에서 성능은 측정하지 않았고, 테스트 통과만으로 시간 단축을 말하지 않는다.</a:t>
            </a:r>
          </a:p>
          <a:p>
            <a:r>
              <a:t xml:space="preserve">4. (1:50–2:00 / Lecture) 같은 crop이어도 목표가 오류 수정인지 시간 단축인지에 따라 검증 요청이 어떻게 달라지는지 S27로 연결한다.</a:t>
            </a:r>
          </a:p>
          <a:p>
            <a:r>
              <a:t xml:space="preserve"/>
            </a:r>
          </a:p>
          <a:p>
            <a:r>
              <a:t xml:space="preserve">Evidence / Source:</a:t>
            </a:r>
          </a:p>
          <a:p>
            <a:r>
              <a:t xml:space="preserve">OBSERVED_PRODUCT / TEACHING_MODEL. plan/DEMO_MATRIX.md TRIAL-002의 기존 Python 검증 기록. 검사와 판단 범위의 대응은 교육 모델이다. 성능 미측정. DEC-0114.</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현재 CLI/제품 재현·Prompt 우월성·비용 절감·성능 향상을 새로 주장하지 않는다. 검사가 다룬 입력·범위 안에서 판단한다.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a:t>
            </a:r>
          </a:p>
          <a:p>
            <a:r>
              <a:t xml:space="preserve"/>
            </a:r>
          </a:p>
          <a:p>
            <a:r>
              <a:t xml:space="preserve">C++ Vision Bridge:</a:t>
            </a:r>
          </a:p>
          <a:p>
            <a:r>
              <a:t xml:space="preserve">화면에는 C++ 코드나 vector 예시를 넣지 않는다. 선택적 assertion 반례와 Release/API/ABI·측정 조건 대응은 S27 Notes에만 보존한다.</a:t>
            </a:r>
          </a:p>
          <a:p>
            <a:r>
              <a:t xml:space="preserve"/>
            </a:r>
          </a:p>
          <a:p>
            <a:r>
              <a:t xml:space="preserve">Demo Operation:</a:t>
            </a:r>
          </a:p>
          <a:p>
            <a:r>
              <a:t xml:space="preserve">실제 TRIAL-002 확인 기록을 회수하되 새로운 Demo 시간·실행·비교를 추가하지 않는다. 정적 Lecture/Reflection이며 별도 Demo 배정·Live 실행을 추가하지 않는다.</a:t>
            </a:r>
          </a:p>
          <a:p>
            <a:r>
              <a:t xml:space="preserve"/>
            </a:r>
          </a:p>
          <a:p>
            <a:r>
              <a:t xml:space="preserve">Audience Interaction:</a:t>
            </a:r>
          </a:p>
          <a:p>
            <a:r>
              <a:t xml:space="preserve">질문은 기존 ACT1 Q&amp;A로 회수한다. 별도 실습·답변 시간을 추가하지 않는다.</a:t>
            </a:r>
          </a:p>
          <a:p>
            <a:r>
              <a:t xml:space="preserve"/>
            </a:r>
          </a:p>
          <a:p>
            <a:r>
              <a:t xml:space="preserve">Transition:</a:t>
            </a:r>
          </a:p>
          <a:p>
            <a:r>
              <a:t xml:space="preserve">“같은 crop 작업이라도 목표가 달라지면 확인 요청도 달라질까요?”라고 S27의 교육용 요청 비교로 연결한다.</a:t>
            </a:r>
          </a:p>
          <a:p>
            <a:r>
              <a:t xml:space="preserve"/>
            </a:r>
          </a:p>
          <a:p>
            <a:r>
              <a:t xml:space="preserve">Time Management:</a:t>
            </a:r>
          </a:p>
          <a:p>
            <a:r>
              <a:t xml:space="preserve">Lecture2분. 다섯 확인을 읽되 테스트 문법·crop 수치 예시를 다시 강의하지 않는다.</a:t>
            </a:r>
          </a:p>
          <a:p>
            <a:r>
              <a:t xml:space="preserve"/>
            </a:r>
          </a:p>
          <a:p>
            <a:r>
              <a:t xml:space="preserve">Fallback:</a:t>
            </a:r>
          </a:p>
          <a:p>
            <a:r>
              <a:t xml:space="preserve">production/ACT_1.pptx S26 또는 production/preview/act1/S26.png의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목표가 달라지면 검증 요청도 달라진다</a:t>
            </a:r>
          </a:p>
          <a:p>
            <a:r>
              <a:t xml:space="preserve"/>
            </a:r>
          </a:p>
          <a:p>
            <a:r>
              <a:t xml:space="preserve">Slide ID:</a:t>
            </a:r>
          </a:p>
          <a:p>
            <a:r>
              <a:t xml:space="preserve">S27</a:t>
            </a:r>
          </a:p>
          <a:p>
            <a:r>
              <a:t xml:space="preserve"/>
            </a:r>
          </a:p>
          <a:p>
            <a:r>
              <a:t xml:space="preserve">Working Title:</a:t>
            </a:r>
          </a:p>
          <a:p>
            <a:r>
              <a:t xml:space="preserve">목표가 달라지면 검증 요청도 달라진다</a:t>
            </a:r>
          </a:p>
          <a:p>
            <a:r>
              <a:t xml:space="preserve"/>
            </a:r>
          </a:p>
          <a:p>
            <a:r>
              <a:t xml:space="preserve">ACT / Section:</a:t>
            </a:r>
          </a:p>
          <a:p>
            <a:r>
              <a:t xml:space="preserve">ACT 1 / 1E + 1F</a:t>
            </a:r>
          </a:p>
          <a:p>
            <a:r>
              <a:t xml:space="preserve"/>
            </a:r>
          </a:p>
          <a:p>
            <a:r>
              <a:t xml:space="preserve">Allocated Time:</a:t>
            </a:r>
          </a:p>
          <a:p>
            <a:r>
              <a:t xml:space="preserve">3 minutes</a:t>
            </a:r>
          </a:p>
          <a:p>
            <a:r>
              <a:t xml:space="preserve"/>
            </a:r>
          </a:p>
          <a:p>
            <a:r>
              <a:t xml:space="preserve">Mode Split:</a:t>
            </a:r>
          </a:p>
          <a:p>
            <a:r>
              <a:t xml:space="preserve">Lecture 2 minutes + Reflection 1 minute</a:t>
            </a:r>
          </a:p>
          <a:p>
            <a:r>
              <a:t xml:space="preserve"/>
            </a:r>
          </a:p>
          <a:p>
            <a:r>
              <a:t xml:space="preserve">Primary Message:</a:t>
            </a:r>
          </a:p>
          <a:p>
            <a:r>
              <a:t xml:space="preserve">오류 수정은 명세와 관련·전체 테스트, CLI 샘플과 변경 범위를 확인한다. 시간 단축은 기존 동작 확인에 같은 입력·환경의 변경 전후 시간 측정을 더 요청한다. 결과와 미확인 사항도 받는다.</a:t>
            </a:r>
          </a:p>
          <a:p>
            <a:r>
              <a:t xml:space="preserve"/>
            </a:r>
          </a:p>
          <a:p>
            <a:r>
              <a:t xml:space="preserve">Opening Question:</a:t>
            </a:r>
          </a:p>
          <a:p>
            <a:r>
              <a:t xml:space="preserve">“오류 수정과 시간 단축에서 무엇을 확인·보고해 달라고 요청할까?”</a:t>
            </a:r>
          </a:p>
          <a:p>
            <a:r>
              <a:t xml:space="preserve"/>
            </a:r>
          </a:p>
          <a:p>
            <a:r>
              <a:t xml:space="preserve">Speaker Flow:</a:t>
            </a:r>
          </a:p>
          <a:p>
            <a:r>
              <a:t xml:space="preserve">1. (0:00–0:20 / Lecture) 두 문장은 검증 부분의 교육용 작성 예시이며 실제 Trial 원문이 아님을 분명히 한다. 같은 crop의 두 목표를 읽는다.</a:t>
            </a:r>
          </a:p>
          <a:p>
            <a:r>
              <a:t xml:space="preserve">2. (0:20–1:05 / Lecture) 왼쪽은 경계 오류 수정이다. 저장소의 기존 crop 명세를 참조하고 관련·전체 테스트, CLI 샘플, 최종 diff와 결과·미확인 보고를 요청한다. 명세의 기대 수치나 assertion을 다시 강의하지 않는다.</a:t>
            </a:r>
          </a:p>
          <a:p>
            <a:r>
              <a:t xml:space="preserve">3. (1:05–1:45 / Lecture) 오른쪽은 실행시간 단축을 맡기는 가정이다. 기존 동작을 확인하면서 같은 입력·환경의 변경 전후 시간을 측정하고 조건·결과·미확인을 보고하도록 요청한다. 측정하지 않은 결과를 성과로 말하지 않는다.</a:t>
            </a:r>
          </a:p>
          <a:p>
            <a:r>
              <a:t xml:space="preserve">4. (1:45–2:00 / Lecture) 차이는 원하는 변화에 맞는 근거를 요청한다는 점이다. 모든 작업에 모든 검사를 넣거나 명세의 모든 값을 복사하도록 가르치지 않는다.</a:t>
            </a:r>
          </a:p>
          <a:p>
            <a:r>
              <a:t xml:space="preserve">5. (2:00–3:00 / Reflection) 다음에 맡길 작업 하나와 완료를 판단할 근거 하나를 조용히 떠올리게 한다. 작성·발표·실습을 요구하지 않는다.3분에 S28 문장 도구로 이동한다.</a:t>
            </a:r>
          </a:p>
          <a:p>
            <a:r>
              <a:t xml:space="preserve"/>
            </a:r>
          </a:p>
          <a:p>
            <a:r>
              <a:t xml:space="preserve">Evidence / Source:</a:t>
            </a:r>
          </a:p>
          <a:p>
            <a:r>
              <a:t xml:space="preserve">TEACHING_MODEL. DEC-0114의 두 교육용 검증 요청이다. 실제 S21 원문 발췌·S22 행동·S23 수정·S24 검증 기록과 분리하며 새 실행·측정이 없다.</a:t>
            </a:r>
          </a:p>
          <a:p>
            <a:r>
              <a:t xml:space="preserve"/>
            </a:r>
          </a:p>
          <a:p>
            <a:r>
              <a:t xml:space="preserve">Claim Boundary:</a:t>
            </a:r>
          </a:p>
          <a:p>
            <a:r>
              <a:t xml:space="preserve">TEACHING MODEL — 두 요청은 검증 부분의 교육용 작성 예시다. 실제 TRIAL-002 요청의 인용·새 실행·측정 결과·Prompt 우월성·성능 개선 성과가 아니다. 당시 crop Trial의 성능은 미측정이다. 현재 CLI/제품 재현·Prompt 우월성·비용 절감·성능 향상을 새로 주장하지 않는다. 검사가 다룬 입력·범위 안에서 판단한다.</a:t>
            </a:r>
          </a:p>
          <a:p>
            <a:r>
              <a:t xml:space="preserve"/>
            </a:r>
          </a:p>
          <a:p>
            <a:r>
              <a:t xml:space="preserve">Beginner Explanation:</a:t>
            </a:r>
          </a:p>
          <a:p>
            <a:r>
              <a:t xml:space="preserve">원하는 변화에 맞춰 무엇을 확인하고 보고할지 요청 문장으로 쓸 수 있다.</a:t>
            </a:r>
          </a:p>
          <a:p>
            <a:r>
              <a:t xml:space="preserve"/>
            </a:r>
          </a:p>
          <a:p>
            <a:r>
              <a:t xml:space="preserve">Advanced Insight:</a:t>
            </a:r>
          </a:p>
          <a:p>
            <a:r>
              <a:t xml:space="preserve">동작 검증과 성능 검증의 근거 범위를 구분한다. 이미 저장소에 있는 명세를 참조하며 모든 기대값을 매번 복사하도록 요구하지 않는다.</a:t>
            </a:r>
          </a:p>
          <a:p>
            <a:r>
              <a:t xml:space="preserve"/>
            </a:r>
          </a:p>
          <a:p>
            <a:r>
              <a:t xml:space="preserve">C++ Vision Bridge:</a:t>
            </a:r>
          </a:p>
          <a:p>
            <a:r>
              <a:t xml:space="preserve">선택 참고 — ACT0에서 본 명세를 다시 설명하는 기본 발표 내용은 아니다. 기존 DEC-0041/DEC-0112의 C++ 교육용 반례를 보존한다.</a:t>
            </a:r>
          </a:p>
          <a:p>
            <a:r>
              <a:t xml:space="preserve">입력 {1,2,3,4}의 반열림 crop [1,3)에서 기대는 {2,3}, 명세를 어긴 예는 {2,3,4}다. 두 vector는 모두 비어 있지 않아 EXPECT_FALSE(actual.empty());만으로는 이 차이를 구별하지 못한다.</a:t>
            </a:r>
          </a:p>
          <a:p>
            <a:r>
              <a:t xml:space="preserve">```cpp</a:t>
            </a:r>
          </a:p>
          <a:p>
            <a:r>
              <a:t xml:space="preserve">std::vector&lt;int&gt; expected{2, 3};</a:t>
            </a:r>
          </a:p>
          <a:p>
            <a:r>
              <a:t xml:space="preserve">EXPECT_EQ(actual, expected);</a:t>
            </a:r>
          </a:p>
          <a:p>
            <a:r>
              <a:t xml:space="preserve">```</a:t>
            </a:r>
          </a:p>
          <a:p>
            <a:r>
              <a:t xml:space="preserve">vector 동등 비교는 길이·순서별 값을 비교한다. EXPECT_EQ(actual.size(), 2u);는 폭 조건을 따로 드러내지만 위 동등 비교와 중복된다. 하나의 입력이 모든 입력의 정확성을 입증하지 않는다. 이 반례·코드·가상 요청은 실제 Python TRIAL-002 assertion, 잘못된 결과의 PASS 기록, 새 컴파일·GoogleTest 실행이 아니다.</a:t>
            </a:r>
          </a:p>
          <a:p>
            <a:r>
              <a:t xml:space="preserve">기술 의미 출처: [GoogleTest Primer](https://google.github.io/googletest/primer.html), [Microsoft vector operators](https://learn.microsoft.com/en-us/cpp/standard-library/vector-operators?view=msvc-170). 기존 확인2026-10-27의 의미만 보존한다. Release/API/ABI 등 프로젝트별 조건은 해당 프로젝트에서 정하고 확인한다.</a:t>
            </a:r>
          </a:p>
          <a:p>
            <a:r>
              <a:t xml:space="preserve"/>
            </a:r>
          </a:p>
          <a:p>
            <a:r>
              <a:t xml:space="preserve">Demo Operation:</a:t>
            </a:r>
          </a:p>
          <a:p>
            <a:r>
              <a:t xml:space="preserve">기존 crop을 유지한 두 목표의 교육용 요청 비교다. S21–S24 실제 요청·행동·수정·검증 기록과 구분한다. 새 Trial·Demo 시간·benchmark 결과를 추가하지 않는다. 정적 Lecture/Reflection이며 별도 Demo 배정·Live 실행을 추가하지 않는다.</a:t>
            </a:r>
          </a:p>
          <a:p>
            <a:r>
              <a:t xml:space="preserve"/>
            </a:r>
          </a:p>
          <a:p>
            <a:r>
              <a:t xml:space="preserve">Audience Interaction:</a:t>
            </a:r>
          </a:p>
          <a:p>
            <a:r>
              <a:t xml:space="preserve">마지막1분은 자신이 맡길 작업과 완료를 판단할 근거 하나를 조용히 떠올린다. 작성·공유·실습을 요구하지 않는다.</a:t>
            </a:r>
          </a:p>
          <a:p>
            <a:r>
              <a:t xml:space="preserve"/>
            </a:r>
          </a:p>
          <a:p>
            <a:r>
              <a:t xml:space="preserve">Transition:</a:t>
            </a:r>
          </a:p>
          <a:p>
            <a:r>
              <a:t xml:space="preserve">“요청에 담을 확인 기준을 정했습니다. 이제 이를 명확하게 전달하는 문장 도구를 보겠습니다.”라고 S28의 실무 적용 팁으로 연결한다.</a:t>
            </a:r>
          </a:p>
          <a:p>
            <a:r>
              <a:t xml:space="preserve"/>
            </a:r>
          </a:p>
          <a:p>
            <a:r>
              <a:t xml:space="preserve">Time Management:</a:t>
            </a:r>
          </a:p>
          <a:p>
            <a:r>
              <a:t xml:space="preserve">Lecture2분+Reflection1분=3분. S26/S27 합계5분=Lecture4+Reflection1이다.2분에 설명을 마치고 조용히 생각할1분을 보장한다.3분에 S28로 이동한다. 실제 시간 적합성은 리허설 전까지 UNVERIFIED.</a:t>
            </a:r>
          </a:p>
          <a:p>
            <a:r>
              <a:t xml:space="preserve"/>
            </a:r>
          </a:p>
          <a:p>
            <a:r>
              <a:t xml:space="preserve">Fallback:</a:t>
            </a:r>
          </a:p>
          <a:p>
            <a:r>
              <a:t xml:space="preserve">production/ACT_1.pptx S27 또는 production/preview/act1/S27.png의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a:t>
            </a:r>
          </a:p>
          <a:p>
            <a:r>
              <a:t xml:space="preserve">S28</a:t>
            </a:r>
          </a:p>
          <a:p>
            <a:r>
              <a:t xml:space="preserve"/>
            </a:r>
          </a:p>
          <a:p>
            <a:r>
              <a:t xml:space="preserve">Working Title:</a:t>
            </a:r>
          </a:p>
          <a:p>
            <a:r>
              <a:t xml:space="preserve">지시와 참고 자료의 구분</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여러 자료가 섞일 때, 제목으로 읽을 경계를 표시한다.</a:t>
            </a:r>
          </a:p>
          <a:p>
            <a:r>
              <a:t xml:space="preserve"/>
            </a:r>
          </a:p>
          <a:p>
            <a:r>
              <a:t xml:space="preserve">Opening Question:</a:t>
            </a:r>
          </a:p>
          <a:p>
            <a:r>
              <a:t xml:space="preserve">“요청과 로그·명세가 한 메시지에 섞일 때, 어떤 요청 문장이 도움이 될까요?”</a:t>
            </a:r>
          </a:p>
          <a:p>
            <a:r>
              <a:t xml:space="preserve"/>
            </a:r>
          </a:p>
          <a:p>
            <a:r>
              <a:t xml:space="preserve">Speaker Flow:</a:t>
            </a:r>
          </a:p>
          <a:p>
            <a:r>
              <a:t xml:space="preserve">1. 0:00–0:15: 기법/접근명 “Delimiters”와 사용 상황을 짚는다. 지시와 참고 자료의 구획이라는 뜻이다. 핵심/조건부는 사용 선택을 돕는 교육 우선순위다.</a:t>
            </a:r>
          </a:p>
          <a:p>
            <a:r>
              <a:t xml:space="preserve">2. 0:15–0:45: 요청/명세/로그 구획의 강조색을 보고, 오른쪽의 지시/비교 기준/관찰 자료 역할과 연결한다. 요청 전문 대신 강조한 핵심 문장만 읽는다.</a:t>
            </a:r>
          </a:p>
          <a:p>
            <a:r>
              <a:t xml:space="preserve"/>
            </a:r>
          </a:p>
          <a:p>
            <a:r>
              <a:t xml:space="preserve">```text</a:t>
            </a:r>
          </a:p>
          <a:p>
            <a:r>
              <a:t xml:space="preserve"># 요청</a:t>
            </a:r>
          </a:p>
          <a:p>
            <a:r>
              <a:t xml:space="preserve">crop 경계 오류의 원인만 조사해줘.</a:t>
            </a:r>
          </a:p>
          <a:p>
            <a:r>
              <a:t xml:space="preserve">코드는 수정하지 마.</a:t>
            </a:r>
          </a:p>
          <a:p>
            <a:r>
              <a:t xml:space="preserve"># 참고 명세</a:t>
            </a:r>
          </a:p>
          <a:p>
            <a:r>
              <a:t xml:space="preserve">crop [1,3)의 기대 폭은 2</a:t>
            </a:r>
          </a:p>
          <a:p>
            <a:r>
              <a:t xml:space="preserve"># 참고 로그</a:t>
            </a:r>
          </a:p>
          <a:p>
            <a:r>
              <a:t xml:space="preserve">expected=2, actual=3</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CLM-0032; SRC-0230, SRC-0231. 공식 문서 본문을2026-10-30 재확인했다. https://developers.openai.com/api/docs/guides/prompt-engineering; https://developers.openai.com/api/docs/guides/reasoning-best-practices.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Prompt engineering · Message formatting with Markdown and XML. 원문 절: https://developers.openai.com/api/docs/guides/prompt-engineering#message-formatting-with-markdown-and-xml. 기법/접근 표시: Delimiters.</a:t>
            </a:r>
          </a:p>
          <a:p>
            <a:r>
              <a:t xml:space="preserve"/>
            </a:r>
          </a:p>
          <a:p>
            <a:r>
              <a:t xml:space="preserve">Claim Boundary:</a:t>
            </a:r>
          </a:p>
          <a:p>
            <a:r>
              <a:t xml:space="preserve">교육용 요청 문장이다. 실제 TRIAL-002의 원문·행동 기록·추가 실행·비교 실험이 아니다. 구획은 해석을 돕는 표시이며, 보안 격리를 보장하지 않는다.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구획의 존재보다 지시와 참고 자료의 역할을 구분한다.</a:t>
            </a:r>
          </a:p>
          <a:p>
            <a:r>
              <a:t xml:space="preserve"/>
            </a:r>
          </a:p>
          <a:p>
            <a:r>
              <a:t xml:space="preserve">Advanced Insight:</a:t>
            </a:r>
          </a:p>
          <a:p>
            <a:r>
              <a:t xml:space="preserve">제목·태그는 논리적 구획이다. 모든 짧은 요청에 XML을 붙일 필요가 없고 자료의 진위·보안 격리를 보장하지 않는다.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자료의 구획 다음에는, 모델이 모르는 팀 고유 표기를 예시로 알려주는 S29로 이동한다.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S28 또는 production/preview/act1/S28.png의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a:t>
            </a:r>
          </a:p>
          <a:p>
            <a:r>
              <a:t xml:space="preserve">S29</a:t>
            </a:r>
          </a:p>
          <a:p>
            <a:r>
              <a:t xml:space="preserve"/>
            </a:r>
          </a:p>
          <a:p>
            <a:r>
              <a:t xml:space="preserve">Working Title:</a:t>
            </a:r>
          </a:p>
          <a:p>
            <a:r>
              <a:t xml:space="preserve">입력과 기대 결과의 작은 예시</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Case 1 minute</a:t>
            </a:r>
          </a:p>
          <a:p>
            <a:r>
              <a:t xml:space="preserve"/>
            </a:r>
          </a:p>
          <a:p>
            <a:r>
              <a:t xml:space="preserve">Primary Message:</a:t>
            </a:r>
          </a:p>
          <a:p>
            <a:r>
              <a:t xml:space="preserve">모델이 모르는 우리 기준을 입력·출력 예시로 전달한다.</a:t>
            </a:r>
          </a:p>
          <a:p>
            <a:r>
              <a:t xml:space="preserve"/>
            </a:r>
          </a:p>
          <a:p>
            <a:r>
              <a:t xml:space="preserve">Opening Question:</a:t>
            </a:r>
          </a:p>
          <a:p>
            <a:r>
              <a:t xml:space="preserve">“사내 고유 표기·분류가 설명만으로 안 맞을 때, 어떤 요청 문장이 도움이 될까요?”</a:t>
            </a:r>
          </a:p>
          <a:p>
            <a:r>
              <a:t xml:space="preserve"/>
            </a:r>
          </a:p>
          <a:p>
            <a:r>
              <a:t xml:space="preserve">Speaker Flow:</a:t>
            </a:r>
          </a:p>
          <a:p>
            <a:r>
              <a:t xml:space="preserve">1. 0:00–0:15: 기법/접근명 “Few-shot Prompting”와 사용 상황을 짚는다. 입력·출력 예시로 기준 전달이라는 뜻이다. 핵심/조건부는 사용 선택을 돕는 교육 우선순위다.</a:t>
            </a:r>
          </a:p>
          <a:p>
            <a:r>
              <a:t xml:space="preserve">2. 0:15–0:45: 세 입력 상태에서 팀 표기로 이어지는 예시 대응을 가리킨다. 오른쪽에서 간단히 요청→팀 기준 전달 여부→필요할 때만 예시 추가를 확인한다. 화살표는 예시의 입력/출력 대응이며 실제 실행 기록이 아니다. 요청 전문 대신 강조한 핵심 문장만 읽는다.</a:t>
            </a:r>
          </a:p>
          <a:p>
            <a:r>
              <a:t xml:space="preserve"/>
            </a:r>
          </a:p>
          <a:p>
            <a:r>
              <a:t xml:space="preserve">```text</a:t>
            </a:r>
          </a:p>
          <a:p>
            <a:r>
              <a:t xml:space="preserve">우리 팀의 보고 표기를 아래 예시처럼 맞춰줘.</a:t>
            </a:r>
          </a:p>
          <a:p>
            <a:r>
              <a:t xml:space="preserve">테스트 로그 있음: [실행 확인] 명령·결과</a:t>
            </a:r>
          </a:p>
          <a:p>
            <a:r>
              <a:t xml:space="preserve">코드만 검토함: [코드 검토] 파일·판단</a:t>
            </a:r>
          </a:p>
          <a:p>
            <a:r>
              <a:t xml:space="preserve">근거를 못 찾음: [미확인] 필요한 자료</a:t>
            </a:r>
          </a:p>
          <a:p>
            <a:r>
              <a:t xml:space="preserve"/>
            </a:r>
          </a:p>
          <a:p>
            <a:r>
              <a:t xml:space="preserve">첨부한 변경 보고서를 같은 형식으로 정리해줘.</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실제 회사의 규정을 제공받은 것이 아니다. 입력 상태와 표기는 가상 팀의 보고 기준 예시이며 수강자가 자신의 실제 보고서와 기준으로 바꿔 사용한다.</a:t>
            </a:r>
          </a:p>
          <a:p>
            <a:r>
              <a:t xml:space="preserve"/>
            </a:r>
          </a:p>
          <a:p>
            <a:r>
              <a:t xml:space="preserve">Evidence / Source:</a:t>
            </a:r>
          </a:p>
          <a:p>
            <a:r>
              <a:t xml:space="preserve">CLM-0033; SRC-0230, SRC-0231. 공식 문서 본문을2026-10-30 재확인했다. https://developers.openai.com/api/docs/guides/reasoning-best-practices; https://developers.openai.com/api/docs/guides/prompt-engineering.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Reasoning best practices · How to prompt reasoning models effectively. 원문 절: https://developers.openai.com/api/docs/guides/reasoning-best-practices#how-to-prompt-reasoning-models-effectively. 기법/접근 표시: Few-shot Prompting.</a:t>
            </a:r>
          </a:p>
          <a:p>
            <a:r>
              <a:t xml:space="preserve"/>
            </a:r>
          </a:p>
          <a:p>
            <a:r>
              <a:t xml:space="preserve">Claim Boundary:</a:t>
            </a:r>
          </a:p>
          <a:p>
            <a:r>
              <a:t xml:space="preserve">교육용 요청 문장이다. 실제 TRIAL-002의 원문·행동 기록·추가 실행·비교 실험이 아니다. 가상 팀의 보고 기준 · 실제 사내 규정이나 실행 결과가 아님 S29의 팀 기준은 교육용 가정이며 실제 회사 규정을 제공받거나 검증한 것이 아니다. 첨부 보고서는 수강자가 자기 자료로 바꿔 넣는 자리다. [실행 확인]은 실제 명령·결과 근거가 있을 때만 쓰며 이 화면에 실행 결과를 제시하지 않는다.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예시를 먼저 쌓지 않고 간단한 요청이 부족할 때 추가한다.</a:t>
            </a:r>
          </a:p>
          <a:p>
            <a:r>
              <a:t xml:space="preserve"/>
            </a:r>
          </a:p>
          <a:p>
            <a:r>
              <a:t xml:space="preserve">Advanced Insight:</a:t>
            </a:r>
          </a:p>
          <a:p>
            <a:r>
              <a:t xml:space="preserve">공식 추론 가이드는 zero-shot부터 시도하고 필요한 경우 정렬된 예시를 추가하도록 권한다. 일반 배열 인덱싱을 다시 가르치지 않고 업무 고유 표기·분류에 적용한다. 예시는 전체 정책·명세를 대신하지 않는다.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검사 프로젝트의 변경 보고에 적용할 수 있는 가상 팀 표기 예시다. 실제 회사 정책·장비 판정·실행 결과를 새로 확정하지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예시가 필요한 상황을 확인했다. 다음 S30에서는 보고 전체의 항목과 읽을 순서를 정한다.</a:t>
            </a:r>
          </a:p>
          <a:p>
            <a:r>
              <a:t xml:space="preserve"/>
            </a:r>
          </a:p>
          <a:p>
            <a:r>
              <a:t xml:space="preserve">Time Management:</a:t>
            </a:r>
          </a:p>
          <a:p>
            <a:r>
              <a:t xml:space="preserve">Case1분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S29 또는 production/preview/act1/S29.png의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a:t>
            </a:r>
          </a:p>
          <a:p>
            <a:r>
              <a:t xml:space="preserve">S30</a:t>
            </a:r>
          </a:p>
          <a:p>
            <a:r>
              <a:t xml:space="preserve"/>
            </a:r>
          </a:p>
          <a:p>
            <a:r>
              <a:t xml:space="preserve">Working Title:</a:t>
            </a:r>
          </a:p>
          <a:p>
            <a:r>
              <a:t xml:space="preserve">바로 검토할 수 있는 결과 형식</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검토에 필요한 항목을 지정하고, 중요한 근거는 남긴다.</a:t>
            </a:r>
          </a:p>
          <a:p>
            <a:r>
              <a:t xml:space="preserve"/>
            </a:r>
          </a:p>
          <a:p>
            <a:r>
              <a:t xml:space="preserve">Opening Question:</a:t>
            </a:r>
          </a:p>
          <a:p>
            <a:r>
              <a:t xml:space="preserve">“완료 보고에서 필요한 정보를 빨리 찾고 싶을 때, 어떤 요청 문장이 도움이 될까요?”</a:t>
            </a:r>
          </a:p>
          <a:p>
            <a:r>
              <a:t xml:space="preserve"/>
            </a:r>
          </a:p>
          <a:p>
            <a:r>
              <a:t xml:space="preserve">Speaker Flow:</a:t>
            </a:r>
          </a:p>
          <a:p>
            <a:r>
              <a:t xml:space="preserve">1. 0:00–0:15: 기법/접근명 “Output Format Specification”와 사용 상황을 짚는다. 받을 결과의 구조 지정이라는 뜻이다. 핵심/조건부는 사용 선택을 돕는 교육 우선순위다.</a:t>
            </a:r>
          </a:p>
          <a:p>
            <a:r>
              <a:t xml:space="preserve">2. 0:15–0:45: 강조한 네 보고 항목을 오른쪽 보고서 구조의01–04와 대응시킨다. 보고 항목을 정하는 것이며 실행한 결과를 새로 보여주지 않는다. 요청 전문 대신 강조한 핵심 문장만 읽는다.</a:t>
            </a:r>
          </a:p>
          <a:p>
            <a:r>
              <a:t xml:space="preserve"/>
            </a:r>
          </a:p>
          <a:p>
            <a:r>
              <a:t xml:space="preserve">```text</a:t>
            </a:r>
          </a:p>
          <a:p>
            <a:r>
              <a:t xml:space="preserve">crop 수정 결과를 아래 항목으로 보고해줘.</a:t>
            </a:r>
          </a:p>
          <a:p>
            <a:r>
              <a:t xml:space="preserve">1. 변경 파일과 이유</a:t>
            </a:r>
          </a:p>
          <a:p>
            <a:r>
              <a:t xml:space="preserve">2. 실행한 검사·결과</a:t>
            </a:r>
          </a:p>
          <a:p>
            <a:r>
              <a:t xml:space="preserve">3. 미실행 검사·이유</a:t>
            </a:r>
          </a:p>
          <a:p>
            <a:r>
              <a:t xml:space="preserve">4. 남은 위험·결정</a:t>
            </a:r>
          </a:p>
          <a:p>
            <a:r>
              <a:t xml:space="preserve">완료 판단에 필요한 근거는 생략하지 마.</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CLM-0034; SRC-0233, SRC-0234. 공식 문서 본문을2026-10-30 재확인했다. https://learn.chatgpt.com/docs/prompting; https://developers.openai.com/api/docs/guides/structured-outputs.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Prompting · Make the result ready to use. 원문 절: https://learn.chatgpt.com/docs/prompting#make-the-result-ready-to-use. 기법/접근 표시: Output Format Specification.</a:t>
            </a:r>
          </a:p>
          <a:p>
            <a:r>
              <a:t xml:space="preserve"/>
            </a:r>
          </a:p>
          <a:p>
            <a:r>
              <a:t xml:space="preserve">Claim Boundary:</a:t>
            </a:r>
          </a:p>
          <a:p>
            <a:r>
              <a:t xml:space="preserve">교육용 요청 문장이다. 실제 TRIAL-002의 원문·행동 기록·추가 실행·비교 실험이 아니다. 형식과 내용은 별도 확인 · 채팅의 형식 요청은 API Structured Outputs와 다름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기계적인 문장 수 제한보다 필요한 보고 항목을 정한다.</a:t>
            </a:r>
          </a:p>
          <a:p>
            <a:r>
              <a:t xml:space="preserve"/>
            </a:r>
          </a:p>
          <a:p>
            <a:r>
              <a:t xml:space="preserve">Advanced Insight:</a:t>
            </a:r>
          </a:p>
          <a:p>
            <a:r>
              <a:t xml:space="preserve">고정된 두 문장 제한을 제거했다. 중요한 근거·위험을 담을 분량을 허용한다. 자연어의 표/JSON 요청과 API JSON Schema 기반 Structured Outputs는 다르고 형식 준수만으로 내용이 옳지는 않다.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보고 항목이 있어도 설명의 근거는 따로 확인한다. S31에서 중요한 판단을 자료와 연결한다.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S30 또는 production/preview/act1/S30.png의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a:t>
            </a:r>
          </a:p>
          <a:p>
            <a:r>
              <a:t xml:space="preserve">S31</a:t>
            </a:r>
          </a:p>
          <a:p>
            <a:r>
              <a:t xml:space="preserve"/>
            </a:r>
          </a:p>
          <a:p>
            <a:r>
              <a:t xml:space="preserve">Working Title:</a:t>
            </a:r>
          </a:p>
          <a:p>
            <a:r>
              <a:t xml:space="preserve">근거가 있는 설명과 미확인의 구분</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중요한 판단에 근거를 받고, 추정·미확인은 구분한다.</a:t>
            </a:r>
          </a:p>
          <a:p>
            <a:r>
              <a:t xml:space="preserve"/>
            </a:r>
          </a:p>
          <a:p>
            <a:r>
              <a:t xml:space="preserve">Opening Question:</a:t>
            </a:r>
          </a:p>
          <a:p>
            <a:r>
              <a:t xml:space="preserve">“설명을 믿기 전에 실제 자료를 대조해야 할 때, 어떤 요청 문장이 도움이 될까요?”</a:t>
            </a:r>
          </a:p>
          <a:p>
            <a:r>
              <a:t xml:space="preserve"/>
            </a:r>
          </a:p>
          <a:p>
            <a:r>
              <a:t xml:space="preserve">Speaker Flow:</a:t>
            </a:r>
          </a:p>
          <a:p>
            <a:r>
              <a:t xml:space="preserve">1. 0:00–0:15: 기법/접근명 “Grounding”와 사용 상황을 짚는다. 설명을 실제 자료에 연결이라는 뜻이다. 핵심/조건부는 사용 선택을 돕는 교육 우선순위다.</a:t>
            </a:r>
          </a:p>
          <a:p>
            <a:r>
              <a:t xml:space="preserve">2. 0:15–0:45: 강조한 파일·함수 근거와 확인/추정/미확인 구분을 읽고, 오른쪽의 명세·구현·테스트가 결론을 뒷받침하는 관계를 확인한다. 도식은 특정 자료에서 새 결론을 실제 도출했다는 기록이 아니다. 요청 전문 대신 강조한 핵심 문장만 읽는다.</a:t>
            </a:r>
          </a:p>
          <a:p>
            <a:r>
              <a:t xml:space="preserve"/>
            </a:r>
          </a:p>
          <a:p>
            <a:r>
              <a:t xml:space="preserve">```text</a:t>
            </a:r>
          </a:p>
          <a:p>
            <a:r>
              <a:t xml:space="preserve">crop의 명세·구현·테스트를 비교해줘.</a:t>
            </a:r>
          </a:p>
          <a:p>
            <a:r>
              <a:t xml:space="preserve">중요한 결론마다 파일·함수 근거를 붙여줘.</a:t>
            </a:r>
          </a:p>
          <a:p>
            <a:r>
              <a:t xml:space="preserve">확인한 내용과 추정·미확인을 구분해줘.</a:t>
            </a:r>
          </a:p>
          <a:p>
            <a:r>
              <a:t xml:space="preserve">자료가 충돌하면 차이를 먼저 알려줘.</a:t>
            </a:r>
          </a:p>
          <a:p>
            <a:r>
              <a:t xml:space="preserve">없는 정책은 만들어 채우지 마.</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CLM-0035; SRC-0230, SRC-0234. 공식 문서 본문을2026-10-30 재확인했다. https://learn.chatgpt.com/docs/prompting; https://developers.openai.com/api/docs/guides/prompt-engineering.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Prompting · Add useful context / Set boundaries. 원문 절: https://learn.chatgpt.com/docs/prompting#add-useful-context. 기법/접근 표시: Grounding.</a:t>
            </a:r>
          </a:p>
          <a:p>
            <a:r>
              <a:t xml:space="preserve"/>
            </a:r>
          </a:p>
          <a:p>
            <a:r>
              <a:t xml:space="preserve">Claim Boundary:</a:t>
            </a:r>
          </a:p>
          <a:p>
            <a:r>
              <a:t xml:space="preserve">교육용 요청 문장이다. 실제 TRIAL-002의 원문·행동 기록·추가 실행·비교 실험이 아니다. 출처가 있어도 원문과 대조한다 · 인용 자체가 정확성의 보증은 아님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S30의 보고 형식과 달리 여기서는 판단을 뒷받침하는 자료를 다룬다.</a:t>
            </a:r>
          </a:p>
          <a:p>
            <a:r>
              <a:t xml:space="preserve"/>
            </a:r>
          </a:p>
          <a:p>
            <a:r>
              <a:t xml:space="preserve">Advanced Insight:</a:t>
            </a:r>
          </a:p>
          <a:p>
            <a:r>
              <a:t xml:space="preserve">모든 사소한 문장에 줄 번호를 강제하지 않고 중요한 결론을 실제 자료와 연결한다. 보고 형식(S30), 설명의 근거(S31), 변경안 위반 검토(S34)의 역할을 구분한다.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자료를 찾아도 정책이 없다면 사람이 선택해야 한다. S32에서 질문할 결정의 범위를 본다.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S31 또는 production/preview/act1/S31.png의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a:t>
            </a:r>
          </a:p>
          <a:p>
            <a:r>
              <a:t xml:space="preserve">S32</a:t>
            </a:r>
          </a:p>
          <a:p>
            <a:r>
              <a:t xml:space="preserve"/>
            </a:r>
          </a:p>
          <a:p>
            <a:r>
              <a:t xml:space="preserve">Working Title:</a:t>
            </a:r>
          </a:p>
          <a:p>
            <a:r>
              <a:t xml:space="preserve">결과를 바꾸는 결정에서 확인 질문</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조사할 사실은 찾게 하고, 결과를 바꾸는 결정은 묻는다.</a:t>
            </a:r>
          </a:p>
          <a:p>
            <a:r>
              <a:t xml:space="preserve"/>
            </a:r>
          </a:p>
          <a:p>
            <a:r>
              <a:t xml:space="preserve">Opening Question:</a:t>
            </a:r>
          </a:p>
          <a:p>
            <a:r>
              <a:t xml:space="preserve">“사람의 선택에 따라 구현이나 완료 기준이 바뀔 때, 어떤 요청 문장이 도움이 될까요?”</a:t>
            </a:r>
          </a:p>
          <a:p>
            <a:r>
              <a:t xml:space="preserve"/>
            </a:r>
          </a:p>
          <a:p>
            <a:r>
              <a:t xml:space="preserve">Speaker Flow:</a:t>
            </a:r>
          </a:p>
          <a:p>
            <a:r>
              <a:t xml:space="preserve">1. 0:00–0:15: 기법/접근명 “Clarifying Questions”와 사용 상황을 짚는다. 결과를 바꾸는 결정 확인이라는 뜻이다. 핵심/조건부는 사용 선택을 돕는 교육 우선순위다.</a:t>
            </a:r>
          </a:p>
          <a:p>
            <a:r>
              <a:t xml:space="preserve">2. 0:15–0:45: 정책이 없을 때의 질문과 독립 조사 계속 문장을 짚고, 오른쪽에서 조사 후 남은 결정의 유무에 따라 진행/질문이 갈리는 구조를 본다. 요청 전문 대신 강조한 핵심 문장만 읽는다.</a:t>
            </a:r>
          </a:p>
          <a:p>
            <a:r>
              <a:t xml:space="preserve"/>
            </a:r>
          </a:p>
          <a:p>
            <a:r>
              <a:t xml:space="preserve">```text</a:t>
            </a:r>
          </a:p>
          <a:p>
            <a:r>
              <a:t xml:space="preserve">빈 crop 범위의 처리 정책을 조사해줘.</a:t>
            </a:r>
          </a:p>
          <a:p>
            <a:r>
              <a:t xml:space="preserve">문서·테스트·호출부에서 먼저 찾아줘.</a:t>
            </a:r>
          </a:p>
          <a:p>
            <a:r>
              <a:t xml:space="preserve">정책이 없어 동작을 선택해야 한다면</a:t>
            </a:r>
          </a:p>
          <a:p>
            <a:r>
              <a:t xml:space="preserve">선택지와 영향을 정리하고 질문해줘.</a:t>
            </a:r>
          </a:p>
          <a:p>
            <a:r>
              <a:t xml:space="preserve">그 선택에 의존하는 수정은 답변 뒤 진행해줘.</a:t>
            </a:r>
          </a:p>
          <a:p>
            <a:r>
              <a:t xml:space="preserve">결정과 무관한 조사는 계속해줘.</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CLM-0036; SRC-0234, SRC-0235, SRC-0243. 공식 문서 본문을2026-10-30 재확인했다. https://developers.openai.com/api/docs/guides/latest-model; https://learn.chatgpt.com/docs/prompting.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Using GPT-6 · Initiative and follow-through. 원문 절: https://developers.openai.com/api/docs/guides/latest-model#initiative-and-follow-through. 기법/접근 표시: Clarifying Questions.</a:t>
            </a:r>
          </a:p>
          <a:p>
            <a:r>
              <a:t xml:space="preserve"/>
            </a:r>
          </a:p>
          <a:p>
            <a:r>
              <a:t xml:space="preserve">Claim Boundary:</a:t>
            </a:r>
          </a:p>
          <a:p>
            <a:r>
              <a:t xml:space="preserve">교육용 요청 문장이다. 실제 TRIAL-002의 원문·행동 기록·추가 실행·비교 실험이 아니다. 모든 세부를 질문하지 않는다 · 결정과 무관한 허용된 작업은 계속 진행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조사 가능한 사실을 모두 사람에게 되묻지 않도록 범위를 정한다.</a:t>
            </a:r>
          </a:p>
          <a:p>
            <a:r>
              <a:t xml:space="preserve"/>
            </a:r>
          </a:p>
          <a:p>
            <a:r>
              <a:t xml:space="preserve">Advanced Insight:</a:t>
            </a:r>
          </a:p>
          <a:p>
            <a:r>
              <a:t xml:space="preserve">질문 기준은 결과를 바꾸는 의도·명세·조건의 결정이다. 자료에서 조사할 사실을 모두 사용자에게 되묻지 않는다. 승인이 필요한 결정에 의존하는 작업만 대기하고 승인된 독립 조사는 계속한다.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사람의 결정이 필요한 변경은 구현 전에 검토할 계획을 받을 수 있다. S33에서 그 사용 조건을 본다.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S32 또는 production/preview/act1/S32.png의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a:t>
            </a:r>
          </a:p>
          <a:p>
            <a:r>
              <a:t xml:space="preserve">S33</a:t>
            </a:r>
          </a:p>
          <a:p>
            <a:r>
              <a:t xml:space="preserve"/>
            </a:r>
          </a:p>
          <a:p>
            <a:r>
              <a:t xml:space="preserve">Working Title:</a:t>
            </a:r>
          </a:p>
          <a:p>
            <a:r>
              <a:t xml:space="preserve">큰 작업을 검토할 결과물로 나누기</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중간 판단이 필요한 작업은, 구현 전에 검토할 계획을 받는다.</a:t>
            </a:r>
          </a:p>
          <a:p>
            <a:r>
              <a:t xml:space="preserve"/>
            </a:r>
          </a:p>
          <a:p>
            <a:r>
              <a:t xml:space="preserve">Opening Question:</a:t>
            </a:r>
          </a:p>
          <a:p>
            <a:r>
              <a:t xml:space="preserve">“조사 결과를 보고 구현 범위를 결정해야 할 때, 어떤 요청 문장이 도움이 될까요?”</a:t>
            </a:r>
          </a:p>
          <a:p>
            <a:r>
              <a:t xml:space="preserve"/>
            </a:r>
          </a:p>
          <a:p>
            <a:r>
              <a:t xml:space="preserve">Speaker Flow:</a:t>
            </a:r>
          </a:p>
          <a:p>
            <a:r>
              <a:t xml:space="preserve">1. 0:00–0:15: 기법/접근명 “Task Decomposition”와 사용 상황을 짚는다. 검토할 산출물과 단계 구분이라는 뜻이다. 핵심/조건부는 사용 선택을 돕는 교육 우선순위다.</a:t>
            </a:r>
          </a:p>
          <a:p>
            <a:r>
              <a:t xml:space="preserve">2. 0:15–0:45: 조사·선택 지점·수정 없는 계획 문장을 짚는다. 오른쪽01 조사 산출물/02 구현 전 계획/03 범위 선택은 사람이 검토할 결과의 경계다. 요청 전문 대신 강조한 핵심 문장만 읽는다.</a:t>
            </a:r>
          </a:p>
          <a:p>
            <a:r>
              <a:t xml:space="preserve"/>
            </a:r>
          </a:p>
          <a:p>
            <a:r>
              <a:t xml:space="preserve">```text</a:t>
            </a:r>
          </a:p>
          <a:p>
            <a:r>
              <a:t xml:space="preserve">ROI 설정을 crop에 연결하려 한다.</a:t>
            </a:r>
          </a:p>
          <a:p>
            <a:r>
              <a:t xml:space="preserve">먼저 현재 경로와 변경 후보를 조사해줘.</a:t>
            </a:r>
          </a:p>
          <a:p>
            <a:r>
              <a:t xml:space="preserve">범위·호환성에 선택이 필요한 지점을 알려줘.</a:t>
            </a:r>
          </a:p>
          <a:p>
            <a:r>
              <a:t xml:space="preserve">이번에는 수정 없이 계획만 제안해줘.</a:t>
            </a:r>
          </a:p>
          <a:p>
            <a:r>
              <a:t xml:space="preserve"/>
            </a:r>
          </a:p>
          <a:p>
            <a:r>
              <a:t xml:space="preserve">계획을 검토한 뒤 구현 범위를 정하겠다.</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CLM-0037; SRC-0231, SRC-0232, SRC-0243. 공식 문서 본문을2026-10-30 재확인했다. https://learn.chatgpt.com/guides/best-practices; https://developers.openai.com/api/docs/guides/reasoning-best-practices.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Best practices · Plan first for difficult tasks. 원문 절: https://learn.chatgpt.com/guides/best-practices#plan-first-for-difficult-tasks. 기법/접근 표시: Task Decomposition.</a:t>
            </a:r>
          </a:p>
          <a:p>
            <a:r>
              <a:t xml:space="preserve"/>
            </a:r>
          </a:p>
          <a:p>
            <a:r>
              <a:t xml:space="preserve">Claim Boundary:</a:t>
            </a:r>
          </a:p>
          <a:p>
            <a:r>
              <a:t xml:space="preserve">교육용 요청 문장이다. 실제 TRIAL-002의 원문·행동 기록·추가 실행·비교 실험이 아니다. 작업 계획과 검토 지점을 요청한다 · 내부 사고 과정의 출력을 요구하지 않음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큰 작업이라는 이유만으로 잘게 나누거나 승인 단계를 늘리지 않는다.</a:t>
            </a:r>
          </a:p>
          <a:p>
            <a:r>
              <a:t xml:space="preserve"/>
            </a:r>
          </a:p>
          <a:p>
            <a:r>
              <a:t xml:space="preserve">Advanced Insight:</a:t>
            </a:r>
          </a:p>
          <a:p>
            <a:r>
              <a:t xml:space="preserve">작업이 크다는 이유만으로 세분화하거나 단계별 승인을 의무화하지 않는다. 조사 결과에 따라 구현 범위·호환성 선택이 바뀔 때 계획 산출물이 필요하다. 작업 계획 요청은 내부 사고 과정 공개와 다르다.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계획 뒤의 변경안에서 무엇을 중점 검토할지 S34로 연결한다.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S33 또는 production/preview/act1/S33.png의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a:t>
            </a:r>
          </a:p>
          <a:p>
            <a:r>
              <a:t xml:space="preserve">S34</a:t>
            </a:r>
          </a:p>
          <a:p>
            <a:r>
              <a:t xml:space="preserve"/>
            </a:r>
          </a:p>
          <a:p>
            <a:r>
              <a:t xml:space="preserve">Working Title:</a:t>
            </a:r>
          </a:p>
          <a:p>
            <a:r>
              <a:t xml:space="preserve">기준을 지정한 코드 리뷰 요청</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검토 기준과 실패 조건을 지정하고, 실제 검사와 구분한다.</a:t>
            </a:r>
          </a:p>
          <a:p>
            <a:r>
              <a:t xml:space="preserve"/>
            </a:r>
          </a:p>
          <a:p>
            <a:r>
              <a:t xml:space="preserve">Opening Question:</a:t>
            </a:r>
          </a:p>
          <a:p>
            <a:r>
              <a:t xml:space="preserve">“변경안에서 놓치면 안 될 문제를 검토할 때, 어떤 요청 문장이 도움이 될까요?”</a:t>
            </a:r>
          </a:p>
          <a:p>
            <a:r>
              <a:t xml:space="preserve"/>
            </a:r>
          </a:p>
          <a:p>
            <a:r>
              <a:t xml:space="preserve">Speaker Flow:</a:t>
            </a:r>
          </a:p>
          <a:p>
            <a:r>
              <a:t xml:space="preserve">1. 0:00–0:15: 기법/접근명 “Criteria-based Review”와 사용 상황을 짚는다. 기준을 지정한 변경 검토이라는 뜻이다. 핵심/조건부는 사용 선택을 돕는 교육 우선순위다.</a:t>
            </a:r>
          </a:p>
          <a:p>
            <a:r>
              <a:t xml:space="preserve">2. 0:15–0:45: 명세·공개 API·변경 범위를 강조한 문장을 오른쪽 세 질문과 연결한다. 발견 사항은 위치·실패 조건·영향으로 보고하며 실제 검사와 정적 검토를 구분한다. 요청 전문 대신 강조한 핵심 문장만 읽는다.</a:t>
            </a:r>
          </a:p>
          <a:p>
            <a:r>
              <a:t xml:space="preserve"/>
            </a:r>
          </a:p>
          <a:p>
            <a:r>
              <a:t xml:space="preserve">```text</a:t>
            </a:r>
          </a:p>
          <a:p>
            <a:r>
              <a:t xml:space="preserve">crop 변경안에서 다음을 검토해줘.</a:t>
            </a:r>
          </a:p>
          <a:p>
            <a:r>
              <a:t xml:space="preserve">끝 좌표 제외 명세·공개 API·오류 정책 보존</a:t>
            </a:r>
          </a:p>
          <a:p>
            <a:r>
              <a:t xml:space="preserve">요청과 무관한 변경 여부</a:t>
            </a:r>
          </a:p>
          <a:p>
            <a:r>
              <a:t xml:space="preserve">발견 사항은 위치·실패 조건·영향으로 보고해줘.</a:t>
            </a:r>
          </a:p>
          <a:p>
            <a:r>
              <a:t xml:space="preserve">정적 검토와 실제 실행한 검사를 구분해줘.</a:t>
            </a:r>
          </a:p>
          <a:p>
            <a:r>
              <a:t xml:space="preserve">이번에는 코드를 바꾸지 마.</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CLM-0038; SRC-0232, SRC-0235, SRC-0243. 공식 문서 본문을2026-10-30 재확인했다. https://learn.chatgpt.com/guides/best-practices; https://developers.openai.com/api/docs/guides/latest-model.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Best practices · Improve reliability with testing and review. 원문 절: https://learn.chatgpt.com/guides/best-practices#improve-reliability-with-testing-and-review. 기법/접근 표시: Criteria-based Review.</a:t>
            </a:r>
          </a:p>
          <a:p>
            <a:r>
              <a:t xml:space="preserve"/>
            </a:r>
          </a:p>
          <a:p>
            <a:r>
              <a:t xml:space="preserve">Claim Boundary:</a:t>
            </a:r>
          </a:p>
          <a:p>
            <a:r>
              <a:t xml:space="preserve">교육용 요청 문장이다. 실제 TRIAL-002의 원문·행동 기록·추가 실행·비교 실험이 아니다. 리뷰에도 누락이 있을 수 있다 · 실행 근거와 사람의 완료 판단을 함께 확인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S31은 설명 근거, S34는 변경안의 위반 검토다. 문제 개수를 억지로 채우지 않는다.</a:t>
            </a:r>
          </a:p>
          <a:p>
            <a:r>
              <a:t xml:space="preserve"/>
            </a:r>
          </a:p>
          <a:p>
            <a:r>
              <a:t xml:space="preserve">Advanced Insight:</a:t>
            </a:r>
          </a:p>
          <a:p>
            <a:r>
              <a:t xml:space="preserve">리뷰 관점은 업무별 실패 조건이다. 발견을 억지로 채우거나 전문가 역할만으로 정확성을 보장하지 않는다. 정적 분석과 실제 실행 근거를 구분하고 검사 범위는 변경 영향에 맞춘다. 이 예시는 검토 요청이므로 코드를 수정하지 않는다.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첫 제안이나 리뷰에서 요구와 다른 지점을 알았다면, S35에서 근거와 수정 범위를 전달한다.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S34 또는 production/preview/act1/S34.png의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a:t>
            </a:r>
          </a:p>
          <a:p>
            <a:r>
              <a:t xml:space="preserve">S35</a:t>
            </a:r>
          </a:p>
          <a:p>
            <a:r>
              <a:t xml:space="preserve"/>
            </a:r>
          </a:p>
          <a:p>
            <a:r>
              <a:t xml:space="preserve">Working Title:</a:t>
            </a:r>
          </a:p>
          <a:p>
            <a:r>
              <a:t xml:space="preserve">구체적인 근거로 수정 방향 피드백</a:t>
            </a:r>
          </a:p>
          <a:p>
            <a:r>
              <a:t xml:space="preserve"/>
            </a:r>
          </a:p>
          <a:p>
            <a:r>
              <a:t xml:space="preserve">ACT / Section:</a:t>
            </a:r>
          </a:p>
          <a:p>
            <a:r>
              <a:t xml:space="preserve">ACT 1 / 1H — Practical Prompt Methods</a:t>
            </a:r>
          </a:p>
          <a:p>
            <a:r>
              <a:t xml:space="preserve"/>
            </a:r>
          </a:p>
          <a:p>
            <a:r>
              <a:t xml:space="preserve">Allocated Time:</a:t>
            </a:r>
          </a:p>
          <a:p>
            <a:r>
              <a:t xml:space="preserve">1 minute</a:t>
            </a:r>
          </a:p>
          <a:p>
            <a:r>
              <a:t xml:space="preserve"/>
            </a:r>
          </a:p>
          <a:p>
            <a:r>
              <a:t xml:space="preserve">Mode Split:</a:t>
            </a:r>
          </a:p>
          <a:p>
            <a:r>
              <a:t xml:space="preserve">Lecture 1 minute</a:t>
            </a:r>
          </a:p>
          <a:p>
            <a:r>
              <a:t xml:space="preserve"/>
            </a:r>
          </a:p>
          <a:p>
            <a:r>
              <a:t xml:space="preserve">Primary Message:</a:t>
            </a:r>
          </a:p>
          <a:p>
            <a:r>
              <a:t xml:space="preserve">어긋난 지점·기대 결과·유지할 조건으로 방향을 고친다.</a:t>
            </a:r>
          </a:p>
          <a:p>
            <a:r>
              <a:t xml:space="preserve"/>
            </a:r>
          </a:p>
          <a:p>
            <a:r>
              <a:t xml:space="preserve">Opening Question:</a:t>
            </a:r>
          </a:p>
          <a:p>
            <a:r>
              <a:t xml:space="preserve">“첫 제안의 어떤 부분이 요구와 다른지 알 때, 어떤 요청 문장이 도움이 될까요?”</a:t>
            </a:r>
          </a:p>
          <a:p>
            <a:r>
              <a:t xml:space="preserve"/>
            </a:r>
          </a:p>
          <a:p>
            <a:r>
              <a:t xml:space="preserve">Speaker Flow:</a:t>
            </a:r>
          </a:p>
          <a:p>
            <a:r>
              <a:t xml:space="preserve">1. 0:00–0:15: 기법/접근명 “Iterative Refinement”와 사용 상황을 짚는다. 구체적 피드백으로 결과 수정이라는 뜻이다. 핵심/조건부는 사용 선택을 돕는 교육 우선순위다.</a:t>
            </a:r>
          </a:p>
          <a:p>
            <a:r>
              <a:t xml:space="preserve">2. 0:15–0:45: 명세의 폭2와 보존 조건의 강조를 오른쪽 어긋난 지점/판단 근거/유지 조건에 대응시킨다. 가상의 잘못된 제안을 근거로 고치는 요청이며 실제 응답 실패나 개선 성과가 아니다. 요청 전문 대신 강조한 핵심 문장만 읽는다.</a:t>
            </a:r>
          </a:p>
          <a:p>
            <a:r>
              <a:t xml:space="preserve"/>
            </a:r>
          </a:p>
          <a:p>
            <a:r>
              <a:t xml:space="preserve">```text</a:t>
            </a:r>
          </a:p>
          <a:p>
            <a:r>
              <a:t xml:space="preserve">앞선 “기대 폭을 3으로 바꾸자”는 제안을</a:t>
            </a:r>
          </a:p>
          <a:p>
            <a:r>
              <a:t xml:space="preserve">고쳐줘. 명세는 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바뀐 제안과 미확인 사항을 알려줘.</a:t>
            </a:r>
          </a:p>
          <a:p>
            <a:r>
              <a:t xml:space="preserve">```</a:t>
            </a:r>
          </a:p>
          <a:p>
            <a:r>
              <a:t xml:space="preserve"/>
            </a:r>
          </a:p>
          <a:p>
            <a:r>
              <a:t xml:space="preserve">3. 0:45–1:00: 하단의 한 문장으로 회수하고 기존 Transition으로 이동한다. 출처 행의 문서명·절은 이 접근을 뒷받침하는 권고이며 교육 예시의 실행 효과를 입증하지 않는다.</a:t>
            </a:r>
          </a:p>
          <a:p>
            <a:r>
              <a:t xml:space="preserve"/>
            </a:r>
          </a:p>
          <a:p>
            <a:r>
              <a:t xml:space="preserve">Evidence / Source:</a:t>
            </a:r>
          </a:p>
          <a:p>
            <a:r>
              <a:t xml:space="preserve">CLM-0039; SRC-0234. 공식 문서 본문을2026-10-30 재확인했다. https://learn.chatgpt.com/docs/prompting. 문서별 절·지원 범위·기존2026-10-21 판본은 references/product/PROMPT_ENGINEERING_2026-10-30.md와 references/sources/SOURCES.md를 따른다. SRC-0243의 모델별 지침 재검토는 GPT-6 Astra 사례이며 전 모델의 효과를 입증하지 않는다.</a:t>
            </a:r>
          </a:p>
          <a:p>
            <a:r>
              <a:t xml:space="preserve">화면 출처: 출처 · OpenAI, Prompting · Improve the result with follow-up messages. 원문 절: https://learn.chatgpt.com/docs/prompting#improve-the-result-with-follow-up-messages. 기법/접근 표시: Iterative Refinement.</a:t>
            </a:r>
          </a:p>
          <a:p>
            <a:r>
              <a:t xml:space="preserve"/>
            </a:r>
          </a:p>
          <a:p>
            <a:r>
              <a:t xml:space="preserve">Claim Boundary:</a:t>
            </a:r>
          </a:p>
          <a:p>
            <a:r>
              <a:t xml:space="preserve">교육용 요청 문장이다. 실제 TRIAL-002의 원문·행동 기록·추가 실행·비교 실험이 아니다. 앞선 제안은 가상 예시 · 반복 요청만으로 품질 향상을 보장하지 않음  공식 권고의 존재와 교육 예시의 성공·정확도·비용·시간·성능 효과를 구분한다. 회사 계정/제품 표면이나 모든 모델의 동일한 동작을 검증한 것이 아니다.</a:t>
            </a:r>
          </a:p>
          <a:p>
            <a:r>
              <a:t xml:space="preserve"/>
            </a:r>
          </a:p>
          <a:p>
            <a:r>
              <a:t xml:space="preserve">Beginner Explanation:</a:t>
            </a:r>
          </a:p>
          <a:p>
            <a:r>
              <a:t xml:space="preserve">상단의 사용 상황과 자신의 작업을 대조한다. 예시를 복사할 때 실제 목표·자료·명세로 바꾼다. 고친 요청에도 다음 작업에 다시 적을 공통 조건이 남는지 S36으로 연결한다.</a:t>
            </a:r>
          </a:p>
          <a:p>
            <a:r>
              <a:t xml:space="preserve"/>
            </a:r>
          </a:p>
          <a:p>
            <a:r>
              <a:t xml:space="preserve">Advanced Insight:</a:t>
            </a:r>
          </a:p>
          <a:p>
            <a:r>
              <a:t xml:space="preserve">막연한 반복·동의 요구 대신 명세와 실제 근거에 맞춰 범위를 좁힌다. 여기의 앞선 제안은 가상 구성이며 실제 실패 응답·반복 비교·개선률이 아니다. 다음 반복 Context 질문을 앞당겨 답하지 않는다.</a:t>
            </a:r>
          </a:p>
          <a:p>
            <a:r>
              <a:t xml:space="preserve">명칭은 실무에서 쓰는 기법 또는 설명용 접근 이름이다. OpenAI가 이8개를 같은 이름의 표준 분류로 공인했다는 뜻은 아니다. 특히 Output Format Specification과 Criteria-based Review는 출력 구조 지정·기준 리뷰를 설명하는 실무 표기다. Task Decomposition은 여기서 조사/계획/검토할 범위를 나누는 방식으로 적용하며 특정 Plan-and-Solve/CoT 논문 기법과 동일시하지 않는다.</a:t>
            </a:r>
          </a:p>
          <a:p>
            <a:r>
              <a:t xml:space="preserve"/>
            </a:r>
          </a:p>
          <a:p>
            <a:r>
              <a:t xml:space="preserve">C++ Vision Bridge:</a:t>
            </a:r>
          </a:p>
          <a:p>
            <a:r>
              <a:t xml:space="preserve">기존 crop/ROI 업무에 적용하는 요청 예시다. 실제 Trial은 기존 Python 기록이며 C++/GoogleTest 실행·새 오류 정책을 추가하지 않는다.</a:t>
            </a:r>
          </a:p>
          <a:p>
            <a:r>
              <a:t xml:space="preserve"/>
            </a:r>
          </a:p>
          <a:p>
            <a:r>
              <a:t xml:space="preserve">Demo Operation:</a:t>
            </a:r>
          </a:p>
          <a:p>
            <a:r>
              <a:t xml:space="preserve">N/A — 정적 교육용 Prompt 예시. 새 Trial·모델 실행·비교 실험·Live 시연은 하지 않는다.</a:t>
            </a:r>
          </a:p>
          <a:p>
            <a:r>
              <a:t xml:space="preserve"/>
            </a:r>
          </a:p>
          <a:p>
            <a:r>
              <a:t xml:space="preserve">Audience Interaction:</a:t>
            </a:r>
          </a:p>
          <a:p>
            <a:r>
              <a:t xml:space="preserve">요청 예시의 두세 행을 읽고 자신의 업무에서 사용할 상황을 떠올리게 한다. 직접 실습·공개 답변은 요구하지 않는다.</a:t>
            </a:r>
          </a:p>
          <a:p>
            <a:r>
              <a:t xml:space="preserve"/>
            </a:r>
          </a:p>
          <a:p>
            <a:r>
              <a:t xml:space="preserve">Transition:</a:t>
            </a:r>
          </a:p>
          <a:p>
            <a:r>
              <a:t xml:space="preserve">요청을 구체화해도 다음 작업에 다시 적을 조건이 남습니다. S36에서 같은 crop 요청을 보며 찾아봅니다.</a:t>
            </a:r>
          </a:p>
          <a:p>
            <a:r>
              <a:t xml:space="preserve"/>
            </a:r>
          </a:p>
          <a:p>
            <a:r>
              <a:t xml:space="preserve">Time Management:</a:t>
            </a:r>
          </a:p>
          <a:p>
            <a:r>
              <a:t xml:space="preserve">Lecture1분 유지. 15초 상황·30초 예시·15초 핵심/전환으로 운영한다. 전체 요청·출처를 낭독하지 않는다.8장 합계8분=Lecture7+Case1이며 실제 리허설 전 시간 적합성은 UNVERIFIED다.</a:t>
            </a:r>
          </a:p>
          <a:p>
            <a:r>
              <a:t xml:space="preserve"/>
            </a:r>
          </a:p>
          <a:p>
            <a:r>
              <a:t xml:space="preserve">Fallback:</a:t>
            </a:r>
          </a:p>
          <a:p>
            <a:r>
              <a:t xml:space="preserve">production/ACT_1.pptx S35 또는 production/preview/act1/S35.png의 정적 화면. 교육용 예시와 실제 Trial을 구분한다. 외부 접속 없이 예시를 설명하고 현재 제품 시연으로 대체하지 않는다.</a:t>
            </a:r>
          </a:p>
          <a:p>
            <a:r>
              <a:t xml:space="preserve"/>
            </a:r>
          </a:p>
          <a:p>
            <a:r>
              <a:t xml:space="preserve">Validation Status:</a:t>
            </a:r>
          </a:p>
          <a:p>
            <a:r>
              <a:t xml:space="preserve">ALIGNED — DEC-0117. 화면 기법명·인용 절·강조 문장·도식과19필드 Notes를 맞췄다. 최종 검사: production/evaluation/PROMPT_TECHNIQUE_DESIGN_REVISION.md. Windows·발표PC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다음 작업에도 이 내용을 다시 적어야 할까?</a:t>
            </a:r>
          </a:p>
          <a:p>
            <a:r>
              <a:t xml:space="preserve"/>
            </a:r>
          </a:p>
          <a:p>
            <a:r>
              <a:t xml:space="preserve">Slide ID:</a:t>
            </a:r>
          </a:p>
          <a:p>
            <a:r>
              <a:t xml:space="preserve">S36</a:t>
            </a:r>
          </a:p>
          <a:p>
            <a:r>
              <a:t xml:space="preserve"/>
            </a:r>
          </a:p>
          <a:p>
            <a:r>
              <a:t xml:space="preserve">Working Title:</a:t>
            </a:r>
          </a:p>
          <a:p>
            <a:r>
              <a:t xml:space="preserve">다음 작업에도 이 내용을 다시 적어야 할까?</a:t>
            </a:r>
          </a:p>
          <a:p>
            <a:r>
              <a:t xml:space="preserve"/>
            </a:r>
          </a:p>
          <a:p>
            <a:r>
              <a:t xml:space="preserve">ACT / Section:</a:t>
            </a:r>
          </a:p>
          <a:p>
            <a:r>
              <a:t xml:space="preserve">ACT 1 / 1G</a:t>
            </a:r>
          </a:p>
          <a:p>
            <a:r>
              <a:t xml:space="preserve"/>
            </a:r>
          </a:p>
          <a:p>
            <a:r>
              <a:t xml:space="preserve">Allocated Time:</a:t>
            </a:r>
          </a:p>
          <a:p>
            <a:r>
              <a:t xml:space="preserve">3 minutes</a:t>
            </a:r>
          </a:p>
          <a:p>
            <a:r>
              <a:t xml:space="preserve"/>
            </a:r>
          </a:p>
          <a:p>
            <a:r>
              <a:t xml:space="preserve">Mode Split:</a:t>
            </a:r>
          </a:p>
          <a:p>
            <a:r>
              <a:t xml:space="preserve">Reflection 1 minute + Q&amp;A 2 minutes</a:t>
            </a:r>
          </a:p>
          <a:p>
            <a:r>
              <a:t xml:space="preserve"/>
            </a:r>
          </a:p>
          <a:p>
            <a:r>
              <a:t xml:space="preserve">Primary Message:</a:t>
            </a:r>
          </a:p>
          <a:p>
            <a:r>
              <a:t xml:space="preserve">잘 작성한 요청에서도 다음 작업에 다시 필요한 정보·기준이 있음을 발견한다. 이번 목표와 공통 기준을 같은 세 문장에서 살피며, 관리 방법의 질문은 S37에서 연다.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S35에서 원하는 변경과 유지할 조건을 명확히 썼다는 성과를 회수한다. 화면은 같은 crop의 교육용 요청이며 실제 TRIAL-002 발췌가 아니다. 세 문장을 그대로 두고 분류·정답을 먼저 주지 않는다.</a:t>
            </a:r>
          </a:p>
          <a:p>
            <a:r>
              <a:t xml:space="preserve">2. (0:15–1:00 / Reflection) 작업이 바뀌어도 다시 말할 문장이 무엇인지 조용히 생각하게 한다. 작성·공유·개인 업무 공개를 요구하지 않는다.</a:t>
            </a:r>
          </a:p>
          <a:p>
            <a:r>
              <a:t xml:space="preserve">3. (1:00–3:00 / Q&amp;A) 자발적인 질문을 받는다. 질문이 없으면 이번 목표와 다음 작업에도 지킬 조건이 같은 범위·수명인지 한 번 묻고 침묵을 허용한다. 저장 파일이나 자동 적용을 답으로 먼저 설명하지 않는다.</a:t>
            </a:r>
          </a:p>
          <a:p>
            <a:r>
              <a:t xml:space="preserve">4. (3:00) 다음 장에서 같은 세 문장을 나누고, 공통 기준을 어떻게 관리하고 참고하게 할지 질문한다고 S37로 이동한다.</a:t>
            </a:r>
          </a:p>
          <a:p>
            <a:r>
              <a:t xml:space="preserve"/>
            </a:r>
          </a:p>
          <a:p>
            <a:r>
              <a:t xml:space="preserve">Evidence / Source:</a:t>
            </a:r>
          </a:p>
          <a:p>
            <a:r>
              <a:t xml:space="preserve">TEACHING_MODEL. BEAT-007 → BEAT-008, CLM-0029, CLM-0027, CLM-0003, CLM-0005, DEC-0042, DEC-0113. S35의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좋은 요청을 쓰는 법을 배운 뒤에도 다음 작업에 다시 필요한 기준은 남는다. 먼저 같은 crop 요청에서 그 문장을 찾는다.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a:t>
            </a:r>
          </a:p>
          <a:p>
            <a:r>
              <a:t xml:space="preserve">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“같은 요청에서 이번 목표와 계속 참고할 기준을 나눠 보고, 그 기준을 어디에서 관리할지 생각해 보겠습니다.”라고 S37로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S36 또는 production/preview/act1/S36.png의 정적 요청을 사용한다. 질문이 없으면 요청의 세 문장을 읽어 보게 하고3분에 같은 문장을 분리한 S37로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작업마다 바뀌는 목표, 계속 쓰는 기준</a:t>
            </a:r>
          </a:p>
          <a:p>
            <a:r>
              <a:t xml:space="preserve"/>
            </a:r>
          </a:p>
          <a:p>
            <a:r>
              <a:t xml:space="preserve">Slide ID:</a:t>
            </a:r>
          </a:p>
          <a:p>
            <a:r>
              <a:t xml:space="preserve">S37</a:t>
            </a:r>
          </a:p>
          <a:p>
            <a:r>
              <a:t xml:space="preserve"/>
            </a:r>
          </a:p>
          <a:p>
            <a:r>
              <a:t xml:space="preserve">Working Title:</a:t>
            </a:r>
          </a:p>
          <a:p>
            <a:r>
              <a:t xml:space="preserve">작업마다 바뀌는 목표, 계속 쓰는 기준</a:t>
            </a:r>
          </a:p>
          <a:p>
            <a:r>
              <a:t xml:space="preserve"/>
            </a:r>
          </a:p>
          <a:p>
            <a:r>
              <a:t xml:space="preserve">ACT / Section:</a:t>
            </a:r>
          </a:p>
          <a:p>
            <a:r>
              <a:t xml:space="preserve">ACT 1 / 1G</a:t>
            </a:r>
          </a:p>
          <a:p>
            <a:r>
              <a:t xml:space="preserve"/>
            </a:r>
          </a:p>
          <a:p>
            <a:r>
              <a:t xml:space="preserve">Allocated Time:</a:t>
            </a:r>
          </a:p>
          <a:p>
            <a:r>
              <a:t xml:space="preserve">6 minutes</a:t>
            </a:r>
          </a:p>
          <a:p>
            <a:r>
              <a:t xml:space="preserve"/>
            </a:r>
          </a:p>
          <a:p>
            <a:r>
              <a:t xml:space="preserve">Mode Split:</a:t>
            </a:r>
          </a:p>
          <a:p>
            <a:r>
              <a:t xml:space="preserve">Reflection 1 minute + Transition 3 minutes + Q&amp;A 2 minutes</a:t>
            </a:r>
          </a:p>
          <a:p>
            <a:r>
              <a:t xml:space="preserve"/>
            </a:r>
          </a:p>
          <a:p>
            <a:r>
              <a:t xml:space="preserve">Primary Message:</a:t>
            </a:r>
          </a:p>
          <a:p>
            <a:r>
              <a:t xml:space="preserve">이번 작업의 목표·특수 조건은 요청에 담는다. 프로젝트에서 공통으로 적용하기로 합의한 정보·기준은 관리할 위치와 작업 시 제공·참조 방법을 설계한다.</a:t>
            </a:r>
          </a:p>
          <a:p>
            <a:r>
              <a:t xml:space="preserve"/>
            </a:r>
          </a:p>
          <a:p>
            <a:r>
              <a:t xml:space="preserve">Opening Question:</a:t>
            </a:r>
          </a:p>
          <a:p>
            <a:r>
              <a:t xml:space="preserve">“이 기준을 프로젝트에서 관리하고, 작업할 때 찾아 참고하게 할 수 없을까?”</a:t>
            </a:r>
          </a:p>
          <a:p>
            <a:r>
              <a:t xml:space="preserve"/>
            </a:r>
          </a:p>
          <a:p>
            <a:r>
              <a:t xml:space="preserve">Speaker Flow:</a:t>
            </a:r>
          </a:p>
          <a:p>
            <a:r>
              <a:t xml:space="preserve">1. (0:00–1:00 / Reflection) S36과 같은 요청에서 자신의 프로젝트가 여러 작업에 계속 적용하기로 합의한 기준을 생각하게 한다. 공개 분류·답안 작성은 요구하지 않는다.</a:t>
            </a:r>
          </a:p>
          <a:p>
            <a:r>
              <a:t xml:space="preserve">2. (1:00–2:00 / Transition) crop 수정 목표 한 줄과 API·정해진 테스트 명령 두 줄의 역할을 짚는다. 이번 작업에만 필요한 조건도 요청에 남아야 한다.</a:t>
            </a:r>
          </a:p>
          <a:p>
            <a:r>
              <a:t xml:space="preserve">3. (2:00–3:00 / Transition) 아래 두 줄은 이 프로젝트에서 계속 적용하기로 한 경우의 공통 기준이다. 반복 횟수만으로 전역·영구 지침으로 만들지 않는다. 기준이 바뀌면 여러 요청의 사본에 어떻게 반영할지도 관리할 문제임을 교육용 질문으로 남긴다.</a:t>
            </a:r>
          </a:p>
          <a:p>
            <a:r>
              <a:t xml:space="preserve">4. (3:00–4:00 / Transition) 하단 질문을 읽는다. 이번 전환은 여러 작업에 필요한 정보의 위치와 제공 방식을 설계하는 Context Engineering의 문제다. AGENTS.md·자동 로딩·Skill·수행 환경을 여기서 답으로 미리 보여주지 않는다.</a:t>
            </a:r>
          </a:p>
          <a:p>
            <a:r>
              <a:t xml:space="preserve">5. (4:00–6:00 / Q&amp;A) 자발적인 질문을 받는다. 질문이 없으면 같은 기준을 여러 요청에 각각 복사해 두면 변경 때 무엇을 확인해야 할지 묻는다.6분에 S38 제목을 거쳐 S39의 서로 다른 세 작업으로 범위를 넓힌다.</a:t>
            </a:r>
          </a:p>
          <a:p>
            <a:r>
              <a:t xml:space="preserve"/>
            </a:r>
          </a:p>
          <a:p>
            <a:r>
              <a:t xml:space="preserve">Evidence / Source:</a:t>
            </a:r>
          </a:p>
          <a:p>
            <a:r>
              <a:t xml:space="preserve">TEACHING_MODEL / CONCEPTUAL. BEAT-007, BEAT-008, TRANS-003, CLM-0029, CLM-0027, CLM-0003, CLM-0005, DEC-0042, DEC-0113. S36과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이번 목표와 조건을 요청에 명확히 쓰면서, 여러 작업에 공통인 기준의 관리 위치와 참고 방법도 생각한다. 원하는 목표를 문서에 모두 옮기거나 공통 기준을 요청에서 무조건 빼는 뜻이 아니다.</a:t>
            </a:r>
          </a:p>
          <a:p>
            <a:r>
              <a:t xml:space="preserve"/>
            </a:r>
          </a:p>
          <a:p>
            <a:r>
              <a:t xml:space="preserve">Advanced Insight:</a:t>
            </a:r>
          </a:p>
          <a:p>
            <a:r>
              <a:t xml:space="preserve">The distinction concerns information scope, ownership and update responsibility. A prompt can provide context too. A project record is not evidence of automatic loading or successful use; S40 shows the record and S41 shows bounded observed use. Keep task-specific conditions explicit.</a:t>
            </a:r>
          </a:p>
          <a:p>
            <a:r>
              <a:t xml:space="preserve"/>
            </a:r>
          </a:p>
          <a:p>
            <a:r>
              <a:t xml:space="preserve">C++ Vision Bridge:</a:t>
            </a:r>
          </a:p>
          <a:p>
            <a:r>
              <a:t xml:space="preserve">N/A.</a:t>
            </a:r>
          </a:p>
          <a:p>
            <a:r>
              <a:t xml:space="preserve"/>
            </a:r>
          </a:p>
          <a:p>
            <a:r>
              <a:t xml:space="preserve">Demo Operation:</a:t>
            </a:r>
          </a:p>
          <a:p>
            <a:r>
              <a:t xml:space="preserve">N/A — S36의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 뒤 Transition3분과 자발적 Q&amp;A2분이다. 공통 기준의 변경·제공을 생각하게 하되 정답 분류·실습·업무 공개를 요구하지 않는다. 질문이 없으면 하단 질문을 회수하고 정시에 다음 ACT로 이동한다.</a:t>
            </a:r>
          </a:p>
          <a:p>
            <a:r>
              <a:t xml:space="preserve"/>
            </a:r>
          </a:p>
          <a:p>
            <a:r>
              <a:t xml:space="preserve">Transition:</a:t>
            </a:r>
          </a:p>
          <a:p>
            <a:r>
              <a:t xml:space="preserve">“이 기준을 프로젝트에서 관리하고 작업할 때 찾아 참고하게 할 수 없을까요? 다음에는 서로 다른 세 작업에서도 같은 기준을 쓰는지 보겠습니다.”라고 S38 제목→S39로 이동한다.</a:t>
            </a:r>
          </a:p>
          <a:p>
            <a:r>
              <a:t xml:space="preserve"/>
            </a:r>
          </a:p>
          <a:p>
            <a:r>
              <a:t xml:space="preserve">Time Management:</a:t>
            </a:r>
          </a:p>
          <a:p>
            <a:r>
              <a:t xml:space="preserve">0–1분 Reflection,1–4분 Transition,4–6분 Q&amp;A를 유지한다. S38 ACT2 제목의1분은 별도다. 두 장 합계9분과 Reflection2/Transition3/Q&amp;A4를 보존한다. 실측 시간 적합성은 UNVERIFIED다.</a:t>
            </a:r>
          </a:p>
          <a:p>
            <a:r>
              <a:t xml:space="preserve"/>
            </a:r>
          </a:p>
          <a:p>
            <a:r>
              <a:t xml:space="preserve">Fallback:</a:t>
            </a:r>
          </a:p>
          <a:p>
            <a:r>
              <a:t xml:space="preserve">production/ACT_1.pptx S37 또는 production/preview/act1/S37.png의 정적 분리 도식을 사용한다. 프로젝트 합의·조건 범위를 밝히고 S38 제목→S39의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S37의 공통 기준 관리·참조 질문을 받아 ACT2 제목을 가리킨다.</a:t>
            </a:r>
          </a:p>
          <a:p>
            <a:r>
              <a:t xml:space="preserve">2. (0:20–0:40 / Transition) Context Engineering은 여러 작업에 필요한 정보를 어디에 두고 어떤 범위에서 제공·참고하게 할지 살피는 이번 구간의 관점이라고 짧게 연결한다. 저장 기능·해결 결과를 앞당기지 않는다.</a:t>
            </a:r>
          </a:p>
          <a:p>
            <a:r>
              <a:t xml:space="preserve">3. (0:40–1:00 / Transition) S39의 서로 다른 세 요청에서 공통 기준을 확인하겠다고 이동한다. 앞 장의 질문이나 성찰을 다시 운영하지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“서로 다른 세 작업에서도 같은 프로젝트 기준이 필요한지 보겠습니다.”라고 S39로 이동한다.</a:t>
            </a:r>
          </a:p>
          <a:p>
            <a:r>
              <a:t xml:space="preserve"/>
            </a:r>
          </a:p>
          <a:p>
            <a:r>
              <a:t xml:space="preserve">Time Management:</a:t>
            </a:r>
          </a:p>
          <a:p>
            <a:r>
              <a:t xml:space="preserve">Transition1분. ACT2 총90분, 전체417분을 유지한다. 제목과 연결만 안내하고1분에 S39로 넘긴다. 실제 시간 적합성은 리허설 전까지 UNVERIFIED다.</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a:t>
            </a:r>
          </a:p>
          <a:p>
            <a:r>
              <a:t xml:space="preserve">S39</a:t>
            </a:r>
          </a:p>
          <a:p>
            <a:r>
              <a:t xml:space="preserve"/>
            </a:r>
          </a:p>
          <a:p>
            <a:r>
              <a:t xml:space="preserve">Working Title:</a:t>
            </a:r>
          </a:p>
          <a:p>
            <a:r>
              <a:t xml:space="preserve">다른 Task에 같은 설명이 반복된다</a:t>
            </a:r>
          </a:p>
          <a:p>
            <a:r>
              <a:t xml:space="preserve"/>
            </a:r>
          </a:p>
          <a:p>
            <a:r>
              <a:t xml:space="preserve">ACT / Section:</a:t>
            </a:r>
          </a:p>
          <a:p>
            <a:r>
              <a:t xml:space="preserve">ACT 2 / 2A</a:t>
            </a:r>
          </a:p>
          <a:p>
            <a:r>
              <a:t xml:space="preserve"/>
            </a:r>
          </a:p>
          <a:p>
            <a:r>
              <a:t xml:space="preserve">Allocated Time:</a:t>
            </a:r>
          </a:p>
          <a:p>
            <a:r>
              <a:t xml:space="preserve">5 minutes</a:t>
            </a:r>
          </a:p>
          <a:p>
            <a:r>
              <a:t xml:space="preserve"/>
            </a:r>
          </a:p>
          <a:p>
            <a:r>
              <a:t xml:space="preserve">Mode Split:</a:t>
            </a:r>
          </a:p>
          <a:p>
            <a:r>
              <a:t xml:space="preserve">Lecture 4 minutes + Case 1 minute</a:t>
            </a:r>
          </a:p>
          <a:p>
            <a:r>
              <a:t xml:space="preserve"/>
            </a:r>
          </a:p>
          <a:p>
            <a:r>
              <a:t xml:space="preserve">Primary Message:</a:t>
            </a:r>
          </a:p>
          <a:p>
            <a:r>
              <a:t xml:space="preserve">버그 수정·성능 조사·README 수정의 목표는 달라도 같은 프로젝트 기준을 참고할 수 있다. 공통 기준의 변경을 여러 요청에 어떻게 반영할지가 다음 관리 질문이다.</a:t>
            </a:r>
          </a:p>
          <a:p>
            <a:r>
              <a:t xml:space="preserve"/>
            </a:r>
          </a:p>
          <a:p>
            <a:r>
              <a:t xml:space="preserve">Opening Question:</a:t>
            </a:r>
          </a:p>
          <a:p>
            <a:r>
              <a:t xml:space="preserve">“공통 기준이 바뀌면, 세 요청에 어떻게 반영할까?”</a:t>
            </a:r>
          </a:p>
          <a:p>
            <a:r>
              <a:t xml:space="preserve"/>
            </a:r>
          </a:p>
          <a:p>
            <a:r>
              <a:t xml:space="preserve">Speaker Flow:</a:t>
            </a:r>
          </a:p>
          <a:p>
            <a:r>
              <a:t xml:space="preserve">1. (0:00–1:30 / Lecture) S36/S37의 한 crop 요청에서 범위를 넓혀 버그 수정·성능 조사·README 수정이라는 서로 다른 세 목표를 가리킨다. 다시 문장 분류를 시험하지 않는다.</a:t>
            </a:r>
          </a:p>
          <a:p>
            <a:r>
              <a:t xml:space="preserve">2. (1:30–3:30 / Lecture) 아래에 반복된 테스트 실행, 근거가 있을 때 의존성 추가, 로컬 합성 데이터, 기존 동작 보존의 공통 기준을 비교한다. 세 요청은 교육용 구성이고 실제 Trial 원문이 아니다.</a:t>
            </a:r>
          </a:p>
          <a:p>
            <a:r>
              <a:t xml:space="preserve">3. (3:30–4:00 / Lecture) 복사 입력의 수고에서 공통 정보의 관리 문제로 연결한다. 기준이 바뀐 경우를 가정한 하단 질문이며 실제 프로젝트에서 잘못된 기준을 실행한 관찰이 아니다.</a:t>
            </a:r>
          </a:p>
          <a:p>
            <a:r>
              <a:t xml:space="preserve">4. (4:00–5:00 / Case) 세 요청에 같은 기준을 어떻게 제공할지 조용히 생각하게 한다. 저장 파일이나 자동 적용 결과를 답으로 먼저 보여주지 않고 S40의 실제 기록 위치로 넘긴다.</a:t>
            </a:r>
          </a:p>
          <a:p>
            <a:r>
              <a:t xml:space="preserve"/>
            </a:r>
          </a:p>
          <a:p>
            <a:r>
              <a:t xml:space="preserve">Evidence / Source:</a:t>
            </a:r>
          </a:p>
          <a:p>
            <a:r>
              <a:t xml:space="preserve">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a:t>
            </a:r>
          </a:p>
          <a:p>
            <a:r>
              <a:t xml:space="preserve">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 공통 기준이 바뀌는 경우는 교육용 관리 질문이며 실제 Demo 실패나 새 실험이 아니다.</a:t>
            </a:r>
          </a:p>
          <a:p>
            <a:r>
              <a:t xml:space="preserve"/>
            </a:r>
          </a:p>
          <a:p>
            <a:r>
              <a:t xml:space="preserve">Beginner Explanation:</a:t>
            </a:r>
          </a:p>
          <a:p>
            <a:r>
              <a:t xml:space="preserve">서로 다른 작업에도 공통인 프로젝트 정보가 있다. 같은 정보를 요청마다 따로 관리할지, 프로젝트에서 관리하고 참고하게 할지 생각한다.</a:t>
            </a:r>
          </a:p>
          <a:p>
            <a:r>
              <a:t xml:space="preserve"/>
            </a:r>
          </a:p>
          <a:p>
            <a:r>
              <a:t xml:space="preserve">Advanced Insight:</a:t>
            </a:r>
          </a:p>
          <a:p>
            <a:r>
              <a:t xml:space="preserve">Broaden a single request to several tasks before choosing a source for common guidance. The change-propagation question is conceptual and supplies no observed failure, automatic consistency guarantee or measured efficiency claim.</a:t>
            </a:r>
          </a:p>
          <a:p>
            <a:r>
              <a:t xml:space="preserve"/>
            </a:r>
          </a:p>
          <a:p>
            <a:r>
              <a:t xml:space="preserve">C++ Vision Bridge:</a:t>
            </a:r>
          </a:p>
          <a:p>
            <a:r>
              <a:t xml:space="preserve">N/A.</a:t>
            </a:r>
          </a:p>
          <a:p>
            <a:r>
              <a:t xml:space="preserve"/>
            </a:r>
          </a:p>
          <a:p>
            <a:r>
              <a:t xml:space="preserve">Demo Operation:</a:t>
            </a:r>
          </a:p>
          <a:p>
            <a:r>
              <a:t xml:space="preserve">N/A.</a:t>
            </a:r>
          </a:p>
          <a:p>
            <a:r>
              <a:t xml:space="preserve"/>
            </a:r>
          </a:p>
          <a:p>
            <a:r>
              <a:t xml:space="preserve">Audience Interaction:</a:t>
            </a:r>
          </a:p>
          <a:p>
            <a:r>
              <a:t xml:space="preserve">마지막1분은 세 요청에 공통 기준을 어떻게 제공할지 생각하는 Case 시간이다. 실습·답안·공개 응답은 요구하지 않는다.</a:t>
            </a:r>
          </a:p>
          <a:p>
            <a:r>
              <a:t xml:space="preserve"/>
            </a:r>
          </a:p>
          <a:p>
            <a:r>
              <a:t xml:space="preserve">Transition:</a:t>
            </a:r>
          </a:p>
          <a:p>
            <a:r>
              <a:t xml:space="preserve">“반복되던 프로젝트 정보를 실제로 어디에 기록했는지 보겠습니다.”라고 S40로 이동한다.</a:t>
            </a:r>
          </a:p>
          <a:p>
            <a:r>
              <a:t xml:space="preserve"/>
            </a:r>
          </a:p>
          <a:p>
            <a:r>
              <a:t xml:space="preserve">Time Management:</a:t>
            </a:r>
          </a:p>
          <a:p>
            <a:r>
              <a:t xml:space="preserve">Spend four minutes on the repeated facts and one minute on the question. Do not preview the solution.</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a:t>
            </a:r>
          </a:p>
          <a:p>
            <a:r>
              <a:t xml:space="preserve">S40</a:t>
            </a:r>
          </a:p>
          <a:p>
            <a:r>
              <a:t xml:space="preserve"/>
            </a:r>
          </a:p>
          <a:p>
            <a:r>
              <a:t xml:space="preserve">Working Title:</a:t>
            </a:r>
          </a:p>
          <a:p>
            <a:r>
              <a:t xml:space="preserve">작은 Project Context의 첫 기록</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STATE-01의 실제 AGENTS.md에 프로젝트 목적·실행 방법·테스트 명령·기본 제약을 기록했다. 이 장은 기록 위치와 내용을 보여주고, 실제 사용 기록은 S41에서 확인한다.</a:t>
            </a:r>
          </a:p>
          <a:p>
            <a:r>
              <a:t xml:space="preserve"/>
            </a:r>
          </a:p>
          <a:p>
            <a:r>
              <a:t xml:space="preserve">Opening Question:</a:t>
            </a:r>
          </a:p>
          <a:p>
            <a:r>
              <a:t xml:space="preserve">“반복되던 프로젝트 정보를 실제로 어디에 기록했을까?”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a:t>
            </a:r>
          </a:p>
          <a:p>
            <a:r>
              <a:t xml:space="preserve">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a:t>
            </a:r>
          </a:p>
          <a:p>
            <a:r>
              <a:t xml:space="preserve">A small set of facts that applies across Project Tasks can be written down once in the repository.</a:t>
            </a:r>
          </a:p>
          <a:p>
            <a:r>
              <a:t xml:space="preserve"/>
            </a:r>
          </a:p>
          <a:p>
            <a:r>
              <a:t xml:space="preserve">Advanced Insight:</a:t>
            </a:r>
          </a:p>
          <a:p>
            <a:r>
              <a:t xml:space="preserve">The design choice is about context scope and maintenance ownership, not a measured quality or performance effect.</a:t>
            </a:r>
          </a:p>
          <a:p>
            <a:r>
              <a:t xml:space="preserve"/>
            </a:r>
          </a:p>
          <a:p>
            <a:r>
              <a:t xml:space="preserve">C++ Vision Bridge:</a:t>
            </a:r>
          </a:p>
          <a:p>
            <a:r>
              <a:t xml:space="preserve">N/A.</a:t>
            </a:r>
          </a:p>
          <a:p>
            <a:r>
              <a:t xml:space="preserve"/>
            </a:r>
          </a:p>
          <a:p>
            <a:r>
              <a:t xml:space="preserve">Demo Operation:</a:t>
            </a:r>
          </a:p>
          <a:p>
            <a:r>
              <a:t xml:space="preserve">`production/ACT_2.pptx`의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a:t>
            </a:r>
          </a:p>
          <a:p>
            <a:r>
              <a:t xml:space="preserve">Point out the recurring facts without asking the audience to inspect a repository.</a:t>
            </a:r>
          </a:p>
          <a:p>
            <a:r>
              <a:t xml:space="preserve"/>
            </a:r>
          </a:p>
          <a:p>
            <a:r>
              <a:t xml:space="preserve">Transition:</a:t>
            </a:r>
          </a:p>
          <a:p>
            <a:r>
              <a:t xml:space="preserve">“기록해 둔 것과 실제로 참고한 것은 각각 확인해야 합니다. 다음에는 이 지침을 사용한 실행 기록을 보겠습니다.”라고 S41로 이동한다.</a:t>
            </a:r>
          </a:p>
          <a:p>
            <a:r>
              <a:t xml:space="preserve"/>
            </a:r>
          </a:p>
          <a:p>
            <a:r>
              <a:t xml:space="preserve">Time Management:</a:t>
            </a:r>
          </a:p>
          <a:p>
            <a:r>
              <a:t xml:space="preserve">Demo 4분 유지. 1분 상태 전환, 2분 네 발췌, 1분 의미와 S41 handoff. 명령어 옵션별 설명은 생략한다.</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a:t>
            </a:r>
          </a:p>
          <a:p>
            <a:r>
              <a:t xml:space="preserve">S41</a:t>
            </a:r>
          </a:p>
          <a:p>
            <a:r>
              <a:t xml:space="preserve"/>
            </a:r>
          </a:p>
          <a:p>
            <a:r>
              <a:t xml:space="preserve">Working Title:</a:t>
            </a:r>
          </a:p>
          <a:p>
            <a:r>
              <a:t xml:space="preserve">AGENTS.md의 지침대로 검증했다</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이번 기록에서는 Agent가 AGENTS.md의 테스트 지침을 실제 작업에 적용했다. 작업 Prompt에는 검증 근거 보고가 있었지만 테스트 실행 명령은 없었다.</a:t>
            </a:r>
          </a:p>
          <a:p>
            <a:r>
              <a:t xml:space="preserve"/>
            </a:r>
          </a:p>
          <a:p>
            <a:r>
              <a:t xml:space="preserve">Opening Question:</a:t>
            </a:r>
          </a:p>
          <a:p>
            <a:r>
              <a:t xml:space="preserve">“Prompt에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a:t>
            </a:r>
          </a:p>
          <a:p>
            <a:r>
              <a:t xml:space="preserve">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a:t>
            </a:r>
          </a:p>
          <a:p>
            <a:r>
              <a:t xml:space="preserve">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a:t>
            </a:r>
          </a:p>
          <a:p>
            <a:r>
              <a:t xml:space="preserve">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a:t>
            </a:r>
          </a:p>
          <a:p>
            <a:r>
              <a:t xml:space="preserve">Observed use of the repository test instruction is supported. Enforcement, an isolated instruction-loading cause and attribution of README-only scope to AGENTS.md are not established by this run.</a:t>
            </a:r>
          </a:p>
          <a:p>
            <a:r>
              <a:t xml:space="preserve"/>
            </a:r>
          </a:p>
          <a:p>
            <a:r>
              <a:t xml:space="preserve">C++ Vision Bridge:</a:t>
            </a:r>
          </a:p>
          <a:p>
            <a:r>
              <a:t xml:space="preserve">N/A.</a:t>
            </a:r>
          </a:p>
          <a:p>
            <a:r>
              <a:t xml:space="preserve"/>
            </a:r>
          </a:p>
          <a:p>
            <a:r>
              <a:t xml:space="preserve">Demo Operation:</a:t>
            </a:r>
          </a:p>
          <a:p>
            <a:r>
              <a:t xml:space="preserve">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a:t>
            </a:r>
          </a:p>
          <a:p>
            <a:r>
              <a:t xml:space="preserve">Ask the opening question, pause briefly, then reveal the record. Do not require an answer.</a:t>
            </a:r>
          </a:p>
          <a:p>
            <a:r>
              <a:t xml:space="preserve"/>
            </a:r>
          </a:p>
          <a:p>
            <a:r>
              <a:t xml:space="preserve">Transition:</a:t>
            </a:r>
          </a:p>
          <a:p>
            <a:r>
              <a:t xml:space="preserve">“방금 본 이번 README 요청과 다시 참고한 테스트 지침을 Task Prompt와 Project Context의 역할로 정리해 보겠습니다.”라고 S42로 이동한다.</a:t>
            </a:r>
          </a:p>
          <a:p>
            <a:r>
              <a:t xml:space="preserve"/>
            </a:r>
          </a:p>
          <a:p>
            <a:r>
              <a:t xml:space="preserve">Time Management:</a:t>
            </a:r>
          </a:p>
          <a:p>
            <a:r>
              <a:t xml:space="preserve">1분 실제 요청과 외부 주석,1분 프로젝트 작업 지침,1분 테스트 실행·11/11 결과,1분 해석 한계와 S42 연결. Demo4분·기존 Mode는 유지하며 실측 리허설은 UNVERIFIED다.</a:t>
            </a:r>
          </a:p>
          <a:p>
            <a:r>
              <a:t xml:space="preserve"/>
            </a:r>
          </a:p>
          <a:p>
            <a:r>
              <a:t xml:space="preserve">Fallback:</a:t>
            </a:r>
          </a:p>
          <a:p>
            <a:r>
              <a:t xml:space="preserve">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a:t>
            </a:r>
          </a:p>
          <a:p>
            <a:r>
              <a:t xml:space="preserve">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a:t>
            </a:r>
          </a:p>
          <a:p>
            <a:r>
              <a:t xml:space="preserve">S42</a:t>
            </a:r>
          </a:p>
          <a:p>
            <a:r>
              <a:t xml:space="preserve"/>
            </a:r>
          </a:p>
          <a:p>
            <a:r>
              <a:t xml:space="preserve">Working Title:</a:t>
            </a:r>
          </a:p>
          <a:p>
            <a:r>
              <a:t xml:space="preserve">Task Prompt와 Project Context</a:t>
            </a:r>
          </a:p>
          <a:p>
            <a:r>
              <a:t xml:space="preserve"/>
            </a:r>
          </a:p>
          <a:p>
            <a:r>
              <a:t xml:space="preserve">ACT / Section:</a:t>
            </a:r>
          </a:p>
          <a:p>
            <a:r>
              <a:t xml:space="preserve">ACT 2 / 2C</a:t>
            </a:r>
          </a:p>
          <a:p>
            <a:r>
              <a:t xml:space="preserve"/>
            </a:r>
          </a:p>
          <a:p>
            <a:r>
              <a:t xml:space="preserve">Allocated Time:</a:t>
            </a:r>
          </a:p>
          <a:p>
            <a:r>
              <a:t xml:space="preserve">5 minutes</a:t>
            </a:r>
          </a:p>
          <a:p>
            <a:r>
              <a:t xml:space="preserve"/>
            </a:r>
          </a:p>
          <a:p>
            <a:r>
              <a:t xml:space="preserve">Mode Split:</a:t>
            </a:r>
          </a:p>
          <a:p>
            <a:r>
              <a:t xml:space="preserve">Lecture 5 minutes</a:t>
            </a:r>
          </a:p>
          <a:p>
            <a:r>
              <a:t xml:space="preserve"/>
            </a:r>
          </a:p>
          <a:p>
            <a:r>
              <a:t xml:space="preserve">Primary Message:</a:t>
            </a:r>
          </a:p>
          <a:p>
            <a:r>
              <a:t xml:space="preserve">앞선 실제 기록의 현재 작업 요청과 재참고한 프로젝트 정보를 Task Prompt와 Project Context의 범위·수명으로 정리한다. 정보가 Prompt 또는 문서 한 곳에만 들어가야 한다는 뜻은 아니다.</a:t>
            </a:r>
          </a:p>
          <a:p>
            <a:r>
              <a:t xml:space="preserve"/>
            </a:r>
          </a:p>
          <a:p>
            <a:r>
              <a:t xml:space="preserve">Opening Question:</a:t>
            </a:r>
          </a:p>
          <a:p>
            <a:r>
              <a:t xml:space="preserve">“이 정보는 언제까지 유효한가?”</a:t>
            </a:r>
          </a:p>
          <a:p>
            <a:r>
              <a:t xml:space="preserve"/>
            </a:r>
          </a:p>
          <a:p>
            <a:r>
              <a:t xml:space="preserve">Speaker Flow:</a:t>
            </a:r>
          </a:p>
          <a:p>
            <a:r>
              <a:t xml:space="preserve">1. (0:00–1:30 / Lecture) S40의 프로젝트 안내와 S41의 실제 README 요청·테스트 명령 사용을 회수한다. S37의 crop 문장 분류를 다시 시험하지 않는다.</a:t>
            </a:r>
          </a:p>
          <a:p>
            <a:r>
              <a:t xml:space="preserve">2. (1:30–3:30 / Lecture) 이번 목표·수정 범위는 Task Prompt, 여러 작업에서 유지·참고할 명령·규칙은 Project Context라는 역할 이름으로 정리한다. 방금 본 관찰의 관리 범위와 유효 기간을 설명하는 교육 모델이다.</a:t>
            </a:r>
          </a:p>
          <a:p>
            <a:r>
              <a:t xml:space="preserve">3. (3:30–4:30 / Lecture) Prompt도 Context를 제공할 수 있고, 이번 작업만의 조건도 요청에 남는다. 문서의 존재와 실제 참고·적용은 별도로 확인하며 모든 규칙의 자동 적용을 주장하지 않는다. 테스트 지침도 프로젝트 안내에 들어갈 수 있다.</a:t>
            </a:r>
          </a:p>
          <a:p>
            <a:r>
              <a:t xml:space="preserve">4. (4:30–5:00 / Lecture) 이번에는 정보의 관리·제공 범위를 배웠다는 성과를 회수하고, 정확한 정보가 계속 늘어날 때 어떤 질문이 생기는지 S43으로 연결한다. 수행 절차·도구·환경의 구성은 여기서 새로 강의하지 않는다.</a:t>
            </a:r>
          </a:p>
          <a:p>
            <a:r>
              <a:t xml:space="preserve"/>
            </a:r>
          </a:p>
          <a:p>
            <a:r>
              <a:t xml:space="preserve">Evidence / Source:</a:t>
            </a:r>
          </a:p>
          <a:p>
            <a:r>
              <a:t xml:space="preserve">BEAT-009–010, TRANS-003, CLM-0003, CLM-0005, DEC-0047. TEACHING_MODEL / CONCEPTUAL; examples summarize S39–S41.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a:t>
            </a:r>
          </a:p>
          <a:p>
            <a:r>
              <a:t xml:space="preserve">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a:t>
            </a:r>
          </a:p>
          <a:p>
            <a:r>
              <a:t xml:space="preserve">이번에 원하는 일과 여러 작업에 계속 필요한 정보를 구분해 관리한다. 정보는 요청 안에서도 제공할 수 있으며, 프로젝트 문서가 실제로 참고됐는지는 별도로 확인한다.</a:t>
            </a:r>
          </a:p>
          <a:p>
            <a:r>
              <a:t xml:space="preserve"/>
            </a:r>
          </a:p>
          <a:p>
            <a:r>
              <a:t xml:space="preserve">Advanced Insight:</a:t>
            </a:r>
          </a:p>
          <a:p>
            <a:r>
              <a:t xml:space="preserve">Scope and lifetime are useful dimensions for deciding ownership and update responsibility.</a:t>
            </a:r>
          </a:p>
          <a:p>
            <a:r>
              <a:t xml:space="preserve"/>
            </a:r>
          </a:p>
          <a:p>
            <a:r>
              <a:t xml:space="preserve">C++ Vision Bridge:</a:t>
            </a:r>
          </a:p>
          <a:p>
            <a:r>
              <a:t xml:space="preserve">Briefly distinguish a general Project constraint from a Task-specific algorithm condition; do not list tools or hardware.</a:t>
            </a:r>
          </a:p>
          <a:p>
            <a:r>
              <a:t xml:space="preserve"/>
            </a:r>
          </a:p>
          <a:p>
            <a:r>
              <a:t xml:space="preserve">Demo Operation:</a:t>
            </a:r>
          </a:p>
          <a:p>
            <a:r>
              <a:t xml:space="preserve">N/A.</a:t>
            </a:r>
          </a:p>
          <a:p>
            <a:r>
              <a:t xml:space="preserve"/>
            </a:r>
          </a:p>
          <a:p>
            <a:r>
              <a:t xml:space="preserve">Audience Interaction:</a:t>
            </a:r>
          </a:p>
          <a:p>
            <a:r>
              <a:t xml:space="preserve">Give the audience a brief silent pause to classify the examples mentally. Do not turn it into a hands-on task.</a:t>
            </a:r>
          </a:p>
          <a:p>
            <a:r>
              <a:t xml:space="preserve"/>
            </a:r>
          </a:p>
          <a:p>
            <a:r>
              <a:t xml:space="preserve">Transition:</a:t>
            </a:r>
          </a:p>
          <a:p>
            <a:r>
              <a:t xml:space="preserve">“정확한 정보를 더 많이 넣으면 언제나 괜찮을까?”</a:t>
            </a:r>
          </a:p>
          <a:p>
            <a:r>
              <a:t xml:space="preserve"/>
            </a:r>
          </a:p>
          <a:p>
            <a:r>
              <a:t xml:space="preserve">Time Management:</a:t>
            </a:r>
          </a:p>
          <a:p>
            <a:r>
              <a:t xml:space="preserve">Keep the model to two layers and four examples. Leave research and detailed routing for later slides.</a:t>
            </a:r>
          </a:p>
          <a:p>
            <a:r>
              <a:t xml:space="preserve"/>
            </a:r>
          </a:p>
          <a:p>
            <a:r>
              <a:t xml:space="preserve">Fallback:</a:t>
            </a:r>
          </a:p>
          <a:p>
            <a:r>
              <a:t xml:space="preserve">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a:t>
            </a:r>
          </a:p>
          <a:p>
            <a:r>
              <a:t xml:space="preserve">REVIEWED — DEC-0060의 근거·운영·19필드 구조를 대조했다. 최종 PPT/PNG/내장 Notes 재대조는 production/evaluation/ACT_2_FLOW_REVISION.md에 기록한다. Windows PowerPoint/room/product/account/timed rehearsal remain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a:t>
            </a:r>
          </a:p>
          <a:p>
            <a:r>
              <a:t xml:space="preserve">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a:t>
            </a:r>
          </a:p>
          <a:p>
            <a:r>
              <a:t xml:space="preserve">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a:t>
            </a:r>
          </a:p>
          <a:p>
            <a:r>
              <a:t xml:space="preserve">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S45/TRIAL-004의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S44 회수30초, 공통 안내1분, 요청별 상세1분, 재사용 절차1분, 경계·S46 연결30초로 Lecture4분을 유지한다. 제품 기능이나 Skill 호출 설명으로 확장하지 않는다.</a:t>
            </a:r>
          </a:p>
          <a:p>
            <a:r>
              <a:t xml:space="preserve"/>
            </a:r>
          </a:p>
          <a:p>
            <a:r>
              <a:t xml:space="preserve">Fallback:</a:t>
            </a:r>
          </a:p>
          <a:p>
            <a:r>
              <a:t xml:space="preserve">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a:t>
            </a:r>
          </a:p>
          <a:p>
            <a:r>
              <a:t xml:space="preserve">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a:t>
            </a:r>
          </a:p>
          <a:p>
            <a:r>
              <a:t xml:space="preserve">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a:t>
            </a:r>
          </a:p>
          <a:p>
            <a:r>
              <a:t xml:space="preserve">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a:t>
            </a:r>
          </a:p>
          <a:p>
            <a:r>
              <a:t xml:space="preserve">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S51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a:t>
            </a:r>
          </a:p>
          <a:p>
            <a:r>
              <a:t xml:space="preserve">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a:t>
            </a:r>
          </a:p>
          <a:p>
            <a:r>
              <a:t xml:space="preserve">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S53–S54.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a:t>
            </a:r>
          </a:p>
          <a:p>
            <a:r>
              <a:t xml:space="preserve">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a:t>
            </a:r>
          </a:p>
          <a:p>
            <a:r>
              <a:t xml:space="preserve">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a:t>
            </a:r>
          </a:p>
          <a:p>
            <a:r>
              <a:t xml:space="preserve">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a:t>
            </a:r>
          </a:p>
          <a:p>
            <a:r>
              <a:t xml:space="preserve">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AGENTS.md는 어디에 둘까?</a:t>
            </a:r>
          </a:p>
          <a:p>
            <a:r>
              <a:t xml:space="preserve"/>
            </a:r>
          </a:p>
          <a:p>
            <a:r>
              <a:t xml:space="preserve">**Slide ID:**</a:t>
            </a:r>
          </a:p>
          <a:p>
            <a:r>
              <a:t xml:space="preserve">S56</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S55는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공통 지침에 모듈 지침을 더한다</a:t>
            </a:r>
          </a:p>
          <a:p>
            <a:r>
              <a:t xml:space="preserve"/>
            </a:r>
          </a:p>
          <a:p>
            <a:r>
              <a:t xml:space="preserve">**Slide ID:**</a:t>
            </a:r>
          </a:p>
          <a:p>
            <a:r>
              <a:t xml:space="preserve">S57</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적용할 지침을 실제로 읽었을까?</a:t>
            </a:r>
          </a:p>
          <a:p>
            <a:r>
              <a:t xml:space="preserve"/>
            </a:r>
          </a:p>
          <a:p>
            <a:r>
              <a:t xml:space="preserve">**Slide ID:**</a:t>
            </a:r>
          </a:p>
          <a:p>
            <a:r>
              <a:t xml:space="preserve">S58</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S59의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a:t>
            </a:r>
          </a:p>
          <a:p>
            <a:r>
              <a:t xml:space="preserve">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a:t>
            </a:r>
          </a:p>
          <a:p>
            <a:r>
              <a:t xml:space="preserve">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S61으로 handoff한다.</a:t>
            </a:r>
          </a:p>
          <a:p>
            <a:r>
              <a:t xml:space="preserve"/>
            </a:r>
          </a:p>
          <a:p>
            <a:r>
              <a:t xml:space="preserve">Fallback:</a:t>
            </a:r>
          </a:p>
          <a:p>
            <a:r>
              <a:t xml:space="preserve">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a:t>
            </a:r>
          </a:p>
          <a:p>
            <a:r>
              <a:t xml:space="preserve">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a:t>
            </a:r>
          </a:p>
          <a:p>
            <a:r>
              <a:t xml:space="preserve">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a:t>
            </a:r>
          </a:p>
          <a:p>
            <a:r>
              <a:t xml:space="preserve">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a:t>
            </a:r>
          </a:p>
          <a:p>
            <a:r>
              <a:t xml:space="preserve">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S66에서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a:t>
            </a:r>
          </a:p>
          <a:p>
            <a:r>
              <a:t xml:space="preserve">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a:t>
            </a:r>
          </a:p>
          <a:p>
            <a:r>
              <a:t xml:space="preserve">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a:t>
            </a:r>
          </a:p>
          <a:p>
            <a:r>
              <a:t xml:space="preserve">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a:t>
            </a:r>
          </a:p>
          <a:p>
            <a:r>
              <a:t xml:space="preserve">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a:t>
            </a:r>
          </a:p>
          <a:p>
            <a:r>
              <a:t xml:space="preserve">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a:t>
            </a:r>
          </a:p>
          <a:p>
            <a:r>
              <a:t xml:space="preserve">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a:t>
            </a:r>
          </a:p>
          <a:p>
            <a:r>
              <a:t xml:space="preserve">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a:t>
            </a:r>
          </a:p>
          <a:p>
            <a:r>
              <a:t xml:space="preserve">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S74에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a:t>
            </a:r>
          </a:p>
          <a:p>
            <a:r>
              <a:t xml:space="preserve">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a:t>
            </a:r>
          </a:p>
          <a:p>
            <a:r>
              <a:t xml:space="preserve">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“S71의 독립 조사 기준을 이 밝기 통계 작업에도 적용할 수 있었을까요?”</a:t>
            </a:r>
          </a:p>
          <a:p>
            <a:r>
              <a:t xml:space="preserve"/>
            </a:r>
          </a:p>
          <a:p>
            <a:r>
              <a:t xml:space="preserve">Speaker Flow:</a:t>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S71의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a:t>
            </a:r>
          </a:p>
          <a:p>
            <a:r>
              <a:t xml:space="preserve">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a:t>
            </a:r>
          </a:p>
          <a:p>
            <a:r>
              <a:t xml:space="preserve">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S76에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a:t>
            </a:r>
          </a:p>
          <a:p>
            <a:r>
              <a:t xml:space="preserve">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a:t>
            </a:r>
          </a:p>
          <a:p>
            <a:r>
              <a:t xml:space="preserve">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“S74의 보존 기준으로 실제 Demo를 보면, 새로 남길 지식은 어디에 있었을까요?”</a:t>
            </a:r>
          </a:p>
          <a:p>
            <a:r>
              <a:t xml:space="preserve"/>
            </a:r>
          </a:p>
          <a:p>
            <a:r>
              <a:t xml:space="preserve">Speaker Flow:</a:t>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a:t>
            </a:r>
          </a:p>
          <a:p>
            <a:r>
              <a:t xml:space="preserve">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a:t>
            </a:r>
          </a:p>
          <a:p>
            <a:r>
              <a:t xml:space="preserve">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“S75에서 본 자료들이 실제 밝기 통계 작업에서는 각각 무엇을 맡았을까요?”</a:t>
            </a:r>
          </a:p>
          <a:p>
            <a:r>
              <a:t xml:space="preserve"/>
            </a:r>
          </a:p>
          <a:p>
            <a:r>
              <a:t xml:space="preserve">Speaker Flow:</a:t>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a:t>
            </a:r>
          </a:p>
          <a:p>
            <a:r>
              <a:t xml:space="preserve">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a:t>
            </a:r>
          </a:p>
          <a:p>
            <a:r>
              <a:t xml:space="preserve">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S77의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S68/S73은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8.xml" Id="Rff27a015abf24948"/></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9.xml" Id="R3a498e5233dc4a5a"/></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0.xml" Id="Rca442c894a154a1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1.xml" Id="R613eb6ac2da543d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2.xml" Id="R3f20303f114447e2"/></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3.xml" Id="R0acbc4fac3ad4c39"/></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4.xml" Id="R840a07ea16114c83"/></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5.xml" Id="Re0b8525972544589"/></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6.xml" Id="R7efc610a93a54954"/></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7.xml" Id="R497580c3f0c3424c"/></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8.xml" Id="Rd075c9a9e36d48b4"/></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9.xml" Id="Ra72fc7dcfd7b41b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0.xml" Id="R68e31d9f2fc1405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1.xml" Id="R1c812969c94f489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2.xml" Id="R9dcd712c96cb492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3.xml" Id="Rb3607c7c5ecc4fd4"/></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4.xml" Id="R3f6a00bc3ef44a1b"/></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5.xml" Id="R1c76f09a75e243d8"/></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6.xml" Id="R4c7fbbd0eaca47b2"/></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7.xml" Id="R7fc76b79800c4517"/></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8.xml" Id="Rddf3b25f9736491c"/></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9.xml" Id="R3e24ddfd65984de7"/></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0.xml" Id="Rf4c40cfa733f4d6f"/></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1.xml" Id="R57634cd0349c4959"/></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2.xml" Id="Re888c36c54cf4b94"/></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3.xml" Id="R47ee9cce5b494bbf"/></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4.xml" Id="R65929069c5bf430e"/></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5.xml" Id="Rcdd85d3d7ee74629"/></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9.xml" Id="Raa20956d6d1b4479"/></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0.xml" Id="R54ba7668537b43fe"/></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1.xml" Id="Rf4394eb0efae4bc2"/></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2.xml" Id="Rf2667cbaf12645c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3.xml" Id="Rd8f3f37e8c0e485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4.xml" Id="R85a14c9750344ec0"/></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5.xml" Id="Raf1d5a7b0c524dfa"/></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6.xml" Id="Rad52161ddcca407b"/></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7.xml" Id="R16825de3fab740bf"/></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8.xml" Id="R8b0233aae6a140ac"/></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9.xml" Id="R3d7c7a685cac4014"/></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0.xml" Id="Raff3ca3ec59a4149"/></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1.xml" Id="R1cbda8e4c54b4dd1"/></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2.xml" Id="Rc8ffa309e5c34afa"/></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3.xml" Id="Rf159e342b5e341d6"/></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4.xml" Id="R63b536d641b84715"/></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5.xml" Id="R32d6c074a7e4497a"/></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6.xml" Id="Rc54545c27dea4ca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7.xml" Id="R7f78e7867aa5421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8.xml" Id="R089a47929ed34abd"/></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9.xml" Id="R3b61134a2a454803"/></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0.xml" Id="R9e690c9a8b01411e"/></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1.xml" Id="Rcaebcb7911fd42e4"/></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2.xml" Id="R6bc44724aebe46dd"/></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3.xml" Id="R3aedd29c6ea7436c"/></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4.xml" Id="Rae1cfc68b74141de"/></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5.xml" Id="R30e64919739f4c81"/></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6.xml" Id="R7da67322bac34beb"/></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7.xml" Id="R983ef1b4941f47df"/></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8.xml" Id="R2bb221648fd04a50"/></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9.xml" Id="R87b72ed4cafc40d3"/></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0.xml" Id="Re6d646379adb4da1"/></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1.xml" Id="Rc4e6ef3588d54767"/></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2.xml" Id="R3bb29d806ae04c5c"/></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3.xml" Id="R4191341ed86e4215"/></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4.xml" Id="R36180a95ed3c43fa"/></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5.xml" Id="R5ef00a4c4bb04823"/></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6.xml" Id="R1e275696a25b470a"/></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7.xml" Id="Reafb085964c34056"/></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8.xml" Id="R7ea86b7511cd462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9.xml" Id="Rd241e076ae0c4c8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0.xml" Id="R9fd9b4d481214a08"/></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1.xml" Id="R212a1ecf528b465a"/></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2.xml" Id="R7c714979becd470e"/></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3.xml" Id="R068559301c394576"/></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4.xml" Id="R24afd0dfb79d41f0"/></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5.xml" Id="R908895dc2cd64f82"/></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6.xml" Id="R9030d1fdb5114f76"/></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7.xml" Id="R311f6d7d4b354399"/></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8.xml" Id="R5248189ceda34d20"/></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9.xml" Id="Rb075385bb68b49a3"/></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0.xml" Id="Rfca130f2343a4cf9"/></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1.xml" Id="R0a5721e8688f465f"/></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2.xml" Id="Ree3d1ac02cbb44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3.xml" Id="Rd75f8c7cfc1e4c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4.xml" Id="R2fbfac11f8a04b0a"/></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5.xml" Id="Rfb9c411f0bc743b8"/></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6.xml" Id="R690e88ea3d1c4b3f"/></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8.xml" Id="Ra6812a34cdf44996"/></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9.xml" Id="R619b15d573e54123"/></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0.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D499A798-D33A-414A-995A-85A4E31D7C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0688F738-6CB5-452C-81E8-61D23E0E48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원하는 결과에 맞춰 확인 방법을 고른다">
            <a:extLst xmlns:a="http://schemas.openxmlformats.org/drawingml/2006/main">
              <a:ext uri="{FF2B5EF4-FFF2-40B4-BE49-F238E27FC236}">
                <a16:creationId xmlns:a16="http://schemas.microsoft.com/office/drawing/2014/main" id="{03019E4F-5D52-45E0-8177-BF597C587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결과에 맞춰 확인 방법을 고른다</a:t>
            </a:r>
          </a:p>
        </p:txBody>
      </p:sp>
      <p:sp>
        <p:nvSpPr>
          <p:cNvPr id="4" name="">
            <a:extLst xmlns:a="http://schemas.openxmlformats.org/drawingml/2006/main">
              <a:ext uri="{FF2B5EF4-FFF2-40B4-BE49-F238E27FC236}">
                <a16:creationId xmlns:a16="http://schemas.microsoft.com/office/drawing/2014/main" id="{69A07154-B8E6-4FB8-AB86-6A5C026F7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5DC81845-37D1-4ADB-9161-88A24278BF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4C0CB576-34E3-4459-9901-C1D53387F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판단하고 싶은 것">
            <a:extLst xmlns:a="http://schemas.openxmlformats.org/drawingml/2006/main">
              <a:ext uri="{FF2B5EF4-FFF2-40B4-BE49-F238E27FC236}">
                <a16:creationId xmlns:a16="http://schemas.microsoft.com/office/drawing/2014/main" id="{9CFB66B8-D3AB-496E-82E2-B5202248ADEA}"/>
              </a:ext>
            </a:extLst>
          </p:cNvPr>
          <p:cNvSpPr>
            <a:spLocks xmlns:a="http://schemas.openxmlformats.org/drawingml/2006/main" noGrp="1"/>
          </p:cNvSpPr>
          <p:nvPr/>
        </p:nvSpPr>
        <p:spPr>
          <a:xfrm xmlns:a="http://schemas.openxmlformats.org/drawingml/2006/main">
            <a:off x="762000" y="1866900"/>
            <a:ext cx="609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판단하고 싶은 것</a:t>
            </a:r>
          </a:p>
        </p:txBody>
      </p:sp>
      <p:sp>
        <p:nvSpPr>
          <p:cNvPr id="8" name="요청할 확인">
            <a:extLst xmlns:a="http://schemas.openxmlformats.org/drawingml/2006/main">
              <a:ext uri="{FF2B5EF4-FFF2-40B4-BE49-F238E27FC236}">
                <a16:creationId xmlns:a16="http://schemas.microsoft.com/office/drawing/2014/main" id="{0C07EA6A-8AF7-49C8-8407-CB8F72D4BAC4}"/>
              </a:ext>
            </a:extLst>
          </p:cNvPr>
          <p:cNvSpPr>
            <a:spLocks xmlns:a="http://schemas.openxmlformats.org/drawingml/2006/main" noGrp="1"/>
          </p:cNvSpPr>
          <p:nvPr/>
        </p:nvSpPr>
        <p:spPr>
          <a:xfrm xmlns:a="http://schemas.openxmlformats.org/drawingml/2006/main">
            <a:off x="7162800" y="1866900"/>
            <a:ext cx="4267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9" name="">
            <a:extLst xmlns:a="http://schemas.openxmlformats.org/drawingml/2006/main">
              <a:ext uri="{FF2B5EF4-FFF2-40B4-BE49-F238E27FC236}">
                <a16:creationId xmlns:a16="http://schemas.microsoft.com/office/drawing/2014/main" id="{BF128DF1-081A-49B2-A3D1-71C12EF8688B}"/>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이 명세대로 동작하는가?">
            <a:extLst xmlns:a="http://schemas.openxmlformats.org/drawingml/2006/main">
              <a:ext uri="{FF2B5EF4-FFF2-40B4-BE49-F238E27FC236}">
                <a16:creationId xmlns:a16="http://schemas.microsoft.com/office/drawing/2014/main" id="{7DB93B99-5A7D-4807-B5A7-12714F98E198}"/>
              </a:ext>
            </a:extLst>
          </p:cNvPr>
          <p:cNvSpPr>
            <a:spLocks xmlns:a="http://schemas.openxmlformats.org/drawingml/2006/main" noGrp="1"/>
          </p:cNvSpPr>
          <p:nvPr/>
        </p:nvSpPr>
        <p:spPr>
          <a:xfrm xmlns:a="http://schemas.openxmlformats.org/drawingml/2006/main">
            <a:off x="762000" y="24479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crop이 명세대로 동작하는가?</a:t>
            </a:r>
          </a:p>
        </p:txBody>
      </p:sp>
      <p:sp>
        <p:nvSpPr>
          <p:cNvPr id="11" name="관련 동작 테스트">
            <a:extLst xmlns:a="http://schemas.openxmlformats.org/drawingml/2006/main">
              <a:ext uri="{FF2B5EF4-FFF2-40B4-BE49-F238E27FC236}">
                <a16:creationId xmlns:a16="http://schemas.microsoft.com/office/drawing/2014/main" id="{3756C1CA-66CB-4A7C-B033-105F5694275E}"/>
              </a:ext>
            </a:extLst>
          </p:cNvPr>
          <p:cNvSpPr>
            <a:spLocks xmlns:a="http://schemas.openxmlformats.org/drawingml/2006/main" noGrp="1"/>
          </p:cNvSpPr>
          <p:nvPr/>
        </p:nvSpPr>
        <p:spPr>
          <a:xfrm xmlns:a="http://schemas.openxmlformats.org/drawingml/2006/main">
            <a:off x="7162800" y="24479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동작 테스트</a:t>
            </a:r>
          </a:p>
        </p:txBody>
      </p:sp>
      <p:sp>
        <p:nvSpPr>
          <p:cNvPr id="12" name="">
            <a:extLst xmlns:a="http://schemas.openxmlformats.org/drawingml/2006/main">
              <a:ext uri="{FF2B5EF4-FFF2-40B4-BE49-F238E27FC236}">
                <a16:creationId xmlns:a16="http://schemas.microsoft.com/office/drawing/2014/main" id="{16618176-AC19-4FC3-A973-4FA36EDA9DFF}"/>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기존 테스트가 다루던 동작도 유지되는가?">
            <a:extLst xmlns:a="http://schemas.openxmlformats.org/drawingml/2006/main">
              <a:ext uri="{FF2B5EF4-FFF2-40B4-BE49-F238E27FC236}">
                <a16:creationId xmlns:a16="http://schemas.microsoft.com/office/drawing/2014/main" id="{156F7DF7-018E-4B19-9A11-5695A02D00BC}"/>
              </a:ext>
            </a:extLst>
          </p:cNvPr>
          <p:cNvSpPr>
            <a:spLocks xmlns:a="http://schemas.openxmlformats.org/drawingml/2006/main" noGrp="1"/>
          </p:cNvSpPr>
          <p:nvPr/>
        </p:nvSpPr>
        <p:spPr>
          <a:xfrm xmlns:a="http://schemas.openxmlformats.org/drawingml/2006/main">
            <a:off x="762000" y="302895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기존 테스트가 다루던 동작도 유지되는가?</a:t>
            </a:r>
          </a:p>
        </p:txBody>
      </p:sp>
      <p:sp>
        <p:nvSpPr>
          <p:cNvPr id="14" name="프로젝트 전체 테스트">
            <a:extLst xmlns:a="http://schemas.openxmlformats.org/drawingml/2006/main">
              <a:ext uri="{FF2B5EF4-FFF2-40B4-BE49-F238E27FC236}">
                <a16:creationId xmlns:a16="http://schemas.microsoft.com/office/drawing/2014/main" id="{1F2BE043-FDCB-43BB-A0C6-D24C9C8D0639}"/>
              </a:ext>
            </a:extLst>
          </p:cNvPr>
          <p:cNvSpPr>
            <a:spLocks xmlns:a="http://schemas.openxmlformats.org/drawingml/2006/main" noGrp="1"/>
          </p:cNvSpPr>
          <p:nvPr/>
        </p:nvSpPr>
        <p:spPr>
          <a:xfrm xmlns:a="http://schemas.openxmlformats.org/drawingml/2006/main">
            <a:off x="7162800" y="302895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 전체 테스트</a:t>
            </a:r>
          </a:p>
        </p:txBody>
      </p:sp>
      <p:sp>
        <p:nvSpPr>
          <p:cNvPr id="15" name="">
            <a:extLst xmlns:a="http://schemas.openxmlformats.org/drawingml/2006/main">
              <a:ext uri="{FF2B5EF4-FFF2-40B4-BE49-F238E27FC236}">
                <a16:creationId xmlns:a16="http://schemas.microsoft.com/office/drawing/2014/main" id="{6C3D47E6-DE64-4611-8FC8-35E2375BD118}"/>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경로가 동작하는가?">
            <a:extLst xmlns:a="http://schemas.openxmlformats.org/drawingml/2006/main">
              <a:ext uri="{FF2B5EF4-FFF2-40B4-BE49-F238E27FC236}">
                <a16:creationId xmlns:a16="http://schemas.microsoft.com/office/drawing/2014/main" id="{0E6D00F5-C144-40C7-A678-D7ED24AC00F4}"/>
              </a:ext>
            </a:extLst>
          </p:cNvPr>
          <p:cNvSpPr>
            <a:spLocks xmlns:a="http://schemas.openxmlformats.org/drawingml/2006/main" noGrp="1"/>
          </p:cNvSpPr>
          <p:nvPr/>
        </p:nvSpPr>
        <p:spPr>
          <a:xfrm xmlns:a="http://schemas.openxmlformats.org/drawingml/2006/main">
            <a:off x="762000" y="360997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CLI 샘플 경로가 동작하는가?</a:t>
            </a:r>
          </a:p>
        </p:txBody>
      </p:sp>
      <p:sp>
        <p:nvSpPr>
          <p:cNvPr id="17" name="CLI 샘플 실행">
            <a:extLst xmlns:a="http://schemas.openxmlformats.org/drawingml/2006/main">
              <a:ext uri="{FF2B5EF4-FFF2-40B4-BE49-F238E27FC236}">
                <a16:creationId xmlns:a16="http://schemas.microsoft.com/office/drawing/2014/main" id="{75F8A59D-4539-470E-B7EC-737FF3E39C33}"/>
              </a:ext>
            </a:extLst>
          </p:cNvPr>
          <p:cNvSpPr>
            <a:spLocks xmlns:a="http://schemas.openxmlformats.org/drawingml/2006/main" noGrp="1"/>
          </p:cNvSpPr>
          <p:nvPr/>
        </p:nvSpPr>
        <p:spPr>
          <a:xfrm xmlns:a="http://schemas.openxmlformats.org/drawingml/2006/main">
            <a:off x="7162800" y="360997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8" name="">
            <a:extLst xmlns:a="http://schemas.openxmlformats.org/drawingml/2006/main">
              <a:ext uri="{FF2B5EF4-FFF2-40B4-BE49-F238E27FC236}">
                <a16:creationId xmlns:a16="http://schemas.microsoft.com/office/drawing/2014/main" id="{3D110382-AE8F-4A8F-A33E-81C09EDDDA7D}"/>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요청한 범위만 수정했는가?">
            <a:extLst xmlns:a="http://schemas.openxmlformats.org/drawingml/2006/main">
              <a:ext uri="{FF2B5EF4-FFF2-40B4-BE49-F238E27FC236}">
                <a16:creationId xmlns:a16="http://schemas.microsoft.com/office/drawing/2014/main" id="{E6505514-E3D8-448B-9A50-8C9FBCACB51E}"/>
              </a:ext>
            </a:extLst>
          </p:cNvPr>
          <p:cNvSpPr>
            <a:spLocks xmlns:a="http://schemas.openxmlformats.org/drawingml/2006/main" noGrp="1"/>
          </p:cNvSpPr>
          <p:nvPr/>
        </p:nvSpPr>
        <p:spPr>
          <a:xfrm xmlns:a="http://schemas.openxmlformats.org/drawingml/2006/main">
            <a:off x="762000" y="419100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요청한 범위만 수정했는가?</a:t>
            </a:r>
          </a:p>
        </p:txBody>
      </p:sp>
      <p:sp>
        <p:nvSpPr>
          <p:cNvPr id="20" name="최종 diff 검토">
            <a:extLst xmlns:a="http://schemas.openxmlformats.org/drawingml/2006/main">
              <a:ext uri="{FF2B5EF4-FFF2-40B4-BE49-F238E27FC236}">
                <a16:creationId xmlns:a16="http://schemas.microsoft.com/office/drawing/2014/main" id="{8E1AFA8C-2D44-473F-86A6-CDBAD77B7F2E}"/>
              </a:ext>
            </a:extLst>
          </p:cNvPr>
          <p:cNvSpPr>
            <a:spLocks xmlns:a="http://schemas.openxmlformats.org/drawingml/2006/main" noGrp="1"/>
          </p:cNvSpPr>
          <p:nvPr/>
        </p:nvSpPr>
        <p:spPr>
          <a:xfrm xmlns:a="http://schemas.openxmlformats.org/drawingml/2006/main">
            <a:off x="7162800" y="419100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최종 diff 검토</a:t>
            </a:r>
          </a:p>
        </p:txBody>
      </p:sp>
      <p:sp>
        <p:nvSpPr>
          <p:cNvPr id="21" name="">
            <a:extLst xmlns:a="http://schemas.openxmlformats.org/drawingml/2006/main">
              <a:ext uri="{FF2B5EF4-FFF2-40B4-BE49-F238E27FC236}">
                <a16:creationId xmlns:a16="http://schemas.microsoft.com/office/drawing/2014/main" id="{613A8935-2967-4D5D-BDD6-1E0AF8387356}"/>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실행시간이 줄었는가?">
            <a:extLst xmlns:a="http://schemas.openxmlformats.org/drawingml/2006/main">
              <a:ext uri="{FF2B5EF4-FFF2-40B4-BE49-F238E27FC236}">
                <a16:creationId xmlns:a16="http://schemas.microsoft.com/office/drawing/2014/main" id="{CC84C71F-C690-4C73-ADC3-B41CC4838273}"/>
              </a:ext>
            </a:extLst>
          </p:cNvPr>
          <p:cNvSpPr>
            <a:spLocks xmlns:a="http://schemas.openxmlformats.org/drawingml/2006/main" noGrp="1"/>
          </p:cNvSpPr>
          <p:nvPr/>
        </p:nvSpPr>
        <p:spPr>
          <a:xfrm xmlns:a="http://schemas.openxmlformats.org/drawingml/2006/main">
            <a:off x="762000" y="47720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실행시간이 줄었는가?</a:t>
            </a:r>
          </a:p>
        </p:txBody>
      </p:sp>
      <p:sp>
        <p:nvSpPr>
          <p:cNvPr id="23" name="같은 조건의 전후 측정">
            <a:extLst xmlns:a="http://schemas.openxmlformats.org/drawingml/2006/main">
              <a:ext uri="{FF2B5EF4-FFF2-40B4-BE49-F238E27FC236}">
                <a16:creationId xmlns:a16="http://schemas.microsoft.com/office/drawing/2014/main" id="{0DF5AEDB-9E8D-4A40-83C8-E693983B89EF}"/>
              </a:ext>
            </a:extLst>
          </p:cNvPr>
          <p:cNvSpPr>
            <a:spLocks xmlns:a="http://schemas.openxmlformats.org/drawingml/2006/main" noGrp="1"/>
          </p:cNvSpPr>
          <p:nvPr/>
        </p:nvSpPr>
        <p:spPr>
          <a:xfrm xmlns:a="http://schemas.openxmlformats.org/drawingml/2006/main">
            <a:off x="7162800" y="47720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같은 조건의 전후 측정</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AFCEC3D2-1F5F-45B4-8A72-EE3293D94D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876B097-C7AB-4C5A-A562-4F990B05B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목표가 달라지면 검증 요청도 달라진다">
            <a:extLst xmlns:a="http://schemas.openxmlformats.org/drawingml/2006/main">
              <a:ext uri="{FF2B5EF4-FFF2-40B4-BE49-F238E27FC236}">
                <a16:creationId xmlns:a16="http://schemas.microsoft.com/office/drawing/2014/main" id="{36522554-B5DF-4933-B0EA-CC6E617244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목표가 달라지면 검증 요청도 달라진다</a:t>
            </a:r>
          </a:p>
        </p:txBody>
      </p:sp>
      <p:sp>
        <p:nvSpPr>
          <p:cNvPr id="4" name="">
            <a:extLst xmlns:a="http://schemas.openxmlformats.org/drawingml/2006/main">
              <a:ext uri="{FF2B5EF4-FFF2-40B4-BE49-F238E27FC236}">
                <a16:creationId xmlns:a16="http://schemas.microsoft.com/office/drawing/2014/main" id="{1CF74B21-7623-4B60-A5D2-AA60DFD8B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비교 · 실제 TRIAL-002 원문이나 새 실행 결과가 아님">
            <a:extLst xmlns:a="http://schemas.openxmlformats.org/drawingml/2006/main">
              <a:ext uri="{FF2B5EF4-FFF2-40B4-BE49-F238E27FC236}">
                <a16:creationId xmlns:a16="http://schemas.microsoft.com/office/drawing/2014/main" id="{CFF12D8D-5E24-4C43-8620-A83025B033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교육용 요청 비교 · 실제 TRIAL-002 원문이나 새 실행 결과가 아님</a:t>
            </a:r>
          </a:p>
        </p:txBody>
      </p:sp>
      <p:sp>
        <p:nvSpPr>
          <p:cNvPr id="6" name="M 연계 · M5 / M6">
            <a:extLst xmlns:a="http://schemas.openxmlformats.org/drawingml/2006/main">
              <a:ext uri="{FF2B5EF4-FFF2-40B4-BE49-F238E27FC236}">
                <a16:creationId xmlns:a16="http://schemas.microsoft.com/office/drawing/2014/main" id="{B86641DB-9DCD-44E0-8D3C-FDC95C3D75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같은 crop · 검증 부분의 작성 예시">
            <a:extLst xmlns:a="http://schemas.openxmlformats.org/drawingml/2006/main">
              <a:ext uri="{FF2B5EF4-FFF2-40B4-BE49-F238E27FC236}">
                <a16:creationId xmlns:a16="http://schemas.microsoft.com/office/drawing/2014/main" id="{18A28F38-4FAF-47A9-A493-D7E9DBCE8054}"/>
              </a:ext>
            </a:extLst>
          </p:cNvPr>
          <p:cNvSpPr>
            <a:spLocks xmlns:a="http://schemas.openxmlformats.org/drawingml/2006/main" noGrp="1"/>
          </p:cNvSpPr>
          <p:nvPr/>
        </p:nvSpPr>
        <p:spPr>
          <a:xfrm xmlns:a="http://schemas.openxmlformats.org/drawingml/2006/main">
            <a:off x="609600" y="17621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같은 crop · 검증 부분의 작성 예시</a:t>
            </a:r>
          </a:p>
        </p:txBody>
      </p:sp>
      <p:sp>
        <p:nvSpPr>
          <p:cNvPr id="8" name="목표 1 · 경계 오류 수정">
            <a:extLst xmlns:a="http://schemas.openxmlformats.org/drawingml/2006/main">
              <a:ext uri="{FF2B5EF4-FFF2-40B4-BE49-F238E27FC236}">
                <a16:creationId xmlns:a16="http://schemas.microsoft.com/office/drawing/2014/main" id="{896248B0-8149-465F-9351-4E66D463015D}"/>
              </a:ext>
            </a:extLst>
          </p:cNvPr>
          <p:cNvSpPr>
            <a:spLocks xmlns:a="http://schemas.openxmlformats.org/drawingml/2006/main" noGrp="1"/>
          </p:cNvSpPr>
          <p:nvPr/>
        </p:nvSpPr>
        <p:spPr>
          <a:xfrm xmlns:a="http://schemas.openxmlformats.org/drawingml/2006/main">
            <a:off x="6096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1 · 경계 오류 수정</a:t>
            </a:r>
          </a:p>
        </p:txBody>
      </p:sp>
      <p:sp>
        <p:nvSpPr>
          <p:cNvPr id="9" name="">
            <a:extLst xmlns:a="http://schemas.openxmlformats.org/drawingml/2006/main">
              <a:ext uri="{FF2B5EF4-FFF2-40B4-BE49-F238E27FC236}">
                <a16:creationId xmlns:a16="http://schemas.microsoft.com/office/drawing/2014/main" id="{00487F51-27AA-4120-8B19-9C95CA4AE563}"/>
              </a:ext>
            </a:extLst>
          </p:cNvPr>
          <p:cNvSpPr>
            <a:spLocks xmlns:a="http://schemas.openxmlformats.org/drawingml/2006/main" noGrp="1"/>
          </p:cNvSpPr>
          <p:nvPr/>
        </p:nvSpPr>
        <p:spPr>
          <a:xfrm xmlns:a="http://schemas.openxmlformats.org/drawingml/2006/main">
            <a:off x="6096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검증 요청">
            <a:extLst xmlns:a="http://schemas.openxmlformats.org/drawingml/2006/main">
              <a:ext uri="{FF2B5EF4-FFF2-40B4-BE49-F238E27FC236}">
                <a16:creationId xmlns:a16="http://schemas.microsoft.com/office/drawing/2014/main" id="{89DC81CA-8E55-448C-BB51-17D5AD24E1E6}"/>
              </a:ext>
            </a:extLst>
          </p:cNvPr>
          <p:cNvSpPr>
            <a:spLocks xmlns:a="http://schemas.openxmlformats.org/drawingml/2006/main" noGrp="1"/>
          </p:cNvSpPr>
          <p:nvPr/>
        </p:nvSpPr>
        <p:spPr>
          <a:xfrm xmlns:a="http://schemas.openxmlformats.org/drawingml/2006/main">
            <a:off x="8191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1" name="">
            <a:extLst xmlns:a="http://schemas.openxmlformats.org/drawingml/2006/main">
              <a:ext uri="{FF2B5EF4-FFF2-40B4-BE49-F238E27FC236}">
                <a16:creationId xmlns:a16="http://schemas.microsoft.com/office/drawing/2014/main" id="{129C3F2C-ABE8-4568-BED2-BE31DBEC024B}"/>
              </a:ext>
            </a:extLst>
          </p:cNvPr>
          <p:cNvSpPr>
            <a:spLocks xmlns:a="http://schemas.openxmlformats.org/drawingml/2006/main" noGrp="1"/>
          </p:cNvSpPr>
          <p:nvPr/>
        </p:nvSpPr>
        <p:spPr>
          <a:xfrm xmlns:a="http://schemas.openxmlformats.org/drawingml/2006/main">
            <a:off x="8191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기존 crop 명세를 기준으로">
            <a:extLst xmlns:a="http://schemas.openxmlformats.org/drawingml/2006/main">
              <a:ext uri="{FF2B5EF4-FFF2-40B4-BE49-F238E27FC236}">
                <a16:creationId xmlns:a16="http://schemas.microsoft.com/office/drawing/2014/main" id="{3CA04E5A-F2BB-43E0-A896-D98D791779EA}"/>
              </a:ext>
            </a:extLst>
          </p:cNvPr>
          <p:cNvSpPr>
            <a:spLocks xmlns:a="http://schemas.openxmlformats.org/drawingml/2006/main" noGrp="1"/>
          </p:cNvSpPr>
          <p:nvPr/>
        </p:nvSpPr>
        <p:spPr>
          <a:xfrm xmlns:a="http://schemas.openxmlformats.org/drawingml/2006/main">
            <a:off x="8191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crop 명세를 기준으로</a:t>
            </a:r>
          </a:p>
        </p:txBody>
      </p:sp>
      <p:sp>
        <p:nvSpPr>
          <p:cNvPr id="13" name="관련·전체 테스트를 실행해줘.">
            <a:extLst xmlns:a="http://schemas.openxmlformats.org/drawingml/2006/main">
              <a:ext uri="{FF2B5EF4-FFF2-40B4-BE49-F238E27FC236}">
                <a16:creationId xmlns:a16="http://schemas.microsoft.com/office/drawing/2014/main" id="{E23B1B89-C58E-4345-A735-0217E1140803}"/>
              </a:ext>
            </a:extLst>
          </p:cNvPr>
          <p:cNvSpPr>
            <a:spLocks xmlns:a="http://schemas.openxmlformats.org/drawingml/2006/main" noGrp="1"/>
          </p:cNvSpPr>
          <p:nvPr/>
        </p:nvSpPr>
        <p:spPr>
          <a:xfrm xmlns:a="http://schemas.openxmlformats.org/drawingml/2006/main">
            <a:off x="8191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관련·전체 테스트를 실행해줘.</a:t>
            </a:r>
          </a:p>
        </p:txBody>
      </p:sp>
      <p:sp>
        <p:nvSpPr>
          <p:cNvPr id="14" name="CLI 샘플과 최종 diff도 확인하고,">
            <a:extLst xmlns:a="http://schemas.openxmlformats.org/drawingml/2006/main">
              <a:ext uri="{FF2B5EF4-FFF2-40B4-BE49-F238E27FC236}">
                <a16:creationId xmlns:a16="http://schemas.microsoft.com/office/drawing/2014/main" id="{C9EEA342-7016-417A-BB99-D2396F4DAEB0}"/>
              </a:ext>
            </a:extLst>
          </p:cNvPr>
          <p:cNvSpPr>
            <a:spLocks xmlns:a="http://schemas.openxmlformats.org/drawingml/2006/main" noGrp="1"/>
          </p:cNvSpPr>
          <p:nvPr/>
        </p:nvSpPr>
        <p:spPr>
          <a:xfrm xmlns:a="http://schemas.openxmlformats.org/drawingml/2006/main">
            <a:off x="8191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CLI 샘플과 최종 diff도 확인하고,</a:t>
            </a:r>
          </a:p>
        </p:txBody>
      </p:sp>
      <p:sp>
        <p:nvSpPr>
          <p:cNvPr id="15" name="검사·결과·미확인을 보고해줘.">
            <a:extLst xmlns:a="http://schemas.openxmlformats.org/drawingml/2006/main">
              <a:ext uri="{FF2B5EF4-FFF2-40B4-BE49-F238E27FC236}">
                <a16:creationId xmlns:a16="http://schemas.microsoft.com/office/drawing/2014/main" id="{1E491E6E-0717-4779-8ED9-0E726B8634CA}"/>
              </a:ext>
            </a:extLst>
          </p:cNvPr>
          <p:cNvSpPr>
            <a:spLocks xmlns:a="http://schemas.openxmlformats.org/drawingml/2006/main" noGrp="1"/>
          </p:cNvSpPr>
          <p:nvPr/>
        </p:nvSpPr>
        <p:spPr>
          <a:xfrm xmlns:a="http://schemas.openxmlformats.org/drawingml/2006/main">
            <a:off x="8191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검사·결과·미확인을 보고해줘.</a:t>
            </a:r>
          </a:p>
        </p:txBody>
      </p:sp>
      <p:sp>
        <p:nvSpPr>
          <p:cNvPr id="16" name="목표 2 · 실행시간 단축">
            <a:extLst xmlns:a="http://schemas.openxmlformats.org/drawingml/2006/main">
              <a:ext uri="{FF2B5EF4-FFF2-40B4-BE49-F238E27FC236}">
                <a16:creationId xmlns:a16="http://schemas.microsoft.com/office/drawing/2014/main" id="{1C6EFD3B-6AB0-442B-8FEA-1CF8A9EFC9E8}"/>
              </a:ext>
            </a:extLst>
          </p:cNvPr>
          <p:cNvSpPr>
            <a:spLocks xmlns:a="http://schemas.openxmlformats.org/drawingml/2006/main" noGrp="1"/>
          </p:cNvSpPr>
          <p:nvPr/>
        </p:nvSpPr>
        <p:spPr>
          <a:xfrm xmlns:a="http://schemas.openxmlformats.org/drawingml/2006/main">
            <a:off x="62865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2 · 실행시간 단축</a:t>
            </a:r>
          </a:p>
        </p:txBody>
      </p:sp>
      <p:sp>
        <p:nvSpPr>
          <p:cNvPr id="17" name="">
            <a:extLst xmlns:a="http://schemas.openxmlformats.org/drawingml/2006/main">
              <a:ext uri="{FF2B5EF4-FFF2-40B4-BE49-F238E27FC236}">
                <a16:creationId xmlns:a16="http://schemas.microsoft.com/office/drawing/2014/main" id="{E99A9B78-1BEA-4BC2-9590-C943A90855E6}"/>
              </a:ext>
            </a:extLst>
          </p:cNvPr>
          <p:cNvSpPr>
            <a:spLocks xmlns:a="http://schemas.openxmlformats.org/drawingml/2006/main" noGrp="1"/>
          </p:cNvSpPr>
          <p:nvPr/>
        </p:nvSpPr>
        <p:spPr>
          <a:xfrm xmlns:a="http://schemas.openxmlformats.org/drawingml/2006/main">
            <a:off x="62865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검증 요청">
            <a:extLst xmlns:a="http://schemas.openxmlformats.org/drawingml/2006/main">
              <a:ext uri="{FF2B5EF4-FFF2-40B4-BE49-F238E27FC236}">
                <a16:creationId xmlns:a16="http://schemas.microsoft.com/office/drawing/2014/main" id="{54F0C16F-0D98-4841-99FB-0800AC596E01}"/>
              </a:ext>
            </a:extLst>
          </p:cNvPr>
          <p:cNvSpPr>
            <a:spLocks xmlns:a="http://schemas.openxmlformats.org/drawingml/2006/main" noGrp="1"/>
          </p:cNvSpPr>
          <p:nvPr/>
        </p:nvSpPr>
        <p:spPr>
          <a:xfrm xmlns:a="http://schemas.openxmlformats.org/drawingml/2006/main">
            <a:off x="64960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9" name="">
            <a:extLst xmlns:a="http://schemas.openxmlformats.org/drawingml/2006/main">
              <a:ext uri="{FF2B5EF4-FFF2-40B4-BE49-F238E27FC236}">
                <a16:creationId xmlns:a16="http://schemas.microsoft.com/office/drawing/2014/main" id="{191EAA0E-22C5-4152-8B30-80498BDDFABE}"/>
              </a:ext>
            </a:extLst>
          </p:cNvPr>
          <p:cNvSpPr>
            <a:spLocks xmlns:a="http://schemas.openxmlformats.org/drawingml/2006/main" noGrp="1"/>
          </p:cNvSpPr>
          <p:nvPr/>
        </p:nvSpPr>
        <p:spPr>
          <a:xfrm xmlns:a="http://schemas.openxmlformats.org/drawingml/2006/main">
            <a:off x="64960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존 동작은 테스트로 확인해줘.">
            <a:extLst xmlns:a="http://schemas.openxmlformats.org/drawingml/2006/main">
              <a:ext uri="{FF2B5EF4-FFF2-40B4-BE49-F238E27FC236}">
                <a16:creationId xmlns:a16="http://schemas.microsoft.com/office/drawing/2014/main" id="{7AEECCF7-9A2B-40CC-A540-FBE7764F95BB}"/>
              </a:ext>
            </a:extLst>
          </p:cNvPr>
          <p:cNvSpPr>
            <a:spLocks xmlns:a="http://schemas.openxmlformats.org/drawingml/2006/main" noGrp="1"/>
          </p:cNvSpPr>
          <p:nvPr/>
        </p:nvSpPr>
        <p:spPr>
          <a:xfrm xmlns:a="http://schemas.openxmlformats.org/drawingml/2006/main">
            <a:off x="64960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동작은 테스트로 확인해줘.</a:t>
            </a:r>
          </a:p>
        </p:txBody>
      </p:sp>
      <p:sp>
        <p:nvSpPr>
          <p:cNvPr id="21" name="같은 입력·환경에서">
            <a:extLst xmlns:a="http://schemas.openxmlformats.org/drawingml/2006/main">
              <a:ext uri="{FF2B5EF4-FFF2-40B4-BE49-F238E27FC236}">
                <a16:creationId xmlns:a16="http://schemas.microsoft.com/office/drawing/2014/main" id="{69BC512E-AAD8-484C-BC97-ADFE48AA4D4F}"/>
              </a:ext>
            </a:extLst>
          </p:cNvPr>
          <p:cNvSpPr>
            <a:spLocks xmlns:a="http://schemas.openxmlformats.org/drawingml/2006/main" noGrp="1"/>
          </p:cNvSpPr>
          <p:nvPr/>
        </p:nvSpPr>
        <p:spPr>
          <a:xfrm xmlns:a="http://schemas.openxmlformats.org/drawingml/2006/main">
            <a:off x="64960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입력·환경에서</a:t>
            </a:r>
          </a:p>
        </p:txBody>
      </p:sp>
      <p:sp>
        <p:nvSpPr>
          <p:cNvPr id="22" name="변경 전후 시간을 측정해줘.">
            <a:extLst xmlns:a="http://schemas.openxmlformats.org/drawingml/2006/main">
              <a:ext uri="{FF2B5EF4-FFF2-40B4-BE49-F238E27FC236}">
                <a16:creationId xmlns:a16="http://schemas.microsoft.com/office/drawing/2014/main" id="{B316F524-ADF7-4AB3-AFA2-DF63A0231860}"/>
              </a:ext>
            </a:extLst>
          </p:cNvPr>
          <p:cNvSpPr>
            <a:spLocks xmlns:a="http://schemas.openxmlformats.org/drawingml/2006/main" noGrp="1"/>
          </p:cNvSpPr>
          <p:nvPr/>
        </p:nvSpPr>
        <p:spPr>
          <a:xfrm xmlns:a="http://schemas.openxmlformats.org/drawingml/2006/main">
            <a:off x="64960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전후 시간을 측정해줘.</a:t>
            </a:r>
          </a:p>
        </p:txBody>
      </p:sp>
      <p:sp>
        <p:nvSpPr>
          <p:cNvPr id="23" name="측정 조건·결과·미확인을 보고해줘.">
            <a:extLst xmlns:a="http://schemas.openxmlformats.org/drawingml/2006/main">
              <a:ext uri="{FF2B5EF4-FFF2-40B4-BE49-F238E27FC236}">
                <a16:creationId xmlns:a16="http://schemas.microsoft.com/office/drawing/2014/main" id="{01848AB8-479E-43E0-B403-5324537E3076}"/>
              </a:ext>
            </a:extLst>
          </p:cNvPr>
          <p:cNvSpPr>
            <a:spLocks xmlns:a="http://schemas.openxmlformats.org/drawingml/2006/main" noGrp="1"/>
          </p:cNvSpPr>
          <p:nvPr/>
        </p:nvSpPr>
        <p:spPr>
          <a:xfrm xmlns:a="http://schemas.openxmlformats.org/drawingml/2006/main">
            <a:off x="64960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 조건·결과·미확인을 보고해줘.</a:t>
            </a:r>
          </a:p>
        </p:txBody>
      </p:sp>
      <p:sp>
        <p:nvSpPr>
          <p:cNvPr id="24" name="동작 확인과 성능 확인은 필요한 근거가 다르다">
            <a:extLst xmlns:a="http://schemas.openxmlformats.org/drawingml/2006/main">
              <a:ext uri="{FF2B5EF4-FFF2-40B4-BE49-F238E27FC236}">
                <a16:creationId xmlns:a16="http://schemas.microsoft.com/office/drawing/2014/main" id="{EC4D4EFC-6EDA-4D9C-9526-EF2DD63B7B1E}"/>
              </a:ext>
            </a:extLst>
          </p:cNvPr>
          <p:cNvSpPr>
            <a:spLocks xmlns:a="http://schemas.openxmlformats.org/drawingml/2006/main" noGrp="1"/>
          </p:cNvSpPr>
          <p:nvPr/>
        </p:nvSpPr>
        <p:spPr>
          <a:xfrm xmlns:a="http://schemas.openxmlformats.org/drawingml/2006/main">
            <a:off x="609600" y="5229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동작 확인과 성능 확인은 필요한 근거가 다르다</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1 · 요청 문장 도구 1/8 · 조건부">
            <a:extLst xmlns:a="http://schemas.openxmlformats.org/drawingml/2006/main">
              <a:ext uri="{FF2B5EF4-FFF2-40B4-BE49-F238E27FC236}">
                <a16:creationId xmlns:a16="http://schemas.microsoft.com/office/drawing/2014/main" id="{AF09E28B-EFAA-41AD-BC26-9CE9FDC8DD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조건부</a:t>
            </a:r>
          </a:p>
        </p:txBody>
      </p:sp>
      <p:sp>
        <p:nvSpPr>
          <p:cNvPr id="2" name="S28">
            <a:extLst xmlns:a="http://schemas.openxmlformats.org/drawingml/2006/main">
              <a:ext uri="{FF2B5EF4-FFF2-40B4-BE49-F238E27FC236}">
                <a16:creationId xmlns:a16="http://schemas.microsoft.com/office/drawing/2014/main" id="{B8EEDFCB-3C20-40B1-B585-DDB7B02840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6D1CD86B-6556-40EE-A66A-8600781790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77D8F40-652A-4CFB-979F-8BC2CFF0DB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3061A5C-5797-44FE-86E2-EFB7255481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Prompt engineering · Message formatting with Markdown and XML</a:t>
            </a:r>
          </a:p>
        </p:txBody>
      </p:sp>
      <p:sp>
        <p:nvSpPr>
          <p:cNvPr id="6" name="Audience footer 2">
            <a:extLst xmlns:a="http://schemas.openxmlformats.org/drawingml/2006/main">
              <a:ext uri="{FF2B5EF4-FFF2-40B4-BE49-F238E27FC236}">
                <a16:creationId xmlns:a16="http://schemas.microsoft.com/office/drawing/2014/main" id="{C0C091F8-3981-4138-A7D9-D4AC5EA5F8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해석을 돕는 표시이며, 보안 격리를 보장하지 않는다.</a:t>
            </a:r>
          </a:p>
        </p:txBody>
      </p:sp>
      <p:sp>
        <p:nvSpPr>
          <p:cNvPr id="7" name="Delimiters">
            <a:extLst xmlns:a="http://schemas.openxmlformats.org/drawingml/2006/main">
              <a:ext uri="{FF2B5EF4-FFF2-40B4-BE49-F238E27FC236}">
                <a16:creationId xmlns:a16="http://schemas.microsoft.com/office/drawing/2014/main" id="{762725F7-CEC2-4C10-9DC7-B746A9FC19AD}"/>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Delimiters</a:t>
            </a:r>
          </a:p>
        </p:txBody>
      </p:sp>
      <p:sp>
        <p:nvSpPr>
          <p:cNvPr id="8" name="지시와 참고 자료의 구획">
            <a:extLst xmlns:a="http://schemas.openxmlformats.org/drawingml/2006/main">
              <a:ext uri="{FF2B5EF4-FFF2-40B4-BE49-F238E27FC236}">
                <a16:creationId xmlns:a16="http://schemas.microsoft.com/office/drawing/2014/main" id="{9E946F34-6383-4EE9-8D5F-E7126B3DDF9A}"/>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지시와 참고 자료의 구획</a:t>
            </a:r>
          </a:p>
        </p:txBody>
      </p:sp>
      <p:sp>
        <p:nvSpPr>
          <p:cNvPr id="9" name="사용 상황">
            <a:extLst xmlns:a="http://schemas.openxmlformats.org/drawingml/2006/main">
              <a:ext uri="{FF2B5EF4-FFF2-40B4-BE49-F238E27FC236}">
                <a16:creationId xmlns:a16="http://schemas.microsoft.com/office/drawing/2014/main" id="{3F60FC3B-B92A-4AF9-8DD0-89C28AC81FFE}"/>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요청과 로그·명세가 한 메시지에 섞일 때">
            <a:extLst xmlns:a="http://schemas.openxmlformats.org/drawingml/2006/main">
              <a:ext uri="{FF2B5EF4-FFF2-40B4-BE49-F238E27FC236}">
                <a16:creationId xmlns:a16="http://schemas.microsoft.com/office/drawing/2014/main" id="{F3A9121E-FB7B-4B14-83F6-849E69145C73}"/>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요청과 로그·명세가 한 메시지에 섞일 때</a:t>
            </a:r>
          </a:p>
        </p:txBody>
      </p:sp>
      <p:sp>
        <p:nvSpPr>
          <p:cNvPr id="11" name="">
            <a:extLst xmlns:a="http://schemas.openxmlformats.org/drawingml/2006/main">
              <a:ext uri="{FF2B5EF4-FFF2-40B4-BE49-F238E27FC236}">
                <a16:creationId xmlns:a16="http://schemas.microsoft.com/office/drawing/2014/main" id="{797835AC-FAAE-4081-AD29-85637DF51EE1}"/>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7DAD11F-5E17-4C2C-9C93-3B1A66CAFA37}"/>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286BFC86-3D9A-46EE-A639-966978EA7B33}"/>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56751792-A748-439D-878C-6F19E1116C98}"/>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C0C9020-2901-495B-BF69-26ABB985919C}"/>
              </a:ext>
            </a:extLst>
          </p:cNvPr>
          <p:cNvSpPr>
            <a:spLocks xmlns:a="http://schemas.openxmlformats.org/drawingml/2006/main" noGrp="1"/>
          </p:cNvSpPr>
          <p:nvPr/>
        </p:nvSpPr>
        <p:spPr>
          <a:xfrm xmlns:a="http://schemas.openxmlformats.org/drawingml/2006/main">
            <a:off x="800100" y="3086100"/>
            <a:ext cx="7010400" cy="295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 요청">
            <a:extLst xmlns:a="http://schemas.openxmlformats.org/drawingml/2006/main">
              <a:ext uri="{FF2B5EF4-FFF2-40B4-BE49-F238E27FC236}">
                <a16:creationId xmlns:a16="http://schemas.microsoft.com/office/drawing/2014/main" id="{0109FB29-BE5B-4917-98BA-F0AF35F68C10}"/>
              </a:ext>
            </a:extLst>
          </p:cNvPr>
          <p:cNvSpPr>
            <a:spLocks xmlns:a="http://schemas.openxmlformats.org/drawingml/2006/main" noGrp="1"/>
          </p:cNvSpPr>
          <p:nvPr/>
        </p:nvSpPr>
        <p:spPr>
          <a:xfrm xmlns:a="http://schemas.openxmlformats.org/drawingml/2006/main">
            <a:off x="895350" y="3086100"/>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요청</a:t>
            </a:r>
          </a:p>
        </p:txBody>
      </p:sp>
      <p:sp>
        <p:nvSpPr>
          <p:cNvPr id="17" name="crop 경계 오류의 원인만 조사해줘.">
            <a:extLst xmlns:a="http://schemas.openxmlformats.org/drawingml/2006/main">
              <a:ext uri="{FF2B5EF4-FFF2-40B4-BE49-F238E27FC236}">
                <a16:creationId xmlns:a16="http://schemas.microsoft.com/office/drawing/2014/main" id="{BCD9371D-948F-445D-8CFE-406129259432}"/>
              </a:ext>
            </a:extLst>
          </p:cNvPr>
          <p:cNvSpPr>
            <a:spLocks xmlns:a="http://schemas.openxmlformats.org/drawingml/2006/main" noGrp="1"/>
          </p:cNvSpPr>
          <p:nvPr/>
        </p:nvSpPr>
        <p:spPr>
          <a:xfrm xmlns:a="http://schemas.openxmlformats.org/drawingml/2006/main">
            <a:off x="895350" y="3381375"/>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오류의 원인만 조사해줘.</a:t>
            </a:r>
          </a:p>
        </p:txBody>
      </p:sp>
      <p:sp>
        <p:nvSpPr>
          <p:cNvPr id="18" name="코드는 수정하지 마.">
            <a:extLst xmlns:a="http://schemas.openxmlformats.org/drawingml/2006/main">
              <a:ext uri="{FF2B5EF4-FFF2-40B4-BE49-F238E27FC236}">
                <a16:creationId xmlns:a16="http://schemas.microsoft.com/office/drawing/2014/main" id="{5FF3A161-4EEC-44D4-B29E-0EB6F69BBCE0}"/>
              </a:ext>
            </a:extLst>
          </p:cNvPr>
          <p:cNvSpPr>
            <a:spLocks xmlns:a="http://schemas.openxmlformats.org/drawingml/2006/main" noGrp="1"/>
          </p:cNvSpPr>
          <p:nvPr/>
        </p:nvSpPr>
        <p:spPr>
          <a:xfrm xmlns:a="http://schemas.openxmlformats.org/drawingml/2006/main">
            <a:off x="895350" y="3676650"/>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코드는 수정하지 마.</a:t>
            </a:r>
          </a:p>
        </p:txBody>
      </p:sp>
      <p:sp>
        <p:nvSpPr>
          <p:cNvPr id="19" name="">
            <a:extLst xmlns:a="http://schemas.openxmlformats.org/drawingml/2006/main">
              <a:ext uri="{FF2B5EF4-FFF2-40B4-BE49-F238E27FC236}">
                <a16:creationId xmlns:a16="http://schemas.microsoft.com/office/drawing/2014/main" id="{DC030656-7080-4A23-A57F-42F5142826AF}"/>
              </a:ext>
            </a:extLst>
          </p:cNvPr>
          <p:cNvSpPr>
            <a:spLocks xmlns:a="http://schemas.openxmlformats.org/drawingml/2006/main" noGrp="1"/>
          </p:cNvSpPr>
          <p:nvPr/>
        </p:nvSpPr>
        <p:spPr>
          <a:xfrm xmlns:a="http://schemas.openxmlformats.org/drawingml/2006/main">
            <a:off x="800100" y="3971925"/>
            <a:ext cx="7010400" cy="295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 참고 명세">
            <a:extLst xmlns:a="http://schemas.openxmlformats.org/drawingml/2006/main">
              <a:ext uri="{FF2B5EF4-FFF2-40B4-BE49-F238E27FC236}">
                <a16:creationId xmlns:a16="http://schemas.microsoft.com/office/drawing/2014/main" id="{20BEC4A3-1D32-4725-8B41-15A6B6669FD0}"/>
              </a:ext>
            </a:extLst>
          </p:cNvPr>
          <p:cNvSpPr>
            <a:spLocks xmlns:a="http://schemas.openxmlformats.org/drawingml/2006/main" noGrp="1"/>
          </p:cNvSpPr>
          <p:nvPr/>
        </p:nvSpPr>
        <p:spPr>
          <a:xfrm xmlns:a="http://schemas.openxmlformats.org/drawingml/2006/main">
            <a:off x="895350" y="3971925"/>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참고 명세</a:t>
            </a:r>
          </a:p>
        </p:txBody>
      </p:sp>
      <p:sp>
        <p:nvSpPr>
          <p:cNvPr id="21" name="crop [1,3)의 기대 폭은 2">
            <a:extLst xmlns:a="http://schemas.openxmlformats.org/drawingml/2006/main">
              <a:ext uri="{FF2B5EF4-FFF2-40B4-BE49-F238E27FC236}">
                <a16:creationId xmlns:a16="http://schemas.microsoft.com/office/drawing/2014/main" id="{2793C3E2-141D-44A1-8EFB-EB6193961F60}"/>
              </a:ext>
            </a:extLst>
          </p:cNvPr>
          <p:cNvSpPr>
            <a:spLocks xmlns:a="http://schemas.openxmlformats.org/drawingml/2006/main" noGrp="1"/>
          </p:cNvSpPr>
          <p:nvPr/>
        </p:nvSpPr>
        <p:spPr>
          <a:xfrm xmlns:a="http://schemas.openxmlformats.org/drawingml/2006/main">
            <a:off x="895350" y="4267200"/>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[1,3)의 기대 폭은 2</a:t>
            </a:r>
          </a:p>
        </p:txBody>
      </p:sp>
      <p:sp>
        <p:nvSpPr>
          <p:cNvPr id="22" name="">
            <a:extLst xmlns:a="http://schemas.openxmlformats.org/drawingml/2006/main">
              <a:ext uri="{FF2B5EF4-FFF2-40B4-BE49-F238E27FC236}">
                <a16:creationId xmlns:a16="http://schemas.microsoft.com/office/drawing/2014/main" id="{E1F4DB73-D3C5-4950-A0E8-9D60A4E7106F}"/>
              </a:ext>
            </a:extLst>
          </p:cNvPr>
          <p:cNvSpPr>
            <a:spLocks xmlns:a="http://schemas.openxmlformats.org/drawingml/2006/main" noGrp="1"/>
          </p:cNvSpPr>
          <p:nvPr/>
        </p:nvSpPr>
        <p:spPr>
          <a:xfrm xmlns:a="http://schemas.openxmlformats.org/drawingml/2006/main">
            <a:off x="800100" y="4562475"/>
            <a:ext cx="7010400" cy="295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 참고 로그">
            <a:extLst xmlns:a="http://schemas.openxmlformats.org/drawingml/2006/main">
              <a:ext uri="{FF2B5EF4-FFF2-40B4-BE49-F238E27FC236}">
                <a16:creationId xmlns:a16="http://schemas.microsoft.com/office/drawing/2014/main" id="{D058EBD7-6AAF-44F9-943C-BEB4E2470125}"/>
              </a:ext>
            </a:extLst>
          </p:cNvPr>
          <p:cNvSpPr>
            <a:spLocks xmlns:a="http://schemas.openxmlformats.org/drawingml/2006/main" noGrp="1"/>
          </p:cNvSpPr>
          <p:nvPr/>
        </p:nvSpPr>
        <p:spPr>
          <a:xfrm xmlns:a="http://schemas.openxmlformats.org/drawingml/2006/main">
            <a:off x="895350" y="4562475"/>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참고 로그</a:t>
            </a:r>
          </a:p>
        </p:txBody>
      </p:sp>
      <p:sp>
        <p:nvSpPr>
          <p:cNvPr id="24" name="expected=2, actual=3">
            <a:extLst xmlns:a="http://schemas.openxmlformats.org/drawingml/2006/main">
              <a:ext uri="{FF2B5EF4-FFF2-40B4-BE49-F238E27FC236}">
                <a16:creationId xmlns:a16="http://schemas.microsoft.com/office/drawing/2014/main" id="{D714CCB7-6D33-466F-9BCB-468EA482920C}"/>
              </a:ext>
            </a:extLst>
          </p:cNvPr>
          <p:cNvSpPr>
            <a:spLocks xmlns:a="http://schemas.openxmlformats.org/drawingml/2006/main" noGrp="1"/>
          </p:cNvSpPr>
          <p:nvPr/>
        </p:nvSpPr>
        <p:spPr>
          <a:xfrm xmlns:a="http://schemas.openxmlformats.org/drawingml/2006/main">
            <a:off x="895350" y="4857750"/>
            <a:ext cx="6819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expected=2, actual=3</a:t>
            </a:r>
          </a:p>
        </p:txBody>
      </p:sp>
      <p:sp>
        <p:nvSpPr>
          <p:cNvPr id="25" name="구획마다 읽는 역할">
            <a:extLst xmlns:a="http://schemas.openxmlformats.org/drawingml/2006/main">
              <a:ext uri="{FF2B5EF4-FFF2-40B4-BE49-F238E27FC236}">
                <a16:creationId xmlns:a16="http://schemas.microsoft.com/office/drawing/2014/main" id="{546FA7F2-3CCD-456D-9714-1900EFCDCBC4}"/>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구획마다 읽는 역할</a:t>
            </a:r>
          </a:p>
        </p:txBody>
      </p:sp>
      <p:sp>
        <p:nvSpPr>
          <p:cNvPr id="26" name="# 요청">
            <a:extLst xmlns:a="http://schemas.openxmlformats.org/drawingml/2006/main">
              <a:ext uri="{FF2B5EF4-FFF2-40B4-BE49-F238E27FC236}">
                <a16:creationId xmlns:a16="http://schemas.microsoft.com/office/drawing/2014/main" id="{8A0DCFF5-1513-4B36-8496-E3FAF2BB467A}"/>
              </a:ext>
            </a:extLst>
          </p:cNvPr>
          <p:cNvSpPr>
            <a:spLocks xmlns:a="http://schemas.openxmlformats.org/drawingml/2006/main" noGrp="1"/>
          </p:cNvSpPr>
          <p:nvPr/>
        </p:nvSpPr>
        <p:spPr>
          <a:xfrm xmlns:a="http://schemas.openxmlformats.org/drawingml/2006/main">
            <a:off x="8343900" y="31527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 요청</a:t>
            </a:r>
          </a:p>
        </p:txBody>
      </p:sp>
      <p:sp>
        <p:nvSpPr>
          <p:cNvPr id="27" name="따라야 할 지시">
            <a:extLst xmlns:a="http://schemas.openxmlformats.org/drawingml/2006/main">
              <a:ext uri="{FF2B5EF4-FFF2-40B4-BE49-F238E27FC236}">
                <a16:creationId xmlns:a16="http://schemas.microsoft.com/office/drawing/2014/main" id="{B6594151-4E69-4EC2-82DC-581509610B2E}"/>
              </a:ext>
            </a:extLst>
          </p:cNvPr>
          <p:cNvSpPr>
            <a:spLocks xmlns:a="http://schemas.openxmlformats.org/drawingml/2006/main" noGrp="1"/>
          </p:cNvSpPr>
          <p:nvPr/>
        </p:nvSpPr>
        <p:spPr>
          <a:xfrm xmlns:a="http://schemas.openxmlformats.org/drawingml/2006/main">
            <a:off x="8343900" y="342900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따라야 할 지시</a:t>
            </a:r>
          </a:p>
        </p:txBody>
      </p:sp>
      <p:sp>
        <p:nvSpPr>
          <p:cNvPr id="28" name="">
            <a:extLst xmlns:a="http://schemas.openxmlformats.org/drawingml/2006/main">
              <a:ext uri="{FF2B5EF4-FFF2-40B4-BE49-F238E27FC236}">
                <a16:creationId xmlns:a16="http://schemas.microsoft.com/office/drawing/2014/main" id="{513140BD-48CF-49B7-885A-1E06B737D5DA}"/>
              </a:ext>
            </a:extLst>
          </p:cNvPr>
          <p:cNvSpPr>
            <a:spLocks xmlns:a="http://schemas.openxmlformats.org/drawingml/2006/main" noGrp="1"/>
          </p:cNvSpPr>
          <p:nvPr/>
        </p:nvSpPr>
        <p:spPr>
          <a:xfrm xmlns:a="http://schemas.openxmlformats.org/drawingml/2006/main">
            <a:off x="8343900" y="3752850"/>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참고 명세">
            <a:extLst xmlns:a="http://schemas.openxmlformats.org/drawingml/2006/main">
              <a:ext uri="{FF2B5EF4-FFF2-40B4-BE49-F238E27FC236}">
                <a16:creationId xmlns:a16="http://schemas.microsoft.com/office/drawing/2014/main" id="{6F108DB0-6A60-4A14-A84B-E19700AD7E1F}"/>
              </a:ext>
            </a:extLst>
          </p:cNvPr>
          <p:cNvSpPr>
            <a:spLocks xmlns:a="http://schemas.openxmlformats.org/drawingml/2006/main" noGrp="1"/>
          </p:cNvSpPr>
          <p:nvPr/>
        </p:nvSpPr>
        <p:spPr>
          <a:xfrm xmlns:a="http://schemas.openxmlformats.org/drawingml/2006/main">
            <a:off x="8343900" y="379095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 참고 명세</a:t>
            </a:r>
          </a:p>
        </p:txBody>
      </p:sp>
      <p:sp>
        <p:nvSpPr>
          <p:cNvPr id="30" name="비교할 기준">
            <a:extLst xmlns:a="http://schemas.openxmlformats.org/drawingml/2006/main">
              <a:ext uri="{FF2B5EF4-FFF2-40B4-BE49-F238E27FC236}">
                <a16:creationId xmlns:a16="http://schemas.microsoft.com/office/drawing/2014/main" id="{D5876B5E-6698-4E7C-9DE5-E016F7D469F3}"/>
              </a:ext>
            </a:extLst>
          </p:cNvPr>
          <p:cNvSpPr>
            <a:spLocks xmlns:a="http://schemas.openxmlformats.org/drawingml/2006/main" noGrp="1"/>
          </p:cNvSpPr>
          <p:nvPr/>
        </p:nvSpPr>
        <p:spPr>
          <a:xfrm xmlns:a="http://schemas.openxmlformats.org/drawingml/2006/main">
            <a:off x="8343900" y="40671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비교할 기준</a:t>
            </a:r>
          </a:p>
        </p:txBody>
      </p:sp>
      <p:sp>
        <p:nvSpPr>
          <p:cNvPr id="31" name="">
            <a:extLst xmlns:a="http://schemas.openxmlformats.org/drawingml/2006/main">
              <a:ext uri="{FF2B5EF4-FFF2-40B4-BE49-F238E27FC236}">
                <a16:creationId xmlns:a16="http://schemas.microsoft.com/office/drawing/2014/main" id="{50F5EA7D-99F6-451A-91F6-DB3F70AD3CAC}"/>
              </a:ext>
            </a:extLst>
          </p:cNvPr>
          <p:cNvSpPr>
            <a:spLocks xmlns:a="http://schemas.openxmlformats.org/drawingml/2006/main" noGrp="1"/>
          </p:cNvSpPr>
          <p:nvPr/>
        </p:nvSpPr>
        <p:spPr>
          <a:xfrm xmlns:a="http://schemas.openxmlformats.org/drawingml/2006/main">
            <a:off x="8343900" y="439102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2" name="# 참고 로그">
            <a:extLst xmlns:a="http://schemas.openxmlformats.org/drawingml/2006/main">
              <a:ext uri="{FF2B5EF4-FFF2-40B4-BE49-F238E27FC236}">
                <a16:creationId xmlns:a16="http://schemas.microsoft.com/office/drawing/2014/main" id="{43853CDA-3096-46BC-8B53-E7810B1F8798}"/>
              </a:ext>
            </a:extLst>
          </p:cNvPr>
          <p:cNvSpPr>
            <a:spLocks xmlns:a="http://schemas.openxmlformats.org/drawingml/2006/main" noGrp="1"/>
          </p:cNvSpPr>
          <p:nvPr/>
        </p:nvSpPr>
        <p:spPr>
          <a:xfrm xmlns:a="http://schemas.openxmlformats.org/drawingml/2006/main">
            <a:off x="8343900" y="442912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 참고 로그</a:t>
            </a:r>
          </a:p>
        </p:txBody>
      </p:sp>
      <p:sp>
        <p:nvSpPr>
          <p:cNvPr id="33" name="분석할 관찰 자료">
            <a:extLst xmlns:a="http://schemas.openxmlformats.org/drawingml/2006/main">
              <a:ext uri="{FF2B5EF4-FFF2-40B4-BE49-F238E27FC236}">
                <a16:creationId xmlns:a16="http://schemas.microsoft.com/office/drawing/2014/main" id="{44BB2E71-CB8F-4D85-BC9A-3F8928A753A6}"/>
              </a:ext>
            </a:extLst>
          </p:cNvPr>
          <p:cNvSpPr>
            <a:spLocks xmlns:a="http://schemas.openxmlformats.org/drawingml/2006/main" noGrp="1"/>
          </p:cNvSpPr>
          <p:nvPr/>
        </p:nvSpPr>
        <p:spPr>
          <a:xfrm xmlns:a="http://schemas.openxmlformats.org/drawingml/2006/main">
            <a:off x="8343900" y="470535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분석할 관찰 자료</a:t>
            </a:r>
          </a:p>
        </p:txBody>
      </p:sp>
      <p:sp>
        <p:nvSpPr>
          <p:cNvPr id="34" name="여러 자료가 섞일 때, 제목으로 읽을 경계를 표시한다.">
            <a:extLst xmlns:a="http://schemas.openxmlformats.org/drawingml/2006/main">
              <a:ext uri="{FF2B5EF4-FFF2-40B4-BE49-F238E27FC236}">
                <a16:creationId xmlns:a16="http://schemas.microsoft.com/office/drawing/2014/main" id="{4DA2C125-C150-4543-A0CF-761560EEC07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여러 자료가 섞일 때, 제목으로 읽을 경계를 표시한다.</a:t>
            </a:r>
          </a:p>
        </p:txBody>
      </p:sp>
      <p:sp>
        <p:nvSpPr>
          <p:cNvPr id="35" name="">
            <a:extLst xmlns:a="http://schemas.openxmlformats.org/drawingml/2006/main">
              <a:ext uri="{FF2B5EF4-FFF2-40B4-BE49-F238E27FC236}">
                <a16:creationId xmlns:a16="http://schemas.microsoft.com/office/drawing/2014/main" id="{F4220901-0217-48E4-87B9-3B587FC8970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6" name="Practical application tip badge">
            <a:extLst xmlns:a="http://schemas.openxmlformats.org/drawingml/2006/main">
              <a:ext uri="{FF2B5EF4-FFF2-40B4-BE49-F238E27FC236}">
                <a16:creationId xmlns:a16="http://schemas.microsoft.com/office/drawing/2014/main" id="{AAB8F61F-25D4-4C15-AF3A-3F873D47B4F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37" name="Legacy module connection">
            <a:extLst xmlns:a="http://schemas.openxmlformats.org/drawingml/2006/main">
              <a:ext uri="{FF2B5EF4-FFF2-40B4-BE49-F238E27FC236}">
                <a16:creationId xmlns:a16="http://schemas.microsoft.com/office/drawing/2014/main" id="{B5523E02-27E5-4DA0-BCBC-74BFC6B9DB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7974315"/>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요청 문장 도구 2/8 · 조건부">
            <a:extLst xmlns:a="http://schemas.openxmlformats.org/drawingml/2006/main">
              <a:ext uri="{FF2B5EF4-FFF2-40B4-BE49-F238E27FC236}">
                <a16:creationId xmlns:a16="http://schemas.microsoft.com/office/drawing/2014/main" id="{617C7992-17E5-4F02-864D-0386041BA9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조건부</a:t>
            </a:r>
          </a:p>
        </p:txBody>
      </p:sp>
      <p:sp>
        <p:nvSpPr>
          <p:cNvPr id="2" name="S29">
            <a:extLst xmlns:a="http://schemas.openxmlformats.org/drawingml/2006/main">
              <a:ext uri="{FF2B5EF4-FFF2-40B4-BE49-F238E27FC236}">
                <a16:creationId xmlns:a16="http://schemas.microsoft.com/office/drawing/2014/main" id="{6F9EEC22-5418-4EE3-8A4C-D15C7964DF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9C4B7AA9-0CF9-48E1-95E9-41E440FD7E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082CC14D-3EBB-4ED0-9C61-C1856E2EB3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6B43550-6A50-4AF3-B90C-6794406A7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Reasoning best practices · How to prompt reasoning models effectively</a:t>
            </a:r>
          </a:p>
        </p:txBody>
      </p:sp>
      <p:sp>
        <p:nvSpPr>
          <p:cNvPr id="6" name="Audience footer 2">
            <a:extLst xmlns:a="http://schemas.openxmlformats.org/drawingml/2006/main">
              <a:ext uri="{FF2B5EF4-FFF2-40B4-BE49-F238E27FC236}">
                <a16:creationId xmlns:a16="http://schemas.microsoft.com/office/drawing/2014/main" id="{51785D55-328C-4DFA-8F96-FF3BF86EDA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팀의 보고 기준 · 실제 사내 규정이나 실행 결과가 아님</a:t>
            </a:r>
          </a:p>
        </p:txBody>
      </p:sp>
      <p:sp>
        <p:nvSpPr>
          <p:cNvPr id="7" name="Few-shot Prompting">
            <a:extLst xmlns:a="http://schemas.openxmlformats.org/drawingml/2006/main">
              <a:ext uri="{FF2B5EF4-FFF2-40B4-BE49-F238E27FC236}">
                <a16:creationId xmlns:a16="http://schemas.microsoft.com/office/drawing/2014/main" id="{2EAB43F3-1F7E-4BF0-94BA-8A9F1B67ED2F}"/>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Few-shot Prompting</a:t>
            </a:r>
          </a:p>
        </p:txBody>
      </p:sp>
      <p:sp>
        <p:nvSpPr>
          <p:cNvPr id="8" name="입력·출력 예시로 기준 전달">
            <a:extLst xmlns:a="http://schemas.openxmlformats.org/drawingml/2006/main">
              <a:ext uri="{FF2B5EF4-FFF2-40B4-BE49-F238E27FC236}">
                <a16:creationId xmlns:a16="http://schemas.microsoft.com/office/drawing/2014/main" id="{20FDBC78-B36E-43BB-9D65-C1CEE4AD66B7}"/>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입력·출력 예시로 기준 전달</a:t>
            </a:r>
          </a:p>
        </p:txBody>
      </p:sp>
      <p:sp>
        <p:nvSpPr>
          <p:cNvPr id="9" name="사용 상황">
            <a:extLst xmlns:a="http://schemas.openxmlformats.org/drawingml/2006/main">
              <a:ext uri="{FF2B5EF4-FFF2-40B4-BE49-F238E27FC236}">
                <a16:creationId xmlns:a16="http://schemas.microsoft.com/office/drawing/2014/main" id="{9854078C-5252-4B58-B5E8-D8B5847290DD}"/>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사내 고유 표기·분류가 설명만으로 안 맞을 때">
            <a:extLst xmlns:a="http://schemas.openxmlformats.org/drawingml/2006/main">
              <a:ext uri="{FF2B5EF4-FFF2-40B4-BE49-F238E27FC236}">
                <a16:creationId xmlns:a16="http://schemas.microsoft.com/office/drawing/2014/main" id="{944E2991-591E-4D9D-AE37-0A11F80E08C6}"/>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사내 고유 표기·분류가 설명만으로 안 맞을 때</a:t>
            </a:r>
          </a:p>
        </p:txBody>
      </p:sp>
      <p:sp>
        <p:nvSpPr>
          <p:cNvPr id="11" name="">
            <a:extLst xmlns:a="http://schemas.openxmlformats.org/drawingml/2006/main">
              <a:ext uri="{FF2B5EF4-FFF2-40B4-BE49-F238E27FC236}">
                <a16:creationId xmlns:a16="http://schemas.microsoft.com/office/drawing/2014/main" id="{DC74E0E3-263F-4F2A-9F4F-905577DC4148}"/>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145AF53D-3848-4DB4-A344-4772CAECA21A}"/>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가상 팀 기준을 전달하는 요청 예시">
            <a:extLst xmlns:a="http://schemas.openxmlformats.org/drawingml/2006/main">
              <a:ext uri="{FF2B5EF4-FFF2-40B4-BE49-F238E27FC236}">
                <a16:creationId xmlns:a16="http://schemas.microsoft.com/office/drawing/2014/main" id="{5BF051EC-8F1B-49E0-94FF-354BAA8675AB}"/>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가상 팀 기준을 전달하는 요청 예시</a:t>
            </a:r>
          </a:p>
        </p:txBody>
      </p:sp>
      <p:sp>
        <p:nvSpPr>
          <p:cNvPr id="14" name="">
            <a:extLst xmlns:a="http://schemas.openxmlformats.org/drawingml/2006/main">
              <a:ext uri="{FF2B5EF4-FFF2-40B4-BE49-F238E27FC236}">
                <a16:creationId xmlns:a16="http://schemas.microsoft.com/office/drawing/2014/main" id="{BC3993AE-6335-4347-9CE4-76DBBEBD9A9E}"/>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우리 팀의 보고 표기를 아래 예시처럼 맞춰줘.">
            <a:extLst xmlns:a="http://schemas.openxmlformats.org/drawingml/2006/main">
              <a:ext uri="{FF2B5EF4-FFF2-40B4-BE49-F238E27FC236}">
                <a16:creationId xmlns:a16="http://schemas.microsoft.com/office/drawing/2014/main" id="{EF37CE62-2212-470E-9936-B413712F84CA}"/>
              </a:ext>
            </a:extLst>
          </p:cNvPr>
          <p:cNvSpPr>
            <a:spLocks xmlns:a="http://schemas.openxmlformats.org/drawingml/2006/main" noGrp="1"/>
          </p:cNvSpPr>
          <p:nvPr/>
        </p:nvSpPr>
        <p:spPr>
          <a:xfrm xmlns:a="http://schemas.openxmlformats.org/drawingml/2006/main">
            <a:off x="800100" y="3086100"/>
            <a:ext cx="70104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우리 팀의 보고 표기를 아래 예시처럼 맞춰줘.</a:t>
            </a:r>
          </a:p>
        </p:txBody>
      </p:sp>
      <p:sp>
        <p:nvSpPr>
          <p:cNvPr id="16" name="">
            <a:extLst xmlns:a="http://schemas.openxmlformats.org/drawingml/2006/main">
              <a:ext uri="{FF2B5EF4-FFF2-40B4-BE49-F238E27FC236}">
                <a16:creationId xmlns:a16="http://schemas.microsoft.com/office/drawing/2014/main" id="{B54413E9-8136-4AA1-BC42-6D9226E42B3C}"/>
              </a:ext>
            </a:extLst>
          </p:cNvPr>
          <p:cNvSpPr>
            <a:spLocks xmlns:a="http://schemas.openxmlformats.org/drawingml/2006/main" noGrp="1"/>
          </p:cNvSpPr>
          <p:nvPr/>
        </p:nvSpPr>
        <p:spPr>
          <a:xfrm xmlns:a="http://schemas.openxmlformats.org/drawingml/2006/main">
            <a:off x="800100" y="3476625"/>
            <a:ext cx="701040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테스트 로그 있음">
            <a:extLst xmlns:a="http://schemas.openxmlformats.org/drawingml/2006/main">
              <a:ext uri="{FF2B5EF4-FFF2-40B4-BE49-F238E27FC236}">
                <a16:creationId xmlns:a16="http://schemas.microsoft.com/office/drawing/2014/main" id="{3B62EAC3-CAB9-43D9-9AD9-E36D52C97584}"/>
              </a:ext>
            </a:extLst>
          </p:cNvPr>
          <p:cNvSpPr>
            <a:spLocks xmlns:a="http://schemas.openxmlformats.org/drawingml/2006/main" noGrp="1"/>
          </p:cNvSpPr>
          <p:nvPr/>
        </p:nvSpPr>
        <p:spPr>
          <a:xfrm xmlns:a="http://schemas.openxmlformats.org/drawingml/2006/main">
            <a:off x="895350" y="3476625"/>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로그 있음</a:t>
            </a:r>
          </a:p>
        </p:txBody>
      </p:sp>
      <p:sp>
        <p:nvSpPr>
          <p:cNvPr id="18" name="">
            <a:extLst xmlns:a="http://schemas.openxmlformats.org/drawingml/2006/main">
              <a:ext uri="{FF2B5EF4-FFF2-40B4-BE49-F238E27FC236}">
                <a16:creationId xmlns:a16="http://schemas.microsoft.com/office/drawing/2014/main" id="{333B310E-303C-4EFB-A229-51EA6DD9EAFC}"/>
              </a:ext>
            </a:extLst>
          </p:cNvPr>
          <p:cNvSpPr>
            <a:spLocks xmlns:a="http://schemas.openxmlformats.org/drawingml/2006/main" noGrp="1"/>
          </p:cNvSpPr>
          <p:nvPr/>
        </p:nvSpPr>
        <p:spPr>
          <a:xfrm xmlns:a="http://schemas.openxmlformats.org/drawingml/2006/main">
            <a:off x="3562350" y="3590925"/>
            <a:ext cx="22860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실행 확인] 명령·결과">
            <a:extLst xmlns:a="http://schemas.openxmlformats.org/drawingml/2006/main">
              <a:ext uri="{FF2B5EF4-FFF2-40B4-BE49-F238E27FC236}">
                <a16:creationId xmlns:a16="http://schemas.microsoft.com/office/drawing/2014/main" id="{E6DC4DB9-20CF-4464-ADE2-C10F04A2AFD8}"/>
              </a:ext>
            </a:extLst>
          </p:cNvPr>
          <p:cNvSpPr>
            <a:spLocks xmlns:a="http://schemas.openxmlformats.org/drawingml/2006/main" noGrp="1"/>
          </p:cNvSpPr>
          <p:nvPr/>
        </p:nvSpPr>
        <p:spPr>
          <a:xfrm xmlns:a="http://schemas.openxmlformats.org/drawingml/2006/main">
            <a:off x="3990975" y="3476625"/>
            <a:ext cx="3724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확인] 명령·결과</a:t>
            </a:r>
          </a:p>
        </p:txBody>
      </p:sp>
      <p:sp>
        <p:nvSpPr>
          <p:cNvPr id="20" name="">
            <a:extLst xmlns:a="http://schemas.openxmlformats.org/drawingml/2006/main">
              <a:ext uri="{FF2B5EF4-FFF2-40B4-BE49-F238E27FC236}">
                <a16:creationId xmlns:a16="http://schemas.microsoft.com/office/drawing/2014/main" id="{324AAC2D-FB7F-4EDD-A5AB-9D2A6B11BB40}"/>
              </a:ext>
            </a:extLst>
          </p:cNvPr>
          <p:cNvSpPr>
            <a:spLocks xmlns:a="http://schemas.openxmlformats.org/drawingml/2006/main" noGrp="1"/>
          </p:cNvSpPr>
          <p:nvPr/>
        </p:nvSpPr>
        <p:spPr>
          <a:xfrm xmlns:a="http://schemas.openxmlformats.org/drawingml/2006/main">
            <a:off x="800100" y="3886200"/>
            <a:ext cx="701040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코드만 검토함">
            <a:extLst xmlns:a="http://schemas.openxmlformats.org/drawingml/2006/main">
              <a:ext uri="{FF2B5EF4-FFF2-40B4-BE49-F238E27FC236}">
                <a16:creationId xmlns:a16="http://schemas.microsoft.com/office/drawing/2014/main" id="{033D0230-03B3-4F7A-AB37-63E498E5EF40}"/>
              </a:ext>
            </a:extLst>
          </p:cNvPr>
          <p:cNvSpPr>
            <a:spLocks xmlns:a="http://schemas.openxmlformats.org/drawingml/2006/main" noGrp="1"/>
          </p:cNvSpPr>
          <p:nvPr/>
        </p:nvSpPr>
        <p:spPr>
          <a:xfrm xmlns:a="http://schemas.openxmlformats.org/drawingml/2006/main">
            <a:off x="895350" y="3886200"/>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코드만 검토함</a:t>
            </a:r>
          </a:p>
        </p:txBody>
      </p:sp>
      <p:sp>
        <p:nvSpPr>
          <p:cNvPr id="22" name="">
            <a:extLst xmlns:a="http://schemas.openxmlformats.org/drawingml/2006/main">
              <a:ext uri="{FF2B5EF4-FFF2-40B4-BE49-F238E27FC236}">
                <a16:creationId xmlns:a16="http://schemas.microsoft.com/office/drawing/2014/main" id="{2D96C344-ACC7-4B26-9D12-B1488F8AD78E}"/>
              </a:ext>
            </a:extLst>
          </p:cNvPr>
          <p:cNvSpPr>
            <a:spLocks xmlns:a="http://schemas.openxmlformats.org/drawingml/2006/main" noGrp="1"/>
          </p:cNvSpPr>
          <p:nvPr/>
        </p:nvSpPr>
        <p:spPr>
          <a:xfrm xmlns:a="http://schemas.openxmlformats.org/drawingml/2006/main">
            <a:off x="3562350" y="4000500"/>
            <a:ext cx="22860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코드 검토] 파일·판단">
            <a:extLst xmlns:a="http://schemas.openxmlformats.org/drawingml/2006/main">
              <a:ext uri="{FF2B5EF4-FFF2-40B4-BE49-F238E27FC236}">
                <a16:creationId xmlns:a16="http://schemas.microsoft.com/office/drawing/2014/main" id="{43EE6FF1-8E5A-4512-899F-EB3A8A8C34A3}"/>
              </a:ext>
            </a:extLst>
          </p:cNvPr>
          <p:cNvSpPr>
            <a:spLocks xmlns:a="http://schemas.openxmlformats.org/drawingml/2006/main" noGrp="1"/>
          </p:cNvSpPr>
          <p:nvPr/>
        </p:nvSpPr>
        <p:spPr>
          <a:xfrm xmlns:a="http://schemas.openxmlformats.org/drawingml/2006/main">
            <a:off x="3990975" y="3886200"/>
            <a:ext cx="3724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[코드 검토] 파일·판단</a:t>
            </a:r>
          </a:p>
        </p:txBody>
      </p:sp>
      <p:sp>
        <p:nvSpPr>
          <p:cNvPr id="24" name="">
            <a:extLst xmlns:a="http://schemas.openxmlformats.org/drawingml/2006/main">
              <a:ext uri="{FF2B5EF4-FFF2-40B4-BE49-F238E27FC236}">
                <a16:creationId xmlns:a16="http://schemas.microsoft.com/office/drawing/2014/main" id="{7DF99688-B449-43F7-9122-031A8949FEEF}"/>
              </a:ext>
            </a:extLst>
          </p:cNvPr>
          <p:cNvSpPr>
            <a:spLocks xmlns:a="http://schemas.openxmlformats.org/drawingml/2006/main" noGrp="1"/>
          </p:cNvSpPr>
          <p:nvPr/>
        </p:nvSpPr>
        <p:spPr>
          <a:xfrm xmlns:a="http://schemas.openxmlformats.org/drawingml/2006/main">
            <a:off x="800100" y="4295775"/>
            <a:ext cx="701040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근거를 못 찾음">
            <a:extLst xmlns:a="http://schemas.openxmlformats.org/drawingml/2006/main">
              <a:ext uri="{FF2B5EF4-FFF2-40B4-BE49-F238E27FC236}">
                <a16:creationId xmlns:a16="http://schemas.microsoft.com/office/drawing/2014/main" id="{E50D9F3C-F948-480B-BF42-575B5E4C691A}"/>
              </a:ext>
            </a:extLst>
          </p:cNvPr>
          <p:cNvSpPr>
            <a:spLocks xmlns:a="http://schemas.openxmlformats.org/drawingml/2006/main" noGrp="1"/>
          </p:cNvSpPr>
          <p:nvPr/>
        </p:nvSpPr>
        <p:spPr>
          <a:xfrm xmlns:a="http://schemas.openxmlformats.org/drawingml/2006/main">
            <a:off x="895350" y="4295775"/>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못 찾음</a:t>
            </a:r>
          </a:p>
        </p:txBody>
      </p:sp>
      <p:sp>
        <p:nvSpPr>
          <p:cNvPr id="26" name="">
            <a:extLst xmlns:a="http://schemas.openxmlformats.org/drawingml/2006/main">
              <a:ext uri="{FF2B5EF4-FFF2-40B4-BE49-F238E27FC236}">
                <a16:creationId xmlns:a16="http://schemas.microsoft.com/office/drawing/2014/main" id="{69311633-8139-4847-9F6F-F41B3B98C741}"/>
              </a:ext>
            </a:extLst>
          </p:cNvPr>
          <p:cNvSpPr>
            <a:spLocks xmlns:a="http://schemas.openxmlformats.org/drawingml/2006/main" noGrp="1"/>
          </p:cNvSpPr>
          <p:nvPr/>
        </p:nvSpPr>
        <p:spPr>
          <a:xfrm xmlns:a="http://schemas.openxmlformats.org/drawingml/2006/main">
            <a:off x="3562350" y="4410075"/>
            <a:ext cx="22860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미확인] 필요한 자료">
            <a:extLst xmlns:a="http://schemas.openxmlformats.org/drawingml/2006/main">
              <a:ext uri="{FF2B5EF4-FFF2-40B4-BE49-F238E27FC236}">
                <a16:creationId xmlns:a16="http://schemas.microsoft.com/office/drawing/2014/main" id="{78234F5E-D293-4BEC-AAEA-1026AD0D2B20}"/>
              </a:ext>
            </a:extLst>
          </p:cNvPr>
          <p:cNvSpPr>
            <a:spLocks xmlns:a="http://schemas.openxmlformats.org/drawingml/2006/main" noGrp="1"/>
          </p:cNvSpPr>
          <p:nvPr/>
        </p:nvSpPr>
        <p:spPr>
          <a:xfrm xmlns:a="http://schemas.openxmlformats.org/drawingml/2006/main">
            <a:off x="3990975" y="4295775"/>
            <a:ext cx="3724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필요한 자료</a:t>
            </a:r>
          </a:p>
        </p:txBody>
      </p:sp>
      <p:sp>
        <p:nvSpPr>
          <p:cNvPr id="28" name="첨부한 변경 보고서를 같은 형식으로 정리해줘.">
            <a:extLst xmlns:a="http://schemas.openxmlformats.org/drawingml/2006/main">
              <a:ext uri="{FF2B5EF4-FFF2-40B4-BE49-F238E27FC236}">
                <a16:creationId xmlns:a16="http://schemas.microsoft.com/office/drawing/2014/main" id="{C80A931E-6A5B-4252-A2B4-A5C96FC1017A}"/>
              </a:ext>
            </a:extLst>
          </p:cNvPr>
          <p:cNvSpPr>
            <a:spLocks xmlns:a="http://schemas.openxmlformats.org/drawingml/2006/main" noGrp="1"/>
          </p:cNvSpPr>
          <p:nvPr/>
        </p:nvSpPr>
        <p:spPr>
          <a:xfrm xmlns:a="http://schemas.openxmlformats.org/drawingml/2006/main">
            <a:off x="800100" y="4819650"/>
            <a:ext cx="701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첨부한 변경 보고서를 같은 형식으로 정리해줘.</a:t>
            </a:r>
          </a:p>
        </p:txBody>
      </p:sp>
      <p:sp>
        <p:nvSpPr>
          <p:cNvPr id="29" name="예시를 추가할까?">
            <a:extLst xmlns:a="http://schemas.openxmlformats.org/drawingml/2006/main">
              <a:ext uri="{FF2B5EF4-FFF2-40B4-BE49-F238E27FC236}">
                <a16:creationId xmlns:a16="http://schemas.microsoft.com/office/drawing/2014/main" id="{58331805-AD97-4951-B8E3-31BC1721CBD3}"/>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예시를 추가할까?</a:t>
            </a:r>
          </a:p>
        </p:txBody>
      </p:sp>
      <p:sp>
        <p:nvSpPr>
          <p:cNvPr id="30" name="간단히 요청">
            <a:extLst xmlns:a="http://schemas.openxmlformats.org/drawingml/2006/main">
              <a:ext uri="{FF2B5EF4-FFF2-40B4-BE49-F238E27FC236}">
                <a16:creationId xmlns:a16="http://schemas.microsoft.com/office/drawing/2014/main" id="{67C61D1E-BCE3-4697-851C-869C6B33498B}"/>
              </a:ext>
            </a:extLst>
          </p:cNvPr>
          <p:cNvSpPr>
            <a:spLocks xmlns:a="http://schemas.openxmlformats.org/drawingml/2006/main" noGrp="1"/>
          </p:cNvSpPr>
          <p:nvPr/>
        </p:nvSpPr>
        <p:spPr>
          <a:xfrm xmlns:a="http://schemas.openxmlformats.org/drawingml/2006/main">
            <a:off x="8343900" y="310515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간단히 요청</a:t>
            </a:r>
          </a:p>
        </p:txBody>
      </p:sp>
      <p:sp>
        <p:nvSpPr>
          <p:cNvPr id="31" name="">
            <a:extLst xmlns:a="http://schemas.openxmlformats.org/drawingml/2006/main">
              <a:ext uri="{FF2B5EF4-FFF2-40B4-BE49-F238E27FC236}">
                <a16:creationId xmlns:a16="http://schemas.microsoft.com/office/drawing/2014/main" id="{96506B92-25C1-45CB-BCA5-7700308DE9F8}"/>
              </a:ext>
            </a:extLst>
          </p:cNvPr>
          <p:cNvSpPr>
            <a:spLocks xmlns:a="http://schemas.openxmlformats.org/drawingml/2006/main" noGrp="1"/>
          </p:cNvSpPr>
          <p:nvPr/>
        </p:nvSpPr>
        <p:spPr>
          <a:xfrm xmlns:a="http://schemas.openxmlformats.org/drawingml/2006/main">
            <a:off x="9782175" y="3505200"/>
            <a:ext cx="152400" cy="1905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32" name="팀 기준이 전달됐나?">
            <a:extLst xmlns:a="http://schemas.openxmlformats.org/drawingml/2006/main">
              <a:ext uri="{FF2B5EF4-FFF2-40B4-BE49-F238E27FC236}">
                <a16:creationId xmlns:a16="http://schemas.microsoft.com/office/drawing/2014/main" id="{AEB01F27-5B2E-4380-9D7D-190892082C5D}"/>
              </a:ext>
            </a:extLst>
          </p:cNvPr>
          <p:cNvSpPr>
            <a:spLocks xmlns:a="http://schemas.openxmlformats.org/drawingml/2006/main" noGrp="1"/>
          </p:cNvSpPr>
          <p:nvPr/>
        </p:nvSpPr>
        <p:spPr>
          <a:xfrm xmlns:a="http://schemas.openxmlformats.org/drawingml/2006/main">
            <a:off x="8343900" y="378142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팀 기준이 전달됐나?</a:t>
            </a:r>
          </a:p>
        </p:txBody>
      </p:sp>
      <p:sp>
        <p:nvSpPr>
          <p:cNvPr id="33" name="예">
            <a:extLst xmlns:a="http://schemas.openxmlformats.org/drawingml/2006/main">
              <a:ext uri="{FF2B5EF4-FFF2-40B4-BE49-F238E27FC236}">
                <a16:creationId xmlns:a16="http://schemas.microsoft.com/office/drawing/2014/main" id="{E69EA048-6F8A-448D-8908-E580F232B153}"/>
              </a:ext>
            </a:extLst>
          </p:cNvPr>
          <p:cNvSpPr>
            <a:spLocks xmlns:a="http://schemas.openxmlformats.org/drawingml/2006/main" noGrp="1"/>
          </p:cNvSpPr>
          <p:nvPr/>
        </p:nvSpPr>
        <p:spPr>
          <a:xfrm xmlns:a="http://schemas.openxmlformats.org/drawingml/2006/main">
            <a:off x="8343900" y="4295775"/>
            <a:ext cx="5048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6B4D"/>
                </a:solidFill>
                <a:latin typeface="Malgun Gothic"/>
                <a:ea typeface="Malgun Gothic"/>
                <a:cs typeface="Malgun Gothic"/>
              </a:defRPr>
            </a:defPPr>
            <a:lvl1pPr algn="l">
              <a:defRPr sz="1875" b="1">
                <a:solidFill>
                  <a:srgbClr val="176B4D"/>
                </a:solidFill>
                <a:latin typeface="Malgun Gothic"/>
                <a:ea typeface="Malgun Gothic"/>
                <a:cs typeface="Malgun Gothic"/>
              </a:defRPr>
            </a:lvl1pPr>
            <a:lvl2pPr algn="l">
              <a:defRPr sz="1875" b="1">
                <a:solidFill>
                  <a:srgbClr val="176B4D"/>
                </a:solidFill>
                <a:latin typeface="Malgun Gothic"/>
                <a:ea typeface="Malgun Gothic"/>
                <a:cs typeface="Malgun Gothic"/>
              </a:defRPr>
            </a:lvl2pPr>
            <a:lvl3pPr algn="l">
              <a:defRPr sz="1875" b="1">
                <a:solidFill>
                  <a:srgbClr val="176B4D"/>
                </a:solidFill>
                <a:latin typeface="Malgun Gothic"/>
                <a:ea typeface="Malgun Gothic"/>
                <a:cs typeface="Malgun Gothic"/>
              </a:defRPr>
            </a:lvl3pPr>
            <a:lvl4pPr algn="l">
              <a:defRPr sz="1875" b="1">
                <a:solidFill>
                  <a:srgbClr val="176B4D"/>
                </a:solidFill>
                <a:latin typeface="Malgun Gothic"/>
                <a:ea typeface="Malgun Gothic"/>
                <a:cs typeface="Malgun Gothic"/>
              </a:defRPr>
            </a:lvl4pPr>
            <a:lvl5pPr algn="l">
              <a:defRPr sz="1875" b="1">
                <a:solidFill>
                  <a:srgbClr val="176B4D"/>
                </a:solidFill>
                <a:latin typeface="Malgun Gothic"/>
                <a:ea typeface="Malgun Gothic"/>
                <a:cs typeface="Malgun Gothic"/>
              </a:defRPr>
            </a:lvl5pPr>
            <a:lvl6pPr algn="l">
              <a:defRPr sz="1875" b="1">
                <a:solidFill>
                  <a:srgbClr val="176B4D"/>
                </a:solidFill>
                <a:latin typeface="Malgun Gothic"/>
                <a:ea typeface="Malgun Gothic"/>
                <a:cs typeface="Malgun Gothic"/>
              </a:defRPr>
            </a:lvl6pPr>
            <a:lvl7pPr algn="l">
              <a:defRPr sz="1875" b="1">
                <a:solidFill>
                  <a:srgbClr val="176B4D"/>
                </a:solidFill>
                <a:latin typeface="Malgun Gothic"/>
                <a:ea typeface="Malgun Gothic"/>
                <a:cs typeface="Malgun Gothic"/>
              </a:defRPr>
            </a:lvl7pPr>
            <a:lvl8pPr algn="l">
              <a:defRPr sz="1875" b="1">
                <a:solidFill>
                  <a:srgbClr val="176B4D"/>
                </a:solidFill>
                <a:latin typeface="Malgun Gothic"/>
                <a:ea typeface="Malgun Gothic"/>
                <a:cs typeface="Malgun Gothic"/>
              </a:defRPr>
            </a:lvl8pPr>
            <a:lvl9pPr algn="l">
              <a:defRPr sz="1875" b="1">
                <a:solidFill>
                  <a:srgbClr val="176B4D"/>
                </a:solidFill>
                <a:latin typeface="Malgun Gothic"/>
                <a:ea typeface="Malgun Gothic"/>
                <a:cs typeface="Malgun Gothic"/>
              </a:defRPr>
            </a:lvl9pPr>
          </a:lstStyle>
          <a:p xmlns:a="http://schemas.openxmlformats.org/drawingml/2006/main">
            <a:pPr algn="l">
              <a:defRPr sz="1875" b="1">
                <a:solidFill>
                  <a:srgbClr val="176B4D"/>
                </a:solidFill>
                <a:latin typeface="Malgun Gothic"/>
                <a:ea typeface="Malgun Gothic"/>
                <a:cs typeface="Malgun Gothic"/>
              </a:defRPr>
            </a:pPr>
            <a:r>
              <a:rPr sz="1875" b="1">
                <a:solidFill>
                  <a:srgbClr val="176B4D"/>
                </a:solidFill>
                <a:latin typeface="Malgun Gothic"/>
                <a:ea typeface="Malgun Gothic"/>
                <a:cs typeface="Malgun Gothic"/>
              </a:rPr>
              <a:t>예</a:t>
            </a:r>
          </a:p>
        </p:txBody>
      </p:sp>
      <p:sp>
        <p:nvSpPr>
          <p:cNvPr id="34" name="그대로 사용">
            <a:extLst xmlns:a="http://schemas.openxmlformats.org/drawingml/2006/main">
              <a:ext uri="{FF2B5EF4-FFF2-40B4-BE49-F238E27FC236}">
                <a16:creationId xmlns:a16="http://schemas.microsoft.com/office/drawing/2014/main" id="{EC3EB2D4-E816-47F1-ACB9-3A8FB9B920DC}"/>
              </a:ext>
            </a:extLst>
          </p:cNvPr>
          <p:cNvSpPr>
            <a:spLocks xmlns:a="http://schemas.openxmlformats.org/drawingml/2006/main" noGrp="1"/>
          </p:cNvSpPr>
          <p:nvPr/>
        </p:nvSpPr>
        <p:spPr>
          <a:xfrm xmlns:a="http://schemas.openxmlformats.org/drawingml/2006/main">
            <a:off x="8963025" y="4295775"/>
            <a:ext cx="2619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그대로 사용</a:t>
            </a:r>
          </a:p>
        </p:txBody>
      </p:sp>
      <p:sp>
        <p:nvSpPr>
          <p:cNvPr id="35" name="아니오">
            <a:extLst xmlns:a="http://schemas.openxmlformats.org/drawingml/2006/main">
              <a:ext uri="{FF2B5EF4-FFF2-40B4-BE49-F238E27FC236}">
                <a16:creationId xmlns:a16="http://schemas.microsoft.com/office/drawing/2014/main" id="{49EB78E7-2786-468D-9AA6-4C4478282596}"/>
              </a:ext>
            </a:extLst>
          </p:cNvPr>
          <p:cNvSpPr>
            <a:spLocks xmlns:a="http://schemas.openxmlformats.org/drawingml/2006/main" noGrp="1"/>
          </p:cNvSpPr>
          <p:nvPr/>
        </p:nvSpPr>
        <p:spPr>
          <a:xfrm xmlns:a="http://schemas.openxmlformats.org/drawingml/2006/main">
            <a:off x="8343900" y="4733925"/>
            <a:ext cx="809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아니오</a:t>
            </a:r>
          </a:p>
        </p:txBody>
      </p:sp>
      <p:sp>
        <p:nvSpPr>
          <p:cNvPr id="36" name="예시 추가">
            <a:extLst xmlns:a="http://schemas.openxmlformats.org/drawingml/2006/main">
              <a:ext uri="{FF2B5EF4-FFF2-40B4-BE49-F238E27FC236}">
                <a16:creationId xmlns:a16="http://schemas.microsoft.com/office/drawing/2014/main" id="{66B43CCB-5F2B-4D26-AC26-B6E075B185D3}"/>
              </a:ext>
            </a:extLst>
          </p:cNvPr>
          <p:cNvSpPr>
            <a:spLocks xmlns:a="http://schemas.openxmlformats.org/drawingml/2006/main" noGrp="1"/>
          </p:cNvSpPr>
          <p:nvPr/>
        </p:nvSpPr>
        <p:spPr>
          <a:xfrm xmlns:a="http://schemas.openxmlformats.org/drawingml/2006/main">
            <a:off x="9324975" y="4733925"/>
            <a:ext cx="2257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예시 추가</a:t>
            </a:r>
          </a:p>
        </p:txBody>
      </p:sp>
      <p:sp>
        <p:nvSpPr>
          <p:cNvPr id="37" name="모델이 모르는 우리 기준을 입력·출력 예시로 전달한다.">
            <a:extLst xmlns:a="http://schemas.openxmlformats.org/drawingml/2006/main">
              <a:ext uri="{FF2B5EF4-FFF2-40B4-BE49-F238E27FC236}">
                <a16:creationId xmlns:a16="http://schemas.microsoft.com/office/drawing/2014/main" id="{87ACBD4B-15DB-4544-8109-75F7A274370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모델이 모르는 우리 기준을 입력·출력 예시로 전달한다.</a:t>
            </a:r>
          </a:p>
        </p:txBody>
      </p:sp>
      <p:sp>
        <p:nvSpPr>
          <p:cNvPr id="38" name="">
            <a:extLst xmlns:a="http://schemas.openxmlformats.org/drawingml/2006/main">
              <a:ext uri="{FF2B5EF4-FFF2-40B4-BE49-F238E27FC236}">
                <a16:creationId xmlns:a16="http://schemas.microsoft.com/office/drawing/2014/main" id="{24C9FD68-E085-4175-A912-FC5E1407A55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9" name="Practical application tip badge">
            <a:extLst xmlns:a="http://schemas.openxmlformats.org/drawingml/2006/main">
              <a:ext uri="{FF2B5EF4-FFF2-40B4-BE49-F238E27FC236}">
                <a16:creationId xmlns:a16="http://schemas.microsoft.com/office/drawing/2014/main" id="{EBA86DEA-3FF0-43A7-91BA-9AA66AF25AD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40" name="Legacy module connection">
            <a:extLst xmlns:a="http://schemas.openxmlformats.org/drawingml/2006/main">
              <a:ext uri="{FF2B5EF4-FFF2-40B4-BE49-F238E27FC236}">
                <a16:creationId xmlns:a16="http://schemas.microsoft.com/office/drawing/2014/main" id="{8A18C609-BA26-4F78-80C1-825A7C5CA5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259951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요청 문장 도구 3/8 · 핵심">
            <a:extLst xmlns:a="http://schemas.openxmlformats.org/drawingml/2006/main">
              <a:ext uri="{FF2B5EF4-FFF2-40B4-BE49-F238E27FC236}">
                <a16:creationId xmlns:a16="http://schemas.microsoft.com/office/drawing/2014/main" id="{20D133CD-295F-4B57-BC5C-1AD9F8E978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핵심</a:t>
            </a:r>
          </a:p>
        </p:txBody>
      </p:sp>
      <p:sp>
        <p:nvSpPr>
          <p:cNvPr id="2" name="S30">
            <a:extLst xmlns:a="http://schemas.openxmlformats.org/drawingml/2006/main">
              <a:ext uri="{FF2B5EF4-FFF2-40B4-BE49-F238E27FC236}">
                <a16:creationId xmlns:a16="http://schemas.microsoft.com/office/drawing/2014/main" id="{A3DD4E61-F698-485D-A8CE-C385E59D0F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794D43E2-942B-4B4D-A45F-833445D5E1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DD81AD79-AA37-4DF9-BEEC-0D51FD3D2D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583C119-01F2-4B3A-A7AD-9C1628926B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Prompting · Make the result ready to use</a:t>
            </a:r>
          </a:p>
        </p:txBody>
      </p:sp>
      <p:sp>
        <p:nvSpPr>
          <p:cNvPr id="6" name="Audience footer 2">
            <a:extLst xmlns:a="http://schemas.openxmlformats.org/drawingml/2006/main">
              <a:ext uri="{FF2B5EF4-FFF2-40B4-BE49-F238E27FC236}">
                <a16:creationId xmlns:a16="http://schemas.microsoft.com/office/drawing/2014/main" id="{C82A819D-19FE-4B55-9026-ABD505FEE7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형식과 내용은 별도 확인 · 채팅의 형식 요청은 API Structured Outputs와 다름</a:t>
            </a:r>
          </a:p>
        </p:txBody>
      </p:sp>
      <p:sp>
        <p:nvSpPr>
          <p:cNvPr id="7" name="Output Format Specification">
            <a:extLst xmlns:a="http://schemas.openxmlformats.org/drawingml/2006/main">
              <a:ext uri="{FF2B5EF4-FFF2-40B4-BE49-F238E27FC236}">
                <a16:creationId xmlns:a16="http://schemas.microsoft.com/office/drawing/2014/main" id="{336CBEFD-DA15-40B9-8A9A-87C6E7E5614F}"/>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Output Format Specification</a:t>
            </a:r>
          </a:p>
        </p:txBody>
      </p:sp>
      <p:sp>
        <p:nvSpPr>
          <p:cNvPr id="8" name="받을 결과의 구조 지정">
            <a:extLst xmlns:a="http://schemas.openxmlformats.org/drawingml/2006/main">
              <a:ext uri="{FF2B5EF4-FFF2-40B4-BE49-F238E27FC236}">
                <a16:creationId xmlns:a16="http://schemas.microsoft.com/office/drawing/2014/main" id="{83CC6CB2-7722-4D48-B231-E7686B1006B5}"/>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받을 결과의 구조 지정</a:t>
            </a:r>
          </a:p>
        </p:txBody>
      </p:sp>
      <p:sp>
        <p:nvSpPr>
          <p:cNvPr id="9" name="사용 상황">
            <a:extLst xmlns:a="http://schemas.openxmlformats.org/drawingml/2006/main">
              <a:ext uri="{FF2B5EF4-FFF2-40B4-BE49-F238E27FC236}">
                <a16:creationId xmlns:a16="http://schemas.microsoft.com/office/drawing/2014/main" id="{82118DE1-7A52-4658-98E5-130C20CF7B97}"/>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완료 보고에서 필요한 정보를 빨리 찾고 싶을 때">
            <a:extLst xmlns:a="http://schemas.openxmlformats.org/drawingml/2006/main">
              <a:ext uri="{FF2B5EF4-FFF2-40B4-BE49-F238E27FC236}">
                <a16:creationId xmlns:a16="http://schemas.microsoft.com/office/drawing/2014/main" id="{CAF4EF8E-4336-4E13-8E51-97AAA38B3A59}"/>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보고에서 필요한 정보를 빨리 찾고 싶을 때</a:t>
            </a:r>
          </a:p>
        </p:txBody>
      </p:sp>
      <p:sp>
        <p:nvSpPr>
          <p:cNvPr id="11" name="">
            <a:extLst xmlns:a="http://schemas.openxmlformats.org/drawingml/2006/main">
              <a:ext uri="{FF2B5EF4-FFF2-40B4-BE49-F238E27FC236}">
                <a16:creationId xmlns:a16="http://schemas.microsoft.com/office/drawing/2014/main" id="{8875BBD2-D787-4659-AA46-FFEDC7D7B55B}"/>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DFB5D236-5E0A-4EBA-9022-0BEBA31EF734}"/>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2B44D952-E0D0-4DC1-A4F2-3795FBD74767}"/>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F4E18EF9-9064-4356-B56E-B556F65B998F}"/>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crop 수정 결과를 아래 항목으로 보고해줘.">
            <a:extLst xmlns:a="http://schemas.openxmlformats.org/drawingml/2006/main">
              <a:ext uri="{FF2B5EF4-FFF2-40B4-BE49-F238E27FC236}">
                <a16:creationId xmlns:a16="http://schemas.microsoft.com/office/drawing/2014/main" id="{72F3D9BC-6068-4DE5-88C4-BF0C1E5ED8E7}"/>
              </a:ext>
            </a:extLst>
          </p:cNvPr>
          <p:cNvSpPr>
            <a:spLocks xmlns:a="http://schemas.openxmlformats.org/drawingml/2006/main" noGrp="1"/>
          </p:cNvSpPr>
          <p:nvPr/>
        </p:nvSpPr>
        <p:spPr>
          <a:xfrm xmlns:a="http://schemas.openxmlformats.org/drawingml/2006/main">
            <a:off x="895350" y="31623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수정 결과를 아래 항목으로 보고해줘.</a:t>
            </a:r>
          </a:p>
        </p:txBody>
      </p:sp>
      <p:sp>
        <p:nvSpPr>
          <p:cNvPr id="16" name="">
            <a:extLst xmlns:a="http://schemas.openxmlformats.org/drawingml/2006/main">
              <a:ext uri="{FF2B5EF4-FFF2-40B4-BE49-F238E27FC236}">
                <a16:creationId xmlns:a16="http://schemas.microsoft.com/office/drawing/2014/main" id="{F55DB01A-96F9-42FC-99B6-3F26B1FA9720}"/>
              </a:ext>
            </a:extLst>
          </p:cNvPr>
          <p:cNvSpPr>
            <a:spLocks xmlns:a="http://schemas.openxmlformats.org/drawingml/2006/main" noGrp="1"/>
          </p:cNvSpPr>
          <p:nvPr/>
        </p:nvSpPr>
        <p:spPr>
          <a:xfrm xmlns:a="http://schemas.openxmlformats.org/drawingml/2006/main">
            <a:off x="800100" y="34861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1. 변경 파일과 이유">
            <a:extLst xmlns:a="http://schemas.openxmlformats.org/drawingml/2006/main">
              <a:ext uri="{FF2B5EF4-FFF2-40B4-BE49-F238E27FC236}">
                <a16:creationId xmlns:a16="http://schemas.microsoft.com/office/drawing/2014/main" id="{0D6E96FA-1D9C-4969-8987-20FBA000286A}"/>
              </a:ext>
            </a:extLst>
          </p:cNvPr>
          <p:cNvSpPr>
            <a:spLocks xmlns:a="http://schemas.openxmlformats.org/drawingml/2006/main" noGrp="1"/>
          </p:cNvSpPr>
          <p:nvPr/>
        </p:nvSpPr>
        <p:spPr>
          <a:xfrm xmlns:a="http://schemas.openxmlformats.org/drawingml/2006/main">
            <a:off x="895350" y="34861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 변경 파일과 이유</a:t>
            </a:r>
          </a:p>
        </p:txBody>
      </p:sp>
      <p:sp>
        <p:nvSpPr>
          <p:cNvPr id="18" name="">
            <a:extLst xmlns:a="http://schemas.openxmlformats.org/drawingml/2006/main">
              <a:ext uri="{FF2B5EF4-FFF2-40B4-BE49-F238E27FC236}">
                <a16:creationId xmlns:a16="http://schemas.microsoft.com/office/drawing/2014/main" id="{C1AFC448-4A53-40DC-A248-D586E870361C}"/>
              </a:ext>
            </a:extLst>
          </p:cNvPr>
          <p:cNvSpPr>
            <a:spLocks xmlns:a="http://schemas.openxmlformats.org/drawingml/2006/main" noGrp="1"/>
          </p:cNvSpPr>
          <p:nvPr/>
        </p:nvSpPr>
        <p:spPr>
          <a:xfrm xmlns:a="http://schemas.openxmlformats.org/drawingml/2006/main">
            <a:off x="800100" y="38100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2. 실행한 검사·결과">
            <a:extLst xmlns:a="http://schemas.openxmlformats.org/drawingml/2006/main">
              <a:ext uri="{FF2B5EF4-FFF2-40B4-BE49-F238E27FC236}">
                <a16:creationId xmlns:a16="http://schemas.microsoft.com/office/drawing/2014/main" id="{818DE9CA-30EC-471D-BD25-C92C2AD7665A}"/>
              </a:ext>
            </a:extLst>
          </p:cNvPr>
          <p:cNvSpPr>
            <a:spLocks xmlns:a="http://schemas.openxmlformats.org/drawingml/2006/main" noGrp="1"/>
          </p:cNvSpPr>
          <p:nvPr/>
        </p:nvSpPr>
        <p:spPr>
          <a:xfrm xmlns:a="http://schemas.openxmlformats.org/drawingml/2006/main">
            <a:off x="895350" y="38100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 실행한 검사·결과</a:t>
            </a:r>
          </a:p>
        </p:txBody>
      </p:sp>
      <p:sp>
        <p:nvSpPr>
          <p:cNvPr id="20" name="">
            <a:extLst xmlns:a="http://schemas.openxmlformats.org/drawingml/2006/main">
              <a:ext uri="{FF2B5EF4-FFF2-40B4-BE49-F238E27FC236}">
                <a16:creationId xmlns:a16="http://schemas.microsoft.com/office/drawing/2014/main" id="{1007CF40-9B63-4611-908F-7A3B067319E7}"/>
              </a:ext>
            </a:extLst>
          </p:cNvPr>
          <p:cNvSpPr>
            <a:spLocks xmlns:a="http://schemas.openxmlformats.org/drawingml/2006/main" noGrp="1"/>
          </p:cNvSpPr>
          <p:nvPr/>
        </p:nvSpPr>
        <p:spPr>
          <a:xfrm xmlns:a="http://schemas.openxmlformats.org/drawingml/2006/main">
            <a:off x="800100" y="41338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3. 미실행 검사·이유">
            <a:extLst xmlns:a="http://schemas.openxmlformats.org/drawingml/2006/main">
              <a:ext uri="{FF2B5EF4-FFF2-40B4-BE49-F238E27FC236}">
                <a16:creationId xmlns:a16="http://schemas.microsoft.com/office/drawing/2014/main" id="{CDA80170-D4FD-4C96-8E2F-0B7569AB226A}"/>
              </a:ext>
            </a:extLst>
          </p:cNvPr>
          <p:cNvSpPr>
            <a:spLocks xmlns:a="http://schemas.openxmlformats.org/drawingml/2006/main" noGrp="1"/>
          </p:cNvSpPr>
          <p:nvPr/>
        </p:nvSpPr>
        <p:spPr>
          <a:xfrm xmlns:a="http://schemas.openxmlformats.org/drawingml/2006/main">
            <a:off x="895350" y="41338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 미실행 검사·이유</a:t>
            </a:r>
          </a:p>
        </p:txBody>
      </p:sp>
      <p:sp>
        <p:nvSpPr>
          <p:cNvPr id="22" name="">
            <a:extLst xmlns:a="http://schemas.openxmlformats.org/drawingml/2006/main">
              <a:ext uri="{FF2B5EF4-FFF2-40B4-BE49-F238E27FC236}">
                <a16:creationId xmlns:a16="http://schemas.microsoft.com/office/drawing/2014/main" id="{4FB26ADD-221A-454F-A346-C00C05656BA1}"/>
              </a:ext>
            </a:extLst>
          </p:cNvPr>
          <p:cNvSpPr>
            <a:spLocks xmlns:a="http://schemas.openxmlformats.org/drawingml/2006/main" noGrp="1"/>
          </p:cNvSpPr>
          <p:nvPr/>
        </p:nvSpPr>
        <p:spPr>
          <a:xfrm xmlns:a="http://schemas.openxmlformats.org/drawingml/2006/main">
            <a:off x="800100" y="44577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4. 남은 위험·결정">
            <a:extLst xmlns:a="http://schemas.openxmlformats.org/drawingml/2006/main">
              <a:ext uri="{FF2B5EF4-FFF2-40B4-BE49-F238E27FC236}">
                <a16:creationId xmlns:a16="http://schemas.microsoft.com/office/drawing/2014/main" id="{31BFE3FC-B98B-4933-A747-7D24FEE3FB4C}"/>
              </a:ext>
            </a:extLst>
          </p:cNvPr>
          <p:cNvSpPr>
            <a:spLocks xmlns:a="http://schemas.openxmlformats.org/drawingml/2006/main" noGrp="1"/>
          </p:cNvSpPr>
          <p:nvPr/>
        </p:nvSpPr>
        <p:spPr>
          <a:xfrm xmlns:a="http://schemas.openxmlformats.org/drawingml/2006/main">
            <a:off x="895350" y="44577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4. 남은 위험·결정</a:t>
            </a:r>
          </a:p>
        </p:txBody>
      </p:sp>
      <p:sp>
        <p:nvSpPr>
          <p:cNvPr id="24" name="완료 판단에 필요한 근거는 생략하지 마.">
            <a:extLst xmlns:a="http://schemas.openxmlformats.org/drawingml/2006/main">
              <a:ext uri="{FF2B5EF4-FFF2-40B4-BE49-F238E27FC236}">
                <a16:creationId xmlns:a16="http://schemas.microsoft.com/office/drawing/2014/main" id="{755C92BD-877D-4058-86DB-E4B72C4BA3C0}"/>
              </a:ext>
            </a:extLst>
          </p:cNvPr>
          <p:cNvSpPr>
            <a:spLocks xmlns:a="http://schemas.openxmlformats.org/drawingml/2006/main" noGrp="1"/>
          </p:cNvSpPr>
          <p:nvPr/>
        </p:nvSpPr>
        <p:spPr>
          <a:xfrm xmlns:a="http://schemas.openxmlformats.org/drawingml/2006/main">
            <a:off x="895350" y="47815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완료 판단에 필요한 근거는 생략하지 마.</a:t>
            </a:r>
          </a:p>
        </p:txBody>
      </p:sp>
      <p:sp>
        <p:nvSpPr>
          <p:cNvPr id="25" name="받을 보고서의 구조">
            <a:extLst xmlns:a="http://schemas.openxmlformats.org/drawingml/2006/main">
              <a:ext uri="{FF2B5EF4-FFF2-40B4-BE49-F238E27FC236}">
                <a16:creationId xmlns:a16="http://schemas.microsoft.com/office/drawing/2014/main" id="{938E5970-35A8-42BA-B572-24E59235333E}"/>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받을 보고서의 구조</a:t>
            </a:r>
          </a:p>
        </p:txBody>
      </p:sp>
      <p:sp>
        <p:nvSpPr>
          <p:cNvPr id="26" name="01">
            <a:extLst xmlns:a="http://schemas.openxmlformats.org/drawingml/2006/main">
              <a:ext uri="{FF2B5EF4-FFF2-40B4-BE49-F238E27FC236}">
                <a16:creationId xmlns:a16="http://schemas.microsoft.com/office/drawing/2014/main" id="{87411681-29F5-4478-AD05-39E85A8455C6}"/>
              </a:ext>
            </a:extLst>
          </p:cNvPr>
          <p:cNvSpPr>
            <a:spLocks xmlns:a="http://schemas.openxmlformats.org/drawingml/2006/main" noGrp="1"/>
          </p:cNvSpPr>
          <p:nvPr/>
        </p:nvSpPr>
        <p:spPr>
          <a:xfrm xmlns:a="http://schemas.openxmlformats.org/drawingml/2006/main">
            <a:off x="8343900" y="310515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27" name="변경 파일과 이유">
            <a:extLst xmlns:a="http://schemas.openxmlformats.org/drawingml/2006/main">
              <a:ext uri="{FF2B5EF4-FFF2-40B4-BE49-F238E27FC236}">
                <a16:creationId xmlns:a16="http://schemas.microsoft.com/office/drawing/2014/main" id="{BF9A2443-4201-41FA-B2D2-FD8AA0C34AD4}"/>
              </a:ext>
            </a:extLst>
          </p:cNvPr>
          <p:cNvSpPr>
            <a:spLocks xmlns:a="http://schemas.openxmlformats.org/drawingml/2006/main" noGrp="1"/>
          </p:cNvSpPr>
          <p:nvPr/>
        </p:nvSpPr>
        <p:spPr>
          <a:xfrm xmlns:a="http://schemas.openxmlformats.org/drawingml/2006/main">
            <a:off x="8858250" y="3105150"/>
            <a:ext cx="2724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파일과 이유</a:t>
            </a:r>
          </a:p>
        </p:txBody>
      </p:sp>
      <p:sp>
        <p:nvSpPr>
          <p:cNvPr id="28" name="">
            <a:extLst xmlns:a="http://schemas.openxmlformats.org/drawingml/2006/main">
              <a:ext uri="{FF2B5EF4-FFF2-40B4-BE49-F238E27FC236}">
                <a16:creationId xmlns:a16="http://schemas.microsoft.com/office/drawing/2014/main" id="{C699F939-2432-4D6E-AE6E-35936EBAC6AB}"/>
              </a:ext>
            </a:extLst>
          </p:cNvPr>
          <p:cNvSpPr>
            <a:spLocks xmlns:a="http://schemas.openxmlformats.org/drawingml/2006/main" noGrp="1"/>
          </p:cNvSpPr>
          <p:nvPr/>
        </p:nvSpPr>
        <p:spPr>
          <a:xfrm xmlns:a="http://schemas.openxmlformats.org/drawingml/2006/main">
            <a:off x="8343900" y="3524250"/>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02">
            <a:extLst xmlns:a="http://schemas.openxmlformats.org/drawingml/2006/main">
              <a:ext uri="{FF2B5EF4-FFF2-40B4-BE49-F238E27FC236}">
                <a16:creationId xmlns:a16="http://schemas.microsoft.com/office/drawing/2014/main" id="{2D900393-DE3B-4946-BF09-C342AF67B17A}"/>
              </a:ext>
            </a:extLst>
          </p:cNvPr>
          <p:cNvSpPr>
            <a:spLocks xmlns:a="http://schemas.openxmlformats.org/drawingml/2006/main" noGrp="1"/>
          </p:cNvSpPr>
          <p:nvPr/>
        </p:nvSpPr>
        <p:spPr>
          <a:xfrm xmlns:a="http://schemas.openxmlformats.org/drawingml/2006/main">
            <a:off x="8343900" y="360997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30" name="실행한 검사·결과">
            <a:extLst xmlns:a="http://schemas.openxmlformats.org/drawingml/2006/main">
              <a:ext uri="{FF2B5EF4-FFF2-40B4-BE49-F238E27FC236}">
                <a16:creationId xmlns:a16="http://schemas.microsoft.com/office/drawing/2014/main" id="{A384ED2C-6DD8-4456-9C8D-74187552B231}"/>
              </a:ext>
            </a:extLst>
          </p:cNvPr>
          <p:cNvSpPr>
            <a:spLocks xmlns:a="http://schemas.openxmlformats.org/drawingml/2006/main" noGrp="1"/>
          </p:cNvSpPr>
          <p:nvPr/>
        </p:nvSpPr>
        <p:spPr>
          <a:xfrm xmlns:a="http://schemas.openxmlformats.org/drawingml/2006/main">
            <a:off x="8858250" y="3609975"/>
            <a:ext cx="2724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검사·결과</a:t>
            </a:r>
          </a:p>
        </p:txBody>
      </p:sp>
      <p:sp>
        <p:nvSpPr>
          <p:cNvPr id="31" name="">
            <a:extLst xmlns:a="http://schemas.openxmlformats.org/drawingml/2006/main">
              <a:ext uri="{FF2B5EF4-FFF2-40B4-BE49-F238E27FC236}">
                <a16:creationId xmlns:a16="http://schemas.microsoft.com/office/drawing/2014/main" id="{6631ED9F-3D75-457C-AFC8-5164E056E085}"/>
              </a:ext>
            </a:extLst>
          </p:cNvPr>
          <p:cNvSpPr>
            <a:spLocks xmlns:a="http://schemas.openxmlformats.org/drawingml/2006/main" noGrp="1"/>
          </p:cNvSpPr>
          <p:nvPr/>
        </p:nvSpPr>
        <p:spPr>
          <a:xfrm xmlns:a="http://schemas.openxmlformats.org/drawingml/2006/main">
            <a:off x="8343900" y="402907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2" name="03">
            <a:extLst xmlns:a="http://schemas.openxmlformats.org/drawingml/2006/main">
              <a:ext uri="{FF2B5EF4-FFF2-40B4-BE49-F238E27FC236}">
                <a16:creationId xmlns:a16="http://schemas.microsoft.com/office/drawing/2014/main" id="{7246B509-49B8-4A43-B8E2-74988F9F7D17}"/>
              </a:ext>
            </a:extLst>
          </p:cNvPr>
          <p:cNvSpPr>
            <a:spLocks xmlns:a="http://schemas.openxmlformats.org/drawingml/2006/main" noGrp="1"/>
          </p:cNvSpPr>
          <p:nvPr/>
        </p:nvSpPr>
        <p:spPr>
          <a:xfrm xmlns:a="http://schemas.openxmlformats.org/drawingml/2006/main">
            <a:off x="8343900" y="411480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33" name="미실행 검사·이유">
            <a:extLst xmlns:a="http://schemas.openxmlformats.org/drawingml/2006/main">
              <a:ext uri="{FF2B5EF4-FFF2-40B4-BE49-F238E27FC236}">
                <a16:creationId xmlns:a16="http://schemas.microsoft.com/office/drawing/2014/main" id="{0BF70AB4-936B-47A3-A78E-9B7910BAC149}"/>
              </a:ext>
            </a:extLst>
          </p:cNvPr>
          <p:cNvSpPr>
            <a:spLocks xmlns:a="http://schemas.openxmlformats.org/drawingml/2006/main" noGrp="1"/>
          </p:cNvSpPr>
          <p:nvPr/>
        </p:nvSpPr>
        <p:spPr>
          <a:xfrm xmlns:a="http://schemas.openxmlformats.org/drawingml/2006/main">
            <a:off x="8858250" y="4114800"/>
            <a:ext cx="2724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미실행 검사·이유</a:t>
            </a:r>
          </a:p>
        </p:txBody>
      </p:sp>
      <p:sp>
        <p:nvSpPr>
          <p:cNvPr id="34" name="">
            <a:extLst xmlns:a="http://schemas.openxmlformats.org/drawingml/2006/main">
              <a:ext uri="{FF2B5EF4-FFF2-40B4-BE49-F238E27FC236}">
                <a16:creationId xmlns:a16="http://schemas.microsoft.com/office/drawing/2014/main" id="{5C19F122-E0F8-449D-8C9D-581A76AC2F13}"/>
              </a:ext>
            </a:extLst>
          </p:cNvPr>
          <p:cNvSpPr>
            <a:spLocks xmlns:a="http://schemas.openxmlformats.org/drawingml/2006/main" noGrp="1"/>
          </p:cNvSpPr>
          <p:nvPr/>
        </p:nvSpPr>
        <p:spPr>
          <a:xfrm xmlns:a="http://schemas.openxmlformats.org/drawingml/2006/main">
            <a:off x="8343900" y="4533900"/>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04">
            <a:extLst xmlns:a="http://schemas.openxmlformats.org/drawingml/2006/main">
              <a:ext uri="{FF2B5EF4-FFF2-40B4-BE49-F238E27FC236}">
                <a16:creationId xmlns:a16="http://schemas.microsoft.com/office/drawing/2014/main" id="{A4DE4D5E-508D-45CF-814E-9B045C180BA9}"/>
              </a:ext>
            </a:extLst>
          </p:cNvPr>
          <p:cNvSpPr>
            <a:spLocks xmlns:a="http://schemas.openxmlformats.org/drawingml/2006/main" noGrp="1"/>
          </p:cNvSpPr>
          <p:nvPr/>
        </p:nvSpPr>
        <p:spPr>
          <a:xfrm xmlns:a="http://schemas.openxmlformats.org/drawingml/2006/main">
            <a:off x="8343900"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04</a:t>
            </a:r>
          </a:p>
        </p:txBody>
      </p:sp>
      <p:sp>
        <p:nvSpPr>
          <p:cNvPr id="36" name="남은 위험·결정">
            <a:extLst xmlns:a="http://schemas.openxmlformats.org/drawingml/2006/main">
              <a:ext uri="{FF2B5EF4-FFF2-40B4-BE49-F238E27FC236}">
                <a16:creationId xmlns:a16="http://schemas.microsoft.com/office/drawing/2014/main" id="{33706B68-9DA9-4145-A901-B6AB841960D1}"/>
              </a:ext>
            </a:extLst>
          </p:cNvPr>
          <p:cNvSpPr>
            <a:spLocks xmlns:a="http://schemas.openxmlformats.org/drawingml/2006/main" noGrp="1"/>
          </p:cNvSpPr>
          <p:nvPr/>
        </p:nvSpPr>
        <p:spPr>
          <a:xfrm xmlns:a="http://schemas.openxmlformats.org/drawingml/2006/main">
            <a:off x="8858250" y="4619625"/>
            <a:ext cx="2724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위험·결정</a:t>
            </a:r>
          </a:p>
        </p:txBody>
      </p:sp>
      <p:sp>
        <p:nvSpPr>
          <p:cNvPr id="37" name="">
            <a:extLst xmlns:a="http://schemas.openxmlformats.org/drawingml/2006/main">
              <a:ext uri="{FF2B5EF4-FFF2-40B4-BE49-F238E27FC236}">
                <a16:creationId xmlns:a16="http://schemas.microsoft.com/office/drawing/2014/main" id="{7C2990BA-1BFE-4CD1-B271-253034DC65F3}"/>
              </a:ext>
            </a:extLst>
          </p:cNvPr>
          <p:cNvSpPr>
            <a:spLocks xmlns:a="http://schemas.openxmlformats.org/drawingml/2006/main" noGrp="1"/>
          </p:cNvSpPr>
          <p:nvPr/>
        </p:nvSpPr>
        <p:spPr>
          <a:xfrm xmlns:a="http://schemas.openxmlformats.org/drawingml/2006/main">
            <a:off x="8343900" y="503872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8" name="검토에 필요한 항목을 지정하고, 중요한 근거는 남긴다.">
            <a:extLst xmlns:a="http://schemas.openxmlformats.org/drawingml/2006/main">
              <a:ext uri="{FF2B5EF4-FFF2-40B4-BE49-F238E27FC236}">
                <a16:creationId xmlns:a16="http://schemas.microsoft.com/office/drawing/2014/main" id="{8E984AA5-50DD-44D1-ADB5-A60D7FBCE94A}"/>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검토에 필요한 항목을 지정하고, 중요한 근거는 남긴다.</a:t>
            </a:r>
          </a:p>
        </p:txBody>
      </p:sp>
      <p:sp>
        <p:nvSpPr>
          <p:cNvPr id="39" name="">
            <a:extLst xmlns:a="http://schemas.openxmlformats.org/drawingml/2006/main">
              <a:ext uri="{FF2B5EF4-FFF2-40B4-BE49-F238E27FC236}">
                <a16:creationId xmlns:a16="http://schemas.microsoft.com/office/drawing/2014/main" id="{F289E875-2456-4974-A7C6-73A37788B43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0" name="Practical application tip badge">
            <a:extLst xmlns:a="http://schemas.openxmlformats.org/drawingml/2006/main">
              <a:ext uri="{FF2B5EF4-FFF2-40B4-BE49-F238E27FC236}">
                <a16:creationId xmlns:a16="http://schemas.microsoft.com/office/drawing/2014/main" id="{AE7B2037-1B49-433F-9B92-D675097D40F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41" name="Legacy module connection">
            <a:extLst xmlns:a="http://schemas.openxmlformats.org/drawingml/2006/main">
              <a:ext uri="{FF2B5EF4-FFF2-40B4-BE49-F238E27FC236}">
                <a16:creationId xmlns:a16="http://schemas.microsoft.com/office/drawing/2014/main" id="{6E5BDDF9-4F11-4B3C-AC5B-7F17BB8B7B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2525874"/>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요청 문장 도구 4/8 · 핵심">
            <a:extLst xmlns:a="http://schemas.openxmlformats.org/drawingml/2006/main">
              <a:ext uri="{FF2B5EF4-FFF2-40B4-BE49-F238E27FC236}">
                <a16:creationId xmlns:a16="http://schemas.microsoft.com/office/drawing/2014/main" id="{B5A70E71-2B1F-40B2-9859-1D7A644C71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핵심</a:t>
            </a:r>
          </a:p>
        </p:txBody>
      </p:sp>
      <p:sp>
        <p:nvSpPr>
          <p:cNvPr id="2" name="S31">
            <a:extLst xmlns:a="http://schemas.openxmlformats.org/drawingml/2006/main">
              <a:ext uri="{FF2B5EF4-FFF2-40B4-BE49-F238E27FC236}">
                <a16:creationId xmlns:a16="http://schemas.microsoft.com/office/drawing/2014/main" id="{4AB756BE-A4E2-4BAB-A948-5B70B544CE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75763AC1-E5D4-4169-945F-EDDB2F5394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ABCE69D7-A777-4B00-9FF0-45DB1BA308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87C1ABF-8FD9-4D9C-A572-443D423FA4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Prompting · Add useful context / Set boundaries</a:t>
            </a:r>
          </a:p>
        </p:txBody>
      </p:sp>
      <p:sp>
        <p:nvSpPr>
          <p:cNvPr id="6" name="Audience footer 2">
            <a:extLst xmlns:a="http://schemas.openxmlformats.org/drawingml/2006/main">
              <a:ext uri="{FF2B5EF4-FFF2-40B4-BE49-F238E27FC236}">
                <a16:creationId xmlns:a16="http://schemas.microsoft.com/office/drawing/2014/main" id="{AD99ABF5-43F6-4A90-9918-219DE0F75C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출처가 있어도 원문과 대조한다 · 인용 자체가 정확성의 보증은 아님</a:t>
            </a:r>
          </a:p>
        </p:txBody>
      </p:sp>
      <p:sp>
        <p:nvSpPr>
          <p:cNvPr id="7" name="Grounding">
            <a:extLst xmlns:a="http://schemas.openxmlformats.org/drawingml/2006/main">
              <a:ext uri="{FF2B5EF4-FFF2-40B4-BE49-F238E27FC236}">
                <a16:creationId xmlns:a16="http://schemas.microsoft.com/office/drawing/2014/main" id="{1FD5D7F0-5EB0-4D78-B60B-4DEF47FD0339}"/>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Grounding</a:t>
            </a:r>
          </a:p>
        </p:txBody>
      </p:sp>
      <p:sp>
        <p:nvSpPr>
          <p:cNvPr id="8" name="설명을 실제 자료에 연결">
            <a:extLst xmlns:a="http://schemas.openxmlformats.org/drawingml/2006/main">
              <a:ext uri="{FF2B5EF4-FFF2-40B4-BE49-F238E27FC236}">
                <a16:creationId xmlns:a16="http://schemas.microsoft.com/office/drawing/2014/main" id="{D775874A-9D69-4ED7-9BED-D5BE3A9FDB51}"/>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설명을 실제 자료에 연결</a:t>
            </a:r>
          </a:p>
        </p:txBody>
      </p:sp>
      <p:sp>
        <p:nvSpPr>
          <p:cNvPr id="9" name="사용 상황">
            <a:extLst xmlns:a="http://schemas.openxmlformats.org/drawingml/2006/main">
              <a:ext uri="{FF2B5EF4-FFF2-40B4-BE49-F238E27FC236}">
                <a16:creationId xmlns:a16="http://schemas.microsoft.com/office/drawing/2014/main" id="{47FC8677-BA8C-4448-A347-73FD8726C998}"/>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설명을 믿기 전에 실제 자료를 대조해야 할 때">
            <a:extLst xmlns:a="http://schemas.openxmlformats.org/drawingml/2006/main">
              <a:ext uri="{FF2B5EF4-FFF2-40B4-BE49-F238E27FC236}">
                <a16:creationId xmlns:a16="http://schemas.microsoft.com/office/drawing/2014/main" id="{5FA68801-A7FE-4E95-B6F2-6974D9020513}"/>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설명을 믿기 전에 실제 자료를 대조해야 할 때</a:t>
            </a:r>
          </a:p>
        </p:txBody>
      </p:sp>
      <p:sp>
        <p:nvSpPr>
          <p:cNvPr id="11" name="">
            <a:extLst xmlns:a="http://schemas.openxmlformats.org/drawingml/2006/main">
              <a:ext uri="{FF2B5EF4-FFF2-40B4-BE49-F238E27FC236}">
                <a16:creationId xmlns:a16="http://schemas.microsoft.com/office/drawing/2014/main" id="{1C0A6D78-37FE-4345-A235-A990DFEE4BA8}"/>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FB206932-C821-4804-995D-D2D40CA62F8A}"/>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67908E75-EB4D-4EAE-8BF3-101B97B21DB9}"/>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295BA0CB-7A78-44BB-BF54-7FA9CF0A8044}"/>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crop의 명세·구현·테스트를 비교해줘.">
            <a:extLst xmlns:a="http://schemas.openxmlformats.org/drawingml/2006/main">
              <a:ext uri="{FF2B5EF4-FFF2-40B4-BE49-F238E27FC236}">
                <a16:creationId xmlns:a16="http://schemas.microsoft.com/office/drawing/2014/main" id="{9EA68FAC-8B1A-410D-89B8-3ADCA4670496}"/>
              </a:ext>
            </a:extLst>
          </p:cNvPr>
          <p:cNvSpPr>
            <a:spLocks xmlns:a="http://schemas.openxmlformats.org/drawingml/2006/main" noGrp="1"/>
          </p:cNvSpPr>
          <p:nvPr/>
        </p:nvSpPr>
        <p:spPr>
          <a:xfrm xmlns:a="http://schemas.openxmlformats.org/drawingml/2006/main">
            <a:off x="895350" y="31623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crop의 명세·구현·테스트를 비교해줘.</a:t>
            </a:r>
          </a:p>
        </p:txBody>
      </p:sp>
      <p:sp>
        <p:nvSpPr>
          <p:cNvPr id="16" name="">
            <a:extLst xmlns:a="http://schemas.openxmlformats.org/drawingml/2006/main">
              <a:ext uri="{FF2B5EF4-FFF2-40B4-BE49-F238E27FC236}">
                <a16:creationId xmlns:a16="http://schemas.microsoft.com/office/drawing/2014/main" id="{379FEFDD-7BAB-4788-AE50-4255CBA2B70F}"/>
              </a:ext>
            </a:extLst>
          </p:cNvPr>
          <p:cNvSpPr>
            <a:spLocks xmlns:a="http://schemas.openxmlformats.org/drawingml/2006/main" noGrp="1"/>
          </p:cNvSpPr>
          <p:nvPr/>
        </p:nvSpPr>
        <p:spPr>
          <a:xfrm xmlns:a="http://schemas.openxmlformats.org/drawingml/2006/main">
            <a:off x="800100" y="34861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중요한 결론마다 파일·함수 근거를 붙여줘.">
            <a:extLst xmlns:a="http://schemas.openxmlformats.org/drawingml/2006/main">
              <a:ext uri="{FF2B5EF4-FFF2-40B4-BE49-F238E27FC236}">
                <a16:creationId xmlns:a16="http://schemas.microsoft.com/office/drawing/2014/main" id="{30418D59-316E-42E8-B6BB-9E4B31FAB9D0}"/>
              </a:ext>
            </a:extLst>
          </p:cNvPr>
          <p:cNvSpPr>
            <a:spLocks xmlns:a="http://schemas.openxmlformats.org/drawingml/2006/main" noGrp="1"/>
          </p:cNvSpPr>
          <p:nvPr/>
        </p:nvSpPr>
        <p:spPr>
          <a:xfrm xmlns:a="http://schemas.openxmlformats.org/drawingml/2006/main">
            <a:off x="895350" y="34861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중요한 결론마다 파일·함수 근거를 붙여줘.</a:t>
            </a:r>
          </a:p>
        </p:txBody>
      </p:sp>
      <p:sp>
        <p:nvSpPr>
          <p:cNvPr id="18" name="">
            <a:extLst xmlns:a="http://schemas.openxmlformats.org/drawingml/2006/main">
              <a:ext uri="{FF2B5EF4-FFF2-40B4-BE49-F238E27FC236}">
                <a16:creationId xmlns:a16="http://schemas.microsoft.com/office/drawing/2014/main" id="{F5B1630C-D11E-44FE-AEEB-F737FB863AEF}"/>
              </a:ext>
            </a:extLst>
          </p:cNvPr>
          <p:cNvSpPr>
            <a:spLocks xmlns:a="http://schemas.openxmlformats.org/drawingml/2006/main" noGrp="1"/>
          </p:cNvSpPr>
          <p:nvPr/>
        </p:nvSpPr>
        <p:spPr>
          <a:xfrm xmlns:a="http://schemas.openxmlformats.org/drawingml/2006/main">
            <a:off x="800100" y="38100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확인한 내용과 추정·미확인을 구분해줘.">
            <a:extLst xmlns:a="http://schemas.openxmlformats.org/drawingml/2006/main">
              <a:ext uri="{FF2B5EF4-FFF2-40B4-BE49-F238E27FC236}">
                <a16:creationId xmlns:a16="http://schemas.microsoft.com/office/drawing/2014/main" id="{6DE3E97D-9AC2-4760-9179-48BA0261AF9B}"/>
              </a:ext>
            </a:extLst>
          </p:cNvPr>
          <p:cNvSpPr>
            <a:spLocks xmlns:a="http://schemas.openxmlformats.org/drawingml/2006/main" noGrp="1"/>
          </p:cNvSpPr>
          <p:nvPr/>
        </p:nvSpPr>
        <p:spPr>
          <a:xfrm xmlns:a="http://schemas.openxmlformats.org/drawingml/2006/main">
            <a:off x="895350" y="38100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확인한 내용과 추정·미확인을 구분해줘.</a:t>
            </a:r>
          </a:p>
        </p:txBody>
      </p:sp>
      <p:sp>
        <p:nvSpPr>
          <p:cNvPr id="20" name="자료가 충돌하면 차이를 먼저 알려줘.">
            <a:extLst xmlns:a="http://schemas.openxmlformats.org/drawingml/2006/main">
              <a:ext uri="{FF2B5EF4-FFF2-40B4-BE49-F238E27FC236}">
                <a16:creationId xmlns:a16="http://schemas.microsoft.com/office/drawing/2014/main" id="{CF571CFC-740B-4913-A784-A6E9FB475861}"/>
              </a:ext>
            </a:extLst>
          </p:cNvPr>
          <p:cNvSpPr>
            <a:spLocks xmlns:a="http://schemas.openxmlformats.org/drawingml/2006/main" noGrp="1"/>
          </p:cNvSpPr>
          <p:nvPr/>
        </p:nvSpPr>
        <p:spPr>
          <a:xfrm xmlns:a="http://schemas.openxmlformats.org/drawingml/2006/main">
            <a:off x="895350" y="41338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자료가 충돌하면 차이를 먼저 알려줘.</a:t>
            </a:r>
          </a:p>
        </p:txBody>
      </p:sp>
      <p:sp>
        <p:nvSpPr>
          <p:cNvPr id="21" name="없는 정책은 만들어 채우지 마.">
            <a:extLst xmlns:a="http://schemas.openxmlformats.org/drawingml/2006/main">
              <a:ext uri="{FF2B5EF4-FFF2-40B4-BE49-F238E27FC236}">
                <a16:creationId xmlns:a16="http://schemas.microsoft.com/office/drawing/2014/main" id="{049C2F20-68DA-4BA2-922B-1946A06B41FB}"/>
              </a:ext>
            </a:extLst>
          </p:cNvPr>
          <p:cNvSpPr>
            <a:spLocks xmlns:a="http://schemas.openxmlformats.org/drawingml/2006/main" noGrp="1"/>
          </p:cNvSpPr>
          <p:nvPr/>
        </p:nvSpPr>
        <p:spPr>
          <a:xfrm xmlns:a="http://schemas.openxmlformats.org/drawingml/2006/main">
            <a:off x="895350" y="44577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없는 정책은 만들어 채우지 마.</a:t>
            </a:r>
          </a:p>
        </p:txBody>
      </p:sp>
      <p:sp>
        <p:nvSpPr>
          <p:cNvPr id="22" name="결론을 뒷받침하는 자료">
            <a:extLst xmlns:a="http://schemas.openxmlformats.org/drawingml/2006/main">
              <a:ext uri="{FF2B5EF4-FFF2-40B4-BE49-F238E27FC236}">
                <a16:creationId xmlns:a16="http://schemas.microsoft.com/office/drawing/2014/main" id="{623F47D0-7067-423A-9997-B3D05B080009}"/>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결론을 뒷받침하는 자료</a:t>
            </a:r>
          </a:p>
        </p:txBody>
      </p:sp>
      <p:sp>
        <p:nvSpPr>
          <p:cNvPr id="23" name="">
            <a:extLst xmlns:a="http://schemas.openxmlformats.org/drawingml/2006/main">
              <a:ext uri="{FF2B5EF4-FFF2-40B4-BE49-F238E27FC236}">
                <a16:creationId xmlns:a16="http://schemas.microsoft.com/office/drawing/2014/main" id="{D8AC387C-920D-4377-B83B-7CAB1E10525E}"/>
              </a:ext>
            </a:extLst>
          </p:cNvPr>
          <p:cNvSpPr>
            <a:spLocks xmlns:a="http://schemas.openxmlformats.org/drawingml/2006/main" noGrp="1"/>
          </p:cNvSpPr>
          <p:nvPr/>
        </p:nvSpPr>
        <p:spPr>
          <a:xfrm xmlns:a="http://schemas.openxmlformats.org/drawingml/2006/main">
            <a:off x="8343900" y="3190875"/>
            <a:ext cx="1009650" cy="5238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명세">
            <a:extLst xmlns:a="http://schemas.openxmlformats.org/drawingml/2006/main">
              <a:ext uri="{FF2B5EF4-FFF2-40B4-BE49-F238E27FC236}">
                <a16:creationId xmlns:a16="http://schemas.microsoft.com/office/drawing/2014/main" id="{B2BBBD2A-ED0F-459D-B9AD-2F373378A534}"/>
              </a:ext>
            </a:extLst>
          </p:cNvPr>
          <p:cNvSpPr>
            <a:spLocks xmlns:a="http://schemas.openxmlformats.org/drawingml/2006/main" noGrp="1"/>
          </p:cNvSpPr>
          <p:nvPr/>
        </p:nvSpPr>
        <p:spPr>
          <a:xfrm xmlns:a="http://schemas.openxmlformats.org/drawingml/2006/main">
            <a:off x="8343900" y="3190875"/>
            <a:ext cx="10096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명세</a:t>
            </a:r>
          </a:p>
        </p:txBody>
      </p:sp>
      <p:sp>
        <p:nvSpPr>
          <p:cNvPr id="25" name="">
            <a:extLst xmlns:a="http://schemas.openxmlformats.org/drawingml/2006/main">
              <a:ext uri="{FF2B5EF4-FFF2-40B4-BE49-F238E27FC236}">
                <a16:creationId xmlns:a16="http://schemas.microsoft.com/office/drawing/2014/main" id="{E34F917C-6035-418C-9CB4-35CC88B2919F}"/>
              </a:ext>
            </a:extLst>
          </p:cNvPr>
          <p:cNvSpPr>
            <a:spLocks xmlns:a="http://schemas.openxmlformats.org/drawingml/2006/main" noGrp="1"/>
          </p:cNvSpPr>
          <p:nvPr/>
        </p:nvSpPr>
        <p:spPr>
          <a:xfrm xmlns:a="http://schemas.openxmlformats.org/drawingml/2006/main">
            <a:off x="9458325" y="3190875"/>
            <a:ext cx="1009650" cy="5238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구현">
            <a:extLst xmlns:a="http://schemas.openxmlformats.org/drawingml/2006/main">
              <a:ext uri="{FF2B5EF4-FFF2-40B4-BE49-F238E27FC236}">
                <a16:creationId xmlns:a16="http://schemas.microsoft.com/office/drawing/2014/main" id="{58A9AD74-D08C-498D-AA6D-E8093BAF2584}"/>
              </a:ext>
            </a:extLst>
          </p:cNvPr>
          <p:cNvSpPr>
            <a:spLocks xmlns:a="http://schemas.openxmlformats.org/drawingml/2006/main" noGrp="1"/>
          </p:cNvSpPr>
          <p:nvPr/>
        </p:nvSpPr>
        <p:spPr>
          <a:xfrm xmlns:a="http://schemas.openxmlformats.org/drawingml/2006/main">
            <a:off x="9458325" y="3190875"/>
            <a:ext cx="10096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구현</a:t>
            </a:r>
          </a:p>
        </p:txBody>
      </p:sp>
      <p:sp>
        <p:nvSpPr>
          <p:cNvPr id="27" name="">
            <a:extLst xmlns:a="http://schemas.openxmlformats.org/drawingml/2006/main">
              <a:ext uri="{FF2B5EF4-FFF2-40B4-BE49-F238E27FC236}">
                <a16:creationId xmlns:a16="http://schemas.microsoft.com/office/drawing/2014/main" id="{EF5C1C92-A4B6-42C8-A66A-8F361B5CA6F7}"/>
              </a:ext>
            </a:extLst>
          </p:cNvPr>
          <p:cNvSpPr>
            <a:spLocks xmlns:a="http://schemas.openxmlformats.org/drawingml/2006/main" noGrp="1"/>
          </p:cNvSpPr>
          <p:nvPr/>
        </p:nvSpPr>
        <p:spPr>
          <a:xfrm xmlns:a="http://schemas.openxmlformats.org/drawingml/2006/main">
            <a:off x="10572750" y="3190875"/>
            <a:ext cx="1009650" cy="5238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테스트">
            <a:extLst xmlns:a="http://schemas.openxmlformats.org/drawingml/2006/main">
              <a:ext uri="{FF2B5EF4-FFF2-40B4-BE49-F238E27FC236}">
                <a16:creationId xmlns:a16="http://schemas.microsoft.com/office/drawing/2014/main" id="{AD53C9DB-5F64-4389-A802-3211A772716C}"/>
              </a:ext>
            </a:extLst>
          </p:cNvPr>
          <p:cNvSpPr>
            <a:spLocks xmlns:a="http://schemas.openxmlformats.org/drawingml/2006/main" noGrp="1"/>
          </p:cNvSpPr>
          <p:nvPr/>
        </p:nvSpPr>
        <p:spPr>
          <a:xfrm xmlns:a="http://schemas.openxmlformats.org/drawingml/2006/main">
            <a:off x="10572750" y="3190875"/>
            <a:ext cx="10096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테스트</a:t>
            </a:r>
          </a:p>
        </p:txBody>
      </p:sp>
      <p:sp>
        <p:nvSpPr>
          <p:cNvPr id="29" name="">
            <a:extLst xmlns:a="http://schemas.openxmlformats.org/drawingml/2006/main">
              <a:ext uri="{FF2B5EF4-FFF2-40B4-BE49-F238E27FC236}">
                <a16:creationId xmlns:a16="http://schemas.microsoft.com/office/drawing/2014/main" id="{D9287E22-55C5-450D-B894-2B0ADA3911BD}"/>
              </a:ext>
            </a:extLst>
          </p:cNvPr>
          <p:cNvSpPr>
            <a:spLocks xmlns:a="http://schemas.openxmlformats.org/drawingml/2006/main" noGrp="1"/>
          </p:cNvSpPr>
          <p:nvPr/>
        </p:nvSpPr>
        <p:spPr>
          <a:xfrm xmlns:a="http://schemas.openxmlformats.org/drawingml/2006/main">
            <a:off x="9782175" y="3867150"/>
            <a:ext cx="152400" cy="1905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30" name="중요한 결론">
            <a:extLst xmlns:a="http://schemas.openxmlformats.org/drawingml/2006/main">
              <a:ext uri="{FF2B5EF4-FFF2-40B4-BE49-F238E27FC236}">
                <a16:creationId xmlns:a16="http://schemas.microsoft.com/office/drawing/2014/main" id="{410981E1-E1F7-4612-B246-822911DB5ED3}"/>
              </a:ext>
            </a:extLst>
          </p:cNvPr>
          <p:cNvSpPr>
            <a:spLocks xmlns:a="http://schemas.openxmlformats.org/drawingml/2006/main" noGrp="1"/>
          </p:cNvSpPr>
          <p:nvPr/>
        </p:nvSpPr>
        <p:spPr>
          <a:xfrm xmlns:a="http://schemas.openxmlformats.org/drawingml/2006/main">
            <a:off x="8343900" y="423862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중요한 결론</a:t>
            </a:r>
          </a:p>
        </p:txBody>
      </p:sp>
      <p:sp>
        <p:nvSpPr>
          <p:cNvPr id="31" name="확인 · 추정 · 미확인 구분">
            <a:extLst xmlns:a="http://schemas.openxmlformats.org/drawingml/2006/main">
              <a:ext uri="{FF2B5EF4-FFF2-40B4-BE49-F238E27FC236}">
                <a16:creationId xmlns:a16="http://schemas.microsoft.com/office/drawing/2014/main" id="{AD9BEB75-7285-476A-9346-EC29CC054DF0}"/>
              </a:ext>
            </a:extLst>
          </p:cNvPr>
          <p:cNvSpPr>
            <a:spLocks xmlns:a="http://schemas.openxmlformats.org/drawingml/2006/main" noGrp="1"/>
          </p:cNvSpPr>
          <p:nvPr/>
        </p:nvSpPr>
        <p:spPr>
          <a:xfrm xmlns:a="http://schemas.openxmlformats.org/drawingml/2006/main">
            <a:off x="8343900" y="47529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확인 · 추정 · 미확인 구분</a:t>
            </a:r>
          </a:p>
        </p:txBody>
      </p:sp>
      <p:sp>
        <p:nvSpPr>
          <p:cNvPr id="32" name="중요한 판단에 근거를 받고, 추정·미확인은 구분한다.">
            <a:extLst xmlns:a="http://schemas.openxmlformats.org/drawingml/2006/main">
              <a:ext uri="{FF2B5EF4-FFF2-40B4-BE49-F238E27FC236}">
                <a16:creationId xmlns:a16="http://schemas.microsoft.com/office/drawing/2014/main" id="{F6D3E7ED-22CE-4C63-B51E-9AA915FA0CD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중요한 판단에 근거를 받고, 추정·미확인은 구분한다.</a:t>
            </a:r>
          </a:p>
        </p:txBody>
      </p:sp>
      <p:sp>
        <p:nvSpPr>
          <p:cNvPr id="33" name="">
            <a:extLst xmlns:a="http://schemas.openxmlformats.org/drawingml/2006/main">
              <a:ext uri="{FF2B5EF4-FFF2-40B4-BE49-F238E27FC236}">
                <a16:creationId xmlns:a16="http://schemas.microsoft.com/office/drawing/2014/main" id="{61626870-C8A3-4A2D-8D2E-C0B7441CD78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71E3507-3DDF-443B-B819-DA6AE182E20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35" name="Legacy module connection">
            <a:extLst xmlns:a="http://schemas.openxmlformats.org/drawingml/2006/main">
              <a:ext uri="{FF2B5EF4-FFF2-40B4-BE49-F238E27FC236}">
                <a16:creationId xmlns:a16="http://schemas.microsoft.com/office/drawing/2014/main" id="{F657C91D-F6E6-4EF2-ACC9-8931BFE4B4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764816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요청 문장 도구 5/8 · 핵심">
            <a:extLst xmlns:a="http://schemas.openxmlformats.org/drawingml/2006/main">
              <a:ext uri="{FF2B5EF4-FFF2-40B4-BE49-F238E27FC236}">
                <a16:creationId xmlns:a16="http://schemas.microsoft.com/office/drawing/2014/main" id="{A3312536-50D3-44D8-B6C5-7F0979DCE1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핵심</a:t>
            </a:r>
          </a:p>
        </p:txBody>
      </p:sp>
      <p:sp>
        <p:nvSpPr>
          <p:cNvPr id="2" name="S32">
            <a:extLst xmlns:a="http://schemas.openxmlformats.org/drawingml/2006/main">
              <a:ext uri="{FF2B5EF4-FFF2-40B4-BE49-F238E27FC236}">
                <a16:creationId xmlns:a16="http://schemas.microsoft.com/office/drawing/2014/main" id="{F1C8ECFF-2DAC-4558-B334-818D48A7AB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FD4D0667-365E-44A0-B8E3-9184BAE36A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BE26099-9AC6-439F-850D-BE24EC59D2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CE0E34C-CA1C-486F-8CE2-AC744CC3E0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Using GPT-6 · Initiative and follow-through</a:t>
            </a:r>
          </a:p>
        </p:txBody>
      </p:sp>
      <p:sp>
        <p:nvSpPr>
          <p:cNvPr id="6" name="Audience footer 2">
            <a:extLst xmlns:a="http://schemas.openxmlformats.org/drawingml/2006/main">
              <a:ext uri="{FF2B5EF4-FFF2-40B4-BE49-F238E27FC236}">
                <a16:creationId xmlns:a16="http://schemas.microsoft.com/office/drawing/2014/main" id="{491F559A-6319-478C-BA78-217D8E4F34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질문하지 않는다 · 결정과 무관한 허용된 작업은 계속 진행</a:t>
            </a:r>
          </a:p>
        </p:txBody>
      </p:sp>
      <p:sp>
        <p:nvSpPr>
          <p:cNvPr id="7" name="Clarifying Questions">
            <a:extLst xmlns:a="http://schemas.openxmlformats.org/drawingml/2006/main">
              <a:ext uri="{FF2B5EF4-FFF2-40B4-BE49-F238E27FC236}">
                <a16:creationId xmlns:a16="http://schemas.microsoft.com/office/drawing/2014/main" id="{4A1B746E-2094-40A4-9CE4-C7A9653B994B}"/>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Clarifying Questions</a:t>
            </a:r>
          </a:p>
        </p:txBody>
      </p:sp>
      <p:sp>
        <p:nvSpPr>
          <p:cNvPr id="8" name="결과를 바꾸는 결정 확인">
            <a:extLst xmlns:a="http://schemas.openxmlformats.org/drawingml/2006/main">
              <a:ext uri="{FF2B5EF4-FFF2-40B4-BE49-F238E27FC236}">
                <a16:creationId xmlns:a16="http://schemas.microsoft.com/office/drawing/2014/main" id="{2AD9EEE1-17D7-441D-9E9F-D1A9B05CAEE5}"/>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결과를 바꾸는 결정 확인</a:t>
            </a:r>
          </a:p>
        </p:txBody>
      </p:sp>
      <p:sp>
        <p:nvSpPr>
          <p:cNvPr id="9" name="사용 상황">
            <a:extLst xmlns:a="http://schemas.openxmlformats.org/drawingml/2006/main">
              <a:ext uri="{FF2B5EF4-FFF2-40B4-BE49-F238E27FC236}">
                <a16:creationId xmlns:a16="http://schemas.microsoft.com/office/drawing/2014/main" id="{EA8DF572-1ECD-40F1-A123-177334A6215A}"/>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사람의 선택에 따라 구현이나 완료 기준이 바뀔 때">
            <a:extLst xmlns:a="http://schemas.openxmlformats.org/drawingml/2006/main">
              <a:ext uri="{FF2B5EF4-FFF2-40B4-BE49-F238E27FC236}">
                <a16:creationId xmlns:a16="http://schemas.microsoft.com/office/drawing/2014/main" id="{0FB327FC-2747-43D1-AE3B-04A00136D044}"/>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사람의 선택에 따라 구현이나 완료 기준이 바뀔 때</a:t>
            </a:r>
          </a:p>
        </p:txBody>
      </p:sp>
      <p:sp>
        <p:nvSpPr>
          <p:cNvPr id="11" name="">
            <a:extLst xmlns:a="http://schemas.openxmlformats.org/drawingml/2006/main">
              <a:ext uri="{FF2B5EF4-FFF2-40B4-BE49-F238E27FC236}">
                <a16:creationId xmlns:a16="http://schemas.microsoft.com/office/drawing/2014/main" id="{42DA8FDD-62C0-42D4-88BD-0CD9B4E5467E}"/>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936FCC8-A207-4801-977C-F44C3371F00B}"/>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97B72255-F1DF-4B1C-93B7-D3527330BE64}"/>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70BFB582-FF65-479F-80F3-ED93E58A4591}"/>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빈 crop 범위의 처리 정책을 조사해줘.">
            <a:extLst xmlns:a="http://schemas.openxmlformats.org/drawingml/2006/main">
              <a:ext uri="{FF2B5EF4-FFF2-40B4-BE49-F238E27FC236}">
                <a16:creationId xmlns:a16="http://schemas.microsoft.com/office/drawing/2014/main" id="{907BC5E7-4332-4995-A8EC-1FE295D9B832}"/>
              </a:ext>
            </a:extLst>
          </p:cNvPr>
          <p:cNvSpPr>
            <a:spLocks xmlns:a="http://schemas.openxmlformats.org/drawingml/2006/main" noGrp="1"/>
          </p:cNvSpPr>
          <p:nvPr/>
        </p:nvSpPr>
        <p:spPr>
          <a:xfrm xmlns:a="http://schemas.openxmlformats.org/drawingml/2006/main">
            <a:off x="895350" y="31623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빈 crop 범위의 처리 정책을 조사해줘.</a:t>
            </a:r>
          </a:p>
        </p:txBody>
      </p:sp>
      <p:sp>
        <p:nvSpPr>
          <p:cNvPr id="16" name="문서·테스트·호출부에서 먼저 찾아줘.">
            <a:extLst xmlns:a="http://schemas.openxmlformats.org/drawingml/2006/main">
              <a:ext uri="{FF2B5EF4-FFF2-40B4-BE49-F238E27FC236}">
                <a16:creationId xmlns:a16="http://schemas.microsoft.com/office/drawing/2014/main" id="{6AA8B01E-E7F6-4AF9-9DA8-43509D7A9F7F}"/>
              </a:ext>
            </a:extLst>
          </p:cNvPr>
          <p:cNvSpPr>
            <a:spLocks xmlns:a="http://schemas.openxmlformats.org/drawingml/2006/main" noGrp="1"/>
          </p:cNvSpPr>
          <p:nvPr/>
        </p:nvSpPr>
        <p:spPr>
          <a:xfrm xmlns:a="http://schemas.openxmlformats.org/drawingml/2006/main">
            <a:off x="895350" y="34861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문서·테스트·호출부에서 먼저 찾아줘.</a:t>
            </a:r>
          </a:p>
        </p:txBody>
      </p:sp>
      <p:sp>
        <p:nvSpPr>
          <p:cNvPr id="17" name="">
            <a:extLst xmlns:a="http://schemas.openxmlformats.org/drawingml/2006/main">
              <a:ext uri="{FF2B5EF4-FFF2-40B4-BE49-F238E27FC236}">
                <a16:creationId xmlns:a16="http://schemas.microsoft.com/office/drawing/2014/main" id="{D9A6A398-1B99-4837-861D-D5E0F6A155D8}"/>
              </a:ext>
            </a:extLst>
          </p:cNvPr>
          <p:cNvSpPr>
            <a:spLocks xmlns:a="http://schemas.openxmlformats.org/drawingml/2006/main" noGrp="1"/>
          </p:cNvSpPr>
          <p:nvPr/>
        </p:nvSpPr>
        <p:spPr>
          <a:xfrm xmlns:a="http://schemas.openxmlformats.org/drawingml/2006/main">
            <a:off x="800100" y="38100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정책이 없어 동작을 선택해야 한다면">
            <a:extLst xmlns:a="http://schemas.openxmlformats.org/drawingml/2006/main">
              <a:ext uri="{FF2B5EF4-FFF2-40B4-BE49-F238E27FC236}">
                <a16:creationId xmlns:a16="http://schemas.microsoft.com/office/drawing/2014/main" id="{27356700-3A62-4163-99BF-8216A9384CC6}"/>
              </a:ext>
            </a:extLst>
          </p:cNvPr>
          <p:cNvSpPr>
            <a:spLocks xmlns:a="http://schemas.openxmlformats.org/drawingml/2006/main" noGrp="1"/>
          </p:cNvSpPr>
          <p:nvPr/>
        </p:nvSpPr>
        <p:spPr>
          <a:xfrm xmlns:a="http://schemas.openxmlformats.org/drawingml/2006/main">
            <a:off x="895350" y="38100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정책이 없어 동작을 선택해야 한다면</a:t>
            </a:r>
          </a:p>
        </p:txBody>
      </p:sp>
      <p:sp>
        <p:nvSpPr>
          <p:cNvPr id="19" name="">
            <a:extLst xmlns:a="http://schemas.openxmlformats.org/drawingml/2006/main">
              <a:ext uri="{FF2B5EF4-FFF2-40B4-BE49-F238E27FC236}">
                <a16:creationId xmlns:a16="http://schemas.microsoft.com/office/drawing/2014/main" id="{6C28C3C1-6B53-4B79-82CC-7B03FBAFA3BA}"/>
              </a:ext>
            </a:extLst>
          </p:cNvPr>
          <p:cNvSpPr>
            <a:spLocks xmlns:a="http://schemas.openxmlformats.org/drawingml/2006/main" noGrp="1"/>
          </p:cNvSpPr>
          <p:nvPr/>
        </p:nvSpPr>
        <p:spPr>
          <a:xfrm xmlns:a="http://schemas.openxmlformats.org/drawingml/2006/main">
            <a:off x="800100" y="41338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선택지와 영향을 정리하고 질문해줘.">
            <a:extLst xmlns:a="http://schemas.openxmlformats.org/drawingml/2006/main">
              <a:ext uri="{FF2B5EF4-FFF2-40B4-BE49-F238E27FC236}">
                <a16:creationId xmlns:a16="http://schemas.microsoft.com/office/drawing/2014/main" id="{ED96DB5A-6EDF-4FDE-A4F3-7F6AB61F97D9}"/>
              </a:ext>
            </a:extLst>
          </p:cNvPr>
          <p:cNvSpPr>
            <a:spLocks xmlns:a="http://schemas.openxmlformats.org/drawingml/2006/main" noGrp="1"/>
          </p:cNvSpPr>
          <p:nvPr/>
        </p:nvSpPr>
        <p:spPr>
          <a:xfrm xmlns:a="http://schemas.openxmlformats.org/drawingml/2006/main">
            <a:off x="895350" y="41338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선택지와 영향을 정리하고 질문해줘.</a:t>
            </a:r>
          </a:p>
        </p:txBody>
      </p:sp>
      <p:sp>
        <p:nvSpPr>
          <p:cNvPr id="21" name="그 선택에 의존하는 수정은 답변 뒤 진행해줘.">
            <a:extLst xmlns:a="http://schemas.openxmlformats.org/drawingml/2006/main">
              <a:ext uri="{FF2B5EF4-FFF2-40B4-BE49-F238E27FC236}">
                <a16:creationId xmlns:a16="http://schemas.microsoft.com/office/drawing/2014/main" id="{6204B80C-1427-490D-9146-E5890BB1D888}"/>
              </a:ext>
            </a:extLst>
          </p:cNvPr>
          <p:cNvSpPr>
            <a:spLocks xmlns:a="http://schemas.openxmlformats.org/drawingml/2006/main" noGrp="1"/>
          </p:cNvSpPr>
          <p:nvPr/>
        </p:nvSpPr>
        <p:spPr>
          <a:xfrm xmlns:a="http://schemas.openxmlformats.org/drawingml/2006/main">
            <a:off x="895350" y="44577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그 선택에 의존하는 수정은 답변 뒤 진행해줘.</a:t>
            </a:r>
          </a:p>
        </p:txBody>
      </p:sp>
      <p:sp>
        <p:nvSpPr>
          <p:cNvPr id="22" name="">
            <a:extLst xmlns:a="http://schemas.openxmlformats.org/drawingml/2006/main">
              <a:ext uri="{FF2B5EF4-FFF2-40B4-BE49-F238E27FC236}">
                <a16:creationId xmlns:a16="http://schemas.microsoft.com/office/drawing/2014/main" id="{89C53159-393C-4D1B-858D-8DF3165B98C2}"/>
              </a:ext>
            </a:extLst>
          </p:cNvPr>
          <p:cNvSpPr>
            <a:spLocks xmlns:a="http://schemas.openxmlformats.org/drawingml/2006/main" noGrp="1"/>
          </p:cNvSpPr>
          <p:nvPr/>
        </p:nvSpPr>
        <p:spPr>
          <a:xfrm xmlns:a="http://schemas.openxmlformats.org/drawingml/2006/main">
            <a:off x="800100" y="47815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결정과 무관한 조사는 계속해줘.">
            <a:extLst xmlns:a="http://schemas.openxmlformats.org/drawingml/2006/main">
              <a:ext uri="{FF2B5EF4-FFF2-40B4-BE49-F238E27FC236}">
                <a16:creationId xmlns:a16="http://schemas.microsoft.com/office/drawing/2014/main" id="{5665E6A9-D0B3-4B50-8BD4-D9047516FFD8}"/>
              </a:ext>
            </a:extLst>
          </p:cNvPr>
          <p:cNvSpPr>
            <a:spLocks xmlns:a="http://schemas.openxmlformats.org/drawingml/2006/main" noGrp="1"/>
          </p:cNvSpPr>
          <p:nvPr/>
        </p:nvSpPr>
        <p:spPr>
          <a:xfrm xmlns:a="http://schemas.openxmlformats.org/drawingml/2006/main">
            <a:off x="895350" y="47815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결정과 무관한 조사는 계속해줘.</a:t>
            </a:r>
          </a:p>
        </p:txBody>
      </p:sp>
      <p:sp>
        <p:nvSpPr>
          <p:cNvPr id="24" name="무엇을 질문할까?">
            <a:extLst xmlns:a="http://schemas.openxmlformats.org/drawingml/2006/main">
              <a:ext uri="{FF2B5EF4-FFF2-40B4-BE49-F238E27FC236}">
                <a16:creationId xmlns:a16="http://schemas.microsoft.com/office/drawing/2014/main" id="{569ADEDF-552B-4B17-93BA-347F5DD227D4}"/>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무엇을 질문할까?</a:t>
            </a:r>
          </a:p>
        </p:txBody>
      </p:sp>
      <p:sp>
        <p:nvSpPr>
          <p:cNvPr id="25" name="문서·코드를 조사">
            <a:extLst xmlns:a="http://schemas.openxmlformats.org/drawingml/2006/main">
              <a:ext uri="{FF2B5EF4-FFF2-40B4-BE49-F238E27FC236}">
                <a16:creationId xmlns:a16="http://schemas.microsoft.com/office/drawing/2014/main" id="{5DC7698E-8DAF-44A5-ACBD-DA2A2EA08392}"/>
              </a:ext>
            </a:extLst>
          </p:cNvPr>
          <p:cNvSpPr>
            <a:spLocks xmlns:a="http://schemas.openxmlformats.org/drawingml/2006/main" noGrp="1"/>
          </p:cNvSpPr>
          <p:nvPr/>
        </p:nvSpPr>
        <p:spPr>
          <a:xfrm xmlns:a="http://schemas.openxmlformats.org/drawingml/2006/main">
            <a:off x="8343900" y="310515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문서·코드를 조사</a:t>
            </a:r>
          </a:p>
        </p:txBody>
      </p:sp>
      <p:sp>
        <p:nvSpPr>
          <p:cNvPr id="26" name="">
            <a:extLst xmlns:a="http://schemas.openxmlformats.org/drawingml/2006/main">
              <a:ext uri="{FF2B5EF4-FFF2-40B4-BE49-F238E27FC236}">
                <a16:creationId xmlns:a16="http://schemas.microsoft.com/office/drawing/2014/main" id="{872173A1-924A-438C-B5EB-39AB3786DB7B}"/>
              </a:ext>
            </a:extLst>
          </p:cNvPr>
          <p:cNvSpPr>
            <a:spLocks xmlns:a="http://schemas.openxmlformats.org/drawingml/2006/main" noGrp="1"/>
          </p:cNvSpPr>
          <p:nvPr/>
        </p:nvSpPr>
        <p:spPr>
          <a:xfrm xmlns:a="http://schemas.openxmlformats.org/drawingml/2006/main">
            <a:off x="9782175" y="3505200"/>
            <a:ext cx="152400" cy="1905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7" name="결정할 정책이 남았나?">
            <a:extLst xmlns:a="http://schemas.openxmlformats.org/drawingml/2006/main">
              <a:ext uri="{FF2B5EF4-FFF2-40B4-BE49-F238E27FC236}">
                <a16:creationId xmlns:a16="http://schemas.microsoft.com/office/drawing/2014/main" id="{6D779125-6BB1-4093-B868-1A01ECFE53CF}"/>
              </a:ext>
            </a:extLst>
          </p:cNvPr>
          <p:cNvSpPr>
            <a:spLocks xmlns:a="http://schemas.openxmlformats.org/drawingml/2006/main" noGrp="1"/>
          </p:cNvSpPr>
          <p:nvPr/>
        </p:nvSpPr>
        <p:spPr>
          <a:xfrm xmlns:a="http://schemas.openxmlformats.org/drawingml/2006/main">
            <a:off x="8343900" y="379095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결정할 정책이 남았나?</a:t>
            </a:r>
          </a:p>
        </p:txBody>
      </p:sp>
      <p:sp>
        <p:nvSpPr>
          <p:cNvPr id="28" name="없음">
            <a:extLst xmlns:a="http://schemas.openxmlformats.org/drawingml/2006/main">
              <a:ext uri="{FF2B5EF4-FFF2-40B4-BE49-F238E27FC236}">
                <a16:creationId xmlns:a16="http://schemas.microsoft.com/office/drawing/2014/main" id="{D4AE4AA7-A990-494C-8689-EDAA41AF27E8}"/>
              </a:ext>
            </a:extLst>
          </p:cNvPr>
          <p:cNvSpPr>
            <a:spLocks xmlns:a="http://schemas.openxmlformats.org/drawingml/2006/main" noGrp="1"/>
          </p:cNvSpPr>
          <p:nvPr/>
        </p:nvSpPr>
        <p:spPr>
          <a:xfrm xmlns:a="http://schemas.openxmlformats.org/drawingml/2006/main">
            <a:off x="8343900" y="4295775"/>
            <a:ext cx="628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6B4D"/>
                </a:solidFill>
                <a:latin typeface="Malgun Gothic"/>
                <a:ea typeface="Malgun Gothic"/>
                <a:cs typeface="Malgun Gothic"/>
              </a:defRPr>
            </a:defPPr>
            <a:lvl1pPr algn="l">
              <a:defRPr sz="1875" b="1">
                <a:solidFill>
                  <a:srgbClr val="176B4D"/>
                </a:solidFill>
                <a:latin typeface="Malgun Gothic"/>
                <a:ea typeface="Malgun Gothic"/>
                <a:cs typeface="Malgun Gothic"/>
              </a:defRPr>
            </a:lvl1pPr>
            <a:lvl2pPr algn="l">
              <a:defRPr sz="1875" b="1">
                <a:solidFill>
                  <a:srgbClr val="176B4D"/>
                </a:solidFill>
                <a:latin typeface="Malgun Gothic"/>
                <a:ea typeface="Malgun Gothic"/>
                <a:cs typeface="Malgun Gothic"/>
              </a:defRPr>
            </a:lvl2pPr>
            <a:lvl3pPr algn="l">
              <a:defRPr sz="1875" b="1">
                <a:solidFill>
                  <a:srgbClr val="176B4D"/>
                </a:solidFill>
                <a:latin typeface="Malgun Gothic"/>
                <a:ea typeface="Malgun Gothic"/>
                <a:cs typeface="Malgun Gothic"/>
              </a:defRPr>
            </a:lvl3pPr>
            <a:lvl4pPr algn="l">
              <a:defRPr sz="1875" b="1">
                <a:solidFill>
                  <a:srgbClr val="176B4D"/>
                </a:solidFill>
                <a:latin typeface="Malgun Gothic"/>
                <a:ea typeface="Malgun Gothic"/>
                <a:cs typeface="Malgun Gothic"/>
              </a:defRPr>
            </a:lvl4pPr>
            <a:lvl5pPr algn="l">
              <a:defRPr sz="1875" b="1">
                <a:solidFill>
                  <a:srgbClr val="176B4D"/>
                </a:solidFill>
                <a:latin typeface="Malgun Gothic"/>
                <a:ea typeface="Malgun Gothic"/>
                <a:cs typeface="Malgun Gothic"/>
              </a:defRPr>
            </a:lvl5pPr>
            <a:lvl6pPr algn="l">
              <a:defRPr sz="1875" b="1">
                <a:solidFill>
                  <a:srgbClr val="176B4D"/>
                </a:solidFill>
                <a:latin typeface="Malgun Gothic"/>
                <a:ea typeface="Malgun Gothic"/>
                <a:cs typeface="Malgun Gothic"/>
              </a:defRPr>
            </a:lvl6pPr>
            <a:lvl7pPr algn="l">
              <a:defRPr sz="1875" b="1">
                <a:solidFill>
                  <a:srgbClr val="176B4D"/>
                </a:solidFill>
                <a:latin typeface="Malgun Gothic"/>
                <a:ea typeface="Malgun Gothic"/>
                <a:cs typeface="Malgun Gothic"/>
              </a:defRPr>
            </a:lvl7pPr>
            <a:lvl8pPr algn="l">
              <a:defRPr sz="1875" b="1">
                <a:solidFill>
                  <a:srgbClr val="176B4D"/>
                </a:solidFill>
                <a:latin typeface="Malgun Gothic"/>
                <a:ea typeface="Malgun Gothic"/>
                <a:cs typeface="Malgun Gothic"/>
              </a:defRPr>
            </a:lvl8pPr>
            <a:lvl9pPr algn="l">
              <a:defRPr sz="1875" b="1">
                <a:solidFill>
                  <a:srgbClr val="176B4D"/>
                </a:solidFill>
                <a:latin typeface="Malgun Gothic"/>
                <a:ea typeface="Malgun Gothic"/>
                <a:cs typeface="Malgun Gothic"/>
              </a:defRPr>
            </a:lvl9pPr>
          </a:lstStyle>
          <a:p xmlns:a="http://schemas.openxmlformats.org/drawingml/2006/main">
            <a:pPr algn="l">
              <a:defRPr sz="1875" b="1">
                <a:solidFill>
                  <a:srgbClr val="176B4D"/>
                </a:solidFill>
                <a:latin typeface="Malgun Gothic"/>
                <a:ea typeface="Malgun Gothic"/>
                <a:cs typeface="Malgun Gothic"/>
              </a:defRPr>
            </a:pPr>
            <a:r>
              <a:rPr sz="1875" b="1">
                <a:solidFill>
                  <a:srgbClr val="176B4D"/>
                </a:solidFill>
                <a:latin typeface="Malgun Gothic"/>
                <a:ea typeface="Malgun Gothic"/>
                <a:cs typeface="Malgun Gothic"/>
              </a:rPr>
              <a:t>없음</a:t>
            </a:r>
          </a:p>
        </p:txBody>
      </p:sp>
      <p:sp>
        <p:nvSpPr>
          <p:cNvPr id="29" name="근거로 진행">
            <a:extLst xmlns:a="http://schemas.openxmlformats.org/drawingml/2006/main">
              <a:ext uri="{FF2B5EF4-FFF2-40B4-BE49-F238E27FC236}">
                <a16:creationId xmlns:a16="http://schemas.microsoft.com/office/drawing/2014/main" id="{F07D853C-E2D6-46B0-BED6-D4FFE66AF6E1}"/>
              </a:ext>
            </a:extLst>
          </p:cNvPr>
          <p:cNvSpPr>
            <a:spLocks xmlns:a="http://schemas.openxmlformats.org/drawingml/2006/main" noGrp="1"/>
          </p:cNvSpPr>
          <p:nvPr/>
        </p:nvSpPr>
        <p:spPr>
          <a:xfrm xmlns:a="http://schemas.openxmlformats.org/drawingml/2006/main">
            <a:off x="9124950" y="4295775"/>
            <a:ext cx="2457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근거로 진행</a:t>
            </a:r>
          </a:p>
        </p:txBody>
      </p:sp>
      <p:sp>
        <p:nvSpPr>
          <p:cNvPr id="30" name="있음">
            <a:extLst xmlns:a="http://schemas.openxmlformats.org/drawingml/2006/main">
              <a:ext uri="{FF2B5EF4-FFF2-40B4-BE49-F238E27FC236}">
                <a16:creationId xmlns:a16="http://schemas.microsoft.com/office/drawing/2014/main" id="{ED4DDB11-929B-43FF-80FB-36920DB96A83}"/>
              </a:ext>
            </a:extLst>
          </p:cNvPr>
          <p:cNvSpPr>
            <a:spLocks xmlns:a="http://schemas.openxmlformats.org/drawingml/2006/main" noGrp="1"/>
          </p:cNvSpPr>
          <p:nvPr/>
        </p:nvSpPr>
        <p:spPr>
          <a:xfrm xmlns:a="http://schemas.openxmlformats.org/drawingml/2006/main">
            <a:off x="8343900" y="4733925"/>
            <a:ext cx="628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있음</a:t>
            </a:r>
          </a:p>
        </p:txBody>
      </p:sp>
      <p:sp>
        <p:nvSpPr>
          <p:cNvPr id="31" name="영향 설명·질문">
            <a:extLst xmlns:a="http://schemas.openxmlformats.org/drawingml/2006/main">
              <a:ext uri="{FF2B5EF4-FFF2-40B4-BE49-F238E27FC236}">
                <a16:creationId xmlns:a16="http://schemas.microsoft.com/office/drawing/2014/main" id="{FAB1FF33-0993-4E00-8521-DAF3DC03B8B0}"/>
              </a:ext>
            </a:extLst>
          </p:cNvPr>
          <p:cNvSpPr>
            <a:spLocks xmlns:a="http://schemas.openxmlformats.org/drawingml/2006/main" noGrp="1"/>
          </p:cNvSpPr>
          <p:nvPr/>
        </p:nvSpPr>
        <p:spPr>
          <a:xfrm xmlns:a="http://schemas.openxmlformats.org/drawingml/2006/main">
            <a:off x="9124950" y="4733925"/>
            <a:ext cx="2457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영향 설명·질문</a:t>
            </a:r>
          </a:p>
        </p:txBody>
      </p:sp>
      <p:sp>
        <p:nvSpPr>
          <p:cNvPr id="32" name="조사할 사실은 찾게 하고, 결과를 바꾸는 결정은 묻는다.">
            <a:extLst xmlns:a="http://schemas.openxmlformats.org/drawingml/2006/main">
              <a:ext uri="{FF2B5EF4-FFF2-40B4-BE49-F238E27FC236}">
                <a16:creationId xmlns:a16="http://schemas.microsoft.com/office/drawing/2014/main" id="{64D32774-6884-480E-9153-4782B10BF96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조사할 사실은 찾게 하고, 결과를 바꾸는 결정은 묻는다.</a:t>
            </a:r>
          </a:p>
        </p:txBody>
      </p:sp>
      <p:sp>
        <p:nvSpPr>
          <p:cNvPr id="33" name="">
            <a:extLst xmlns:a="http://schemas.openxmlformats.org/drawingml/2006/main">
              <a:ext uri="{FF2B5EF4-FFF2-40B4-BE49-F238E27FC236}">
                <a16:creationId xmlns:a16="http://schemas.microsoft.com/office/drawing/2014/main" id="{D18EBDC3-6353-471E-8B56-AF7E062F759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E52D00F1-106B-4DB2-8C13-0CA0220DF15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35" name="Legacy module connection">
            <a:extLst xmlns:a="http://schemas.openxmlformats.org/drawingml/2006/main">
              <a:ext uri="{FF2B5EF4-FFF2-40B4-BE49-F238E27FC236}">
                <a16:creationId xmlns:a16="http://schemas.microsoft.com/office/drawing/2014/main" id="{186FFBA6-2565-4757-A0A9-F634D0535A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2182399"/>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1 · 요청 문장 도구 6/8 · 조건부">
            <a:extLst xmlns:a="http://schemas.openxmlformats.org/drawingml/2006/main">
              <a:ext uri="{FF2B5EF4-FFF2-40B4-BE49-F238E27FC236}">
                <a16:creationId xmlns:a16="http://schemas.microsoft.com/office/drawing/2014/main" id="{96580EAB-E6F6-4A72-B22D-DE8EBC980A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조건부</a:t>
            </a:r>
          </a:p>
        </p:txBody>
      </p:sp>
      <p:sp>
        <p:nvSpPr>
          <p:cNvPr id="2" name="S33">
            <a:extLst xmlns:a="http://schemas.openxmlformats.org/drawingml/2006/main">
              <a:ext uri="{FF2B5EF4-FFF2-40B4-BE49-F238E27FC236}">
                <a16:creationId xmlns:a16="http://schemas.microsoft.com/office/drawing/2014/main" id="{1079C59B-076D-46DC-A3FD-04558B3DB5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4EE89A09-4DEC-4A52-8CFE-A23B8AA42F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AE5103A1-1144-46D7-BA2F-40EFFC8A42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9E4DD2E-3518-457B-89BE-839A7E788B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Best practices · Plan first for difficult tasks</a:t>
            </a:r>
          </a:p>
        </p:txBody>
      </p:sp>
      <p:sp>
        <p:nvSpPr>
          <p:cNvPr id="6" name="Audience footer 2">
            <a:extLst xmlns:a="http://schemas.openxmlformats.org/drawingml/2006/main">
              <a:ext uri="{FF2B5EF4-FFF2-40B4-BE49-F238E27FC236}">
                <a16:creationId xmlns:a16="http://schemas.microsoft.com/office/drawing/2014/main" id="{2C2A1414-E1F1-4716-B5F9-83AC5C1F51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작업 계획과 검토 지점을 요청한다 · 내부 사고 과정의 출력을 요구하지 않음</a:t>
            </a:r>
          </a:p>
        </p:txBody>
      </p:sp>
      <p:sp>
        <p:nvSpPr>
          <p:cNvPr id="7" name="Task Decomposition">
            <a:extLst xmlns:a="http://schemas.openxmlformats.org/drawingml/2006/main">
              <a:ext uri="{FF2B5EF4-FFF2-40B4-BE49-F238E27FC236}">
                <a16:creationId xmlns:a16="http://schemas.microsoft.com/office/drawing/2014/main" id="{888969DF-F4DD-4E82-8F23-2432283FB4C5}"/>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Task Decomposition</a:t>
            </a:r>
          </a:p>
        </p:txBody>
      </p:sp>
      <p:sp>
        <p:nvSpPr>
          <p:cNvPr id="8" name="검토할 산출물과 단계 구분">
            <a:extLst xmlns:a="http://schemas.openxmlformats.org/drawingml/2006/main">
              <a:ext uri="{FF2B5EF4-FFF2-40B4-BE49-F238E27FC236}">
                <a16:creationId xmlns:a16="http://schemas.microsoft.com/office/drawing/2014/main" id="{35FEC205-A24B-4214-97EA-3B88EE540E75}"/>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검토할 산출물과 단계 구분</a:t>
            </a:r>
          </a:p>
        </p:txBody>
      </p:sp>
      <p:sp>
        <p:nvSpPr>
          <p:cNvPr id="9" name="사용 상황">
            <a:extLst xmlns:a="http://schemas.openxmlformats.org/drawingml/2006/main">
              <a:ext uri="{FF2B5EF4-FFF2-40B4-BE49-F238E27FC236}">
                <a16:creationId xmlns:a16="http://schemas.microsoft.com/office/drawing/2014/main" id="{D3837001-49A0-49B5-A4A9-76255B3023DB}"/>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조사 결과를 보고 구현 범위를 결정해야 할 때">
            <a:extLst xmlns:a="http://schemas.openxmlformats.org/drawingml/2006/main">
              <a:ext uri="{FF2B5EF4-FFF2-40B4-BE49-F238E27FC236}">
                <a16:creationId xmlns:a16="http://schemas.microsoft.com/office/drawing/2014/main" id="{A41A78FA-28E1-497D-A909-F9304C092899}"/>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결과를 보고 구현 범위를 결정해야 할 때</a:t>
            </a:r>
          </a:p>
        </p:txBody>
      </p:sp>
      <p:sp>
        <p:nvSpPr>
          <p:cNvPr id="11" name="">
            <a:extLst xmlns:a="http://schemas.openxmlformats.org/drawingml/2006/main">
              <a:ext uri="{FF2B5EF4-FFF2-40B4-BE49-F238E27FC236}">
                <a16:creationId xmlns:a16="http://schemas.microsoft.com/office/drawing/2014/main" id="{F842C3F9-AA2A-41B4-A703-CC66DA5D1D2C}"/>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6A1DE551-4DE3-4570-997D-3F0841F89355}"/>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C940F606-6A17-4BF8-B904-BED4D863DA91}"/>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992E8AB5-2C37-4B94-9EC3-2E9DF4899F04}"/>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ROI 설정을 crop에 연결하려 한다.">
            <a:extLst xmlns:a="http://schemas.openxmlformats.org/drawingml/2006/main">
              <a:ext uri="{FF2B5EF4-FFF2-40B4-BE49-F238E27FC236}">
                <a16:creationId xmlns:a16="http://schemas.microsoft.com/office/drawing/2014/main" id="{CD4C9197-B82F-4D43-A383-940878615997}"/>
              </a:ext>
            </a:extLst>
          </p:cNvPr>
          <p:cNvSpPr>
            <a:spLocks xmlns:a="http://schemas.openxmlformats.org/drawingml/2006/main" noGrp="1"/>
          </p:cNvSpPr>
          <p:nvPr/>
        </p:nvSpPr>
        <p:spPr>
          <a:xfrm xmlns:a="http://schemas.openxmlformats.org/drawingml/2006/main">
            <a:off x="895350" y="31623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ROI 설정을 crop에 연결하려 한다.</a:t>
            </a:r>
          </a:p>
        </p:txBody>
      </p:sp>
      <p:sp>
        <p:nvSpPr>
          <p:cNvPr id="16" name="">
            <a:extLst xmlns:a="http://schemas.openxmlformats.org/drawingml/2006/main">
              <a:ext uri="{FF2B5EF4-FFF2-40B4-BE49-F238E27FC236}">
                <a16:creationId xmlns:a16="http://schemas.microsoft.com/office/drawing/2014/main" id="{38B76E93-B613-4914-8E5B-E40E7DEC0671}"/>
              </a:ext>
            </a:extLst>
          </p:cNvPr>
          <p:cNvSpPr>
            <a:spLocks xmlns:a="http://schemas.openxmlformats.org/drawingml/2006/main" noGrp="1"/>
          </p:cNvSpPr>
          <p:nvPr/>
        </p:nvSpPr>
        <p:spPr>
          <a:xfrm xmlns:a="http://schemas.openxmlformats.org/drawingml/2006/main">
            <a:off x="800100" y="34861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먼저 현재 경로와 변경 후보를 조사해줘.">
            <a:extLst xmlns:a="http://schemas.openxmlformats.org/drawingml/2006/main">
              <a:ext uri="{FF2B5EF4-FFF2-40B4-BE49-F238E27FC236}">
                <a16:creationId xmlns:a16="http://schemas.microsoft.com/office/drawing/2014/main" id="{C1B78C6C-46C6-4D60-B48D-391AAA59BF8D}"/>
              </a:ext>
            </a:extLst>
          </p:cNvPr>
          <p:cNvSpPr>
            <a:spLocks xmlns:a="http://schemas.openxmlformats.org/drawingml/2006/main" noGrp="1"/>
          </p:cNvSpPr>
          <p:nvPr/>
        </p:nvSpPr>
        <p:spPr>
          <a:xfrm xmlns:a="http://schemas.openxmlformats.org/drawingml/2006/main">
            <a:off x="895350" y="34861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먼저 현재 경로와 변경 후보를 조사해줘.</a:t>
            </a:r>
          </a:p>
        </p:txBody>
      </p:sp>
      <p:sp>
        <p:nvSpPr>
          <p:cNvPr id="18" name="">
            <a:extLst xmlns:a="http://schemas.openxmlformats.org/drawingml/2006/main">
              <a:ext uri="{FF2B5EF4-FFF2-40B4-BE49-F238E27FC236}">
                <a16:creationId xmlns:a16="http://schemas.microsoft.com/office/drawing/2014/main" id="{C1DF55B7-E5CB-419A-A1F0-713B56061A1D}"/>
              </a:ext>
            </a:extLst>
          </p:cNvPr>
          <p:cNvSpPr>
            <a:spLocks xmlns:a="http://schemas.openxmlformats.org/drawingml/2006/main" noGrp="1"/>
          </p:cNvSpPr>
          <p:nvPr/>
        </p:nvSpPr>
        <p:spPr>
          <a:xfrm xmlns:a="http://schemas.openxmlformats.org/drawingml/2006/main">
            <a:off x="800100" y="38100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범위·호환성에 선택이 필요한 지점을 알려줘.">
            <a:extLst xmlns:a="http://schemas.openxmlformats.org/drawingml/2006/main">
              <a:ext uri="{FF2B5EF4-FFF2-40B4-BE49-F238E27FC236}">
                <a16:creationId xmlns:a16="http://schemas.microsoft.com/office/drawing/2014/main" id="{341FDE0C-9DBE-4806-B1B3-6EBC57C735A8}"/>
              </a:ext>
            </a:extLst>
          </p:cNvPr>
          <p:cNvSpPr>
            <a:spLocks xmlns:a="http://schemas.openxmlformats.org/drawingml/2006/main" noGrp="1"/>
          </p:cNvSpPr>
          <p:nvPr/>
        </p:nvSpPr>
        <p:spPr>
          <a:xfrm xmlns:a="http://schemas.openxmlformats.org/drawingml/2006/main">
            <a:off x="895350" y="38100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범위·호환성에 선택이 필요한 지점을 알려줘.</a:t>
            </a:r>
          </a:p>
        </p:txBody>
      </p:sp>
      <p:sp>
        <p:nvSpPr>
          <p:cNvPr id="20" name="">
            <a:extLst xmlns:a="http://schemas.openxmlformats.org/drawingml/2006/main">
              <a:ext uri="{FF2B5EF4-FFF2-40B4-BE49-F238E27FC236}">
                <a16:creationId xmlns:a16="http://schemas.microsoft.com/office/drawing/2014/main" id="{5FDE6464-1757-4541-8FFF-65B6B312025C}"/>
              </a:ext>
            </a:extLst>
          </p:cNvPr>
          <p:cNvSpPr>
            <a:spLocks xmlns:a="http://schemas.openxmlformats.org/drawingml/2006/main" noGrp="1"/>
          </p:cNvSpPr>
          <p:nvPr/>
        </p:nvSpPr>
        <p:spPr>
          <a:xfrm xmlns:a="http://schemas.openxmlformats.org/drawingml/2006/main">
            <a:off x="800100" y="41338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이번에는 수정 없이 계획만 제안해줘.">
            <a:extLst xmlns:a="http://schemas.openxmlformats.org/drawingml/2006/main">
              <a:ext uri="{FF2B5EF4-FFF2-40B4-BE49-F238E27FC236}">
                <a16:creationId xmlns:a16="http://schemas.microsoft.com/office/drawing/2014/main" id="{B09325F4-C61B-4E65-84A2-339CA3ED5E95}"/>
              </a:ext>
            </a:extLst>
          </p:cNvPr>
          <p:cNvSpPr>
            <a:spLocks xmlns:a="http://schemas.openxmlformats.org/drawingml/2006/main" noGrp="1"/>
          </p:cNvSpPr>
          <p:nvPr/>
        </p:nvSpPr>
        <p:spPr>
          <a:xfrm xmlns:a="http://schemas.openxmlformats.org/drawingml/2006/main">
            <a:off x="895350" y="41338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이번에는 수정 없이 계획만 제안해줘.</a:t>
            </a:r>
          </a:p>
        </p:txBody>
      </p:sp>
      <p:sp>
        <p:nvSpPr>
          <p:cNvPr id="22" name="">
            <a:extLst xmlns:a="http://schemas.openxmlformats.org/drawingml/2006/main">
              <a:ext uri="{FF2B5EF4-FFF2-40B4-BE49-F238E27FC236}">
                <a16:creationId xmlns:a16="http://schemas.microsoft.com/office/drawing/2014/main" id="{98813FC4-25AF-4871-934A-3467ADD60162}"/>
              </a:ext>
            </a:extLst>
          </p:cNvPr>
          <p:cNvSpPr>
            <a:spLocks xmlns:a="http://schemas.openxmlformats.org/drawingml/2006/main" noGrp="1"/>
          </p:cNvSpPr>
          <p:nvPr/>
        </p:nvSpPr>
        <p:spPr>
          <a:xfrm xmlns:a="http://schemas.openxmlformats.org/drawingml/2006/main">
            <a:off x="895350" y="44577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r>
              <a:t/>
            </a:r>
          </a:p>
        </p:txBody>
      </p:sp>
      <p:sp>
        <p:nvSpPr>
          <p:cNvPr id="23" name="계획을 검토한 뒤 구현 범위를 정하겠다.">
            <a:extLst xmlns:a="http://schemas.openxmlformats.org/drawingml/2006/main">
              <a:ext uri="{FF2B5EF4-FFF2-40B4-BE49-F238E27FC236}">
                <a16:creationId xmlns:a16="http://schemas.microsoft.com/office/drawing/2014/main" id="{A16936A1-2546-459D-9510-DBB6CCEF0630}"/>
              </a:ext>
            </a:extLst>
          </p:cNvPr>
          <p:cNvSpPr>
            <a:spLocks xmlns:a="http://schemas.openxmlformats.org/drawingml/2006/main" noGrp="1"/>
          </p:cNvSpPr>
          <p:nvPr/>
        </p:nvSpPr>
        <p:spPr>
          <a:xfrm xmlns:a="http://schemas.openxmlformats.org/drawingml/2006/main">
            <a:off x="895350" y="47815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계획을 검토한 뒤 구현 범위를 정하겠다.</a:t>
            </a:r>
          </a:p>
        </p:txBody>
      </p:sp>
      <p:sp>
        <p:nvSpPr>
          <p:cNvPr id="24" name="검토할 산출물">
            <a:extLst xmlns:a="http://schemas.openxmlformats.org/drawingml/2006/main">
              <a:ext uri="{FF2B5EF4-FFF2-40B4-BE49-F238E27FC236}">
                <a16:creationId xmlns:a16="http://schemas.microsoft.com/office/drawing/2014/main" id="{CF61B92F-9210-42B7-8B6D-CF77E5CEDFA6}"/>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검토할 산출물</a:t>
            </a:r>
          </a:p>
        </p:txBody>
      </p:sp>
      <p:sp>
        <p:nvSpPr>
          <p:cNvPr id="25" name="01">
            <a:extLst xmlns:a="http://schemas.openxmlformats.org/drawingml/2006/main">
              <a:ext uri="{FF2B5EF4-FFF2-40B4-BE49-F238E27FC236}">
                <a16:creationId xmlns:a16="http://schemas.microsoft.com/office/drawing/2014/main" id="{6286F998-EC89-4F36-9442-24532E75C506}"/>
              </a:ext>
            </a:extLst>
          </p:cNvPr>
          <p:cNvSpPr>
            <a:spLocks xmlns:a="http://schemas.openxmlformats.org/drawingml/2006/main" noGrp="1"/>
          </p:cNvSpPr>
          <p:nvPr/>
        </p:nvSpPr>
        <p:spPr>
          <a:xfrm xmlns:a="http://schemas.openxmlformats.org/drawingml/2006/main">
            <a:off x="8343900" y="314325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26" name="현재 경로와 후보">
            <a:extLst xmlns:a="http://schemas.openxmlformats.org/drawingml/2006/main">
              <a:ext uri="{FF2B5EF4-FFF2-40B4-BE49-F238E27FC236}">
                <a16:creationId xmlns:a16="http://schemas.microsoft.com/office/drawing/2014/main" id="{D828D01E-DC59-4718-BA4D-1B5D38C6891F}"/>
              </a:ext>
            </a:extLst>
          </p:cNvPr>
          <p:cNvSpPr>
            <a:spLocks xmlns:a="http://schemas.openxmlformats.org/drawingml/2006/main" noGrp="1"/>
          </p:cNvSpPr>
          <p:nvPr/>
        </p:nvSpPr>
        <p:spPr>
          <a:xfrm xmlns:a="http://schemas.openxmlformats.org/drawingml/2006/main">
            <a:off x="8801100" y="3143250"/>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경로와 후보</a:t>
            </a:r>
          </a:p>
        </p:txBody>
      </p:sp>
      <p:sp>
        <p:nvSpPr>
          <p:cNvPr id="27" name="조사해서 확인">
            <a:extLst xmlns:a="http://schemas.openxmlformats.org/drawingml/2006/main">
              <a:ext uri="{FF2B5EF4-FFF2-40B4-BE49-F238E27FC236}">
                <a16:creationId xmlns:a16="http://schemas.microsoft.com/office/drawing/2014/main" id="{51EF8085-96E8-4955-BD16-18BE1AFF9094}"/>
              </a:ext>
            </a:extLst>
          </p:cNvPr>
          <p:cNvSpPr>
            <a:spLocks xmlns:a="http://schemas.openxmlformats.org/drawingml/2006/main" noGrp="1"/>
          </p:cNvSpPr>
          <p:nvPr/>
        </p:nvSpPr>
        <p:spPr>
          <a:xfrm xmlns:a="http://schemas.openxmlformats.org/drawingml/2006/main">
            <a:off x="8801100" y="347662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조사해서 확인</a:t>
            </a:r>
          </a:p>
        </p:txBody>
      </p:sp>
      <p:sp>
        <p:nvSpPr>
          <p:cNvPr id="28" name="">
            <a:extLst xmlns:a="http://schemas.openxmlformats.org/drawingml/2006/main">
              <a:ext uri="{FF2B5EF4-FFF2-40B4-BE49-F238E27FC236}">
                <a16:creationId xmlns:a16="http://schemas.microsoft.com/office/drawing/2014/main" id="{B0356A08-612A-4A55-B4BD-BB8D89B321C0}"/>
              </a:ext>
            </a:extLst>
          </p:cNvPr>
          <p:cNvSpPr>
            <a:spLocks xmlns:a="http://schemas.openxmlformats.org/drawingml/2006/main" noGrp="1"/>
          </p:cNvSpPr>
          <p:nvPr/>
        </p:nvSpPr>
        <p:spPr>
          <a:xfrm xmlns:a="http://schemas.openxmlformats.org/drawingml/2006/main">
            <a:off x="8343900" y="380047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02">
            <a:extLst xmlns:a="http://schemas.openxmlformats.org/drawingml/2006/main">
              <a:ext uri="{FF2B5EF4-FFF2-40B4-BE49-F238E27FC236}">
                <a16:creationId xmlns:a16="http://schemas.microsoft.com/office/drawing/2014/main" id="{42059682-B864-4834-AA1D-D6482073C265}"/>
              </a:ext>
            </a:extLst>
          </p:cNvPr>
          <p:cNvSpPr>
            <a:spLocks xmlns:a="http://schemas.openxmlformats.org/drawingml/2006/main" noGrp="1"/>
          </p:cNvSpPr>
          <p:nvPr/>
        </p:nvSpPr>
        <p:spPr>
          <a:xfrm xmlns:a="http://schemas.openxmlformats.org/drawingml/2006/main">
            <a:off x="8343900" y="388620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30" name="구현 전 계획">
            <a:extLst xmlns:a="http://schemas.openxmlformats.org/drawingml/2006/main">
              <a:ext uri="{FF2B5EF4-FFF2-40B4-BE49-F238E27FC236}">
                <a16:creationId xmlns:a16="http://schemas.microsoft.com/office/drawing/2014/main" id="{88F8A35E-6DF4-422B-9479-0EC3B4887F1D}"/>
              </a:ext>
            </a:extLst>
          </p:cNvPr>
          <p:cNvSpPr>
            <a:spLocks xmlns:a="http://schemas.openxmlformats.org/drawingml/2006/main" noGrp="1"/>
          </p:cNvSpPr>
          <p:nvPr/>
        </p:nvSpPr>
        <p:spPr>
          <a:xfrm xmlns:a="http://schemas.openxmlformats.org/drawingml/2006/main">
            <a:off x="8801100" y="3886200"/>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구현 전 계획</a:t>
            </a:r>
          </a:p>
        </p:txBody>
      </p:sp>
      <p:sp>
        <p:nvSpPr>
          <p:cNvPr id="31" name="선택할 범위·영향">
            <a:extLst xmlns:a="http://schemas.openxmlformats.org/drawingml/2006/main">
              <a:ext uri="{FF2B5EF4-FFF2-40B4-BE49-F238E27FC236}">
                <a16:creationId xmlns:a16="http://schemas.microsoft.com/office/drawing/2014/main" id="{BDEFFDAD-08BB-4575-A0F6-544D7662365E}"/>
              </a:ext>
            </a:extLst>
          </p:cNvPr>
          <p:cNvSpPr>
            <a:spLocks xmlns:a="http://schemas.openxmlformats.org/drawingml/2006/main" noGrp="1"/>
          </p:cNvSpPr>
          <p:nvPr/>
        </p:nvSpPr>
        <p:spPr>
          <a:xfrm xmlns:a="http://schemas.openxmlformats.org/drawingml/2006/main">
            <a:off x="8801100" y="42195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선택할 범위·영향</a:t>
            </a:r>
          </a:p>
        </p:txBody>
      </p:sp>
      <p:sp>
        <p:nvSpPr>
          <p:cNvPr id="32" name="">
            <a:extLst xmlns:a="http://schemas.openxmlformats.org/drawingml/2006/main">
              <a:ext uri="{FF2B5EF4-FFF2-40B4-BE49-F238E27FC236}">
                <a16:creationId xmlns:a16="http://schemas.microsoft.com/office/drawing/2014/main" id="{82150126-1186-4AEC-8438-BFDBE20E9B91}"/>
              </a:ext>
            </a:extLst>
          </p:cNvPr>
          <p:cNvSpPr>
            <a:spLocks xmlns:a="http://schemas.openxmlformats.org/drawingml/2006/main" noGrp="1"/>
          </p:cNvSpPr>
          <p:nvPr/>
        </p:nvSpPr>
        <p:spPr>
          <a:xfrm xmlns:a="http://schemas.openxmlformats.org/drawingml/2006/main">
            <a:off x="8343900" y="454342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03">
            <a:extLst xmlns:a="http://schemas.openxmlformats.org/drawingml/2006/main">
              <a:ext uri="{FF2B5EF4-FFF2-40B4-BE49-F238E27FC236}">
                <a16:creationId xmlns:a16="http://schemas.microsoft.com/office/drawing/2014/main" id="{665EC131-6B85-4132-BFC4-1EABB66589BF}"/>
              </a:ext>
            </a:extLst>
          </p:cNvPr>
          <p:cNvSpPr>
            <a:spLocks xmlns:a="http://schemas.openxmlformats.org/drawingml/2006/main" noGrp="1"/>
          </p:cNvSpPr>
          <p:nvPr/>
        </p:nvSpPr>
        <p:spPr>
          <a:xfrm xmlns:a="http://schemas.openxmlformats.org/drawingml/2006/main">
            <a:off x="8343900" y="462915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34" name="구현 범위 선택">
            <a:extLst xmlns:a="http://schemas.openxmlformats.org/drawingml/2006/main">
              <a:ext uri="{FF2B5EF4-FFF2-40B4-BE49-F238E27FC236}">
                <a16:creationId xmlns:a16="http://schemas.microsoft.com/office/drawing/2014/main" id="{1D72B122-E111-490E-B658-E651449BE1C5}"/>
              </a:ext>
            </a:extLst>
          </p:cNvPr>
          <p:cNvSpPr>
            <a:spLocks xmlns:a="http://schemas.openxmlformats.org/drawingml/2006/main" noGrp="1"/>
          </p:cNvSpPr>
          <p:nvPr/>
        </p:nvSpPr>
        <p:spPr>
          <a:xfrm xmlns:a="http://schemas.openxmlformats.org/drawingml/2006/main">
            <a:off x="8801100" y="4629150"/>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구현 범위 선택</a:t>
            </a:r>
          </a:p>
        </p:txBody>
      </p:sp>
      <p:sp>
        <p:nvSpPr>
          <p:cNvPr id="35" name="중간 판단이 필요한 작업은, 구현 전에 검토할 계획을 받는다.">
            <a:extLst xmlns:a="http://schemas.openxmlformats.org/drawingml/2006/main">
              <a:ext uri="{FF2B5EF4-FFF2-40B4-BE49-F238E27FC236}">
                <a16:creationId xmlns:a16="http://schemas.microsoft.com/office/drawing/2014/main" id="{EF7D27E1-B006-4CBE-B01C-ECD37F1CA74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중간 판단이 필요한 작업은, 구현 전에 검토할 계획을 받는다.</a:t>
            </a:r>
          </a:p>
        </p:txBody>
      </p:sp>
      <p:sp>
        <p:nvSpPr>
          <p:cNvPr id="36" name="">
            <a:extLst xmlns:a="http://schemas.openxmlformats.org/drawingml/2006/main">
              <a:ext uri="{FF2B5EF4-FFF2-40B4-BE49-F238E27FC236}">
                <a16:creationId xmlns:a16="http://schemas.microsoft.com/office/drawing/2014/main" id="{3D41A31E-D21D-476B-A115-0A198593EB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7" name="Practical application tip badge">
            <a:extLst xmlns:a="http://schemas.openxmlformats.org/drawingml/2006/main">
              <a:ext uri="{FF2B5EF4-FFF2-40B4-BE49-F238E27FC236}">
                <a16:creationId xmlns:a16="http://schemas.microsoft.com/office/drawing/2014/main" id="{48BDEE85-77B7-4BA0-8B26-B17D5E66E9E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38" name="Legacy module connection">
            <a:extLst xmlns:a="http://schemas.openxmlformats.org/drawingml/2006/main">
              <a:ext uri="{FF2B5EF4-FFF2-40B4-BE49-F238E27FC236}">
                <a16:creationId xmlns:a16="http://schemas.microsoft.com/office/drawing/2014/main" id="{D9651403-176D-4149-B5CC-073E0F04BC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3659328"/>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1 · 요청 문장 도구 7/8 · 핵심">
            <a:extLst xmlns:a="http://schemas.openxmlformats.org/drawingml/2006/main">
              <a:ext uri="{FF2B5EF4-FFF2-40B4-BE49-F238E27FC236}">
                <a16:creationId xmlns:a16="http://schemas.microsoft.com/office/drawing/2014/main" id="{95D06F66-9876-4E5C-8868-E537B962F7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핵심</a:t>
            </a:r>
          </a:p>
        </p:txBody>
      </p:sp>
      <p:sp>
        <p:nvSpPr>
          <p:cNvPr id="2" name="S34">
            <a:extLst xmlns:a="http://schemas.openxmlformats.org/drawingml/2006/main">
              <a:ext uri="{FF2B5EF4-FFF2-40B4-BE49-F238E27FC236}">
                <a16:creationId xmlns:a16="http://schemas.microsoft.com/office/drawing/2014/main" id="{B0526133-3869-4841-8F7A-F8E2922066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55BD1149-FCEA-4CE9-B0B4-D08BBE59B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F558DC80-8B40-4F2A-9396-34C60B2C32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DF2C51A-6B07-44C2-BA97-F9971E1A3A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Best practices · Improve reliability with testing and review</a:t>
            </a:r>
          </a:p>
        </p:txBody>
      </p:sp>
      <p:sp>
        <p:nvSpPr>
          <p:cNvPr id="6" name="Audience footer 2">
            <a:extLst xmlns:a="http://schemas.openxmlformats.org/drawingml/2006/main">
              <a:ext uri="{FF2B5EF4-FFF2-40B4-BE49-F238E27FC236}">
                <a16:creationId xmlns:a16="http://schemas.microsoft.com/office/drawing/2014/main" id="{195F414B-37D5-488F-9461-9F92D8F956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리뷰에도 누락이 있을 수 있다 · 실행 근거와 사람의 완료 판단을 함께 확인</a:t>
            </a:r>
          </a:p>
        </p:txBody>
      </p:sp>
      <p:sp>
        <p:nvSpPr>
          <p:cNvPr id="7" name="Criteria-based Review">
            <a:extLst xmlns:a="http://schemas.openxmlformats.org/drawingml/2006/main">
              <a:ext uri="{FF2B5EF4-FFF2-40B4-BE49-F238E27FC236}">
                <a16:creationId xmlns:a16="http://schemas.microsoft.com/office/drawing/2014/main" id="{3E16318B-2B37-4EC6-9123-5F02B6E5931C}"/>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Criteria-based Review</a:t>
            </a:r>
          </a:p>
        </p:txBody>
      </p:sp>
      <p:sp>
        <p:nvSpPr>
          <p:cNvPr id="8" name="기준을 지정한 변경 검토">
            <a:extLst xmlns:a="http://schemas.openxmlformats.org/drawingml/2006/main">
              <a:ext uri="{FF2B5EF4-FFF2-40B4-BE49-F238E27FC236}">
                <a16:creationId xmlns:a16="http://schemas.microsoft.com/office/drawing/2014/main" id="{F6C984FF-CF66-4BD7-A90A-C4510B540A40}"/>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기준을 지정한 변경 검토</a:t>
            </a:r>
          </a:p>
        </p:txBody>
      </p:sp>
      <p:sp>
        <p:nvSpPr>
          <p:cNvPr id="9" name="사용 상황">
            <a:extLst xmlns:a="http://schemas.openxmlformats.org/drawingml/2006/main">
              <a:ext uri="{FF2B5EF4-FFF2-40B4-BE49-F238E27FC236}">
                <a16:creationId xmlns:a16="http://schemas.microsoft.com/office/drawing/2014/main" id="{1ABEA07B-A535-490B-81C2-B361D1015953}"/>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변경안에서 놓치면 안 될 문제를 검토할 때">
            <a:extLst xmlns:a="http://schemas.openxmlformats.org/drawingml/2006/main">
              <a:ext uri="{FF2B5EF4-FFF2-40B4-BE49-F238E27FC236}">
                <a16:creationId xmlns:a16="http://schemas.microsoft.com/office/drawing/2014/main" id="{3336A2DC-C0AE-4EEB-B883-986260462E8C}"/>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변경안에서 놓치면 안 될 문제를 검토할 때</a:t>
            </a:r>
          </a:p>
        </p:txBody>
      </p:sp>
      <p:sp>
        <p:nvSpPr>
          <p:cNvPr id="11" name="">
            <a:extLst xmlns:a="http://schemas.openxmlformats.org/drawingml/2006/main">
              <a:ext uri="{FF2B5EF4-FFF2-40B4-BE49-F238E27FC236}">
                <a16:creationId xmlns:a16="http://schemas.microsoft.com/office/drawing/2014/main" id="{659A04D3-5137-4AC3-9A78-44F08D161C98}"/>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21AE9600-463B-48DD-9F28-6E5F3C0EABA7}"/>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CAF7789E-4E72-4AF2-BB1F-A23E5C597E32}"/>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FADB002C-1ED8-4364-820C-43286134B435}"/>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crop 변경안에서 다음을 검토해줘.">
            <a:extLst xmlns:a="http://schemas.openxmlformats.org/drawingml/2006/main">
              <a:ext uri="{FF2B5EF4-FFF2-40B4-BE49-F238E27FC236}">
                <a16:creationId xmlns:a16="http://schemas.microsoft.com/office/drawing/2014/main" id="{CC48405E-1791-44B1-A4CA-434A26C33DF8}"/>
              </a:ext>
            </a:extLst>
          </p:cNvPr>
          <p:cNvSpPr>
            <a:spLocks xmlns:a="http://schemas.openxmlformats.org/drawingml/2006/main" noGrp="1"/>
          </p:cNvSpPr>
          <p:nvPr/>
        </p:nvSpPr>
        <p:spPr>
          <a:xfrm xmlns:a="http://schemas.openxmlformats.org/drawingml/2006/main">
            <a:off x="895350" y="31623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변경안에서 다음을 검토해줘.</a:t>
            </a:r>
          </a:p>
        </p:txBody>
      </p:sp>
      <p:sp>
        <p:nvSpPr>
          <p:cNvPr id="16" name="">
            <a:extLst xmlns:a="http://schemas.openxmlformats.org/drawingml/2006/main">
              <a:ext uri="{FF2B5EF4-FFF2-40B4-BE49-F238E27FC236}">
                <a16:creationId xmlns:a16="http://schemas.microsoft.com/office/drawing/2014/main" id="{2541185A-337C-467B-8213-94D188878353}"/>
              </a:ext>
            </a:extLst>
          </p:cNvPr>
          <p:cNvSpPr>
            <a:spLocks xmlns:a="http://schemas.openxmlformats.org/drawingml/2006/main" noGrp="1"/>
          </p:cNvSpPr>
          <p:nvPr/>
        </p:nvSpPr>
        <p:spPr>
          <a:xfrm xmlns:a="http://schemas.openxmlformats.org/drawingml/2006/main">
            <a:off x="800100" y="34861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끝 좌표 제외 명세·공개 API·오류 정책 보존">
            <a:extLst xmlns:a="http://schemas.openxmlformats.org/drawingml/2006/main">
              <a:ext uri="{FF2B5EF4-FFF2-40B4-BE49-F238E27FC236}">
                <a16:creationId xmlns:a16="http://schemas.microsoft.com/office/drawing/2014/main" id="{B7908C80-4E3F-44C5-86FE-EA46486F6016}"/>
              </a:ext>
            </a:extLst>
          </p:cNvPr>
          <p:cNvSpPr>
            <a:spLocks xmlns:a="http://schemas.openxmlformats.org/drawingml/2006/main" noGrp="1"/>
          </p:cNvSpPr>
          <p:nvPr/>
        </p:nvSpPr>
        <p:spPr>
          <a:xfrm xmlns:a="http://schemas.openxmlformats.org/drawingml/2006/main">
            <a:off x="895350" y="34861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끝 좌표 제외 명세·공개 API·오류 정책 보존</a:t>
            </a:r>
          </a:p>
        </p:txBody>
      </p:sp>
      <p:sp>
        <p:nvSpPr>
          <p:cNvPr id="18" name="">
            <a:extLst xmlns:a="http://schemas.openxmlformats.org/drawingml/2006/main">
              <a:ext uri="{FF2B5EF4-FFF2-40B4-BE49-F238E27FC236}">
                <a16:creationId xmlns:a16="http://schemas.microsoft.com/office/drawing/2014/main" id="{2B5389F8-4D2F-4FE2-B1D6-96C8BAB83FAA}"/>
              </a:ext>
            </a:extLst>
          </p:cNvPr>
          <p:cNvSpPr>
            <a:spLocks xmlns:a="http://schemas.openxmlformats.org/drawingml/2006/main" noGrp="1"/>
          </p:cNvSpPr>
          <p:nvPr/>
        </p:nvSpPr>
        <p:spPr>
          <a:xfrm xmlns:a="http://schemas.openxmlformats.org/drawingml/2006/main">
            <a:off x="800100" y="38100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요청과 무관한 변경 여부">
            <a:extLst xmlns:a="http://schemas.openxmlformats.org/drawingml/2006/main">
              <a:ext uri="{FF2B5EF4-FFF2-40B4-BE49-F238E27FC236}">
                <a16:creationId xmlns:a16="http://schemas.microsoft.com/office/drawing/2014/main" id="{BB204EA3-4AD6-48DC-A271-DADD834B8341}"/>
              </a:ext>
            </a:extLst>
          </p:cNvPr>
          <p:cNvSpPr>
            <a:spLocks xmlns:a="http://schemas.openxmlformats.org/drawingml/2006/main" noGrp="1"/>
          </p:cNvSpPr>
          <p:nvPr/>
        </p:nvSpPr>
        <p:spPr>
          <a:xfrm xmlns:a="http://schemas.openxmlformats.org/drawingml/2006/main">
            <a:off x="895350" y="38100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요청과 무관한 변경 여부</a:t>
            </a:r>
          </a:p>
        </p:txBody>
      </p:sp>
      <p:sp>
        <p:nvSpPr>
          <p:cNvPr id="20" name="">
            <a:extLst xmlns:a="http://schemas.openxmlformats.org/drawingml/2006/main">
              <a:ext uri="{FF2B5EF4-FFF2-40B4-BE49-F238E27FC236}">
                <a16:creationId xmlns:a16="http://schemas.microsoft.com/office/drawing/2014/main" id="{7BEC323C-85E5-4365-88E0-7A3F9DD0C355}"/>
              </a:ext>
            </a:extLst>
          </p:cNvPr>
          <p:cNvSpPr>
            <a:spLocks xmlns:a="http://schemas.openxmlformats.org/drawingml/2006/main" noGrp="1"/>
          </p:cNvSpPr>
          <p:nvPr/>
        </p:nvSpPr>
        <p:spPr>
          <a:xfrm xmlns:a="http://schemas.openxmlformats.org/drawingml/2006/main">
            <a:off x="800100" y="41338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발견 사항은 위치·실패 조건·영향으로 보고해줘.">
            <a:extLst xmlns:a="http://schemas.openxmlformats.org/drawingml/2006/main">
              <a:ext uri="{FF2B5EF4-FFF2-40B4-BE49-F238E27FC236}">
                <a16:creationId xmlns:a16="http://schemas.microsoft.com/office/drawing/2014/main" id="{0B011588-6887-49B7-AA84-7B2B1EFF227C}"/>
              </a:ext>
            </a:extLst>
          </p:cNvPr>
          <p:cNvSpPr>
            <a:spLocks xmlns:a="http://schemas.openxmlformats.org/drawingml/2006/main" noGrp="1"/>
          </p:cNvSpPr>
          <p:nvPr/>
        </p:nvSpPr>
        <p:spPr>
          <a:xfrm xmlns:a="http://schemas.openxmlformats.org/drawingml/2006/main">
            <a:off x="895350" y="41338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발견 사항은 위치·실패 조건·영향으로 보고해줘.</a:t>
            </a:r>
          </a:p>
        </p:txBody>
      </p:sp>
      <p:sp>
        <p:nvSpPr>
          <p:cNvPr id="22" name="정적 검토와 실제 실행한 검사를 구분해줘.">
            <a:extLst xmlns:a="http://schemas.openxmlformats.org/drawingml/2006/main">
              <a:ext uri="{FF2B5EF4-FFF2-40B4-BE49-F238E27FC236}">
                <a16:creationId xmlns:a16="http://schemas.microsoft.com/office/drawing/2014/main" id="{29B40046-B88C-464D-ADAF-88505381AFF4}"/>
              </a:ext>
            </a:extLst>
          </p:cNvPr>
          <p:cNvSpPr>
            <a:spLocks xmlns:a="http://schemas.openxmlformats.org/drawingml/2006/main" noGrp="1"/>
          </p:cNvSpPr>
          <p:nvPr/>
        </p:nvSpPr>
        <p:spPr>
          <a:xfrm xmlns:a="http://schemas.openxmlformats.org/drawingml/2006/main">
            <a:off x="895350" y="44577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정적 검토와 실제 실행한 검사를 구분해줘.</a:t>
            </a:r>
          </a:p>
        </p:txBody>
      </p:sp>
      <p:sp>
        <p:nvSpPr>
          <p:cNvPr id="23" name="이번에는 코드를 바꾸지 마.">
            <a:extLst xmlns:a="http://schemas.openxmlformats.org/drawingml/2006/main">
              <a:ext uri="{FF2B5EF4-FFF2-40B4-BE49-F238E27FC236}">
                <a16:creationId xmlns:a16="http://schemas.microsoft.com/office/drawing/2014/main" id="{EEABC107-A403-4C2F-8B07-5AE654C3E5AA}"/>
              </a:ext>
            </a:extLst>
          </p:cNvPr>
          <p:cNvSpPr>
            <a:spLocks xmlns:a="http://schemas.openxmlformats.org/drawingml/2006/main" noGrp="1"/>
          </p:cNvSpPr>
          <p:nvPr/>
        </p:nvSpPr>
        <p:spPr>
          <a:xfrm xmlns:a="http://schemas.openxmlformats.org/drawingml/2006/main">
            <a:off x="895350" y="47815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이번에는 코드를 바꾸지 마.</a:t>
            </a:r>
          </a:p>
        </p:txBody>
      </p:sp>
      <p:sp>
        <p:nvSpPr>
          <p:cNvPr id="24" name="변경안을 볼 기준">
            <a:extLst xmlns:a="http://schemas.openxmlformats.org/drawingml/2006/main">
              <a:ext uri="{FF2B5EF4-FFF2-40B4-BE49-F238E27FC236}">
                <a16:creationId xmlns:a16="http://schemas.microsoft.com/office/drawing/2014/main" id="{3477283E-7889-4A93-BD94-5318558C941C}"/>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변경안을 볼 기준</a:t>
            </a:r>
          </a:p>
        </p:txBody>
      </p:sp>
      <p:sp>
        <p:nvSpPr>
          <p:cNvPr id="25" name="명세와 맞는가?">
            <a:extLst xmlns:a="http://schemas.openxmlformats.org/drawingml/2006/main">
              <a:ext uri="{FF2B5EF4-FFF2-40B4-BE49-F238E27FC236}">
                <a16:creationId xmlns:a16="http://schemas.microsoft.com/office/drawing/2014/main" id="{65DE0D2D-FD99-42C8-B4DE-20AA77013E9C}"/>
              </a:ext>
            </a:extLst>
          </p:cNvPr>
          <p:cNvSpPr>
            <a:spLocks xmlns:a="http://schemas.openxmlformats.org/drawingml/2006/main" noGrp="1"/>
          </p:cNvSpPr>
          <p:nvPr/>
        </p:nvSpPr>
        <p:spPr>
          <a:xfrm xmlns:a="http://schemas.openxmlformats.org/drawingml/2006/main">
            <a:off x="8343900" y="31527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맞는가?</a:t>
            </a:r>
          </a:p>
        </p:txBody>
      </p:sp>
      <p:sp>
        <p:nvSpPr>
          <p:cNvPr id="26" name="">
            <a:extLst xmlns:a="http://schemas.openxmlformats.org/drawingml/2006/main">
              <a:ext uri="{FF2B5EF4-FFF2-40B4-BE49-F238E27FC236}">
                <a16:creationId xmlns:a16="http://schemas.microsoft.com/office/drawing/2014/main" id="{45153142-8397-48F2-A021-0C6931EF6A25}"/>
              </a:ext>
            </a:extLst>
          </p:cNvPr>
          <p:cNvSpPr>
            <a:spLocks xmlns:a="http://schemas.openxmlformats.org/drawingml/2006/main" noGrp="1"/>
          </p:cNvSpPr>
          <p:nvPr/>
        </p:nvSpPr>
        <p:spPr>
          <a:xfrm xmlns:a="http://schemas.openxmlformats.org/drawingml/2006/main">
            <a:off x="8343900" y="353377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공개 API를 보존했나?">
            <a:extLst xmlns:a="http://schemas.openxmlformats.org/drawingml/2006/main">
              <a:ext uri="{FF2B5EF4-FFF2-40B4-BE49-F238E27FC236}">
                <a16:creationId xmlns:a16="http://schemas.microsoft.com/office/drawing/2014/main" id="{94FBDB8D-A69B-4CA2-996B-C08A88F9C5FE}"/>
              </a:ext>
            </a:extLst>
          </p:cNvPr>
          <p:cNvSpPr>
            <a:spLocks xmlns:a="http://schemas.openxmlformats.org/drawingml/2006/main" noGrp="1"/>
          </p:cNvSpPr>
          <p:nvPr/>
        </p:nvSpPr>
        <p:spPr>
          <a:xfrm xmlns:a="http://schemas.openxmlformats.org/drawingml/2006/main">
            <a:off x="8343900" y="361950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공개 API를 보존했나?</a:t>
            </a:r>
          </a:p>
        </p:txBody>
      </p:sp>
      <p:sp>
        <p:nvSpPr>
          <p:cNvPr id="28" name="">
            <a:extLst xmlns:a="http://schemas.openxmlformats.org/drawingml/2006/main">
              <a:ext uri="{FF2B5EF4-FFF2-40B4-BE49-F238E27FC236}">
                <a16:creationId xmlns:a16="http://schemas.microsoft.com/office/drawing/2014/main" id="{D840F3B3-14B7-4F8E-9B49-EC7CF5876A70}"/>
              </a:ext>
            </a:extLst>
          </p:cNvPr>
          <p:cNvSpPr>
            <a:spLocks xmlns:a="http://schemas.openxmlformats.org/drawingml/2006/main" noGrp="1"/>
          </p:cNvSpPr>
          <p:nvPr/>
        </p:nvSpPr>
        <p:spPr>
          <a:xfrm xmlns:a="http://schemas.openxmlformats.org/drawingml/2006/main">
            <a:off x="8343900" y="4000500"/>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요청한 범위만 바꿨나?">
            <a:extLst xmlns:a="http://schemas.openxmlformats.org/drawingml/2006/main">
              <a:ext uri="{FF2B5EF4-FFF2-40B4-BE49-F238E27FC236}">
                <a16:creationId xmlns:a16="http://schemas.microsoft.com/office/drawing/2014/main" id="{7301A3EA-0BB0-418C-8320-0BC3DE06FD77}"/>
              </a:ext>
            </a:extLst>
          </p:cNvPr>
          <p:cNvSpPr>
            <a:spLocks xmlns:a="http://schemas.openxmlformats.org/drawingml/2006/main" noGrp="1"/>
          </p:cNvSpPr>
          <p:nvPr/>
        </p:nvSpPr>
        <p:spPr>
          <a:xfrm xmlns:a="http://schemas.openxmlformats.org/drawingml/2006/main">
            <a:off x="8343900" y="408622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요청한 범위만 바꿨나?</a:t>
            </a:r>
          </a:p>
        </p:txBody>
      </p:sp>
      <p:sp>
        <p:nvSpPr>
          <p:cNvPr id="30" name="">
            <a:extLst xmlns:a="http://schemas.openxmlformats.org/drawingml/2006/main">
              <a:ext uri="{FF2B5EF4-FFF2-40B4-BE49-F238E27FC236}">
                <a16:creationId xmlns:a16="http://schemas.microsoft.com/office/drawing/2014/main" id="{E415BFD6-E0AB-49D9-BCF5-F64D864B1BAF}"/>
              </a:ext>
            </a:extLst>
          </p:cNvPr>
          <p:cNvSpPr>
            <a:spLocks xmlns:a="http://schemas.openxmlformats.org/drawingml/2006/main" noGrp="1"/>
          </p:cNvSpPr>
          <p:nvPr/>
        </p:nvSpPr>
        <p:spPr>
          <a:xfrm xmlns:a="http://schemas.openxmlformats.org/drawingml/2006/main">
            <a:off x="8343900" y="446722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발견 사항의 근거">
            <a:extLst xmlns:a="http://schemas.openxmlformats.org/drawingml/2006/main">
              <a:ext uri="{FF2B5EF4-FFF2-40B4-BE49-F238E27FC236}">
                <a16:creationId xmlns:a16="http://schemas.microsoft.com/office/drawing/2014/main" id="{B00D3FD4-0CFF-407B-BCAD-A5C65E17F8A1}"/>
              </a:ext>
            </a:extLst>
          </p:cNvPr>
          <p:cNvSpPr>
            <a:spLocks xmlns:a="http://schemas.openxmlformats.org/drawingml/2006/main" noGrp="1"/>
          </p:cNvSpPr>
          <p:nvPr/>
        </p:nvSpPr>
        <p:spPr>
          <a:xfrm xmlns:a="http://schemas.openxmlformats.org/drawingml/2006/main">
            <a:off x="8343900" y="465772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발견 사항의 근거</a:t>
            </a:r>
          </a:p>
        </p:txBody>
      </p:sp>
      <p:sp>
        <p:nvSpPr>
          <p:cNvPr id="32" name="위치 · 실패 조건 · 영향">
            <a:extLst xmlns:a="http://schemas.openxmlformats.org/drawingml/2006/main">
              <a:ext uri="{FF2B5EF4-FFF2-40B4-BE49-F238E27FC236}">
                <a16:creationId xmlns:a16="http://schemas.microsoft.com/office/drawing/2014/main" id="{EDEF1272-4CFD-499E-97C2-48F0FDB273DC}"/>
              </a:ext>
            </a:extLst>
          </p:cNvPr>
          <p:cNvSpPr>
            <a:spLocks xmlns:a="http://schemas.openxmlformats.org/drawingml/2006/main" noGrp="1"/>
          </p:cNvSpPr>
          <p:nvPr/>
        </p:nvSpPr>
        <p:spPr>
          <a:xfrm xmlns:a="http://schemas.openxmlformats.org/drawingml/2006/main">
            <a:off x="8343900" y="4933950"/>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위치 · 실패 조건 · 영향</a:t>
            </a:r>
          </a:p>
        </p:txBody>
      </p:sp>
      <p:sp>
        <p:nvSpPr>
          <p:cNvPr id="33" name="검토 기준과 실패 조건을 지정하고, 실제 검사와 구분한다.">
            <a:extLst xmlns:a="http://schemas.openxmlformats.org/drawingml/2006/main">
              <a:ext uri="{FF2B5EF4-FFF2-40B4-BE49-F238E27FC236}">
                <a16:creationId xmlns:a16="http://schemas.microsoft.com/office/drawing/2014/main" id="{3FE3175F-21F0-4DCA-909C-E929131B48E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검토 기준과 실패 조건을 지정하고, 실제 검사와 구분한다.</a:t>
            </a:r>
          </a:p>
        </p:txBody>
      </p:sp>
      <p:sp>
        <p:nvSpPr>
          <p:cNvPr id="34" name="">
            <a:extLst xmlns:a="http://schemas.openxmlformats.org/drawingml/2006/main">
              <a:ext uri="{FF2B5EF4-FFF2-40B4-BE49-F238E27FC236}">
                <a16:creationId xmlns:a16="http://schemas.microsoft.com/office/drawing/2014/main" id="{EA071F0C-961C-47F8-ABE9-1E51831CC3C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EA90E9A-2A20-4438-852F-FC89DFB3C54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36" name="Legacy module connection">
            <a:extLst xmlns:a="http://schemas.openxmlformats.org/drawingml/2006/main">
              <a:ext uri="{FF2B5EF4-FFF2-40B4-BE49-F238E27FC236}">
                <a16:creationId xmlns:a16="http://schemas.microsoft.com/office/drawing/2014/main" id="{8DBACDDB-3E56-48D1-BF8D-79F2433670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081644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0" name="ACT 1 · 요청 문장 도구 8/8 · 핵심">
            <a:extLst xmlns:a="http://schemas.openxmlformats.org/drawingml/2006/main">
              <a:ext uri="{FF2B5EF4-FFF2-40B4-BE49-F238E27FC236}">
                <a16:creationId xmlns:a16="http://schemas.microsoft.com/office/drawing/2014/main" id="{E29BDB38-E2B5-45B0-BB99-5114AD2A89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핵심</a:t>
            </a:r>
          </a:p>
        </p:txBody>
      </p:sp>
      <p:sp>
        <p:nvSpPr>
          <p:cNvPr id="2" name="S35">
            <a:extLst xmlns:a="http://schemas.openxmlformats.org/drawingml/2006/main">
              <a:ext uri="{FF2B5EF4-FFF2-40B4-BE49-F238E27FC236}">
                <a16:creationId xmlns:a16="http://schemas.microsoft.com/office/drawing/2014/main" id="{CBFE5867-09B2-4099-AE7A-F27128A4B5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5CFA0019-D7F4-4A66-A245-C71D4377D7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27AD4F7D-E34A-4022-B86B-7C7DC64DE5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DDD0E47-917C-4B2F-A9CA-CAB457AB5F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출처 · OpenAI, Prompting · Improve the result with follow-up messages</a:t>
            </a:r>
          </a:p>
        </p:txBody>
      </p:sp>
      <p:sp>
        <p:nvSpPr>
          <p:cNvPr id="6" name="Audience footer 2">
            <a:extLst xmlns:a="http://schemas.openxmlformats.org/drawingml/2006/main">
              <a:ext uri="{FF2B5EF4-FFF2-40B4-BE49-F238E27FC236}">
                <a16:creationId xmlns:a16="http://schemas.microsoft.com/office/drawing/2014/main" id="{12191A99-AB11-478A-9478-F57627DBC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 · 반복 요청만으로 품질 향상을 보장하지 않음</a:t>
            </a:r>
          </a:p>
        </p:txBody>
      </p:sp>
      <p:sp>
        <p:nvSpPr>
          <p:cNvPr id="7" name="Iterative Refinement">
            <a:extLst xmlns:a="http://schemas.openxmlformats.org/drawingml/2006/main">
              <a:ext uri="{FF2B5EF4-FFF2-40B4-BE49-F238E27FC236}">
                <a16:creationId xmlns:a16="http://schemas.microsoft.com/office/drawing/2014/main" id="{5E5F31DD-7C5A-4738-9135-780C335AF985}"/>
              </a:ext>
            </a:extLst>
          </p:cNvPr>
          <p:cNvSpPr>
            <a:spLocks xmlns:a="http://schemas.openxmlformats.org/drawingml/2006/main" noGrp="1"/>
          </p:cNvSpPr>
          <p:nvPr/>
        </p:nvSpPr>
        <p:spPr>
          <a:xfrm xmlns:a="http://schemas.openxmlformats.org/drawingml/2006/main">
            <a:off x="609600" y="14573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Iterative Refinement</a:t>
            </a:r>
          </a:p>
        </p:txBody>
      </p:sp>
      <p:sp>
        <p:nvSpPr>
          <p:cNvPr id="8" name="구체적 피드백으로 결과 수정">
            <a:extLst xmlns:a="http://schemas.openxmlformats.org/drawingml/2006/main">
              <a:ext uri="{FF2B5EF4-FFF2-40B4-BE49-F238E27FC236}">
                <a16:creationId xmlns:a16="http://schemas.microsoft.com/office/drawing/2014/main" id="{F4442FD4-ECE2-41BC-9714-0D357DB9D796}"/>
              </a:ext>
            </a:extLst>
          </p:cNvPr>
          <p:cNvSpPr>
            <a:spLocks xmlns:a="http://schemas.openxmlformats.org/drawingml/2006/main" noGrp="1"/>
          </p:cNvSpPr>
          <p:nvPr/>
        </p:nvSpPr>
        <p:spPr>
          <a:xfrm xmlns:a="http://schemas.openxmlformats.org/drawingml/2006/main">
            <a:off x="8153400" y="1457325"/>
            <a:ext cx="342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725" b="0">
                <a:solidFill>
                  <a:srgbClr val="4D5A68"/>
                </a:solidFill>
                <a:latin typeface="Malgun Gothic"/>
                <a:ea typeface="Malgun Gothic"/>
                <a:cs typeface="Malgun Gothic"/>
              </a:defRPr>
            </a:defPPr>
            <a:lvl1pPr algn="r">
              <a:defRPr sz="1725" b="0">
                <a:solidFill>
                  <a:srgbClr val="4D5A68"/>
                </a:solidFill>
                <a:latin typeface="Malgun Gothic"/>
                <a:ea typeface="Malgun Gothic"/>
                <a:cs typeface="Malgun Gothic"/>
              </a:defRPr>
            </a:lvl1pPr>
            <a:lvl2pPr algn="r">
              <a:defRPr sz="1725" b="0">
                <a:solidFill>
                  <a:srgbClr val="4D5A68"/>
                </a:solidFill>
                <a:latin typeface="Malgun Gothic"/>
                <a:ea typeface="Malgun Gothic"/>
                <a:cs typeface="Malgun Gothic"/>
              </a:defRPr>
            </a:lvl2pPr>
            <a:lvl3pPr algn="r">
              <a:defRPr sz="1725" b="0">
                <a:solidFill>
                  <a:srgbClr val="4D5A68"/>
                </a:solidFill>
                <a:latin typeface="Malgun Gothic"/>
                <a:ea typeface="Malgun Gothic"/>
                <a:cs typeface="Malgun Gothic"/>
              </a:defRPr>
            </a:lvl3pPr>
            <a:lvl4pPr algn="r">
              <a:defRPr sz="1725" b="0">
                <a:solidFill>
                  <a:srgbClr val="4D5A68"/>
                </a:solidFill>
                <a:latin typeface="Malgun Gothic"/>
                <a:ea typeface="Malgun Gothic"/>
                <a:cs typeface="Malgun Gothic"/>
              </a:defRPr>
            </a:lvl4pPr>
            <a:lvl5pPr algn="r">
              <a:defRPr sz="1725" b="0">
                <a:solidFill>
                  <a:srgbClr val="4D5A68"/>
                </a:solidFill>
                <a:latin typeface="Malgun Gothic"/>
                <a:ea typeface="Malgun Gothic"/>
                <a:cs typeface="Malgun Gothic"/>
              </a:defRPr>
            </a:lvl5pPr>
            <a:lvl6pPr algn="r">
              <a:defRPr sz="1725" b="0">
                <a:solidFill>
                  <a:srgbClr val="4D5A68"/>
                </a:solidFill>
                <a:latin typeface="Malgun Gothic"/>
                <a:ea typeface="Malgun Gothic"/>
                <a:cs typeface="Malgun Gothic"/>
              </a:defRPr>
            </a:lvl6pPr>
            <a:lvl7pPr algn="r">
              <a:defRPr sz="1725" b="0">
                <a:solidFill>
                  <a:srgbClr val="4D5A68"/>
                </a:solidFill>
                <a:latin typeface="Malgun Gothic"/>
                <a:ea typeface="Malgun Gothic"/>
                <a:cs typeface="Malgun Gothic"/>
              </a:defRPr>
            </a:lvl7pPr>
            <a:lvl8pPr algn="r">
              <a:defRPr sz="1725" b="0">
                <a:solidFill>
                  <a:srgbClr val="4D5A68"/>
                </a:solidFill>
                <a:latin typeface="Malgun Gothic"/>
                <a:ea typeface="Malgun Gothic"/>
                <a:cs typeface="Malgun Gothic"/>
              </a:defRPr>
            </a:lvl8pPr>
            <a:lvl9pPr algn="r">
              <a:defRPr sz="1725" b="0">
                <a:solidFill>
                  <a:srgbClr val="4D5A68"/>
                </a:solidFill>
                <a:latin typeface="Malgun Gothic"/>
                <a:ea typeface="Malgun Gothic"/>
                <a:cs typeface="Malgun Gothic"/>
              </a:defRPr>
            </a:lvl9pPr>
          </a:lstStyle>
          <a:p xmlns:a="http://schemas.openxmlformats.org/drawingml/2006/main">
            <a:pPr algn="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구체적 피드백으로 결과 수정</a:t>
            </a:r>
          </a:p>
        </p:txBody>
      </p:sp>
      <p:sp>
        <p:nvSpPr>
          <p:cNvPr id="9" name="사용 상황">
            <a:extLst xmlns:a="http://schemas.openxmlformats.org/drawingml/2006/main">
              <a:ext uri="{FF2B5EF4-FFF2-40B4-BE49-F238E27FC236}">
                <a16:creationId xmlns:a16="http://schemas.microsoft.com/office/drawing/2014/main" id="{30EE7134-FC68-45AA-9506-CCD699EB8E9F}"/>
              </a:ext>
            </a:extLst>
          </p:cNvPr>
          <p:cNvSpPr>
            <a:spLocks xmlns:a="http://schemas.openxmlformats.org/drawingml/2006/main" noGrp="1"/>
          </p:cNvSpPr>
          <p:nvPr/>
        </p:nvSpPr>
        <p:spPr>
          <a:xfrm xmlns:a="http://schemas.openxmlformats.org/drawingml/2006/main">
            <a:off x="609600" y="1981200"/>
            <a:ext cx="135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사용 상황</a:t>
            </a:r>
          </a:p>
        </p:txBody>
      </p:sp>
      <p:sp>
        <p:nvSpPr>
          <p:cNvPr id="10" name="첫 제안의 어떤 부분이 요구와 다른지 알 때">
            <a:extLst xmlns:a="http://schemas.openxmlformats.org/drawingml/2006/main">
              <a:ext uri="{FF2B5EF4-FFF2-40B4-BE49-F238E27FC236}">
                <a16:creationId xmlns:a16="http://schemas.microsoft.com/office/drawing/2014/main" id="{831C521B-129D-42DA-8C4F-506BDDC22CA5}"/>
              </a:ext>
            </a:extLst>
          </p:cNvPr>
          <p:cNvSpPr>
            <a:spLocks xmlns:a="http://schemas.openxmlformats.org/drawingml/2006/main" noGrp="1"/>
          </p:cNvSpPr>
          <p:nvPr/>
        </p:nvSpPr>
        <p:spPr>
          <a:xfrm xmlns:a="http://schemas.openxmlformats.org/drawingml/2006/main">
            <a:off x="2114550" y="1981200"/>
            <a:ext cx="9467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어떤 부분이 요구와 다른지 알 때</a:t>
            </a:r>
          </a:p>
        </p:txBody>
      </p:sp>
      <p:sp>
        <p:nvSpPr>
          <p:cNvPr id="11" name="">
            <a:extLst xmlns:a="http://schemas.openxmlformats.org/drawingml/2006/main">
              <a:ext uri="{FF2B5EF4-FFF2-40B4-BE49-F238E27FC236}">
                <a16:creationId xmlns:a16="http://schemas.microsoft.com/office/drawing/2014/main" id="{7DE258B2-7B33-4A8D-9543-CE397FBE6E19}"/>
              </a:ext>
            </a:extLst>
          </p:cNvPr>
          <p:cNvSpPr>
            <a:spLocks xmlns:a="http://schemas.openxmlformats.org/drawingml/2006/main" noGrp="1"/>
          </p:cNvSpPr>
          <p:nvPr/>
        </p:nvSpPr>
        <p:spPr>
          <a:xfrm xmlns:a="http://schemas.openxmlformats.org/drawingml/2006/main">
            <a:off x="609600" y="2419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B77F38D7-764C-495B-AC3D-D50AFA393462}"/>
              </a:ext>
            </a:extLst>
          </p:cNvPr>
          <p:cNvSpPr>
            <a:spLocks xmlns:a="http://schemas.openxmlformats.org/drawingml/2006/main" noGrp="1"/>
          </p:cNvSpPr>
          <p:nvPr/>
        </p:nvSpPr>
        <p:spPr>
          <a:xfrm xmlns:a="http://schemas.openxmlformats.org/drawingml/2006/main">
            <a:off x="609600" y="2571750"/>
            <a:ext cx="739140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 예시">
            <a:extLst xmlns:a="http://schemas.openxmlformats.org/drawingml/2006/main">
              <a:ext uri="{FF2B5EF4-FFF2-40B4-BE49-F238E27FC236}">
                <a16:creationId xmlns:a16="http://schemas.microsoft.com/office/drawing/2014/main" id="{8F8358A8-5133-4328-8DC6-60703D83DA84}"/>
              </a:ext>
            </a:extLst>
          </p:cNvPr>
          <p:cNvSpPr>
            <a:spLocks xmlns:a="http://schemas.openxmlformats.org/drawingml/2006/main" noGrp="1"/>
          </p:cNvSpPr>
          <p:nvPr/>
        </p:nvSpPr>
        <p:spPr>
          <a:xfrm xmlns:a="http://schemas.openxmlformats.org/drawingml/2006/main">
            <a:off x="800100" y="2657475"/>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 예시</a:t>
            </a:r>
          </a:p>
        </p:txBody>
      </p:sp>
      <p:sp>
        <p:nvSpPr>
          <p:cNvPr id="14" name="">
            <a:extLst xmlns:a="http://schemas.openxmlformats.org/drawingml/2006/main">
              <a:ext uri="{FF2B5EF4-FFF2-40B4-BE49-F238E27FC236}">
                <a16:creationId xmlns:a16="http://schemas.microsoft.com/office/drawing/2014/main" id="{7303EE73-68CB-4481-ABD6-F4BCD02E8FE4}"/>
              </a:ext>
            </a:extLst>
          </p:cNvPr>
          <p:cNvSpPr>
            <a:spLocks xmlns:a="http://schemas.openxmlformats.org/drawingml/2006/main" noGrp="1"/>
          </p:cNvSpPr>
          <p:nvPr/>
        </p:nvSpPr>
        <p:spPr>
          <a:xfrm xmlns:a="http://schemas.openxmlformats.org/drawingml/2006/main">
            <a:off x="800100" y="3000375"/>
            <a:ext cx="701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앞선 “기대 폭을 3으로 바꾸자”는 제안을">
            <a:extLst xmlns:a="http://schemas.openxmlformats.org/drawingml/2006/main">
              <a:ext uri="{FF2B5EF4-FFF2-40B4-BE49-F238E27FC236}">
                <a16:creationId xmlns:a16="http://schemas.microsoft.com/office/drawing/2014/main" id="{9DD689EB-CD32-43CA-97CB-A6A78002F34A}"/>
              </a:ext>
            </a:extLst>
          </p:cNvPr>
          <p:cNvSpPr>
            <a:spLocks xmlns:a="http://schemas.openxmlformats.org/drawingml/2006/main" noGrp="1"/>
          </p:cNvSpPr>
          <p:nvPr/>
        </p:nvSpPr>
        <p:spPr>
          <a:xfrm xmlns:a="http://schemas.openxmlformats.org/drawingml/2006/main">
            <a:off x="895350" y="31623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앞선 “기대 폭을 3으로 바꾸자”는 제안을</a:t>
            </a:r>
          </a:p>
        </p:txBody>
      </p:sp>
      <p:sp>
        <p:nvSpPr>
          <p:cNvPr id="16" name="">
            <a:extLst xmlns:a="http://schemas.openxmlformats.org/drawingml/2006/main">
              <a:ext uri="{FF2B5EF4-FFF2-40B4-BE49-F238E27FC236}">
                <a16:creationId xmlns:a16="http://schemas.microsoft.com/office/drawing/2014/main" id="{01050CCA-D60F-44FA-8053-CB5540EAE248}"/>
              </a:ext>
            </a:extLst>
          </p:cNvPr>
          <p:cNvSpPr>
            <a:spLocks xmlns:a="http://schemas.openxmlformats.org/drawingml/2006/main" noGrp="1"/>
          </p:cNvSpPr>
          <p:nvPr/>
        </p:nvSpPr>
        <p:spPr>
          <a:xfrm xmlns:a="http://schemas.openxmlformats.org/drawingml/2006/main">
            <a:off x="800100" y="348615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고쳐줘. 명세는 crop [1,3)에서 폭 2야.">
            <a:extLst xmlns:a="http://schemas.openxmlformats.org/drawingml/2006/main">
              <a:ext uri="{FF2B5EF4-FFF2-40B4-BE49-F238E27FC236}">
                <a16:creationId xmlns:a16="http://schemas.microsoft.com/office/drawing/2014/main" id="{6387D2DB-A418-4EAA-8AA5-9108C88981A8}"/>
              </a:ext>
            </a:extLst>
          </p:cNvPr>
          <p:cNvSpPr>
            <a:spLocks xmlns:a="http://schemas.openxmlformats.org/drawingml/2006/main" noGrp="1"/>
          </p:cNvSpPr>
          <p:nvPr/>
        </p:nvSpPr>
        <p:spPr>
          <a:xfrm xmlns:a="http://schemas.openxmlformats.org/drawingml/2006/main">
            <a:off x="895350" y="34861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고쳐줘. 명세는 crop [1,3)에서 폭 2야.</a:t>
            </a:r>
          </a:p>
        </p:txBody>
      </p:sp>
      <p:sp>
        <p:nvSpPr>
          <p:cNvPr id="18" name="">
            <a:extLst xmlns:a="http://schemas.openxmlformats.org/drawingml/2006/main">
              <a:ext uri="{FF2B5EF4-FFF2-40B4-BE49-F238E27FC236}">
                <a16:creationId xmlns:a16="http://schemas.microsoft.com/office/drawing/2014/main" id="{8A83DA7E-92AB-463A-ABB5-3DB18D7BD76C}"/>
              </a:ext>
            </a:extLst>
          </p:cNvPr>
          <p:cNvSpPr>
            <a:spLocks xmlns:a="http://schemas.openxmlformats.org/drawingml/2006/main" noGrp="1"/>
          </p:cNvSpPr>
          <p:nvPr/>
        </p:nvSpPr>
        <p:spPr>
          <a:xfrm xmlns:a="http://schemas.openxmlformats.org/drawingml/2006/main">
            <a:off x="800100" y="38100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테스트 기대값은 유지하고">
            <a:extLst xmlns:a="http://schemas.openxmlformats.org/drawingml/2006/main">
              <a:ext uri="{FF2B5EF4-FFF2-40B4-BE49-F238E27FC236}">
                <a16:creationId xmlns:a16="http://schemas.microsoft.com/office/drawing/2014/main" id="{3A927670-9213-46D6-9B8B-0A362AFAB533}"/>
              </a:ext>
            </a:extLst>
          </p:cNvPr>
          <p:cNvSpPr>
            <a:spLocks xmlns:a="http://schemas.openxmlformats.org/drawingml/2006/main" noGrp="1"/>
          </p:cNvSpPr>
          <p:nvPr/>
        </p:nvSpPr>
        <p:spPr>
          <a:xfrm xmlns:a="http://schemas.openxmlformats.org/drawingml/2006/main">
            <a:off x="895350" y="38100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 기대값은 유지하고</a:t>
            </a:r>
          </a:p>
        </p:txBody>
      </p:sp>
      <p:sp>
        <p:nvSpPr>
          <p:cNvPr id="20" name="구현의 끝 좌표 처리만 다시 검토해줘.">
            <a:extLst xmlns:a="http://schemas.openxmlformats.org/drawingml/2006/main">
              <a:ext uri="{FF2B5EF4-FFF2-40B4-BE49-F238E27FC236}">
                <a16:creationId xmlns:a16="http://schemas.microsoft.com/office/drawing/2014/main" id="{5ED65957-8D98-4818-A44F-BD830E19DE88}"/>
              </a:ext>
            </a:extLst>
          </p:cNvPr>
          <p:cNvSpPr>
            <a:spLocks xmlns:a="http://schemas.openxmlformats.org/drawingml/2006/main" noGrp="1"/>
          </p:cNvSpPr>
          <p:nvPr/>
        </p:nvSpPr>
        <p:spPr>
          <a:xfrm xmlns:a="http://schemas.openxmlformats.org/drawingml/2006/main">
            <a:off x="895350" y="41338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구현의 끝 좌표 처리만 다시 검토해줘.</a:t>
            </a:r>
          </a:p>
        </p:txBody>
      </p:sp>
      <p:sp>
        <p:nvSpPr>
          <p:cNvPr id="21" name="">
            <a:extLst xmlns:a="http://schemas.openxmlformats.org/drawingml/2006/main">
              <a:ext uri="{FF2B5EF4-FFF2-40B4-BE49-F238E27FC236}">
                <a16:creationId xmlns:a16="http://schemas.microsoft.com/office/drawing/2014/main" id="{22F46BA9-E2A1-4B4D-A5C3-671F4D7EC7E9}"/>
              </a:ext>
            </a:extLst>
          </p:cNvPr>
          <p:cNvSpPr>
            <a:spLocks xmlns:a="http://schemas.openxmlformats.org/drawingml/2006/main" noGrp="1"/>
          </p:cNvSpPr>
          <p:nvPr/>
        </p:nvSpPr>
        <p:spPr>
          <a:xfrm xmlns:a="http://schemas.openxmlformats.org/drawingml/2006/main">
            <a:off x="800100" y="4457700"/>
            <a:ext cx="7010400" cy="323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기존 API·의존성은 유지해줘.">
            <a:extLst xmlns:a="http://schemas.openxmlformats.org/drawingml/2006/main">
              <a:ext uri="{FF2B5EF4-FFF2-40B4-BE49-F238E27FC236}">
                <a16:creationId xmlns:a16="http://schemas.microsoft.com/office/drawing/2014/main" id="{E1E746EC-B19B-4000-AA8E-1B61D480A066}"/>
              </a:ext>
            </a:extLst>
          </p:cNvPr>
          <p:cNvSpPr>
            <a:spLocks xmlns:a="http://schemas.openxmlformats.org/drawingml/2006/main" noGrp="1"/>
          </p:cNvSpPr>
          <p:nvPr/>
        </p:nvSpPr>
        <p:spPr>
          <a:xfrm xmlns:a="http://schemas.openxmlformats.org/drawingml/2006/main">
            <a:off x="895350" y="445770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기존 API·의존성은 유지해줘.</a:t>
            </a:r>
          </a:p>
        </p:txBody>
      </p:sp>
      <p:sp>
        <p:nvSpPr>
          <p:cNvPr id="23" name="바뀐 제안과 미확인 사항을 알려줘.">
            <a:extLst xmlns:a="http://schemas.openxmlformats.org/drawingml/2006/main">
              <a:ext uri="{FF2B5EF4-FFF2-40B4-BE49-F238E27FC236}">
                <a16:creationId xmlns:a16="http://schemas.microsoft.com/office/drawing/2014/main" id="{994FF10A-0D08-4053-983C-60A1150CBF99}"/>
              </a:ext>
            </a:extLst>
          </p:cNvPr>
          <p:cNvSpPr>
            <a:spLocks xmlns:a="http://schemas.openxmlformats.org/drawingml/2006/main" noGrp="1"/>
          </p:cNvSpPr>
          <p:nvPr/>
        </p:nvSpPr>
        <p:spPr>
          <a:xfrm xmlns:a="http://schemas.openxmlformats.org/drawingml/2006/main">
            <a:off x="895350" y="4781550"/>
            <a:ext cx="681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바뀐 제안과 미확인 사항을 알려줘.</a:t>
            </a:r>
          </a:p>
        </p:txBody>
      </p:sp>
      <p:sp>
        <p:nvSpPr>
          <p:cNvPr id="24" name="피드백에서 지정할 것">
            <a:extLst xmlns:a="http://schemas.openxmlformats.org/drawingml/2006/main">
              <a:ext uri="{FF2B5EF4-FFF2-40B4-BE49-F238E27FC236}">
                <a16:creationId xmlns:a16="http://schemas.microsoft.com/office/drawing/2014/main" id="{00B3A15E-B9A3-4CB2-B86D-F0B642300470}"/>
              </a:ext>
            </a:extLst>
          </p:cNvPr>
          <p:cNvSpPr>
            <a:spLocks xmlns:a="http://schemas.openxmlformats.org/drawingml/2006/main" noGrp="1"/>
          </p:cNvSpPr>
          <p:nvPr/>
        </p:nvSpPr>
        <p:spPr>
          <a:xfrm xmlns:a="http://schemas.openxmlformats.org/drawingml/2006/main">
            <a:off x="8343900" y="26193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피드백에서 지정할 것</a:t>
            </a:r>
          </a:p>
        </p:txBody>
      </p:sp>
      <p:sp>
        <p:nvSpPr>
          <p:cNvPr id="25" name="01">
            <a:extLst xmlns:a="http://schemas.openxmlformats.org/drawingml/2006/main">
              <a:ext uri="{FF2B5EF4-FFF2-40B4-BE49-F238E27FC236}">
                <a16:creationId xmlns:a16="http://schemas.microsoft.com/office/drawing/2014/main" id="{3ED197F9-A815-4545-9214-A29B3EF1819B}"/>
              </a:ext>
            </a:extLst>
          </p:cNvPr>
          <p:cNvSpPr>
            <a:spLocks xmlns:a="http://schemas.openxmlformats.org/drawingml/2006/main" noGrp="1"/>
          </p:cNvSpPr>
          <p:nvPr/>
        </p:nvSpPr>
        <p:spPr>
          <a:xfrm xmlns:a="http://schemas.openxmlformats.org/drawingml/2006/main">
            <a:off x="8343900" y="314325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26" name="어긋난 지점">
            <a:extLst xmlns:a="http://schemas.openxmlformats.org/drawingml/2006/main">
              <a:ext uri="{FF2B5EF4-FFF2-40B4-BE49-F238E27FC236}">
                <a16:creationId xmlns:a16="http://schemas.microsoft.com/office/drawing/2014/main" id="{FBC50035-F53B-4FCB-BE84-46ACA3A5133D}"/>
              </a:ext>
            </a:extLst>
          </p:cNvPr>
          <p:cNvSpPr>
            <a:spLocks xmlns:a="http://schemas.openxmlformats.org/drawingml/2006/main" noGrp="1"/>
          </p:cNvSpPr>
          <p:nvPr/>
        </p:nvSpPr>
        <p:spPr>
          <a:xfrm xmlns:a="http://schemas.openxmlformats.org/drawingml/2006/main">
            <a:off x="8801100" y="3143250"/>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어긋난 지점</a:t>
            </a:r>
          </a:p>
        </p:txBody>
      </p:sp>
      <p:sp>
        <p:nvSpPr>
          <p:cNvPr id="27" name="기대 폭을 바꾸자는 제안">
            <a:extLst xmlns:a="http://schemas.openxmlformats.org/drawingml/2006/main">
              <a:ext uri="{FF2B5EF4-FFF2-40B4-BE49-F238E27FC236}">
                <a16:creationId xmlns:a16="http://schemas.microsoft.com/office/drawing/2014/main" id="{279B6CAF-86C2-4FB7-BC9E-06C6E9176E90}"/>
              </a:ext>
            </a:extLst>
          </p:cNvPr>
          <p:cNvSpPr>
            <a:spLocks xmlns:a="http://schemas.openxmlformats.org/drawingml/2006/main" noGrp="1"/>
          </p:cNvSpPr>
          <p:nvPr/>
        </p:nvSpPr>
        <p:spPr>
          <a:xfrm xmlns:a="http://schemas.openxmlformats.org/drawingml/2006/main">
            <a:off x="8801100" y="347662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 폭을 바꾸자는 제안</a:t>
            </a:r>
          </a:p>
        </p:txBody>
      </p:sp>
      <p:sp>
        <p:nvSpPr>
          <p:cNvPr id="28" name="">
            <a:extLst xmlns:a="http://schemas.openxmlformats.org/drawingml/2006/main">
              <a:ext uri="{FF2B5EF4-FFF2-40B4-BE49-F238E27FC236}">
                <a16:creationId xmlns:a16="http://schemas.microsoft.com/office/drawing/2014/main" id="{8ADB24C2-AD57-4D8A-AC4A-6E39C2A12226}"/>
              </a:ext>
            </a:extLst>
          </p:cNvPr>
          <p:cNvSpPr>
            <a:spLocks xmlns:a="http://schemas.openxmlformats.org/drawingml/2006/main" noGrp="1"/>
          </p:cNvSpPr>
          <p:nvPr/>
        </p:nvSpPr>
        <p:spPr>
          <a:xfrm xmlns:a="http://schemas.openxmlformats.org/drawingml/2006/main">
            <a:off x="8343900" y="380047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02">
            <a:extLst xmlns:a="http://schemas.openxmlformats.org/drawingml/2006/main">
              <a:ext uri="{FF2B5EF4-FFF2-40B4-BE49-F238E27FC236}">
                <a16:creationId xmlns:a16="http://schemas.microsoft.com/office/drawing/2014/main" id="{5FCCFB25-14E2-4766-A4B1-421C04A772BE}"/>
              </a:ext>
            </a:extLst>
          </p:cNvPr>
          <p:cNvSpPr>
            <a:spLocks xmlns:a="http://schemas.openxmlformats.org/drawingml/2006/main" noGrp="1"/>
          </p:cNvSpPr>
          <p:nvPr/>
        </p:nvSpPr>
        <p:spPr>
          <a:xfrm xmlns:a="http://schemas.openxmlformats.org/drawingml/2006/main">
            <a:off x="8343900" y="388620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30" name="판단의 근거">
            <a:extLst xmlns:a="http://schemas.openxmlformats.org/drawingml/2006/main">
              <a:ext uri="{FF2B5EF4-FFF2-40B4-BE49-F238E27FC236}">
                <a16:creationId xmlns:a16="http://schemas.microsoft.com/office/drawing/2014/main" id="{D4A16826-C330-4585-BDFD-2B4741076CD5}"/>
              </a:ext>
            </a:extLst>
          </p:cNvPr>
          <p:cNvSpPr>
            <a:spLocks xmlns:a="http://schemas.openxmlformats.org/drawingml/2006/main" noGrp="1"/>
          </p:cNvSpPr>
          <p:nvPr/>
        </p:nvSpPr>
        <p:spPr>
          <a:xfrm xmlns:a="http://schemas.openxmlformats.org/drawingml/2006/main">
            <a:off x="8801100" y="3886200"/>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판단의 근거</a:t>
            </a:r>
          </a:p>
        </p:txBody>
      </p:sp>
      <p:sp>
        <p:nvSpPr>
          <p:cNvPr id="31" name="명세의 기대 폭 2">
            <a:extLst xmlns:a="http://schemas.openxmlformats.org/drawingml/2006/main">
              <a:ext uri="{FF2B5EF4-FFF2-40B4-BE49-F238E27FC236}">
                <a16:creationId xmlns:a16="http://schemas.microsoft.com/office/drawing/2014/main" id="{4E4D1D0D-8BBD-429E-8C0F-72B3952EF8BE}"/>
              </a:ext>
            </a:extLst>
          </p:cNvPr>
          <p:cNvSpPr>
            <a:spLocks xmlns:a="http://schemas.openxmlformats.org/drawingml/2006/main" noGrp="1"/>
          </p:cNvSpPr>
          <p:nvPr/>
        </p:nvSpPr>
        <p:spPr>
          <a:xfrm xmlns:a="http://schemas.openxmlformats.org/drawingml/2006/main">
            <a:off x="8801100" y="42195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명세의 기대 폭 2</a:t>
            </a:r>
          </a:p>
        </p:txBody>
      </p:sp>
      <p:sp>
        <p:nvSpPr>
          <p:cNvPr id="32" name="">
            <a:extLst xmlns:a="http://schemas.openxmlformats.org/drawingml/2006/main">
              <a:ext uri="{FF2B5EF4-FFF2-40B4-BE49-F238E27FC236}">
                <a16:creationId xmlns:a16="http://schemas.microsoft.com/office/drawing/2014/main" id="{A3EB347B-8165-43E0-A50D-49E8AED0E2C0}"/>
              </a:ext>
            </a:extLst>
          </p:cNvPr>
          <p:cNvSpPr>
            <a:spLocks xmlns:a="http://schemas.openxmlformats.org/drawingml/2006/main" noGrp="1"/>
          </p:cNvSpPr>
          <p:nvPr/>
        </p:nvSpPr>
        <p:spPr>
          <a:xfrm xmlns:a="http://schemas.openxmlformats.org/drawingml/2006/main">
            <a:off x="8343900" y="4543425"/>
            <a:ext cx="3238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03">
            <a:extLst xmlns:a="http://schemas.openxmlformats.org/drawingml/2006/main">
              <a:ext uri="{FF2B5EF4-FFF2-40B4-BE49-F238E27FC236}">
                <a16:creationId xmlns:a16="http://schemas.microsoft.com/office/drawing/2014/main" id="{AE76E965-8C68-45B7-A6C0-A10458C2D4B1}"/>
              </a:ext>
            </a:extLst>
          </p:cNvPr>
          <p:cNvSpPr>
            <a:spLocks xmlns:a="http://schemas.openxmlformats.org/drawingml/2006/main" noGrp="1"/>
          </p:cNvSpPr>
          <p:nvPr/>
        </p:nvSpPr>
        <p:spPr>
          <a:xfrm xmlns:a="http://schemas.openxmlformats.org/drawingml/2006/main">
            <a:off x="8343900" y="4629150"/>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34" name="유지할 조건">
            <a:extLst xmlns:a="http://schemas.openxmlformats.org/drawingml/2006/main">
              <a:ext uri="{FF2B5EF4-FFF2-40B4-BE49-F238E27FC236}">
                <a16:creationId xmlns:a16="http://schemas.microsoft.com/office/drawing/2014/main" id="{2D77C656-C1DC-4CFA-808E-7BD47B0239A3}"/>
              </a:ext>
            </a:extLst>
          </p:cNvPr>
          <p:cNvSpPr>
            <a:spLocks xmlns:a="http://schemas.openxmlformats.org/drawingml/2006/main" noGrp="1"/>
          </p:cNvSpPr>
          <p:nvPr/>
        </p:nvSpPr>
        <p:spPr>
          <a:xfrm xmlns:a="http://schemas.openxmlformats.org/drawingml/2006/main">
            <a:off x="8801100" y="4629150"/>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유지할 조건</a:t>
            </a:r>
          </a:p>
        </p:txBody>
      </p:sp>
      <p:sp>
        <p:nvSpPr>
          <p:cNvPr id="35" name="테스트 · API · 의존성">
            <a:extLst xmlns:a="http://schemas.openxmlformats.org/drawingml/2006/main">
              <a:ext uri="{FF2B5EF4-FFF2-40B4-BE49-F238E27FC236}">
                <a16:creationId xmlns:a16="http://schemas.microsoft.com/office/drawing/2014/main" id="{4C73BA63-0E06-4727-A71B-C892A96DBCEC}"/>
              </a:ext>
            </a:extLst>
          </p:cNvPr>
          <p:cNvSpPr>
            <a:spLocks xmlns:a="http://schemas.openxmlformats.org/drawingml/2006/main" noGrp="1"/>
          </p:cNvSpPr>
          <p:nvPr/>
        </p:nvSpPr>
        <p:spPr>
          <a:xfrm xmlns:a="http://schemas.openxmlformats.org/drawingml/2006/main">
            <a:off x="8801100" y="496252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테스트 · API · 의존성</a:t>
            </a:r>
          </a:p>
        </p:txBody>
      </p:sp>
      <p:sp>
        <p:nvSpPr>
          <p:cNvPr id="36" name="어긋난 지점·기대 결과·유지할 조건으로 방향을 고친다.">
            <a:extLst xmlns:a="http://schemas.openxmlformats.org/drawingml/2006/main">
              <a:ext uri="{FF2B5EF4-FFF2-40B4-BE49-F238E27FC236}">
                <a16:creationId xmlns:a16="http://schemas.microsoft.com/office/drawing/2014/main" id="{902ABC58-F73C-4F1C-A75F-C83E7C0C09D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어긋난 지점·기대 결과·유지할 조건으로 방향을 고친다.</a:t>
            </a:r>
          </a:p>
        </p:txBody>
      </p:sp>
      <p:sp>
        <p:nvSpPr>
          <p:cNvPr id="37" name="">
            <a:extLst xmlns:a="http://schemas.openxmlformats.org/drawingml/2006/main">
              <a:ext uri="{FF2B5EF4-FFF2-40B4-BE49-F238E27FC236}">
                <a16:creationId xmlns:a16="http://schemas.microsoft.com/office/drawing/2014/main" id="{176E6EA4-F5D4-467E-95A8-D7CF2EAAC00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8" name="Practical application tip badge">
            <a:extLst xmlns:a="http://schemas.openxmlformats.org/drawingml/2006/main">
              <a:ext uri="{FF2B5EF4-FFF2-40B4-BE49-F238E27FC236}">
                <a16:creationId xmlns:a16="http://schemas.microsoft.com/office/drawing/2014/main" id="{CAA5E776-38A6-4ABC-A896-1C109CF4AF4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39" name="Legacy module connection">
            <a:extLst xmlns:a="http://schemas.openxmlformats.org/drawingml/2006/main">
              <a:ext uri="{FF2B5EF4-FFF2-40B4-BE49-F238E27FC236}">
                <a16:creationId xmlns:a16="http://schemas.microsoft.com/office/drawing/2014/main" id="{72A46C75-492C-4843-924F-943F66E239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0900199"/>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6">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기준을 프로젝트에서 관리하고, 작업할 때 찾아 참고하게 할 수 없을까?">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기준을 프로젝트에서 관리하고, 작업할 때 찾아 참고하게 할 수 없을까?</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8">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9">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공통 기준이 바뀌면, 세 요청에 어떻게 반영할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기준이 바뀌면, 세 요청에 어떻게 반영할까?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0">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1">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2">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3">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4">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5">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6">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7">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8">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9">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0">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1">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2">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3">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4">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5">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9">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0">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1">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2">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3">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4">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5">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6">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7">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8">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9">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0">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1">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2">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3">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4">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5">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6">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7">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8">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9">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0">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1">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2">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3">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4">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5">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6">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3">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4">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5">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6">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7">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8">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9">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0">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1">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2">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3">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4">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5">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6">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8">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8">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9">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0">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1">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2">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3">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4">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5">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9">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1">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5">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4">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3">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4">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0">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