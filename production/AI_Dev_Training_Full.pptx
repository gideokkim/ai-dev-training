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slides/charts/chart1.xml" ContentType="application/vnd.openxmlformats-officedocument.drawingml.chart+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07e27e14209c4b1d" /><Relationship Type="http://schemas.openxmlformats.org/officeDocument/2006/relationships/extended-properties" Target="/docProps/app.xml" Id="R151e653e737e4cf6" /><Relationship Type="http://schemas.openxmlformats.org/officeDocument/2006/relationships/officeDocument" Target="/ppt/presentation.xml" Id="R623b98d971f0498a" /></Relationships>
</file>

<file path=ppt/presentation.xml><?xml version="1.0" encoding="utf-8"?>
<p:presentation xmlns:p="http://schemas.openxmlformats.org/presentationml/2006/main">
  <p:sldMasterIdLst>
    <p:sldMasterId xmlns:r="http://schemas.openxmlformats.org/officeDocument/2006/relationships" id="2147483648" r:id="Rdb3722b2be51449f"/>
  </p:sldMasterIdLst>
  <p:notesMasterIdLst>
    <p:notesMasterId xmlns:r="http://schemas.openxmlformats.org/officeDocument/2006/relationships" r:id="Rc9f70597726e46d9"/>
  </p:notesMasterIdLst>
  <p:sldIdLst>
    <p:sldId xmlns:r="http://schemas.openxmlformats.org/officeDocument/2006/relationships" id="256" r:id="Rbf062b74ef1f47bb"/>
    <p:sldId xmlns:r="http://schemas.openxmlformats.org/officeDocument/2006/relationships" id="257" r:id="R3fb44a7ba9704ad1"/>
    <p:sldId xmlns:r="http://schemas.openxmlformats.org/officeDocument/2006/relationships" id="258" r:id="Red694e69787f443b"/>
    <p:sldId xmlns:r="http://schemas.openxmlformats.org/officeDocument/2006/relationships" id="259" r:id="R95cabd8cea9a40e2"/>
    <p:sldId xmlns:r="http://schemas.openxmlformats.org/officeDocument/2006/relationships" id="260" r:id="Reae4c0dbaa0a4465"/>
    <p:sldId xmlns:r="http://schemas.openxmlformats.org/officeDocument/2006/relationships" id="261" r:id="R3903a1fa7df043c8"/>
    <p:sldId xmlns:r="http://schemas.openxmlformats.org/officeDocument/2006/relationships" id="262" r:id="Rfcd2b383ffd546c9"/>
    <p:sldId xmlns:r="http://schemas.openxmlformats.org/officeDocument/2006/relationships" id="263" r:id="Rab031e5c52bc4be9"/>
    <p:sldId xmlns:r="http://schemas.openxmlformats.org/officeDocument/2006/relationships" id="264" r:id="R730ee78d9664404e"/>
    <p:sldId xmlns:r="http://schemas.openxmlformats.org/officeDocument/2006/relationships" id="265" r:id="Rd9f2038181c74e6e"/>
    <p:sldId xmlns:r="http://schemas.openxmlformats.org/officeDocument/2006/relationships" id="266" r:id="Rcd83cd858e134829"/>
    <p:sldId xmlns:r="http://schemas.openxmlformats.org/officeDocument/2006/relationships" id="267" r:id="Rdce7bc4aedc945d7"/>
    <p:sldId xmlns:r="http://schemas.openxmlformats.org/officeDocument/2006/relationships" id="268" r:id="Rf352018a742f4d96"/>
    <p:sldId xmlns:r="http://schemas.openxmlformats.org/officeDocument/2006/relationships" id="269" r:id="R4f9e89cbee234e8f"/>
    <p:sldId xmlns:r="http://schemas.openxmlformats.org/officeDocument/2006/relationships" id="270" r:id="R6e4f50ae30f14f9e"/>
    <p:sldId xmlns:r="http://schemas.openxmlformats.org/officeDocument/2006/relationships" id="271" r:id="R07db16fdd44446d1"/>
    <p:sldId xmlns:r="http://schemas.openxmlformats.org/officeDocument/2006/relationships" id="272" r:id="R021feaf540d34345"/>
    <p:sldId xmlns:r="http://schemas.openxmlformats.org/officeDocument/2006/relationships" id="273" r:id="R56b7a6a3c07a4cd6"/>
    <p:sldId xmlns:r="http://schemas.openxmlformats.org/officeDocument/2006/relationships" id="274" r:id="Rb81b02d5e4934cd2"/>
    <p:sldId xmlns:r="http://schemas.openxmlformats.org/officeDocument/2006/relationships" id="275" r:id="Rd3987bc859fb4350"/>
    <p:sldId xmlns:r="http://schemas.openxmlformats.org/officeDocument/2006/relationships" id="276" r:id="R6296aad368d04dd8"/>
    <p:sldId xmlns:r="http://schemas.openxmlformats.org/officeDocument/2006/relationships" id="277" r:id="R500cd5c93d554f35"/>
    <p:sldId xmlns:r="http://schemas.openxmlformats.org/officeDocument/2006/relationships" id="278" r:id="Rfba55f9ff2c647d1"/>
    <p:sldId xmlns:r="http://schemas.openxmlformats.org/officeDocument/2006/relationships" id="279" r:id="R72054412bbec49df"/>
    <p:sldId xmlns:r="http://schemas.openxmlformats.org/officeDocument/2006/relationships" id="280" r:id="Rd4a4087e49eb41f1"/>
    <p:sldId xmlns:r="http://schemas.openxmlformats.org/officeDocument/2006/relationships" id="281" r:id="R955f5e696f424f09"/>
    <p:sldId xmlns:r="http://schemas.openxmlformats.org/officeDocument/2006/relationships" id="282" r:id="R92e8bc0402d942e6"/>
    <p:sldId xmlns:r="http://schemas.openxmlformats.org/officeDocument/2006/relationships" id="283" r:id="R43c7d866e3a841f2"/>
    <p:sldId xmlns:r="http://schemas.openxmlformats.org/officeDocument/2006/relationships" id="284" r:id="R0def960ad8ae40a0"/>
    <p:sldId xmlns:r="http://schemas.openxmlformats.org/officeDocument/2006/relationships" id="285" r:id="R35848b94739a4e69"/>
    <p:sldId xmlns:r="http://schemas.openxmlformats.org/officeDocument/2006/relationships" id="286" r:id="Rfcb9631eeb944fc3"/>
    <p:sldId xmlns:r="http://schemas.openxmlformats.org/officeDocument/2006/relationships" id="287" r:id="R840a792507b54220"/>
    <p:sldId xmlns:r="http://schemas.openxmlformats.org/officeDocument/2006/relationships" id="288" r:id="R6b29089af4be4920"/>
    <p:sldId xmlns:r="http://schemas.openxmlformats.org/officeDocument/2006/relationships" id="289" r:id="R1e9e2510624e416e"/>
    <p:sldId xmlns:r="http://schemas.openxmlformats.org/officeDocument/2006/relationships" id="290" r:id="R143d0d07d0b44bda"/>
    <p:sldId xmlns:r="http://schemas.openxmlformats.org/officeDocument/2006/relationships" id="291" r:id="R1a7620360ff04db3"/>
    <p:sldId xmlns:r="http://schemas.openxmlformats.org/officeDocument/2006/relationships" id="292" r:id="R2a04ae960b304a06"/>
    <p:sldId xmlns:r="http://schemas.openxmlformats.org/officeDocument/2006/relationships" id="293" r:id="R15d6dbbe9ac34748"/>
    <p:sldId xmlns:r="http://schemas.openxmlformats.org/officeDocument/2006/relationships" id="294" r:id="Rbff9725145684c9c"/>
    <p:sldId xmlns:r="http://schemas.openxmlformats.org/officeDocument/2006/relationships" id="295" r:id="R034d5758e7154b1d"/>
    <p:sldId xmlns:r="http://schemas.openxmlformats.org/officeDocument/2006/relationships" id="296" r:id="R048a4ec5b10d4ee8"/>
    <p:sldId xmlns:r="http://schemas.openxmlformats.org/officeDocument/2006/relationships" id="297" r:id="R3fbca028d0c84ca4"/>
    <p:sldId xmlns:r="http://schemas.openxmlformats.org/officeDocument/2006/relationships" id="298" r:id="R4646e160141e4c8c"/>
    <p:sldId xmlns:r="http://schemas.openxmlformats.org/officeDocument/2006/relationships" id="299" r:id="R5a5d5641ad3e4f99"/>
    <p:sldId xmlns:r="http://schemas.openxmlformats.org/officeDocument/2006/relationships" id="300" r:id="R732e712616e24827"/>
    <p:sldId xmlns:r="http://schemas.openxmlformats.org/officeDocument/2006/relationships" id="301" r:id="R34021c046a684fde"/>
    <p:sldId xmlns:r="http://schemas.openxmlformats.org/officeDocument/2006/relationships" id="302" r:id="R1148a431eb7b4c3d"/>
    <p:sldId xmlns:r="http://schemas.openxmlformats.org/officeDocument/2006/relationships" id="303" r:id="R17c4bedb3d924a93"/>
    <p:sldId xmlns:r="http://schemas.openxmlformats.org/officeDocument/2006/relationships" id="304" r:id="Ra1e81e06b16a41a3"/>
    <p:sldId xmlns:r="http://schemas.openxmlformats.org/officeDocument/2006/relationships" id="305" r:id="R0036c4738eae4292"/>
    <p:sldId xmlns:r="http://schemas.openxmlformats.org/officeDocument/2006/relationships" id="306" r:id="R914b54ad3c6a45ca"/>
    <p:sldId xmlns:r="http://schemas.openxmlformats.org/officeDocument/2006/relationships" id="307" r:id="Rbf4aa9ff703a4c03"/>
    <p:sldId xmlns:r="http://schemas.openxmlformats.org/officeDocument/2006/relationships" id="308" r:id="R25845e1236434f0a"/>
    <p:sldId xmlns:r="http://schemas.openxmlformats.org/officeDocument/2006/relationships" id="309" r:id="Rf6657d098d454f2c"/>
    <p:sldId xmlns:r="http://schemas.openxmlformats.org/officeDocument/2006/relationships" id="310" r:id="R8d4a3e9c9a284e36"/>
    <p:sldId xmlns:r="http://schemas.openxmlformats.org/officeDocument/2006/relationships" id="311" r:id="R92a6511ed2204866"/>
    <p:sldId xmlns:r="http://schemas.openxmlformats.org/officeDocument/2006/relationships" id="312" r:id="Rb66ee6b9874e4837"/>
    <p:sldId xmlns:r="http://schemas.openxmlformats.org/officeDocument/2006/relationships" id="313" r:id="Rec20e318dd2b4057"/>
    <p:sldId xmlns:r="http://schemas.openxmlformats.org/officeDocument/2006/relationships" id="314" r:id="R76ec7f76d7284744"/>
    <p:sldId xmlns:r="http://schemas.openxmlformats.org/officeDocument/2006/relationships" id="315" r:id="Rb4c1d3881ad4414d"/>
    <p:sldId xmlns:r="http://schemas.openxmlformats.org/officeDocument/2006/relationships" id="316" r:id="R316078acf39a4eae"/>
    <p:sldId xmlns:r="http://schemas.openxmlformats.org/officeDocument/2006/relationships" id="317" r:id="Rd34e285c82e14d1c"/>
    <p:sldId xmlns:r="http://schemas.openxmlformats.org/officeDocument/2006/relationships" id="318" r:id="R88ddc48189de468d"/>
    <p:sldId xmlns:r="http://schemas.openxmlformats.org/officeDocument/2006/relationships" id="319" r:id="R32feb6be2d9c4fac"/>
    <p:sldId xmlns:r="http://schemas.openxmlformats.org/officeDocument/2006/relationships" id="320" r:id="R73791b633e4844f5"/>
    <p:sldId xmlns:r="http://schemas.openxmlformats.org/officeDocument/2006/relationships" id="321" r:id="R85cbb178c88a4762"/>
    <p:sldId xmlns:r="http://schemas.openxmlformats.org/officeDocument/2006/relationships" id="322" r:id="R7a1c3ef5b308407d"/>
    <p:sldId xmlns:r="http://schemas.openxmlformats.org/officeDocument/2006/relationships" id="323" r:id="R09c6c8072b8e41f0"/>
    <p:sldId xmlns:r="http://schemas.openxmlformats.org/officeDocument/2006/relationships" id="324" r:id="R06b1149ed4f2420b"/>
    <p:sldId xmlns:r="http://schemas.openxmlformats.org/officeDocument/2006/relationships" id="325" r:id="R0227a919124547af"/>
    <p:sldId xmlns:r="http://schemas.openxmlformats.org/officeDocument/2006/relationships" id="326" r:id="R441764f8110c4f43"/>
    <p:sldId xmlns:r="http://schemas.openxmlformats.org/officeDocument/2006/relationships" id="327" r:id="R25bf73322c0944ad"/>
    <p:sldId xmlns:r="http://schemas.openxmlformats.org/officeDocument/2006/relationships" id="328" r:id="Re0bfe6bffc1c45eb"/>
    <p:sldId xmlns:r="http://schemas.openxmlformats.org/officeDocument/2006/relationships" id="329" r:id="R93000b30614749ac"/>
    <p:sldId xmlns:r="http://schemas.openxmlformats.org/officeDocument/2006/relationships" id="330" r:id="R98a59e8c533f4db7"/>
    <p:sldId xmlns:r="http://schemas.openxmlformats.org/officeDocument/2006/relationships" id="331" r:id="Rd3a8f9347b044b72"/>
    <p:sldId xmlns:r="http://schemas.openxmlformats.org/officeDocument/2006/relationships" id="332" r:id="Rbbf0d472f4814c57"/>
    <p:sldId xmlns:r="http://schemas.openxmlformats.org/officeDocument/2006/relationships" id="333" r:id="R1625a1dfb16442a3"/>
    <p:sldId xmlns:r="http://schemas.openxmlformats.org/officeDocument/2006/relationships" id="334" r:id="R8870237651844883"/>
    <p:sldId xmlns:r="http://schemas.openxmlformats.org/officeDocument/2006/relationships" id="335" r:id="Re701af3d88de433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1fe7f5446b04e68" /><Relationship Type="http://schemas.openxmlformats.org/officeDocument/2006/relationships/slideMaster" Target="/ppt/slideMasters/slideMaster1.xml" Id="Rdb3722b2be51449f" /><Relationship Type="http://schemas.openxmlformats.org/officeDocument/2006/relationships/notesMaster" Target="/ppt/notesMasters/notesMaster1.xml" Id="Rc9f70597726e46d9" /><Relationship Type="http://schemas.openxmlformats.org/officeDocument/2006/relationships/presProps" Target="/ppt/presProps.xml" Id="R48945ea5d17440eb" /><Relationship Type="http://schemas.openxmlformats.org/officeDocument/2006/relationships/tableStyles" Target="/ppt/tableStyles.xml" Id="R2b538094b8454e9c" /><Relationship Type="http://schemas.openxmlformats.org/officeDocument/2006/relationships/slide" Target="/ppt/slides/slide1.xml" Id="Rbf062b74ef1f47bb" /><Relationship Type="http://schemas.openxmlformats.org/officeDocument/2006/relationships/slide" Target="/ppt/slides/slide2.xml" Id="R3fb44a7ba9704ad1" /><Relationship Type="http://schemas.openxmlformats.org/officeDocument/2006/relationships/slide" Target="/ppt/slides/slide3.xml" Id="Red694e69787f443b" /><Relationship Type="http://schemas.openxmlformats.org/officeDocument/2006/relationships/slide" Target="/ppt/slides/slide4.xml" Id="R95cabd8cea9a40e2" /><Relationship Type="http://schemas.openxmlformats.org/officeDocument/2006/relationships/slide" Target="/ppt/slides/slide5.xml" Id="Reae4c0dbaa0a4465" /><Relationship Type="http://schemas.openxmlformats.org/officeDocument/2006/relationships/slide" Target="/ppt/slides/slide6.xml" Id="R3903a1fa7df043c8" /><Relationship Type="http://schemas.openxmlformats.org/officeDocument/2006/relationships/slide" Target="/ppt/slides/slide7.xml" Id="Rfcd2b383ffd546c9" /><Relationship Type="http://schemas.openxmlformats.org/officeDocument/2006/relationships/slide" Target="/ppt/slides/slide8.xml" Id="Rab031e5c52bc4be9" /><Relationship Type="http://schemas.openxmlformats.org/officeDocument/2006/relationships/slide" Target="/ppt/slides/slide9.xml" Id="R730ee78d9664404e" /><Relationship Type="http://schemas.openxmlformats.org/officeDocument/2006/relationships/slide" Target="/ppt/slides/slide10.xml" Id="Rd9f2038181c74e6e" /><Relationship Type="http://schemas.openxmlformats.org/officeDocument/2006/relationships/slide" Target="/ppt/slides/slide11.xml" Id="Rcd83cd858e134829" /><Relationship Type="http://schemas.openxmlformats.org/officeDocument/2006/relationships/slide" Target="/ppt/slides/slide12.xml" Id="Rdce7bc4aedc945d7" /><Relationship Type="http://schemas.openxmlformats.org/officeDocument/2006/relationships/slide" Target="/ppt/slides/slide13.xml" Id="Rf352018a742f4d96" /><Relationship Type="http://schemas.openxmlformats.org/officeDocument/2006/relationships/slide" Target="/ppt/slides/slide14.xml" Id="R4f9e89cbee234e8f" /><Relationship Type="http://schemas.openxmlformats.org/officeDocument/2006/relationships/slide" Target="/ppt/slides/slide15.xml" Id="R6e4f50ae30f14f9e" /><Relationship Type="http://schemas.openxmlformats.org/officeDocument/2006/relationships/slide" Target="/ppt/slides/slide16.xml" Id="R07db16fdd44446d1" /><Relationship Type="http://schemas.openxmlformats.org/officeDocument/2006/relationships/slide" Target="/ppt/slides/slide17.xml" Id="R021feaf540d34345" /><Relationship Type="http://schemas.openxmlformats.org/officeDocument/2006/relationships/slide" Target="/ppt/slides/slide18.xml" Id="R56b7a6a3c07a4cd6" /><Relationship Type="http://schemas.openxmlformats.org/officeDocument/2006/relationships/slide" Target="/ppt/slides/slide19.xml" Id="Rb81b02d5e4934cd2" /><Relationship Type="http://schemas.openxmlformats.org/officeDocument/2006/relationships/slide" Target="/ppt/slides/slide20.xml" Id="Rd3987bc859fb4350" /><Relationship Type="http://schemas.openxmlformats.org/officeDocument/2006/relationships/slide" Target="/ppt/slides/slide21.xml" Id="R6296aad368d04dd8" /><Relationship Type="http://schemas.openxmlformats.org/officeDocument/2006/relationships/slide" Target="/ppt/slides/slide22.xml" Id="R500cd5c93d554f35" /><Relationship Type="http://schemas.openxmlformats.org/officeDocument/2006/relationships/slide" Target="/ppt/slides/slide23.xml" Id="Rfba55f9ff2c647d1" /><Relationship Type="http://schemas.openxmlformats.org/officeDocument/2006/relationships/slide" Target="/ppt/slides/slide24.xml" Id="R72054412bbec49df" /><Relationship Type="http://schemas.openxmlformats.org/officeDocument/2006/relationships/slide" Target="/ppt/slides/slide25.xml" Id="Rd4a4087e49eb41f1" /><Relationship Type="http://schemas.openxmlformats.org/officeDocument/2006/relationships/slide" Target="/ppt/slides/slide26.xml" Id="R955f5e696f424f09" /><Relationship Type="http://schemas.openxmlformats.org/officeDocument/2006/relationships/slide" Target="/ppt/slides/slide27.xml" Id="R92e8bc0402d942e6" /><Relationship Type="http://schemas.openxmlformats.org/officeDocument/2006/relationships/slide" Target="/ppt/slides/slide28.xml" Id="R43c7d866e3a841f2" /><Relationship Type="http://schemas.openxmlformats.org/officeDocument/2006/relationships/slide" Target="/ppt/slides/slide29.xml" Id="R0def960ad8ae40a0" /><Relationship Type="http://schemas.openxmlformats.org/officeDocument/2006/relationships/slide" Target="/ppt/slides/slide30.xml" Id="R35848b94739a4e69" /><Relationship Type="http://schemas.openxmlformats.org/officeDocument/2006/relationships/slide" Target="/ppt/slides/slide31.xml" Id="Rfcb9631eeb944fc3" /><Relationship Type="http://schemas.openxmlformats.org/officeDocument/2006/relationships/slide" Target="/ppt/slides/slide32.xml" Id="R840a792507b54220" /><Relationship Type="http://schemas.openxmlformats.org/officeDocument/2006/relationships/slide" Target="/ppt/slides/slide33.xml" Id="R6b29089af4be4920" /><Relationship Type="http://schemas.openxmlformats.org/officeDocument/2006/relationships/slide" Target="/ppt/slides/slide34.xml" Id="R1e9e2510624e416e" /><Relationship Type="http://schemas.openxmlformats.org/officeDocument/2006/relationships/slide" Target="/ppt/slides/slide35.xml" Id="R143d0d07d0b44bda" /><Relationship Type="http://schemas.openxmlformats.org/officeDocument/2006/relationships/slide" Target="/ppt/slides/slide36.xml" Id="R1a7620360ff04db3" /><Relationship Type="http://schemas.openxmlformats.org/officeDocument/2006/relationships/slide" Target="/ppt/slides/slide37.xml" Id="R2a04ae960b304a06" /><Relationship Type="http://schemas.openxmlformats.org/officeDocument/2006/relationships/slide" Target="/ppt/slides/slide38.xml" Id="R15d6dbbe9ac34748" /><Relationship Type="http://schemas.openxmlformats.org/officeDocument/2006/relationships/slide" Target="/ppt/slides/slide39.xml" Id="Rbff9725145684c9c" /><Relationship Type="http://schemas.openxmlformats.org/officeDocument/2006/relationships/slide" Target="/ppt/slides/slide40.xml" Id="R034d5758e7154b1d" /><Relationship Type="http://schemas.openxmlformats.org/officeDocument/2006/relationships/slide" Target="/ppt/slides/slide41.xml" Id="R048a4ec5b10d4ee8" /><Relationship Type="http://schemas.openxmlformats.org/officeDocument/2006/relationships/slide" Target="/ppt/slides/slide42.xml" Id="R3fbca028d0c84ca4" /><Relationship Type="http://schemas.openxmlformats.org/officeDocument/2006/relationships/slide" Target="/ppt/slides/slide43.xml" Id="R4646e160141e4c8c" /><Relationship Type="http://schemas.openxmlformats.org/officeDocument/2006/relationships/slide" Target="/ppt/slides/slide44.xml" Id="R5a5d5641ad3e4f99" /><Relationship Type="http://schemas.openxmlformats.org/officeDocument/2006/relationships/slide" Target="/ppt/slides/slide45.xml" Id="R732e712616e24827" /><Relationship Type="http://schemas.openxmlformats.org/officeDocument/2006/relationships/slide" Target="/ppt/slides/slide46.xml" Id="R34021c046a684fde" /><Relationship Type="http://schemas.openxmlformats.org/officeDocument/2006/relationships/slide" Target="/ppt/slides/slide47.xml" Id="R1148a431eb7b4c3d" /><Relationship Type="http://schemas.openxmlformats.org/officeDocument/2006/relationships/slide" Target="/ppt/slides/slide48.xml" Id="R17c4bedb3d924a93" /><Relationship Type="http://schemas.openxmlformats.org/officeDocument/2006/relationships/slide" Target="/ppt/slides/slide49.xml" Id="Ra1e81e06b16a41a3" /><Relationship Type="http://schemas.openxmlformats.org/officeDocument/2006/relationships/slide" Target="/ppt/slides/slide50.xml" Id="R0036c4738eae4292" /><Relationship Type="http://schemas.openxmlformats.org/officeDocument/2006/relationships/slide" Target="/ppt/slides/slide51.xml" Id="R914b54ad3c6a45ca" /><Relationship Type="http://schemas.openxmlformats.org/officeDocument/2006/relationships/slide" Target="/ppt/slides/slide52.xml" Id="Rbf4aa9ff703a4c03" /><Relationship Type="http://schemas.openxmlformats.org/officeDocument/2006/relationships/slide" Target="/ppt/slides/slide53.xml" Id="R25845e1236434f0a" /><Relationship Type="http://schemas.openxmlformats.org/officeDocument/2006/relationships/slide" Target="/ppt/slides/slide54.xml" Id="Rf6657d098d454f2c" /><Relationship Type="http://schemas.openxmlformats.org/officeDocument/2006/relationships/slide" Target="/ppt/slides/slide55.xml" Id="R8d4a3e9c9a284e36" /><Relationship Type="http://schemas.openxmlformats.org/officeDocument/2006/relationships/slide" Target="/ppt/slides/slide56.xml" Id="R92a6511ed2204866" /><Relationship Type="http://schemas.openxmlformats.org/officeDocument/2006/relationships/slide" Target="/ppt/slides/slide57.xml" Id="Rb66ee6b9874e4837" /><Relationship Type="http://schemas.openxmlformats.org/officeDocument/2006/relationships/slide" Target="/ppt/slides/slide58.xml" Id="Rec20e318dd2b4057" /><Relationship Type="http://schemas.openxmlformats.org/officeDocument/2006/relationships/slide" Target="/ppt/slides/slide59.xml" Id="R76ec7f76d7284744" /><Relationship Type="http://schemas.openxmlformats.org/officeDocument/2006/relationships/slide" Target="/ppt/slides/slide60.xml" Id="Rb4c1d3881ad4414d" /><Relationship Type="http://schemas.openxmlformats.org/officeDocument/2006/relationships/slide" Target="/ppt/slides/slide61.xml" Id="R316078acf39a4eae" /><Relationship Type="http://schemas.openxmlformats.org/officeDocument/2006/relationships/slide" Target="/ppt/slides/slide62.xml" Id="Rd34e285c82e14d1c" /><Relationship Type="http://schemas.openxmlformats.org/officeDocument/2006/relationships/slide" Target="/ppt/slides/slide63.xml" Id="R88ddc48189de468d" /><Relationship Type="http://schemas.openxmlformats.org/officeDocument/2006/relationships/slide" Target="/ppt/slides/slide64.xml" Id="R32feb6be2d9c4fac" /><Relationship Type="http://schemas.openxmlformats.org/officeDocument/2006/relationships/slide" Target="/ppt/slides/slide65.xml" Id="R73791b633e4844f5" /><Relationship Type="http://schemas.openxmlformats.org/officeDocument/2006/relationships/slide" Target="/ppt/slides/slide66.xml" Id="R85cbb178c88a4762" /><Relationship Type="http://schemas.openxmlformats.org/officeDocument/2006/relationships/slide" Target="/ppt/slides/slide67.xml" Id="R7a1c3ef5b308407d" /><Relationship Type="http://schemas.openxmlformats.org/officeDocument/2006/relationships/slide" Target="/ppt/slides/slide68.xml" Id="R09c6c8072b8e41f0" /><Relationship Type="http://schemas.openxmlformats.org/officeDocument/2006/relationships/slide" Target="/ppt/slides/slide69.xml" Id="R06b1149ed4f2420b" /><Relationship Type="http://schemas.openxmlformats.org/officeDocument/2006/relationships/slide" Target="/ppt/slides/slide70.xml" Id="R0227a919124547af" /><Relationship Type="http://schemas.openxmlformats.org/officeDocument/2006/relationships/slide" Target="/ppt/slides/slide71.xml" Id="R441764f8110c4f43" /><Relationship Type="http://schemas.openxmlformats.org/officeDocument/2006/relationships/slide" Target="/ppt/slides/slide72.xml" Id="R25bf73322c0944ad" /><Relationship Type="http://schemas.openxmlformats.org/officeDocument/2006/relationships/slide" Target="/ppt/slides/slide73.xml" Id="Re0bfe6bffc1c45eb" /><Relationship Type="http://schemas.openxmlformats.org/officeDocument/2006/relationships/slide" Target="/ppt/slides/slide74.xml" Id="R93000b30614749ac" /><Relationship Type="http://schemas.openxmlformats.org/officeDocument/2006/relationships/slide" Target="/ppt/slides/slide75.xml" Id="R98a59e8c533f4db7" /><Relationship Type="http://schemas.openxmlformats.org/officeDocument/2006/relationships/slide" Target="/ppt/slides/slide76.xml" Id="Rd3a8f9347b044b72" /><Relationship Type="http://schemas.openxmlformats.org/officeDocument/2006/relationships/slide" Target="/ppt/slides/slide77.xml" Id="Rbbf0d472f4814c57" /><Relationship Type="http://schemas.openxmlformats.org/officeDocument/2006/relationships/slide" Target="/ppt/slides/slide78.xml" Id="R1625a1dfb16442a3" /><Relationship Type="http://schemas.openxmlformats.org/officeDocument/2006/relationships/slide" Target="/ppt/slides/slide79.xml" Id="R8870237651844883" /><Relationship Type="http://schemas.openxmlformats.org/officeDocument/2006/relationships/slide" Target="/ppt/slides/slide80.xml" Id="Re701af3d88de433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9ca78b8a57e488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23a10de7e814506" /><Relationship Type="http://schemas.openxmlformats.org/officeDocument/2006/relationships/notesMaster" Target="/ppt/notesMasters/notesMaster1.xml" Id="Ra6abd4f06045434e" /></Relationships>
</file>

<file path=ppt/notesSlides/_rels/notesSlide2.xml.rels>&#65279;<?xml version="1.0" encoding="utf-8"?><Relationships xmlns="http://schemas.openxmlformats.org/package/2006/relationships"><Relationship Type="http://schemas.openxmlformats.org/officeDocument/2006/relationships/slide" Target="/ppt/slides/slide2.xml" Id="Rf217e008a70f4869" /><Relationship Type="http://schemas.openxmlformats.org/officeDocument/2006/relationships/notesMaster" Target="/ppt/notesMasters/notesMaster1.xml" Id="R55261e63370d40b6" /></Relationships>
</file>

<file path=ppt/notesSlides/_rels/notesSlide3.xml.rels>&#65279;<?xml version="1.0" encoding="utf-8"?><Relationships xmlns="http://schemas.openxmlformats.org/package/2006/relationships"><Relationship Type="http://schemas.openxmlformats.org/officeDocument/2006/relationships/slide" Target="/ppt/slides/slide3.xml" Id="R2d3c34ca5e894d98" /><Relationship Type="http://schemas.openxmlformats.org/officeDocument/2006/relationships/notesMaster" Target="/ppt/notesMasters/notesMaster1.xml" Id="R789d46634032477b" /></Relationships>
</file>

<file path=ppt/notesSlides/_rels/notesSlide4.xml.rels>&#65279;<?xml version="1.0" encoding="utf-8"?><Relationships xmlns="http://schemas.openxmlformats.org/package/2006/relationships"><Relationship Type="http://schemas.openxmlformats.org/officeDocument/2006/relationships/slide" Target="/ppt/slides/slide4.xml" Id="R6e7244ba224c4d7f" /><Relationship Type="http://schemas.openxmlformats.org/officeDocument/2006/relationships/notesMaster" Target="/ppt/notesMasters/notesMaster1.xml" Id="Rc5d5830d01a34fbd" /></Relationships>
</file>

<file path=ppt/notesSlides/_rels/notesSlide5.xml.rels>&#65279;<?xml version="1.0" encoding="utf-8"?><Relationships xmlns="http://schemas.openxmlformats.org/package/2006/relationships"><Relationship Type="http://schemas.openxmlformats.org/officeDocument/2006/relationships/slide" Target="/ppt/slides/slide5.xml" Id="Rdb8d13f758b1465a" /><Relationship Type="http://schemas.openxmlformats.org/officeDocument/2006/relationships/notesMaster" Target="/ppt/notesMasters/notesMaster1.xml" Id="R6d5a1cd14187400a" /></Relationships>
</file>

<file path=ppt/notesSlides/_rels/notesSlide6.xml.rels>&#65279;<?xml version="1.0" encoding="utf-8"?><Relationships xmlns="http://schemas.openxmlformats.org/package/2006/relationships"><Relationship Type="http://schemas.openxmlformats.org/officeDocument/2006/relationships/slide" Target="/ppt/slides/slide6.xml" Id="Rd14a6e50c2144a0d" /><Relationship Type="http://schemas.openxmlformats.org/officeDocument/2006/relationships/notesMaster" Target="/ppt/notesMasters/notesMaster1.xml" Id="R78d629e5dfc946f3" /></Relationships>
</file>

<file path=ppt/notesSlides/_rels/notesSlide7.xml.rels>&#65279;<?xml version="1.0" encoding="utf-8"?><Relationships xmlns="http://schemas.openxmlformats.org/package/2006/relationships"><Relationship Type="http://schemas.openxmlformats.org/officeDocument/2006/relationships/slide" Target="/ppt/slides/slide7.xml" Id="Rfdbc8fa965f748ff" /><Relationship Type="http://schemas.openxmlformats.org/officeDocument/2006/relationships/notesMaster" Target="/ppt/notesMasters/notesMaster1.xml" Id="Rb767c728613648ee" /></Relationships>
</file>

<file path=ppt/notesSlides/_rels/notesSlide8.xml.rels>&#65279;<?xml version="1.0" encoding="utf-8"?><Relationships xmlns="http://schemas.openxmlformats.org/package/2006/relationships"><Relationship Type="http://schemas.openxmlformats.org/officeDocument/2006/relationships/slide" Target="/ppt/slides/slide8.xml" Id="Ra2db170c1cd34361" /><Relationship Type="http://schemas.openxmlformats.org/officeDocument/2006/relationships/notesMaster" Target="/ppt/notesMasters/notesMaster1.xml" Id="Re75c986cdf0b482f" /></Relationships>
</file>

<file path=ppt/notesSlides/_rels/notesSlide9.xml.rels>&#65279;<?xml version="1.0" encoding="utf-8"?><Relationships xmlns="http://schemas.openxmlformats.org/package/2006/relationships"><Relationship Type="http://schemas.openxmlformats.org/officeDocument/2006/relationships/slide" Target="/ppt/slides/slide9.xml" Id="R03f203b086e449c6" /><Relationship Type="http://schemas.openxmlformats.org/officeDocument/2006/relationships/notesMaster" Target="/ppt/notesMasters/notesMaster1.xml" Id="R7a692ea7dd4640e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cb76dd703924a0d" /><Relationship Type="http://schemas.openxmlformats.org/officeDocument/2006/relationships/notesMaster" Target="/ppt/notesMasters/notesMaster1.xml" Id="Rb73a12ee4a7646f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d4ef45b473142eb" /><Relationship Type="http://schemas.openxmlformats.org/officeDocument/2006/relationships/notesMaster" Target="/ppt/notesMasters/notesMaster1.xml" Id="R1f1c99aff27b4f4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f8665198f114e8e" /><Relationship Type="http://schemas.openxmlformats.org/officeDocument/2006/relationships/notesMaster" Target="/ppt/notesMasters/notesMaster1.xml" Id="R02b33fa90fd4424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2af7ac0da844e36" /><Relationship Type="http://schemas.openxmlformats.org/officeDocument/2006/relationships/notesMaster" Target="/ppt/notesMasters/notesMaster1.xml" Id="R3a2693af94ac450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22aa26e9a3a44f3" /><Relationship Type="http://schemas.openxmlformats.org/officeDocument/2006/relationships/notesMaster" Target="/ppt/notesMasters/notesMaster1.xml" Id="R6a322bc4f93742d0"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990bb46497404b11" /><Relationship Type="http://schemas.openxmlformats.org/officeDocument/2006/relationships/notesMaster" Target="/ppt/notesMasters/notesMaster1.xml" Id="R9cf9bef9c6d74a7a"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be5fb14afdd84286" /><Relationship Type="http://schemas.openxmlformats.org/officeDocument/2006/relationships/notesMaster" Target="/ppt/notesMasters/notesMaster1.xml" Id="R72c924e9575347a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0ba288888da64faa" /><Relationship Type="http://schemas.openxmlformats.org/officeDocument/2006/relationships/notesMaster" Target="/ppt/notesMasters/notesMaster1.xml" Id="R9da34623841f4d01"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90018bd940b14812" /><Relationship Type="http://schemas.openxmlformats.org/officeDocument/2006/relationships/notesMaster" Target="/ppt/notesMasters/notesMaster1.xml" Id="Re6bbdb10950f4723"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3a77bac8a2fc4e10" /><Relationship Type="http://schemas.openxmlformats.org/officeDocument/2006/relationships/notesMaster" Target="/ppt/notesMasters/notesMaster1.xml" Id="Rcb0d49361bfa4e4a"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675fc222b031416f" /><Relationship Type="http://schemas.openxmlformats.org/officeDocument/2006/relationships/notesMaster" Target="/ppt/notesMasters/notesMaster1.xml" Id="R24d864915ac6461c"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236fa6f9b0314b1a" /><Relationship Type="http://schemas.openxmlformats.org/officeDocument/2006/relationships/notesMaster" Target="/ppt/notesMasters/notesMaster1.xml" Id="Rfae529b130a84a31"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19fc2d5ed4ac4043" /><Relationship Type="http://schemas.openxmlformats.org/officeDocument/2006/relationships/notesMaster" Target="/ppt/notesMasters/notesMaster1.xml" Id="R96dc9250cce3415d"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ea2ed145b2b942fb" /><Relationship Type="http://schemas.openxmlformats.org/officeDocument/2006/relationships/notesMaster" Target="/ppt/notesMasters/notesMaster1.xml" Id="R4de8de761f684109"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afbfc86cc8bf4b1b" /><Relationship Type="http://schemas.openxmlformats.org/officeDocument/2006/relationships/notesMaster" Target="/ppt/notesMasters/notesMaster1.xml" Id="R0c9b2a548f974f83"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25ed9ee1e30844aa" /><Relationship Type="http://schemas.openxmlformats.org/officeDocument/2006/relationships/notesMaster" Target="/ppt/notesMasters/notesMaster1.xml" Id="R656b88e2f06f476d"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3e98b24f4a1747bf" /><Relationship Type="http://schemas.openxmlformats.org/officeDocument/2006/relationships/notesMaster" Target="/ppt/notesMasters/notesMaster1.xml" Id="R0bbdf89d17624c58"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95681652dcc94db3" /><Relationship Type="http://schemas.openxmlformats.org/officeDocument/2006/relationships/notesMaster" Target="/ppt/notesMasters/notesMaster1.xml" Id="Re22bef7aef144660"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a969127c39914ce0" /><Relationship Type="http://schemas.openxmlformats.org/officeDocument/2006/relationships/notesMaster" Target="/ppt/notesMasters/notesMaster1.xml" Id="R708b3b4f3d9649f9"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bcb15129f82c47bc" /><Relationship Type="http://schemas.openxmlformats.org/officeDocument/2006/relationships/notesMaster" Target="/ppt/notesMasters/notesMaster1.xml" Id="R1c301b2aa4864958"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b454c4d6731c4f5d" /><Relationship Type="http://schemas.openxmlformats.org/officeDocument/2006/relationships/notesMaster" Target="/ppt/notesMasters/notesMaster1.xml" Id="R3a11c9a70e454ce5"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cdd6b849b06b4e8f" /><Relationship Type="http://schemas.openxmlformats.org/officeDocument/2006/relationships/notesMaster" Target="/ppt/notesMasters/notesMaster1.xml" Id="Ra62c405de73244e3"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b1f0a8fa404b4b76" /><Relationship Type="http://schemas.openxmlformats.org/officeDocument/2006/relationships/notesMaster" Target="/ppt/notesMasters/notesMaster1.xml" Id="R03b5fb5adf714cce"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7dd834b3c824483a" /><Relationship Type="http://schemas.openxmlformats.org/officeDocument/2006/relationships/notesMaster" Target="/ppt/notesMasters/notesMaster1.xml" Id="R66b4e0ccd8f8455d"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f06476f0f3a44f56" /><Relationship Type="http://schemas.openxmlformats.org/officeDocument/2006/relationships/notesMaster" Target="/ppt/notesMasters/notesMaster1.xml" Id="R251db3812a854fd0"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d3e030d88429476d" /><Relationship Type="http://schemas.openxmlformats.org/officeDocument/2006/relationships/notesMaster" Target="/ppt/notesMasters/notesMaster1.xml" Id="Reb497ec6c74a45eb"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b8c20ab15156463c" /><Relationship Type="http://schemas.openxmlformats.org/officeDocument/2006/relationships/notesMaster" Target="/ppt/notesMasters/notesMaster1.xml" Id="Rfbf1208f33bf4636"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d67ffb4f13574845" /><Relationship Type="http://schemas.openxmlformats.org/officeDocument/2006/relationships/notesMaster" Target="/ppt/notesMasters/notesMaster1.xml" Id="R2040a4f873e74e8e"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ae5fbf24f81943d5" /><Relationship Type="http://schemas.openxmlformats.org/officeDocument/2006/relationships/notesMaster" Target="/ppt/notesMasters/notesMaster1.xml" Id="R4d8ef5c5fe034124"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94d504367525496a" /><Relationship Type="http://schemas.openxmlformats.org/officeDocument/2006/relationships/notesMaster" Target="/ppt/notesMasters/notesMaster1.xml" Id="R52d29cdfb96a4f87"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5afe38f430bc4e2c" /><Relationship Type="http://schemas.openxmlformats.org/officeDocument/2006/relationships/notesMaster" Target="/ppt/notesMasters/notesMaster1.xml" Id="Rb79268d73ed74f29"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c364c19e497f4504" /><Relationship Type="http://schemas.openxmlformats.org/officeDocument/2006/relationships/notesMaster" Target="/ppt/notesMasters/notesMaster1.xml" Id="R8242017bf7b1418a"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81131915b1124d1a" /><Relationship Type="http://schemas.openxmlformats.org/officeDocument/2006/relationships/notesMaster" Target="/ppt/notesMasters/notesMaster1.xml" Id="Ra62181f9cd9f4db1"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0f5525b36fe34e11" /><Relationship Type="http://schemas.openxmlformats.org/officeDocument/2006/relationships/notesMaster" Target="/ppt/notesMasters/notesMaster1.xml" Id="R47d7d07d01504cc4"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8d1361b9c0ff4359" /><Relationship Type="http://schemas.openxmlformats.org/officeDocument/2006/relationships/notesMaster" Target="/ppt/notesMasters/notesMaster1.xml" Id="R64e1e8e924e14b53"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26837fb80a2d4cc4" /><Relationship Type="http://schemas.openxmlformats.org/officeDocument/2006/relationships/notesMaster" Target="/ppt/notesMasters/notesMaster1.xml" Id="Re6117bfe39b94a76"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d11a1eb70d4242e0" /><Relationship Type="http://schemas.openxmlformats.org/officeDocument/2006/relationships/notesMaster" Target="/ppt/notesMasters/notesMaster1.xml" Id="Re45d8f23e5c044ba"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1fb7d15e6dca4915" /><Relationship Type="http://schemas.openxmlformats.org/officeDocument/2006/relationships/notesMaster" Target="/ppt/notesMasters/notesMaster1.xml" Id="R02f0da87bcaa4fc9"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6b19922dad7f459b" /><Relationship Type="http://schemas.openxmlformats.org/officeDocument/2006/relationships/notesMaster" Target="/ppt/notesMasters/notesMaster1.xml" Id="R2c3507a227bb481a"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6cee3942c67149d7" /><Relationship Type="http://schemas.openxmlformats.org/officeDocument/2006/relationships/notesMaster" Target="/ppt/notesMasters/notesMaster1.xml" Id="R1625552fc2eb4471"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d5d843f89ad44f48" /><Relationship Type="http://schemas.openxmlformats.org/officeDocument/2006/relationships/notesMaster" Target="/ppt/notesMasters/notesMaster1.xml" Id="R7cadb0e5d4ef4639"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73d9bc7b52644b43" /><Relationship Type="http://schemas.openxmlformats.org/officeDocument/2006/relationships/notesMaster" Target="/ppt/notesMasters/notesMaster1.xml" Id="R26fc5df32ec344a2"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ed7e817fdcff44ce" /><Relationship Type="http://schemas.openxmlformats.org/officeDocument/2006/relationships/notesMaster" Target="/ppt/notesMasters/notesMaster1.xml" Id="Rdf01e49692be402f"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f7967bc3827e4fa5" /><Relationship Type="http://schemas.openxmlformats.org/officeDocument/2006/relationships/notesMaster" Target="/ppt/notesMasters/notesMaster1.xml" Id="R0ecba85bfe28458e"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be56cee0178d4810" /><Relationship Type="http://schemas.openxmlformats.org/officeDocument/2006/relationships/notesMaster" Target="/ppt/notesMasters/notesMaster1.xml" Id="Rb2373f1a614b4e9b"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799d710b94e7428d" /><Relationship Type="http://schemas.openxmlformats.org/officeDocument/2006/relationships/notesMaster" Target="/ppt/notesMasters/notesMaster1.xml" Id="R493711beeea04a44"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47e34b11836844c1" /><Relationship Type="http://schemas.openxmlformats.org/officeDocument/2006/relationships/notesMaster" Target="/ppt/notesMasters/notesMaster1.xml" Id="R41c7561d673843ab"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3a750672508e4502" /><Relationship Type="http://schemas.openxmlformats.org/officeDocument/2006/relationships/notesMaster" Target="/ppt/notesMasters/notesMaster1.xml" Id="R688ff48bd9ed4624"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a6bef8154d7741d2" /><Relationship Type="http://schemas.openxmlformats.org/officeDocument/2006/relationships/notesMaster" Target="/ppt/notesMasters/notesMaster1.xml" Id="R0efbf4abbabc44ae"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e5339bc7cfcf41ee" /><Relationship Type="http://schemas.openxmlformats.org/officeDocument/2006/relationships/notesMaster" Target="/ppt/notesMasters/notesMaster1.xml" Id="R1787781e05d141f1"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fafac3eb67bb4b3e" /><Relationship Type="http://schemas.openxmlformats.org/officeDocument/2006/relationships/notesMaster" Target="/ppt/notesMasters/notesMaster1.xml" Id="Rc938e6ff9c4148b2"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84c2da2d638f4758" /><Relationship Type="http://schemas.openxmlformats.org/officeDocument/2006/relationships/notesMaster" Target="/ppt/notesMasters/notesMaster1.xml" Id="R310e58011b574deb"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6f784eb2959f48e6" /><Relationship Type="http://schemas.openxmlformats.org/officeDocument/2006/relationships/notesMaster" Target="/ppt/notesMasters/notesMaster1.xml" Id="R9d833a77d8ff4021"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b6f1b15d553945c0" /><Relationship Type="http://schemas.openxmlformats.org/officeDocument/2006/relationships/notesMaster" Target="/ppt/notesMasters/notesMaster1.xml" Id="Rd31a006f17bd4aac"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d0c7c78d1d6e4175" /><Relationship Type="http://schemas.openxmlformats.org/officeDocument/2006/relationships/notesMaster" Target="/ppt/notesMasters/notesMaster1.xml" Id="R497cdbd2ce964ad9"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a61ef02181fe4e02" /><Relationship Type="http://schemas.openxmlformats.org/officeDocument/2006/relationships/notesMaster" Target="/ppt/notesMasters/notesMaster1.xml" Id="Rf1e083a772344161"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74aac31bb5c74095" /><Relationship Type="http://schemas.openxmlformats.org/officeDocument/2006/relationships/notesMaster" Target="/ppt/notesMasters/notesMaster1.xml" Id="R45415167e4754584"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afa2fc0f55424fae" /><Relationship Type="http://schemas.openxmlformats.org/officeDocument/2006/relationships/notesMaster" Target="/ppt/notesMasters/notesMaster1.xml" Id="R409988fd5d51448e"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a58bf8b2c5d94356" /><Relationship Type="http://schemas.openxmlformats.org/officeDocument/2006/relationships/notesMaster" Target="/ppt/notesMasters/notesMaster1.xml" Id="R35377678f78743d1"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79540ec8bee94b88" /><Relationship Type="http://schemas.openxmlformats.org/officeDocument/2006/relationships/notesMaster" Target="/ppt/notesMasters/notesMaster1.xml" Id="Rf7b04db4221d4ddc"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89c1dc345b76471a" /><Relationship Type="http://schemas.openxmlformats.org/officeDocument/2006/relationships/notesMaster" Target="/ppt/notesMasters/notesMaster1.xml" Id="R0df310c611694d50"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3ec34c4b7805487d" /><Relationship Type="http://schemas.openxmlformats.org/officeDocument/2006/relationships/notesMaster" Target="/ppt/notesMasters/notesMaster1.xml" Id="Rb73f759464b7414e"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4ebd5b70165a41b0" /><Relationship Type="http://schemas.openxmlformats.org/officeDocument/2006/relationships/notesMaster" Target="/ppt/notesMasters/notesMaster1.xml" Id="Rbb960c061d094768"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9bccc9c205e04e39" /><Relationship Type="http://schemas.openxmlformats.org/officeDocument/2006/relationships/notesMaster" Target="/ppt/notesMasters/notesMaster1.xml" Id="Rbb7dc0e8933b428c"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8358d67f7c064c30" /><Relationship Type="http://schemas.openxmlformats.org/officeDocument/2006/relationships/notesMaster" Target="/ppt/notesMasters/notesMaster1.xml" Id="R1f17de44287940c5"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a1f87101caae4603" /><Relationship Type="http://schemas.openxmlformats.org/officeDocument/2006/relationships/notesMaster" Target="/ppt/notesMasters/notesMaster1.xml" Id="R1bc83d6b7fa94b37"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d779fbdc376e4c1a" /><Relationship Type="http://schemas.openxmlformats.org/officeDocument/2006/relationships/notesMaster" Target="/ppt/notesMasters/notesMaster1.xml" Id="R7deab6ec3ac841c2"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7f900cd4864a496b" /><Relationship Type="http://schemas.openxmlformats.org/officeDocument/2006/relationships/notesMaster" Target="/ppt/notesMasters/notesMaster1.xml" Id="Rfd35ebdbbb99498a"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96a00bea1c294bb3" /><Relationship Type="http://schemas.openxmlformats.org/officeDocument/2006/relationships/notesMaster" Target="/ppt/notesMasters/notesMaster1.xml" Id="Rf31e2817ab974734"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08b2fe867a51412d" /><Relationship Type="http://schemas.openxmlformats.org/officeDocument/2006/relationships/notesMaster" Target="/ppt/notesMasters/notesMaster1.xml" Id="R2e7e0b4e3863468f"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a96831b20c774886" /><Relationship Type="http://schemas.openxmlformats.org/officeDocument/2006/relationships/notesMaster" Target="/ppt/notesMasters/notesMaster1.xml" Id="R9258e64601ef430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AI에게 지금 무엇을 맡기고 있는가?</a:t>
            </a:r>
          </a:p>
          <a:p xmlns:a="http://schemas.openxmlformats.org/drawingml/2006/main">
            <a:r>
              <a:t/>
            </a:r>
          </a:p>
          <a:p xmlns:a="http://schemas.openxmlformats.org/drawingml/2006/main">
            <a:r>
              <a:t>Slide ID: S01</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(0:00–1:00):** 화면의 질문을 읽고 사용 수준을 평가하는 자리가 아니라고 말한다. 최근 맡겼던 일 하나만 떠올리면 충분하다.</a:t>
            </a:r>
          </a:p>
          <a:p xmlns:a="http://schemas.openxmlformats.org/drawingml/2006/main">
            <a:r>
              <a:t>2. **REFLECTION (1:00–5:00):** 오류 설명, 코드 조사, 결과 확인 중 익숙한 경험을 조용히 떠올리게 한다. 오른쪽 업무 범위는 생각을 돕는 예시일 뿐 순위가 아니다. 응답이나 비교를 요구하지 않는다.</a:t>
            </a:r>
          </a:p>
          <a:p xmlns:a="http://schemas.openxmlformats.org/drawingml/2006/main">
            <a:r>
              <a:t/>
            </a:r>
          </a:p>
          <a:p xmlns:a="http://schemas.openxmlformats.org/drawingml/2006/main">
            <a:r>
              <a:t>Evidence / Source: BEAT-001, CLM-0001, CLM-0002. TEACHING_MODEL.</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Reflection은 개인적인 생각 시간이다. 답변·공유·실천 약속을 요구하지 않는다.</a:t>
            </a:r>
          </a:p>
          <a:p xmlns:a="http://schemas.openxmlformats.org/drawingml/2006/main">
            <a:r>
              <a:t/>
            </a:r>
          </a:p>
          <a:p xmlns:a="http://schemas.openxmlformats.org/drawingml/2006/main">
            <a:r>
              <a:t>Transition: 작은 코드나 오류를 질문하는 익숙한 방식부터 인정하며 S02로 간다.</a:t>
            </a:r>
          </a:p>
          <a:p xmlns:a="http://schemas.openxmlformats.org/drawingml/2006/main">
            <a:r>
              <a:t/>
            </a:r>
          </a:p>
          <a:p xmlns:a="http://schemas.openxmlformats.org/drawingml/2006/main">
            <a:r>
              <a:t>Time Management: Lecture 1분 후 4분간 침묵을 허용한다. 발표자가 예시를 길게 들거나 참석자에게 순서대로 묻지 않는다.</a:t>
            </a:r>
          </a:p>
          <a:p xmlns:a="http://schemas.openxmlformats.org/drawingml/2006/main">
            <a:r>
              <a:t/>
            </a:r>
          </a:p>
          <a:p xmlns:a="http://schemas.openxmlformats.org/drawingml/2006/main">
            <a:r>
              <a:t>Fallback: 청중 반응이 없어도 기다린 뒤 다음 장으로 간다. 개인 경험을 말하게 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작은 질문에는 Chatbot이 유용하다</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“코드 일부나 오류를 ChatGPT에 물어본 적이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(0:00–1:00):** 화면의 두 줄 slice 예시를 보여 준다. 실제 ChatGPT 대화가 아니라 작은 코드 질문을 설명하기 위한 예시라고 알린다.</a:t>
            </a:r>
          </a:p>
          <a:p xmlns:a="http://schemas.openxmlformats.org/drawingml/2006/main">
            <a:r>
              <a:t>2. **EXPLAIN (1:00–3:30):** `row[1:3]`에서 index 1과 2의 값 `[2, 3]`을 짚고, 코드·오류 → 복사 → 질문 → 답 확인 → IDE 복귀 순서를 따라간다. 이처럼 필요한 Context를 사람이 골라 전달하는 방식을 인정한다.</a:t>
            </a:r>
          </a:p>
          <a:p xmlns:a="http://schemas.openxmlformats.org/drawingml/2006/main">
            <a:r>
              <a:t>3. **INTERPRET (3:30–5:00):** 작은 코드 조각의 뜻을 이해하는 데 유용할 수 있음을 말한다. 여러 파일을 가로지르는 질문으로 범위가 커질 때의 문제를 S03에 남긴다.</a:t>
            </a:r>
          </a:p>
          <a:p xmlns:a="http://schemas.openxmlformats.org/drawingml/2006/main">
            <a:r>
              <a:t/>
            </a:r>
          </a:p>
          <a:p xmlns:a="http://schemas.openxmlformats.org/drawingml/2006/main">
            <a:r>
              <a:t>Evidence / Source: BEAT-001, CLM-0001, CLM-0002. TEACHING_MODEL / CONCEPTUAL. `row = [1, 2, 3, 4]`, `row[1:3]` → `[2, 3]`는 화면 설명용 코드 예시이며 실제 ChatGPT 응답이나 새 Trial 기록이 아니다.</a:t>
            </a:r>
          </a:p>
          <a:p xmlns:a="http://schemas.openxmlformats.org/drawingml/2006/main">
            <a:r>
              <a:t/>
            </a:r>
          </a:p>
          <a:p xmlns:a="http://schemas.openxmlformats.org/drawingml/2006/main">
            <a:r>
              <a:t>Claim Boundary: 일반적인 예시이며 특정 제품 기능, 정확도, 성능 또는 다른 방식보다 우월하다는 주장으로 말하지 않는다.</a:t>
            </a:r>
          </a:p>
          <a:p xmlns:a="http://schemas.openxmlformats.org/drawingml/2006/main">
            <a:r>
              <a:t/>
            </a:r>
          </a:p>
          <a:p xmlns:a="http://schemas.openxmlformats.org/drawingml/2006/main">
            <a:r>
              <a:t>Beginner Explanation: 오류나 작은 코드 조각을 함께 보여 주고 설명을 받는 것은 자연스러운 시작점이다.</a:t>
            </a:r>
          </a:p>
          <a:p xmlns:a="http://schemas.openxmlformats.org/drawingml/2006/main">
            <a:r>
              <a:t/>
            </a:r>
          </a:p>
          <a:p xmlns:a="http://schemas.openxmlformats.org/drawingml/2006/main">
            <a:r>
              <a:t>Advanced Insight: 흐름에 필요한 Context를 개발자가 직접 선택해 복사한다. 여기서는 그 수고가 항상 문제라고 단정하지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Opening question은 생각을 여는 질문이다. 손들기나 경험 발표를 요구하지 않는다.</a:t>
            </a:r>
          </a:p>
          <a:p xmlns:a="http://schemas.openxmlformats.org/drawingml/2006/main">
            <a:r>
              <a:t/>
            </a:r>
          </a:p>
          <a:p xmlns:a="http://schemas.openxmlformats.org/drawingml/2006/main">
            <a:r>
              <a:t>Transition: 질문이 여러 파일·구현 경로로 커지면 무엇을 먼저 찾아야 하는지 S03에서 묻는다.</a:t>
            </a:r>
          </a:p>
          <a:p xmlns:a="http://schemas.openxmlformats.org/drawingml/2006/main">
            <a:r>
              <a:t/>
            </a:r>
          </a:p>
          <a:p xmlns:a="http://schemas.openxmlformats.org/drawingml/2006/main">
            <a:r>
              <a:t>Time Management: 다섯 단계의 순서를 짚고 작은 질문에서의 장점을 먼저 말한다. 상세 Prompt 작성법은 다음 ACT에서 다룰 문제이므로 설명하지 않는다.</a:t>
            </a:r>
          </a:p>
          <a:p xmlns:a="http://schemas.openxmlformats.org/drawingml/2006/main">
            <a:r>
              <a:t/>
            </a:r>
          </a:p>
          <a:p xmlns:a="http://schemas.openxmlformats.org/drawingml/2006/main">
            <a:r>
              <a:t>Fallback: 정적 코드 예시와 다섯 단계 흐름을 설명한다. 실제 ChatGPT 대화나 즉석 제품 화면으로 대체하지 않는다. 새 제작본의 PNG 경로는 `production/preview/act0/S02.png`; 통합 렌더 검토 후 사용한다.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질문이 커지면 Context를 모으는 일이 생긴다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테스트와 계약을 찾아 대화에 옮기는 일이 생길 수 있다.</a:t>
            </a:r>
          </a:p>
          <a:p xmlns:a="http://schemas.openxmlformats.org/drawingml/2006/main">
            <a:r>
              <a:t/>
            </a:r>
          </a:p>
          <a:p xmlns:a="http://schemas.openxmlformats.org/drawingml/2006/main">
            <a:r>
              <a:t>Opening Question: “여러 파일에 걸친 질문을 하려면 무엇을 먼저 찾아야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(0:00–1:00):** “CLI 결과가 기대와 다른데 어디서부터 볼까?”라는 개념 사례로 질문의 범위를 넓힌다.</a:t>
            </a:r>
          </a:p>
          <a:p xmlns:a="http://schemas.openxmlformats.org/drawingml/2006/main">
            <a:r>
              <a:t>2. **SHOW (1:00–2:30):** CLI → 처리 흐름 → 이미지 연산 관계를 따라간 뒤 아래의 테스트와 계약 질문을 짚는다. 실제 제품 호출 기록을 그대로 그린 화면이라고 하지 않는다.</a:t>
            </a:r>
          </a:p>
          <a:p xmlns:a="http://schemas.openxmlformats.org/drawingml/2006/main">
            <a:r>
              <a:t>3. **INTERPRET (2:30–4:00):** 개발자가 관련 파일과 조건을 찾아 대화로 옮겨야 할 수 있음을 설명한다. 아직 Agent가 이를 대신한다는 답을 제시하지 않고 S04의 관찰 질문으로 이동한다.</a:t>
            </a:r>
          </a:p>
          <a:p xmlns:a="http://schemas.openxmlformats.org/drawingml/2006/main">
            <a:r>
              <a:t/>
            </a:r>
          </a:p>
          <a:p xmlns:a="http://schemas.openxmlformats.org/drawingml/2006/main">
            <a:r>
              <a:t>Evidence / Source: BEAT-002, CLM-0004, CLM-0009. TEACHING_MODEL / CONCEPTUAL.</a:t>
            </a:r>
          </a:p>
          <a:p xmlns:a="http://schemas.openxmlformats.org/drawingml/2006/main">
            <a:r>
              <a:t/>
            </a:r>
          </a:p>
          <a:p xmlns:a="http://schemas.openxmlformats.org/drawingml/2006/main">
            <a:r>
              <a:t>Claim Boundary: 이 상황은 ACT 0의 문제 모델이다. 특정 Trial의 실제 실패나 모든 Repository 업무에서 반복되는 비용으로 주장하지 않는다.</a:t>
            </a:r>
          </a:p>
          <a:p xmlns:a="http://schemas.openxmlformats.org/drawingml/2006/main">
            <a:r>
              <a:t/>
            </a:r>
          </a:p>
          <a:p xmlns:a="http://schemas.openxmlformats.org/drawingml/2006/main">
            <a:r>
              <a:t>Beginner Explanation: 질문이 커질수록 관련 파일과 테스트를 찾는 일이 먼저 생길 수 있다.</a:t>
            </a:r>
          </a:p>
          <a:p xmlns:a="http://schemas.openxmlformats.org/drawingml/2006/main">
            <a:r>
              <a:t/>
            </a:r>
          </a:p>
          <a:p xmlns:a="http://schemas.openxmlformats.org/drawingml/2006/main">
            <a:r>
              <a:t>Advanced Insight: 여러 파일 간 계약과 호출 경로를 Context로 모으는 일이 코드 생성 전의 별도 부담이 될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S04의 관찰 기준으로 넘어간다.</a:t>
            </a:r>
          </a:p>
          <a:p xmlns:a="http://schemas.openxmlformats.org/drawingml/2006/main">
            <a:r>
              <a:t/>
            </a:r>
          </a:p>
          <a:p xmlns:a="http://schemas.openxmlformats.org/drawingml/2006/main">
            <a:r>
              <a:t>Time Management: 문제를 세 개 이내의 관계로 설명한다. 파일 목록을 늘리거나 해결책을 먼저 공개하지 않는다.</a:t>
            </a:r>
          </a:p>
          <a:p xmlns:a="http://schemas.openxmlformats.org/drawingml/2006/main">
            <a:r>
              <a:t/>
            </a:r>
          </a:p>
          <a:p xmlns:a="http://schemas.openxmlformats.org/drawingml/2006/main">
            <a:r>
              <a:t>Fallback: 도식이 보이지 않으면 CLI 입력, 처리 흐름, 연산 구현의 세 관계와 테스트·계약 질문을 말로 연결한다. 이 사례를 특정 Trial의 실제 실패로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파일명을 주지 않으면 Agent는 어디부터 볼까?</a:t>
            </a:r>
          </a:p>
          <a:p xmlns:a="http://schemas.openxmlformats.org/drawingml/2006/main">
            <a:r>
              <a:t/>
            </a:r>
          </a:p>
          <a:p xmlns:a="http://schemas.openxmlformats.org/drawingml/2006/main">
            <a:r>
              <a:t>Slide ID: S04</a:t>
            </a:r>
          </a:p>
          <a:p xmlns:a="http://schemas.openxmlformats.org/drawingml/2006/main">
            <a:r>
              <a:t/>
            </a:r>
          </a:p>
          <a:p xmlns:a="http://schemas.openxmlformats.org/drawingml/2006/main">
            <a:r>
              <a:t>Working Title: 파일명을 주지 않으면 Agent는 어디부터 볼까?</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Demo에서는 파일을 직접 지정하지 않았을 때의 Search → Read → Trace를 관찰한다.</a:t>
            </a:r>
          </a:p>
          <a:p xmlns:a="http://schemas.openxmlformats.org/drawingml/2006/main">
            <a:r>
              <a:t/>
            </a:r>
          </a:p>
          <a:p xmlns:a="http://schemas.openxmlformats.org/drawingml/2006/main">
            <a:r>
              <a:t>Opening Question: “Agent가 Test, 구현, 호출 경로를 어떻게 찾는가?”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화면의 실제 TRIAL-001 요청 발췌에서 파일명을 지정하지 않았고 코드를 수정하지 말라고 한 점을 짚는다.</a:t>
            </a:r>
          </a:p>
          <a:p xmlns:a="http://schemas.openxmlformats.org/drawingml/2006/main">
            <a:r>
              <a:t>2. **SET WATCH FOR (0:30–1:30):** 실패 테스트, 관련 구현, 제품 호출 경로의 세 관찰 대상을 차례로 가리킨다. 결과를 미리 알려 주지 않는다.</a:t>
            </a:r>
          </a:p>
          <a:p xmlns:a="http://schemas.openxmlformats.org/drawingml/2006/main">
            <a:r>
              <a:t>3. **SCOPE (1:30–2:00):** Codex CLI 0.154.0의 과거 읽기 전용 기록을 볼 것이라고 알린 뒤 S05로 넘긴다.</a:t>
            </a:r>
          </a:p>
          <a:p xmlns:a="http://schemas.openxmlformats.org/drawingml/2006/main">
            <a:r>
              <a:t/>
            </a:r>
          </a:p>
          <a:p xmlns:a="http://schemas.openxmlformats.org/drawingml/2006/main">
            <a:r>
              <a:t>Evidence / Source: DEMO-01, STATE-00, TRIAL-001, BEAT-003, OQ-003, OQ-005. 이 장은 Trial setup이며 관찰 결과를 아직 공개하지 않는다.</a:t>
            </a:r>
          </a:p>
          <a:p xmlns:a="http://schemas.openxmlformats.org/drawingml/2006/main">
            <a:r>
              <a:t/>
            </a:r>
          </a:p>
          <a:p xmlns:a="http://schemas.openxmlformats.org/drawingml/2006/main">
            <a:r>
              <a:t>Claim Boundary: 기록된 Trial은 격리된 비대화형 Codex CLI 0.154.0, macOS, `--sandbox read-only`, `--ignore-user-config` 조건에서 수행됐다. Codex Desktop, 교육 계정 또는 현재 제품 동작을 입증하지 않는다.</a:t>
            </a:r>
          </a:p>
          <a:p xmlns:a="http://schemas.openxmlformats.org/drawingml/2006/main">
            <a:r>
              <a:t/>
            </a:r>
          </a:p>
          <a:p xmlns:a="http://schemas.openxmlformats.org/drawingml/2006/main">
            <a:r>
              <a:t>Beginner Explanation: 결과를 보기 전에 무엇을 관찰할지 정하면 단순히 답만 읽는 것보다 Demo를 따라가기 쉽다.</a:t>
            </a:r>
          </a:p>
          <a:p xmlns:a="http://schemas.openxmlformats.org/drawingml/2006/main">
            <a:r>
              <a:t/>
            </a:r>
          </a:p>
          <a:p xmlns:a="http://schemas.openxmlformats.org/drawingml/2006/main">
            <a:r>
              <a:t>Advanced Insight: 답변뿐 아니라 파일 발견과 호출 경로 추적을 관찰 대상으로 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DEMO-01 / WATCH. 기본 경로는 `production/ACT_0.pptx` S04–S06의 정적 발표다. S04에서 실제 요청 발췌와 세 관찰 대상을 설명하고 S05로 이동한다. PNG는 PPT의 재구성 도식 렌더이며 CLI 캡처가 아니다. 현재 Desktop·교육 계정·Live/HYBRID는 미검증이므로 활성화하지 않는다. 향후 대상 계정·surface, 읽기 전용 조건, runbook, 기대 관찰과 복귀 cue를 발표 환경에서 확인한 뒤에만 검토한다.</a:t>
            </a:r>
          </a:p>
          <a:p xmlns:a="http://schemas.openxmlformats.org/drawingml/2006/main">
            <a:r>
              <a:t/>
            </a:r>
          </a:p>
          <a:p xmlns:a="http://schemas.openxmlformats.org/drawingml/2006/main">
            <a:r>
              <a:t>Audience Interaction: 응답을 요구하지 않는다. 세 관찰 항목을 청중이 마음속으로 따라오게 한다.</a:t>
            </a:r>
          </a:p>
          <a:p xmlns:a="http://schemas.openxmlformats.org/drawingml/2006/main">
            <a:r>
              <a:t/>
            </a:r>
          </a:p>
          <a:p xmlns:a="http://schemas.openxmlformats.org/drawingml/2006/main">
            <a:r>
              <a:t>Transition: “실제 기록에서 어떤 Test와 경로가 발견됐을까요?”라고 묻고 S05에서 근거를 연다.</a:t>
            </a:r>
          </a:p>
          <a:p xmlns:a="http://schemas.openxmlformats.org/drawingml/2006/main">
            <a:r>
              <a:t/>
            </a:r>
          </a:p>
          <a:p xmlns:a="http://schemas.openxmlformats.org/drawingml/2006/main">
            <a:r>
              <a:t>Time Management: 2분 안에 질문과 세 Watch For를 제시하고 Trial 환경의 범위를 한 문장으로 제한한다.</a:t>
            </a:r>
          </a:p>
          <a:p xmlns:a="http://schemas.openxmlformats.org/drawingml/2006/main">
            <a:r>
              <a:t/>
            </a:r>
          </a:p>
          <a:p xmlns:a="http://schemas.openxmlformats.org/drawingml/2006/main">
            <a:r>
              <a:t>Fallback: 정적 기본 경로 — `production/ACT_0.pptx` S04 또는 `production/preview/act0/S04.png`. 새 제작본 렌더 검토는 통합 단계에서 수행한다. 화면 사용이 불가능하면 세 관찰 항목을 말로 제시하고 S05 기록 설명으로 이동한다. Live CLI/Desktop을 즉석에서 열지 않는다. Windows·발표 PC·교육장 표시는 UNVERIFIED.</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Agent가 Test와 호출 경로를 찾았다</a:t>
            </a:r>
          </a:p>
          <a:p xmlns:a="http://schemas.openxmlformats.org/drawingml/2006/main">
            <a:r>
              <a:t/>
            </a:r>
          </a:p>
          <a:p xmlns:a="http://schemas.openxmlformats.org/drawingml/2006/main">
            <a:r>
              <a:t>Slide ID: S05</a:t>
            </a:r>
          </a:p>
          <a:p xmlns:a="http://schemas.openxmlformats.org/drawingml/2006/main">
            <a:r>
              <a:t/>
            </a:r>
          </a:p>
          <a:p xmlns:a="http://schemas.openxmlformats.org/drawingml/2006/main">
            <a:r>
              <a:t>Working Title: Agent가 Test와 호출 경로를 찾았다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8 minutes</a:t>
            </a:r>
          </a:p>
          <a:p xmlns:a="http://schemas.openxmlformats.org/drawingml/2006/main">
            <a:r>
              <a:t/>
            </a:r>
          </a:p>
          <a:p xmlns:a="http://schemas.openxmlformats.org/drawingml/2006/main">
            <a:r>
              <a:t>Mode Split: Demo 8 minutes (정적 TRIAL-001 기록·재구성 도식 기본 경로; HYBRID는 발표 환경 검증 전까지 비활성)</a:t>
            </a:r>
          </a:p>
          <a:p xmlns:a="http://schemas.openxmlformats.org/drawingml/2006/main">
            <a:r>
              <a:t/>
            </a:r>
          </a:p>
          <a:p xmlns:a="http://schemas.openxmlformats.org/drawingml/2006/main">
            <a:r>
              <a:t>Primary Message: TRIAL-001 한 번의 읽기 전용 CLI 조사에서 Agent가 실패 Test, 구현 파일, 계약과 호출 경로를 찾아냈다.</a:t>
            </a:r>
          </a:p>
          <a:p xmlns:a="http://schemas.openxmlformats.org/drawingml/2006/main">
            <a:r>
              <a:t/>
            </a:r>
          </a:p>
          <a:p xmlns:a="http://schemas.openxmlformats.org/drawingml/2006/main">
            <a:r>
              <a:t>Opening Question: “지정하지 않은 파일과 호출 경로를 실제로 찾아냈는가?”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TRIAL-001 기록과 STATE-00 테스트를 재구성한 화면임을 밝힌다. 입력의 숫자는 픽셀 값이며 색은 영역 구분용이다.</a:t>
            </a:r>
          </a:p>
          <a:p xmlns:a="http://schemas.openxmlformats.org/drawingml/2006/main">
            <a:r>
              <a:t>2. (1:00–3:00) `crop(image, 1, 3)`의 끝 좌표 제외 계약을 짚고 입력, 기대 두 열, 구현에 포함된 세 번째 열을 차례로 가리킨다. 결과 tuple은 원본 소스에 근거한 정적 재구성이다.</a:t>
            </a:r>
          </a:p>
          <a:p xmlns:a="http://schemas.openxmlformats.org/drawingml/2006/main">
            <a:r>
              <a:t>3. (3:00–5:00) 실패 테스트명과 `cli.main → pipeline.process_image → transform.crop` 호출 경로를 연결한다. 오른쪽 01–03은 설명 순서이며 Agent의 실제 파일 접근 시각 순서가 아니다.</a:t>
            </a:r>
          </a:p>
          <a:p xmlns:a="http://schemas.openxmlformats.org/drawingml/2006/main">
            <a:r>
              <a:t>4. (5:00–7:00) `row[x_start : x_end + 1]`에서 끝 좌표를 포함하게 되는 지점을 짚는다. 코드를 고치거나 새 Test를 실행하지 않는다.</a:t>
            </a:r>
          </a:p>
          <a:p xmlns:a="http://schemas.openxmlformats.org/drawingml/2006/main">
            <a:r>
              <a:t>5. (7:00–8:00) 읽기 전용 단일 CLI 조사 범위를 확인하고 S06의 관찰과 환경 한계 분리로 넘어간다.</a:t>
            </a:r>
          </a:p>
          <a:p xmlns:a="http://schemas.openxmlformats.org/drawingml/2006/main">
            <a:r>
              <a:t/>
            </a:r>
          </a:p>
          <a:p xmlns:a="http://schemas.openxmlformats.org/drawingml/2006/main">
            <a:r>
              <a:t>Evidence / Source: TRIAL-001, DEMO-01, STATE-00, CLM-0002, CLM-0009. `plan/DEMO_MATRIX.md` TRIAL-001; Demo tag STATE-00 `22e7e2f806de2419b0df649107bbae14dea082eb`: `tests/test_transform.py:9–14`, `src/graypipe/transform.py:7–13`. 입력 ((1,2,3,4),(5,6,7,8)); 기대 ((2,3),(6,7)); 코드에 따른 결과 ((2,3,4),(6,7,8)). 마지막 배열은 새 실행 기록이 아닌 정적 재구성이다.</a:t>
            </a:r>
          </a:p>
          <a:p xmlns:a="http://schemas.openxmlformats.org/drawingml/2006/main">
            <a:r>
              <a:t/>
            </a:r>
          </a:p>
          <a:p xmlns:a="http://schemas.openxmlformats.org/drawingml/2006/main">
            <a:r>
              <a:t>Claim Boundary: Codex CLI 0.154.0의 단일 읽기 전용 조사. 코드 수정 없음. 테스트 배열·구현에 따른 도식이며 screenshot이 아니다. 호출 화살표는 제품 호출 관계이고 Agent 접근 순서가 아니다. README에 기존 결함 안내가 있으므로 아무 힌트 없이 독자 발견했다고 말하지 않는다. 현재 Desktop, 계정, 반복 재현성과 보편적 탐색 능력은 미검증이다.</a:t>
            </a:r>
          </a:p>
          <a:p xmlns:a="http://schemas.openxmlformats.org/drawingml/2006/main">
            <a:r>
              <a:t/>
            </a:r>
          </a:p>
          <a:p xmlns:a="http://schemas.openxmlformats.org/drawingml/2006/main">
            <a:r>
              <a:t>Beginner Explanation: 파일명을 미리 주지 않은 한 번의 조사에서 실패 Test와 관련 구현·호출 경로가 찾아졌다.</a:t>
            </a:r>
          </a:p>
          <a:p xmlns:a="http://schemas.openxmlformats.org/drawingml/2006/main">
            <a:r>
              <a:t/>
            </a:r>
          </a:p>
          <a:p xmlns:a="http://schemas.openxmlformats.org/drawingml/2006/main">
            <a:r>
              <a:t>Advanced Insight: 찾은 경로와 설명은 그 run에서 확인된 범위다. 설명과 수정, 검증은 다른 단계이며 이 Trial에서는 코드를 바꾸지 않았다.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자료만 사용한다. `production/ACT_0.pptx` S05 / `production/preview/act0/S05.png`의 입력 → 기대/구현 결과 → 실패 Test/호출 경로/구현 순서로 가리킨다. Live/HYBRID는 비활성. 기존 DEMO-01 원본 기록은 `demos/runbooks/demo-01.md` 및 `plan/DEMO_MATRIX.md`. 마지막 1분에는 S06 handoff로 이동한다.</a:t>
            </a:r>
          </a:p>
          <a:p xmlns:a="http://schemas.openxmlformats.org/drawingml/2006/main">
            <a:r>
              <a:t/>
            </a:r>
          </a:p>
          <a:p xmlns:a="http://schemas.openxmlformats.org/drawingml/2006/main">
            <a:r>
              <a:t>Audience Interaction: 청중은 S04의 세 Watch For를 확인한다. 중간 응답이나 실습을 요구하지 않는다.</a:t>
            </a:r>
          </a:p>
          <a:p xmlns:a="http://schemas.openxmlformats.org/drawingml/2006/main">
            <a:r>
              <a:t/>
            </a:r>
          </a:p>
          <a:p xmlns:a="http://schemas.openxmlformats.org/drawingml/2006/main">
            <a:r>
              <a:t>Transition: 발견 사실을 다음 장에서 Repository 관찰과 실행 환경 제한으로 나눈다.</a:t>
            </a:r>
          </a:p>
          <a:p xmlns:a="http://schemas.openxmlformats.org/drawingml/2006/main">
            <a:r>
              <a:t/>
            </a:r>
          </a:p>
          <a:p xmlns:a="http://schemas.openxmlformats.org/drawingml/2006/main">
            <a:r>
              <a:t>Time Management: Demo 8분 유지. 1분 출처, 2분 배열, 2분 Test/호출 경로, 2분 구현 차이, 1분 범위와 전환. 초과 시 파일 경로 반복 설명을 줄인다. 새 실행 또는 수정은 하지 않는다.</a:t>
            </a:r>
          </a:p>
          <a:p xmlns:a="http://schemas.openxmlformats.org/drawingml/2006/main">
            <a:r>
              <a:t/>
            </a:r>
          </a:p>
          <a:p xmlns:a="http://schemas.openxmlformats.org/drawingml/2006/main">
            <a:r>
              <a:t>Fallback: 승인된 정적 도식 — `production/ACT_0.pptx` S05와 `production/preview/act0/S05.png`를 사용한다. 새 제작본 삽입·렌더 대조는 통합 단계에서 수행한다. 원본 Trial 캡처나 Live 결과로 표현하지 않는다. 발표용 시각 방향은 사용자 승인 완료이며 Windows·교육장·실제 운영 검증은 별도다.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관찰 결과와 실행 제한을 분리한다</a:t>
            </a:r>
          </a:p>
          <a:p xmlns:a="http://schemas.openxmlformats.org/drawingml/2006/main">
            <a:r>
              <a:t/>
            </a:r>
          </a:p>
          <a:p xmlns:a="http://schemas.openxmlformats.org/drawingml/2006/main">
            <a:r>
              <a:t>Slide ID: S06</a:t>
            </a:r>
          </a:p>
          <a:p xmlns:a="http://schemas.openxmlformats.org/drawingml/2006/main">
            <a:r>
              <a:t/>
            </a:r>
          </a:p>
          <a:p xmlns:a="http://schemas.openxmlformats.org/drawingml/2006/main">
            <a:r>
              <a:t>Working Title: 관찰 결과와 실행 제한을 분리한다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TRIAL-001은 Crop의 추가 열을 재현·설명했지만 코드는 수정하지 않았고, 임시 디렉터리를 만들지 못한 3건의 오류는 읽기 전용 환경 제한이었다.</a:t>
            </a:r>
          </a:p>
          <a:p xmlns:a="http://schemas.openxmlformats.org/drawingml/2006/main">
            <a:r>
              <a:t/>
            </a:r>
          </a:p>
          <a:p xmlns:a="http://schemas.openxmlformats.org/drawingml/2006/main">
            <a:r>
              <a:t>Opening Question: “어떤 결과가 Repository 관찰이고, 어떤 결과가 실행 환경 제한인가?”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왼쪽 “코드에서 확인한 문제”와 오른쪽 “실행 환경에서 생긴 제한”을 서로 다른 원인으로 읽는다.</a:t>
            </a:r>
          </a:p>
          <a:p xmlns:a="http://schemas.openxmlformats.org/drawingml/2006/main">
            <a:r>
              <a:t>2. **SHOW (0:45–2:15):** 왼쪽에서 한 열이 더 포함된 crop 동작과 테스트·호출 경로·계약의 연결을 짚는다. 조사 결과이며 코드는 그대로였음을 말한다.</a:t>
            </a:r>
          </a:p>
          <a:p xmlns:a="http://schemas.openxmlformats.org/drawingml/2006/main">
            <a:r>
              <a:t>3. **SHOW (2:15–3:30):** 오른쪽에서 읽기 전용 권한으로 임시 디렉터리 생성이 막힌 세 오류를 설명한다. crop 결함의 세 추가 증거가 아니다.</a:t>
            </a:r>
          </a:p>
          <a:p xmlns:a="http://schemas.openxmlformats.org/drawingml/2006/main">
            <a:r>
              <a:t>4. **INTERPRET / TRANSFER (3:30–5:00):** 아래의 전체 기록 7개 통과 + crop 실패 + 환경 오류 3건을 확인하고 관찰 사실과 실행 조건을 분리하는 판단으로 마무리한다.</a:t>
            </a:r>
          </a:p>
          <a:p xmlns:a="http://schemas.openxmlformats.org/drawingml/2006/main">
            <a:r>
              <a:t/>
            </a:r>
          </a:p>
          <a:p xmlns:a="http://schemas.openxmlformats.org/drawingml/2006/main">
            <a:r>
              <a:t>Evidence / Source: TRIAL-001의 full suite 기록: 7 passing tests, 기대한 crop failure, 임시 디렉터리를 만들 수 없어 발생한 3 errors. Focused command 기록: 2 passing tests와 같은 crop failure. Working tree는 변경되지 않았다.</a:t>
            </a:r>
          </a:p>
          <a:p xmlns:a="http://schemas.openxmlformats.org/drawingml/2006/main">
            <a:r>
              <a:t/>
            </a:r>
          </a:p>
          <a:p xmlns:a="http://schemas.openxmlformats.org/drawingml/2006/main">
            <a:r>
              <a:t>Claim Boundary: 세 errors는 read-only 환경의 temp-directory 제한이며 crop bug의 근거가 아니다. TRIAL-001은 코드 수정을 수행하지 않았다. Trial 범위 밖의 테스트 결과, 제품 동작 또는 반복성을 추론하지 않는다.</a:t>
            </a:r>
          </a:p>
          <a:p xmlns:a="http://schemas.openxmlformats.org/drawingml/2006/main">
            <a:r>
              <a:t/>
            </a:r>
          </a:p>
          <a:p xmlns:a="http://schemas.openxmlformats.org/drawingml/2006/main">
            <a:r>
              <a:t>Beginner Explanation: 기능의 관찰 결과와 실행 환경의 제한을 서로 다른 원인으로 적는다.</a:t>
            </a:r>
          </a:p>
          <a:p xmlns:a="http://schemas.openxmlformats.org/drawingml/2006/main">
            <a:r>
              <a:t/>
            </a:r>
          </a:p>
          <a:p xmlns:a="http://schemas.openxmlformats.org/drawingml/2006/main">
            <a:r>
              <a:t>Advanced Insight: 실제 결함 징후, 권한·환경 오류, 미측정 사항을 분류해 후속 판단이 잘못된 원인에 고정되지 않게 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DEMO-01 / WHAT HAPPENED. `production/ACT_0.pptx` S06의 흰 관찰 영역과 amber 환경 제한 영역을 순서대로 설명한다. 0:00–0:45 구분, 0:45–2:15 crop 관찰, 2:15–3:30 환경, 3:30–5:00 기록의 범위와 전환이다. 새 테스트나 제품 실행은 하지 않는다.</a:t>
            </a:r>
          </a:p>
          <a:p xmlns:a="http://schemas.openxmlformats.org/drawingml/2006/main">
            <a:r>
              <a:t/>
            </a:r>
          </a:p>
          <a:p xmlns:a="http://schemas.openxmlformats.org/drawingml/2006/main">
            <a:r>
              <a:t>Audience Interaction: 질문은 결과 해석을 위한 Case cue다. 응답을 받거나 환경 오류를 해결하게 하지 않는다.</a:t>
            </a:r>
          </a:p>
          <a:p xmlns:a="http://schemas.openxmlformats.org/drawingml/2006/main">
            <a:r>
              <a:t/>
            </a:r>
          </a:p>
          <a:p xmlns:a="http://schemas.openxmlformats.org/drawingml/2006/main">
            <a:r>
              <a:t>Transition: “Context를 찾는 주체가 바뀌면 무엇이 달라질까요?”라는 질문으로 S07에 연결한다.</a:t>
            </a:r>
          </a:p>
          <a:p xmlns:a="http://schemas.openxmlformats.org/drawingml/2006/main">
            <a:r>
              <a:t/>
            </a:r>
          </a:p>
          <a:p xmlns:a="http://schemas.openxmlformats.org/drawingml/2006/main">
            <a:r>
              <a:t>Time Management: Repo observation과 environment limitation에 시간을 나눠 쓴다. 원인 경계를 줄여 말하더라도 3 errors를 crop 결함으로 부르지 않는다.</a:t>
            </a:r>
          </a:p>
          <a:p xmlns:a="http://schemas.openxmlformats.org/drawingml/2006/main">
            <a:r>
              <a:t/>
            </a:r>
          </a:p>
          <a:p xmlns:a="http://schemas.openxmlformats.org/drawingml/2006/main">
            <a:r>
              <a:t>Fallback: 정적 기본 경로 — `production/ACT_0.pptx` S06 또는 `production/preview/act0/S06.png`. 새 제작본 렌더 검토는 통합 단계에서 수행한다. 화면을 사용할 수 없으면 기록된 숫자와 코드 문제/환경 제한 두 범주만 말로 설명한다. S05에서 이어지는 복귀 cue: “기록된 결과에서, 코드 문제와 실행 제한을 나눠 보겠습니다.” 운영 시간·Windows·room visibility는 UNVERIFIED.</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코드를 AI에게 가져가는 대신 AI를 Repository로 데려간다</a:t>
            </a:r>
          </a:p>
          <a:p xmlns:a="http://schemas.openxmlformats.org/drawingml/2006/main">
            <a:r>
              <a:t/>
            </a:r>
          </a:p>
          <a:p xmlns:a="http://schemas.openxmlformats.org/drawingml/2006/main">
            <a:r>
              <a:t>Slide ID: S07</a:t>
            </a:r>
          </a:p>
          <a:p xmlns:a="http://schemas.openxmlformats.org/drawingml/2006/main">
            <a:r>
              <a:t/>
            </a:r>
          </a:p>
          <a:p xmlns:a="http://schemas.openxmlformats.org/drawingml/2006/main">
            <a:r>
              <a:t>Working Title: 코드를 AI에게 가져가는 대신 AI를 Repository로 데려간다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Repository 조사는 개발자가 코드를 일일이 전달하는 대신 Agent가 사용 가능한 Context를 찾도록 할 수 있다.</a:t>
            </a:r>
          </a:p>
          <a:p xmlns:a="http://schemas.openxmlformats.org/drawingml/2006/main">
            <a:r>
              <a:t/>
            </a:r>
          </a:p>
          <a:p xmlns:a="http://schemas.openxmlformats.org/drawingml/2006/main">
            <a:r>
              <a:t>Opening Question: “Context 수집의 일부를 누가 맡을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 BACK (0:00–0:45):** 위쪽 Repository → 개발자 선택·복사 → AI 관계로 S02를 짧게 회수한다.</a:t>
            </a:r>
          </a:p>
          <a:p xmlns:a="http://schemas.openxmlformats.org/drawingml/2006/main">
            <a:r>
              <a:t>2. **TRANSFER (0:45–2:00):** 아래쪽 개발자 조사 요청 → Agent ↔ Repository로 시선을 옮긴다. 바뀌는 것은 Context를 찾는 주체의 일부이며 목표와 검증 책임을 전부 넘긴다는 뜻이 아니다.</a:t>
            </a:r>
          </a:p>
          <a:p xmlns:a="http://schemas.openxmlformats.org/drawingml/2006/main">
            <a:r>
              <a:t>3. **TRANSFER / TRANSITION (2:00–3:00):** 필요하면 큰 C++ 저장소에서도 모듈·테스트·계약을 찾는 상황을 한 문장으로 연결한다. Repository 접근이 원하는 Task를 정하지는 않는다는 S08 질문으로 이동한다.</a:t>
            </a:r>
          </a:p>
          <a:p xmlns:a="http://schemas.openxmlformats.org/drawingml/2006/main">
            <a:r>
              <a:t/>
            </a:r>
          </a:p>
          <a:p xmlns:a="http://schemas.openxmlformats.org/drawingml/2006/main">
            <a:r>
              <a:t>Evidence / Source: DEMO-01 / TRIAL-001 단일 CLI 관찰; BEAT-003, CLM-0002, CLM-0009. 본문은 Context 수집 역할을 비교하는 TEACHING_MODEL이며 하단에 연결된 과거 관찰의 범위를 별도로 표시한다.</a:t>
            </a:r>
          </a:p>
          <a:p xmlns:a="http://schemas.openxmlformats.org/drawingml/2006/main">
            <a:r>
              <a:t/>
            </a:r>
          </a:p>
          <a:p xmlns:a="http://schemas.openxmlformats.org/drawingml/2006/main">
            <a:r>
              <a:t>Claim Boundary: 이 관찰은 CLI 한 번에 한정되며 제품의 보편적 성능·반복성 주장이 아니다. Repository 접근이 Task 의도나 성공을 자동으로 정한다는 뜻이 아니다.</a:t>
            </a:r>
          </a:p>
          <a:p xmlns:a="http://schemas.openxmlformats.org/drawingml/2006/main">
            <a:r>
              <a:t/>
            </a:r>
          </a:p>
          <a:p xmlns:a="http://schemas.openxmlformats.org/drawingml/2006/main">
            <a:r>
              <a:t>Beginner Explanation: 관련 코드를 모두 복사하기보다 Repository 조사를 요청할 수 있는 가능성을 본다.</a:t>
            </a:r>
          </a:p>
          <a:p xmlns:a="http://schemas.openxmlformats.org/drawingml/2006/main">
            <a:r>
              <a:t/>
            </a:r>
          </a:p>
          <a:p xmlns:a="http://schemas.openxmlformats.org/drawingml/2006/main">
            <a:r>
              <a:t>Advanced Insight: Context 수집 책임의 일부와 Task 목표·판단 책임을 분리한다.</a:t>
            </a:r>
          </a:p>
          <a:p xmlns:a="http://schemas.openxmlformats.org/drawingml/2006/main">
            <a:r>
              <a:t/>
            </a:r>
          </a:p>
          <a:p xmlns:a="http://schemas.openxmlformats.org/drawingml/2006/main">
            <a:r>
              <a:t>C++ Vision Bridge: CONTEXTUAL speaker cue — 큰 저장소의 모듈·테스트·계약을 찾는 상황을 필요할 때 한 문장으로 연결한다. 화면에 도구·빌드·hardware 목록을 추가하지 않는다.</a:t>
            </a:r>
          </a:p>
          <a:p xmlns:a="http://schemas.openxmlformats.org/drawingml/2006/main">
            <a:r>
              <a:t/>
            </a:r>
          </a:p>
          <a:p xmlns:a="http://schemas.openxmlformats.org/drawingml/2006/main">
            <a:r>
              <a:t>Demo Operation: DEMO-01 bounded callback. 본문 화살표는 교육 모델이고 새 제품 동작 관찰이 아니다. S05에서 본 단일 CLI 기록을 근거로 한 가능성을 설명하며 새 UI나 실행을 보여 주지 않는다.</a:t>
            </a:r>
          </a:p>
          <a:p xmlns:a="http://schemas.openxmlformats.org/drawingml/2006/main">
            <a:r>
              <a:t/>
            </a:r>
          </a:p>
          <a:p xmlns:a="http://schemas.openxmlformats.org/drawingml/2006/main">
            <a:r>
              <a:t>Audience Interaction: 별도 질의 없음. 청중이 Mental Shift를 비교해 볼 수 있도록 잠시 시선을 둔다.</a:t>
            </a:r>
          </a:p>
          <a:p xmlns:a="http://schemas.openxmlformats.org/drawingml/2006/main">
            <a:r>
              <a:t/>
            </a:r>
          </a:p>
          <a:p xmlns:a="http://schemas.openxmlformats.org/drawingml/2006/main">
            <a:r>
              <a:t>Transition: “Repository 접근과 Task 의도는 같은가?”라고 물으며 S08에 간다.</a:t>
            </a:r>
          </a:p>
          <a:p xmlns:a="http://schemas.openxmlformats.org/drawingml/2006/main">
            <a:r>
              <a:t/>
            </a:r>
          </a:p>
          <a:p xmlns:a="http://schemas.openxmlformats.org/drawingml/2006/main">
            <a:r>
              <a:t>Time Management: 위·아래 관계의 변화에 집중한다. Trial 상세와 수치를 반복하지 않는다. C++ 연결은 선택적인 한 문장이며 3분 안에 S08로 이동한다.</a:t>
            </a:r>
          </a:p>
          <a:p xmlns:a="http://schemas.openxmlformats.org/drawingml/2006/main">
            <a:r>
              <a:t/>
            </a:r>
          </a:p>
          <a:p xmlns:a="http://schemas.openxmlformats.org/drawingml/2006/main">
            <a:r>
              <a:t>Fallback: Trial record를 표시할 수 없으면 Mental Shift만 Teaching Model로 설명한다. 제품 전반의 사실처럼 말하지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Repository 접근과 Task 의도는 별개다</a:t>
            </a:r>
          </a:p>
          <a:p xmlns:a="http://schemas.openxmlformats.org/drawingml/2006/main">
            <a:r>
              <a:t/>
            </a:r>
          </a:p>
          <a:p xmlns:a="http://schemas.openxmlformats.org/drawingml/2006/main">
            <a:r>
              <a:t>Slide ID: S08</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왼쪽 “볼 수 있는 것”과 오른쪽 “정해야 하는 것”을 분리한다.</a:t>
            </a:r>
          </a:p>
          <a:p xmlns:a="http://schemas.openxmlformats.org/drawingml/2006/main">
            <a:r>
              <a:t>2. **EXPLAIN (0:30–1:30):** 파일·구현·테스트가 보여도 원하는 변화, 허용 범위, 완료 판단은 별도로 전달해야 한다는 구분만 설명한다.</a:t>
            </a:r>
          </a:p>
          <a:p xmlns:a="http://schemas.openxmlformats.org/drawingml/2006/main">
            <a:r>
              <a:t>3. **TRANSFER (1:30–2:00):** 가운데 ≠를 짚고 “코드가 보여도 원하는 일은 따로 전달해야 한다”로 마친다. ACT 1의 구체적인 요청 구조는 아직 소개하지 않는다.</a:t>
            </a:r>
          </a:p>
          <a:p xmlns:a="http://schemas.openxmlformats.org/drawingml/2006/main">
            <a:r>
              <a:t/>
            </a:r>
          </a:p>
          <a:p xmlns:a="http://schemas.openxmlformats.org/drawingml/2006/main">
            <a:r>
              <a:t>Evidence / Source: BEAT-003 next friction, DEMO-01 callback, TRIAL-001; CLM-0002, CLM-0009. TEACHING_MODEL.</a:t>
            </a:r>
          </a:p>
          <a:p xmlns:a="http://schemas.openxmlformats.org/drawingml/2006/main">
            <a:r>
              <a:t/>
            </a:r>
          </a:p>
          <a:p xmlns:a="http://schemas.openxmlformats.org/drawingml/2006/main">
            <a:r>
              <a:t>Claim Boundary: Mental Model이며 모든 제품·환경의 기능 설명이 아니다. Prompt 구조나 완료 조건의 구체 항목은 ACT 1에서 미리 설명하지 않는다.</a:t>
            </a:r>
          </a:p>
          <a:p xmlns:a="http://schemas.openxmlformats.org/drawingml/2006/main">
            <a:r>
              <a:t/>
            </a:r>
          </a:p>
          <a:p xmlns:a="http://schemas.openxmlformats.org/drawingml/2006/main">
            <a:r>
              <a:t>Beginner Explanation: Agent가 Repository를 읽을 수 있어도 원하는 결과는 개발자가 말해야 한다.</a:t>
            </a:r>
          </a:p>
          <a:p xmlns:a="http://schemas.openxmlformats.org/drawingml/2006/main">
            <a:r>
              <a:t/>
            </a:r>
          </a:p>
          <a:p xmlns:a="http://schemas.openxmlformats.org/drawingml/2006/main">
            <a:r>
              <a:t>Advanced Insight: Context access와 objective/acceptance responsibility는 별도 경계다.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 “그렇다면 Repository를 보면 내가 원하는 것까지 알까요?”라고 S09의 논의 질문을 연다.</a:t>
            </a:r>
          </a:p>
          <a:p xmlns:a="http://schemas.openxmlformats.org/drawingml/2006/main">
            <a:r>
              <a:t/>
            </a:r>
          </a:p>
          <a:p xmlns:a="http://schemas.openxmlformats.org/drawingml/2006/main">
            <a:r>
              <a:t>Time Management: Access와 Intent 두 축만 설명하고 ACT 1의 구조나 목록은 소개하지 않는다.</a:t>
            </a:r>
          </a:p>
          <a:p xmlns:a="http://schemas.openxmlformats.org/drawingml/2006/main">
            <a:r>
              <a:t/>
            </a:r>
          </a:p>
          <a:p xmlns:a="http://schemas.openxmlformats.org/drawingml/2006/main">
            <a:r>
              <a:t>Fallback: 화면 도식이 보이지 않으면 두 책임의 차이를 말로 한 번 설명하고 S09로 간다.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Repository를 보면 내가 원하는 것까지 알까?</a:t>
            </a:r>
          </a:p>
          <a:p xmlns:a="http://schemas.openxmlformats.org/drawingml/2006/main">
            <a:r>
              <a:t/>
            </a:r>
          </a:p>
          <a:p xmlns:a="http://schemas.openxmlformats.org/drawingml/2006/main">
            <a:r>
              <a:t>Slide ID: S09</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“Repository를 볼 수 있으면 내가 원하는 것까지 알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**DISCUSS / TRANSITION (0:00–3:00):** “지금 이 저장소에 어떤 일을 맡기고 싶은가?”와 “그 원하는 결과까지 코드에 적혀 있는가?”를 차례로 읽는다. 답이나 다음 단계의 체크리스트를 제시하지 않는다.</a:t>
            </a:r>
          </a:p>
          <a:p xmlns:a="http://schemas.openxmlformats.org/drawingml/2006/main">
            <a:r>
              <a:t>2. **Q&amp;A (3:00–6:00):** 자발적인 질문을 받는다. 질문이 없으면 두 질문을 그대로 남긴 뒤 ACT 1의 모호한 요청으로 이동한다.</a:t>
            </a:r>
          </a:p>
          <a:p xmlns:a="http://schemas.openxmlformats.org/drawingml/2006/main">
            <a:r>
              <a:t/>
            </a:r>
          </a:p>
          <a:p xmlns:a="http://schemas.openxmlformats.org/drawingml/2006/main">
            <a:r>
              <a:t>Evidence / Source: BEAT-003 → BEAT-004, TRANSITIONS.md의 승인된 ACT handoff, DEMO-01 callback, CLM-0002, CLM-0009. TEACHING_MODEL.</a:t>
            </a:r>
          </a:p>
          <a:p xmlns:a="http://schemas.openxmlformats.org/drawingml/2006/main">
            <a:r>
              <a:t/>
            </a:r>
          </a:p>
          <a:p xmlns:a="http://schemas.openxmlformats.org/drawingml/2006/main">
            <a:r>
              <a:t>Claim Boundary: 이 장은 다음 문제를 여는 Teaching Model이다. ACT 1의 다섯 Task Specification 책임이나 구체적 해답을 공개하지 않는다.</a:t>
            </a:r>
          </a:p>
          <a:p xmlns:a="http://schemas.openxmlformats.org/drawingml/2006/main">
            <a:r>
              <a:t/>
            </a:r>
          </a:p>
          <a:p xmlns:a="http://schemas.openxmlformats.org/drawingml/2006/main">
            <a:r>
              <a:t>Beginner Explanation: Repository 접근이 생긴 뒤에도 원하는 결과를 설명할 문제는 남아 있다.</a:t>
            </a:r>
          </a:p>
          <a:p xmlns:a="http://schemas.openxmlformats.org/drawingml/2006/main">
            <a:r>
              <a:t/>
            </a:r>
          </a:p>
          <a:p xmlns:a="http://schemas.openxmlformats.org/drawingml/2006/main">
            <a:r>
              <a:t>Advanced Insight: 관찰 가능한 Context와 개발자가 정해야 할 의도를 구분하며 다음 Story 단계로 이동한다.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신규 Demo 또는 제품 기능 설명은 없다.</a:t>
            </a:r>
          </a:p>
          <a:p xmlns:a="http://schemas.openxmlformats.org/drawingml/2006/main">
            <a:r>
              <a:t/>
            </a:r>
          </a:p>
          <a:p xmlns:a="http://schemas.openxmlformats.org/drawingml/2006/main">
            <a:r>
              <a:t>Audience Interaction: Q&amp;A 3분은 선택적 질문 시간이다. 답변이나 공유를 강제하지 않는다. 침묵은 정상적인 결과로 둔다.</a:t>
            </a:r>
          </a:p>
          <a:p xmlns:a="http://schemas.openxmlformats.org/drawingml/2006/main">
            <a:r>
              <a:t/>
            </a:r>
          </a:p>
          <a:p xmlns:a="http://schemas.openxmlformats.org/drawingml/2006/main">
            <a:r>
              <a:t>Transition: `Chatbot → Prompt`로 다음 ACT에 handoff한다. ACT 1의 내부 구조는 소개하지 않는다.</a:t>
            </a:r>
          </a:p>
          <a:p xmlns:a="http://schemas.openxmlformats.org/drawingml/2006/main">
            <a:r>
              <a:t/>
            </a:r>
          </a:p>
          <a:p xmlns:a="http://schemas.openxmlformats.org/drawingml/2006/main">
            <a:r>
              <a:t>Time Management: Slide Map의 순서를 유지해 Transition 3분 뒤 Q&amp;A 3분을 둔다. Q&amp;A를 늘려 ACT 전체 시간을 옮기지 않는다.</a:t>
            </a:r>
          </a:p>
          <a:p xmlns:a="http://schemas.openxmlformats.org/drawingml/2006/main">
            <a:r>
              <a:t/>
            </a:r>
          </a:p>
          <a:p xmlns:a="http://schemas.openxmlformats.org/drawingml/2006/main">
            <a:r>
              <a:t>Fallback: 질문이 없으면 Opening Question을 그대로 남기고 종료 cue로 ACT 1에 넘긴다. 강사가 질문에 답을 보태지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Task에는 무엇이 아직 정해지지 않았을까?</a:t>
            </a:r>
          </a:p>
          <a:p xmlns:a="http://schemas.openxmlformats.org/drawingml/2006/main">
            <a:r>
              <a:t/>
            </a:r>
          </a:p>
          <a:p xmlns:a="http://schemas.openxmlformats.org/drawingml/2006/main">
            <a:r>
              <a:t>Slide ID: S10</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“같은 Repository를 보더라도 Agent가 원하는 결과까지 자동으로 알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S09의 열린 질문을 회수하고 “같은 Repository를 보고 있다”는 조건을 고정한다.</a:t>
            </a:r>
          </a:p>
          <a:p xmlns:a="http://schemas.openxmlformats.org/drawingml/2006/main">
            <a:r>
              <a:t>2. (2:00–5:00) “filter 성능 개선해줘”와 오른쪽의 무엇을 바꿀지·보존할지·완료로 볼지 세 질문을 차례로 가리킨다. 특정 답을 채우지 않는다.</a:t>
            </a:r>
          </a:p>
          <a:p xmlns:a="http://schemas.openxmlformats.org/drawingml/2006/main">
            <a:r>
              <a:t>3. (5:00–7:00) Repository 접근만으로 남은 결정을 정할 수 있는지 질문하며 S11로 넘긴다. 실제 제품 실패 사례나 관찰 결과로 말하지 않는다.</a:t>
            </a:r>
          </a:p>
          <a:p xmlns:a="http://schemas.openxmlformats.org/drawingml/2006/main">
            <a:r>
              <a:t/>
            </a:r>
          </a:p>
          <a:p xmlns:a="http://schemas.openxmlformats.org/drawingml/2006/main">
            <a:r>
              <a:t>Evidence / Source: BEAT-004, TRIAL-001, CLM-0002. TEACHING_MODEL / CONCEPTUAL. TRIAL-001의 실제 실패 사례가 아니다.</a:t>
            </a:r>
          </a:p>
          <a:p xmlns:a="http://schemas.openxmlformats.org/drawingml/2006/main">
            <a:r>
              <a:t/>
            </a:r>
          </a:p>
          <a:p xmlns:a="http://schemas.openxmlformats.org/drawingml/2006/main">
            <a:r>
              <a:t>Claim Boundary: 접근 가능한 Repository가 Task의 목표·변경 범위·보존 조건·완료 증거를 대신 알려주지는 않는다는 과정의 모델이다. Codex 실패나 Trial 결과로 말하지 않는다.</a:t>
            </a:r>
          </a:p>
          <a:p xmlns:a="http://schemas.openxmlformats.org/drawingml/2006/main">
            <a:r>
              <a:t/>
            </a:r>
          </a:p>
          <a:p xmlns:a="http://schemas.openxmlformats.org/drawingml/2006/main">
            <a:r>
              <a:t>Beginner Explanation: Agent에게 코드가 보인다는 사실과 내가 원하는 변경을 설명했다는 사실은 다르다. 바꿀 것과 끝의 기준을 적어야 한다.</a:t>
            </a:r>
          </a:p>
          <a:p xmlns:a="http://schemas.openxmlformats.org/drawingml/2006/main">
            <a:r>
              <a:t/>
            </a:r>
          </a:p>
          <a:p xmlns:a="http://schemas.openxmlformats.org/drawingml/2006/main">
            <a:r>
              <a:t>Advanced Insight: Task goal, constraints, and verification remain separate from repository access. Do not infer deterministic agent behavior from the conceptual example.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Case 질문을 따라가며 무엇이 비어 있는지 생각하게 한다. 공개 답변이나 실습은 요구하지 않는다.</a:t>
            </a:r>
          </a:p>
          <a:p xmlns:a="http://schemas.openxmlformats.org/drawingml/2006/main">
            <a:r>
              <a:t/>
            </a:r>
          </a:p>
          <a:p xmlns:a="http://schemas.openxmlformats.org/drawingml/2006/main">
            <a:r>
              <a:t>Transition: 어떤 Task 정보가 빠졌는지 약한 요청 비교로 확인한다.</a:t>
            </a:r>
          </a:p>
          <a:p xmlns:a="http://schemas.openxmlformats.org/drawingml/2006/main">
            <a:r>
              <a:t/>
            </a:r>
          </a:p>
          <a:p xmlns:a="http://schemas.openxmlformats.org/drawingml/2006/main">
            <a:r>
              <a:t>Time Management: 7분을 질문과 세 개의 미정 경계에 쓴다. 새 Prompt 체크리스트나 해결책을 미리 소개하지 않는다.</a:t>
            </a:r>
          </a:p>
          <a:p xmlns:a="http://schemas.openxmlformats.org/drawingml/2006/main">
            <a:r>
              <a:t/>
            </a:r>
          </a:p>
          <a:p xmlns:a="http://schemas.openxmlformats.org/drawingml/2006/main">
            <a:r>
              <a:t>Fallback: 정적 기본 경로 — 정적 슬라이드 `production/ACT_1.pptx` S10 또는 `production/preview/act1/S10.png` 사용. 응답이 없어도 7분 후 S11로 이동한다. 새 제작본의 렌더·경로 대조는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요청만으로는 의도가 보이지 않는다</a:t>
            </a:r>
          </a:p>
          <a:p xmlns:a="http://schemas.openxmlformats.org/drawingml/2006/main">
            <a:r>
              <a:t/>
            </a:r>
          </a:p>
          <a:p xmlns:a="http://schemas.openxmlformats.org/drawingml/2006/main">
            <a:r>
              <a:t>Slide ID: S11</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“Agent 입장에서 무엇을 결정해야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“crop test 고쳐줘”를 읽고 교육용 구성 요청임을 밝힌다.</a:t>
            </a:r>
          </a:p>
          <a:p xmlns:a="http://schemas.openxmlformats.org/drawingml/2006/main">
            <a:r>
              <a:t>2. (0:45–3:00) 테스트와 구현 중 무엇을 바꾸라는 뜻인지 두 질문을 비교한다. 이어 목표의 세부·보존 조건·수정 범위·확인 근거·완료 조건을 짚는다.</a:t>
            </a:r>
          </a:p>
          <a:p xmlns:a="http://schemas.openxmlformats.org/drawingml/2006/main">
            <a:r>
              <a:t>3. (3:00–4:00) 특정 답을 제시하지 않고 남은 결정의 주체를 S12로 넘긴다.</a:t>
            </a:r>
          </a:p>
          <a:p xmlns:a="http://schemas.openxmlformats.org/drawingml/2006/main">
            <a:r>
              <a:t/>
            </a:r>
          </a:p>
          <a:p xmlns:a="http://schemas.openxmlformats.org/drawingml/2006/main">
            <a:r>
              <a:t>Evidence / Source: BEAT-004, CLM-0002. TEACHING_MODEL / CONCEPTUAL. 실제 Trial에서 사용한 약한 Prompt가 아니다.</a:t>
            </a:r>
          </a:p>
          <a:p xmlns:a="http://schemas.openxmlformats.org/drawingml/2006/main">
            <a:r>
              <a:t/>
            </a:r>
          </a:p>
          <a:p xmlns:a="http://schemas.openxmlformats.org/drawingml/2006/main">
            <a:r>
              <a:t>Claim Boundary: `crop test 고쳐줘`는 수업용으로 구성한 예시다. 이 요청이 특정 Agent 실패를 일으켰다는 주장을 하지 않는다.</a:t>
            </a:r>
          </a:p>
          <a:p xmlns:a="http://schemas.openxmlformats.org/drawingml/2006/main">
            <a:r>
              <a:t/>
            </a:r>
          </a:p>
          <a:p xmlns:a="http://schemas.openxmlformats.org/drawingml/2006/main">
            <a:r>
              <a:t>Beginner Explanation: 짧은 요청을 비난하지 않고, 그 안에 남아 있는 질문을 찾아본다.</a:t>
            </a:r>
          </a:p>
          <a:p xmlns:a="http://schemas.openxmlformats.org/drawingml/2006/main">
            <a:r>
              <a:t/>
            </a:r>
          </a:p>
          <a:p xmlns:a="http://schemas.openxmlformats.org/drawingml/2006/main">
            <a:r>
              <a:t>Advanced Insight: Missing constraints are developer decisions that cannot be derived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두 해석과 아직 정해지지 않은 정보를 청중이 생각하도록 짧게 멈춘다. 공개 답이나 정답 분류를 요구하지 않는다.</a:t>
            </a:r>
          </a:p>
          <a:p xmlns:a="http://schemas.openxmlformats.org/drawingml/2006/main">
            <a:r>
              <a:t/>
            </a:r>
          </a:p>
          <a:p xmlns:a="http://schemas.openxmlformats.org/drawingml/2006/main">
            <a:r>
              <a:t>Transition: Slide 12에서 같은 요청을 개발자 결정 관점으로 해부한다.</a:t>
            </a:r>
          </a:p>
          <a:p xmlns:a="http://schemas.openxmlformats.org/drawingml/2006/main">
            <a:r>
              <a:t/>
            </a:r>
          </a:p>
          <a:p xmlns:a="http://schemas.openxmlformats.org/drawingml/2006/main">
            <a:r>
              <a:t>Time Management: 4분 안에 한 요청과 다섯 빈칸만 다룬다. 빈칸의 정답이나 해결책은 제시하지 않는다.</a:t>
            </a:r>
          </a:p>
          <a:p xmlns:a="http://schemas.openxmlformats.org/drawingml/2006/main">
            <a:r>
              <a:t/>
            </a:r>
          </a:p>
          <a:p xmlns:a="http://schemas.openxmlformats.org/drawingml/2006/main">
            <a:r>
              <a:t>Fallback: 정적 기본 경로 — 정적 슬라이드 `production/ACT_1.pptx` S11 또는 `production/preview/act1/S11.png` 사용. 청중 응답 없이 진행한다. 새 제작본의 렌더·경로 대조는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개발자가 정해야 하는 경계</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“무엇을 바꾸고, 무엇을 유지하며, 어디까지 바꿔도 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“무엇을 바꿀까?”와 “무엇을 유지할까?”를 짚는다.</a:t>
            </a:r>
          </a:p>
          <a:p xmlns:a="http://schemas.openxmlformats.org/drawingml/2006/main">
            <a:r>
              <a:t>2. (1:00–3:00) 허용 범위, 확인 근거, 완료 판단의 세 질문을 이어 읽는다. 이는 답이 아닌 개발자 판단 질문이다.</a:t>
            </a:r>
          </a:p>
          <a:p xmlns:a="http://schemas.openxmlformats.org/drawingml/2006/main">
            <a:r>
              <a:t>3. (3:00–4:00) 각자 익숙한 요청 하나를 떠올리는 조용한 Reflection으로 마친다. 요청문 작성이나 결과 공유를 시키지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요청을 보내기 전에 바꿀 것, 지킬 것, 끝을 어떻게 볼지 묻는다.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Slide 13에서 질문들을 실용적인 Task Specification 구조로 묶는다.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정적 슬라이드 `production/ACT_1.pptx` S12 또는 `production/preview/act1/S12.png` 사용. 침묵은 정상 진행으로 본다. 새 제작본의 렌더·경로 대조는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Task Specification의 다섯 책임</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“Agent가 작업을 검토 가능하게 수행하려면 무엇을 알아야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Task Specification을 이 과정의 작업 구체화 모델로 소개한다.</a:t>
            </a:r>
          </a:p>
          <a:p xmlns:a="http://schemas.openxmlformats.org/drawingml/2006/main">
            <a:r>
              <a:t>2. (0:45–3:15) 하나의 패널에서 목표·맥락·제약·과정·검증을 위에서 아래로 짚는다. 각 행의 오른쪽 질문이 어떤 미정을 줄이는지 한 문장씩 설명한다.</a:t>
            </a:r>
          </a:p>
          <a:p xmlns:a="http://schemas.openxmlformats.org/drawingml/2006/main">
            <a:r>
              <a:t>3. (3:15–4:00) 다섯 책임을 모두 길게 적으라는 뜻이 아니라 작업에 필요한 경계를 검토할 틀이라고 정리하고 S14로 간다.</a:t>
            </a:r>
          </a:p>
          <a:p xmlns:a="http://schemas.openxmlformats.org/drawingml/2006/main">
            <a:r>
              <a:t/>
            </a:r>
          </a:p>
          <a:p xmlns:a="http://schemas.openxmlformats.org/drawingml/2006/main">
            <a:r>
              <a:t>Evidence / Source: BEAT-005, CLM-0029, OQ-001, OQ-007. TEACHING_MODEL / CONCEPTUAL.</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요청에는 목표, 필요한 상황, 지켜야 할 경계, 작업 흐름, 확인 방법이 들어갈 수 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Slide 14에서 다섯 책임을 짧은 Before / After에 적용한다.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정적 슬라이드 `production/ACT_1.pptx` S13 또는 `production/preview/act1/S13.png` 사용. 새 제작본의 렌더·경로 대조는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더 긴 Prompt보다 분명한 경계</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“두 요청에서 실제로 달라진 정보는 무엇인가?”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왼쪽의 짧은 요청을 읽고 같은 crop 작업을 비교한다고 고정한다.</a:t>
            </a:r>
          </a:p>
          <a:p xmlns:a="http://schemas.openxmlformats.org/drawingml/2006/main">
            <a:r>
              <a:t>2. (2:00–5:00) 오른쪽에서 추가된 목표·맥락, 제약, 과정, 검증 정보를 순서대로 짚는다. 양쪽 모두 한국어 요청이며 영어라서 좋아졌다는 인상을 만들지 않는다.</a:t>
            </a:r>
          </a:p>
          <a:p xmlns:a="http://schemas.openxmlformats.org/drawingml/2006/main">
            <a:r>
              <a:t>3. (5:00–6:00) 하단 C++ 연결에서 출력·API/ABI 보존 범위와 Release 검증 조건도 작업 전에 정할 수 있음을 짧게 말한다.</a:t>
            </a:r>
          </a:p>
          <a:p xmlns:a="http://schemas.openxmlformats.org/drawingml/2006/main">
            <a:r>
              <a:t>4. (6:00–9:00) Case 질문으로 어떤 정보가 추가됐는지 비교한다. 실제 약한/강한 Prompt 비교 실험이 아니며 길이 자체의 효과를 입증하지 않는다고 유지한다.</a:t>
            </a:r>
          </a:p>
          <a:p xmlns:a="http://schemas.openxmlformats.org/drawingml/2006/main">
            <a:r>
              <a:t/>
            </a:r>
          </a:p>
          <a:p xmlns:a="http://schemas.openxmlformats.org/drawingml/2006/main">
            <a:r>
              <a:t>Evidence / Source: BEAT-005, TRIAL-002, CLM-0029, OQ-001, OQ-007. TEACHING_MODEL / CONCEPTUAL.</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a:t>
            </a:r>
          </a:p>
          <a:p xmlns:a="http://schemas.openxmlformats.org/drawingml/2006/main">
            <a:r>
              <a:t/>
            </a:r>
          </a:p>
          <a:p xmlns:a="http://schemas.openxmlformats.org/drawingml/2006/main">
            <a:r>
              <a:t>Beginner Explanation: 긴 문장을 쓰는 것보다 바꿀 결과와 지킬 조건, 확인 방법을 드러내는 것이 도움이 되는 질문 틀이다.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두 요청에서 새로 명시된 책임을 마음속으로 비교한다. 발표 응답은 요구하지 않는다.</a:t>
            </a:r>
          </a:p>
          <a:p xmlns:a="http://schemas.openxmlformats.org/drawingml/2006/main">
            <a:r>
              <a:t/>
            </a:r>
          </a:p>
          <a:p xmlns:a="http://schemas.openxmlformats.org/drawingml/2006/main">
            <a:r>
              <a:t>Transition: “이 요청을 받은 Agent는 수정부터 시작할까?”라는 질문으로 Trial 관찰에 들어간다.</a:t>
            </a:r>
          </a:p>
          <a:p xmlns:a="http://schemas.openxmlformats.org/drawingml/2006/main">
            <a:r>
              <a:t/>
            </a:r>
          </a:p>
          <a:p xmlns:a="http://schemas.openxmlformats.org/drawingml/2006/main">
            <a:r>
              <a:t>Time Management: After는 네 줄의 비교 축으로 한정한다. 전체 Trial Prompt나 코드 지시를 화면에 복사하지 않는다. 시간이 부족하면 C++ inset을 생략한다.</a:t>
            </a:r>
          </a:p>
          <a:p xmlns:a="http://schemas.openxmlformats.org/drawingml/2006/main">
            <a:r>
              <a:t/>
            </a:r>
          </a:p>
          <a:p xmlns:a="http://schemas.openxmlformats.org/drawingml/2006/main">
            <a:r>
              <a:t>Fallback: 정적 기본 경로 — 정적 비교 슬라이드 `production/ACT_1.pptx` S14 또는 `production/preview/act1/S14.png` 사용. Trial 결과로 대체하지 않는다. 새 제작본의 렌더·경로 대조는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먼저 무엇을 하는지 보자</a:t>
            </a:r>
          </a:p>
          <a:p xmlns:a="http://schemas.openxmlformats.org/drawingml/2006/main">
            <a:r>
              <a:t/>
            </a:r>
          </a:p>
          <a:p xmlns:a="http://schemas.openxmlformats.org/drawingml/2006/main">
            <a:r>
              <a:t>Slide ID: S15</a:t>
            </a:r>
          </a:p>
          <a:p xmlns:a="http://schemas.openxmlformats.org/drawingml/2006/main">
            <a:r>
              <a:t/>
            </a:r>
          </a:p>
          <a:p xmlns:a="http://schemas.openxmlformats.org/drawingml/2006/main">
            <a:r>
              <a:t>Working Title: 먼저 무엇을 하는지 보자</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이 한 번의 관찰에서는 재현, 조사, 계획, 수정, 검증 순서를 확인할 수 있다.</a:t>
            </a:r>
          </a:p>
          <a:p xmlns:a="http://schemas.openxmlformats.org/drawingml/2006/main">
            <a:r>
              <a:t/>
            </a:r>
          </a:p>
          <a:p xmlns:a="http://schemas.openxmlformats.org/drawingml/2006/main">
            <a:r>
              <a:t>Opening Question: “이 요청을 받은 Agent가 수정부터 시작할까?”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(0:00–0:35) “이 요청을 받으면 수정부터 시작할까?”를 제시한다.</a:t>
            </a:r>
          </a:p>
          <a:p xmlns:a="http://schemas.openxmlformats.org/drawingml/2006/main">
            <a:r>
              <a:t>2. (0:35–1:35) 재현 → 조사 → 계획 → 수정 → 검증의 다섯 관찰 단계를 가리킨다. 화면은 WATCH 기준이며 결과를 미리 읽어 주는 요약이 아니다.</a:t>
            </a:r>
          </a:p>
          <a:p xmlns:a="http://schemas.openxmlformats.org/drawingml/2006/main">
            <a:r>
              <a:t>3. (1:35–2:00) 단일 과거 CLI 기록의 행동을 다음 두 장에서 대조한다고 알리고 S16으로 이동한다.</a:t>
            </a:r>
          </a:p>
          <a:p xmlns:a="http://schemas.openxmlformats.org/drawingml/2006/main">
            <a:r>
              <a:t/>
            </a:r>
          </a:p>
          <a:p xmlns:a="http://schemas.openxmlformats.org/drawingml/2006/main">
            <a:r>
              <a:t>Evidence / Source: BEAT-006, TRIAL-002, INV-MATURITY-011. OBSERVED_PRODUCT; one historical Codex CLI run only.</a:t>
            </a:r>
          </a:p>
          <a:p xmlns:a="http://schemas.openxmlformats.org/drawingml/2006/main">
            <a:r>
              <a:t/>
            </a:r>
          </a:p>
          <a:p xmlns:a="http://schemas.openxmlformats.org/drawingml/2006/main">
            <a:r>
              <a:t>Claim Boundary: TRIAL-002는 2026-09-28 macOS Codex CLI 0.154.0의 단일 실행 기록이다. Desktop, 계정, 반복성 또는 다른 모델을 증명하지 않는다.</a:t>
            </a:r>
          </a:p>
          <a:p xmlns:a="http://schemas.openxmlformats.org/drawingml/2006/main">
            <a:r>
              <a:t/>
            </a:r>
          </a:p>
          <a:p xmlns:a="http://schemas.openxmlformats.org/drawingml/2006/main">
            <a:r>
              <a:t>Beginner Explanation: 코드 변경 전 어떤 행동을 먼저 살펴볼지 정하면 Demo를 따라가기 쉽다.</a:t>
            </a:r>
          </a:p>
          <a:p xmlns:a="http://schemas.openxmlformats.org/drawingml/2006/main">
            <a:r>
              <a:t/>
            </a:r>
          </a:p>
          <a:p xmlns:a="http://schemas.openxmlformats.org/drawingml/2006/main">
            <a:r>
              <a:t>Advanced Insight: Keep requested workflow separate from the events evidenced in the recorded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RECORD-BASED WATCH. 2분 Lecture 동안 제품 실행을 재생하지 않는다. 요청한 재현·조사·계획·수정·검증을 관찰 기준으로 제시한다. Trial source: `plan/DEMO_MATRIX.md`, TRIAL-002. 현재 Desktop surface나 실제 터미널 캡처를 보여 주지 않는다.</a:t>
            </a:r>
          </a:p>
          <a:p xmlns:a="http://schemas.openxmlformats.org/drawingml/2006/main">
            <a:r>
              <a:t/>
            </a:r>
          </a:p>
          <a:p xmlns:a="http://schemas.openxmlformats.org/drawingml/2006/main">
            <a:r>
              <a:t>Audience Interaction: 관찰 순서를 마음속으로 따라오게 한다. 응답이나 실습을 요구하지 않는다.</a:t>
            </a:r>
          </a:p>
          <a:p xmlns:a="http://schemas.openxmlformats.org/drawingml/2006/main">
            <a:r>
              <a:t/>
            </a:r>
          </a:p>
          <a:p xmlns:a="http://schemas.openxmlformats.org/drawingml/2006/main">
            <a:r>
              <a:t>Transition: Slide 16에서 조사와 변경의 핵심 장면을 보여준다.</a:t>
            </a:r>
          </a:p>
          <a:p xmlns:a="http://schemas.openxmlformats.org/drawingml/2006/main">
            <a:r>
              <a:t/>
            </a:r>
          </a:p>
          <a:p xmlns:a="http://schemas.openxmlformats.org/drawingml/2006/main">
            <a:r>
              <a:t>Time Management: 2분 안에 관찰 기준만 설명한다. Trial 결과를 앞당겨 보여 주거나 현재 제품 UI를 재현하지 않는다.</a:t>
            </a:r>
          </a:p>
          <a:p xmlns:a="http://schemas.openxmlformats.org/drawingml/2006/main">
            <a:r>
              <a:t/>
            </a:r>
          </a:p>
          <a:p xmlns:a="http://schemas.openxmlformats.org/drawingml/2006/main">
            <a:r>
              <a:t>Fallback: 정적 기본 경로 — 정적 WATCH 슬라이드 `production/ACT_1.pptx` S15 또는 `production/preview/act1/S15.png` 사용. 라이브 실행은 이 단계에서 하지 않는다. 새 제작본의 렌더·경로 대조는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조사에서 한 줄 변경까지</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“수정 전에 어떤 근거를 확인했는가?”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상단의 실패 테스트 → 호출 경로 → 계약 확인 → 수정 전 계획을 읽는다. 실패 테스트명은 `test_crop_excludes_end_coordinate`, 제품 호출 관계는 `cli.main → pipeline.process_image → transform.crop`이다.</a:t>
            </a:r>
          </a:p>
          <a:p xmlns:a="http://schemas.openxmlformats.org/drawingml/2006/main">
            <a:r>
              <a:t>2. (1:00–2:00) `[x_start, x_end)`가 끝 좌표를 제외하는 계약임을 확인한다. S05의 `crop(image, 1, 3)` 예시를 짧게 회수한다.</a:t>
            </a:r>
          </a:p>
          <a:p xmlns:a="http://schemas.openxmlformats.org/drawingml/2006/main">
            <a:r>
              <a:t>3. (2:00–3:15) 왼쪽 `row[x_start : x_end + 1]`에서 오른쪽 `row[x_start : x_end]`로 바뀐 실제 한 줄 diff를 가리킨다. 수정 전에 계획을 알린 기록이 있었다고 말한다.</a:t>
            </a:r>
          </a:p>
          <a:p xmlns:a="http://schemas.openxmlformats.org/drawingml/2006/main">
            <a:r>
              <a:t>4. (3:15–4:00) 이 입력의 너비 3이 계약대로 2가 되는 변화로 정리한다. 정적 소스·diff 재구성이며 새 실행이나 screenshot이 아님을 유지하고 S17로 넘긴다.</a:t>
            </a:r>
          </a:p>
          <a:p xmlns:a="http://schemas.openxmlformats.org/drawingml/2006/main">
            <a:r>
              <a:t/>
            </a:r>
          </a:p>
          <a:p xmlns:a="http://schemas.openxmlformats.org/drawingml/2006/main">
            <a:r>
              <a:t>Evidence / Source: BEAT-006, TRIAL-002, INV-MATURITY-011. OBSERVED_PRODUCT, one recorded CLI run.</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계약을 먼저 맞춘 뒤 꼭 필요한 한 줄만 바꿨다.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S16의 실제 diff 재구성 도식을 사용한다. 실패 테스트·호출 경로·계약·수정 전 계획 → Before/After slice → 너비 변화를 순서대로 가리킨다. source test ID: `test_crop_excludes_end_coordinate`. Source: TRIAL-002 record, STATE-00 및 STATE-00-FIXED의 `src/graypipe/transform.py`.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Slide 17에서 변경 결과를 어떤 확인으로 뒷받침했는지 본다.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정적 PPTX S16 또는 `production/preview/act1/S16.png` 사용. 시각 도식은 기록에서 재구성한 자료이며 원본 화면 캡처가 아니다. 실행 실패 상황은 없다: Live를 하지 않는다. 새 제작본의 렌더·경로 대조는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변경 결과와 확인 증거</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“생성된 변경을 어떤 확인이 뒷받침하는가?”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단일 TRIAL-002의 변경 뒤 기록임을 고정한다.</a:t>
            </a:r>
          </a:p>
          <a:p xmlns:a="http://schemas.openxmlformats.org/drawingml/2006/main">
            <a:r>
              <a:t>2. (0:45–2:45) 동작 확인(집중 3/3·전체 11/11), 실행 확인(CLI smoke PASS), 범위 확인(한 파일·한 줄·diff check)을 세 묶음으로 읽는다. 각각 확인한 범위가 다름을 설명한다.</a:t>
            </a:r>
          </a:p>
          <a:p xmlns:a="http://schemas.openxmlformats.org/drawingml/2006/main">
            <a:r>
              <a:t>3. (2:45–3:30) 하단의 성능 benchmark 미실행을 밝힌다. 이 테스트 통과를 성능 개선 근거로 바꾸지 않는다.</a:t>
            </a:r>
          </a:p>
          <a:p xmlns:a="http://schemas.openxmlformats.org/drawingml/2006/main">
            <a:r>
              <a:t>4. (3:30–4:00) 생성된 코드와 완료 판단의 차이로 S18에 넘긴다.</a:t>
            </a:r>
          </a:p>
          <a:p xmlns:a="http://schemas.openxmlformats.org/drawingml/2006/main">
            <a:r>
              <a:t/>
            </a:r>
          </a:p>
          <a:p xmlns:a="http://schemas.openxmlformats.org/drawingml/2006/main">
            <a:r>
              <a:t>Evidence / Source: BEAT-007, INV-VERIFY-001, TRIAL-002, CLM-0029, CLM-0027. OBSERVED_PRODUCT, one Codex CLI run.</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완료라고 말할 때 코드와 함께 어떤 확인이 있었는지 보여 준다.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생성 자체와 완료 판단을 구분하는 Slide 18로 간다.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정적 PPTX S17 또는 `production/preview/act1/S17.png` 사용. 수치는 TRIAL-002 기록에 한정한다; 새로운 pass 수치를 추가하지 않는다. 새 제작본의 렌더·경로 대조는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Generated ≠ Done</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“어떤 Check가 어떤 Claim을 뒷받침하는가?”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왼쪽 “코드가 나왔다”에서 오른쪽 “완료라고 말할 수 있나?”로 시선을 옮긴다.</a:t>
            </a:r>
          </a:p>
          <a:p xmlns:a="http://schemas.openxmlformats.org/drawingml/2006/main">
            <a:r>
              <a:t>2. (0:45–1:30) 가운데 동작 테스트·샘플 실행·변경 검토를 세 판단 근거로 설명한다. S17에서 본 관찰 사실은 하단 출처의 범위로만 회수한다.</a:t>
            </a:r>
          </a:p>
          <a:p xmlns:a="http://schemas.openxmlformats.org/drawingml/2006/main">
            <a:r>
              <a:t>3. (1:30–2:30) 성능 개선을 주장하는 작업에는 해당 입력·환경의 측정도 필요할 수 있다고 설명한다. TRIAL-002에서 benchmark가 실행됐다는 뜻이 아니다.</a:t>
            </a:r>
          </a:p>
          <a:p xmlns:a="http://schemas.openxmlformats.org/drawingml/2006/main">
            <a:r>
              <a:t>4. (2:30–3:00) 주장마다 필요한 근거가 다르다는 S19로 넘긴다.</a:t>
            </a:r>
          </a:p>
          <a:p xmlns:a="http://schemas.openxmlformats.org/drawingml/2006/main">
            <a:r>
              <a:t/>
            </a:r>
          </a:p>
          <a:p xmlns:a="http://schemas.openxmlformats.org/drawingml/2006/main">
            <a:r>
              <a:t>Evidence / Source: BEAT-007, INV-VERIFY-001, TRIAL-002, CLM-0029, CLM-0027. OBSERVED_PRODUCT and separate TEACHING_MODEL.</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a:t>
            </a:r>
          </a:p>
          <a:p xmlns:a="http://schemas.openxmlformats.org/drawingml/2006/main">
            <a:r>
              <a:t/>
            </a:r>
          </a:p>
          <a:p xmlns:a="http://schemas.openxmlformats.org/drawingml/2006/main">
            <a:r>
              <a:t>Beginner Explanation: 코드가 생성됐다는 사실은 완료를 판단하는 한 가지 정보일 뿐이다.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Slide 19 contains the approved Supporting C++ transfer inset. Do not duplicate it here.</a:t>
            </a:r>
          </a:p>
          <a:p xmlns:a="http://schemas.openxmlformats.org/drawingml/2006/main">
            <a:r>
              <a:t/>
            </a:r>
          </a:p>
          <a:p xmlns:a="http://schemas.openxmlformats.org/drawingml/2006/main">
            <a:r>
              <a:t>Demo Operation: TRIAL-002 verification callback only; DEMO-05의 8분 구간 밖이다. 별도 관찰 카드나 새 결과를 보여 주지 않고 하단 출처로 과거 확인 범위를 회수한다.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Slide 19에서 각 Check가 뒷받침하는 범위를 비교한다.</a:t>
            </a:r>
          </a:p>
          <a:p xmlns:a="http://schemas.openxmlformats.org/drawingml/2006/main">
            <a:r>
              <a:t/>
            </a:r>
          </a:p>
          <a:p xmlns:a="http://schemas.openxmlformats.org/drawingml/2006/main">
            <a:r>
              <a:t>Time Management: 세 분 안에 기록 사실과 Teaching Model을 분리한다. S17의 다섯 수치를 다시 읽지 않는다.</a:t>
            </a:r>
          </a:p>
          <a:p xmlns:a="http://schemas.openxmlformats.org/drawingml/2006/main">
            <a:r>
              <a:t/>
            </a:r>
          </a:p>
          <a:p xmlns:a="http://schemas.openxmlformats.org/drawingml/2006/main">
            <a:r>
              <a:t>Fallback: 정적 PPTX S18 또는 `production/preview/act1/S18.png`를 사용한다. 생성·완료의 관계는 교육 모델, TRIAL-002는 하단에 표시된 과거 관찰로 구분한다. 새 렌더 검토는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Check마다 확인하는 범위</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“이 Check로 무엇까지 말할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표가 특정 테스트의 만능 효과를 뜻하지 않는다고 소개한다. 실제 TRIAL-002는 집중·전체 테스트, CLI smoke, diff를 확인했다는 하단 출처를 짚는다.</a:t>
            </a:r>
          </a:p>
          <a:p xmlns:a="http://schemas.openxmlformats.org/drawingml/2006/main">
            <a:r>
              <a:t>2. (1:00–3:00) 확인 방법 → 말할 수 있는 범위의 다섯 행을 설명한다. 성능 측정 행은 교육 모델이며 TRIAL-002에서 benchmark를 실행하지 않았다고 밝힌다.</a:t>
            </a:r>
          </a:p>
          <a:p xmlns:a="http://schemas.openxmlformats.org/drawingml/2006/main">
            <a:r>
              <a:t>3. (3:00–4:00) C++의 Release 실행, API/ABI, 대상 데이터도 어떤 주장을 확인할지에 맞춰 고르는 경계로 연결한다.</a:t>
            </a:r>
          </a:p>
          <a:p xmlns:a="http://schemas.openxmlformats.org/drawingml/2006/main">
            <a:r>
              <a:t>4. (4:00–5:00) 익숙한 Check가 뒷받침하는 Claim을 개인적으로 떠올리는 Reflection으로 마친다.</a:t>
            </a:r>
          </a:p>
          <a:p xmlns:a="http://schemas.openxmlformats.org/drawingml/2006/main">
            <a:r>
              <a:t/>
            </a:r>
          </a:p>
          <a:p xmlns:a="http://schemas.openxmlformats.org/drawingml/2006/main">
            <a:r>
              <a:t>Evidence / Source: BEAT-007, INV-VERIFY-001, TRIAL-002, CLM-0029, CLM-0027. Actual checks are separate from the TEACHING_MODEL mapping.</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a:t>
            </a:r>
          </a:p>
          <a:p xmlns:a="http://schemas.openxmlformats.org/drawingml/2006/main">
            <a:r>
              <a:t/>
            </a:r>
          </a:p>
          <a:p xmlns:a="http://schemas.openxmlformats.org/drawingml/2006/main">
            <a:r>
              <a:t>Beginner Explanation: Focused test는 바뀐 동작을, 전체 Test는 기존 suite의 범위를, smoke는 sample 실행 경로를 확인한다.</a:t>
            </a:r>
          </a:p>
          <a:p xmlns:a="http://schemas.openxmlformats.org/drawingml/2006/main">
            <a:r>
              <a:t/>
            </a:r>
          </a:p>
          <a:p xmlns:a="http://schemas.openxmlformats.org/drawingml/2006/main">
            <a:r>
              <a:t>Advanced Insight: For C++ projects, match Release build, API/ABI checks, regression tests, and measurement to the claim and risk. These are illustrative engineering patterns, not this Demo repository’s tooling.</a:t>
            </a:r>
          </a:p>
          <a:p xmlns:a="http://schemas.openxmlformats.org/drawingml/2006/main">
            <a:r>
              <a:t/>
            </a:r>
          </a:p>
          <a:p xmlns:a="http://schemas.openxmlformats.org/drawingml/2006/main">
            <a:r>
              <a:t>C++ Vision Bridge: Supporting Bridge: `build claim → Release build`; `compatibility claim → API / ABI review`; `performance claim → benchmark with named workload`. No Windows, shell, IDE, or hardware setup is asserted.</a:t>
            </a:r>
          </a:p>
          <a:p xmlns:a="http://schemas.openxmlformats.org/drawingml/2006/main">
            <a:r>
              <a:t/>
            </a:r>
          </a:p>
          <a:p xmlns:a="http://schemas.openxmlformats.org/drawingml/2006/main">
            <a:r>
              <a:t>Demo Operation: TRIAL-002 evidence callback outside the 8-minute Demo slot. 본문 표는 일반적인 check-to-claim 교육 모델이다. 하단 출처에는 실제 Trial에서 수행한 확인만 따로 표시한다. Benchmark 미실행 경계를 유지하고 새 수치나 실행을 추가하지 않는다.</a:t>
            </a:r>
          </a:p>
          <a:p xmlns:a="http://schemas.openxmlformats.org/drawingml/2006/main">
            <a:r>
              <a:t/>
            </a:r>
          </a:p>
          <a:p xmlns:a="http://schemas.openxmlformats.org/drawingml/2006/main">
            <a:r>
              <a:t>Audience Interaction: 마지막 1분은 각자가 익숙한 Check와 그 Check가 뒷받침하는 Claim을 조용히 생각한다. 결과 발표는 요구하지 않는다.</a:t>
            </a:r>
          </a:p>
          <a:p xmlns:a="http://schemas.openxmlformats.org/drawingml/2006/main">
            <a:r>
              <a:t/>
            </a:r>
          </a:p>
          <a:p xmlns:a="http://schemas.openxmlformats.org/drawingml/2006/main">
            <a:r>
              <a:t>Transition: 다음 작업에도 반복할 정보를 청중이 구분하도록 질문을 연다.</a:t>
            </a:r>
          </a:p>
          <a:p xmlns:a="http://schemas.openxmlformats.org/drawingml/2006/main">
            <a:r>
              <a:t/>
            </a:r>
          </a:p>
          <a:p xmlns:a="http://schemas.openxmlformats.org/drawingml/2006/main">
            <a:r>
              <a:t>Time Management: Lecture 4분과 Reflection 1분을 분리한다. Advanced C++ examples are optional under time pressure; keep the scope labels.</a:t>
            </a:r>
          </a:p>
          <a:p xmlns:a="http://schemas.openxmlformats.org/drawingml/2006/main">
            <a:r>
              <a:t/>
            </a:r>
          </a:p>
          <a:p xmlns:a="http://schemas.openxmlformats.org/drawingml/2006/main">
            <a:r>
              <a:t>Fallback: 정적 PPTX S19 또는 `production/preview/act1/S19.png`를 사용한다. 표의 일반적인 범위와 하단 Trial 출처를 구분한다. 새 렌더 검토는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이번 Task인가, 계속 유지할 Project 정보인가?</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“매번 Prompt에 반복해서 쓰는 내용 중 이번 Task에만 필요한 것은 무엇이고, Project가 계속 유지해야 할 것은 무엇인가?”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최근 요청에 썼던 문장 하나를 떠올리고 “이번 작업에만?”과 “다음 작업에도?” 중 어디에 해당할지 개인적으로 생각한다. 화면의 두 영역은 비워 둔다.</a:t>
            </a:r>
          </a:p>
          <a:p xmlns:a="http://schemas.openxmlformats.org/drawingml/2006/main">
            <a:r>
              <a:t>2. (1:00–3:00) 자발적인 Q&amp;A를 받는다. 답이나 분류 기준을 미리 공개하지 않는다. 침묵도 정상 진행이다.</a:t>
            </a:r>
          </a:p>
          <a:p xmlns:a="http://schemas.openxmlformats.org/drawingml/2006/main">
            <a:r>
              <a:t>3. (3:00) S21에서 후보 예시를 함께 확인하겠다고 전환한다.</a:t>
            </a:r>
          </a:p>
          <a:p xmlns:a="http://schemas.openxmlformats.org/drawingml/2006/main">
            <a:r>
              <a:t/>
            </a:r>
          </a:p>
          <a:p xmlns:a="http://schemas.openxmlformats.org/drawingml/2006/main">
            <a:r>
              <a:t>Evidence / Source: BEAT-007 → BEAT-008 handoff, CLM-0029, CLM-0027, CLM-0003, CLM-0005. TEACHING_MODEL.</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이번 요청에만 필요한 말과 여러 번 반복할 수 있는 규칙이 다를 수 있음을 생각한다.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Slide 21에서 Reflection/Discussion을 회수하고 “왜 Project 설명을 매번 다시 쓰는가?”라는 ACT 2 질문으로 넘긴다.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정적 질문 슬라이드 `production/ACT_1.pptx` S20 또는 `production/preview/act1/S20.png` 사용. 공유 응답이 없어도 다음으로 진행한다. 새 제작본의 렌더·경로 대조는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반복하는 설명을 두 범주로 나누기</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“이번 Task에만 필요한 정보와 Project가 계속 유지할 정보는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Reflection) S20의 두 질문을 회수하고 화면의 후보가 자신의 작업에서도 같은 수명·범위인지 조용히 생각하게 한다.</a:t>
            </a:r>
          </a:p>
          <a:p xmlns:a="http://schemas.openxmlformats.org/drawingml/2006/main">
            <a:r>
              <a:t>2. (1:00–2:00, Transition) crop 경계 수정·이번 README 수정과, 계속 유지할 의존성 추가 근거·테스트 명령의 후보 예시를 비교한다. 유일한 정답이나 실제 STATE-01 원문이라고 하지 않는다.</a:t>
            </a:r>
          </a:p>
          <a:p xmlns:a="http://schemas.openxmlformats.org/drawingml/2006/main">
            <a:r>
              <a:t>3. (2:00–4:00, Transition) 정보의 수명과 적용 범위 차이를 정리하고 “Project 정보를 왜 매번 Prompt에 다시 적고 있을까?”를 ACT 2의 질문으로 남긴다.</a:t>
            </a:r>
          </a:p>
          <a:p xmlns:a="http://schemas.openxmlformats.org/drawingml/2006/main">
            <a:r>
              <a:t>4. (4:00–6:00, Q&amp;A) 자발적인 질문을 받고 6분에 ACT 2로 이동한다. 질문이 없으면 다음 문제를 다시 읽고 정시에 넘긴다.</a:t>
            </a:r>
          </a:p>
          <a:p xmlns:a="http://schemas.openxmlformats.org/drawingml/2006/main">
            <a:r>
              <a:t/>
            </a:r>
          </a:p>
          <a:p xmlns:a="http://schemas.openxmlformats.org/drawingml/2006/main">
            <a:r>
              <a:t>Evidence / Source: BEAT-007, BEAT-008, TRANS-003, CLM-0029, CLM-0027, CLM-0003, CLM-0005. TEACHING_MODEL / CONCEPTUAL.</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 한 번에만 필요한 정보와 프로젝트가 계속 참고할 수 있는 정보를 구별해 본다.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 “그런데 Project 정보를 왜 매번 Prompt에 다시 적고 있을까?”</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정적 비교 슬라이드 `production/ACT_1.pptx` S21 또는 `production/preview/act1/S21.png` 사용. Q&amp;A가 없어도 마지막 Transition 질문 후 ACT 2로 간다. 새 제작본의 렌더·경로 대조는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다른 Task에 같은 설명이 반복된다</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S22 또는 `production/preview/act2/S22.png`다.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작은 Project Context의 첫 기록</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S24로 넘긴다.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S24의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S23 및 `production/preview/act2/S23.png`에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S24 handoff. 명령어 옵션별 설명은 생략한다.</a:t>
            </a:r>
          </a:p>
          <a:p xmlns:a="http://schemas.openxmlformats.org/drawingml/2006/main">
            <a:r>
              <a:t/>
            </a:r>
          </a:p>
          <a:p xmlns:a="http://schemas.openxmlformats.org/drawingml/2006/main">
            <a:r>
              <a:t>Fallback: LOCAL STATIC ARTIFACT — 발표 기본 경로는 `production/ACT_2.pptx`의 S23 또는 `production/preview/act2/S23.png`다.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한 번의 사용에서 확인된 것</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한 번의 사용에서 확인된 것</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In the recorded TRIAL-003 run, the agent inspected `AGENTS.md` and used the documented test command that was absent from the Task Prompt.</a:t>
            </a:r>
          </a:p>
          <a:p xmlns:a="http://schemas.openxmlformats.org/drawingml/2006/main">
            <a:r>
              <a:t/>
            </a:r>
          </a:p>
          <a:p xmlns:a="http://schemas.openxmlformats.org/drawingml/2006/main">
            <a:r>
              <a:t>Opening Question: “Prompt에 없던 test command는 어디서 왔을까?”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요청에는 README-only 범위가 있었지만 전체 테스트 명령은 없었다고 짚는다.</a:t>
            </a:r>
          </a:p>
          <a:p xmlns:a="http://schemas.openxmlformats.org/drawingml/2006/main">
            <a:r>
              <a:t>2. (1:00–3:00) 가운데 AGENTS.md 접근과 기록된 테스트 명령 사용을 오른쪽 11/11 PASS 기록에 연결한다. 화면은 Trial 기록을 요약한 설명 구조다.</a:t>
            </a:r>
          </a:p>
          <a:p xmlns:a="http://schemas.openxmlformats.org/drawingml/2006/main">
            <a:r>
              <a:t>3. (3:00–4:00) Personal/global Skills도 실행됐으므로 AGENTS.md 단독 효과를 분리할 수 없다고 밝힌다. README-only 범위는 요청에도 있었다고 마무리한다.</a:t>
            </a:r>
          </a:p>
          <a:p xmlns:a="http://schemas.openxmlformats.org/drawingml/2006/main">
            <a:r>
              <a:t/>
            </a:r>
          </a:p>
          <a:p xmlns:a="http://schemas.openxmlformats.org/drawingml/2006/main">
            <a:r>
              <a:t>Evidence / Source: TRIAL-003, STATE-01, DEMO-02. OBSERVED_PRODUCT; one recorded CLI run. Personal/global Skills also ran.</a:t>
            </a:r>
          </a:p>
          <a:p xmlns:a="http://schemas.openxmlformats.org/drawingml/2006/main">
            <a:r>
              <a:t/>
            </a:r>
          </a:p>
          <a:p xmlns:a="http://schemas.openxmlformats.org/drawingml/2006/main">
            <a:r>
              <a:t>Claim Boundary: This run does not isolate an independent causal effect of `AGENTS.md`, establish general superiority, or show that repository guidance alone determined file scope.</a:t>
            </a:r>
          </a:p>
          <a:p xmlns:a="http://schemas.openxmlformats.org/drawingml/2006/main">
            <a:r>
              <a:t/>
            </a:r>
          </a:p>
          <a:p xmlns:a="http://schemas.openxmlformats.org/drawingml/2006/main">
            <a:r>
              <a:t>Beginner Explanation: The record shows one example where a Project test command was available outside the current Prompt and was used.</a:t>
            </a:r>
          </a:p>
          <a:p xmlns:a="http://schemas.openxmlformats.org/drawingml/2006/main">
            <a:r>
              <a:t/>
            </a:r>
          </a:p>
          <a:p xmlns:a="http://schemas.openxmlformats.org/drawingml/2006/main">
            <a:r>
              <a:t>Advanced Insight: Keep the observed action, other active instructions, and Task scope separate when interpreting causality.</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Present the captured/reconstructed Trial record. Do not represent it as a current Desktop run or a live screenshot. HYBRID activation is UNVERIFIED.</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Use three minutes for the recorded sequence and one minute for the causal boundary. Do not elaborate on unrelated Trial details.</a:t>
            </a:r>
          </a:p>
          <a:p xmlns:a="http://schemas.openxmlformats.org/drawingml/2006/main">
            <a:r>
              <a:t/>
            </a:r>
          </a:p>
          <a:p xmlns:a="http://schemas.openxmlformats.org/drawingml/2006/main">
            <a:r>
              <a:t>Fallback: LOCAL STATIC ARTIFACT — 발표 기본 경로는 `production/ACT_2.pptx`의 S24 또는 `production/preview/act2/S24.png`다.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Task Prompt와 Project Context</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A Task Prompt describes what is wanted now; Project Context describes facts and constraints that generally remain true for the Project.</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‘이번 작업이 끝나면?’이라는 질문으로 정보의 수명을 비교한다.</a:t>
            </a:r>
          </a:p>
          <a:p xmlns:a="http://schemas.openxmlformats.org/drawingml/2006/main">
            <a:r>
              <a:t>2. (1:00–4:00) 왼쪽 crop 수정과 README-only 범위, 오른쪽 테스트 명령과 근거 기반 의존성 정책을 연결한다. Prompt는 현재 목표를 표현하는 데 계속 필요하다.</a:t>
            </a:r>
          </a:p>
          <a:p xmlns:a="http://schemas.openxmlformats.org/drawingml/2006/main">
            <a:r>
              <a:t>3. (4:00–5:00) 어떤 사실이 다음 Task에도 유효한지 질문한다. C++에서도 공통 제약과 이번 알고리즘 변경 조건의 범위가 다를 수 있다는 짧은 예만 든다.</a:t>
            </a:r>
          </a:p>
          <a:p xmlns:a="http://schemas.openxmlformats.org/drawingml/2006/main">
            <a:r>
              <a:t/>
            </a:r>
          </a:p>
          <a:p xmlns:a="http://schemas.openxmlformats.org/drawingml/2006/main">
            <a:r>
              <a:t>Evidence / Source: BEAT-009–010, TRANS-003, CLM-0003, CLM-0005. TEACHING_MODEL / CONCEPTUAL; examples summarize S22–S24.</a:t>
            </a:r>
          </a:p>
          <a:p xmlns:a="http://schemas.openxmlformats.org/drawingml/2006/main">
            <a:r>
              <a:t/>
            </a:r>
          </a:p>
          <a:p xmlns:a="http://schemas.openxmlformats.org/drawingml/2006/main">
            <a:r>
              <a:t>Claim Boundary: This is a teaching model for scope and lifetime, not a formal OpenAI taxonomy or proof that one layer is always better.</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발표 기본 경로는 `production/ACT_2.pptx`의 S25 또는 `production/preview/act2/S25.png`다.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정확한 정보도 계속 늘어난다</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STATE-02 grew from 15 lines / 567 bytes to 32 lines / 1,303 bytes as the Project recorded more details; growth alone is not evidence of failure.</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STATE-01의 목적·실행·테스트·기본 제약에서 출발한다. 15줄/567 bytes와 32줄/1,303 bytes는 상태를 식별하는 크기 정보다.</a:t>
            </a:r>
          </a:p>
          <a:p xmlns:a="http://schemas.openxmlformats.org/drawingml/2006/main">
            <a:r>
              <a:t>2. (1:00–3:00) STATE-02에 더해진 처리 순서, 이미지 계약, 테스트 구조, CLI 출력의 실제 항목을 가리킨다. 처리 순서의 말줄임표는 선택적 invert/crop/resize 등의 중간 단계를 생략했다는 뜻이다.</a:t>
            </a:r>
          </a:p>
          <a:p xmlns:a="http://schemas.openxmlformats.org/drawingml/2006/main">
            <a:r>
              <a:t>3. (3:00–4:00) 크기 자체의 성능 의미를 부여하지 않고 ‘이번 Task에도 필요할까?’로 다음 장을 연다.</a:t>
            </a:r>
          </a:p>
          <a:p xmlns:a="http://schemas.openxmlformats.org/drawingml/2006/main">
            <a:r>
              <a:t/>
            </a:r>
          </a:p>
          <a:p xmlns:a="http://schemas.openxmlformats.org/drawingml/2006/main">
            <a:r>
              <a:t>Evidence / Source: STATE-01 and STATE-02, BEAT-011, CLM-0014, CLM-0015. OBSERVED_PRODUCT; counts describe these recorded states only.</a:t>
            </a:r>
          </a:p>
          <a:p xmlns:a="http://schemas.openxmlformats.org/drawingml/2006/main">
            <a:r>
              <a:t/>
            </a:r>
          </a:p>
          <a:p xmlns:a="http://schemas.openxmlformats.org/drawingml/2006/main">
            <a:r>
              <a:t>Claim Boundary: Do not label the growth as a failure threshold, claim that it caused an error, or imply that the content was inaccurate.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two recorded state summaries; no live repository interaction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“작은 README Task에서 어떤 정보가 실제로 필요했을까?”</a:t>
            </a:r>
          </a:p>
          <a:p xmlns:a="http://schemas.openxmlformats.org/drawingml/2006/main">
            <a:r>
              <a:t/>
            </a:r>
          </a:p>
          <a:p xmlns:a="http://schemas.openxmlformats.org/drawingml/2006/main">
            <a:r>
              <a:t>Time Management: 크기 식별은 짧게 끝내고 추가된 실제 정보 네 항목에 시간을 쓴다. 마지막 1분에는 관련성 질문으로 이동하며 문서 크기의 인과 효과를 만들지 않는다.</a:t>
            </a:r>
          </a:p>
          <a:p xmlns:a="http://schemas.openxmlformats.org/drawingml/2006/main">
            <a:r>
              <a:t/>
            </a:r>
          </a:p>
          <a:p xmlns:a="http://schemas.openxmlformats.org/drawingml/2006/main">
            <a:r>
              <a:t>Fallback: LOCAL STATIC ARTIFACT — 발표 기본 경로는 `production/ACT_2.pptx`의 S26 또는 `production/preview/act2/S26.png`다.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정확하지만 이번 Task에는 불필요한 정보</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정확하지만 이번 Task에는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TRIAL-004 included Image context that was unnecessary for the README build-guidance Task, but no agent confusion or context-related failure was observed.</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README의 build tools 안내를 고친 기록된 Task를 제시한다.</a:t>
            </a:r>
          </a:p>
          <a:p xmlns:a="http://schemas.openxmlformats.org/drawingml/2006/main">
            <a:r>
              <a:t>2. (1:00–2:00 / Demo) 왼쪽 README/build 설정과 오른쪽 crop·resize 계약/pipeline 상세를 비교한다. Agent 혼란과 Context 관련 실패는 관찰되지 않았음을 먼저 밝힌다.</a:t>
            </a:r>
          </a:p>
          <a:p xmlns:a="http://schemas.openxmlformats.org/drawingml/2006/main">
            <a:r>
              <a:t>3. (2:00–4:00 / Reflection) 정확한 정보와 이번 질문에 관련된 정보를 구분해 보게 한다. 공개 응답이나 작업은 요구하지 않는다.</a:t>
            </a:r>
          </a:p>
          <a:p xmlns:a="http://schemas.openxmlformats.org/drawingml/2006/main">
            <a:r>
              <a:t/>
            </a:r>
          </a:p>
          <a:p xmlns:a="http://schemas.openxmlformats.org/drawingml/2006/main">
            <a:r>
              <a:t>Evidence / Source: TRIAL-004, BEAT-012, CLM-0014, CLM-0015. OBSERVED_PRODUCT; CAPTURED record of one Task.</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Show the captured/reconstructed Trial record for two minutes.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발표 기본 경로는 `production/ACT_2.pptx`의 S27 또는 `production/preview/act2/S27.png`다.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정보의 범위와 제공 시점</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The course model separates always-on Project facts, task-relevant detail, and reusable workflow by scope and timing.</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세 행이 이 과정에서 쓰는 정보 설계 모델임을 밝힌다.</a:t>
            </a:r>
          </a:p>
          <a:p xmlns:a="http://schemas.openxmlformats.org/drawingml/2006/main">
            <a:r>
              <a:t>2. (1:00–3:00) 기본 안내, 질문에 따른 상세, 특정 작업의 수행 방법을 순서대로 가리킨다. 각 행의 구체 예시를 하나씩 설명한다.</a:t>
            </a:r>
          </a:p>
          <a:p xmlns:a="http://schemas.openxmlformats.org/drawingml/2006/main">
            <a:r>
              <a:t>3. (3:00–4:00) 성능 조사 절차 예가 STATE-02에 저장돼 있었다는 뜻은 아니라고 한정한다. Context 양만으로 충분한지 연구 질문으로 넘어간다.</a:t>
            </a:r>
          </a:p>
          <a:p xmlns:a="http://schemas.openxmlformats.org/drawingml/2006/main">
            <a:r>
              <a:t/>
            </a:r>
          </a:p>
          <a:p xmlns:a="http://schemas.openxmlformats.org/drawingml/2006/main">
            <a:r>
              <a:t>Evidence / Source: BEAT-012, BEAT-014, STATE-02, CLM-0014, CLM-0015, CLM-0003, CLM-0005. TEACHING_MODEL / CONCEPTUAL.</a:t>
            </a:r>
          </a:p>
          <a:p xmlns:a="http://schemas.openxmlformats.org/drawingml/2006/main">
            <a:r>
              <a:t/>
            </a:r>
          </a:p>
          <a:p xmlns:a="http://schemas.openxmlformats.org/drawingml/2006/main">
            <a:r>
              <a:t>Claim Boundary: Always-on / On-demand / Workflow is a course model, not an official OpenAI classification. Do not claim token savings or improved performance.</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“Context window가 크면 모든 정보가 똑같이 활용될까?”</a:t>
            </a:r>
          </a:p>
          <a:p xmlns:a="http://schemas.openxmlformats.org/drawingml/2006/main">
            <a:r>
              <a:t/>
            </a:r>
          </a:p>
          <a:p xmlns:a="http://schemas.openxmlformats.org/drawingml/2006/main">
            <a:r>
              <a:t>Time Management: Four minutes, one minute per bucket plus the boundary. Do not present this as a product feature taxonomy.</a:t>
            </a:r>
          </a:p>
          <a:p xmlns:a="http://schemas.openxmlformats.org/drawingml/2006/main">
            <a:r>
              <a:t/>
            </a:r>
          </a:p>
          <a:p xmlns:a="http://schemas.openxmlformats.org/drawingml/2006/main">
            <a:r>
              <a:t>Fallback: LOCAL STATIC ARTIFACT — 발표 기본 경로는 `production/ACT_2.pptx`의 S28 또는 `production/preview/act2/S28.png`다.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Long Context 연구가 말해주는 범위</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Long Context 연구가 말해주는 범위</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Research in specific models and tasks supports a bounded caution: more context is not automatically better, and relevance or information position can matter under some conditions.</a:t>
            </a:r>
          </a:p>
          <a:p xmlns:a="http://schemas.openxmlformats.org/drawingml/2006/main">
            <a:r>
              <a:t/>
            </a:r>
          </a:p>
          <a:p xmlns:a="http://schemas.openxmlformats.org/drawingml/2006/main">
            <a:r>
              <a:t>Opening Question: “Context window가 크면 모든 정보가 똑같이 활용될까?”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‘더 많은 Context가 항상 더 좋은 것은 아니다’의 적용 범위를 특정 모델·과제에 한정한다.</a:t>
            </a:r>
          </a:p>
          <a:p xmlns:a="http://schemas.openxmlformats.org/drawingml/2006/main">
            <a:r>
              <a:t>2. (1:00–3:00) 왼쪽 Lost in the Middle의 여러 문서 질문 답변/key-value 검색, 오른쪽 RepoQA의 50개 Repository 코드 검색을 비교한다. 논문이 답한 질문과 승인된 핵심 결론만 말한다. 수치 그래프나 현재 Codex 성능 추정은 추가하지 않는다.</a:t>
            </a:r>
          </a:p>
          <a:p xmlns:a="http://schemas.openxmlformats.org/drawingml/2006/main">
            <a:r>
              <a:t>3. (3:00–4:00) 화면 하단의 두 출처와 Notes의 원문 링크를 안내한다. 이 Demo의 현재 Codex Repository coding을 직접 시험한 연구가 아님을 명시한다.</a:t>
            </a:r>
          </a:p>
          <a:p xmlns:a="http://schemas.openxmlformats.org/drawingml/2006/main">
            <a:r>
              <a:t/>
            </a:r>
          </a:p>
          <a:p xmlns:a="http://schemas.openxmlformats.org/drawingml/2006/main">
            <a:r>
              <a:t>Evidence / Source: RESEARCH. Liu et al., “Lost in the Middle: How Language Models Use Long Contexts,” TACL 2024, 12:157–173, https://aclanthology.org/2024.tacl-1.9/; RepoQA (2024), arXiv:2406.06025, https://arxiv.org/abs/2406.06025. RepoQA venue remains TODO in the source plan and is not invented here.</a:t>
            </a:r>
          </a:p>
          <a:p xmlns:a="http://schemas.openxmlformats.org/drawingml/2006/main">
            <a:r>
              <a:t/>
            </a:r>
          </a:p>
          <a:p xmlns:a="http://schemas.openxmlformats.org/drawingml/2006/main">
            <a:r>
              <a:t>Claim Boundary: Do not claim current Codex fails because of Lost in the Middle, create a context-length threshold, generalize results across all models/tasks, or invent numeric/curve data. Keep study conditions beside the conclusion.</a:t>
            </a:r>
          </a:p>
          <a:p xmlns:a="http://schemas.openxmlformats.org/drawingml/2006/main">
            <a:r>
              <a:t/>
            </a:r>
          </a:p>
          <a:p xmlns:a="http://schemas.openxmlformats.org/drawingml/2006/main">
            <a:r>
              <a:t>Beginner Explanation: A larger context window does not guarantee that every included detail is equally useful in every task.</a:t>
            </a:r>
          </a:p>
          <a:p xmlns:a="http://schemas.openxmlformats.org/drawingml/2006/main">
            <a:r>
              <a:t/>
            </a:r>
          </a:p>
          <a:p xmlns:a="http://schemas.openxmlformats.org/drawingml/2006/main">
            <a:r>
              <a:t>Advanced Insight: The cited work covers specific historical models and benchmark settings, including multi-document QA and synthetic retrieval; it does not establish a present-day Codex limitation.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This is a research summary, not a deterministic product demonstration.</a:t>
            </a:r>
          </a:p>
          <a:p xmlns:a="http://schemas.openxmlformats.org/drawingml/2006/main">
            <a:r>
              <a:t/>
            </a:r>
          </a:p>
          <a:p xmlns:a="http://schemas.openxmlformats.org/drawingml/2006/main">
            <a:r>
              <a:t>Audience Interaction: Use the opening question to invite a short mental prediction, then answer within the cited scope.</a:t>
            </a:r>
          </a:p>
          <a:p xmlns:a="http://schemas.openxmlformats.org/drawingml/2006/main">
            <a:r>
              <a:t/>
            </a:r>
          </a:p>
          <a:p xmlns:a="http://schemas.openxmlformats.org/drawingml/2006/main">
            <a:r>
              <a:t>Transition: “필요한 정보를 Task에 맞춰 어떻게 찾게 할까?”</a:t>
            </a:r>
          </a:p>
          <a:p xmlns:a="http://schemas.openxmlformats.org/drawingml/2006/main">
            <a:r>
              <a:t/>
            </a:r>
          </a:p>
          <a:p xmlns:a="http://schemas.openxmlformats.org/drawingml/2006/main">
            <a:r>
              <a:t>Time Management: Keep the paper descriptions concise and reserve the final minute for the transfer boundary.</a:t>
            </a:r>
          </a:p>
          <a:p xmlns:a="http://schemas.openxmlformats.org/drawingml/2006/main">
            <a:r>
              <a:t/>
            </a:r>
          </a:p>
          <a:p xmlns:a="http://schemas.openxmlformats.org/drawingml/2006/main">
            <a:r>
              <a:t>Fallback: LOCAL STATIC ARTIFACT — 발표 기본 경로는 `production/ACT_2.pptx`의 S29 또는 `production/preview/act2/S29.png`다.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필요한 상세 정보로 가는 길</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Context design asks what information a Task needs and when it should be available, rather than placing every detail in one place.</a:t>
            </a:r>
          </a:p>
          <a:p xmlns:a="http://schemas.openxmlformats.org/drawingml/2006/main">
            <a:r>
              <a:t/>
            </a:r>
          </a:p>
          <a:p xmlns:a="http://schemas.openxmlformats.org/drawingml/2006/main">
            <a:r>
              <a:t>Opening Question: “모든 정보를 한 곳에 넣지 않고 필요한 정보에 도달할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Move from the question of context amount to the question of relevance and timing.</a:t>
            </a:r>
          </a:p>
          <a:p xmlns:a="http://schemas.openxmlformats.org/drawingml/2006/main">
            <a:r>
              <a:t>2. (1:00–2:00) Show `Task → Core Context → Relevant Detail when needed` as a course diagram.</a:t>
            </a:r>
          </a:p>
          <a:p xmlns:a="http://schemas.openxmlformats.org/drawingml/2006/main">
            <a:r>
              <a:t>3. (2:00–3:00) Give one short C++ example and reserve STATE-03 for the next sequence.</a:t>
            </a:r>
          </a:p>
          <a:p xmlns:a="http://schemas.openxmlformats.org/drawingml/2006/main">
            <a:r>
              <a:t/>
            </a:r>
          </a:p>
          <a:p xmlns:a="http://schemas.openxmlformats.org/drawingml/2006/main">
            <a:r>
              <a:t>Evidence / Source: BEAT-014, STATE-03 as the upcoming example, CLM-0003, CLM-0005, CLM-0014, CLM-0015. TEACHING_MODEL / CONCEPTUAL.</a:t>
            </a:r>
          </a:p>
          <a:p xmlns:a="http://schemas.openxmlformats.org/drawingml/2006/main">
            <a:r>
              <a:t/>
            </a:r>
          </a:p>
          <a:p xmlns:a="http://schemas.openxmlformats.org/drawingml/2006/main">
            <a:r>
              <a:t>Claim Boundary: This is a routing question, not evidence of performance improvement, token savings, or a product's automatic retrieval behavior.</a:t>
            </a:r>
          </a:p>
          <a:p xmlns:a="http://schemas.openxmlformats.org/drawingml/2006/main">
            <a:r>
              <a:t/>
            </a:r>
          </a:p>
          <a:p xmlns:a="http://schemas.openxmlformats.org/drawingml/2006/main">
            <a:r>
              <a:t>Beginner Explanation: A short starting point can direct a reader toward more detail when a Task needs it.</a:t>
            </a:r>
          </a:p>
          <a:p xmlns:a="http://schemas.openxmlformats.org/drawingml/2006/main">
            <a:r>
              <a:t/>
            </a:r>
          </a:p>
          <a:p xmlns:a="http://schemas.openxmlformats.org/drawingml/2006/main">
            <a:r>
              <a:t>Advanced Insight: Discovery and maintenance remain design concerns; this slide does not claim perfect retrieval.</a:t>
            </a:r>
          </a:p>
          <a:p xmlns:a="http://schemas.openxmlformats.org/drawingml/2006/main">
            <a:r>
              <a:t/>
            </a:r>
          </a:p>
          <a:p xmlns:a="http://schemas.openxmlformats.org/drawingml/2006/main">
            <a:r>
              <a:t>C++ Vision Bridge: Distinguish a general Project constraint from a Task-specific CMake or algorithm contract. Do not list tools, hardware, or environment commands.</a:t>
            </a:r>
          </a:p>
          <a:p xmlns:a="http://schemas.openxmlformats.org/drawingml/2006/main">
            <a:r>
              <a:t/>
            </a:r>
          </a:p>
          <a:p xmlns:a="http://schemas.openxmlformats.org/drawingml/2006/main">
            <a:r>
              <a:t>Demo Operation: N/A — STATE-03 results are reserved for the following section.</a:t>
            </a:r>
          </a:p>
          <a:p xmlns:a="http://schemas.openxmlformats.org/drawingml/2006/main">
            <a:r>
              <a:t/>
            </a:r>
          </a:p>
          <a:p xmlns:a="http://schemas.openxmlformats.org/drawingml/2006/main">
            <a:r>
              <a:t>Audience Interaction: Let the routing question sit for a moment; do not reveal the Trial result.</a:t>
            </a:r>
          </a:p>
          <a:p xmlns:a="http://schemas.openxmlformats.org/drawingml/2006/main">
            <a:r>
              <a:t/>
            </a:r>
          </a:p>
          <a:p xmlns:a="http://schemas.openxmlformats.org/drawingml/2006/main">
            <a:r>
              <a:t>Transition: “무엇을 항상 읽고, 무엇을 필요할 때 찾게 할까?”</a:t>
            </a:r>
          </a:p>
          <a:p xmlns:a="http://schemas.openxmlformats.org/drawingml/2006/main">
            <a:r>
              <a:t/>
            </a:r>
          </a:p>
          <a:p xmlns:a="http://schemas.openxmlformats.org/drawingml/2006/main">
            <a:r>
              <a:t>Time Management: Keep this to one diagram and one brief C++ example. No product-specific implementation details.</a:t>
            </a:r>
          </a:p>
          <a:p xmlns:a="http://schemas.openxmlformats.org/drawingml/2006/main">
            <a:r>
              <a:t/>
            </a:r>
          </a:p>
          <a:p xmlns:a="http://schemas.openxmlformats.org/drawingml/2006/main">
            <a:r>
              <a:t>Fallback: LOCAL STATIC ARTIFACT — 발표 기본 경로는 `production/ACT_2.pptx`의 S30 또는 `production/preview/act2/S30.png`다.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Core Context에서 상세 정보로 가는 길</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Core Context에서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Root/Core Context can be a starting point that points toward detail, rather than an encyclopedia of all Project knowledge.</a:t>
            </a:r>
          </a:p>
          <a:p xmlns:a="http://schemas.openxmlformats.org/drawingml/2006/main">
            <a:r>
              <a:t/>
            </a:r>
          </a:p>
          <a:p xmlns:a="http://schemas.openxmlformats.org/drawingml/2006/main">
            <a:r>
              <a:t>Opening Question: “무엇을 항상 읽고, 무엇을 필요할 때 찾게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기본 안내의 목적, 상시 제약, 상세 정보 위치를 읽는 순서대로 가리킨다.</a:t>
            </a:r>
          </a:p>
          <a:p xmlns:a="http://schemas.openxmlformats.org/drawingml/2006/main">
            <a:r>
              <a:t>2. (1:00–2:30) 오른쪽 architecture, image contracts, testing으로 이어지는 관계를 설명한다. 화살표는 교육용 정보 설계 관계다.</a:t>
            </a:r>
          </a:p>
          <a:p xmlns:a="http://schemas.openxmlformats.org/drawingml/2006/main">
            <a:r>
              <a:t>3. (2:30–4:00) C++에서는 build/test 진입점과 기본 제약에서 해당 알고리즘 계약·하드웨어 조건으로 안내할 수 있음을 짧게 연결한다. Routing 성능 효과는 주장하지 않는다.</a:t>
            </a:r>
          </a:p>
          <a:p xmlns:a="http://schemas.openxmlformats.org/drawingml/2006/main">
            <a:r>
              <a:t/>
            </a:r>
          </a:p>
          <a:p xmlns:a="http://schemas.openxmlformats.org/drawingml/2006/main">
            <a:r>
              <a:t>Evidence / Source: BEAT-014, CLM-0003, CLM-0005, CLM-0014, CLM-0015. TEACHING_MODEL / CONCEPTUAL; describe STATE-03 structure in S32.</a:t>
            </a:r>
          </a:p>
          <a:p xmlns:a="http://schemas.openxmlformats.org/drawingml/2006/main">
            <a:r>
              <a:t/>
            </a:r>
          </a:p>
          <a:p xmlns:a="http://schemas.openxmlformats.org/drawingml/2006/main">
            <a:r>
              <a:t>Claim Boundary: The model does not demonstrate better retrieval or lower cost. No automatic product behavior is claimed.</a:t>
            </a:r>
          </a:p>
          <a:p xmlns:a="http://schemas.openxmlformats.org/drawingml/2006/main">
            <a:r>
              <a:t/>
            </a:r>
          </a:p>
          <a:p xmlns:a="http://schemas.openxmlformats.org/drawingml/2006/main">
            <a:r>
              <a:t>Beginner Explanation: Keep a small starting page and put specialized details in topic pages that it points to.</a:t>
            </a:r>
          </a:p>
          <a:p xmlns:a="http://schemas.openxmlformats.org/drawingml/2006/main">
            <a:r>
              <a:t/>
            </a:r>
          </a:p>
          <a:p xmlns:a="http://schemas.openxmlformats.org/drawingml/2006/main">
            <a:r>
              <a:t>Advanced Insight: Choose core facts for cross-task stability and details for a narrower task scope; routing quality remains an empirical question.</a:t>
            </a:r>
          </a:p>
          <a:p xmlns:a="http://schemas.openxmlformats.org/drawingml/2006/main">
            <a:r>
              <a:t/>
            </a:r>
          </a:p>
          <a:p xmlns:a="http://schemas.openxmlformats.org/drawingml/2006/main">
            <a:r>
              <a:t>C++ Vision Bridge: Core: build/test entry and Project constraints. Detail: algorithm contract and hardware assumptions. Keep it to this scope example.</a:t>
            </a:r>
          </a:p>
          <a:p xmlns:a="http://schemas.openxmlformats.org/drawingml/2006/main">
            <a:r>
              <a:t/>
            </a:r>
          </a:p>
          <a:p xmlns:a="http://schemas.openxmlformats.org/drawingml/2006/main">
            <a:r>
              <a:t>Demo Operation: N/A — the observed repository structure follows on S32.</a:t>
            </a:r>
          </a:p>
          <a:p xmlns:a="http://schemas.openxmlformats.org/drawingml/2006/main">
            <a:r>
              <a:t/>
            </a:r>
          </a:p>
          <a:p xmlns:a="http://schemas.openxmlformats.org/drawingml/2006/main">
            <a:r>
              <a:t>Audience Interaction: Ask what belongs in the core; do not solicit a complete taxonomy.</a:t>
            </a:r>
          </a:p>
          <a:p xmlns:a="http://schemas.openxmlformats.org/drawingml/2006/main">
            <a:r>
              <a:t/>
            </a:r>
          </a:p>
          <a:p xmlns:a="http://schemas.openxmlformats.org/drawingml/2006/main">
            <a:r>
              <a:t>Transition: “Demo Repository에서는 이 Mental Model이 어떻게 반영됐을까?”</a:t>
            </a:r>
          </a:p>
          <a:p xmlns:a="http://schemas.openxmlformats.org/drawingml/2006/main">
            <a:r>
              <a:t/>
            </a:r>
          </a:p>
          <a:p xmlns:a="http://schemas.openxmlformats.org/drawingml/2006/main">
            <a:r>
              <a:t>Time Management: Four minutes; keep the C++ bridge to one integrated minute and avoid listing CMake/hardware items.</a:t>
            </a:r>
          </a:p>
          <a:p xmlns:a="http://schemas.openxmlformats.org/drawingml/2006/main">
            <a:r>
              <a:t/>
            </a:r>
          </a:p>
          <a:p xmlns:a="http://schemas.openxmlformats.org/drawingml/2006/main">
            <a:r>
              <a:t>Fallback: LOCAL STATIC ARTIFACT — 발표 기본 경로는 `production/ACT_2.pptx`의 S31 또는 `production/preview/act2/S31.png`다.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정보를 지우지 않고 위치를 나누기</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 reorganized the recorded detail from one growing `AGENTS.md` into a smaller core with links to topic documents.</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STATE-02와 STATE-03은 실제 Repository 상태이며, 정보의 위치가 달라졌다고 밝힌다.</a:t>
            </a:r>
          </a:p>
          <a:p xmlns:a="http://schemas.openxmlformats.org/drawingml/2006/main">
            <a:r>
              <a:t>2. (1:00–3:00 / Demo) 커진 AGENTS.md와 분리된 docs를 비교한다. 오른쪽 실제 Routing 문구에서 어떤 질문을 어떤 문서로 안내하는지 발췌 한 줄씩 가리킨다.</a:t>
            </a:r>
          </a:p>
          <a:p xmlns:a="http://schemas.openxmlformats.org/drawingml/2006/main">
            <a:r>
              <a:t>3. (3:00–4:00 / Case) 정보를 없애기보다 Scope에 따라 놓을 위치를 나눈 설계 의도를 설명한다.</a:t>
            </a:r>
          </a:p>
          <a:p xmlns:a="http://schemas.openxmlformats.org/drawingml/2006/main">
            <a:r>
              <a:t>4. (4:00–5:00 / Lecture) C++도 기본 안내와 알고리즘/모듈 상세를 나누는 패턴으로 연결한다. 실제 접근 결과는 다음 두 Task에서 확인한다.</a:t>
            </a:r>
          </a:p>
          <a:p xmlns:a="http://schemas.openxmlformats.org/drawingml/2006/main">
            <a:r>
              <a:t/>
            </a:r>
          </a:p>
          <a:p xmlns:a="http://schemas.openxmlformats.org/drawingml/2006/main">
            <a:r>
              <a:t>Evidence / Source: STATE-02, STATE-03, DEMO-06, BEAT-014–015, CLM-0003, CLM-0005, CLM-0014, CLM-0015. OBSERVED_PRODUCT for file structure; TEACHING_MODEL for the routing interpretation.</a:t>
            </a:r>
          </a:p>
          <a:p xmlns:a="http://schemas.openxmlformats.org/drawingml/2006/main">
            <a:r>
              <a:t/>
            </a:r>
          </a:p>
          <a:p xmlns:a="http://schemas.openxmlformats.org/drawingml/2006/main">
            <a:r>
              <a:t>Claim Boundary: State structure is observed. Progressive Disclosure is a course pattern here; perfect routing, performance improvement, or token savings are not proven.</a:t>
            </a:r>
          </a:p>
          <a:p xmlns:a="http://schemas.openxmlformats.org/drawingml/2006/main">
            <a:r>
              <a:t/>
            </a:r>
          </a:p>
          <a:p xmlns:a="http://schemas.openxmlformats.org/drawingml/2006/main">
            <a:r>
              <a:t>Beginner Explanation: The information was reorganized by topic; the slide does not show it being deleted.</a:t>
            </a:r>
          </a:p>
          <a:p xmlns:a="http://schemas.openxmlformats.org/drawingml/2006/main">
            <a:r>
              <a:t/>
            </a:r>
          </a:p>
          <a:p xmlns:a="http://schemas.openxmlformats.org/drawingml/2006/main">
            <a:r>
              <a:t>Advanced Insight: Separate the evidence of file placement from the inference about how such a structure may help readers navigate.</a:t>
            </a:r>
          </a:p>
          <a:p xmlns:a="http://schemas.openxmlformats.org/drawingml/2006/main">
            <a:r>
              <a:t/>
            </a:r>
          </a:p>
          <a:p xmlns:a="http://schemas.openxmlformats.org/drawingml/2006/main">
            <a:r>
              <a:t>C++ Vision Bridge: Core constraints stay at the entry point; algorithm, module, and hardware details belong with their relevant topic.</a:t>
            </a:r>
          </a:p>
          <a:p xmlns:a="http://schemas.openxmlformats.org/drawingml/2006/main">
            <a:r>
              <a:t/>
            </a:r>
          </a:p>
          <a:p xmlns:a="http://schemas.openxmlformats.org/drawingml/2006/main">
            <a:r>
              <a:t>Demo Operation: Use the captured/reconstructed STATE-02 → STATE-03 record; no live file browsing. Do not portray the diagram as a product screenshot.</a:t>
            </a:r>
          </a:p>
          <a:p xmlns:a="http://schemas.openxmlformats.org/drawingml/2006/main">
            <a:r>
              <a:t/>
            </a:r>
          </a:p>
          <a:p xmlns:a="http://schemas.openxmlformats.org/drawingml/2006/main">
            <a:r>
              <a:t>Audience Interaction: Ask what must remain unchanged when information is moved; accept silent reflection.</a:t>
            </a:r>
          </a:p>
          <a:p xmlns:a="http://schemas.openxmlformats.org/drawingml/2006/main">
            <a:r>
              <a:t/>
            </a:r>
          </a:p>
          <a:p xmlns:a="http://schemas.openxmlformats.org/drawingml/2006/main">
            <a:r>
              <a:t>Transition: “두 Task가 같은 상세 문서를 읽는지 관찰해 보겠습니다.”</a:t>
            </a:r>
          </a:p>
          <a:p xmlns:a="http://schemas.openxmlformats.org/drawingml/2006/main">
            <a:r>
              <a:t/>
            </a:r>
          </a:p>
          <a:p xmlns:a="http://schemas.openxmlformats.org/drawingml/2006/main">
            <a:r>
              <a:t>Time Management: Use the two Demo minutes for the before/after state, one for the Case, and keep the C++ bridge integrated into the lecture flow as approved.</a:t>
            </a:r>
          </a:p>
          <a:p xmlns:a="http://schemas.openxmlformats.org/drawingml/2006/main">
            <a:r>
              <a:t/>
            </a:r>
          </a:p>
          <a:p xmlns:a="http://schemas.openxmlformats.org/drawingml/2006/main">
            <a:r>
              <a:t>Fallback: LOCAL STATIC ARTIFACT — 발표 기본 경로는 `production/ACT_2.pptx`의 S32 또는 `production/preview/act2/S32.png`다.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서로 다른 두 Task가 무엇을 읽을까?</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Compare two read-only Task questions by observing what evidence each run actually accesses.</a:t>
            </a:r>
          </a:p>
          <a:p xmlns:a="http://schemas.openxmlformats.org/drawingml/2006/main">
            <a:r>
              <a:t/>
            </a:r>
          </a:p>
          <a:p xmlns:a="http://schemas.openxmlformats.org/drawingml/2006/main">
            <a:r>
              <a:t>Opening Question: “두 Task에서 Agent가 같은 상세 문서를 읽을까?”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Set the watch-for question without proposing an answer.</a:t>
            </a:r>
          </a:p>
          <a:p xmlns:a="http://schemas.openxmlformats.org/drawingml/2006/main">
            <a:r>
              <a:t>2. (0:30–1:30) Show Task A: “crop 1 3에서 어떤 source column을 포함하는가?” and Task B: “runtime dependency가 있는가?”</a:t>
            </a:r>
          </a:p>
          <a:p xmlns:a="http://schemas.openxmlformats.org/drawingml/2006/main">
            <a:r>
              <a:t>3. (1:30–2:00) Invite the audience to notice whether the same detail appears in both records.</a:t>
            </a:r>
          </a:p>
          <a:p xmlns:a="http://schemas.openxmlformats.org/drawingml/2006/main">
            <a:r>
              <a:t/>
            </a:r>
          </a:p>
          <a:p xmlns:a="http://schemas.openxmlformats.org/drawingml/2006/main">
            <a:r>
              <a:t>Evidence / Source: TRIAL-005A/B, BEAT-015–016, CLM-0003, CLM-0005, CLM-0014, CLM-0015. OBSERVED_PRODUCT setup; results are withheld until the next slides.</a:t>
            </a:r>
          </a:p>
          <a:p xmlns:a="http://schemas.openxmlformats.org/drawingml/2006/main">
            <a:r>
              <a:t/>
            </a:r>
          </a:p>
          <a:p xmlns:a="http://schemas.openxmlformats.org/drawingml/2006/main">
            <a:r>
              <a:t>Claim Boundary: Do not predict file access or reveal the observed result in advance. This setup does not imply perfect routing.</a:t>
            </a:r>
          </a:p>
          <a:p xmlns:a="http://schemas.openxmlformats.org/drawingml/2006/main">
            <a:r>
              <a:t/>
            </a:r>
          </a:p>
          <a:p xmlns:a="http://schemas.openxmlformats.org/drawingml/2006/main">
            <a:r>
              <a:t>Beginner Explanation: Different questions may require different Project details; the next slides show what was observed.</a:t>
            </a:r>
          </a:p>
          <a:p xmlns:a="http://schemas.openxmlformats.org/drawingml/2006/main">
            <a:r>
              <a:t/>
            </a:r>
          </a:p>
          <a:p xmlns:a="http://schemas.openxmlformats.org/drawingml/2006/main">
            <a:r>
              <a:t>Advanced Insight: Evaluate actual accesses rather than infer behavior from the directory structure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this is the watch setup; no new Trial is run.</a:t>
            </a:r>
          </a:p>
          <a:p xmlns:a="http://schemas.openxmlformats.org/drawingml/2006/main">
            <a:r>
              <a:t/>
            </a:r>
          </a:p>
          <a:p xmlns:a="http://schemas.openxmlformats.org/drawingml/2006/main">
            <a:r>
              <a:t>Audience Interaction: Ask viewers to keep the comparison question in mind. No response is required.</a:t>
            </a:r>
          </a:p>
          <a:p xmlns:a="http://schemas.openxmlformats.org/drawingml/2006/main">
            <a:r>
              <a:t/>
            </a:r>
          </a:p>
          <a:p xmlns:a="http://schemas.openxmlformats.org/drawingml/2006/main">
            <a:r>
              <a:t>Transition: “Crop Task의 기록에서 어떤 근거가 사용됐을까?”</a:t>
            </a:r>
          </a:p>
          <a:p xmlns:a="http://schemas.openxmlformats.org/drawingml/2006/main">
            <a:r>
              <a:t/>
            </a:r>
          </a:p>
          <a:p xmlns:a="http://schemas.openxmlformats.org/drawingml/2006/main">
            <a:r>
              <a:t>Time Management: Two minutes only. Do not give the answer or turn the prompt into an exercise.</a:t>
            </a:r>
          </a:p>
          <a:p xmlns:a="http://schemas.openxmlformats.org/drawingml/2006/main">
            <a:r>
              <a:t/>
            </a:r>
          </a:p>
          <a:p xmlns:a="http://schemas.openxmlformats.org/drawingml/2006/main">
            <a:r>
              <a:t>Fallback: LOCAL STATIC ARTIFACT — 발표 기본 경로는 `production/ACT_2.pptx`의 S33 또는 `production/preview/act2/S33.png`다.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Crop Task에서 관찰한 접근</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In TRIAL-005A’s final run, the recorded Crop answer was supported by access to the image contract; some broader context was also read.</a:t>
            </a:r>
          </a:p>
          <a:p xmlns:a="http://schemas.openxmlformats.org/drawingml/2006/main">
            <a:r>
              <a:t/>
            </a:r>
          </a:p>
          <a:p xmlns:a="http://schemas.openxmlformats.org/drawingml/2006/main">
            <a:r>
              <a:t>Opening Question: “Crop 계약을 묻는 Task에서 어떤 근거가 사용됐을까?”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image-contracts.md에 있는 반열린 구간 [x_start, x_end)을 가리킨다.</a:t>
            </a:r>
          </a:p>
          <a:p xmlns:a="http://schemas.openxmlformats.org/drawingml/2006/main">
            <a:r>
              <a:t>2. (1:00–3:00) 아래 숫자는 픽셀 값이 아니라 source column index임을 밝힌다. crop 1 3에서 강조한 열 1과 2, 결과 너비 2, 제외된 끝 좌표 3을 순서대로 짚는다.</a:t>
            </a:r>
          </a:p>
          <a:p xmlns:a="http://schemas.openxmlformats.org/drawingml/2006/main">
            <a:r>
              <a:t>3. (3:00–4:00) 하단에서 AGENTS.md, architecture.md도 읽었으며 testing.md는 최종 실행에서 읽었음을 확인한다. 완벽한 최소 문서 선택으로 해석하지 않는다.</a:t>
            </a:r>
          </a:p>
          <a:p xmlns:a="http://schemas.openxmlformats.org/drawingml/2006/main">
            <a:r>
              <a:t>4. (4:00–5:00) 계약이 필요한 Task에서 관련 문서 접근과 답이 관찰됐다는 범위로 마무리하고 Task B로 넘긴다.</a:t>
            </a:r>
          </a:p>
          <a:p xmlns:a="http://schemas.openxmlformats.org/drawingml/2006/main">
            <a:r>
              <a:t/>
            </a:r>
          </a:p>
          <a:p xmlns:a="http://schemas.openxmlformats.org/drawingml/2006/main">
            <a:r>
              <a:t>Evidence / Source: TRIAL-005A, BEAT-016, CLM-0014, CLM-0015. OBSERVED_PRODUCT; recorded CLI final run and its access record.</a:t>
            </a:r>
          </a:p>
          <a:p xmlns:a="http://schemas.openxmlformats.org/drawingml/2006/main">
            <a:r>
              <a:t/>
            </a:r>
          </a:p>
          <a:p xmlns:a="http://schemas.openxmlformats.org/drawingml/2006/main">
            <a:r>
              <a:t>Claim Boundary: The record supports that image-contract detail was accessed and the answer was observed in this run. It does not show perfect routing, that only relevant documents were read, or a measured efficiency gain.</a:t>
            </a:r>
          </a:p>
          <a:p xmlns:a="http://schemas.openxmlformats.org/drawingml/2006/main">
            <a:r>
              <a:t/>
            </a:r>
          </a:p>
          <a:p xmlns:a="http://schemas.openxmlformats.org/drawingml/2006/main">
            <a:r>
              <a:t>Beginner Explanation: The Crop question had a matching contract document, and the recorded final run read it before giving the boundary result.</a:t>
            </a:r>
          </a:p>
          <a:p xmlns:a="http://schemas.openxmlformats.org/drawingml/2006/main">
            <a:r>
              <a:t/>
            </a:r>
          </a:p>
          <a:p xmlns:a="http://schemas.openxmlformats.org/drawingml/2006/main">
            <a:r>
              <a:t>Advanced Insight: Include run variability and broader reads in the interpretation; `testing.md` access was not consistent across iterations.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captured/reconstructed record. Show the image contract and concise answer, not a full file-access log or fabricated terminal capture.</a:t>
            </a:r>
          </a:p>
          <a:p xmlns:a="http://schemas.openxmlformats.org/drawingml/2006/main">
            <a:r>
              <a:t/>
            </a:r>
          </a:p>
          <a:p xmlns:a="http://schemas.openxmlformats.org/drawingml/2006/main">
            <a:r>
              <a:t>Audience Interaction: Ask which evidence supports the boundary answer; let the audience inspect the concise summary.</a:t>
            </a:r>
          </a:p>
          <a:p xmlns:a="http://schemas.openxmlformats.org/drawingml/2006/main">
            <a:r>
              <a:t/>
            </a:r>
          </a:p>
          <a:p xmlns:a="http://schemas.openxmlformats.org/drawingml/2006/main">
            <a:r>
              <a:t>Transition: “Dependency Task와 비교하면 어떤 차이가 보일까?”</a:t>
            </a:r>
          </a:p>
          <a:p xmlns:a="http://schemas.openxmlformats.org/drawingml/2006/main">
            <a:r>
              <a:t/>
            </a:r>
          </a:p>
          <a:p xmlns:a="http://schemas.openxmlformats.org/drawingml/2006/main">
            <a:r>
              <a:t>Time Management: Give the answer two minutes, the supporting document and limitation two minutes, then one minute for transition.</a:t>
            </a:r>
          </a:p>
          <a:p xmlns:a="http://schemas.openxmlformats.org/drawingml/2006/main">
            <a:r>
              <a:t/>
            </a:r>
          </a:p>
          <a:p xmlns:a="http://schemas.openxmlformats.org/drawingml/2006/main">
            <a:r>
              <a:t>Fallback: LOCAL STATIC ARTIFACT — 발표 기본 경로는 `production/ACT_2.pptx`의 S34 또는 `production/preview/act2/S34.png`다.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Task별 접근은 달랐지만 완벽하지는 않다</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Task별 접근은 달랐지만 완벽하지는 않다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TRIAL-005A/B showed a task-specific difference in detailed document access, but did not prove perfect routing, token savings, or performance improvement.</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강조한 첫 행에서 A는 image-contracts.md를 읽고 B는 읽지 않았음을 가리킨다.</a:t>
            </a:r>
          </a:p>
          <a:p xmlns:a="http://schemas.openxmlformats.org/drawingml/2006/main">
            <a:r>
              <a:t>2. (1:00–3:00 / Demo) architecture는 둘 다 읽었고 testing은 A의 최종 실행에서만 읽었다고 확인한다. B는 설정·README·source도 확인했다. A의 더 넓은 읽기와 실행 간 변동도 남아 있다.</a:t>
            </a:r>
          </a:p>
          <a:p xmlns:a="http://schemas.openxmlformats.org/drawingml/2006/main">
            <a:r>
              <a:t>3. (3:00–4:00 / Lecture) 완벽한 Routing 미입증, 토큰 절약·성능 개선 미측정을 분명히 말한다.</a:t>
            </a:r>
          </a:p>
          <a:p xmlns:a="http://schemas.openxmlformats.org/drawingml/2006/main">
            <a:r>
              <a:t>4. (4:00–6:00 / Reflection) 이 비교로 말할 수 있는 사실과 없는 효과를 조용히 구분해 보게 한다.</a:t>
            </a:r>
          </a:p>
          <a:p xmlns:a="http://schemas.openxmlformats.org/drawingml/2006/main">
            <a:r>
              <a:t>5. (6:00–7:00 / Q&amp;A) 질문 하나를 받거나 준비된 질문을 던진다. 파일 접근 차이라는 관찰로 닫는다.</a:t>
            </a:r>
          </a:p>
          <a:p xmlns:a="http://schemas.openxmlformats.org/drawingml/2006/main">
            <a:r>
              <a:t/>
            </a:r>
          </a:p>
          <a:p xmlns:a="http://schemas.openxmlformats.org/drawingml/2006/main">
            <a:r>
              <a:t>Evidence / Source: TRIAL-005A/B, BEAT-016–017, CLM-0014, CLM-0015, CLM-0003, CLM-0005. OBSERVED_PRODUCT; captured records, with observed run variability.</a:t>
            </a:r>
          </a:p>
          <a:p xmlns:a="http://schemas.openxmlformats.org/drawingml/2006/main">
            <a:r>
              <a:t/>
            </a:r>
          </a:p>
          <a:p xmlns:a="http://schemas.openxmlformats.org/drawingml/2006/main">
            <a:r>
              <a:t>Claim Boundary: Task-specific access difference is observed. Broad reads also occurred. Do not claim complete routing, a general advantage, token savings, or performance gains.</a:t>
            </a:r>
          </a:p>
          <a:p xmlns:a="http://schemas.openxmlformats.org/drawingml/2006/main">
            <a:r>
              <a:t/>
            </a:r>
          </a:p>
          <a:p xmlns:a="http://schemas.openxmlformats.org/drawingml/2006/main">
            <a:r>
              <a:t>Beginner Explanation: A relevant document was read for one Task and not another, but the agent still read some shared and broader context.</a:t>
            </a:r>
          </a:p>
          <a:p xmlns:a="http://schemas.openxmlformats.org/drawingml/2006/main">
            <a:r>
              <a:t/>
            </a:r>
          </a:p>
          <a:p xmlns:a="http://schemas.openxmlformats.org/drawingml/2006/main">
            <a:r>
              <a:t>Advanced Insight: A/B access differences are evidence about these runs only; they do not establish a stable policy or causal efficiency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실제 기록을 요약한 문서 접근 비교표를 사용한다. image-contracts, architecture, testing 순서로 가리키며 testing의 최종 실행 범위와 변동을 유지한다. 토큰·성능 효과나 실제 터미널 화면으로 표현하지 않는다.</a:t>
            </a:r>
          </a:p>
          <a:p xmlns:a="http://schemas.openxmlformats.org/drawingml/2006/main">
            <a:r>
              <a:t/>
            </a:r>
          </a:p>
          <a:p xmlns:a="http://schemas.openxmlformats.org/drawingml/2006/main">
            <a:r>
              <a:t>Audience Interaction: Keep three minutes for the Case, two for private Reflection, and one for Q&amp;A. If no one responds, ask: “이 기록으로 말할 수 있는 범위는 어디까지일까요?”</a:t>
            </a:r>
          </a:p>
          <a:p xmlns:a="http://schemas.openxmlformats.org/drawingml/2006/main">
            <a:r>
              <a:t/>
            </a:r>
          </a:p>
          <a:p xmlns:a="http://schemas.openxmlformats.org/drawingml/2006/main">
            <a:r>
              <a:t>Transition: “정보를 정리했는데도 남아 있는 반복은 무엇일까?”</a:t>
            </a:r>
          </a:p>
          <a:p xmlns:a="http://schemas.openxmlformats.org/drawingml/2006/main">
            <a:r>
              <a:t/>
            </a:r>
          </a:p>
          <a:p xmlns:a="http://schemas.openxmlformats.org/drawingml/2006/main">
            <a:r>
              <a:t>Time Management: Protect the Mode boundaries. If discussion runs long, cut secondary file names before shortening the explicit claim boundary.</a:t>
            </a:r>
          </a:p>
          <a:p xmlns:a="http://schemas.openxmlformats.org/drawingml/2006/main">
            <a:r>
              <a:t/>
            </a:r>
          </a:p>
          <a:p xmlns:a="http://schemas.openxmlformats.org/drawingml/2006/main">
            <a:r>
              <a:t>Fallback: LOCAL STATIC ARTIFACT — 발표 기본 경로는 `production/ACT_2.pptx`의 S35 또는 `production/preview/act2/S35.png`다.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지식은 정리됐지만 절차는 반복된다</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Task Prompt, Project Context, and routing address different information responsibilities; a repeated work procedure can remain as a separate problem.</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Transition) 왼쪽의 현재 목표, 공통 사실, 상세 정보 위치를 순서대로 회수한다.</a:t>
            </a:r>
          </a:p>
          <a:p xmlns:a="http://schemas.openxmlformats.org/drawingml/2006/main">
            <a:r>
              <a:t>2. (2:00–4:00 / Transition) 오른쪽 ‘먼저 측정하고, 조사한 뒤 변경하고, 같은 조건으로 확인’이라는 반복 절차를 보여준다. Context 선택을 완전히 해결했다는 뜻은 아니라고 밝힌다.</a:t>
            </a:r>
          </a:p>
          <a:p xmlns:a="http://schemas.openxmlformats.org/drawingml/2006/main">
            <a:r>
              <a:t>3. (4:00–10:00 / Q&amp;A) ‘이 반복도 Context만의 문제일까?’로 질문을 받는다. 질문이 없으면 사실과 절차의 책임 차이를 짚고 ‘Agent가 Project를 알아도 왜 작업 방법은 달라질까?’를 던진다. 마지막 짧은 handoff도 이 6분 안에 포함한다.</a:t>
            </a:r>
          </a:p>
          <a:p xmlns:a="http://schemas.openxmlformats.org/drawingml/2006/main">
            <a:r>
              <a:t/>
            </a:r>
          </a:p>
          <a:p xmlns:a="http://schemas.openxmlformats.org/drawingml/2006/main">
            <a:r>
              <a:t>Evidence / Source: BEAT-017–018, TRANS-005, TRIAL-006/007 as context for the upcoming problem. OBSERVED_PRODUCT for repeated prompt structure with PARTIAL attribution; TEACHING_MODEL for the three responsibilities and the transition question.</a:t>
            </a:r>
          </a:p>
          <a:p xmlns:a="http://schemas.openxmlformats.org/drawingml/2006/main">
            <a:r>
              <a:t/>
            </a:r>
          </a:p>
          <a:p xmlns:a="http://schemas.openxmlformats.org/drawingml/2006/main">
            <a:r>
              <a:t>Claim Boundary: Do not attribute the repeated procedure solely to the Trial Prompt; global Harness influence remains. Do not present Skill or another solution here.</a:t>
            </a:r>
          </a:p>
          <a:p xmlns:a="http://schemas.openxmlformats.org/drawingml/2006/main">
            <a:r>
              <a:t/>
            </a:r>
          </a:p>
          <a:p xmlns:a="http://schemas.openxmlformats.org/drawingml/2006/main">
            <a:r>
              <a:t>Beginner Explanation: Knowing Project facts and repeating a reliable way of working are different needs.</a:t>
            </a:r>
          </a:p>
          <a:p xmlns:a="http://schemas.openxmlformats.org/drawingml/2006/main">
            <a:r>
              <a:t/>
            </a:r>
          </a:p>
          <a:p xmlns:a="http://schemas.openxmlformats.org/drawingml/2006/main">
            <a:r>
              <a:t>Advanced Insight: Context can reduce repeated fact explanation while process ownership remains unresolved; keep observed repetition separate from its cause.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use the concise recorded prompt-structure summary; no live run or new Trial.</a:t>
            </a:r>
          </a:p>
          <a:p xmlns:a="http://schemas.openxmlformats.org/drawingml/2006/main">
            <a:r>
              <a:t/>
            </a:r>
          </a:p>
          <a:p xmlns:a="http://schemas.openxmlformats.org/drawingml/2006/main">
            <a:r>
              <a:t>Audience Interaction: 0–4분 Transition 뒤 4–10분 Q&amp;A를 운영한다. 공개 응답은 선택이며 질문이 없으면 사실과 절차의 차이를 묻는 준비 질문을 사용한다. 별도 실습은 없다.</a:t>
            </a:r>
          </a:p>
          <a:p xmlns:a="http://schemas.openxmlformats.org/drawingml/2006/main">
            <a:r>
              <a:t/>
            </a:r>
          </a:p>
          <a:p xmlns:a="http://schemas.openxmlformats.org/drawingml/2006/main">
            <a:r>
              <a:t>Transition: “Agent가 Project를 알아도 왜 작업 방법은 달라질까?”</a:t>
            </a:r>
          </a:p>
          <a:p xmlns:a="http://schemas.openxmlformats.org/drawingml/2006/main">
            <a:r>
              <a:t/>
            </a:r>
          </a:p>
          <a:p xmlns:a="http://schemas.openxmlformats.org/drawingml/2006/main">
            <a:r>
              <a:t>Time Management: Transition 4분 → Q&amp;A 6분, 총 10분을 유지한다. 마지막 handoff 문구도 Q&amp;A 종료 전에 포함하며 추가 Transition 시간을 만들지 않는다. 답변이 길어지면 다음 질문을 받지 않고 ACT 3로 이동한다.</a:t>
            </a:r>
          </a:p>
          <a:p xmlns:a="http://schemas.openxmlformats.org/drawingml/2006/main">
            <a:r>
              <a:t/>
            </a:r>
          </a:p>
          <a:p xmlns:a="http://schemas.openxmlformats.org/drawingml/2006/main">
            <a:r>
              <a:t>Fallback: LOCAL STATIC ARTIFACT — 발표 기본 경로는 `production/ACT_2.pptx`의 S36 또는 `production/preview/act2/S36.png`다.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서로 다른 Performance Task, 반복되는 절차</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서로 다른 Performance Task, 반복되는 절차</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TRIAL-006의 `resize_nearest`와 TRIAL-007의 `normalize`처럼 서로 다른 목표에서도 유사한 performance procedure가 반복될 수 있다.</a:t>
            </a:r>
          </a:p>
          <a:p xmlns:a="http://schemas.openxmlformats.org/drawingml/2006/main">
            <a:r>
              <a:t/>
            </a:r>
          </a:p>
          <a:p xmlns:a="http://schemas.openxmlformats.org/drawingml/2006/main">
            <a:r>
              <a:t>Opening Question: “Task가 달라도 왜 같은 작업 방법을 계속 쓰고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서로 다른 두 Task goal을 나란히 보여준다.</a:t>
            </a:r>
          </a:p>
          <a:p xmlns:a="http://schemas.openxmlformats.org/drawingml/2006/main">
            <a:r>
              <a:t>2. (2:00–4:00) 두 기록에 반복된 baseline, 조사, 계획, 변경, test, benchmark, 비교, review를 강조한다.</a:t>
            </a:r>
          </a:p>
          <a:p xmlns:a="http://schemas.openxmlformats.org/drawingml/2006/main">
            <a:r>
              <a:t>3. (4:00–5:00) 반복 관찰과 원인 귀속을 분리하고 Prompt-only attribution이 PARTIAL임을 밝힌다.</a:t>
            </a:r>
          </a:p>
          <a:p xmlns:a="http://schemas.openxmlformats.org/drawingml/2006/main">
            <a:r>
              <a:t/>
            </a:r>
          </a:p>
          <a:p xmlns:a="http://schemas.openxmlformats.org/drawingml/2006/main">
            <a:r>
              <a:t>Evidence / Source: TRIAL-006 (`resize_nearest`), TRIAL-007 (`normalize`), BEAT-018/020. Codex CLI 기록 실행의 workflow 비교.</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TRIAL-006/007을 요약한 정적 재구성 도식을 사용한다. 새로운 실행이나 실제 터미널 화면이라고 말하지 않는다.</a:t>
            </a:r>
          </a:p>
          <a:p xmlns:a="http://schemas.openxmlformats.org/drawingml/2006/main">
            <a:r>
              <a:t/>
            </a:r>
          </a:p>
          <a:p xmlns:a="http://schemas.openxmlformats.org/drawingml/2006/main">
            <a:r>
              <a:t>Audience Interaction: 두 Task의 공통 절차를 잠시 관찰하게 한다. 공개 답변은 요구하지 않는다.</a:t>
            </a:r>
          </a:p>
          <a:p xmlns:a="http://schemas.openxmlformats.org/drawingml/2006/main">
            <a:r>
              <a:t/>
            </a:r>
          </a:p>
          <a:p xmlns:a="http://schemas.openxmlformats.org/drawingml/2006/main">
            <a:r>
              <a:t>Transition: “Project 지식과 작업 절차는 각각 어떤 질문에 답할까?”</a:t>
            </a:r>
          </a:p>
          <a:p xmlns:a="http://schemas.openxmlformats.org/drawingml/2006/main">
            <a:r>
              <a:t/>
            </a:r>
          </a:p>
          <a:p xmlns:a="http://schemas.openxmlformats.org/drawingml/2006/main">
            <a:r>
              <a:t>Time Management: Case 5분을 두 Task 비교, 공통 절차, attribution 한계 순으로 쓴다. 수치 설명으로 확장하지 않는다.</a:t>
            </a:r>
          </a:p>
          <a:p xmlns:a="http://schemas.openxmlformats.org/drawingml/2006/main">
            <a:r>
              <a:t/>
            </a:r>
          </a:p>
          <a:p xmlns:a="http://schemas.openxmlformats.org/drawingml/2006/main">
            <a:r>
              <a:t>Fallback: LOCAL STATIC ARTIFACT — 발표 기본 경로는 `production/ACT_3.pptx`의 S37 또는 `production/preview/act3/S37.png`다.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Project 사실과 작업 절차는 다르다</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Project 사실과 작업 절차는 다르다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Project에서 일반적으로 참인 사실과 반복되는 작업 방법은 서로 다른 설계 문제다.</a:t>
            </a:r>
          </a:p>
          <a:p xmlns:a="http://schemas.openxmlformats.org/drawingml/2006/main">
            <a:r>
              <a:t/>
            </a:r>
          </a:p>
          <a:p xmlns:a="http://schemas.openxmlformats.org/drawingml/2006/main">
            <a:r>
              <a:t>Opening Question: “Agent가 알아야 할 것과 따라야 할 방법은 같은가?”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crop의 끝 열 제외 계약을 ‘무엇이 참인가?’와 연결한다.</a:t>
            </a:r>
          </a:p>
          <a:p xmlns:a="http://schemas.openxmlformats.org/drawingml/2006/main">
            <a:r>
              <a:t>2. (1:00–3:00) 오른쪽 변경 전 측정과 동일 입력 비교를 ‘어떤 순서로 일할까?’와 연결한다. 화면 아래의 현재 목표 질문은 Task Prompt의 책임이다.</a:t>
            </a:r>
          </a:p>
          <a:p xmlns:a="http://schemas.openxmlformats.org/drawingml/2006/main">
            <a:r>
              <a:t>3. (3:00–4:00) 사실과 절차는 둘 다 Prompt 밖에 놓일 수 있지만 유지할 책임이 다르다고 정리한다. 아직 Harness 전체 정의를 완성하지 않는다.</a:t>
            </a:r>
          </a:p>
          <a:p xmlns:a="http://schemas.openxmlformats.org/drawingml/2006/main">
            <a:r>
              <a:t/>
            </a:r>
          </a:p>
          <a:p xmlns:a="http://schemas.openxmlformats.org/drawingml/2006/main">
            <a:r>
              <a:t>Evidence / Source: BEAT-019, TRIAL-006/007. TEACHING_MODEL / CONCEPTUAL.</a:t>
            </a:r>
          </a:p>
          <a:p xmlns:a="http://schemas.openxmlformats.org/drawingml/2006/main">
            <a:r>
              <a:t/>
            </a:r>
          </a:p>
          <a:p xmlns:a="http://schemas.openxmlformats.org/drawingml/2006/main">
            <a:r>
              <a:t>Claim Boundary: 교육용 구분이다. 공식 제품 분류나 특정 제품 기능이라고 표현하지 않는다.</a:t>
            </a:r>
          </a:p>
          <a:p xmlns:a="http://schemas.openxmlformats.org/drawingml/2006/main">
            <a:r>
              <a:t/>
            </a:r>
          </a:p>
          <a:p xmlns:a="http://schemas.openxmlformats.org/drawingml/2006/main">
            <a:r>
              <a:t>Beginner Explanation: 프로젝트 설명은 무엇이 참인지 말하고, workflow는 어떤 순서로 일할지 말한다.</a:t>
            </a:r>
          </a:p>
          <a:p xmlns:a="http://schemas.openxmlformats.org/drawingml/2006/main">
            <a:r>
              <a:t/>
            </a:r>
          </a:p>
          <a:p xmlns:a="http://schemas.openxmlformats.org/drawingml/2006/main">
            <a:r>
              <a:t>Advanced Insight: Project Context를 늘리는 것만으로 반복 절차의 유지 문제가 해결되지는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세 질문과 항목을 조용히 따라오게 한다. 분류 실습은 요구하지 않는다.</a:t>
            </a:r>
          </a:p>
          <a:p xmlns:a="http://schemas.openxmlformats.org/drawingml/2006/main">
            <a:r>
              <a:t/>
            </a:r>
          </a:p>
          <a:p xmlns:a="http://schemas.openxmlformats.org/drawingml/2006/main">
            <a:r>
              <a:t>Transition: “작업 방법도 Repository가 재사용할 수 있을까?”</a:t>
            </a:r>
          </a:p>
          <a:p xmlns:a="http://schemas.openxmlformats.org/drawingml/2006/main">
            <a:r>
              <a:t/>
            </a:r>
          </a:p>
          <a:p xmlns:a="http://schemas.openxmlformats.org/drawingml/2006/main">
            <a:r>
              <a:t>Time Management: 4분 동안 세 질문의 책임만 구분한다. Harness 전체 정의는 아직 제시하지 않는다.</a:t>
            </a:r>
          </a:p>
          <a:p xmlns:a="http://schemas.openxmlformats.org/drawingml/2006/main">
            <a:r>
              <a:t/>
            </a:r>
          </a:p>
          <a:p xmlns:a="http://schemas.openxmlformats.org/drawingml/2006/main">
            <a:r>
              <a:t>Fallback: LOCAL STATIC ARTIFACT — 발표 기본 경로는 `production/ACT_3.pptx`의 S38 또는 `production/preview/act3/S38.png`다.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Task, Context, Workflow의 역할</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Task, Context, Workflow의 역할</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Task Prompt는 현재 목표, Project Context는 사실과 제약, Reusable Workflow는 특정 작업을 수행하는 방법을 담는다.</a:t>
            </a:r>
          </a:p>
          <a:p xmlns:a="http://schemas.openxmlformats.org/drawingml/2006/main">
            <a:r>
              <a:t/>
            </a:r>
          </a:p>
          <a:p xmlns:a="http://schemas.openxmlformats.org/drawingml/2006/main">
            <a:r>
              <a:t>Opening Question: “현재 목표, Project 사실, 반복 절차는 어디에 속하는가?”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첫 행의 normalize 성능 조사로 이번 Task 목표를 설명한다.</a:t>
            </a:r>
          </a:p>
          <a:p xmlns:a="http://schemas.openxmlformats.org/drawingml/2006/main">
            <a:r>
              <a:t>2. (1:00–2:30) 둘째 행에서 기존 이미지 동작과 공개 계약은 작업 중 지켜야 할 Project Context임을 짚는다.</a:t>
            </a:r>
          </a:p>
          <a:p xmlns:a="http://schemas.openxmlformats.org/drawingml/2006/main">
            <a:r>
              <a:t>3. (2:30–4:00) 셋째 행의 baseline → 조사 → 검증 → 비교를 재사용 Workflow와 연결한다.</a:t>
            </a:r>
          </a:p>
          <a:p xmlns:a="http://schemas.openxmlformats.org/drawingml/2006/main">
            <a:r>
              <a:t>4. (4:00–5:00) 세 책임의 위치가 Prompt 밖일 수 있다는 것과 책임이 같다는 것을 구분한다.</a:t>
            </a:r>
          </a:p>
          <a:p xmlns:a="http://schemas.openxmlformats.org/drawingml/2006/main">
            <a:r>
              <a:t/>
            </a:r>
          </a:p>
          <a:p xmlns:a="http://schemas.openxmlformats.org/drawingml/2006/main">
            <a:r>
              <a:t>Evidence / Source: BEAT-019, TRIAL-006/007. TEACHING_MODEL / CONCEPTUAL.</a:t>
            </a:r>
          </a:p>
          <a:p xmlns:a="http://schemas.openxmlformats.org/drawingml/2006/main">
            <a:r>
              <a:t/>
            </a:r>
          </a:p>
          <a:p xmlns:a="http://schemas.openxmlformats.org/drawingml/2006/main">
            <a:r>
              <a:t>Claim Boundary: 세 Layer는 교육용 모델이다. Harness 전체 정의나 제품의 공식 분류로 부르지 않는다.</a:t>
            </a:r>
          </a:p>
          <a:p xmlns:a="http://schemas.openxmlformats.org/drawingml/2006/main">
            <a:r>
              <a:t/>
            </a:r>
          </a:p>
          <a:p xmlns:a="http://schemas.openxmlformats.org/drawingml/2006/main">
            <a:r>
              <a:t>Beginner Explanation: 지금 원하는 일, 계속 유효한 프로젝트 정보, 반복할 작업 순서를 나눠 볼 수 있다.</a:t>
            </a:r>
          </a:p>
          <a:p xmlns:a="http://schemas.openxmlformats.org/drawingml/2006/main">
            <a:r>
              <a:t/>
            </a:r>
          </a:p>
          <a:p xmlns:a="http://schemas.openxmlformats.org/drawingml/2006/main">
            <a:r>
              <a:t>Advanced Insight: 같은 위치에 저장될 수 있어도 소유권, 갱신 주기, Task별 적용은 다를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각 Layer 예시를 조용히 따라오게 한다. 노트북 실습은 없다.</a:t>
            </a:r>
          </a:p>
          <a:p xmlns:a="http://schemas.openxmlformats.org/drawingml/2006/main">
            <a:r>
              <a:t/>
            </a:r>
          </a:p>
          <a:p xmlns:a="http://schemas.openxmlformats.org/drawingml/2006/main">
            <a:r>
              <a:t>Transition: Slide 40에서 반복 절차를 repository-owned asset으로 옮길지 묻는다.</a:t>
            </a:r>
          </a:p>
          <a:p xmlns:a="http://schemas.openxmlformats.org/drawingml/2006/main">
            <a:r>
              <a:t/>
            </a:r>
          </a:p>
          <a:p xmlns:a="http://schemas.openxmlformats.org/drawingml/2006/main">
            <a:r>
              <a:t>Time Management: 5분 동안 세 책임과 한 개의 workflow 예시만 설명한다.</a:t>
            </a:r>
          </a:p>
          <a:p xmlns:a="http://schemas.openxmlformats.org/drawingml/2006/main">
            <a:r>
              <a:t/>
            </a:r>
          </a:p>
          <a:p xmlns:a="http://schemas.openxmlformats.org/drawingml/2006/main">
            <a:r>
              <a:t>Fallback: LOCAL STATIC ARTIFACT — 발표 기본 경로는 `production/ACT_3.pptx`의 S39 또는 `production/preview/act3/S39.png`다.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반복 절차를 Skill로 옮길 수 있을까?</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반복 절차를 Skill로 옮길 수 있을까?</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반복 절차를 repository-owned Skill에 두는 것은 Task 목표와 Project 절차를 분리하려는 선택이다.</a:t>
            </a:r>
          </a:p>
          <a:p xmlns:a="http://schemas.openxmlformats.org/drawingml/2006/main">
            <a:r>
              <a:t/>
            </a:r>
          </a:p>
          <a:p xmlns:a="http://schemas.openxmlformats.org/drawingml/2006/main">
            <a:r>
              <a:t>Opening Question: “긴 Procedure를 Prompt에서 빼도 같은 작업 흐름을 유지할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목표와 반복 절차가 함께 들어간 Before를 보여준다.</a:t>
            </a:r>
          </a:p>
          <a:p xmlns:a="http://schemas.openxmlformats.org/drawingml/2006/main">
            <a:r>
              <a:t>2. (1:30–3:00) `$graypipe-performance`와 repository Skill을 후보 구조로 보여준다.</a:t>
            </a:r>
          </a:p>
          <a:p xmlns:a="http://schemas.openxmlformats.org/drawingml/2006/main">
            <a:r>
              <a:t>3. (3:00–4:00) 성공 결과를 앞당기지 않고 대상 surface와 호출 경로는 확인 대상이라고 말한다.</a:t>
            </a:r>
          </a:p>
          <a:p xmlns:a="http://schemas.openxmlformats.org/drawingml/2006/main">
            <a:r>
              <a:t/>
            </a:r>
          </a:p>
          <a:p xmlns:a="http://schemas.openxmlformats.org/drawingml/2006/main">
            <a:r>
              <a:t>Evidence / Source: DEC-0017, BEAT-020/021, TRIAL-006/007/008. Skill 선택은 ACCEPTED; 동작 근거는 뒤의 TRIAL-008에 둔다.</a:t>
            </a:r>
          </a:p>
          <a:p xmlns:a="http://schemas.openxmlformats.org/drawingml/2006/main">
            <a:r>
              <a:t/>
            </a:r>
          </a:p>
          <a:p xmlns:a="http://schemas.openxmlformats.org/drawingml/2006/main">
            <a:r>
              <a:t>Claim Boundary: 여기서는 설계 질문과 후보만 소개한다. 현재 Desktop/계정에서 이용 가능하다고 보장하거나 Skill 우월성을 주장하지 않는다.</a:t>
            </a:r>
          </a:p>
          <a:p xmlns:a="http://schemas.openxmlformats.org/drawingml/2006/main">
            <a:r>
              <a:t/>
            </a:r>
          </a:p>
          <a:p xmlns:a="http://schemas.openxmlformats.org/drawingml/2006/main">
            <a:r>
              <a:t>Beginner Explanation: 같은 방법을 매번 Prompt에 복사하는 대신 프로젝트가 소유하는 위치를 검토할 수 있다.</a:t>
            </a:r>
          </a:p>
          <a:p xmlns:a="http://schemas.openxmlformats.org/drawingml/2006/main">
            <a:r>
              <a:t/>
            </a:r>
          </a:p>
          <a:p xmlns:a="http://schemas.openxmlformats.org/drawingml/2006/main">
            <a:r>
              <a:t>Advanced Insight: 반복 근거에 따른 workflow 소유권 선택과 실제 발견·호출 증거를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성공 여부를 추측하지 않도록 잠깐 멈추고 질문을 남긴다.</a:t>
            </a:r>
          </a:p>
          <a:p xmlns:a="http://schemas.openxmlformats.org/drawingml/2006/main">
            <a:r>
              <a:t/>
            </a:r>
          </a:p>
          <a:p xmlns:a="http://schemas.openxmlformats.org/drawingml/2006/main">
            <a:r>
              <a:t>Transition: Slide 41에서 TRIAL-008의 발견과 명시적 호출 기록을 확인한다.</a:t>
            </a:r>
          </a:p>
          <a:p xmlns:a="http://schemas.openxmlformats.org/drawingml/2006/main">
            <a:r>
              <a:t/>
            </a:r>
          </a:p>
          <a:p xmlns:a="http://schemas.openxmlformats.org/drawingml/2006/main">
            <a:r>
              <a:t>Time Management: 4분 중 3분은 문제와 후보를 설명하고, 마지막 1분에 product check 경계를 둔다.</a:t>
            </a:r>
          </a:p>
          <a:p xmlns:a="http://schemas.openxmlformats.org/drawingml/2006/main">
            <a:r>
              <a:t/>
            </a:r>
          </a:p>
          <a:p xmlns:a="http://schemas.openxmlformats.org/drawingml/2006/main">
            <a:r>
              <a:t>Fallback: LOCAL STATIC ARTIFACT — 발표 기본 경로는 `production/ACT_3.pptx`의 S40 또는 `production/preview/act3/S40.png`다.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Skill을 어떻게 발견하고 호출할까?</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Skill을 어떻게 발견하고 호출할까?</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TRIAL-008에서 Codex CLI 0.154.0의 `/skills` 목록으로 repository Skill을 찾고 `$graypipe-performance`를 명시적으로 호출했으며, 실행 trace에 Skill 본문이 있었다.</a:t>
            </a:r>
          </a:p>
          <a:p xmlns:a="http://schemas.openxmlformats.org/drawingml/2006/main">
            <a:r>
              <a:t/>
            </a:r>
          </a:p>
          <a:p xmlns:a="http://schemas.openxmlformats.org/drawingml/2006/main">
            <a:r>
              <a:t>Opening Question: “반복할 작업 절차를 Repository에서 어떻게 찾고 불러올까?”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세 단계는 TRIAL-008 기록을 읽기 좋게 재구성한 도식이며 실제 제품 UI 캡처가 아님을 밝힌다.</a:t>
            </a:r>
          </a:p>
          <a:p xmlns:a="http://schemas.openxmlformats.org/drawingml/2006/main">
            <a:r>
              <a:t>2. (1:00–2:30) /skills 목록에서 graypipe-performance와 잘린 설명이 표시된 기록을 가리킨다. 그 selector 화면에 Skill 경로가 표시됐다고 말하지 않는다.</a:t>
            </a:r>
          </a:p>
          <a:p xmlns:a="http://schemas.openxmlformats.org/drawingml/2006/main">
            <a:r>
              <a:t>3. (2:30–4:00) 명시적 $graypipe-performance 호출과 image_statistics 작업 목표를 보여준 뒤, 실행 trace에서 Skill 경로·본문 포함을 확인했다는 세 번째 행으로 이동한다.</a:t>
            </a:r>
          </a:p>
          <a:p xmlns:a="http://schemas.openxmlformats.org/drawingml/2006/main">
            <a:r>
              <a:t>4. (4:00–5:00) Codex CLI 0.154.0에서 확인한 범위다. 현재 Desktop, 암묵적 호출, 교육 계정의 표면은 별도 확인 대상으로 남긴다.</a:t>
            </a:r>
          </a:p>
          <a:p xmlns:a="http://schemas.openxmlformats.org/drawingml/2006/main">
            <a:r>
              <a:t/>
            </a:r>
          </a:p>
          <a:p xmlns:a="http://schemas.openxmlformats.org/drawingml/2006/main">
            <a:r>
              <a:t>Evidence / Source: TRIAL-008, DEC-0017, BEAT-021. Codex CLI 0.154.0, 명시적 호출, disposable workspace. 시각 자료는 기록의 재구성이다.</a:t>
            </a:r>
          </a:p>
          <a:p xmlns:a="http://schemas.openxmlformats.org/drawingml/2006/main">
            <a:r>
              <a:t/>
            </a:r>
          </a:p>
          <a:p xmlns:a="http://schemas.openxmlformats.org/drawingml/2006/main">
            <a:r>
              <a:t>Claim Boundary: Product UI 스크린샷이나 현재 Codex Desktop 동작으로 표현하지 않는다. Skill path는 selector가 아니라 실행 trace에서 확인됐다. Implicit invocation은 테스트하지 않았다.</a:t>
            </a:r>
          </a:p>
          <a:p xmlns:a="http://schemas.openxmlformats.org/drawingml/2006/main">
            <a:r>
              <a:t/>
            </a:r>
          </a:p>
          <a:p xmlns:a="http://schemas.openxmlformats.org/drawingml/2006/main">
            <a:r>
              <a:t>Beginner Explanation: 기록된 CLI 실행에서 Skill을 목록으로 찾고, 호출 표기를 입력해 사용했다.</a:t>
            </a:r>
          </a:p>
          <a:p xmlns:a="http://schemas.openxmlformats.org/drawingml/2006/main">
            <a:r>
              <a:t/>
            </a:r>
          </a:p>
          <a:p xmlns:a="http://schemas.openxmlformats.org/drawingml/2006/main">
            <a:r>
              <a:t>Advanced Insight: Selector의 발견 증거와 실행 context의 본문 증거를 구별한다. 다른 surface·계정에 일반화하지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기본 경로는 재구성된 TRIAL-008 기록이다. 실제 Codex CLI 실행으로 전환하지 않는다. 현재 제품 표면은 REQUIRES PRODUCT CHECK.</a:t>
            </a:r>
          </a:p>
          <a:p xmlns:a="http://schemas.openxmlformats.org/drawingml/2006/main">
            <a:r>
              <a:t/>
            </a:r>
          </a:p>
          <a:p xmlns:a="http://schemas.openxmlformats.org/drawingml/2006/main">
            <a:r>
              <a:t>Audience Interaction: 발견, 명시적 호출, 본문 확인의 세 단계를 따라오게 한다. 조작을 요구하지 않는다.</a:t>
            </a:r>
          </a:p>
          <a:p xmlns:a="http://schemas.openxmlformats.org/drawingml/2006/main">
            <a:r>
              <a:t/>
            </a:r>
          </a:p>
          <a:p xmlns:a="http://schemas.openxmlformats.org/drawingml/2006/main">
            <a:r>
              <a:t>Transition: “호출한 뒤 작업 Prompt에서는 무엇이 달라졌을까?”</a:t>
            </a:r>
          </a:p>
          <a:p xmlns:a="http://schemas.openxmlformats.org/drawingml/2006/main">
            <a:r>
              <a:t/>
            </a:r>
          </a:p>
          <a:p xmlns:a="http://schemas.openxmlformats.org/drawingml/2006/main">
            <a:r>
              <a:t>Time Management: 발견 1.5분, 호출·본문 근거 1.5분, 범위 제한 1분. 실시간 제품 설명을 추가하지 않는다.</a:t>
            </a:r>
          </a:p>
          <a:p xmlns:a="http://schemas.openxmlformats.org/drawingml/2006/main">
            <a:r>
              <a:t/>
            </a:r>
          </a:p>
          <a:p xmlns:a="http://schemas.openxmlformats.org/drawingml/2006/main">
            <a:r>
              <a:t>Fallback: LOCAL STATIC ARTIFACT — 발표 기본 경로는 `production/ACT_3.pptx`의 S41 또는 `production/preview/act3/S41.png`다.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절차의 책임이 Prompt에서 Repository로 이동</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절차의 책임이 Prompt에서 Repository로 이동</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TRIAL-007의 긴 Prompt가 포함하던 절차를 TRIAL-008에서는 명시적으로 호출한 Skill에 맡기고 Prompt에는 목표와 Task별 제약을 남겼다.</a:t>
            </a:r>
          </a:p>
          <a:p xmlns:a="http://schemas.openxmlformats.org/drawingml/2006/main">
            <a:r>
              <a:t/>
            </a:r>
          </a:p>
          <a:p xmlns:a="http://schemas.openxmlformats.org/drawingml/2006/main">
            <a:r>
              <a:t>Opening Question: “같은 작업 절차를 매번 Prompt에 길게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TRIAL-007의 goal, 제약, 긴 procedure를 요약한다.</a:t>
            </a:r>
          </a:p>
          <a:p xmlns:a="http://schemas.openxmlformats.org/drawingml/2006/main">
            <a:r>
              <a:t>2. (1:30–3:00) TRIAL-008의 goal, Task별 제약, 명시적 Skill 호출을 비교한다.</a:t>
            </a:r>
          </a:p>
          <a:p xmlns:a="http://schemas.openxmlformats.org/drawingml/2006/main">
            <a:r>
              <a:t>3. (3:00–5:00) 양쪽에 반복된 baseline, 조사, test, benchmark, compare, review를 잇는다.</a:t>
            </a:r>
          </a:p>
          <a:p xmlns:a="http://schemas.openxmlformats.org/drawingml/2006/main">
            <a:r>
              <a:t>4. (5:00–6:00) 책임 위치 변화만 관찰됐고 토큰 절감은 측정되지 않았다고 정리한다.</a:t>
            </a:r>
          </a:p>
          <a:p xmlns:a="http://schemas.openxmlformats.org/drawingml/2006/main">
            <a:r>
              <a:t/>
            </a:r>
          </a:p>
          <a:p xmlns:a="http://schemas.openxmlformats.org/drawingml/2006/main">
            <a:r>
              <a:t>Evidence / Source: TRIAL-007/008, DEC-0017, BEAT-021. 관찰된 CLI 기록을 요약한 비교.</a:t>
            </a:r>
          </a:p>
          <a:p xmlns:a="http://schemas.openxmlformats.org/drawingml/2006/main">
            <a:r>
              <a:t/>
            </a:r>
          </a:p>
          <a:p xmlns:a="http://schemas.openxmlformats.org/drawingml/2006/main">
            <a:r>
              <a:t>Claim Boundary: Skill 우월성, 속도 향상, token/character 절감은 입증되지 않았다. Prompt 구조와 다른 전역 요인의 인과 효과를 따로 분리하지 않는다.</a:t>
            </a:r>
          </a:p>
          <a:p xmlns:a="http://schemas.openxmlformats.org/drawingml/2006/main">
            <a:r>
              <a:t/>
            </a:r>
          </a:p>
          <a:p xmlns:a="http://schemas.openxmlformats.org/drawingml/2006/main">
            <a:r>
              <a:t>Beginner Explanation: 반복되는 절차를 저장한 위치를 바꿔도 각 작업의 목표는 Prompt에 남는다.</a:t>
            </a:r>
          </a:p>
          <a:p xmlns:a="http://schemas.openxmlformats.org/drawingml/2006/main">
            <a:r>
              <a:t/>
            </a:r>
          </a:p>
          <a:p xmlns:a="http://schemas.openxmlformats.org/drawingml/2006/main">
            <a:r>
              <a:t>Advanced Insight: 절차의 재사용 설계와 Prompt 길이·효율의 측정 주장을 혼동하지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두 Trial을 요약한 정적 비교를 사용한다. 긴 Prompt 전문이나 실제 터미널 화면을 재현하지 않는다.</a:t>
            </a:r>
          </a:p>
          <a:p xmlns:a="http://schemas.openxmlformats.org/drawingml/2006/main">
            <a:r>
              <a:t/>
            </a:r>
          </a:p>
          <a:p xmlns:a="http://schemas.openxmlformats.org/drawingml/2006/main">
            <a:r>
              <a:t>Audience Interaction: Case 시간에 공통 절차만 비교하도록 안내하고, 공개 응답은 요구하지 않는다.</a:t>
            </a:r>
          </a:p>
          <a:p xmlns:a="http://schemas.openxmlformats.org/drawingml/2006/main">
            <a:r>
              <a:t/>
            </a:r>
          </a:p>
          <a:p xmlns:a="http://schemas.openxmlformats.org/drawingml/2006/main">
            <a:r>
              <a:t>Transition: “그 Skill에는 구체적인 답이 들어 있을까, 재사용할 작업 방법이 들어 있을까?”</a:t>
            </a:r>
          </a:p>
          <a:p xmlns:a="http://schemas.openxmlformats.org/drawingml/2006/main">
            <a:r>
              <a:t/>
            </a:r>
          </a:p>
          <a:p xmlns:a="http://schemas.openxmlformats.org/drawingml/2006/main">
            <a:r>
              <a:t>Time Management: Demo 3분은 구조 비교, Case 3분은 공통 procedure와 책임 경계에 쓴다.</a:t>
            </a:r>
          </a:p>
          <a:p xmlns:a="http://schemas.openxmlformats.org/drawingml/2006/main">
            <a:r>
              <a:t/>
            </a:r>
          </a:p>
          <a:p xmlns:a="http://schemas.openxmlformats.org/drawingml/2006/main">
            <a:r>
              <a:t>Fallback: LOCAL STATIC ARTIFACT — 발표 기본 경로는 `production/ACT_3.pptx`의 S42 또는 `production/preview/act3/S42.png`다.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답을 담지 않는 Workflow</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답을 담지 않는 Workflow</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Reusable Skill은 검증 절차를 담고 특정 최적화 답이나 측정 결과를 미리 정답으로 고정하지 않는다.</a:t>
            </a:r>
          </a:p>
          <a:p xmlns:a="http://schemas.openxmlformats.org/drawingml/2006/main">
            <a:r>
              <a:t/>
            </a:r>
          </a:p>
          <a:p xmlns:a="http://schemas.openxmlformats.org/drawingml/2006/main">
            <a:r>
              <a:t>Opening Question: “Skill이 작업 방법을 담는다면, 어디까지 미리 정해도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실제 Skill 발췌의 ‘편집 전 재현 가능한 baseline’과 ‘근거가 없으면 no-change도 유효’ 두 지시를 가리킨다. 영어를 모두 낭독하지 않고 한국어로 뜻을 설명한다.</a:t>
            </a:r>
          </a:p>
          <a:p xmlns:a="http://schemas.openxmlformats.org/drawingml/2006/main">
            <a:r>
              <a:t>2. (1:00–2:00) 아래의 알고리즘, 실제 측정값, 감수할 trade-off는 이번 Task에서 결정할 내용임을 구분한다.</a:t>
            </a:r>
          </a:p>
          <a:p xmlns:a="http://schemas.openxmlformats.org/drawingml/2006/main">
            <a:r>
              <a:t>3. (2:00–3:00) Skill에 특정 알고리즘·Trial 숫자를 정답으로 넣지 않았음을 확인하고, 실제 후보 비교로 넘어간다.</a:t>
            </a:r>
          </a:p>
          <a:p xmlns:a="http://schemas.openxmlformats.org/drawingml/2006/main">
            <a:r>
              <a:t/>
            </a:r>
          </a:p>
          <a:p xmlns:a="http://schemas.openxmlformats.org/drawingml/2006/main">
            <a:r>
              <a:t>Evidence / Source: TRIAL-008, `graypipe-performance` Skill, DEC-0017, BEAT-022. OBSERVED_PRODUCT / TEACHING_MODEL.</a:t>
            </a:r>
          </a:p>
          <a:p xmlns:a="http://schemas.openxmlformats.org/drawingml/2006/main">
            <a:r>
              <a:t/>
            </a:r>
          </a:p>
          <a:p xmlns:a="http://schemas.openxmlformats.org/drawingml/2006/main">
            <a:r>
              <a:t>Claim Boundary: 절차 재사용은 관찰됐지만 Skill이 더 나은 최적화 답을 제공한다는 근거는 아니다. Workflow는 task 결과를 고정하지 않는다.</a:t>
            </a:r>
          </a:p>
          <a:p xmlns:a="http://schemas.openxmlformats.org/drawingml/2006/main">
            <a:r>
              <a:t/>
            </a:r>
          </a:p>
          <a:p xmlns:a="http://schemas.openxmlformats.org/drawingml/2006/main">
            <a:r>
              <a:t>Beginner Explanation: 작업 순서는 재사용할 수 있지만, 어떤 답이 맞는지는 매번 확인해야 한다.</a:t>
            </a:r>
          </a:p>
          <a:p xmlns:a="http://schemas.openxmlformats.org/drawingml/2006/main">
            <a:r>
              <a:t/>
            </a:r>
          </a:p>
          <a:p xmlns:a="http://schemas.openxmlformats.org/drawingml/2006/main">
            <a:r>
              <a:t>Advanced Insight: Input, runtime, benchmark, trade-off를 procedure definition과 섞지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STATE-04의 `.agents/skills/graypipe-performance/SKILL.md`에서 확인한 두 문장만 발췌한 정적 화면을 사용한다. 코드/제품 UI screenshot으로 표현하지 않으며 전체 Skill 본문을 낭독하지 않는다.</a:t>
            </a:r>
          </a:p>
          <a:p xmlns:a="http://schemas.openxmlformats.org/drawingml/2006/main">
            <a:r>
              <a:t/>
            </a:r>
          </a:p>
          <a:p xmlns:a="http://schemas.openxmlformats.org/drawingml/2006/main">
            <a:r>
              <a:t>Audience Interaction: 왼쪽의 절차와 오른쪽의 Task 판단을 구별하도록 안내한다.</a:t>
            </a:r>
          </a:p>
          <a:p xmlns:a="http://schemas.openxmlformats.org/drawingml/2006/main">
            <a:r>
              <a:t/>
            </a:r>
          </a:p>
          <a:p xmlns:a="http://schemas.openxmlformats.org/drawingml/2006/main">
            <a:r>
              <a:t>Transition: “실제로 후보를 선택할 때는 무엇을 근거로 삼았을까?”</a:t>
            </a:r>
          </a:p>
          <a:p xmlns:a="http://schemas.openxmlformats.org/drawingml/2006/main">
            <a:r>
              <a:t/>
            </a:r>
          </a:p>
          <a:p xmlns:a="http://schemas.openxmlformats.org/drawingml/2006/main">
            <a:r>
              <a:t>Time Management: 3분 동안 두 책임만 구분하며 algorithm 설명은 생략한다.</a:t>
            </a:r>
          </a:p>
          <a:p xmlns:a="http://schemas.openxmlformats.org/drawingml/2006/main">
            <a:r>
              <a:t/>
            </a:r>
          </a:p>
          <a:p xmlns:a="http://schemas.openxmlformats.org/drawingml/2006/main">
            <a:r>
              <a:t>Fallback: LOCAL STATIC ARTIFACT — 발표 기본 경로는 `production/ACT_3.pptx`의 S43 또는 `production/preview/act3/S43.png`다.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측정으로 후보를 고르다</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측정으로 후보를 고르다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TRIAL-008의 `image_statistics` 후보 중 row-level built-in reduction은 수동 단일 순회보다 빠르면서 낮은 traced-memory 사용을 유지해 선택됐다.</a:t>
            </a:r>
          </a:p>
          <a:p xmlns:a="http://schemas.openxmlformats.org/drawingml/2006/main">
            <a:r>
              <a:t/>
            </a:r>
          </a:p>
          <a:p xmlns:a="http://schemas.openxmlformats.org/drawingml/2006/main">
            <a:r>
              <a:t>Opening Question: “여러 구현 후보 중 무엇을 선택할지 어떻게 판단했을까?”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후보 비교가 STATE-04 → STATE-04-PERF 공식 결과와 다른 Trial 단계임을 밝힌다.</a:t>
            </a:r>
          </a:p>
          <a:p xmlns:a="http://schemas.openxmlformats.org/drawingml/2006/main">
            <a:r>
              <a:t>2. (1:00–3:00) 수동 단일 순회는 traced memory가 적었지만 훨씬 느렸다는 정성 비교를 보여준다.</a:t>
            </a:r>
          </a:p>
          <a:p xmlns:a="http://schemas.openxmlformats.org/drawingml/2006/main">
            <a:r>
              <a:t>3. (3:00–4:00) Row-level built-in reduction 후보가 시간·메모리 trade-off에서 선택된 근거를 말한다.</a:t>
            </a:r>
          </a:p>
          <a:p xmlns:a="http://schemas.openxmlformats.org/drawingml/2006/main">
            <a:r>
              <a:t>4. (4:00–5:00) 동일한 six-field correctness guard와 workload 한계를 확인한다.</a:t>
            </a:r>
          </a:p>
          <a:p xmlns:a="http://schemas.openxmlformats.org/drawingml/2006/main">
            <a:r>
              <a:t/>
            </a:r>
          </a:p>
          <a:p xmlns:a="http://schemas.openxmlformats.org/drawingml/2006/main">
            <a:r>
              <a:t>Evidence / Source: TRIAL-008 candidate comparison; `image_statistics`; synthetic 1024×768 image, CPython 3.9.6 / macOS 26.6.2 arm64; same six-field correctness guard.</a:t>
            </a:r>
          </a:p>
          <a:p xmlns:a="http://schemas.openxmlformats.org/drawingml/2006/main">
            <a:r>
              <a:t/>
            </a:r>
          </a:p>
          <a:p xmlns:a="http://schemas.openxmlformats.org/drawingml/2006/main">
            <a:r>
              <a:t>Claim Boundary: 정확한 candidate 수치는 표시하지 않는다. Candidate 결과를 S45의 formal state benchmark와 섞지 않는다. Skill이 algorithm이나 결과를 만들었다고 하지 않는다.</a:t>
            </a:r>
          </a:p>
          <a:p xmlns:a="http://schemas.openxmlformats.org/drawingml/2006/main">
            <a:r>
              <a:t/>
            </a:r>
          </a:p>
          <a:p xmlns:a="http://schemas.openxmlformats.org/drawingml/2006/main">
            <a:r>
              <a:t>Beginner Explanation: 적은 메모리만 보고 선택하지 않고 같은 조건에서 실행시간과 정확성을 함께 확인했다.</a:t>
            </a:r>
          </a:p>
          <a:p xmlns:a="http://schemas.openxmlformats.org/drawingml/2006/main">
            <a:r>
              <a:t/>
            </a:r>
          </a:p>
          <a:p xmlns:a="http://schemas.openxmlformats.org/drawingml/2006/main">
            <a:r>
              <a:t>Advanced Insight: Candidate comparison과 named product-state before/after 측정은 Evidence 단계가 다르다.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두 후보의 Python 할당량과 실행 시간 정성 비교를 사용한다. 후보별 새 숫자나 측정 그래프를 추가하지 않는다. 공식 STATE-04 전후 수치는 다음 S45에서 별도로 보여준다.</a:t>
            </a:r>
          </a:p>
          <a:p xmlns:a="http://schemas.openxmlformats.org/drawingml/2006/main">
            <a:r>
              <a:t/>
            </a:r>
          </a:p>
          <a:p xmlns:a="http://schemas.openxmlformats.org/drawingml/2006/main">
            <a:r>
              <a:t>Audience Interaction: Case 질문을 제시하고 실행시간과 메모리의 trade-off를 생각하게 한다.</a:t>
            </a:r>
          </a:p>
          <a:p xmlns:a="http://schemas.openxmlformats.org/drawingml/2006/main">
            <a:r>
              <a:t/>
            </a:r>
          </a:p>
          <a:p xmlns:a="http://schemas.openxmlformats.org/drawingml/2006/main">
            <a:r>
              <a:t>Transition: “선택한 변화는 어떤 검증을 거쳐 제품 상태에 반영됐을까?”</a:t>
            </a:r>
          </a:p>
          <a:p xmlns:a="http://schemas.openxmlformats.org/drawingml/2006/main">
            <a:r>
              <a:t/>
            </a:r>
          </a:p>
          <a:p xmlns:a="http://schemas.openxmlformats.org/drawingml/2006/main">
            <a:r>
              <a:t>Time Management: 5분 중 3분은 두 후보 차이, 1분은 correctness guard, 1분은 evidence 경계에 쓴다.</a:t>
            </a:r>
          </a:p>
          <a:p xmlns:a="http://schemas.openxmlformats.org/drawingml/2006/main">
            <a:r>
              <a:t/>
            </a:r>
          </a:p>
          <a:p xmlns:a="http://schemas.openxmlformats.org/drawingml/2006/main">
            <a:r>
              <a:t>Fallback: LOCAL STATIC ARTIFACT — 발표 기본 경로는 `production/ACT_3.pptx`의 S44 또는 `production/preview/act3/S44.png`다.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Working Harness Success</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Working Harness Success</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 → STATE-04-PERF의 bounded `image_statistics` 변경은 기록된 조건에서 median과 traced allocation이 달랐고 정해진 tests, CLI, benchmark guards를 통과했다.</a:t>
            </a:r>
          </a:p>
          <a:p xmlns:a="http://schemas.openxmlformats.org/drawingml/2006/main">
            <a:r>
              <a:t/>
            </a:r>
          </a:p>
          <a:p xmlns:a="http://schemas.openxmlformats.org/drawingml/2006/main">
            <a:r>
              <a:t>Opening Question: “조사와 비교가 실제로 확인 가능한 결과로 이어졌을까?”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이전 장의 후보 선택을 회수한다. 정식 STATE-04 baseline에서 변경한 결과이며 TRIAL-008의 후보 수치를 재사용한 것이 아님을 밝힌다.</a:t>
            </a:r>
          </a:p>
          <a:p xmlns:a="http://schemas.openxmlformats.org/drawingml/2006/main">
            <a:r>
              <a:t>2. (1:00–2:30) 0에서 시작하는 실행 시간 막대를 변경 전 15.468 → 변경 후 10.769 ms/call 순서로 가리킨다. 동일 입력에서 상태별 7회 one-call 측정의 중앙값이다.</a:t>
            </a:r>
          </a:p>
          <a:p xmlns:a="http://schemas.openxmlformats.org/drawingml/2006/main">
            <a:r>
              <a:t>3. (2:30–3:30) Python 할당 피크 6,675,804 → 380 bytes를 보여준다. 평탄화 임시 리스트 제거와 연결하되 프로세스 전체 메모리(RSS)나 일반 성능 보장으로 확대하지 않는다.</a:t>
            </a:r>
          </a:p>
          <a:p xmlns:a="http://schemas.openxmlformats.org/drawingml/2006/main">
            <a:r>
              <a:t>4. (3:30–5:00) 집중 Test 1/1, 전체 11/11, CLI와 입력/결과 guard 통과를 확인한다. 이 결과가 Harness/Skill 단독 인과효과를 입증하지 않음을 말하고 Subagent 필요성 질문으로 넘긴다.</a:t>
            </a:r>
          </a:p>
          <a:p xmlns:a="http://schemas.openxmlformats.org/drawingml/2006/main">
            <a:r>
              <a:t/>
            </a:r>
          </a:p>
          <a:p xmlns:a="http://schemas.openxmlformats.org/drawingml/2006/main">
            <a:r>
              <a:t>Evidence / Source: `plan/DEMO_MATRIX.md` STEP 07 §§191–200, STATE-04 → STATE-04-PERF; `plan/CLAIM_FREEZE.md` §8; DEC-0019. Baseline `822f1c12c5f602d934a2fd29e48f05bf498b4bfa`, result `6153b81c0187dd7d82c88bd1817fb683c98eb431`; `image_statistics`; deterministic synthetic 1024×768, 786,432 pixels, max255; CPython3.9.6 / macOS26.6.2 arm64; same input fingerprint, seven one-call samples per state. Median 15.468→10.769 ms/call; separate tracemalloc call peak 6,675,804→380 bytes; six-field result guard, focused1/1, full11/11, CLI smoke PASS. TRIAL-008 is candidate history only.</a:t>
            </a:r>
          </a:p>
          <a:p xmlns:a="http://schemas.openxmlformats.org/drawingml/2006/main">
            <a:r>
              <a:t/>
            </a:r>
          </a:p>
          <a:p xmlns:a="http://schemas.openxmlformats.org/drawingml/2006/main">
            <a:r>
              <a:t>Claim Boundary: 숫자는 이 입력, 코드 경로, host, runtime, 측정 조건에 한정한다. `tracemalloc`은 Python allocation peak이지 RSS가 아니다. Harness나 Skill이 성능 향상을 일으켰다고 하지 않는다.</a:t>
            </a:r>
          </a:p>
          <a:p xmlns:a="http://schemas.openxmlformats.org/drawingml/2006/main">
            <a:r>
              <a:t/>
            </a:r>
          </a:p>
          <a:p xmlns:a="http://schemas.openxmlformats.org/drawingml/2006/main">
            <a:r>
              <a:t>Beginner Explanation: 바뀐 코드가 맞는지 Test와 같은 benchmark로 확인한 기록이 있다.</a:t>
            </a:r>
          </a:p>
          <a:p xmlns:a="http://schemas.openxmlformats.org/drawingml/2006/main">
            <a:r>
              <a:t/>
            </a:r>
          </a:p>
          <a:p xmlns:a="http://schemas.openxmlformats.org/drawingml/2006/main">
            <a:r>
              <a:t>Advanced Insight: Observed product change와 시스템 구성요소의 단독 인과를 분리한다.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`production/ACT_3.pptx`의 S45 및 `production/preview/act3/S45.png`의 native chart와 수치 비교를 가리킨다. 새 Trial 또는 benchmark를 실행하지 않는다. 막대는 실행 시간만 표현하며 할당량은 별도 수치 비교다.</a:t>
            </a:r>
          </a:p>
          <a:p xmlns:a="http://schemas.openxmlformats.org/drawingml/2006/main">
            <a:r>
              <a:t/>
            </a:r>
          </a:p>
          <a:p xmlns:a="http://schemas.openxmlformats.org/drawingml/2006/main">
            <a:r>
              <a:t>Audience Interaction: Case로 측정 조건과 verification을 짚고 일반화하지 않도록 안내한다.</a:t>
            </a:r>
          </a:p>
          <a:p xmlns:a="http://schemas.openxmlformats.org/drawingml/2006/main">
            <a:r>
              <a:t/>
            </a:r>
          </a:p>
          <a:p xmlns:a="http://schemas.openxmlformats.org/drawingml/2006/main">
            <a:r>
              <a:t>Transition: “이 결과를 위해 Subagent도 필요했을까?”</a:t>
            </a:r>
          </a:p>
          <a:p xmlns:a="http://schemas.openxmlformats.org/drawingml/2006/main">
            <a:r>
              <a:t/>
            </a:r>
          </a:p>
          <a:p xmlns:a="http://schemas.openxmlformats.org/drawingml/2006/main">
            <a:r>
              <a:t>Time Management: 5분을 metric 2.5분, test/CLI guards 1.5분, attribution limit 1분으로 나눈다.</a:t>
            </a:r>
          </a:p>
          <a:p xmlns:a="http://schemas.openxmlformats.org/drawingml/2006/main">
            <a:r>
              <a:t/>
            </a:r>
          </a:p>
          <a:p xmlns:a="http://schemas.openxmlformats.org/drawingml/2006/main">
            <a:r>
              <a:t>Fallback: LOCAL STATIC ARTIFACT — 발표 기본 경로는 `production/ACT_3.pptx`의 S45 또는 `production/preview/act3/S45.png`다.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이 작업에 Subagent가 필요했을까?</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이 작업에 Subagent가 필요했을까?</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현재 performance 작업은 하나의 Agent가 처리할 수 있었고 별도 Context의 병렬화 이득이 작아 Subagent를 정당화하지 않았다.</a:t>
            </a:r>
          </a:p>
          <a:p xmlns:a="http://schemas.openxmlformats.org/drawingml/2006/main">
            <a:r>
              <a:t/>
            </a:r>
          </a:p>
          <a:p xmlns:a="http://schemas.openxmlformats.org/drawingml/2006/main">
            <a:r>
              <a:t>Opening Question: “성능 작업을 여러 Agent로 나누는 게 이 사례에 도움이 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조사 → 변경 → 검증을 왼쪽부터 가리킨다. 뒤 단계가 앞 결과를 사용하는 현재 성능 Task의 의존 관계다.</a:t>
            </a:r>
          </a:p>
          <a:p xmlns:a="http://schemas.openxmlformats.org/drawingml/2006/main">
            <a:r>
              <a:t>2. (1:00–3:00 / Demo) 작업 독립성, 병렬 이득, 결과 통합 비용을 기준으로 이번 사례에서 Subagent 추가 근거가 부족했음을 설명한다.</a:t>
            </a:r>
          </a:p>
          <a:p xmlns:a="http://schemas.openxmlformats.org/drawingml/2006/main">
            <a:r>
              <a:t>3. (3:00–4:00 / Q&amp;A) 질문이 없으면 ‘어느 단계를 독립 실행할 수 있었나?’를 묻는다. 일반적 Subagent 불필요 주장으로 확장하지 않는다.</a:t>
            </a:r>
          </a:p>
          <a:p xmlns:a="http://schemas.openxmlformats.org/drawingml/2006/main">
            <a:r>
              <a:t/>
            </a:r>
          </a:p>
          <a:p xmlns:a="http://schemas.openxmlformats.org/drawingml/2006/main">
            <a:r>
              <a:t>Evidence / Source: DEC-0018, BEAT-023–025; STATE-04 / STATE-04-PERF의 project/task complexity review. OBSERVED_PRODUCT / TEACHING_MODEL.</a:t>
            </a:r>
          </a:p>
          <a:p xmlns:a="http://schemas.openxmlformats.org/drawingml/2006/main">
            <a:r>
              <a:t/>
            </a:r>
          </a:p>
          <a:p xmlns:a="http://schemas.openxmlformats.org/drawingml/2006/main">
            <a:r>
              <a:t>Claim Boundary: `NOT JUSTIFIED YET`는 현재 사례의 판단이다. Subagent 기능이 없거나 일반적으로 불필요하다는 뜻이 아니다.</a:t>
            </a:r>
          </a:p>
          <a:p xmlns:a="http://schemas.openxmlformats.org/drawingml/2006/main">
            <a:r>
              <a:t/>
            </a:r>
          </a:p>
          <a:p xmlns:a="http://schemas.openxmlformats.org/drawingml/2006/main">
            <a:r>
              <a:t>Beginner Explanation: Agent를 늘리기 전에 실제로 독립시킬 작업이 있는지 본다.</a:t>
            </a:r>
          </a:p>
          <a:p xmlns:a="http://schemas.openxmlformats.org/drawingml/2006/main">
            <a:r>
              <a:t/>
            </a:r>
          </a:p>
          <a:p xmlns:a="http://schemas.openxmlformats.org/drawingml/2006/main">
            <a:r>
              <a:t>Advanced Insight: 병렬화 이득, context separation, coordination 및 merge 비용을 함께 평가한다.</a:t>
            </a:r>
          </a:p>
          <a:p xmlns:a="http://schemas.openxmlformats.org/drawingml/2006/main">
            <a:r>
              <a:t/>
            </a:r>
          </a:p>
          <a:p xmlns:a="http://schemas.openxmlformats.org/drawingml/2006/main">
            <a:r>
              <a:t>C++ Vision Bridge: 다음 Slide의 가정적 C++ 예시에서만 연결한다.</a:t>
            </a:r>
          </a:p>
          <a:p xmlns:a="http://schemas.openxmlformats.org/drawingml/2006/main">
            <a:r>
              <a:t/>
            </a:r>
          </a:p>
          <a:p xmlns:a="http://schemas.openxmlformats.org/drawingml/2006/main">
            <a:r>
              <a:t>Demo Operation: 세 기준을 보여주는 정적 VISUAL Demo다. Product Subagent를 호출하지 않는다.</a:t>
            </a:r>
          </a:p>
          <a:p xmlns:a="http://schemas.openxmlformats.org/drawingml/2006/main">
            <a:r>
              <a:t/>
            </a:r>
          </a:p>
          <a:p xmlns:a="http://schemas.openxmlformats.org/drawingml/2006/main">
            <a:r>
              <a:t>Audience Interaction: 마지막 1분 질문을 받는다. 질문이 없으면 “무엇을 독립 실행할 수 있었나?”를 짧게 던지고 계속한다.</a:t>
            </a:r>
          </a:p>
          <a:p xmlns:a="http://schemas.openxmlformats.org/drawingml/2006/main">
            <a:r>
              <a:t/>
            </a:r>
          </a:p>
          <a:p xmlns:a="http://schemas.openxmlformats.org/drawingml/2006/main">
            <a:r>
              <a:t>Transition: “어떤 작업 구조라면 Subagent 검토가 타당해질까?”</a:t>
            </a:r>
          </a:p>
          <a:p xmlns:a="http://schemas.openxmlformats.org/drawingml/2006/main">
            <a:r>
              <a:t/>
            </a:r>
          </a:p>
          <a:p xmlns:a="http://schemas.openxmlformats.org/drawingml/2006/main">
            <a:r>
              <a:t>Time Management: 시각 검토 3분, Q&amp;A 1분을 보호한다.</a:t>
            </a:r>
          </a:p>
          <a:p xmlns:a="http://schemas.openxmlformats.org/drawingml/2006/main">
            <a:r>
              <a:t/>
            </a:r>
          </a:p>
          <a:p xmlns:a="http://schemas.openxmlformats.org/drawingml/2006/main">
            <a:r>
              <a:t>Fallback: LOCAL STATIC ARTIFACT — 발표 기본 경로는 `production/ACT_3.pptx`의 S46 또는 `production/preview/act3/S46.png`다.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Subagent를 고려할 조건</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Subagent를 고려할 조건</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독립된 조사와 Context, 병렬 가능성, 명확한 handoff가 있을 때 Subagent를 검토하고 조정 비용이 더 크면 보류한다.</a:t>
            </a:r>
          </a:p>
          <a:p xmlns:a="http://schemas.openxmlformats.org/drawingml/2006/main">
            <a:r>
              <a:t/>
            </a:r>
          </a:p>
          <a:p xmlns:a="http://schemas.openxmlformats.org/drawingml/2006/main">
            <a:r>
              <a:t>Opening Question: “어떤 일이 실제로 독립된 병렬 작업일까?”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실제 Demo가 아닌 조건부 C++ 조사 예시라고 먼저 밝힌다.</a:t>
            </a:r>
          </a:p>
          <a:p xmlns:a="http://schemas.openxmlformats.org/drawingml/2006/main">
            <a:r>
              <a:t>2. (1:00–3:00 / Demo) 성능 경로, 빌드 환경, 테스트 구조 조사가 서로 결과를 기다리지 않아도 된다는 가정을 비교한다. 세 화살표가 모이는 하단에서 결과 형식, 전달 지점, 합칠 책임을 시작 전에 정할 필요를 짚는다.</a:t>
            </a:r>
          </a:p>
          <a:p xmlns:a="http://schemas.openxmlformats.org/drawingml/2006/main">
            <a:r>
              <a:t>3. (3:00–4:00 / Q&amp;A) 질문이 없으면 ‘결과를 합칠 책임자는 누구인가?’를 묻는다. 작업과 Context가 강하게 연결되거나 조정 비용이 크면 보류한다고 닫는다.</a:t>
            </a:r>
          </a:p>
          <a:p xmlns:a="http://schemas.openxmlformats.org/drawingml/2006/main">
            <a:r>
              <a:t/>
            </a:r>
          </a:p>
          <a:p xmlns:a="http://schemas.openxmlformats.org/drawingml/2006/main">
            <a:r>
              <a:t>Evidence / Source: BEAT-023–025, DEC-0018. TEACHING_MODEL; hypothetical C++ case.</a:t>
            </a:r>
          </a:p>
          <a:p xmlns:a="http://schemas.openxmlformats.org/drawingml/2006/main">
            <a:r>
              <a:t/>
            </a:r>
          </a:p>
          <a:p xmlns:a="http://schemas.openxmlformats.org/drawingml/2006/main">
            <a:r>
              <a:t>Claim Boundary: 현재 Demo에서 관찰한 Subagent 결과가 아니다. 제품 동작·사용법은 설명하지 않는다.</a:t>
            </a:r>
          </a:p>
          <a:p xmlns:a="http://schemas.openxmlformats.org/drawingml/2006/main">
            <a:r>
              <a:t/>
            </a:r>
          </a:p>
          <a:p xmlns:a="http://schemas.openxmlformats.org/drawingml/2006/main">
            <a:r>
              <a:t>Beginner Explanation: 서로 영향을 덜 주는 일을 나눌 수 있을 때만 여러 Agent를 고려한다.</a:t>
            </a:r>
          </a:p>
          <a:p xmlns:a="http://schemas.openxmlformats.org/drawingml/2006/main">
            <a:r>
              <a:t/>
            </a:r>
          </a:p>
          <a:p xmlns:a="http://schemas.openxmlformats.org/drawingml/2006/main">
            <a:r>
              <a:t>Advanced Insight: Context 경계와 병렬 결과의 integration cost가 역할 분리의 이익보다 작아야 한다.</a:t>
            </a:r>
          </a:p>
          <a:p xmlns:a="http://schemas.openxmlformats.org/drawingml/2006/main">
            <a:r>
              <a:t/>
            </a:r>
          </a:p>
          <a:p xmlns:a="http://schemas.openxmlformats.org/drawingml/2006/main">
            <a:r>
              <a:t>C++ Vision Bridge: C++ Repository에서 성능, build toolchain, test 조사가 실제로 독립적일 수 있다는 가정 예만 든다.</a:t>
            </a:r>
          </a:p>
          <a:p xmlns:a="http://schemas.openxmlformats.org/drawingml/2006/main">
            <a:r>
              <a:t/>
            </a:r>
          </a:p>
          <a:p xmlns:a="http://schemas.openxmlformats.org/drawingml/2006/main">
            <a:r>
              <a:t>Demo Operation: Conceptual decision visual. Subagent 제품 실행이나 지원 여부를 보여주지 않는다.</a:t>
            </a:r>
          </a:p>
          <a:p xmlns:a="http://schemas.openxmlformats.org/drawingml/2006/main">
            <a:r>
              <a:t/>
            </a:r>
          </a:p>
          <a:p xmlns:a="http://schemas.openxmlformats.org/drawingml/2006/main">
            <a:r>
              <a:t>Audience Interaction: Q&amp;A 1분. 질문이 없으면 “결과를 합칠 책임자는 누구인가?”를 fallback 질문으로 사용한다.</a:t>
            </a:r>
          </a:p>
          <a:p xmlns:a="http://schemas.openxmlformats.org/drawingml/2006/main">
            <a:r>
              <a:t/>
            </a:r>
          </a:p>
          <a:p xmlns:a="http://schemas.openxmlformats.org/drawingml/2006/main">
            <a:r>
              <a:t>Transition: “반복 절차 말고, 다시 찾기 어려운 지식도 남길 필요가 있었을까?”</a:t>
            </a:r>
          </a:p>
          <a:p xmlns:a="http://schemas.openxmlformats.org/drawingml/2006/main">
            <a:r>
              <a:t/>
            </a:r>
          </a:p>
          <a:p xmlns:a="http://schemas.openxmlformats.org/drawingml/2006/main">
            <a:r>
              <a:t>Time Management: 세 조건, 보류 신호, 가정 예시를 각 한 번만 다룬다.</a:t>
            </a:r>
          </a:p>
          <a:p xmlns:a="http://schemas.openxmlformats.org/drawingml/2006/main">
            <a:r>
              <a:t/>
            </a:r>
          </a:p>
          <a:p xmlns:a="http://schemas.openxmlformats.org/drawingml/2006/main">
            <a:r>
              <a:t>Fallback: LOCAL STATIC ARTIFACT — 발표 기본 경로는 `production/ACT_3.pptx`의 S47 또는 `production/preview/act3/S47.png`다.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무엇이 다시 찾기 어려운 지식인가?</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무엇이 다시 찾기 어려운 지식인가?</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Demo의 계약·명령·구조·절차·Trial 기록은 각각 유지 중인 Source of Truth에 있었고, 별도 Memory 후보는 발견되지 않았다.</a:t>
            </a:r>
          </a:p>
          <a:p xmlns:a="http://schemas.openxmlformats.org/drawingml/2006/main">
            <a:r>
              <a:t/>
            </a:r>
          </a:p>
          <a:p xmlns:a="http://schemas.openxmlformats.org/drawingml/2006/main">
            <a:r>
              <a:t>Opening Question: “다음 작업에서 다시 발견하기 어려운 지식은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Demo) 네 행의 질문을 실제 유지 위치에 연결한다. crop 계약은 코드/계약 문서, 모듈 순서는 architecture, 조사 절차는 Skill, 측정 결과는 날짜 있는 Trial/Git 기록이다.</a:t>
            </a:r>
          </a:p>
          <a:p xmlns:a="http://schemas.openxmlformats.org/drawingml/2006/main">
            <a:r>
              <a:t>2. (2:00–3:00 / Case) 현재 Demo에서 별도 Memory로 남길 후보를 찾지 못한 제한된 감사 결과임을 밝힌다.</a:t>
            </a:r>
          </a:p>
          <a:p xmlns:a="http://schemas.openxmlformats.org/drawingml/2006/main">
            <a:r>
              <a:t>3. (3:00–4:00 / Case) 새 기록을 만들기 전에 기존 출처를 먼저 찾는다는 질문을 다음 판단 기준으로 연결한다.</a:t>
            </a:r>
          </a:p>
          <a:p xmlns:a="http://schemas.openxmlformats.org/drawingml/2006/main">
            <a:r>
              <a:t/>
            </a:r>
          </a:p>
          <a:p xmlns:a="http://schemas.openxmlformats.org/drawingml/2006/main">
            <a:r>
              <a:t>Evidence / Source: DEC-0018, DEMO-08 knowledge audit, BEAT-026–028. OBSERVED_PRODUCT / TEACHING_MODEL.</a:t>
            </a:r>
          </a:p>
          <a:p xmlns:a="http://schemas.openxmlformats.org/drawingml/2006/main">
            <a:r>
              <a:t/>
            </a:r>
          </a:p>
          <a:p xmlns:a="http://schemas.openxmlformats.org/drawingml/2006/main">
            <a:r>
              <a:t>Claim Boundary: 제품 Memory 기능의 존재, 범위, 성능에 관한 주장이 아니다. 현재 Demo에서 별도 보존 후보를 찾지 못했다는 범위다.</a:t>
            </a:r>
          </a:p>
          <a:p xmlns:a="http://schemas.openxmlformats.org/drawingml/2006/main">
            <a:r>
              <a:t/>
            </a:r>
          </a:p>
          <a:p xmlns:a="http://schemas.openxmlformats.org/drawingml/2006/main">
            <a:r>
              <a:t>Beginner Explanation: 새 기억을 만들기 전에 같은 사실이 이미 어디에 기록돼 있는지 찾는다.</a:t>
            </a:r>
          </a:p>
          <a:p xmlns:a="http://schemas.openxmlformats.org/drawingml/2006/main">
            <a:r>
              <a:t/>
            </a:r>
          </a:p>
          <a:p xmlns:a="http://schemas.openxmlformats.org/drawingml/2006/main">
            <a:r>
              <a:t>Advanced Insight: 출처, 적용 범위, 갱신 가능성과 기존 Source of Truth의 중복 여부를 검토한다.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네 지식 범주를 정적으로 연결하는 VISUAL Demo. Memory 기능을 실행하거나 흉내내지 않는다.</a:t>
            </a:r>
          </a:p>
          <a:p xmlns:a="http://schemas.openxmlformats.org/drawingml/2006/main">
            <a:r>
              <a:t/>
            </a:r>
          </a:p>
          <a:p xmlns:a="http://schemas.openxmlformats.org/drawingml/2006/main">
            <a:r>
              <a:t>Audience Interaction: Case 2분 동안 어떤 지식이 어디에 이미 있는지 생각하도록 한다. 공유나 기록은 요구하지 않는다.</a:t>
            </a:r>
          </a:p>
          <a:p xmlns:a="http://schemas.openxmlformats.org/drawingml/2006/main">
            <a:r>
              <a:t/>
            </a:r>
          </a:p>
          <a:p xmlns:a="http://schemas.openxmlformats.org/drawingml/2006/main">
            <a:r>
              <a:t>Transition: “그럼 어떤 지식에 Memory를 검토할 조건이 있을까?”</a:t>
            </a:r>
          </a:p>
          <a:p xmlns:a="http://schemas.openxmlformats.org/drawingml/2006/main">
            <a:r>
              <a:t/>
            </a:r>
          </a:p>
          <a:p xmlns:a="http://schemas.openxmlformats.org/drawingml/2006/main">
            <a:r>
              <a:t>Time Management: 네 행을 빠르게 연결한 뒤 계약과 측정 결과 두 범주의 출처 차이에 설명을 집중한다. 정적 Demo 2분, Case 2분을 유지한다.</a:t>
            </a:r>
          </a:p>
          <a:p xmlns:a="http://schemas.openxmlformats.org/drawingml/2006/main">
            <a:r>
              <a:t/>
            </a:r>
          </a:p>
          <a:p xmlns:a="http://schemas.openxmlformats.org/drawingml/2006/main">
            <a:r>
              <a:t>Fallback: LOCAL STATIC ARTIFACT — 발표 기본 경로는 `production/ACT_3.pptx`의 S48 또는 `production/preview/act3/S48.png`다.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Memory는 재발견 비용으로 판단</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Memory는 재발견 비용으로 판단</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비용이 크고 Project 간 재사용 가능하며 출처·범위·신선도를 관리할 수 있을 때 Memory를 검토한다.</a:t>
            </a:r>
          </a:p>
          <a:p xmlns:a="http://schemas.openxmlformats.org/drawingml/2006/main">
            <a:r>
              <a:t/>
            </a:r>
          </a:p>
          <a:p xmlns:a="http://schemas.openxmlformats.org/drawingml/2006/main">
            <a:r>
              <a:t>Opening Question: “무엇을 기억해 두어야 다음 작업의 비용이 실제로 줄어들까?”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재발견 비용과 재사용성을 첫 질문으로 둔다.</a:t>
            </a:r>
          </a:p>
          <a:p xmlns:a="http://schemas.openxmlformats.org/drawingml/2006/main">
            <a:r>
              <a:t>2. (1:00–3:00) 출처·적용 범위·신선도·무효화 기준을 점검한다.</a:t>
            </a:r>
          </a:p>
          <a:p xmlns:a="http://schemas.openxmlformats.org/drawingml/2006/main">
            <a:r>
              <a:t>3. (3:00–4:00) 현재 Demo에서는 해당 조건을 만족하는 항목을 찾지 못했다고 정리한다.</a:t>
            </a:r>
          </a:p>
          <a:p xmlns:a="http://schemas.openxmlformats.org/drawingml/2006/main">
            <a:r>
              <a:t/>
            </a:r>
          </a:p>
          <a:p xmlns:a="http://schemas.openxmlformats.org/drawingml/2006/main">
            <a:r>
              <a:t>Evidence / Source: DEC-0018, BEAT-026–028, INV-DEMO-003. TEACHING_MODEL.</a:t>
            </a:r>
          </a:p>
          <a:p xmlns:a="http://schemas.openxmlformats.org/drawingml/2006/main">
            <a:r>
              <a:t/>
            </a:r>
          </a:p>
          <a:p xmlns:a="http://schemas.openxmlformats.org/drawingml/2006/main">
            <a:r>
              <a:t>Claim Boundary: 조건은 교육용 판단 model이지 제품 Memory 기능의 효과나 범위에 관한 claim이 아니다. 현재 Demo의 결정으로 한정한다.</a:t>
            </a:r>
          </a:p>
          <a:p xmlns:a="http://schemas.openxmlformats.org/drawingml/2006/main">
            <a:r>
              <a:t/>
            </a:r>
          </a:p>
          <a:p xmlns:a="http://schemas.openxmlformats.org/drawingml/2006/main">
            <a:r>
              <a:t>Beginner Explanation: 나중에 다시 찾기 어렵고 실제로 반복해서 쓰는 지식인지 먼저 따져본다.</a:t>
            </a:r>
          </a:p>
          <a:p xmlns:a="http://schemas.openxmlformats.org/drawingml/2006/main">
            <a:r>
              <a:t/>
            </a:r>
          </a:p>
          <a:p xmlns:a="http://schemas.openxmlformats.org/drawingml/2006/main">
            <a:r>
              <a:t>Advanced Insight: Provenance, scope, freshness, invalidation이 없으면 유지되는 기억이 오래된 정보가 될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네 판단 질문을 하나씩 따라오게 한다. Memory를 만들라는 과제는 없다.</a:t>
            </a:r>
          </a:p>
          <a:p xmlns:a="http://schemas.openxmlformats.org/drawingml/2006/main">
            <a:r>
              <a:t/>
            </a:r>
          </a:p>
          <a:p xmlns:a="http://schemas.openxmlformats.org/drawingml/2006/main">
            <a:r>
              <a:t>Transition: “현재 문제를 해결하는 데 실제로 필요했던 구조는 무엇이었을까?”</a:t>
            </a:r>
          </a:p>
          <a:p xmlns:a="http://schemas.openxmlformats.org/drawingml/2006/main">
            <a:r>
              <a:t/>
            </a:r>
          </a:p>
          <a:p xmlns:a="http://schemas.openxmlformats.org/drawingml/2006/main">
            <a:r>
              <a:t>Time Management: 4분 동안 조건을 설명하고 기준을 feature checklist로 바꾸지 않는다.</a:t>
            </a:r>
          </a:p>
          <a:p xmlns:a="http://schemas.openxmlformats.org/drawingml/2006/main">
            <a:r>
              <a:t/>
            </a:r>
          </a:p>
          <a:p xmlns:a="http://schemas.openxmlformats.org/drawingml/2006/main">
            <a:r>
              <a:t>Fallback: LOCAL STATIC ARTIFACT — 발표 기본 경로는 `production/ACT_3.pptx`의 S49 또는 `production/preview/act3/S49.png`다.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Minimum Effective Harness</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Minimum Effective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STATE-04-PERF까지 이어진 현재 사례는 Prompt, Context와 Routing, reusable Skill, Benchmark, Tests, Tools/Environment를 사용했고 Subagent와 Memory를 추가하지 않았다.</a:t>
            </a:r>
          </a:p>
          <a:p xmlns:a="http://schemas.openxmlformats.org/drawingml/2006/main">
            <a:r>
              <a:t/>
            </a:r>
          </a:p>
          <a:p xmlns:a="http://schemas.openxmlformats.org/drawingml/2006/main">
            <a:r>
              <a:t>Opening Question: “이번 작업을 위해 실제로 무엇이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왼쪽의 이번 목표·반복 정보·반복 절차·확인 근거라는 문제를 순서대로 읽는다.</a:t>
            </a:r>
          </a:p>
          <a:p xmlns:a="http://schemas.openxmlformats.org/drawingml/2006/main">
            <a:r>
              <a:t>2. (1:00–2:00) 오른쪽의 Task Prompt, AGENTS.md/docs Routing, graypipe-performance Skill, Tests/Benchmark/Tools/Environment에 연결한다. 현재 사례의 구성을 정리한 표다.</a:t>
            </a:r>
          </a:p>
          <a:p xmlns:a="http://schemas.openxmlformats.org/drawingml/2006/main">
            <a:r>
              <a:t>3. (2:00–3:00) Subagent와 별도 Memory는 추가하지 않았으며 필요한 구성은 문제와 검증 조건에 따라 달라진다고 말한다.</a:t>
            </a:r>
          </a:p>
          <a:p xmlns:a="http://schemas.openxmlformats.org/drawingml/2006/main">
            <a:r>
              <a:t/>
            </a:r>
          </a:p>
          <a:p xmlns:a="http://schemas.openxmlformats.org/drawingml/2006/main">
            <a:r>
              <a:t>Evidence / Source: STATE-00 → STATE-04-PERF, DEC-0018, INV-VERIFY-001, DEMO-09. OBSERVED_PRODUCT / TEACHING_MODEL.</a:t>
            </a:r>
          </a:p>
          <a:p xmlns:a="http://schemas.openxmlformats.org/drawingml/2006/main">
            <a:r>
              <a:t/>
            </a:r>
          </a:p>
          <a:p xmlns:a="http://schemas.openxmlformats.org/drawingml/2006/main">
            <a:r>
              <a:t>Claim Boundary: 현재 프로젝트의 구성 감사다. 일반적인 최적 기능 수나 Harness가 성능을 개선한 인과 claim이 아니다.</a:t>
            </a:r>
          </a:p>
          <a:p xmlns:a="http://schemas.openxmlformats.org/drawingml/2006/main">
            <a:r>
              <a:t/>
            </a:r>
          </a:p>
          <a:p xmlns:a="http://schemas.openxmlformats.org/drawingml/2006/main">
            <a:r>
              <a:t>Beginner Explanation: Harness는 기능을 많이 모으는 일이 아니라 현재 문제에 필요한 작업 환경을 마련하는 일이다.</a:t>
            </a:r>
          </a:p>
          <a:p xmlns:a="http://schemas.openxmlformats.org/drawingml/2006/main">
            <a:r>
              <a:t/>
            </a:r>
          </a:p>
          <a:p xmlns:a="http://schemas.openxmlformats.org/drawingml/2006/main">
            <a:r>
              <a:t>Advanced Insight: “Minimum Effective”는 신뢰성 있게 해결할 조건을 충족하는 문제별 heuristic이며 숫자 기준이 없다.</a:t>
            </a:r>
          </a:p>
          <a:p xmlns:a="http://schemas.openxmlformats.org/drawingml/2006/main">
            <a:r>
              <a:t/>
            </a:r>
          </a:p>
          <a:p xmlns:a="http://schemas.openxmlformats.org/drawingml/2006/main">
            <a:r>
              <a:t>C++ Vision Bridge: Slide 51–53에서 Project별 build, test, benchmark 절차로 연결한다. Python Skill을 C++로 복사하지 않는다.</a:t>
            </a:r>
          </a:p>
          <a:p xmlns:a="http://schemas.openxmlformats.org/drawingml/2006/main">
            <a:r>
              <a:t/>
            </a:r>
          </a:p>
          <a:p xmlns:a="http://schemas.openxmlformats.org/drawingml/2006/main">
            <a:r>
              <a:t>Demo Operation: 기록된 State의 구성을 표로 재구성한 CAPTURED 범위 요약이다. 실제 실행 캡처가 아니며 Demo Repository나 현재 제품을 실행하지 않는다.</a:t>
            </a:r>
          </a:p>
          <a:p xmlns:a="http://schemas.openxmlformats.org/drawingml/2006/main">
            <a:r>
              <a:t/>
            </a:r>
          </a:p>
          <a:p xmlns:a="http://schemas.openxmlformats.org/drawingml/2006/main">
            <a:r>
              <a:t>Audience Interaction: 구성요소보다 문제와 evidence가 연결되는 흐름을 보게 한다.</a:t>
            </a:r>
          </a:p>
          <a:p xmlns:a="http://schemas.openxmlformats.org/drawingml/2006/main">
            <a:r>
              <a:t/>
            </a:r>
          </a:p>
          <a:p xmlns:a="http://schemas.openxmlformats.org/drawingml/2006/main">
            <a:r>
              <a:t>Transition: 다음 Slide에서 Tools, Environment, Verification을 포함한 Harness 운영 정의를 묶는다.</a:t>
            </a:r>
          </a:p>
          <a:p xmlns:a="http://schemas.openxmlformats.org/drawingml/2006/main">
            <a:r>
              <a:t/>
            </a:r>
          </a:p>
          <a:p xmlns:a="http://schemas.openxmlformats.org/drawingml/2006/main">
            <a:r>
              <a:t>Time Management: 3분 동안 실제 구성과 빠진 두 요소를 확인한다. 일반론으로 확장하지 않는다.</a:t>
            </a:r>
          </a:p>
          <a:p xmlns:a="http://schemas.openxmlformats.org/drawingml/2006/main">
            <a:r>
              <a:t/>
            </a:r>
          </a:p>
          <a:p xmlns:a="http://schemas.openxmlformats.org/drawingml/2006/main">
            <a:r>
              <a:t>Fallback: LOCAL STATIC ARTIFACT — 발표 기본 경로는 `production/ACT_3.pptx`의 S50 또는 `production/preview/act3/S50.png`다.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Harness는 작업 환경 설계다</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Harness는 작업 환경 설계다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교육에서 Harness는 Agent가 Project에서 안정적으로 일하도록 설계한 작업 환경과 절차를 뜻하는 운영 model이다.</a:t>
            </a:r>
          </a:p>
          <a:p xmlns:a="http://schemas.openxmlformats.org/drawingml/2006/main">
            <a:r>
              <a:t/>
            </a:r>
          </a:p>
          <a:p xmlns:a="http://schemas.openxmlformats.org/drawingml/2006/main">
            <a:r>
              <a:t>Opening Question: “Harness는 결국 무엇을 의미하는가?”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큰 프레임은 Project 작업 환경을 뜻하는 교육용 모델이라고 밝힌다. 현재 목표 → 개발자와 Agent → 확인할 결과를 가리킨다.</a:t>
            </a:r>
          </a:p>
          <a:p xmlns:a="http://schemas.openxmlformats.org/drawingml/2006/main">
            <a:r>
              <a:t>2. (2:00–4:00 / Lecture) 그 안의 Context/Routing, Workflow, Verification/Tools가 서로 다른 책임으로 연결됨을 설명한다.</a:t>
            </a:r>
          </a:p>
          <a:p xmlns:a="http://schemas.openxmlformats.org/drawingml/2006/main">
            <a:r>
              <a:t>3. (4:00–6:00 / Demo) 프레임 바깥 아래의 ‘관찰한 구성’ 줄에서 STATE-04-PERF의 실제 요소를 확인한다. 전체 환경 모델과 제한된 구성 관찰을 같은 증거로 취급하지 않는다.</a:t>
            </a:r>
          </a:p>
          <a:p xmlns:a="http://schemas.openxmlformats.org/drawingml/2006/main">
            <a:r>
              <a:t/>
            </a:r>
          </a:p>
          <a:p xmlns:a="http://schemas.openxmlformats.org/drawingml/2006/main">
            <a:r>
              <a:t>Evidence / Source: DEC-0023, BEAT-035/036, STATE-04-PERF. OBSERVED_PRODUCT / TEACHING_MODEL.</a:t>
            </a:r>
          </a:p>
          <a:p xmlns:a="http://schemas.openxmlformats.org/drawingml/2006/main">
            <a:r>
              <a:t/>
            </a:r>
          </a:p>
          <a:p xmlns:a="http://schemas.openxmlformats.org/drawingml/2006/main">
            <a:r>
              <a:t>Claim Boundary: 과정의 operational definition이다. 공식 OpenAI 정의나 보편적 industry standard로 제시하지 않는다.</a:t>
            </a:r>
          </a:p>
          <a:p xmlns:a="http://schemas.openxmlformats.org/drawingml/2006/main">
            <a:r>
              <a:t/>
            </a:r>
          </a:p>
          <a:p xmlns:a="http://schemas.openxmlformats.org/drawingml/2006/main">
            <a:r>
              <a:t>Beginner Explanation: Agent가 알 정보뿐 아니라 일하는 절차와 결과를 확인하는 환경도 함께 설계한다.</a:t>
            </a:r>
          </a:p>
          <a:p xmlns:a="http://schemas.openxmlformats.org/drawingml/2006/main">
            <a:r>
              <a:t/>
            </a:r>
          </a:p>
          <a:p xmlns:a="http://schemas.openxmlformats.org/drawingml/2006/main">
            <a:r>
              <a:t>Advanced Insight: Harness는 특정 파일이나 기능 목록이 아니라 Project별 신뢰성 문제를 해결하는 system model이다.</a:t>
            </a:r>
          </a:p>
          <a:p xmlns:a="http://schemas.openxmlformats.org/drawingml/2006/main">
            <a:r>
              <a:t/>
            </a:r>
          </a:p>
          <a:p xmlns:a="http://schemas.openxmlformats.org/drawingml/2006/main">
            <a:r>
              <a:t>C++ Vision Bridge: Slide 53에서 C++ Project 환경에 같은 Engineering Pattern을 연결한다.</a:t>
            </a:r>
          </a:p>
          <a:p xmlns:a="http://schemas.openxmlformats.org/drawingml/2006/main">
            <a:r>
              <a:t/>
            </a:r>
          </a:p>
          <a:p xmlns:a="http://schemas.openxmlformats.org/drawingml/2006/main">
            <a:r>
              <a:t>Demo Operation: 큰 프레임의 교육용 전체 모델과 아래 STATE-04-PERF 관찰 구성 줄을 분리해 보인다. 관찰 구성의 CAPTURED 요약도 기록 기반 재구성이며 실제 UI 캡처가 아니다.</a:t>
            </a:r>
          </a:p>
          <a:p xmlns:a="http://schemas.openxmlformats.org/drawingml/2006/main">
            <a:r>
              <a:t/>
            </a:r>
          </a:p>
          <a:p xmlns:a="http://schemas.openxmlformats.org/drawingml/2006/main">
            <a:r>
              <a:t>Audience Interaction: Evidence inset과 교육용 전체 model의 시각적 경계를 짚는다.</a:t>
            </a:r>
          </a:p>
          <a:p xmlns:a="http://schemas.openxmlformats.org/drawingml/2006/main">
            <a:r>
              <a:t/>
            </a:r>
          </a:p>
          <a:p xmlns:a="http://schemas.openxmlformats.org/drawingml/2006/main">
            <a:r>
              <a:t>Transition: “그 작업 환경은 Repository 파일만으로 결정될까?”</a:t>
            </a:r>
          </a:p>
          <a:p xmlns:a="http://schemas.openxmlformats.org/drawingml/2006/main">
            <a:r>
              <a:t/>
            </a:r>
          </a:p>
          <a:p xmlns:a="http://schemas.openxmlformats.org/drawingml/2006/main">
            <a:r>
              <a:t>Time Management: 개념 설명 4분, 관찰된 구성 2분. 기능 이름 열거에 시간을 쓰지 않는다.</a:t>
            </a:r>
          </a:p>
          <a:p xmlns:a="http://schemas.openxmlformats.org/drawingml/2006/main">
            <a:r>
              <a:t/>
            </a:r>
          </a:p>
          <a:p xmlns:a="http://schemas.openxmlformats.org/drawingml/2006/main">
            <a:r>
              <a:t>Fallback: LOCAL STATIC ARTIFACT — 발표 기본 경로는 `production/ACT_3.pptx`의 S51 또는 `production/preview/act3/S51.png`다.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Repository 밖의 환경도 결과에 영향을 준다</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Repository 밖의 환경도 결과에 영향을 준다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Trial 결과를 해석할 때 Project repository 바깥의 Global instructions, Skills, Hooks, MCP, Permissions, Model/configuration, OS/runtime도 가능한 환경 층이다.</a:t>
            </a:r>
          </a:p>
          <a:p xmlns:a="http://schemas.openxmlformats.org/drawingml/2006/main">
            <a:r>
              <a:t/>
            </a:r>
          </a:p>
          <a:p xmlns:a="http://schemas.openxmlformats.org/drawingml/2006/main">
            <a:r>
              <a:t>Opening Question: “Repository가 같으면 Agent 실행 환경도 같은가?”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Repository와 오른쪽 가능한 외부 조건을 나눠 가리킨다.</a:t>
            </a:r>
          </a:p>
          <a:p xmlns:a="http://schemas.openxmlformats.org/drawingml/2006/main">
            <a:r>
              <a:t>2. (1:00–2:00) 지침, 실행, 도구와 권한이라는 세 묶음 중 기록에서 확인된 것은 global Skills와 hook/MCP 시작 흔적 일부라고 말한다.</a:t>
            </a:r>
          </a:p>
          <a:p xmlns:a="http://schemas.openxmlformats.org/drawingml/2006/main">
            <a:r>
              <a:t>3. (2:00–3:00) 모든 요소의 작동·효과를 관찰한 목록이 아님을 한정한다. 자세한 제작 이력 근거는 ACT 4에 남긴다.</a:t>
            </a:r>
          </a:p>
          <a:p xmlns:a="http://schemas.openxmlformats.org/drawingml/2006/main">
            <a:r>
              <a:t/>
            </a:r>
          </a:p>
          <a:p xmlns:a="http://schemas.openxmlformats.org/drawingml/2006/main">
            <a:r>
              <a:t>Evidence / Source: TRIAL-006/007/008, DEC-0016/0021, BEAT-033/036. OBSERVED_META / TEACHING_MODEL.</a:t>
            </a:r>
          </a:p>
          <a:p xmlns:a="http://schemas.openxmlformats.org/drawingml/2006/main">
            <a:r>
              <a:t/>
            </a:r>
          </a:p>
          <a:p xmlns:a="http://schemas.openxmlformats.org/drawingml/2006/main">
            <a:r>
              <a:t>Claim Boundary: 전체 영향의 완전한 inventory가 아니다. Hook 실행이나 MCP task result가 관찰됐다고 말하지 않는다. TRIAL-007의 보고와 stderr 차이를 이 장에서 재해석하지 않는다.</a:t>
            </a:r>
          </a:p>
          <a:p xmlns:a="http://schemas.openxmlformats.org/drawingml/2006/main">
            <a:r>
              <a:t/>
            </a:r>
          </a:p>
          <a:p xmlns:a="http://schemas.openxmlformats.org/drawingml/2006/main">
            <a:r>
              <a:t>Beginner Explanation: 같은 repository여도 실행 설정이나 주변 지침은 다를 수 있다.</a:t>
            </a:r>
          </a:p>
          <a:p xmlns:a="http://schemas.openxmlformats.org/drawingml/2006/main">
            <a:r>
              <a:t/>
            </a:r>
          </a:p>
          <a:p xmlns:a="http://schemas.openxmlformats.org/drawingml/2006/main">
            <a:r>
              <a:t>Advanced Insight: Ambient Harness 요인을 기록하고 Trial의 attribution 범위를 제한하되 미확인 인과를 만들지 않는다.</a:t>
            </a:r>
          </a:p>
          <a:p xmlns:a="http://schemas.openxmlformats.org/drawingml/2006/main">
            <a:r>
              <a:t/>
            </a:r>
          </a:p>
          <a:p xmlns:a="http://schemas.openxmlformats.org/drawingml/2006/main">
            <a:r>
              <a:t>C++ Vision Bridge: 같은 C++ repository도 Toolchain, 권한, runtime 조건이 다를 수 있다는 정도로만 잇는다.</a:t>
            </a:r>
          </a:p>
          <a:p xmlns:a="http://schemas.openxmlformats.org/drawingml/2006/main">
            <a:r>
              <a:t/>
            </a:r>
          </a:p>
          <a:p xmlns:a="http://schemas.openxmlformats.org/drawingml/2006/main">
            <a:r>
              <a:t>Demo Operation: ACT 4에서 다룰 Meta 근거는 상세히 재생하지 않는다. 정적 preview visual로만 다룬다.</a:t>
            </a:r>
          </a:p>
          <a:p xmlns:a="http://schemas.openxmlformats.org/drawingml/2006/main">
            <a:r>
              <a:t/>
            </a:r>
          </a:p>
          <a:p xmlns:a="http://schemas.openxmlformats.org/drawingml/2006/main">
            <a:r>
              <a:t>Audience Interaction: 가능한 환경 층과 실제 확인된 흔적을 구분해 보도록 안내한다.</a:t>
            </a:r>
          </a:p>
          <a:p xmlns:a="http://schemas.openxmlformats.org/drawingml/2006/main">
            <a:r>
              <a:t/>
            </a:r>
          </a:p>
          <a:p xmlns:a="http://schemas.openxmlformats.org/drawingml/2006/main">
            <a:r>
              <a:t>Transition: “이 환경 설계 원칙은 C++ Vision Project에 어떻게 옮겨갈까?”</a:t>
            </a:r>
          </a:p>
          <a:p xmlns:a="http://schemas.openxmlformats.org/drawingml/2006/main">
            <a:r>
              <a:t/>
            </a:r>
          </a:p>
          <a:p xmlns:a="http://schemas.openxmlformats.org/drawingml/2006/main">
            <a:r>
              <a:t>Time Management: 3분 동안 환경 경계와 evidence 한계를 설명한다. 요소별 제품 기능 강의는 하지 않는다.</a:t>
            </a:r>
          </a:p>
          <a:p xmlns:a="http://schemas.openxmlformats.org/drawingml/2006/main">
            <a:r>
              <a:t/>
            </a:r>
          </a:p>
          <a:p xmlns:a="http://schemas.openxmlformats.org/drawingml/2006/main">
            <a:r>
              <a:t>Fallback: LOCAL STATIC ARTIFACT — `production/ACT_3.pptx`의 S52 또는 `production/preview/act3/S52.png`의 Repository/외부 환경 경계 비교를 사용한다. 새 화면과 경로의 최종 release 일치는 통합 검토에서 확인한다.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Engineering Pattern은 C++에도 전이된다</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Engineering Pattern은 C++에도 전이된다</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Demo의 코드나 도구를 복사하는 대신 Context, Verification, Benchmark, Reusable Workflow의 Engineering Pattern을 C++ Vision 업무에 대응시킨다.</a:t>
            </a:r>
          </a:p>
          <a:p xmlns:a="http://schemas.openxmlformats.org/drawingml/2006/main">
            <a:r>
              <a:t/>
            </a:r>
          </a:p>
          <a:p xmlns:a="http://schemas.openxmlformats.org/drawingml/2006/main">
            <a:r>
              <a:t>Opening Question: “우리 Repository에서는 무엇이 Project Context이고 무엇이 Workflow인가?”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Python Demo와 C++ Vision의 공통 질문이 표의 중심임을 안내한다.</a:t>
            </a:r>
          </a:p>
          <a:p xmlns:a="http://schemas.openxmlformats.org/drawingml/2006/main">
            <a:r>
              <a:t>2. (1:00–3:30) 기준 조건, 조사 경로, 확인 방법의 세 행을 따라 입력/계약에서 빌드·알고리즘·하드웨어 조건으로, Python 경로에서 해당 모듈 측정으로, 동작 계약/테스트에서 회귀·통합 검증으로 연결한다.</a:t>
            </a:r>
          </a:p>
          <a:p xmlns:a="http://schemas.openxmlformats.org/drawingml/2006/main">
            <a:r>
              <a:t>3. (3:30–5:00) baseline → profile → change → regression check를 공통 패턴으로 회수한다. 구체 도구는 팀 표준 확인 후 선택하며 화면을 도구 목록 강의로 확장하지 않는다.</a:t>
            </a:r>
          </a:p>
          <a:p xmlns:a="http://schemas.openxmlformats.org/drawingml/2006/main">
            <a:r>
              <a:t/>
            </a:r>
          </a:p>
          <a:p xmlns:a="http://schemas.openxmlformats.org/drawingml/2006/main">
            <a:r>
              <a:t>Evidence / Source: BEAT-036, CLM-0016/0017/0030, OQ-011. TEACHING_MODEL.</a:t>
            </a:r>
          </a:p>
          <a:p xmlns:a="http://schemas.openxmlformats.org/drawingml/2006/main">
            <a:r>
              <a:t/>
            </a:r>
          </a:p>
          <a:p xmlns:a="http://schemas.openxmlformats.org/drawingml/2006/main">
            <a:r>
              <a:t>Claim Boundary: 교육용 전이 예다. C++ Demo를 구현하거나 팀별 실제 도구 규칙을 검증한 것이 아니다.</a:t>
            </a:r>
          </a:p>
          <a:p xmlns:a="http://schemas.openxmlformats.org/drawingml/2006/main">
            <a:r>
              <a:t/>
            </a:r>
          </a:p>
          <a:p xmlns:a="http://schemas.openxmlformats.org/drawingml/2006/main">
            <a:r>
              <a:t>Beginner Explanation: 언어가 달라도 먼저 프로젝트 규칙과 확인 방법을 찾는다.</a:t>
            </a:r>
          </a:p>
          <a:p xmlns:a="http://schemas.openxmlformats.org/drawingml/2006/main">
            <a:r>
              <a:t/>
            </a:r>
          </a:p>
          <a:p xmlns:a="http://schemas.openxmlformats.org/drawingml/2006/main">
            <a:r>
              <a:t>Advanced Insight: Build mode, hardware assumptions, module contracts, and regression criteria belong to the actual project.</a:t>
            </a:r>
          </a:p>
          <a:p xmlns:a="http://schemas.openxmlformats.org/drawingml/2006/main">
            <a:r>
              <a:t/>
            </a:r>
          </a:p>
          <a:p xmlns:a="http://schemas.openxmlformats.org/drawingml/2006/main">
            <a:r>
              <a:t>C++ Vision Bridge: PRIMARY — Python `unittest` → GoogleTest/CTest or integration checks; benchmark script → benchmark/profiler; Project Context → build, algorithm, hardware constraints. Team standards must be checked before choosing tools.</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청중이 자사 Project의 Context와 Workflow를 구분할 질문을 제시한다. 답변을 요구하지 않는다.</a:t>
            </a:r>
          </a:p>
          <a:p xmlns:a="http://schemas.openxmlformats.org/drawingml/2006/main">
            <a:r>
              <a:t/>
            </a:r>
          </a:p>
          <a:p xmlns:a="http://schemas.openxmlformats.org/drawingml/2006/main">
            <a:r>
              <a:t>Transition: “현재 업무에서 어떤 구조가 실제로 필요한지 되돌아보자.”</a:t>
            </a:r>
          </a:p>
          <a:p xmlns:a="http://schemas.openxmlformats.org/drawingml/2006/main">
            <a:r>
              <a:t/>
            </a:r>
          </a:p>
          <a:p xmlns:a="http://schemas.openxmlformats.org/drawingml/2006/main">
            <a:r>
              <a:t>Time Management: 5분 동안 도구 이름보다 패턴 대응을 중심으로 설명한다.</a:t>
            </a:r>
          </a:p>
          <a:p xmlns:a="http://schemas.openxmlformats.org/drawingml/2006/main">
            <a:r>
              <a:t/>
            </a:r>
          </a:p>
          <a:p xmlns:a="http://schemas.openxmlformats.org/drawingml/2006/main">
            <a:r>
              <a:t>Fallback: LOCAL STATIC ARTIFACT — 발표 기본 경로는 `production/ACT_3.pptx`의 S53 또는 `production/preview/act3/S53.png`다.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필요한 구조부터 질문하기</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필요한 구조부터 질문하기</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기능을 더하기 전에 반복되는 마찰을 찾고 원인과 검증 요구에 맞는 최소 구조를 판단한다.</a:t>
            </a:r>
          </a:p>
          <a:p xmlns:a="http://schemas.openxmlformats.org/drawingml/2006/main">
            <a:r>
              <a:t/>
            </a:r>
          </a:p>
          <a:p xmlns:a="http://schemas.openxmlformats.org/drawingml/2006/main">
            <a:r>
              <a:t>Opening Question: “내 업무에서 지금 가장 반복되는 마찰은 무엇인가?”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(0:00–3:00 / Reflection) 화면의 ‘우리 프로젝트의 제약은…’과 ‘먼저 측정하고, 끝나면 확인해…’를 가리킨다. 청중 업무의 반복이 사실인지 절차인지 조용히 생각하게 한다. 독립 조사, 재발견 비용, 검증 필요도 개인 점검 후보다.</a:t>
            </a:r>
          </a:p>
          <a:p xmlns:a="http://schemas.openxmlformats.org/drawingml/2006/main">
            <a:r>
              <a:t>2. (3:00–8:00 / Q&amp;A) 원할 때만 마찰과 근거를 공유하게 한다. 질문이 없으면 ‘이 반복은 Context, Workflow, Coordination, 기억 중 무엇에 가까운가?’를 사용한다.</a:t>
            </a:r>
          </a:p>
          <a:p xmlns:a="http://schemas.openxmlformats.org/drawingml/2006/main">
            <a:r>
              <a:t>3. (8:00–10:00 / Transition) STATE-04-PERF의 제한된 성공을 유지하면서 화면 아래 ‘Project가 바뀐 뒤에도 계속 맞을까?’를 가리킨다. 다음 ACT의 가상 사례를 실제 제품 실패로 앞당기지 않는다.</a:t>
            </a:r>
          </a:p>
          <a:p xmlns:a="http://schemas.openxmlformats.org/drawingml/2006/main">
            <a:r>
              <a:t/>
            </a:r>
          </a:p>
          <a:p xmlns:a="http://schemas.openxmlformats.org/drawingml/2006/main">
            <a:r>
              <a:t>Evidence / Source: STATE-04-PERF, DEC-0018/0021, BEAT-035–038, INV-VERIFY-001. TEACHING_MODEL; bounded observed product success.</a:t>
            </a:r>
          </a:p>
          <a:p xmlns:a="http://schemas.openxmlformats.org/drawingml/2006/main">
            <a:r>
              <a:t/>
            </a:r>
          </a:p>
          <a:p xmlns:a="http://schemas.openxmlformats.org/drawingml/2006/main">
            <a:r>
              <a:t>Claim Boundary: 이 작업을 실패한 Harness로 재해석하지 않는다. Subagent와 Memory는 조건부 선택이다. 다음 ACT의 개념 사례를 실제 Demo Product failure로 미리 말하지 않는다.</a:t>
            </a:r>
          </a:p>
          <a:p xmlns:a="http://schemas.openxmlformats.org/drawingml/2006/main">
            <a:r>
              <a:t/>
            </a:r>
          </a:p>
          <a:p xmlns:a="http://schemas.openxmlformats.org/drawingml/2006/main">
            <a:r>
              <a:t>Beginner Explanation: 먼저 반복되는 문제를 찾고, 필요한 구조만 고른다.</a:t>
            </a:r>
          </a:p>
          <a:p xmlns:a="http://schemas.openxmlformats.org/drawingml/2006/main">
            <a:r>
              <a:t/>
            </a:r>
          </a:p>
          <a:p xmlns:a="http://schemas.openxmlformats.org/drawingml/2006/main">
            <a:r>
              <a:t>Advanced Insight: Project 변화가 가정을 무효화할 수 있는지 생각하되, 다음 ACT의 사례 결과를 먼저 공개하지 않는다.</a:t>
            </a:r>
          </a:p>
          <a:p xmlns:a="http://schemas.openxmlformats.org/drawingml/2006/main">
            <a:r>
              <a:t/>
            </a:r>
          </a:p>
          <a:p xmlns:a="http://schemas.openxmlformats.org/drawingml/2006/main">
            <a:r>
              <a:t>C++ Vision Bridge: 앞 Slide의 Project별 C++ 적용 질문을 청중 업무로 가져온다.</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개인 reflection은 선택적이며 노트북·실습·필수 공개 응답은 없다. 질문은 5분만 사용한다.</a:t>
            </a:r>
          </a:p>
          <a:p xmlns:a="http://schemas.openxmlformats.org/drawingml/2006/main">
            <a:r>
              <a:t/>
            </a:r>
          </a:p>
          <a:p xmlns:a="http://schemas.openxmlformats.org/drawingml/2006/main">
            <a:r>
              <a:t>Transition: “지금은 잘 동작하는 Harness도 Project가 바뀐 뒤 계속 맞을까?”</a:t>
            </a:r>
          </a:p>
          <a:p xmlns:a="http://schemas.openxmlformats.org/drawingml/2006/main">
            <a:r>
              <a:t/>
            </a:r>
          </a:p>
          <a:p xmlns:a="http://schemas.openxmlformats.org/drawingml/2006/main">
            <a:r>
              <a:t>Time Management: Reflection 3분, Q&amp;A 5분, Transition 2분. Q&amp;A가 비어도 마지막 질문을 지키고, 초과 응답은 별도 질의로 안내한다.</a:t>
            </a:r>
          </a:p>
          <a:p xmlns:a="http://schemas.openxmlformats.org/drawingml/2006/main">
            <a:r>
              <a:t/>
            </a:r>
          </a:p>
          <a:p xmlns:a="http://schemas.openxmlformats.org/drawingml/2006/main">
            <a:r>
              <a:t>Fallback: LOCAL STATIC ARTIFACT — 발표 기본 경로는 `production/ACT_3.pptx`의 S54 또는 `production/preview/act3/S54.png`다.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여기까지는 잘 동작했다</a:t>
            </a:r>
          </a:p>
          <a:p xmlns:a="http://schemas.openxmlformats.org/drawingml/2006/main">
            <a:r>
              <a:t/>
            </a:r>
          </a:p>
          <a:p xmlns:a="http://schemas.openxmlformats.org/drawingml/2006/main">
            <a:r>
              <a:t>**Slide ID:**</a:t>
            </a:r>
          </a:p>
          <a:p xmlns:a="http://schemas.openxmlformats.org/drawingml/2006/main">
            <a:r>
              <a:t>S55</a:t>
            </a:r>
          </a:p>
          <a:p xmlns:a="http://schemas.openxmlformats.org/drawingml/2006/main">
            <a:r>
              <a:t/>
            </a:r>
          </a:p>
          <a:p xmlns:a="http://schemas.openxmlformats.org/drawingml/2006/main">
            <a:r>
              <a:t>**Working Title:**</a:t>
            </a:r>
          </a:p>
          <a:p xmlns:a="http://schemas.openxmlformats.org/drawingml/2006/main">
            <a:r>
              <a:t>여기까지는 잘 동작했다</a:t>
            </a:r>
          </a:p>
          <a:p xmlns:a="http://schemas.openxmlformats.org/drawingml/2006/main">
            <a:r>
              <a:t/>
            </a:r>
          </a:p>
          <a:p xmlns:a="http://schemas.openxmlformats.org/drawingml/2006/main">
            <a:r>
              <a:t>**ACT / Section:**</a:t>
            </a:r>
          </a:p>
          <a:p xmlns:a="http://schemas.openxmlformats.org/drawingml/2006/main">
            <a:r>
              <a:t>ACT 4 / 4A  WORKING HARNESS CALLBACK</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3분 + Reflection 1분</a:t>
            </a:r>
          </a:p>
          <a:p xmlns:a="http://schemas.openxmlformats.org/drawingml/2006/main">
            <a:r>
              <a:t/>
            </a:r>
          </a:p>
          <a:p xmlns:a="http://schemas.openxmlformats.org/drawingml/2006/main">
            <a:r>
              <a:t>**Primary Message:**</a:t>
            </a:r>
          </a:p>
          <a:p xmlns:a="http://schemas.openxmlformats.org/drawingml/2006/main">
            <a:r>
              <a:t>STATE-04-PERF는 bounded task에서 검증된 성공이다. 뒤에 나올 stale 사례는 별도의 개념 사례다.</a:t>
            </a:r>
          </a:p>
          <a:p xmlns:a="http://schemas.openxmlformats.org/drawingml/2006/main">
            <a:r>
              <a:t/>
            </a:r>
          </a:p>
          <a:p xmlns:a="http://schemas.openxmlformats.org/drawingml/2006/main">
            <a:r>
              <a:t>**Opening Question:**</a:t>
            </a:r>
          </a:p>
          <a:p xmlns:a="http://schemas.openxmlformats.org/drawingml/2006/main">
            <a:r>
              <a:t>“잘 동작하는 System도 계속 맞는 상태로 남아 있을까?”</a:t>
            </a:r>
          </a:p>
          <a:p xmlns:a="http://schemas.openxmlformats.org/drawingml/2006/main">
            <a:r>
              <a:t/>
            </a:r>
          </a:p>
          <a:p xmlns:a="http://schemas.openxmlformats.org/drawingml/2006/main">
            <a:r>
              <a:t>**Speaker Flow:**</a:t>
            </a:r>
          </a:p>
          <a:p xmlns:a="http://schemas.openxmlformats.org/drawingml/2006/main">
            <a:r>
              <a:t>1. (0:00–1:30 / Lecture) ACT 3의 STATE-04-PERF가 기록된 범위에서 성공한 endpoint임을 회수한다.</a:t>
            </a:r>
          </a:p>
          <a:p xmlns:a="http://schemas.openxmlformats.org/drawingml/2006/main">
            <a:r>
              <a:t>2. (1:30–3:00 / Lecture) 화면의 동작 계약, 전체 테스트 11/11, Benchmark guard 세 근거를 차례로 가리킨다. 새 실행이나 인과 비교는 하지 않는다.</a:t>
            </a:r>
          </a:p>
          <a:p xmlns:a="http://schemas.openxmlformats.org/drawingml/2006/main">
            <a:r>
              <a:t>3. (3:00–4:00 / Reflection) “프로젝트가 바뀐 뒤에도 맞을까?”를 개인적으로 생각하게 하고 다음 가상 사례로 넘어간다.</a:t>
            </a:r>
          </a:p>
          <a:p xmlns:a="http://schemas.openxmlformats.org/drawingml/2006/main">
            <a:r>
              <a:t/>
            </a:r>
          </a:p>
          <a:p xmlns:a="http://schemas.openxmlformats.org/drawingml/2006/main">
            <a:r>
              <a:t>**Evidence / Source:**</a:t>
            </a:r>
          </a:p>
          <a:p xmlns:a="http://schemas.openxmlformats.org/drawingml/2006/main">
            <a:r>
              <a:t>STATE-00 → STATE-04-PERF  ·  bounded image_statistics evidence</a:t>
            </a:r>
          </a:p>
          <a:p xmlns:a="http://schemas.openxmlformats.org/drawingml/2006/main">
            <a:r>
              <a:t/>
            </a:r>
          </a:p>
          <a:p xmlns:a="http://schemas.openxmlformats.org/drawingml/2006/main">
            <a:r>
              <a:t>**Claim Boundary:**</a:t>
            </a:r>
          </a:p>
          <a:p xmlns:a="http://schemas.openxmlformats.org/drawingml/2006/main">
            <a:r>
              <a:t>STATE-04-PERF의 기록된 task, 코드 경로, 입력, runtime, host 및 검증 조건에 한정한다. 이 결과는 실제 stale Harness나 Product failure를 뜻하지 않는다.</a:t>
            </a:r>
          </a:p>
          <a:p xmlns:a="http://schemas.openxmlformats.org/drawingml/2006/main">
            <a:r>
              <a:t/>
            </a:r>
          </a:p>
          <a:p xmlns:a="http://schemas.openxmlformats.org/drawingml/2006/main">
            <a:r>
              <a:t>**Beginner Explanation:**</a:t>
            </a:r>
          </a:p>
          <a:p xmlns:a="http://schemas.openxmlformats.org/drawingml/2006/main">
            <a:r>
              <a:t>먼저 잘 동작했던 현재 시스템을 기준점으로 둔다.</a:t>
            </a:r>
          </a:p>
          <a:p xmlns:a="http://schemas.openxmlformats.org/drawingml/2006/main">
            <a:r>
              <a:t/>
            </a:r>
          </a:p>
          <a:p xmlns:a="http://schemas.openxmlformats.org/drawingml/2006/main">
            <a:r>
              <a:t>**Advanced Insight:**</a:t>
            </a:r>
          </a:p>
          <a:p xmlns:a="http://schemas.openxmlformats.org/drawingml/2006/main">
            <a:r>
              <a:t>성공한 Product State와 뒤의 Conceptual Case를 별도 Evidence frame으로 읽는다.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추가 실행 없음. 기존 ACT 3에서 승인된 STATE-04-PERF 결과를 짧게 회수한다. 수치는 현재 범위와 함께 보이고 일반 성과로 확대하지 않는다.</a:t>
            </a:r>
          </a:p>
          <a:p xmlns:a="http://schemas.openxmlformats.org/drawingml/2006/main">
            <a:r>
              <a:t/>
            </a:r>
          </a:p>
          <a:p xmlns:a="http://schemas.openxmlformats.org/drawingml/2006/main">
            <a:r>
              <a:t>**Audience Interaction:**</a:t>
            </a:r>
          </a:p>
          <a:p xmlns:a="http://schemas.openxmlformats.org/drawingml/2006/main">
            <a:r>
              <a:t>1분 Reflection: “성공한 현재 상태도 Project 변화 뒤 다시 확인해야 할까?” 개인 생각만 하고 응답을 요구하지 않는다.</a:t>
            </a:r>
          </a:p>
          <a:p xmlns:a="http://schemas.openxmlformats.org/drawingml/2006/main">
            <a:r>
              <a:t/>
            </a:r>
          </a:p>
          <a:p xmlns:a="http://schemas.openxmlformats.org/drawingml/2006/main">
            <a:r>
              <a:t>**Transition:**</a:t>
            </a:r>
          </a:p>
          <a:p xmlns:a="http://schemas.openxmlformats.org/drawingml/2006/main">
            <a:r>
              <a:t>Project가 정당한 이유로 바뀌면 작업 Workflow도 함께 바뀔까?</a:t>
            </a:r>
          </a:p>
          <a:p xmlns:a="http://schemas.openxmlformats.org/drawingml/2006/main">
            <a:r>
              <a:t/>
            </a:r>
          </a:p>
          <a:p xmlns:a="http://schemas.openxmlformats.org/drawingml/2006/main">
            <a:r>
              <a:t>**Time Management:**</a:t>
            </a:r>
          </a:p>
          <a:p xmlns:a="http://schemas.openxmlformats.org/drawingml/2006/main">
            <a:r>
              <a:t>Lecture 3분 + Reflection 1분. 기존 ACT 3 설명을 다시 길게 열지 않는다.</a:t>
            </a:r>
          </a:p>
          <a:p xmlns:a="http://schemas.openxmlformats.org/drawingml/2006/main">
            <a:r>
              <a:t/>
            </a:r>
          </a:p>
          <a:p xmlns:a="http://schemas.openxmlformats.org/drawingml/2006/main">
            <a:r>
              <a:t>**Fallback:**</a:t>
            </a:r>
          </a:p>
          <a:p xmlns:a="http://schemas.openxmlformats.org/drawingml/2006/main">
            <a:r>
              <a:t>LOCAL STATIC ARTIFACT — production/ACT_4.pptx의 S55와 production/preview/act4/S55.png를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개념 사례: Project와 Workflow는 현재 맞다</a:t>
            </a:r>
          </a:p>
          <a:p xmlns:a="http://schemas.openxmlformats.org/drawingml/2006/main">
            <a:r>
              <a:t/>
            </a:r>
          </a:p>
          <a:p xmlns:a="http://schemas.openxmlformats.org/drawingml/2006/main">
            <a:r>
              <a:t>**Slide ID:**</a:t>
            </a:r>
          </a:p>
          <a:p xmlns:a="http://schemas.openxmlformats.org/drawingml/2006/main">
            <a:r>
              <a:t>S56</a:t>
            </a:r>
          </a:p>
          <a:p xmlns:a="http://schemas.openxmlformats.org/drawingml/2006/main">
            <a:r>
              <a:t/>
            </a:r>
          </a:p>
          <a:p xmlns:a="http://schemas.openxmlformats.org/drawingml/2006/main">
            <a:r>
              <a:t>**Working Title:**</a:t>
            </a:r>
          </a:p>
          <a:p xmlns:a="http://schemas.openxmlformats.org/drawingml/2006/main">
            <a:r>
              <a:t>개념 사례: Project와 Workflow는 현재 맞다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(VISUAL)</a:t>
            </a:r>
          </a:p>
          <a:p xmlns:a="http://schemas.openxmlformats.org/drawingml/2006/main">
            <a:r>
              <a:t/>
            </a:r>
          </a:p>
          <a:p xmlns:a="http://schemas.openxmlformats.org/drawingml/2006/main">
            <a:r>
              <a:t>**Primary Message:**</a:t>
            </a:r>
          </a:p>
          <a:p xmlns:a="http://schemas.openxmlformats.org/drawingml/2006/main">
            <a:r>
              <a:t>가상 사례의 시작에서는 프로젝트의 검증 기준과 재사용 Workflow의 지시가 모두 단위 테스트를 대상으로 한다.</a:t>
            </a:r>
          </a:p>
          <a:p xmlns:a="http://schemas.openxmlformats.org/drawingml/2006/main">
            <a:r>
              <a:t/>
            </a:r>
          </a:p>
          <a:p xmlns:a="http://schemas.openxmlformats.org/drawingml/2006/main">
            <a:r>
              <a:t>**Opening Question:**</a:t>
            </a:r>
          </a:p>
          <a:p xmlns:a="http://schemas.openxmlformats.org/drawingml/2006/main">
            <a:r>
              <a:t>“지금 맞는 Project Workflow는 계속 맞을까?”</a:t>
            </a:r>
          </a:p>
          <a:p xmlns:a="http://schemas.openxmlformats.org/drawingml/2006/main">
            <a:r>
              <a:t/>
            </a:r>
          </a:p>
          <a:p xmlns:a="http://schemas.openxmlformats.org/drawingml/2006/main">
            <a:r>
              <a:t>**Speaker Flow:**</a:t>
            </a:r>
          </a:p>
          <a:p xmlns:a="http://schemas.openxmlformats.org/drawingml/2006/main">
            <a:r>
              <a:t>1. (0:00–0:30 / VISUAL Demo) 실제 graypipe 이력과 별개인 가상 사례임을 먼저 말한다.</a:t>
            </a:r>
          </a:p>
          <a:p xmlns:a="http://schemas.openxmlformats.org/drawingml/2006/main">
            <a:r>
              <a:t>2. (0:30–1:30 / VISUAL Demo) 왼쪽 프로젝트 기준과 오른쪽 재사용 지침이 모두 단위 테스트를 가리키는 모습을 비교한다.</a:t>
            </a:r>
          </a:p>
          <a:p xmlns:a="http://schemas.openxmlformats.org/drawingml/2006/main">
            <a:r>
              <a:t>3. (1:30–2:00 / VISUAL Demo) 당시 기준에는 일치하는 절차였다는 출발점을 남긴다. 다음 장의 변경을 미리 설명하지 않는다.</a:t>
            </a:r>
          </a:p>
          <a:p xmlns:a="http://schemas.openxmlformats.org/drawingml/2006/main">
            <a:r>
              <a:t/>
            </a:r>
          </a:p>
          <a:p xmlns:a="http://schemas.openxmlformats.org/drawingml/2006/main">
            <a:r>
              <a:t>**Evidence / Source:**</a:t>
            </a:r>
          </a:p>
          <a:p xmlns:a="http://schemas.openxmlformats.org/drawingml/2006/main">
            <a:r>
              <a:t>DEMO-04A  ·  constructed starting condition  ·  no Trial</a:t>
            </a:r>
          </a:p>
          <a:p xmlns:a="http://schemas.openxmlformats.org/drawingml/2006/main">
            <a:r>
              <a:t/>
            </a:r>
          </a:p>
          <a:p xmlns:a="http://schemas.openxmlformats.org/drawingml/2006/main">
            <a:r>
              <a:t>**Claim Boundary:**</a:t>
            </a:r>
          </a:p>
          <a:p xmlns:a="http://schemas.openxmlformats.org/drawingml/2006/main">
            <a:r>
              <a:t>CONCEPTUAL CASE. `ai-dev-training-demo`의 기록, Trial 또는 Product State가 아니다.</a:t>
            </a:r>
          </a:p>
          <a:p xmlns:a="http://schemas.openxmlformats.org/drawingml/2006/main">
            <a:r>
              <a:t/>
            </a:r>
          </a:p>
          <a:p xmlns:a="http://schemas.openxmlformats.org/drawingml/2006/main">
            <a:r>
              <a:t>**Beginner Explanation:**</a:t>
            </a:r>
          </a:p>
          <a:p xmlns:a="http://schemas.openxmlformats.org/drawingml/2006/main">
            <a:r>
              <a:t>처음에는 현재 지침과 재사용 절차가 서로 맞아 있다.</a:t>
            </a:r>
          </a:p>
          <a:p xmlns:a="http://schemas.openxmlformats.org/drawingml/2006/main">
            <a:r>
              <a:t/>
            </a:r>
          </a:p>
          <a:p xmlns:a="http://schemas.openxmlformats.org/drawingml/2006/main">
            <a:r>
              <a:t>**Advanced Insight:**</a:t>
            </a:r>
          </a:p>
          <a:p xmlns:a="http://schemas.openxmlformats.org/drawingml/2006/main">
            <a:r>
              <a:t>당시에 올바른 절차도 Project 변화 이후 stale해질 수 있다.</a:t>
            </a:r>
          </a:p>
          <a:p xmlns:a="http://schemas.openxmlformats.org/drawingml/2006/main">
            <a:r>
              <a:t/>
            </a:r>
          </a:p>
          <a:p xmlns:a="http://schemas.openxmlformats.org/drawingml/2006/main">
            <a:r>
              <a:t>**C++ Vision Bridge:**</a:t>
            </a:r>
          </a:p>
          <a:p xmlns:a="http://schemas.openxmlformats.org/drawingml/2006/main">
            <a:r>
              <a:t>선택적 맥락: 실제 Project에서도 build/test structure가 바뀔 수 있다. 별도 C++ 사례로 확장하지 않는다.</a:t>
            </a:r>
          </a:p>
          <a:p xmlns:a="http://schemas.openxmlformats.org/drawingml/2006/main">
            <a:r>
              <a:t/>
            </a:r>
          </a:p>
          <a:p xmlns:a="http://schemas.openxmlformats.org/drawingml/2006/main">
            <a:r>
              <a:t>**Demo Operation:**</a:t>
            </a:r>
          </a:p>
          <a:p xmlns:a="http://schemas.openxmlformats.org/drawingml/2006/main">
            <a:r>
              <a:t>CONCEPTUAL 정적 도식. 두 단위 테스트 범위와 가운데 등호를 가리킨다. 실행 캡처·명령·결과 badge는 없다.</a:t>
            </a:r>
          </a:p>
          <a:p xmlns:a="http://schemas.openxmlformats.org/drawingml/2006/main">
            <a:r>
              <a:t/>
            </a:r>
          </a:p>
          <a:p xmlns:a="http://schemas.openxmlformats.org/drawingml/2006/main">
            <a:r>
              <a:t>**Audience Interaction:**</a:t>
            </a:r>
          </a:p>
          <a:p xmlns:a="http://schemas.openxmlformats.org/drawingml/2006/main">
            <a:r>
              <a:t>두 지시의 범위가 같은지 눈으로 비교한다. 답변이나 실행은 요구하지 않는다.</a:t>
            </a:r>
          </a:p>
          <a:p xmlns:a="http://schemas.openxmlformats.org/drawingml/2006/main">
            <a:r>
              <a:t/>
            </a:r>
          </a:p>
          <a:p xmlns:a="http://schemas.openxmlformats.org/drawingml/2006/main">
            <a:r>
              <a:t>**Transition:**</a:t>
            </a:r>
          </a:p>
          <a:p xmlns:a="http://schemas.openxmlformats.org/drawingml/2006/main">
            <a:r>
              <a:t>Project가 바뀌었는데 재사용 Workflow가 그대로라면 어떻게 될까?</a:t>
            </a:r>
          </a:p>
          <a:p xmlns:a="http://schemas.openxmlformats.org/drawingml/2006/main">
            <a:r>
              <a:t/>
            </a:r>
          </a:p>
          <a:p xmlns:a="http://schemas.openxmlformats.org/drawingml/2006/main">
            <a:r>
              <a:t>**Time Management:**</a:t>
            </a:r>
          </a:p>
          <a:p xmlns:a="http://schemas.openxmlformats.org/drawingml/2006/main">
            <a:r>
              <a:t>VISUAL Demo 2분. 첫 장면은 정상 상태로 두고 Project 변경을 앞당겨 보여주지 않는다.</a:t>
            </a:r>
          </a:p>
          <a:p xmlns:a="http://schemas.openxmlformats.org/drawingml/2006/main">
            <a:r>
              <a:t/>
            </a:r>
          </a:p>
          <a:p xmlns:a="http://schemas.openxmlformats.org/drawingml/2006/main">
            <a:r>
              <a:t>**Fallback:**</a:t>
            </a:r>
          </a:p>
          <a:p xmlns:a="http://schemas.openxmlformats.org/drawingml/2006/main">
            <a:r>
              <a:t>LOCAL STATIC ARTIFACT — production/ACT_4.pptx의 S56와 production/preview/act4/S56.png를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Project는 바뀌고 Workflow는 남았다</a:t>
            </a:r>
          </a:p>
          <a:p xmlns:a="http://schemas.openxmlformats.org/drawingml/2006/main">
            <a:r>
              <a:t/>
            </a:r>
          </a:p>
          <a:p xmlns:a="http://schemas.openxmlformats.org/drawingml/2006/main">
            <a:r>
              <a:t>**Slide ID:**</a:t>
            </a:r>
          </a:p>
          <a:p xmlns:a="http://schemas.openxmlformats.org/drawingml/2006/main">
            <a:r>
              <a:t>S57</a:t>
            </a:r>
          </a:p>
          <a:p xmlns:a="http://schemas.openxmlformats.org/drawingml/2006/main">
            <a:r>
              <a:t/>
            </a:r>
          </a:p>
          <a:p xmlns:a="http://schemas.openxmlformats.org/drawingml/2006/main">
            <a:r>
              <a:t>**Working Title:**</a:t>
            </a:r>
          </a:p>
          <a:p xmlns:a="http://schemas.openxmlformats.org/drawingml/2006/main">
            <a:r>
              <a:t>Project는 바뀌고 Workflow는 남았다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2분 (VISUAL) + Case 2분</a:t>
            </a:r>
          </a:p>
          <a:p xmlns:a="http://schemas.openxmlformats.org/drawingml/2006/main">
            <a:r>
              <a:t/>
            </a:r>
          </a:p>
          <a:p xmlns:a="http://schemas.openxmlformats.org/drawingml/2006/main">
            <a:r>
              <a:t>**Primary Message:**</a:t>
            </a:r>
          </a:p>
          <a:p xmlns:a="http://schemas.openxmlformats.org/drawingml/2006/main">
            <a:r>
              <a:t>모듈 연결 동작까지 검증해야 하는 가상 프로젝트에서 공식 기준은 단위+통합 테스트로 넓어졌지만 재사용 Workflow에는 단위 테스트 지시가 남아 있다. 이는 지시 범위의 차이다.</a:t>
            </a:r>
          </a:p>
          <a:p xmlns:a="http://schemas.openxmlformats.org/drawingml/2006/main">
            <a:r>
              <a:t/>
            </a:r>
          </a:p>
          <a:p xmlns:a="http://schemas.openxmlformats.org/drawingml/2006/main">
            <a:r>
              <a:t>**Opening Question:**</a:t>
            </a:r>
          </a:p>
          <a:p xmlns:a="http://schemas.openxmlformats.org/drawingml/2006/main">
            <a:r>
              <a:t>“다음 Task에서 old workflow를 따르면 누가 틀린 걸까?”</a:t>
            </a:r>
          </a:p>
          <a:p xmlns:a="http://schemas.openxmlformats.org/drawingml/2006/main">
            <a:r>
              <a:t/>
            </a:r>
          </a:p>
          <a:p xmlns:a="http://schemas.openxmlformats.org/drawingml/2006/main">
            <a:r>
              <a:t>**Speaker Flow:**</a:t>
            </a:r>
          </a:p>
          <a:p xmlns:a="http://schemas.openxmlformats.org/drawingml/2006/main">
            <a:r>
              <a:t>1. (0:00–1:00 / Demo) 실제 Trial과 별개인 가상 사례임을 밝힌다. 모듈 연결 동작까지 검증할 필요가 생겨 공식 범위에 통합 테스트를 추가한 사례다.</a:t>
            </a:r>
          </a:p>
          <a:p xmlns:a="http://schemas.openxmlformats.org/drawingml/2006/main">
            <a:r>
              <a:t>2. (1:00–2:00 / Demo) 왼쪽 현재 기준의 단위+통합 테스트와 오른쪽 재사용 Workflow의 단위 테스트 지시를 대조한다.</a:t>
            </a:r>
          </a:p>
          <a:p xmlns:a="http://schemas.openxmlformats.org/drawingml/2006/main">
            <a:r>
              <a:t>3. (2:00–3:00 / Case) Project의 요구 변화와 재사용 지침의 미갱신을 구분한다.</a:t>
            </a:r>
          </a:p>
          <a:p xmlns:a="http://schemas.openxmlformats.org/drawingml/2006/main">
            <a:r>
              <a:t>4. (3:00–4:00 / Case) Agent가 실제로 무엇을 실행했는지 아직 보여주지 않았음을 짧게 알리고, 다음 요청을 보정해도 재사용 지침이 남는 질문으로 넘긴다.</a:t>
            </a:r>
          </a:p>
          <a:p xmlns:a="http://schemas.openxmlformats.org/drawingml/2006/main">
            <a:r>
              <a:t/>
            </a:r>
          </a:p>
          <a:p xmlns:a="http://schemas.openxmlformats.org/drawingml/2006/main">
            <a:r>
              <a:t>**Evidence / Source:**</a:t>
            </a:r>
          </a:p>
          <a:p xmlns:a="http://schemas.openxmlformats.org/drawingml/2006/main">
            <a:r>
              <a:t>DEMO-04A / DEC-0021 / BEAT-038–039 / CONCEPTUAL. 단위+통합 테스트 가상 설정은 발표용 Pilot에 대한 최신 사용자 승인으로 확정됐다. 실제 Repository 이력이나 Trial 근거가 추가된 것은 아니다.</a:t>
            </a:r>
          </a:p>
          <a:p xmlns:a="http://schemas.openxmlformats.org/drawingml/2006/main">
            <a:r>
              <a:t/>
            </a:r>
          </a:p>
          <a:p xmlns:a="http://schemas.openxmlformats.org/drawingml/2006/main">
            <a:r>
              <a:t>**Claim Boundary:**</a:t>
            </a:r>
          </a:p>
          <a:p xmlns:a="http://schemas.openxmlformats.org/drawingml/2006/main">
            <a:r>
              <a:t>승인된 가상 설정이다. 실제 Repository migration, 기존 graypipe Skill, Agent 실행, 테스트 누락 또는 PASS/FAIL 결과를 뜻하지 않는다. 지시의 범위를 비교하며 실제 실행 결과는 보여주지 않는다.</a:t>
            </a:r>
          </a:p>
          <a:p xmlns:a="http://schemas.openxmlformats.org/drawingml/2006/main">
            <a:r>
              <a:t/>
            </a:r>
          </a:p>
          <a:p xmlns:a="http://schemas.openxmlformats.org/drawingml/2006/main">
            <a:r>
              <a:t>**Beginner Explanation:**</a:t>
            </a:r>
          </a:p>
          <a:p xmlns:a="http://schemas.openxmlformats.org/drawingml/2006/main">
            <a:r>
              <a:t>Agent가 따르는 지침이 Project의 현재 절차와 맞는지 살핀다.</a:t>
            </a:r>
          </a:p>
          <a:p xmlns:a="http://schemas.openxmlformats.org/drawingml/2006/main">
            <a:r>
              <a:t/>
            </a:r>
          </a:p>
          <a:p xmlns:a="http://schemas.openxmlformats.org/drawingml/2006/main">
            <a:r>
              <a:t>**Advanced Insight:**</a:t>
            </a:r>
          </a:p>
          <a:p xmlns:a="http://schemas.openxmlformats.org/drawingml/2006/main">
            <a:r>
              <a:t>Project source의 변화와 stale artifact의 위치를 분리해 본다.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production/ACT_4.pptx의 S57와 production/preview/act4/S57.png 개념 도식을 사용한다. 구체적 명령·Runner 구현·테스트 수·실행 캡처를 추가하지 않는다. 현재 기준과 이전 Workflow 지시를 차례로 가리킨다.</a:t>
            </a:r>
          </a:p>
          <a:p xmlns:a="http://schemas.openxmlformats.org/drawingml/2006/main">
            <a:r>
              <a:t/>
            </a:r>
          </a:p>
          <a:p xmlns:a="http://schemas.openxmlformats.org/drawingml/2006/main">
            <a:r>
              <a:t>**Audience Interaction:**</a:t>
            </a:r>
          </a:p>
          <a:p xmlns:a="http://schemas.openxmlformats.org/drawingml/2006/main">
            <a:r>
              <a:t>무엇이 바뀌었고 무엇이 남았는지 잠시 비교한다. Agent 탓이나 특정 실패를 가정하지 않는다.</a:t>
            </a:r>
          </a:p>
          <a:p xmlns:a="http://schemas.openxmlformats.org/drawingml/2006/main">
            <a:r>
              <a:t/>
            </a:r>
          </a:p>
          <a:p xmlns:a="http://schemas.openxmlformats.org/drawingml/2006/main">
            <a:r>
              <a:t>**Transition:**</a:t>
            </a:r>
          </a:p>
          <a:p xmlns:a="http://schemas.openxmlformats.org/drawingml/2006/main">
            <a:r>
              <a:t>“이번 요청에 통합 테스트도 확인해 달라고 쓰면, 다음 작업이 읽을 Workflow까지 바뀔까요?” S58로 이동한다.</a:t>
            </a:r>
          </a:p>
          <a:p xmlns:a="http://schemas.openxmlformats.org/drawingml/2006/main">
            <a:r>
              <a:t/>
            </a:r>
          </a:p>
          <a:p xmlns:a="http://schemas.openxmlformats.org/drawingml/2006/main">
            <a:r>
              <a:t>**Time Management:**</a:t>
            </a:r>
          </a:p>
          <a:p xmlns:a="http://schemas.openxmlformats.org/drawingml/2006/main">
            <a:r>
              <a:t>Demo 2분은 도식 공개에, Case 2분은 stale 간극을 해석하는 데 쓴다.</a:t>
            </a:r>
          </a:p>
          <a:p xmlns:a="http://schemas.openxmlformats.org/drawingml/2006/main">
            <a:r>
              <a:t/>
            </a:r>
          </a:p>
          <a:p xmlns:a="http://schemas.openxmlformats.org/drawingml/2006/main">
            <a:r>
              <a:t>**Fallback:**</a:t>
            </a:r>
          </a:p>
          <a:p xmlns:a="http://schemas.openxmlformats.org/drawingml/2006/main">
            <a:r>
              <a:t>LOCAL STATIC ARTIFACT — production/ACT_4.pptx의 S57와 production/preview/act4/S57.png를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Task 해결과 System 문제는 다르다</a:t>
            </a:r>
          </a:p>
          <a:p xmlns:a="http://schemas.openxmlformats.org/drawingml/2006/main">
            <a:r>
              <a:t/>
            </a:r>
          </a:p>
          <a:p xmlns:a="http://schemas.openxmlformats.org/drawingml/2006/main">
            <a:r>
              <a:t>**Slide ID:**</a:t>
            </a:r>
          </a:p>
          <a:p xmlns:a="http://schemas.openxmlformats.org/drawingml/2006/main">
            <a:r>
              <a:t>S58</a:t>
            </a:r>
          </a:p>
          <a:p xmlns:a="http://schemas.openxmlformats.org/drawingml/2006/main">
            <a:r>
              <a:t/>
            </a:r>
          </a:p>
          <a:p xmlns:a="http://schemas.openxmlformats.org/drawingml/2006/main">
            <a:r>
              <a:t>**Working Title:**</a:t>
            </a:r>
          </a:p>
          <a:p xmlns:a="http://schemas.openxmlformats.org/drawingml/2006/main">
            <a:r>
              <a:t>Task 해결과 System 문제는 다르다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Case 3분</a:t>
            </a:r>
          </a:p>
          <a:p xmlns:a="http://schemas.openxmlformats.org/drawingml/2006/main">
            <a:r>
              <a:t/>
            </a:r>
          </a:p>
          <a:p xmlns:a="http://schemas.openxmlformats.org/drawingml/2006/main">
            <a:r>
              <a:t>**Primary Message:**</a:t>
            </a:r>
          </a:p>
          <a:p xmlns:a="http://schemas.openxmlformats.org/drawingml/2006/main">
            <a:r>
              <a:t>이번 요청을 단위+통합 검증으로 보정할 수 있어도 재사용 Workflow의 단위 테스트 지시는 그대로 남을 수 있다. 현재 Task의 요청 범위와 재사용 절차의 변경을 구분한다.</a:t>
            </a:r>
          </a:p>
          <a:p xmlns:a="http://schemas.openxmlformats.org/drawingml/2006/main">
            <a:r>
              <a:t/>
            </a:r>
          </a:p>
          <a:p xmlns:a="http://schemas.openxmlformats.org/drawingml/2006/main">
            <a:r>
              <a:t>**Opening Question:**</a:t>
            </a:r>
          </a:p>
          <a:p xmlns:a="http://schemas.openxmlformats.org/drawingml/2006/main">
            <a:r>
              <a:t>“Prompt를 더 자세히 쓰면 이번 Task는 해결될까?”</a:t>
            </a:r>
          </a:p>
          <a:p xmlns:a="http://schemas.openxmlformats.org/drawingml/2006/main">
            <a:r>
              <a:t/>
            </a:r>
          </a:p>
          <a:p xmlns:a="http://schemas.openxmlformats.org/drawingml/2006/main">
            <a:r>
              <a:t>**Speaker Flow:**</a:t>
            </a:r>
          </a:p>
          <a:p xmlns:a="http://schemas.openxmlformats.org/drawingml/2006/main">
            <a:r>
              <a:t>1. (0:00–1:00 / Case) 이번 Prompt에 “통합 테스트도 확인해 줘”를 더하는 가능성을 소개한다.</a:t>
            </a:r>
          </a:p>
          <a:p xmlns:a="http://schemas.openxmlformats.org/drawingml/2006/main">
            <a:r>
              <a:t>2. (1:00–2:00 / Case) 왼쪽 이번 Task 요청은 넓힐 수 있지만 오른쪽 재사용 지침은 단위 테스트에 머무는 차이를 가리킨다.</a:t>
            </a:r>
          </a:p>
          <a:p xmlns:a="http://schemas.openxmlformats.org/drawingml/2006/main">
            <a:r>
              <a:t>3. (2:00–3:00 / Case) 요청 보정이 실제 성공을 입증하지 않으며 다음 Task의 절차까지 갱신하는 조치와 다르다고 정리한다.</a:t>
            </a:r>
          </a:p>
          <a:p xmlns:a="http://schemas.openxmlformats.org/drawingml/2006/main">
            <a:r>
              <a:t/>
            </a:r>
          </a:p>
          <a:p xmlns:a="http://schemas.openxmlformats.org/drawingml/2006/main">
            <a:r>
              <a:t>**Evidence / Source:**</a:t>
            </a:r>
          </a:p>
          <a:p xmlns:a="http://schemas.openxmlformats.org/drawingml/2006/main">
            <a:r>
              <a:t>DEMO-04A  ·  conceptual consequence  ·  no execution result</a:t>
            </a:r>
          </a:p>
          <a:p xmlns:a="http://schemas.openxmlformats.org/drawingml/2006/main">
            <a:r>
              <a:t/>
            </a:r>
          </a:p>
          <a:p xmlns:a="http://schemas.openxmlformats.org/drawingml/2006/main">
            <a:r>
              <a:t>**Claim Boundary:**</a:t>
            </a:r>
          </a:p>
          <a:p xmlns:a="http://schemas.openxmlformats.org/drawingml/2006/main">
            <a:r>
              <a:t>가상 가능성만 제시한다. 구체적인 실패, 실행 결과, PASS/FAIL 또는 실제 Demo 이력은 없다.</a:t>
            </a:r>
          </a:p>
          <a:p xmlns:a="http://schemas.openxmlformats.org/drawingml/2006/main">
            <a:r>
              <a:t/>
            </a:r>
          </a:p>
          <a:p xmlns:a="http://schemas.openxmlformats.org/drawingml/2006/main">
            <a:r>
              <a:t>**Beginner Explanation:**</a:t>
            </a:r>
          </a:p>
          <a:p xmlns:a="http://schemas.openxmlformats.org/drawingml/2006/main">
            <a:r>
              <a:t>이번 답을 고치는 것과 다음 작업의 절차까지 바꾸는 것은 다르다.</a:t>
            </a:r>
          </a:p>
          <a:p xmlns:a="http://schemas.openxmlformats.org/drawingml/2006/main">
            <a:r>
              <a:t/>
            </a:r>
          </a:p>
          <a:p xmlns:a="http://schemas.openxmlformats.org/drawingml/2006/main">
            <a:r>
              <a:t>**Advanced Insight:**</a:t>
            </a:r>
          </a:p>
          <a:p xmlns:a="http://schemas.openxmlformats.org/drawingml/2006/main">
            <a:r>
              <a:t>Task-level workaround와 durable system correction을 구분한다.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승인된 가상 설정에서 가능한 Task 보정과 재사용 지침을 비교한다. 실행 결과·누락·복구 성공을 표시하지 않는다.</a:t>
            </a:r>
          </a:p>
          <a:p xmlns:a="http://schemas.openxmlformats.org/drawingml/2006/main">
            <a:r>
              <a:t/>
            </a:r>
          </a:p>
          <a:p xmlns:a="http://schemas.openxmlformats.org/drawingml/2006/main">
            <a:r>
              <a:t>**Audience Interaction:**</a:t>
            </a:r>
          </a:p>
          <a:p xmlns:a="http://schemas.openxmlformats.org/drawingml/2006/main">
            <a:r>
              <a:t>“이번 Task가 풀려도 다음 Task의 지침은 달라졌나?”를 생각하게 한다.</a:t>
            </a:r>
          </a:p>
          <a:p xmlns:a="http://schemas.openxmlformats.org/drawingml/2006/main">
            <a:r>
              <a:t/>
            </a:r>
          </a:p>
          <a:p xmlns:a="http://schemas.openxmlformats.org/drawingml/2006/main">
            <a:r>
              <a:t>**Transition:**</a:t>
            </a:r>
          </a:p>
          <a:p xmlns:a="http://schemas.openxmlformats.org/drawingml/2006/main">
            <a:r>
              <a:t>그럼 Prompt, global rule, stale Workflow 중 어느 Layer를 살펴볼까?</a:t>
            </a:r>
          </a:p>
          <a:p xmlns:a="http://schemas.openxmlformats.org/drawingml/2006/main">
            <a:r>
              <a:t/>
            </a:r>
          </a:p>
          <a:p xmlns:a="http://schemas.openxmlformats.org/drawingml/2006/main">
            <a:r>
              <a:t>**Time Management:**</a:t>
            </a:r>
          </a:p>
          <a:p xmlns:a="http://schemas.openxmlformats.org/drawingml/2006/main">
            <a:r>
              <a:t>Case 3분. 가능한 대응과 지시 범위에 머물고 실제 command 실패나 성공 결과를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S58와 production/preview/act4/S58.png를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원인에 맞는 Layer를 고르기</a:t>
            </a:r>
          </a:p>
          <a:p xmlns:a="http://schemas.openxmlformats.org/drawingml/2006/main">
            <a:r>
              <a:t/>
            </a:r>
          </a:p>
          <a:p xmlns:a="http://schemas.openxmlformats.org/drawingml/2006/main">
            <a:r>
              <a:t>**Slide ID:**</a:t>
            </a:r>
          </a:p>
          <a:p xmlns:a="http://schemas.openxmlformats.org/drawingml/2006/main">
            <a:r>
              <a:t>S59</a:t>
            </a:r>
          </a:p>
          <a:p xmlns:a="http://schemas.openxmlformats.org/drawingml/2006/main">
            <a:r>
              <a:t/>
            </a:r>
          </a:p>
          <a:p xmlns:a="http://schemas.openxmlformats.org/drawingml/2006/main">
            <a:r>
              <a:t>**Working Title:**</a:t>
            </a:r>
          </a:p>
          <a:p xmlns:a="http://schemas.openxmlformats.org/drawingml/2006/main">
            <a:r>
              <a:t>원인에 맞는 Layer를 고르기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Prompt patch는 현재 Task만 풀 수 있고 global rule은 중복·충돌을 만들 수 있다. Workflow가 원인으로 확인된 사례라면 그 source를 고친다.</a:t>
            </a:r>
          </a:p>
          <a:p xmlns:a="http://schemas.openxmlformats.org/drawingml/2006/main">
            <a:r>
              <a:t/>
            </a:r>
          </a:p>
          <a:p xmlns:a="http://schemas.openxmlformats.org/drawingml/2006/main">
            <a:r>
              <a:t>**Opening Question:**</a:t>
            </a:r>
          </a:p>
          <a:p xmlns:a="http://schemas.openxmlformats.org/drawingml/2006/main">
            <a:r>
              <a:t>“어디를 고치면 현재 Task와 다음 Task가 함께 달라질까?”</a:t>
            </a:r>
          </a:p>
          <a:p xmlns:a="http://schemas.openxmlformats.org/drawingml/2006/main">
            <a:r>
              <a:t/>
            </a:r>
          </a:p>
          <a:p xmlns:a="http://schemas.openxmlformats.org/drawingml/2006/main">
            <a:r>
              <a:t>**Speaker Flow:**</a:t>
            </a:r>
          </a:p>
          <a:p xmlns:a="http://schemas.openxmlformats.org/drawingml/2006/main">
            <a:r>
              <a:t>1. (0:00–0:30 / CAPTURED Demo) Prompt, 전역 규칙, 원인 Workflow의 세 행을 읽는다.</a:t>
            </a:r>
          </a:p>
          <a:p xmlns:a="http://schemas.openxmlformats.org/drawingml/2006/main">
            <a:r>
              <a:t>2. (0:30–1:15 / CAPTURED Demo) 각각 이번 요청만 바꾸는지, 넓은 곳에 새 규칙을 더하는지, 재사용 절차를 바꾸는지 비교한다.</a:t>
            </a:r>
          </a:p>
          <a:p xmlns:a="http://schemas.openxmlformats.org/drawingml/2006/main">
            <a:r>
              <a:t>3. (1:15–2:00 / CAPTURED Demo) Workflow가 원인으로 확인된 경우에만 마지막 선택이 맞다고 한정한다.</a:t>
            </a:r>
          </a:p>
          <a:p xmlns:a="http://schemas.openxmlformats.org/drawingml/2006/main">
            <a:r>
              <a:t/>
            </a:r>
          </a:p>
          <a:p xmlns:a="http://schemas.openxmlformats.org/drawingml/2006/main">
            <a:r>
              <a:t>**Evidence / Source:**</a:t>
            </a:r>
          </a:p>
          <a:p xmlns:a="http://schemas.openxmlformats.org/drawingml/2006/main">
            <a:r>
              <a:t>DEMO-11  ·  conceptual layer-selection synthesis</a:t>
            </a:r>
          </a:p>
          <a:p xmlns:a="http://schemas.openxmlformats.org/drawingml/2006/main">
            <a:r>
              <a:t/>
            </a:r>
          </a:p>
          <a:p xmlns:a="http://schemas.openxmlformats.org/drawingml/2006/main">
            <a:r>
              <a:t>**Claim Boundary:**</a:t>
            </a:r>
          </a:p>
          <a:p xmlns:a="http://schemas.openxmlformats.org/drawingml/2006/main">
            <a:r>
              <a:t>가상 사례 안의 선택 논리다. C는 workflow 원인이 확인된 경우에 맞으며 일반적인 정답이나 Product modification이 아니다.</a:t>
            </a:r>
          </a:p>
          <a:p xmlns:a="http://schemas.openxmlformats.org/drawingml/2006/main">
            <a:r>
              <a:t/>
            </a:r>
          </a:p>
          <a:p xmlns:a="http://schemas.openxmlformats.org/drawingml/2006/main">
            <a:r>
              <a:t>**Beginner Explanation:**</a:t>
            </a:r>
          </a:p>
          <a:p xmlns:a="http://schemas.openxmlformats.org/drawingml/2006/main">
            <a:r>
              <a:t>Prompt에 한 줄 더하기 전에 반복되는 원인이 있는 곳을 찾는다.</a:t>
            </a:r>
          </a:p>
          <a:p xmlns:a="http://schemas.openxmlformats.org/drawingml/2006/main">
            <a:r>
              <a:t/>
            </a:r>
          </a:p>
          <a:p xmlns:a="http://schemas.openxmlformats.org/drawingml/2006/main">
            <a:r>
              <a:t>**Advanced Insight:**</a:t>
            </a:r>
          </a:p>
          <a:p xmlns:a="http://schemas.openxmlformats.org/drawingml/2006/main">
            <a:r>
              <a:t>원인이 뒷받침하는 좁은 layer를 선택하고 중복 지침 가능성을 따진다.</a:t>
            </a:r>
          </a:p>
          <a:p xmlns:a="http://schemas.openxmlformats.org/drawingml/2006/main">
            <a:r>
              <a:t/>
            </a:r>
          </a:p>
          <a:p xmlns:a="http://schemas.openxmlformats.org/drawingml/2006/main">
            <a:r>
              <a:t>**C++ Vision Bridge:**</a:t>
            </a:r>
          </a:p>
          <a:p xmlns:a="http://schemas.openxmlformats.org/drawingml/2006/main">
            <a:r>
              <a:t>Context, workflow, toolchain 또는 test environment 중 원인이 있는 layer를 살핀다는 정도의 pattern transfer만 가능하다.</a:t>
            </a:r>
          </a:p>
          <a:p xmlns:a="http://schemas.openxmlformats.org/drawingml/2006/main">
            <a:r>
              <a:t/>
            </a:r>
          </a:p>
          <a:p xmlns:a="http://schemas.openxmlformats.org/drawingml/2006/main">
            <a:r>
              <a:t>**Demo Operation:**</a:t>
            </a:r>
          </a:p>
          <a:p xmlns:a="http://schemas.openxmlformats.org/drawingml/2006/main">
            <a:r>
              <a:t>실제 실행 캡처가 아닌 가상 선택지의 정적 재구성이다. 세 행의 변경 범위를 비교하고 실제 Product 수정 diff처럼 말하지 않는다.</a:t>
            </a:r>
          </a:p>
          <a:p xmlns:a="http://schemas.openxmlformats.org/drawingml/2006/main">
            <a:r>
              <a:t/>
            </a:r>
          </a:p>
          <a:p xmlns:a="http://schemas.openxmlformats.org/drawingml/2006/main">
            <a:r>
              <a:t>**Audience Interaction:**</a:t>
            </a:r>
          </a:p>
          <a:p xmlns:a="http://schemas.openxmlformats.org/drawingml/2006/main">
            <a:r>
              <a:t>A/B/C의 효과 범위를 소리 없이 비교하게 한다. 원인이 정해졌다고 일반화하지 않는다.</a:t>
            </a:r>
          </a:p>
          <a:p xmlns:a="http://schemas.openxmlformats.org/drawingml/2006/main">
            <a:r>
              <a:t/>
            </a:r>
          </a:p>
          <a:p xmlns:a="http://schemas.openxmlformats.org/drawingml/2006/main">
            <a:r>
              <a:t>**Transition:**</a:t>
            </a:r>
          </a:p>
          <a:p xmlns:a="http://schemas.openxmlformats.org/drawingml/2006/main">
            <a:r>
              <a:t>보이는 실패 지점과 실제 원인 Layer는 항상 같을까?</a:t>
            </a:r>
          </a:p>
          <a:p xmlns:a="http://schemas.openxmlformats.org/drawingml/2006/main">
            <a:r>
              <a:t/>
            </a:r>
          </a:p>
          <a:p xmlns:a="http://schemas.openxmlformats.org/drawingml/2006/main">
            <a:r>
              <a:t>**Time Management:**</a:t>
            </a:r>
          </a:p>
          <a:p xmlns:a="http://schemas.openxmlformats.org/drawingml/2006/main">
            <a:r>
              <a:t>CAPTURED 2분. Visual matrix만 설명하고 새 Product 근거를 추가하지 않는다.</a:t>
            </a:r>
          </a:p>
          <a:p xmlns:a="http://schemas.openxmlformats.org/drawingml/2006/main">
            <a:r>
              <a:t/>
            </a:r>
          </a:p>
          <a:p xmlns:a="http://schemas.openxmlformats.org/drawingml/2006/main">
            <a:r>
              <a:t>**Fallback:**</a:t>
            </a:r>
          </a:p>
          <a:p xmlns:a="http://schemas.openxmlformats.org/drawingml/2006/main">
            <a:r>
              <a:t>LOCAL STATIC ARTIFACT — production/ACT_4.pptx의 S59와 production/preview/act4/S59.png를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실패 지점과 원인 Layer 구분하기</a:t>
            </a:r>
          </a:p>
          <a:p xmlns:a="http://schemas.openxmlformats.org/drawingml/2006/main">
            <a:r>
              <a:t/>
            </a:r>
          </a:p>
          <a:p xmlns:a="http://schemas.openxmlformats.org/drawingml/2006/main">
            <a:r>
              <a:t>**Slide ID:**</a:t>
            </a:r>
          </a:p>
          <a:p xmlns:a="http://schemas.openxmlformats.org/drawingml/2006/main">
            <a:r>
              <a:t>S60</a:t>
            </a:r>
          </a:p>
          <a:p xmlns:a="http://schemas.openxmlformats.org/drawingml/2006/main">
            <a:r>
              <a:t/>
            </a:r>
          </a:p>
          <a:p xmlns:a="http://schemas.openxmlformats.org/drawingml/2006/main">
            <a:r>
              <a:t>**Working Title:**</a:t>
            </a:r>
          </a:p>
          <a:p xmlns:a="http://schemas.openxmlformats.org/drawingml/2006/main">
            <a:r>
              <a:t>실패 지점과 원인 Layer 구분하기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Demo 1분 (CAPTURED)</a:t>
            </a:r>
          </a:p>
          <a:p xmlns:a="http://schemas.openxmlformats.org/drawingml/2006/main">
            <a:r>
              <a:t/>
            </a:r>
          </a:p>
          <a:p xmlns:a="http://schemas.openxmlformats.org/drawingml/2006/main">
            <a:r>
              <a:t>**Primary Message:**</a:t>
            </a:r>
          </a:p>
          <a:p xmlns:a="http://schemas.openxmlformats.org/drawingml/2006/main">
            <a:r>
              <a:t>증상은 Prompt나 실행 지점에 보일 수 있지만 원인은 Context, Workflow, Environment, Tool/Permission, Product code 등 다른 층에 있을 수 있다.</a:t>
            </a:r>
          </a:p>
          <a:p xmlns:a="http://schemas.openxmlformats.org/drawingml/2006/main">
            <a:r>
              <a:t/>
            </a:r>
          </a:p>
          <a:p xmlns:a="http://schemas.openxmlformats.org/drawingml/2006/main">
            <a:r>
              <a:t>**Opening Question:**</a:t>
            </a:r>
          </a:p>
          <a:p xmlns:a="http://schemas.openxmlformats.org/drawingml/2006/main">
            <a:r>
              <a:t>“실패가 보인 Layer와 원인이 있는 Layer는 항상 같을까?”</a:t>
            </a:r>
          </a:p>
          <a:p xmlns:a="http://schemas.openxmlformats.org/drawingml/2006/main">
            <a:r>
              <a:t/>
            </a:r>
          </a:p>
          <a:p xmlns:a="http://schemas.openxmlformats.org/drawingml/2006/main">
            <a:r>
              <a:t>**Speaker Flow:**</a:t>
            </a:r>
          </a:p>
          <a:p xmlns:a="http://schemas.openxmlformats.org/drawingml/2006/main">
            <a:r>
              <a:t>1. (0:00–0:45 / Lecture) “요청한 검증이 충분한가?”라는 증상만으로 원인을 정할 수 없다고 설명한다.</a:t>
            </a:r>
          </a:p>
          <a:p xmlns:a="http://schemas.openxmlformats.org/drawingml/2006/main">
            <a:r>
              <a:t>2. (0:45–1:00 / Lecture) 현재 기준, 작업 절차, 실행 조건, 코드 동작을 다른 조사 대상으로 분리한다.</a:t>
            </a:r>
          </a:p>
          <a:p xmlns:a="http://schemas.openxmlformats.org/drawingml/2006/main">
            <a:r>
              <a:t>3. (1:00–2:00 / CAPTURED Demo) 오른쪽의 Context, Workflow, 환경·권한, 제품 코드 질문을 차례로 가리킨다. 어느 하나를 원인으로 확정하지 않는다.</a:t>
            </a:r>
          </a:p>
          <a:p xmlns:a="http://schemas.openxmlformats.org/drawingml/2006/main">
            <a:r>
              <a:t/>
            </a:r>
          </a:p>
          <a:p xmlns:a="http://schemas.openxmlformats.org/drawingml/2006/main">
            <a:r>
              <a:t>**Evidence / Source:**</a:t>
            </a:r>
          </a:p>
          <a:p xmlns:a="http://schemas.openxmlformats.org/drawingml/2006/main">
            <a:r>
              <a:t>DEMO-11  ·  conceptual cause/layer synthesis</a:t>
            </a:r>
          </a:p>
          <a:p xmlns:a="http://schemas.openxmlformats.org/drawingml/2006/main">
            <a:r>
              <a:t/>
            </a:r>
          </a:p>
          <a:p xmlns:a="http://schemas.openxmlformats.org/drawingml/2006/main">
            <a:r>
              <a:t>**Claim Boundary:**</a:t>
            </a:r>
          </a:p>
          <a:p xmlns:a="http://schemas.openxmlformats.org/drawingml/2006/main">
            <a:r>
              <a:t>교육용 debugging heuristic이다. 고정 진단표나 단일 원인 mapping이 아니며, 가상 사례의 원인은 조사로 확인해야 한다.</a:t>
            </a:r>
          </a:p>
          <a:p xmlns:a="http://schemas.openxmlformats.org/drawingml/2006/main">
            <a:r>
              <a:t/>
            </a:r>
          </a:p>
          <a:p xmlns:a="http://schemas.openxmlformats.org/drawingml/2006/main">
            <a:r>
              <a:t>**Beginner Explanation:**</a:t>
            </a:r>
          </a:p>
          <a:p xmlns:a="http://schemas.openxmlformats.org/drawingml/2006/main">
            <a:r>
              <a:t>실패 메시지만 보고 Prompt나 Agent를 탓하지 않는다.</a:t>
            </a:r>
          </a:p>
          <a:p xmlns:a="http://schemas.openxmlformats.org/drawingml/2006/main">
            <a:r>
              <a:t/>
            </a:r>
          </a:p>
          <a:p xmlns:a="http://schemas.openxmlformats.org/drawingml/2006/main">
            <a:r>
              <a:t>**Advanced Insight:**</a:t>
            </a:r>
          </a:p>
          <a:p xmlns:a="http://schemas.openxmlformats.org/drawingml/2006/main">
            <a:r>
              <a:t>Observation, cause hypothesis, system change, rerun, evaluation을 구분한다.</a:t>
            </a:r>
          </a:p>
          <a:p xmlns:a="http://schemas.openxmlformats.org/drawingml/2006/main">
            <a:r>
              <a:t/>
            </a:r>
          </a:p>
          <a:p xmlns:a="http://schemas.openxmlformats.org/drawingml/2006/main">
            <a:r>
              <a:t>**C++ Vision Bridge:**</a:t>
            </a:r>
          </a:p>
          <a:p xmlns:a="http://schemas.openxmlformats.org/drawingml/2006/main">
            <a:r>
              <a:t>Build, environment, permission, project code를 후보로 분리하는 pattern만 제공한다.</a:t>
            </a:r>
          </a:p>
          <a:p xmlns:a="http://schemas.openxmlformats.org/drawingml/2006/main">
            <a:r>
              <a:t/>
            </a:r>
          </a:p>
          <a:p xmlns:a="http://schemas.openxmlformats.org/drawingml/2006/main">
            <a:r>
              <a:t>**Demo Operation:**</a:t>
            </a:r>
          </a:p>
          <a:p xmlns:a="http://schemas.openxmlformats.org/drawingml/2006/main">
            <a:r>
              <a:t>가상 원인 후보의 정적 도식이다. 왼쪽 질문에서 오른쪽 점선 후보 목록으로 시선을 옮긴다. 단일 인과 화살표나 실행 결과가 없다.</a:t>
            </a:r>
          </a:p>
          <a:p xmlns:a="http://schemas.openxmlformats.org/drawingml/2006/main">
            <a:r>
              <a:t/>
            </a:r>
          </a:p>
          <a:p xmlns:a="http://schemas.openxmlformats.org/drawingml/2006/main">
            <a:r>
              <a:t>**Audience Interaction:**</a:t>
            </a:r>
          </a:p>
          <a:p xmlns:a="http://schemas.openxmlformats.org/drawingml/2006/main">
            <a:r>
              <a:t>증상이 보여도 원인이 아직 미확정일 수 있음을 함께 확인한다.</a:t>
            </a:r>
          </a:p>
          <a:p xmlns:a="http://schemas.openxmlformats.org/drawingml/2006/main">
            <a:r>
              <a:t/>
            </a:r>
          </a:p>
          <a:p xmlns:a="http://schemas.openxmlformats.org/drawingml/2006/main">
            <a:r>
              <a:t>**Transition:**</a:t>
            </a:r>
          </a:p>
          <a:p xmlns:a="http://schemas.openxmlformats.org/drawingml/2006/main">
            <a:r>
              <a:t>S61에서 이 사례의 가정과 확인할 가설을 분리한다.</a:t>
            </a:r>
          </a:p>
          <a:p xmlns:a="http://schemas.openxmlformats.org/drawingml/2006/main">
            <a:r>
              <a:t/>
            </a:r>
          </a:p>
          <a:p xmlns:a="http://schemas.openxmlformats.org/drawingml/2006/main">
            <a:r>
              <a:t>**Time Management:**</a:t>
            </a:r>
          </a:p>
          <a:p xmlns:a="http://schemas.openxmlformats.org/drawingml/2006/main">
            <a:r>
              <a:t>Lecture 1분은 관점을 설명하고 CAPTURED visual 1분은 후보 layer만 보여준다.</a:t>
            </a:r>
          </a:p>
          <a:p xmlns:a="http://schemas.openxmlformats.org/drawingml/2006/main">
            <a:r>
              <a:t/>
            </a:r>
          </a:p>
          <a:p xmlns:a="http://schemas.openxmlformats.org/drawingml/2006/main">
            <a:r>
              <a:t>**Fallback:**</a:t>
            </a:r>
          </a:p>
          <a:p xmlns:a="http://schemas.openxmlformats.org/drawingml/2006/main">
            <a:r>
              <a:t>LOCAL STATIC ARTIFACT — production/ACT_4.pptx의 S60와 production/preview/act4/S60.png를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먼저 관찰하고, 그다음 가설을 세운다</a:t>
            </a:r>
          </a:p>
          <a:p xmlns:a="http://schemas.openxmlformats.org/drawingml/2006/main">
            <a:r>
              <a:t/>
            </a:r>
          </a:p>
          <a:p xmlns:a="http://schemas.openxmlformats.org/drawingml/2006/main">
            <a:r>
              <a:t>**Slide ID:**</a:t>
            </a:r>
          </a:p>
          <a:p xmlns:a="http://schemas.openxmlformats.org/drawingml/2006/main">
            <a:r>
              <a:t>S61</a:t>
            </a:r>
          </a:p>
          <a:p xmlns:a="http://schemas.openxmlformats.org/drawingml/2006/main">
            <a:r>
              <a:t/>
            </a:r>
          </a:p>
          <a:p xmlns:a="http://schemas.openxmlformats.org/drawingml/2006/main">
            <a:r>
              <a:t>**Working Title:**</a:t>
            </a:r>
          </a:p>
          <a:p xmlns:a="http://schemas.openxmlformats.org/drawingml/2006/main">
            <a:r>
              <a:t>먼저 관찰하고, 그다음 가설을 세운다</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Case 2분</a:t>
            </a:r>
          </a:p>
          <a:p xmlns:a="http://schemas.openxmlformats.org/drawingml/2006/main">
            <a:r>
              <a:t/>
            </a:r>
          </a:p>
          <a:p xmlns:a="http://schemas.openxmlformats.org/drawingml/2006/main">
            <a:r>
              <a:t>**Primary Message:**</a:t>
            </a:r>
          </a:p>
          <a:p xmlns:a="http://schemas.openxmlformats.org/drawingml/2006/main">
            <a:r>
              <a:t>실행된 절차, 현재 Project 문서, 재사용 Workflow, 실패가 나타난 위치를 먼저 살핀다. 관찰한 사실과 원인 판단은 별개다.</a:t>
            </a:r>
          </a:p>
          <a:p xmlns:a="http://schemas.openxmlformats.org/drawingml/2006/main">
            <a:r>
              <a:t/>
            </a:r>
          </a:p>
          <a:p xmlns:a="http://schemas.openxmlformats.org/drawingml/2006/main">
            <a:r>
              <a:t>**Opening Question:**</a:t>
            </a:r>
          </a:p>
          <a:p xmlns:a="http://schemas.openxmlformats.org/drawingml/2006/main">
            <a:r>
              <a:t>“원인을 추측하기 전에 무엇부터 확인해야 할까?”</a:t>
            </a:r>
          </a:p>
          <a:p xmlns:a="http://schemas.openxmlformats.org/drawingml/2006/main">
            <a:r>
              <a:t/>
            </a:r>
          </a:p>
          <a:p xmlns:a="http://schemas.openxmlformats.org/drawingml/2006/main">
            <a:r>
              <a:t>**Speaker Flow:**</a:t>
            </a:r>
          </a:p>
          <a:p xmlns:a="http://schemas.openxmlformats.org/drawingml/2006/main">
            <a:r>
              <a:t>1. (0:00–0:45 / Case) 왼쪽의 현재 기준 단위+통합, 재사용 지침 단위만은 가상 설정에 주어진 정보라고 밝힌다.</a:t>
            </a:r>
          </a:p>
          <a:p xmlns:a="http://schemas.openxmlformats.org/drawingml/2006/main">
            <a:r>
              <a:t>2. (0:45–1:30 / Case) 오른쪽의 “오래된 Workflow가 원인일 수 있다”는 원인 가설로 구분한다.</a:t>
            </a:r>
          </a:p>
          <a:p xmlns:a="http://schemas.openxmlformats.org/drawingml/2006/main">
            <a:r>
              <a:t>3. (1:30–2:00 / Case) 실제 문제라면 실행 경로와 실제 읽은 지침을 대조해야 한다고 정리한다. 이 사례의 실제 실행 기록은 만들지 않는다.</a:t>
            </a:r>
          </a:p>
          <a:p xmlns:a="http://schemas.openxmlformats.org/drawingml/2006/main">
            <a:r>
              <a:t/>
            </a:r>
          </a:p>
          <a:p xmlns:a="http://schemas.openxmlformats.org/drawingml/2006/main">
            <a:r>
              <a:t>**Evidence / Source:**</a:t>
            </a:r>
          </a:p>
          <a:p xmlns:a="http://schemas.openxmlformats.org/drawingml/2006/main">
            <a:r>
              <a:t>DEMO-04A  ·  scenario assumptions and inference</a:t>
            </a:r>
          </a:p>
          <a:p xmlns:a="http://schemas.openxmlformats.org/drawingml/2006/main">
            <a:r>
              <a:t/>
            </a:r>
          </a:p>
          <a:p xmlns:a="http://schemas.openxmlformats.org/drawingml/2006/main">
            <a:r>
              <a:t>**Claim Boundary:**</a:t>
            </a:r>
          </a:p>
          <a:p xmlns:a="http://schemas.openxmlformats.org/drawingml/2006/main">
            <a:r>
              <a:t>화면의 “scenario assumption”도 실제 Trial 관찰이 아니다. stale Workflow는 점검할 가설이지 확정 사실이 아니다.</a:t>
            </a:r>
          </a:p>
          <a:p xmlns:a="http://schemas.openxmlformats.org/drawingml/2006/main">
            <a:r>
              <a:t/>
            </a:r>
          </a:p>
          <a:p xmlns:a="http://schemas.openxmlformats.org/drawingml/2006/main">
            <a:r>
              <a:t>**Beginner Explanation:**</a:t>
            </a:r>
          </a:p>
          <a:p xmlns:a="http://schemas.openxmlformats.org/drawingml/2006/main">
            <a:r>
              <a:t>원인을 정하기 전 현재 지침과 따라간 절차를 맞춰 본다.</a:t>
            </a:r>
          </a:p>
          <a:p xmlns:a="http://schemas.openxmlformats.org/drawingml/2006/main">
            <a:r>
              <a:t/>
            </a:r>
          </a:p>
          <a:p xmlns:a="http://schemas.openxmlformats.org/drawingml/2006/main">
            <a:r>
              <a:t>**Advanced Insight:**</a:t>
            </a:r>
          </a:p>
          <a:p xmlns:a="http://schemas.openxmlformats.org/drawingml/2006/main">
            <a:r>
              <a:t>증거와 cause hypothesis의 확신 수준을 분리한다.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왼쪽 가상 설정과 오른쪽 확인할 가설을 비교한다. OBSERVED 제품 기록이나 실제 실행 경로처럼 표현하지 않는다.</a:t>
            </a:r>
          </a:p>
          <a:p xmlns:a="http://schemas.openxmlformats.org/drawingml/2006/main">
            <a:r>
              <a:t/>
            </a:r>
          </a:p>
          <a:p xmlns:a="http://schemas.openxmlformats.org/drawingml/2006/main">
            <a:r>
              <a:t>**Audience Interaction:**</a:t>
            </a:r>
          </a:p>
          <a:p xmlns:a="http://schemas.openxmlformats.org/drawingml/2006/main">
            <a:r>
              <a:t>두 칸을 읽고 어떤 문장이 가정이며 어떤 문장이 추론인지 구분해 본다. 답변 제출은 요구하지 않는다.</a:t>
            </a:r>
          </a:p>
          <a:p xmlns:a="http://schemas.openxmlformats.org/drawingml/2006/main">
            <a:r>
              <a:t/>
            </a:r>
          </a:p>
          <a:p xmlns:a="http://schemas.openxmlformats.org/drawingml/2006/main">
            <a:r>
              <a:t>**Transition:**</a:t>
            </a:r>
          </a:p>
          <a:p xmlns:a="http://schemas.openxmlformats.org/drawingml/2006/main">
            <a:r>
              <a:t>Workflow 원인이 확인됐다면 어느 범위까지 바꿔야 할까?</a:t>
            </a:r>
          </a:p>
          <a:p xmlns:a="http://schemas.openxmlformats.org/drawingml/2006/main">
            <a:r>
              <a:t/>
            </a:r>
          </a:p>
          <a:p xmlns:a="http://schemas.openxmlformats.org/drawingml/2006/main">
            <a:r>
              <a:t>**Time Management:**</a:t>
            </a:r>
          </a:p>
          <a:p xmlns:a="http://schemas.openxmlformats.org/drawingml/2006/main">
            <a:r>
              <a:t>Case 2분. 가상 전제와 실제 Evidence를 구별한다.</a:t>
            </a:r>
          </a:p>
          <a:p xmlns:a="http://schemas.openxmlformats.org/drawingml/2006/main">
            <a:r>
              <a:t/>
            </a:r>
          </a:p>
          <a:p xmlns:a="http://schemas.openxmlformats.org/drawingml/2006/main">
            <a:r>
              <a:t>**Fallback:**</a:t>
            </a:r>
          </a:p>
          <a:p xmlns:a="http://schemas.openxmlformats.org/drawingml/2006/main">
            <a:r>
              <a:t>LOCAL STATIC ARTIFACT — production/ACT_4.pptx의 S61와 production/preview/act4/S61.png를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Cause가 지지하는 최소 변경</a:t>
            </a:r>
          </a:p>
          <a:p xmlns:a="http://schemas.openxmlformats.org/drawingml/2006/main">
            <a:r>
              <a:t/>
            </a:r>
          </a:p>
          <a:p xmlns:a="http://schemas.openxmlformats.org/drawingml/2006/main">
            <a:r>
              <a:t>**Slide ID:**</a:t>
            </a:r>
          </a:p>
          <a:p xmlns:a="http://schemas.openxmlformats.org/drawingml/2006/main">
            <a:r>
              <a:t>S62</a:t>
            </a:r>
          </a:p>
          <a:p xmlns:a="http://schemas.openxmlformats.org/drawingml/2006/main">
            <a:r>
              <a:t/>
            </a:r>
          </a:p>
          <a:p xmlns:a="http://schemas.openxmlformats.org/drawingml/2006/main">
            <a:r>
              <a:t>**Working Title:**</a:t>
            </a:r>
          </a:p>
          <a:p xmlns:a="http://schemas.openxmlformats.org/drawingml/2006/main">
            <a:r>
              <a:t>Cause가 지지하는 최소 변경</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Case 1분</a:t>
            </a:r>
          </a:p>
          <a:p xmlns:a="http://schemas.openxmlformats.org/drawingml/2006/main">
            <a:r>
              <a:t/>
            </a:r>
          </a:p>
          <a:p xmlns:a="http://schemas.openxmlformats.org/drawingml/2006/main">
            <a:r>
              <a:t>**Primary Message:**</a:t>
            </a:r>
          </a:p>
          <a:p xmlns:a="http://schemas.openxmlformats.org/drawingml/2006/main">
            <a:r>
              <a:t>이 사례에서 stale Workflow가 원인으로 확인됐다고 가정하면 우선 그 Workflow를 갱신한다. 중복된 오래된 지침은 원인일 때만 제거한다.</a:t>
            </a:r>
          </a:p>
          <a:p xmlns:a="http://schemas.openxmlformats.org/drawingml/2006/main">
            <a:r>
              <a:t/>
            </a:r>
          </a:p>
          <a:p xmlns:a="http://schemas.openxmlformats.org/drawingml/2006/main">
            <a:r>
              <a:t>**Opening Question:**</a:t>
            </a:r>
          </a:p>
          <a:p xmlns:a="http://schemas.openxmlformats.org/drawingml/2006/main">
            <a:r>
              <a:t>“얼마나 바꿔야 할까?”</a:t>
            </a:r>
          </a:p>
          <a:p xmlns:a="http://schemas.openxmlformats.org/drawingml/2006/main">
            <a:r>
              <a:t/>
            </a:r>
          </a:p>
          <a:p xmlns:a="http://schemas.openxmlformats.org/drawingml/2006/main">
            <a:r>
              <a:t>**Speaker Flow:**</a:t>
            </a:r>
          </a:p>
          <a:p xmlns:a="http://schemas.openxmlformats.org/drawingml/2006/main">
            <a:r>
              <a:t>1. (0:00–1:00 / Lecture) “Workflow가 원인으로 확인됐다면”이라는 조건을 먼저 읽고, 원인과 변경 범위를 맞추는 원칙을 설명한다.</a:t>
            </a:r>
          </a:p>
          <a:p xmlns:a="http://schemas.openxmlformats.org/drawingml/2006/main">
            <a:r>
              <a:t>2. (1:00–2:00 / Case) 가상 Workflow의 검증 대상 지시를 단위에서 단위+통합으로 갱신하는 설계를 가리킨다. 불필요한 전역 규칙이나 다른 파일을 함께 바꿀 이유는 제시하지 않는다.</a:t>
            </a:r>
          </a:p>
          <a:p xmlns:a="http://schemas.openxmlformats.org/drawingml/2006/main">
            <a:r>
              <a:t/>
            </a:r>
          </a:p>
          <a:p xmlns:a="http://schemas.openxmlformats.org/drawingml/2006/main">
            <a:r>
              <a:t>**Evidence / Source:**</a:t>
            </a:r>
          </a:p>
          <a:p xmlns:a="http://schemas.openxmlformats.org/drawingml/2006/main">
            <a:r>
              <a:t>DEMO-04A  ·  conceptual cause-to-change path</a:t>
            </a:r>
          </a:p>
          <a:p xmlns:a="http://schemas.openxmlformats.org/drawingml/2006/main">
            <a:r>
              <a:t/>
            </a:r>
          </a:p>
          <a:p xmlns:a="http://schemas.openxmlformats.org/drawingml/2006/main">
            <a:r>
              <a:t>**Claim Boundary:**</a:t>
            </a:r>
          </a:p>
          <a:p xmlns:a="http://schemas.openxmlformats.org/drawingml/2006/main">
            <a:r>
              <a:t>가상 사례의 조건부 대응이다. 실제 Product 변경이나 Trial 결과가 아니며, “최소”는 무조건 적게 바꾸라는 뜻이 아니다.</a:t>
            </a:r>
          </a:p>
          <a:p xmlns:a="http://schemas.openxmlformats.org/drawingml/2006/main">
            <a:r>
              <a:t/>
            </a:r>
          </a:p>
          <a:p xmlns:a="http://schemas.openxmlformats.org/drawingml/2006/main">
            <a:r>
              <a:t>**Beginner Explanation:**</a:t>
            </a:r>
          </a:p>
          <a:p xmlns:a="http://schemas.openxmlformats.org/drawingml/2006/main">
            <a:r>
              <a:t>새 규칙을 더하기 전에 실제 원인이 있는 곳을 고친다.</a:t>
            </a:r>
          </a:p>
          <a:p xmlns:a="http://schemas.openxmlformats.org/drawingml/2006/main">
            <a:r>
              <a:t/>
            </a:r>
          </a:p>
          <a:p xmlns:a="http://schemas.openxmlformats.org/drawingml/2006/main">
            <a:r>
              <a:t>**Advanced Insight:**</a:t>
            </a:r>
          </a:p>
          <a:p xmlns:a="http://schemas.openxmlformats.org/drawingml/2006/main">
            <a:r>
              <a:t>Cause가 지지하는 가장 작은 durable change를 정한다.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화면의 두 지침은 가상 Before/After 설계다. 실제 변경 diff나 실행 결과가 아니다. 원인 확인 조건을 계속 유지한다.</a:t>
            </a:r>
          </a:p>
          <a:p xmlns:a="http://schemas.openxmlformats.org/drawingml/2006/main">
            <a:r>
              <a:t/>
            </a:r>
          </a:p>
          <a:p xmlns:a="http://schemas.openxmlformats.org/drawingml/2006/main">
            <a:r>
              <a:t>**Audience Interaction:**</a:t>
            </a:r>
          </a:p>
          <a:p xmlns:a="http://schemas.openxmlformats.org/drawingml/2006/main">
            <a:r>
              <a:t>조건이 바뀌면 수정 대상도 바뀔 수 있음을 잠시 생각하게 한다.</a:t>
            </a:r>
          </a:p>
          <a:p xmlns:a="http://schemas.openxmlformats.org/drawingml/2006/main">
            <a:r>
              <a:t/>
            </a:r>
          </a:p>
          <a:p xmlns:a="http://schemas.openxmlformats.org/drawingml/2006/main">
            <a:r>
              <a:t>**Transition:**</a:t>
            </a:r>
          </a:p>
          <a:p xmlns:a="http://schemas.openxmlformats.org/drawingml/2006/main">
            <a:r>
              <a:t>변경 뒤 같은 Task를 다시 통과하면 Harness는 충분히 검증된 걸까?</a:t>
            </a:r>
          </a:p>
          <a:p xmlns:a="http://schemas.openxmlformats.org/drawingml/2006/main">
            <a:r>
              <a:t/>
            </a:r>
          </a:p>
          <a:p xmlns:a="http://schemas.openxmlformats.org/drawingml/2006/main">
            <a:r>
              <a:t>**Time Management:**</a:t>
            </a:r>
          </a:p>
          <a:p xmlns:a="http://schemas.openxmlformats.org/drawingml/2006/main">
            <a:r>
              <a:t>Lecture 1분은 원칙, Case 1분은 가상 workflow 변화에 쓴다.</a:t>
            </a:r>
          </a:p>
          <a:p xmlns:a="http://schemas.openxmlformats.org/drawingml/2006/main">
            <a:r>
              <a:t/>
            </a:r>
          </a:p>
          <a:p xmlns:a="http://schemas.openxmlformats.org/drawingml/2006/main">
            <a:r>
              <a:t>**Fallback:**</a:t>
            </a:r>
          </a:p>
          <a:p xmlns:a="http://schemas.openxmlformats.org/drawingml/2006/main">
            <a:r>
              <a:t>LOCAL STATIC ARTIFACT — production/ACT_4.pptx의 S62와 production/preview/act4/S62.png를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같은 Task의 재실행만으로 충분할까?</a:t>
            </a:r>
          </a:p>
          <a:p xmlns:a="http://schemas.openxmlformats.org/drawingml/2006/main">
            <a:r>
              <a:t/>
            </a:r>
          </a:p>
          <a:p xmlns:a="http://schemas.openxmlformats.org/drawingml/2006/main">
            <a:r>
              <a:t>**Slide ID:**</a:t>
            </a:r>
          </a:p>
          <a:p xmlns:a="http://schemas.openxmlformats.org/drawingml/2006/main">
            <a:r>
              <a:t>S63</a:t>
            </a:r>
          </a:p>
          <a:p xmlns:a="http://schemas.openxmlformats.org/drawingml/2006/main">
            <a:r>
              <a:t/>
            </a:r>
          </a:p>
          <a:p xmlns:a="http://schemas.openxmlformats.org/drawingml/2006/main">
            <a:r>
              <a:t>**Working Title:**</a:t>
            </a:r>
          </a:p>
          <a:p xmlns:a="http://schemas.openxmlformats.org/drawingml/2006/main">
            <a:r>
              <a:t>같은 Task의 재실행만으로 충분할까?</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1분 + Case 3분</a:t>
            </a:r>
          </a:p>
          <a:p xmlns:a="http://schemas.openxmlformats.org/drawingml/2006/main">
            <a:r>
              <a:t/>
            </a:r>
          </a:p>
          <a:p xmlns:a="http://schemas.openxmlformats.org/drawingml/2006/main">
            <a:r>
              <a:t>**Primary Message:**</a:t>
            </a:r>
          </a:p>
          <a:p xmlns:a="http://schemas.openxmlformats.org/drawingml/2006/main">
            <a:r>
              <a:t>같은 Task의 재실행은 필요하지만 그것만으로 변경이 인접 작업에 영향을 주지 않는지는 알 수 없다.</a:t>
            </a:r>
          </a:p>
          <a:p xmlns:a="http://schemas.openxmlformats.org/drawingml/2006/main">
            <a:r>
              <a:t/>
            </a:r>
          </a:p>
          <a:p xmlns:a="http://schemas.openxmlformats.org/drawingml/2006/main">
            <a:r>
              <a:t>**Opening Question:**</a:t>
            </a:r>
          </a:p>
          <a:p xmlns:a="http://schemas.openxmlformats.org/drawingml/2006/main">
            <a:r>
              <a:t>“Failure가 사라졌으면 Harness fix가 끝난 걸까?”</a:t>
            </a:r>
          </a:p>
          <a:p xmlns:a="http://schemas.openxmlformats.org/drawingml/2006/main">
            <a:r>
              <a:t/>
            </a:r>
          </a:p>
          <a:p xmlns:a="http://schemas.openxmlformats.org/drawingml/2006/main">
            <a:r>
              <a:t>**Speaker Flow:**</a:t>
            </a:r>
          </a:p>
          <a:p xmlns:a="http://schemas.openxmlformats.org/drawingml/2006/main">
            <a:r>
              <a:t>1. (0:00–1:00 / Lecture) 왼쪽은 이번 작업의 요청 범위를 다시 다루는지 묻는 검증이라고 설명한다.</a:t>
            </a:r>
          </a:p>
          <a:p xmlns:a="http://schemas.openxmlformats.org/drawingml/2006/main">
            <a:r>
              <a:t>2. (1:00–2:30 / Case) 오른쪽은 바뀐 지침이 다른 유효한 작업을 방해하는지 묻는 질문임을 비교한다.</a:t>
            </a:r>
          </a:p>
          <a:p xmlns:a="http://schemas.openxmlformats.org/drawingml/2006/main">
            <a:r>
              <a:t>3. (2:30–4:00 / Case) 두 질문의 범위가 다르므로 대표 작업을 고르는 평가 설계가 필요하다고 연결한다. 어느 결과도 통과했다고 말하지 않는다.</a:t>
            </a:r>
          </a:p>
          <a:p xmlns:a="http://schemas.openxmlformats.org/drawingml/2006/main">
            <a:r>
              <a:t/>
            </a:r>
          </a:p>
          <a:p xmlns:a="http://schemas.openxmlformats.org/drawingml/2006/main">
            <a:r>
              <a:t>**Evidence / Source:**</a:t>
            </a:r>
          </a:p>
          <a:p xmlns:a="http://schemas.openxmlformats.org/drawingml/2006/main">
            <a:r>
              <a:t>DEMO-04A  ·  designed rerun and system evaluation path</a:t>
            </a:r>
          </a:p>
          <a:p xmlns:a="http://schemas.openxmlformats.org/drawingml/2006/main">
            <a:r>
              <a:t/>
            </a:r>
          </a:p>
          <a:p xmlns:a="http://schemas.openxmlformats.org/drawingml/2006/main">
            <a:r>
              <a:t>**Claim Boundary:**</a:t>
            </a:r>
          </a:p>
          <a:p xmlns:a="http://schemas.openxmlformats.org/drawingml/2006/main">
            <a:r>
              <a:t>이 재실행과 확장 검증은 conceptual design이다. 실행 결과, pass count, regression success를 보여주지 않는다.</a:t>
            </a:r>
          </a:p>
          <a:p xmlns:a="http://schemas.openxmlformats.org/drawingml/2006/main">
            <a:r>
              <a:t/>
            </a:r>
          </a:p>
          <a:p xmlns:a="http://schemas.openxmlformats.org/drawingml/2006/main">
            <a:r>
              <a:t>**Beginner Explanation:**</a:t>
            </a:r>
          </a:p>
          <a:p xmlns:a="http://schemas.openxmlformats.org/drawingml/2006/main">
            <a:r>
              <a:t>이번 작업이 다시 되는지와 다른 작업도 안전한지는 별도 질문이다.</a:t>
            </a:r>
          </a:p>
          <a:p xmlns:a="http://schemas.openxmlformats.org/drawingml/2006/main">
            <a:r>
              <a:t/>
            </a:r>
          </a:p>
          <a:p xmlns:a="http://schemas.openxmlformats.org/drawingml/2006/main">
            <a:r>
              <a:t>**Advanced Insight:**</a:t>
            </a:r>
          </a:p>
          <a:p xmlns:a="http://schemas.openxmlformats.org/drawingml/2006/main">
            <a:r>
              <a:t>Task recovery는 필요 조건일 수 있어도 Harness-level validation을 대신하지 않는다.</a:t>
            </a:r>
          </a:p>
          <a:p xmlns:a="http://schemas.openxmlformats.org/drawingml/2006/main">
            <a:r>
              <a:t/>
            </a:r>
          </a:p>
          <a:p xmlns:a="http://schemas.openxmlformats.org/drawingml/2006/main">
            <a:r>
              <a:t>**C++ Vision Bridge:**</a:t>
            </a:r>
          </a:p>
          <a:p xmlns:a="http://schemas.openxmlformats.org/drawingml/2006/main">
            <a:r>
              <a:t>같은 build/test 시나리오 재실행은 필요하지만 전체 회귀 위험을 모두 해소하지 않는다.</a:t>
            </a:r>
          </a:p>
          <a:p xmlns:a="http://schemas.openxmlformats.org/drawingml/2006/main">
            <a:r>
              <a:t/>
            </a:r>
          </a:p>
          <a:p xmlns:a="http://schemas.openxmlformats.org/drawingml/2006/main">
            <a:r>
              <a:t>**Demo Operation:**</a:t>
            </a:r>
          </a:p>
          <a:p xmlns:a="http://schemas.openxmlformats.org/drawingml/2006/main">
            <a:r>
              <a:t>이번 작업과 다른 작업의 검증 질문 두 영역을 비교한다. 실제 재실행이나 회귀 성공 결과는 없다.</a:t>
            </a:r>
          </a:p>
          <a:p xmlns:a="http://schemas.openxmlformats.org/drawingml/2006/main">
            <a:r>
              <a:t/>
            </a:r>
          </a:p>
          <a:p xmlns:a="http://schemas.openxmlformats.org/drawingml/2006/main">
            <a:r>
              <a:t>**Audience Interaction:**</a:t>
            </a:r>
          </a:p>
          <a:p xmlns:a="http://schemas.openxmlformats.org/drawingml/2006/main">
            <a:r>
              <a:t>두 확인 질문의 범위가 다른 점을 비교한다.</a:t>
            </a:r>
          </a:p>
          <a:p xmlns:a="http://schemas.openxmlformats.org/drawingml/2006/main">
            <a:r>
              <a:t/>
            </a:r>
          </a:p>
          <a:p xmlns:a="http://schemas.openxmlformats.org/drawingml/2006/main">
            <a:r>
              <a:t>**Transition:**</a:t>
            </a:r>
          </a:p>
          <a:p xmlns:a="http://schemas.openxmlformats.org/drawingml/2006/main">
            <a:r>
              <a:t>변경이 닿는 다른 작업 표면은 어떤 대표 Task로 볼까?</a:t>
            </a:r>
          </a:p>
          <a:p xmlns:a="http://schemas.openxmlformats.org/drawingml/2006/main">
            <a:r>
              <a:t/>
            </a:r>
          </a:p>
          <a:p xmlns:a="http://schemas.openxmlformats.org/drawingml/2006/main">
            <a:r>
              <a:t>**Time Management:**</a:t>
            </a:r>
          </a:p>
          <a:p xmlns:a="http://schemas.openxmlformats.org/drawingml/2006/main">
            <a:r>
              <a:t>Lecture 1분 + Case 3분. 구체적인 pass/fail을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S63와 production/preview/act4/S63.png를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대표 작업으로 변경 범위를 확인하기</a:t>
            </a:r>
          </a:p>
          <a:p xmlns:a="http://schemas.openxmlformats.org/drawingml/2006/main">
            <a:r>
              <a:t/>
            </a:r>
          </a:p>
          <a:p xmlns:a="http://schemas.openxmlformats.org/drawingml/2006/main">
            <a:r>
              <a:t>**Slide ID:**</a:t>
            </a:r>
          </a:p>
          <a:p xmlns:a="http://schemas.openxmlformats.org/drawingml/2006/main">
            <a:r>
              <a:t>S64</a:t>
            </a:r>
          </a:p>
          <a:p xmlns:a="http://schemas.openxmlformats.org/drawingml/2006/main">
            <a:r>
              <a:t/>
            </a:r>
          </a:p>
          <a:p xmlns:a="http://schemas.openxmlformats.org/drawingml/2006/main">
            <a:r>
              <a:t>**Working Title:**</a:t>
            </a:r>
          </a:p>
          <a:p xmlns:a="http://schemas.openxmlformats.org/drawingml/2006/main">
            <a:r>
              <a:t>대표 작업으로 변경 범위를 확인하기</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Demo 5분 (VISUAL / CAPTURED conceptual matrix)</a:t>
            </a:r>
          </a:p>
          <a:p xmlns:a="http://schemas.openxmlformats.org/drawingml/2006/main">
            <a:r>
              <a:t/>
            </a:r>
          </a:p>
          <a:p xmlns:a="http://schemas.openxmlformats.org/drawingml/2006/main">
            <a:r>
              <a:t>**Primary Message:**</a:t>
            </a:r>
          </a:p>
          <a:p xmlns:a="http://schemas.openxmlformats.org/drawingml/2006/main">
            <a:r>
              <a:t>평가 작업의 수보다 서로 다른 사용 표면과 회귀 위험을 대표하는지가 중요하다. EVAL-01/02의 별도 과거 관찰 참고와 EVAL-03/04의 설계 사례를 구분하며, 이 Workflow 변경 뒤의 실행 결과는 없다.</a:t>
            </a:r>
          </a:p>
          <a:p xmlns:a="http://schemas.openxmlformats.org/drawingml/2006/main">
            <a:r>
              <a:t/>
            </a:r>
          </a:p>
          <a:p xmlns:a="http://schemas.openxmlformats.org/drawingml/2006/main">
            <a:r>
              <a:t>**Opening Question:**</a:t>
            </a:r>
          </a:p>
          <a:p xmlns:a="http://schemas.openxmlformats.org/drawingml/2006/main">
            <a:r>
              <a:t>“무엇을 대표 Task로 고를까?”</a:t>
            </a:r>
          </a:p>
          <a:p xmlns:a="http://schemas.openxmlformats.org/drawingml/2006/main">
            <a:r>
              <a:t/>
            </a:r>
          </a:p>
          <a:p xmlns:a="http://schemas.openxmlformats.org/drawingml/2006/main">
            <a:r>
              <a:t>**Speaker Flow:**</a:t>
            </a:r>
          </a:p>
          <a:p xmlns:a="http://schemas.openxmlformats.org/drawingml/2006/main">
            <a:r>
              <a:t>1. (0:00–1:00 / VISUAL Demo) “작업 수보다 서로 다른 위험을 덮는가?”라는 기준을 연다.</a:t>
            </a:r>
          </a:p>
          <a:p xmlns:a="http://schemas.openxmlformats.org/drawingml/2006/main">
            <a:r>
              <a:t>2. (1:00–2:00 / VISUAL Demo) 버그 수정은 동작 계약, 성능 변경은 측정과 검증 범위를 확인하기 위한 선택임을 짚는다. 우측 실선의 TRIAL-002와 STATE-04-PERF는 별도 과거 관찰 참고다.</a:t>
            </a:r>
          </a:p>
          <a:p xmlns:a="http://schemas.openxmlformats.org/drawingml/2006/main">
            <a:r>
              <a:t>3. (2:00–4:00 / VISUAL Demo) 문서만 수정하는 작업에는 불필요한 절차가 강요되지 않는지, 작은 리팩터링에는 유효한 다른 작업이 방해받지 않는지 묻는다. 두 행은 점선의 설계 사례이며 결과가 없다.</a:t>
            </a:r>
          </a:p>
          <a:p xmlns:a="http://schemas.openxmlformats.org/drawingml/2006/main">
            <a:r>
              <a:t>4. (4:00–5:00 / VISUAL Demo) 네 작업 모두 이번 가상 Workflow 변경 후 수행된 평가가 아님을 말하고 대표성을 기준으로 회수한다.</a:t>
            </a:r>
          </a:p>
          <a:p xmlns:a="http://schemas.openxmlformats.org/drawingml/2006/main">
            <a:r>
              <a:t/>
            </a:r>
          </a:p>
          <a:p xmlns:a="http://schemas.openxmlformats.org/drawingml/2006/main">
            <a:r>
              <a:t>**Evidence / Source:**</a:t>
            </a:r>
          </a:p>
          <a:p xmlns:a="http://schemas.openxmlformats.org/drawingml/2006/main">
            <a:r>
              <a:t>DEMO-10  ·  EVAL-01/02 prior Product references; EVAL-03/04 designed</a:t>
            </a:r>
          </a:p>
          <a:p xmlns:a="http://schemas.openxmlformats.org/drawingml/2006/main">
            <a:r>
              <a:t/>
            </a:r>
          </a:p>
          <a:p xmlns:a="http://schemas.openxmlformats.org/drawingml/2006/main">
            <a:r>
              <a:t>**Claim Boundary:**</a:t>
            </a:r>
          </a:p>
          <a:p xmlns:a="http://schemas.openxmlformats.org/drawingml/2006/main">
            <a:r>
              <a:t>EVAL-01/02는 별도 Product task chain의 기존 참고 Evidence다. EVAL-03/04는 설계 사례이며 결과가 없다. 이번 stale-Workflow 변경 뒤의 PASS/FAIL 또는 새 Trial은 없다.</a:t>
            </a:r>
          </a:p>
          <a:p xmlns:a="http://schemas.openxmlformats.org/drawingml/2006/main">
            <a:r>
              <a:t/>
            </a:r>
          </a:p>
          <a:p xmlns:a="http://schemas.openxmlformats.org/drawingml/2006/main">
            <a:r>
              <a:t>**Beginner Explanation:**</a:t>
            </a:r>
          </a:p>
          <a:p xmlns:a="http://schemas.openxmlformats.org/drawingml/2006/main">
            <a:r>
              <a:t>대표 작업은 다른 사용 방식을 확인하도록 골라야 한다.</a:t>
            </a:r>
          </a:p>
          <a:p xmlns:a="http://schemas.openxmlformats.org/drawingml/2006/main">
            <a:r>
              <a:t/>
            </a:r>
          </a:p>
          <a:p xmlns:a="http://schemas.openxmlformats.org/drawingml/2006/main">
            <a:r>
              <a:t>**Advanced Insight:**</a:t>
            </a:r>
          </a:p>
          <a:p xmlns:a="http://schemas.openxmlformats.org/drawingml/2006/main">
            <a:r>
              <a:t>변경이 닿는 흔한 표면, 알려진 회귀 위험, 비교 대상이 없을 수 있는 task를 나눠 본다.</a:t>
            </a:r>
          </a:p>
          <a:p xmlns:a="http://schemas.openxmlformats.org/drawingml/2006/main">
            <a:r>
              <a:t/>
            </a:r>
          </a:p>
          <a:p xmlns:a="http://schemas.openxmlformats.org/drawingml/2006/main">
            <a:r>
              <a:t>**C++ Vision Bridge:**</a:t>
            </a:r>
          </a:p>
          <a:p xmlns:a="http://schemas.openxmlformats.org/drawingml/2006/main">
            <a:r>
              <a:t>Contextual only: 대표 작업 선택은 Vision build, benchmark, docs 같은 surface에 적용할 수 있지만 별도 C++ case는 만들지 않는다.</a:t>
            </a:r>
          </a:p>
          <a:p xmlns:a="http://schemas.openxmlformats.org/drawingml/2006/main">
            <a:r>
              <a:t/>
            </a:r>
          </a:p>
          <a:p xmlns:a="http://schemas.openxmlformats.org/drawingml/2006/main">
            <a:r>
              <a:t>**Demo Operation:**</a:t>
            </a:r>
          </a:p>
          <a:p xmlns:a="http://schemas.openxmlformats.org/drawingml/2006/main">
            <a:r>
              <a:t>중앙은 네 평가 작업의 선정 이유, 우측은 분리된 참고 근거/설계 상태다. EVAL-01/02의 과거 관찰 참고와 EVAL-03/04의 설계를 선과 색으로 구분한다. 새 실행·PASS/FAIL 결과는 표시하지 않는다.</a:t>
            </a:r>
          </a:p>
          <a:p xmlns:a="http://schemas.openxmlformats.org/drawingml/2006/main">
            <a:r>
              <a:t/>
            </a:r>
          </a:p>
          <a:p xmlns:a="http://schemas.openxmlformats.org/drawingml/2006/main">
            <a:r>
              <a:t>**Audience Interaction:**</a:t>
            </a:r>
          </a:p>
          <a:p xmlns:a="http://schemas.openxmlformats.org/drawingml/2006/main">
            <a:r>
              <a:t>작업 이름보다 가운데 확인 질문을 읽도록 유도한다. 평가 작업을 많이 모으는 대신 어떤 위험을 보려는지 생각하게 한다.</a:t>
            </a:r>
          </a:p>
          <a:p xmlns:a="http://schemas.openxmlformats.org/drawingml/2006/main">
            <a:r>
              <a:t/>
            </a:r>
          </a:p>
          <a:p xmlns:a="http://schemas.openxmlformats.org/drawingml/2006/main">
            <a:r>
              <a:t>**Transition:**</a:t>
            </a:r>
          </a:p>
          <a:p xmlns:a="http://schemas.openxmlformats.org/drawingml/2006/main">
            <a:r>
              <a:t>실패마다 규칙을 하나씩 더하면 평가 범위가 커지기만 할까?</a:t>
            </a:r>
          </a:p>
          <a:p xmlns:a="http://schemas.openxmlformats.org/drawingml/2006/main">
            <a:r>
              <a:t/>
            </a:r>
          </a:p>
          <a:p xmlns:a="http://schemas.openxmlformats.org/drawingml/2006/main">
            <a:r>
              <a:t>**Time Management:**</a:t>
            </a:r>
          </a:p>
          <a:p xmlns:a="http://schemas.openxmlformats.org/drawingml/2006/main">
            <a:r>
              <a:t>Demo 5분은 static matrix 설명에 사용한다. 네 EVAL을 실제로 실행하지 않는다.</a:t>
            </a:r>
          </a:p>
          <a:p xmlns:a="http://schemas.openxmlformats.org/drawingml/2006/main">
            <a:r>
              <a:t/>
            </a:r>
          </a:p>
          <a:p xmlns:a="http://schemas.openxmlformats.org/drawingml/2006/main">
            <a:r>
              <a:t>**Fallback:**</a:t>
            </a:r>
          </a:p>
          <a:p xmlns:a="http://schemas.openxmlformats.org/drawingml/2006/main">
            <a:r>
              <a:t>LOCAL STATIC ARTIFACT — production/ACT_4.pptx의 S64와 production/preview/act4/S64.png를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Harness도 특정 실패에 맞춰 과적합될 수 있다</a:t>
            </a:r>
          </a:p>
          <a:p xmlns:a="http://schemas.openxmlformats.org/drawingml/2006/main">
            <a:r>
              <a:t/>
            </a:r>
          </a:p>
          <a:p xmlns:a="http://schemas.openxmlformats.org/drawingml/2006/main">
            <a:r>
              <a:t>**Slide ID:**</a:t>
            </a:r>
          </a:p>
          <a:p xmlns:a="http://schemas.openxmlformats.org/drawingml/2006/main">
            <a:r>
              <a:t>S65</a:t>
            </a:r>
          </a:p>
          <a:p xmlns:a="http://schemas.openxmlformats.org/drawingml/2006/main">
            <a:r>
              <a:t/>
            </a:r>
          </a:p>
          <a:p xmlns:a="http://schemas.openxmlformats.org/drawingml/2006/main">
            <a:r>
              <a:t>**Working Title:**</a:t>
            </a:r>
          </a:p>
          <a:p xmlns:a="http://schemas.openxmlformats.org/drawingml/2006/main">
            <a:r>
              <a:t>Harness도 특정 실패에 맞춰 과적합될 수 있다</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실패마다 전역 규칙을 덧붙이면 Harness가 비대해지거나 충돌하고 특정 Task에만 좁게 맞춰질 수 있다. 원인을 확인하고 대표 작업을 평가하며 불필요한 규칙은 정리한다.</a:t>
            </a:r>
          </a:p>
          <a:p xmlns:a="http://schemas.openxmlformats.org/drawingml/2006/main">
            <a:r>
              <a:t/>
            </a:r>
          </a:p>
          <a:p xmlns:a="http://schemas.openxmlformats.org/drawingml/2006/main">
            <a:r>
              <a:t>**Opening Question:**</a:t>
            </a:r>
          </a:p>
          <a:p xmlns:a="http://schemas.openxmlformats.org/drawingml/2006/main">
            <a:r>
              <a:t>“한 번 실패했다고 규칙을 계속 추가하면 어떻게 될까?”</a:t>
            </a:r>
          </a:p>
          <a:p xmlns:a="http://schemas.openxmlformats.org/drawingml/2006/main">
            <a:r>
              <a:t/>
            </a:r>
          </a:p>
          <a:p xmlns:a="http://schemas.openxmlformats.org/drawingml/2006/main">
            <a:r>
              <a:t>**Speaker Flow:**</a:t>
            </a:r>
          </a:p>
          <a:p xmlns:a="http://schemas.openxmlformats.org/drawingml/2006/main">
            <a:r>
              <a:t>1. (0:00–1:00 / Lecture) 실패마다 규칙을 더하는 상황을 가정한다.</a:t>
            </a:r>
          </a:p>
          <a:p xmlns:a="http://schemas.openxmlformats.org/drawingml/2006/main">
            <a:r>
              <a:t>2. (1:00–2:30 / Lecture) 규칙 누적, 충돌, 특정 작업에만 맞춤 세 비용을 짚는다. 통계적 ML 과적합과 동일한 현상이라고 말하지 않는다.</a:t>
            </a:r>
          </a:p>
          <a:p xmlns:a="http://schemas.openxmlformats.org/drawingml/2006/main">
            <a:r>
              <a:t>3. (2:30–4:00 / Lecture) 원인 확인, 대표 작업 평가, 불필요한 규칙 정리라는 하단 판단 기준으로 돌아온다.</a:t>
            </a:r>
          </a:p>
          <a:p xmlns:a="http://schemas.openxmlformats.org/drawingml/2006/main">
            <a:r>
              <a:t/>
            </a:r>
          </a:p>
          <a:p xmlns:a="http://schemas.openxmlformats.org/drawingml/2006/main">
            <a:r>
              <a:t>**Evidence / Source:**</a:t>
            </a:r>
          </a:p>
          <a:p xmlns:a="http://schemas.openxmlformats.org/drawingml/2006/main">
            <a:r>
              <a:t>DEMO-04A  ·  conceptual regression / maintenance model</a:t>
            </a:r>
          </a:p>
          <a:p xmlns:a="http://schemas.openxmlformats.org/drawingml/2006/main">
            <a:r>
              <a:t/>
            </a:r>
          </a:p>
          <a:p xmlns:a="http://schemas.openxmlformats.org/drawingml/2006/main">
            <a:r>
              <a:t>**Claim Boundary:**</a:t>
            </a:r>
          </a:p>
          <a:p xmlns:a="http://schemas.openxmlformats.org/drawingml/2006/main">
            <a:r>
              <a:t>“Overfit”은 교육용 비유다. ML 통계적 overfitting과 같은 현상이라고 주장하지 않는다.</a:t>
            </a:r>
          </a:p>
          <a:p xmlns:a="http://schemas.openxmlformats.org/drawingml/2006/main">
            <a:r>
              <a:t/>
            </a:r>
          </a:p>
          <a:p xmlns:a="http://schemas.openxmlformats.org/drawingml/2006/main">
            <a:r>
              <a:t>**Beginner Explanation:**</a:t>
            </a:r>
          </a:p>
          <a:p xmlns:a="http://schemas.openxmlformats.org/drawingml/2006/main">
            <a:r>
              <a:t>규칙 수를 늘리기보다 반복 원인을 살핀다.</a:t>
            </a:r>
          </a:p>
          <a:p xmlns:a="http://schemas.openxmlformats.org/drawingml/2006/main">
            <a:r>
              <a:t/>
            </a:r>
          </a:p>
          <a:p xmlns:a="http://schemas.openxmlformats.org/drawingml/2006/main">
            <a:r>
              <a:t>**Advanced Insight:**</a:t>
            </a:r>
          </a:p>
          <a:p xmlns:a="http://schemas.openxmlformats.org/drawingml/2006/main">
            <a:r>
              <a:t>대표 task에서의 효과와 유지 비용을 같이 평가하고 obsolete rule을 제거한다.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없음. 반복 실패→규칙 누적 도식은 teaching model이며 실제 history가 아니다.</a:t>
            </a:r>
          </a:p>
          <a:p xmlns:a="http://schemas.openxmlformats.org/drawingml/2006/main">
            <a:r>
              <a:t/>
            </a:r>
          </a:p>
          <a:p xmlns:a="http://schemas.openxmlformats.org/drawingml/2006/main">
            <a:r>
              <a:t>**Audience Interaction:**</a:t>
            </a:r>
          </a:p>
          <a:p xmlns:a="http://schemas.openxmlformats.org/drawingml/2006/main">
            <a:r>
              <a:t>누적 규칙이 낳을 수 있는 bloat, conflict, narrow fit을 같이 본다.</a:t>
            </a:r>
          </a:p>
          <a:p xmlns:a="http://schemas.openxmlformats.org/drawingml/2006/main">
            <a:r>
              <a:t/>
            </a:r>
          </a:p>
          <a:p xmlns:a="http://schemas.openxmlformats.org/drawingml/2006/main">
            <a:r>
              <a:t>**Transition:**</a:t>
            </a:r>
          </a:p>
          <a:p xmlns:a="http://schemas.openxmlformats.org/drawingml/2006/main">
            <a:r>
              <a:t>관찰·원인·변경·평가가 연결될 때 이를 어떤 Engineering 관점으로 볼까?</a:t>
            </a:r>
          </a:p>
          <a:p xmlns:a="http://schemas.openxmlformats.org/drawingml/2006/main">
            <a:r>
              <a:t/>
            </a:r>
          </a:p>
          <a:p xmlns:a="http://schemas.openxmlformats.org/drawingml/2006/main">
            <a:r>
              <a:t>**Time Management:**</a:t>
            </a:r>
          </a:p>
          <a:p xmlns:a="http://schemas.openxmlformats.org/drawingml/2006/main">
            <a:r>
              <a:t>Lecture 4분. 통계적 ML overfitting과 동일시하거나 보편 법칙으로 말하지 않는다.</a:t>
            </a:r>
          </a:p>
          <a:p xmlns:a="http://schemas.openxmlformats.org/drawingml/2006/main">
            <a:r>
              <a:t/>
            </a:r>
          </a:p>
          <a:p xmlns:a="http://schemas.openxmlformats.org/drawingml/2006/main">
            <a:r>
              <a:t>**Fallback:**</a:t>
            </a:r>
          </a:p>
          <a:p xmlns:a="http://schemas.openxmlformats.org/drawingml/2006/main">
            <a:r>
              <a:t>LOCAL STATIC ARTIFACT — production/ACT_4.pptx의 S65와 production/preview/act4/S65.png를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Feedback을 System Change와 Evaluation으로 잇기</a:t>
            </a:r>
          </a:p>
          <a:p xmlns:a="http://schemas.openxmlformats.org/drawingml/2006/main">
            <a:r>
              <a:t/>
            </a:r>
          </a:p>
          <a:p xmlns:a="http://schemas.openxmlformats.org/drawingml/2006/main">
            <a:r>
              <a:t>**Slide ID:**</a:t>
            </a:r>
          </a:p>
          <a:p xmlns:a="http://schemas.openxmlformats.org/drawingml/2006/main">
            <a:r>
              <a:t>S66</a:t>
            </a:r>
          </a:p>
          <a:p xmlns:a="http://schemas.openxmlformats.org/drawingml/2006/main">
            <a:r>
              <a:t/>
            </a:r>
          </a:p>
          <a:p xmlns:a="http://schemas.openxmlformats.org/drawingml/2006/main">
            <a:r>
              <a:t>**Working Title:**</a:t>
            </a:r>
          </a:p>
          <a:p xmlns:a="http://schemas.openxmlformats.org/drawingml/2006/main">
            <a:r>
              <a:t>Feedback을 System Change와 Evaluation으로 잇기</a:t>
            </a:r>
          </a:p>
          <a:p xmlns:a="http://schemas.openxmlformats.org/drawingml/2006/main">
            <a:r>
              <a:t/>
            </a:r>
          </a:p>
          <a:p xmlns:a="http://schemas.openxmlformats.org/drawingml/2006/main">
            <a:r>
              <a:t>**ACT / Section:**</a:t>
            </a:r>
          </a:p>
          <a:p xmlns:a="http://schemas.openxmlformats.org/drawingml/2006/main">
            <a:r>
              <a:t>ACT 4 / 4E  LOOP MENTAL MODEL</a:t>
            </a:r>
          </a:p>
          <a:p xmlns:a="http://schemas.openxmlformats.org/drawingml/2006/main">
            <a:r>
              <a:t/>
            </a:r>
          </a:p>
          <a:p xmlns:a="http://schemas.openxmlformats.org/drawingml/2006/main">
            <a:r>
              <a:t>**Allocated Time:**</a:t>
            </a:r>
          </a:p>
          <a:p xmlns:a="http://schemas.openxmlformats.org/drawingml/2006/main">
            <a:r>
              <a:t>11 minutes</a:t>
            </a:r>
          </a:p>
          <a:p xmlns:a="http://schemas.openxmlformats.org/drawingml/2006/main">
            <a:r>
              <a:t/>
            </a:r>
          </a:p>
          <a:p xmlns:a="http://schemas.openxmlformats.org/drawingml/2006/main">
            <a:r>
              <a:t>**Mode Split:**</a:t>
            </a:r>
          </a:p>
          <a:p xmlns:a="http://schemas.openxmlformats.org/drawingml/2006/main">
            <a:r>
              <a:t>Lecture 9분 + Demo 2분 (VISUAL)</a:t>
            </a:r>
          </a:p>
          <a:p xmlns:a="http://schemas.openxmlformats.org/drawingml/2006/main">
            <a:r>
              <a:t/>
            </a:r>
          </a:p>
          <a:p xmlns:a="http://schemas.openxmlformats.org/drawingml/2006/main">
            <a:r>
              <a:t>**Primary Message:**</a:t>
            </a:r>
          </a:p>
          <a:p xmlns:a="http://schemas.openxmlformats.org/drawingml/2006/main">
            <a:r>
              <a:t>실행 결과와 반복되는 마찰을 관찰하고 원인과 재발 가능성을 판단한 뒤 적절한 System을 바꾸고 결과를 다시 평가할 때 Feedback은 System Improvement로 이어진다.</a:t>
            </a:r>
          </a:p>
          <a:p xmlns:a="http://schemas.openxmlformats.org/drawingml/2006/main">
            <a:r>
              <a:t/>
            </a:r>
          </a:p>
          <a:p xmlns:a="http://schemas.openxmlformats.org/drawingml/2006/main">
            <a:r>
              <a:t>**Opening Question:**</a:t>
            </a:r>
          </a:p>
          <a:p xmlns:a="http://schemas.openxmlformats.org/drawingml/2006/main">
            <a:r>
              <a:t>“Feedback이 언제 Engineering이 되는가?”</a:t>
            </a:r>
          </a:p>
          <a:p xmlns:a="http://schemas.openxmlformats.org/drawingml/2006/main">
            <a:r>
              <a:t/>
            </a:r>
          </a:p>
          <a:p xmlns:a="http://schemas.openxmlformats.org/drawingml/2006/main">
            <a:r>
              <a:t>**Speaker Flow:**</a:t>
            </a:r>
          </a:p>
          <a:p xmlns:a="http://schemas.openxmlformats.org/drawingml/2006/main">
            <a:r>
              <a:t>1. (0:00–2:00 / Lecture) 실행과 관찰의 질문을 구분한다. 앞의 가상 사례에서 지시 범위 비교가 실행 결과와 다름을 짚는다.</a:t>
            </a:r>
          </a:p>
          <a:p xmlns:a="http://schemas.openxmlformats.org/drawingml/2006/main">
            <a:r>
              <a:t>2. (2:00–5:00 / Lecture) 원인 판단에는 실행 경로·선택한 지침 등 추가 확인이 필요함을 S61의 논리로 회수한다.</a:t>
            </a:r>
          </a:p>
          <a:p xmlns:a="http://schemas.openxmlformats.org/drawingml/2006/main">
            <a:r>
              <a:t>3. (5:00–7:00 / Lecture) 시스템 변경은 원인 Layer를 바꾸는 일이며, Prompt 보정과 재사용 Workflow 갱신의 범위가 다름을 회수한다.</a:t>
            </a:r>
          </a:p>
          <a:p xmlns:a="http://schemas.openxmlformats.org/drawingml/2006/main">
            <a:r>
              <a:t>4. (7:00–9:00 / Lecture) 같은 작업과 다른 대표 작업의 재평가가 답하는 질문을 비교한다. 새 결과는 제시하지 않는다.</a:t>
            </a:r>
          </a:p>
          <a:p xmlns:a="http://schemas.openxmlformats.org/drawingml/2006/main">
            <a:r>
              <a:t>5. (9:00–11:00 / VISUAL Demo) 정적 도식의 실행→관찰→원인 판단→시스템 변경→재평가를 순서대로 가리킨다. 자동 학습을 뜻하지 않는 교육용 운영 모델임을 닫고 실제 Meta 기록으로 전환한다.</a:t>
            </a:r>
          </a:p>
          <a:p xmlns:a="http://schemas.openxmlformats.org/drawingml/2006/main">
            <a:r>
              <a:t/>
            </a:r>
          </a:p>
          <a:p xmlns:a="http://schemas.openxmlformats.org/drawingml/2006/main">
            <a:r>
              <a:t>**Evidence / Source:**</a:t>
            </a:r>
          </a:p>
          <a:p xmlns:a="http://schemas.openxmlformats.org/drawingml/2006/main">
            <a:r>
              <a:t>DEC-0023  ·  course operational model  ·  no product loop</a:t>
            </a:r>
          </a:p>
          <a:p xmlns:a="http://schemas.openxmlformats.org/drawingml/2006/main">
            <a:r>
              <a:t/>
            </a:r>
          </a:p>
          <a:p xmlns:a="http://schemas.openxmlformats.org/drawingml/2006/main">
            <a:r>
              <a:t>**Claim Boundary:**</a:t>
            </a:r>
          </a:p>
          <a:p xmlns:a="http://schemas.openxmlformats.org/drawingml/2006/main">
            <a:r>
              <a:t>이 교육의 operational model이다. 자동 학습, Agent self-learning, 무한 반복, observed Product loop를 뜻하지 않는다.</a:t>
            </a:r>
          </a:p>
          <a:p xmlns:a="http://schemas.openxmlformats.org/drawingml/2006/main">
            <a:r>
              <a:t/>
            </a:r>
          </a:p>
          <a:p xmlns:a="http://schemas.openxmlformats.org/drawingml/2006/main">
            <a:r>
              <a:t>**Beginner Explanation:**</a:t>
            </a:r>
          </a:p>
          <a:p xmlns:a="http://schemas.openxmlformats.org/drawingml/2006/main">
            <a:r>
              <a:t>같은 수정을 되풀이하는 대신 다음 작업에도 영향을 주는 System을 살핀다.</a:t>
            </a:r>
          </a:p>
          <a:p xmlns:a="http://schemas.openxmlformats.org/drawingml/2006/main">
            <a:r>
              <a:t/>
            </a:r>
          </a:p>
          <a:p xmlns:a="http://schemas.openxmlformats.org/drawingml/2006/main">
            <a:r>
              <a:t>**Advanced Insight:**</a:t>
            </a:r>
          </a:p>
          <a:p xmlns:a="http://schemas.openxmlformats.org/drawingml/2006/main">
            <a:r>
              <a:t>자동화와 별개로 cause, recurrence, change layer, evaluation을 설계한다.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정적 5단계 도식과 발표자 지목을 사용한다. R1–R5 내부 번호나 운영 시간은 청중 화면에 표시하지 않는다. 자동 애니메이션·실행·모델 학습 주장은 없다.</a:t>
            </a:r>
          </a:p>
          <a:p xmlns:a="http://schemas.openxmlformats.org/drawingml/2006/main">
            <a:r>
              <a:t/>
            </a:r>
          </a:p>
          <a:p xmlns:a="http://schemas.openxmlformats.org/drawingml/2006/main">
            <a:r>
              <a:t>**Audience Interaction:**</a:t>
            </a:r>
          </a:p>
          <a:p xmlns:a="http://schemas.openxmlformats.org/drawingml/2006/main">
            <a:r>
              <a:t>“Feedback은 어느 순간 System change가 되는가?”를 생각하게 하고, 응답 제출은 요구하지 않는다.</a:t>
            </a:r>
          </a:p>
          <a:p xmlns:a="http://schemas.openxmlformats.org/drawingml/2006/main">
            <a:r>
              <a:t/>
            </a:r>
          </a:p>
          <a:p xmlns:a="http://schemas.openxmlformats.org/drawingml/2006/main">
            <a:r>
              <a:t>**Transition:**</a:t>
            </a:r>
          </a:p>
          <a:p xmlns:a="http://schemas.openxmlformats.org/drawingml/2006/main">
            <a:r>
              <a:t>표기를 바꾸어 실제 교육 제작 기록에서의 별도 Loop를 살펴본다.</a:t>
            </a:r>
          </a:p>
          <a:p xmlns:a="http://schemas.openxmlformats.org/drawingml/2006/main">
            <a:r>
              <a:t/>
            </a:r>
          </a:p>
          <a:p xmlns:a="http://schemas.openxmlformats.org/drawingml/2006/main">
            <a:r>
              <a:t>**Time Management:**</a:t>
            </a:r>
          </a:p>
          <a:p xmlns:a="http://schemas.openxmlformats.org/drawingml/2006/main">
            <a:r>
              <a:t>Lecture 9분, 마지막 VISUAL Demo 2분. R1–R5는 approximate reveal cue이며 전체가 항상 표시되는 정적 도식으로 진행 가능.</a:t>
            </a:r>
          </a:p>
          <a:p xmlns:a="http://schemas.openxmlformats.org/drawingml/2006/main">
            <a:r>
              <a:t/>
            </a:r>
          </a:p>
          <a:p xmlns:a="http://schemas.openxmlformats.org/drawingml/2006/main">
            <a:r>
              <a:t>**Fallback:**</a:t>
            </a:r>
          </a:p>
          <a:p xmlns:a="http://schemas.openxmlformats.org/drawingml/2006/main">
            <a:r>
              <a:t>LOCAL STATIC ARTIFACT — production/ACT_4.pptx의 S66와 production/preview/act4/S66.png를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실제 제작 기록: TRIAL-006</a:t>
            </a:r>
          </a:p>
          <a:p xmlns:a="http://schemas.openxmlformats.org/drawingml/2006/main">
            <a:r>
              <a:t/>
            </a:r>
          </a:p>
          <a:p xmlns:a="http://schemas.openxmlformats.org/drawingml/2006/main">
            <a:r>
              <a:t>**Slide ID:**</a:t>
            </a:r>
          </a:p>
          <a:p xmlns:a="http://schemas.openxmlformats.org/drawingml/2006/main">
            <a:r>
              <a:t>S67</a:t>
            </a:r>
          </a:p>
          <a:p xmlns:a="http://schemas.openxmlformats.org/drawingml/2006/main">
            <a:r>
              <a:t/>
            </a:r>
          </a:p>
          <a:p xmlns:a="http://schemas.openxmlformats.org/drawingml/2006/main">
            <a:r>
              <a:t>**Working Title:**</a:t>
            </a:r>
          </a:p>
          <a:p xmlns:a="http://schemas.openxmlformats.org/drawingml/2006/main">
            <a:r>
              <a:t>실제 제작 기록: TRIAL-006</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TRIAL-006은 Codex CLI에서 수행한 실제 성능 조사다. Global Skills와 시작 경고가 함께 관찰되어 Prompt-only attribution은 PARTIAL이다.</a:t>
            </a:r>
          </a:p>
          <a:p xmlns:a="http://schemas.openxmlformats.org/drawingml/2006/main">
            <a:r>
              <a:t/>
            </a:r>
          </a:p>
          <a:p xmlns:a="http://schemas.openxmlformats.org/drawingml/2006/main">
            <a:r>
              <a:t>**Opening Question:**</a:t>
            </a:r>
          </a:p>
          <a:p xmlns:a="http://schemas.openxmlformats.org/drawingml/2006/main">
            <a:r>
              <a:t>“이번에는 실제 제작 과정에서 무슨 일이 있었나?”</a:t>
            </a:r>
          </a:p>
          <a:p xmlns:a="http://schemas.openxmlformats.org/drawingml/2006/main">
            <a:r>
              <a:t/>
            </a:r>
          </a:p>
          <a:p xmlns:a="http://schemas.openxmlformats.org/drawingml/2006/main">
            <a:r>
              <a:t>**Speaker Flow:**</a:t>
            </a:r>
          </a:p>
          <a:p xmlns:a="http://schemas.openxmlformats.org/drawingml/2006/main">
            <a:r>
              <a:t>1. (0:00–0:30 / CAPTURED Demo) OBSERVED META 표식과 이중선을 가리키며 앞의 가상 사례를 닫고 실제 교육 제작 기록으로 전환한다.</a:t>
            </a:r>
          </a:p>
          <a:p xmlns:a="http://schemas.openxmlformats.org/drawingml/2006/main">
            <a:r>
              <a:t>2. (0:30–1:15 / CAPTURED Demo) 성능 작업 요청, Global Skill이 관여한 실행 환경, Prompt만의 효과로 분리하기 어려운 결과 해석의 세 영역을 짚는다.</a:t>
            </a:r>
          </a:p>
          <a:p xmlns:a="http://schemas.openxmlformats.org/drawingml/2006/main">
            <a:r>
              <a:t>3. (1:15–2:00 / CAPTURED Demo) PARTIAL은 결과가 없다는 뜻이 아니라 원인 귀속의 한계라고 열고 다음 장에서 두 질문을 나눈다.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OBSERVED_META: 교육자료 제작·Trial 평가 기록이다. Demo Product change나 DEMO-04A 원인/수정 사례가 아니다. Codex CLI evidence를 현재 Desktop으로 일반화하지 않는다.</a:t>
            </a:r>
          </a:p>
          <a:p xmlns:a="http://schemas.openxmlformats.org/drawingml/2006/main">
            <a:r>
              <a:t/>
            </a:r>
          </a:p>
          <a:p xmlns:a="http://schemas.openxmlformats.org/drawingml/2006/main">
            <a:r>
              <a:t>**Beginner Explanation:**</a:t>
            </a:r>
          </a:p>
          <a:p xmlns:a="http://schemas.openxmlformats.org/drawingml/2006/main">
            <a:r>
              <a:t>결과가 있다는 사실과 그 원인을 안다는 것은 다르다.</a:t>
            </a:r>
          </a:p>
          <a:p xmlns:a="http://schemas.openxmlformats.org/drawingml/2006/main">
            <a:r>
              <a:t/>
            </a:r>
          </a:p>
          <a:p xmlns:a="http://schemas.openxmlformats.org/drawingml/2006/main">
            <a:r>
              <a:t>**Advanced Insight:**</a:t>
            </a:r>
          </a:p>
          <a:p xmlns:a="http://schemas.openxmlformats.org/drawingml/2006/main">
            <a:r>
              <a:t>ambient global environment가 있는 실행에서 attribution boundary를 기록한다.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TRIAL-006 기록을 재구성한 native 도식이다. 작업 요청→실행 환경→결과 해석을 차례로 읽는다. 실제 terminal screenshot이 아니며 현재 Desktop 동작을 주장하지 않는다. Hook 경고는 효과 관찰을 뜻하지 않고 MCP 시작 경고는 작업 결과를 뜻하지 않는다.</a:t>
            </a:r>
          </a:p>
          <a:p xmlns:a="http://schemas.openxmlformats.org/drawingml/2006/main">
            <a:r>
              <a:t/>
            </a:r>
          </a:p>
          <a:p xmlns:a="http://schemas.openxmlformats.org/drawingml/2006/main">
            <a:r>
              <a:t>**Audience Interaction:**</a:t>
            </a:r>
          </a:p>
          <a:p xmlns:a="http://schemas.openxmlformats.org/drawingml/2006/main">
            <a:r>
              <a:t>이 시점에 Evidence grammar가 바뀌었음을 보고 Conceptual case와 구별한다.</a:t>
            </a:r>
          </a:p>
          <a:p xmlns:a="http://schemas.openxmlformats.org/drawingml/2006/main">
            <a:r>
              <a:t/>
            </a:r>
          </a:p>
          <a:p xmlns:a="http://schemas.openxmlformats.org/drawingml/2006/main">
            <a:r>
              <a:t>**Transition:**</a:t>
            </a:r>
          </a:p>
          <a:p xmlns:a="http://schemas.openxmlformats.org/drawingml/2006/main">
            <a:r>
              <a:t>이 결과를 Task Prompt만의 효과라고 말할 수 있을까?</a:t>
            </a:r>
          </a:p>
          <a:p xmlns:a="http://schemas.openxmlformats.org/drawingml/2006/main">
            <a:r>
              <a:t/>
            </a:r>
          </a:p>
          <a:p xmlns:a="http://schemas.openxmlformats.org/drawingml/2006/main">
            <a:r>
              <a:t>**Time Management:**</a:t>
            </a:r>
          </a:p>
          <a:p xmlns:a="http://schemas.openxmlformats.org/drawingml/2006/main">
            <a:r>
              <a:t>CAPTURED 2분. 실제 기록의 정적 요약을 사용하고 새 제품 실행은 하지 않는다.</a:t>
            </a:r>
          </a:p>
          <a:p xmlns:a="http://schemas.openxmlformats.org/drawingml/2006/main">
            <a:r>
              <a:t/>
            </a:r>
          </a:p>
          <a:p xmlns:a="http://schemas.openxmlformats.org/drawingml/2006/main">
            <a:r>
              <a:t>**Fallback:**</a:t>
            </a:r>
          </a:p>
          <a:p xmlns:a="http://schemas.openxmlformats.org/drawingml/2006/main">
            <a:r>
              <a:t>LOCAL STATIC ARTIFACT — production/ACT_4.pptx의 S67와 production/preview/act4/S67.png를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결과의 타당성과 원인 귀속은 별개다</a:t>
            </a:r>
          </a:p>
          <a:p xmlns:a="http://schemas.openxmlformats.org/drawingml/2006/main">
            <a:r>
              <a:t/>
            </a:r>
          </a:p>
          <a:p xmlns:a="http://schemas.openxmlformats.org/drawingml/2006/main">
            <a:r>
              <a:t>**Slide ID:**</a:t>
            </a:r>
          </a:p>
          <a:p xmlns:a="http://schemas.openxmlformats.org/drawingml/2006/main">
            <a:r>
              <a:t>S68</a:t>
            </a:r>
          </a:p>
          <a:p xmlns:a="http://schemas.openxmlformats.org/drawingml/2006/main">
            <a:r>
              <a:t/>
            </a:r>
          </a:p>
          <a:p xmlns:a="http://schemas.openxmlformats.org/drawingml/2006/main">
            <a:r>
              <a:t>**Working Title:**</a:t>
            </a:r>
          </a:p>
          <a:p xmlns:a="http://schemas.openxmlformats.org/drawingml/2006/main">
            <a:r>
              <a:t>결과의 타당성과 원인 귀속은 별개다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a:t>
            </a:r>
          </a:p>
          <a:p xmlns:a="http://schemas.openxmlformats.org/drawingml/2006/main">
            <a:r>
              <a:t/>
            </a:r>
          </a:p>
          <a:p xmlns:a="http://schemas.openxmlformats.org/drawingml/2006/main">
            <a:r>
              <a:t>**Primary Message:**</a:t>
            </a:r>
          </a:p>
          <a:p xmlns:a="http://schemas.openxmlformats.org/drawingml/2006/main">
            <a:r>
              <a:t>resize_nearest 측정은 기록된 코드·입력·runtime·host 범위에서 유효하지만, global Harness 영향 때문에 전체 workflow를 Prompt 하나의 효과로 분리할 수 없다.</a:t>
            </a:r>
          </a:p>
          <a:p xmlns:a="http://schemas.openxmlformats.org/drawingml/2006/main">
            <a:r>
              <a:t/>
            </a:r>
          </a:p>
          <a:p xmlns:a="http://schemas.openxmlformats.org/drawingml/2006/main">
            <a:r>
              <a:t>**Opening Question:**</a:t>
            </a:r>
          </a:p>
          <a:p xmlns:a="http://schemas.openxmlformats.org/drawingml/2006/main">
            <a:r>
              <a:t>“측정 결과가 유효해도 원인을 Prompt 하나로 좁힐 수 있을까?”</a:t>
            </a:r>
          </a:p>
          <a:p xmlns:a="http://schemas.openxmlformats.org/drawingml/2006/main">
            <a:r>
              <a:t/>
            </a:r>
          </a:p>
          <a:p xmlns:a="http://schemas.openxmlformats.org/drawingml/2006/main">
            <a:r>
              <a:t>**Speaker Flow:**</a:t>
            </a:r>
          </a:p>
          <a:p xmlns:a="http://schemas.openxmlformats.org/drawingml/2006/main">
            <a:r>
              <a:t>1. (0:00–1:00 / CAPTURED Demo) 왼쪽 “측정 결과는 유효한가?”와 오른쪽 “무엇이 결과를 만들었나?”를 독립된 질문으로 읽는다.</a:t>
            </a:r>
          </a:p>
          <a:p xmlns:a="http://schemas.openxmlformats.org/drawingml/2006/main">
            <a:r>
              <a:t>2. (1:00–2:00 / CAPTURED Demo) input/output hash와 같은 조건의 7회 one-call 측정 기록을 확인한다. 144.2→33.5 ms/call median은 작은 보조정보다. 합성 640×480 gray(max4095)→960×720, CPython 3.9.6, macOS 26.6.2 arm64 범위를 말한다.</a:t>
            </a:r>
          </a:p>
          <a:p xmlns:a="http://schemas.openxmlformats.org/drawingml/2006/main">
            <a:r>
              <a:t>3. (2:00–3:15 / CAPTURED Demo) performance-goal Global Skill이 evaluator·ledger·threshold에 관여한 기록을 설명한다. 수치 변화의 직접 원인이라고 단정하지 않는다.</a:t>
            </a:r>
          </a:p>
          <a:p xmlns:a="http://schemas.openxmlformats.org/drawingml/2006/main">
            <a:r>
              <a:t>4. (3:15–4:00 / CAPTURED Demo) Hook 경고와 효과, MCP 시작 오류와 작업 결과를 구분하고, 결과와 원인 해석을 별도로 기록해야 한다고 닫는다.</a:t>
            </a:r>
          </a:p>
          <a:p xmlns:a="http://schemas.openxmlformats.org/drawingml/2006/main">
            <a:r>
              <a:t/>
            </a:r>
          </a:p>
          <a:p xmlns:a="http://schemas.openxmlformats.org/drawingml/2006/main">
            <a:r>
              <a:t>**Evidence / Source:**</a:t>
            </a:r>
          </a:p>
          <a:p xmlns:a="http://schemas.openxmlformats.org/drawingml/2006/main">
            <a:r>
              <a:t>TRIAL-006  ·  7 one-call samples  ·  disposable worktree</a:t>
            </a:r>
          </a:p>
          <a:p xmlns:a="http://schemas.openxmlformats.org/drawingml/2006/main">
            <a:r>
              <a:t/>
            </a:r>
          </a:p>
          <a:p xmlns:a="http://schemas.openxmlformats.org/drawingml/2006/main">
            <a:r>
              <a:t>**Claim Boundary:**</a:t>
            </a:r>
          </a:p>
          <a:p xmlns:a="http://schemas.openxmlformats.org/drawingml/2006/main">
            <a:r>
              <a:t>144.2 → 33.5 ms/call median은 기록된 synthetic 640×480 grayscale input (max 4095) → 960×720, CPython 3.9.6, macOS 26.6.2 arm64에 한정한다. Prompt-only attribution은 PARTIAL. 4.30×/76.8% hero metric은 사용하지 않는다.</a:t>
            </a:r>
          </a:p>
          <a:p xmlns:a="http://schemas.openxmlformats.org/drawingml/2006/main">
            <a:r>
              <a:t/>
            </a:r>
          </a:p>
          <a:p xmlns:a="http://schemas.openxmlformats.org/drawingml/2006/main">
            <a:r>
              <a:t>**Beginner Explanation:**</a:t>
            </a:r>
          </a:p>
          <a:p xmlns:a="http://schemas.openxmlformats.org/drawingml/2006/main">
            <a:r>
              <a:t>숫자가 있어도 무엇이 결과를 만들었는지 자동으로 알 수는 없다.</a:t>
            </a:r>
          </a:p>
          <a:p xmlns:a="http://schemas.openxmlformats.org/drawingml/2006/main">
            <a:r>
              <a:t/>
            </a:r>
          </a:p>
          <a:p xmlns:a="http://schemas.openxmlformats.org/drawingml/2006/main">
            <a:r>
              <a:t>**Advanced Insight:**</a:t>
            </a:r>
          </a:p>
          <a:p xmlns:a="http://schemas.openxmlformats.org/drawingml/2006/main">
            <a:r>
              <a:t>Result validity와 causal attribution의 확신 수준을 따로 보고한다.</a:t>
            </a:r>
          </a:p>
          <a:p xmlns:a="http://schemas.openxmlformats.org/drawingml/2006/main">
            <a:r>
              <a:t/>
            </a:r>
          </a:p>
          <a:p xmlns:a="http://schemas.openxmlformats.org/drawingml/2006/main">
            <a:r>
              <a:t>**C++ Vision Bridge:**</a:t>
            </a:r>
          </a:p>
          <a:p xmlns:a="http://schemas.openxmlformats.org/drawingml/2006/main">
            <a:r>
              <a:t>필요하면 같은 원리를 C++ benchmark의 입력, compiler, host, toolchain 범위로 transfer하되 새 사례로 확장하지 않는다.</a:t>
            </a:r>
          </a:p>
          <a:p xmlns:a="http://schemas.openxmlformats.org/drawingml/2006/main">
            <a:r>
              <a:t/>
            </a:r>
          </a:p>
          <a:p xmlns:a="http://schemas.openxmlformats.org/drawingml/2006/main">
            <a:r>
              <a:t>**Demo Operation:**</a:t>
            </a:r>
          </a:p>
          <a:p xmlns:a="http://schemas.openxmlformats.org/drawingml/2006/main">
            <a:r>
              <a:t>CAPTURED trial summary. Input/output SHA-256 guards matched; seven one-call samples. `performance-goal` global Skill influenced evaluator/ledger/threshold, but is not proven the direct cause of the metric. Hook warnings do not prove hook effect; MCP startup error does not evidence task result.</a:t>
            </a:r>
          </a:p>
          <a:p xmlns:a="http://schemas.openxmlformats.org/drawingml/2006/main">
            <a:r>
              <a:t/>
            </a:r>
          </a:p>
          <a:p xmlns:a="http://schemas.openxmlformats.org/drawingml/2006/main">
            <a:r>
              <a:t>**Audience Interaction:**</a:t>
            </a:r>
          </a:p>
          <a:p xmlns:a="http://schemas.openxmlformats.org/drawingml/2006/main">
            <a:r>
              <a:t>왼쪽은 확인된 result validity, 오른쪽은 남은 attribution uncertainty를 비교한다.</a:t>
            </a:r>
          </a:p>
          <a:p xmlns:a="http://schemas.openxmlformats.org/drawingml/2006/main">
            <a:r>
              <a:t/>
            </a:r>
          </a:p>
          <a:p xmlns:a="http://schemas.openxmlformats.org/drawingml/2006/main">
            <a:r>
              <a:t>**Transition:**</a:t>
            </a:r>
          </a:p>
          <a:p xmlns:a="http://schemas.openxmlformats.org/drawingml/2006/main">
            <a:r>
              <a:t>이 한계가 후속 Trial의 평가 방식에 어떤 변경을 만들었을까?</a:t>
            </a:r>
          </a:p>
          <a:p xmlns:a="http://schemas.openxmlformats.org/drawingml/2006/main">
            <a:r>
              <a:t/>
            </a:r>
          </a:p>
          <a:p xmlns:a="http://schemas.openxmlformats.org/drawingml/2006/main">
            <a:r>
              <a:t>**Time Management:**</a:t>
            </a:r>
          </a:p>
          <a:p xmlns:a="http://schemas.openxmlformats.org/drawingml/2006/main">
            <a:r>
              <a:t>CAPTURED Demo 4분. 성능 숫자를 성과 발표처럼 연출하거나 일반화하지 않는다.</a:t>
            </a:r>
          </a:p>
          <a:p xmlns:a="http://schemas.openxmlformats.org/drawingml/2006/main">
            <a:r>
              <a:t/>
            </a:r>
          </a:p>
          <a:p xmlns:a="http://schemas.openxmlformats.org/drawingml/2006/main">
            <a:r>
              <a:t>**Fallback:**</a:t>
            </a:r>
          </a:p>
          <a:p xmlns:a="http://schemas.openxmlformats.org/drawingml/2006/main">
            <a:r>
              <a:t>LOCAL STATIC ARTIFACT — production/ACT_4.pptx의 S68와 production/preview/act4/S68.png를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평가와 보고 규칙을 Evidence에 맞추다</a:t>
            </a:r>
          </a:p>
          <a:p xmlns:a="http://schemas.openxmlformats.org/drawingml/2006/main">
            <a:r>
              <a:t/>
            </a:r>
          </a:p>
          <a:p xmlns:a="http://schemas.openxmlformats.org/drawingml/2006/main">
            <a:r>
              <a:t>**Slide ID:**</a:t>
            </a:r>
          </a:p>
          <a:p xmlns:a="http://schemas.openxmlformats.org/drawingml/2006/main">
            <a:r>
              <a:t>S69</a:t>
            </a:r>
          </a:p>
          <a:p xmlns:a="http://schemas.openxmlformats.org/drawingml/2006/main">
            <a:r>
              <a:t/>
            </a:r>
          </a:p>
          <a:p xmlns:a="http://schemas.openxmlformats.org/drawingml/2006/main">
            <a:r>
              <a:t>**Working Title:**</a:t>
            </a:r>
          </a:p>
          <a:p xmlns:a="http://schemas.openxmlformats.org/drawingml/2006/main">
            <a:r>
              <a:t>평가와 보고 규칙을 Evidence에 맞추다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Demo 2분 (CAPTURED)</a:t>
            </a:r>
          </a:p>
          <a:p xmlns:a="http://schemas.openxmlformats.org/drawingml/2006/main">
            <a:r>
              <a:t/>
            </a:r>
          </a:p>
          <a:p xmlns:a="http://schemas.openxmlformats.org/drawingml/2006/main">
            <a:r>
              <a:t>**Primary Message:**</a:t>
            </a:r>
          </a:p>
          <a:p xmlns:a="http://schemas.openxmlformats.org/drawingml/2006/main">
            <a:r>
              <a:t>DEC-0016은 TRIAL-006을 PARTIAL로 보존하고 clean isolation을 진행 조건으로 요구하지 않으며, 후속 CLI Trial에서 관찰된 global influence를 기록하도록 했다.</a:t>
            </a:r>
          </a:p>
          <a:p xmlns:a="http://schemas.openxmlformats.org/drawingml/2006/main">
            <a:r>
              <a:t/>
            </a:r>
          </a:p>
          <a:p xmlns:a="http://schemas.openxmlformats.org/drawingml/2006/main">
            <a:r>
              <a:t>**Opening Question:**</a:t>
            </a:r>
          </a:p>
          <a:p xmlns:a="http://schemas.openxmlformats.org/drawingml/2006/main">
            <a:r>
              <a:t>“Prompt 효과를 분리할 수 없다면 다음 Trial은 어떻게 기록해야 할까?”</a:t>
            </a:r>
          </a:p>
          <a:p xmlns:a="http://schemas.openxmlformats.org/drawingml/2006/main">
            <a:r>
              <a:t/>
            </a:r>
          </a:p>
          <a:p xmlns:a="http://schemas.openxmlformats.org/drawingml/2006/main">
            <a:r>
              <a:t>**Speaker Flow:**</a:t>
            </a:r>
          </a:p>
          <a:p xmlns:a="http://schemas.openxmlformats.org/drawingml/2006/main">
            <a:r>
              <a:t>1. (0:00–1:00 / Lecture) 기존 평가가 작업·Repository 중심이어서 주변 Harness 영향 설명이 충분하지 않았다고 짚는다.</a:t>
            </a:r>
          </a:p>
          <a:p xmlns:a="http://schemas.openxmlformats.org/drawingml/2006/main">
            <a:r>
              <a:t>2. (1:00–2:15 / CAPTURED Demo) 우측 후속 기록 기준에서 관찰한 Skill, 경고와 실제 사용 여부, 결과의 해석 범위를 차례로 가리킨다.</a:t>
            </a:r>
          </a:p>
          <a:p xmlns:a="http://schemas.openxmlformats.org/drawingml/2006/main">
            <a:r>
              <a:t>3. (2:15–3:00 / CAPTURED Demo) DEC-0016은 기존 결과를 PARTIAL로 보존하고 관찰된 조건을 함께 남기는 결정이었다고 정리한다. Product 코드/Skill 수정이나 격리 환경 구축은 아니다.</a:t>
            </a:r>
          </a:p>
          <a:p xmlns:a="http://schemas.openxmlformats.org/drawingml/2006/main">
            <a:r>
              <a:t/>
            </a:r>
          </a:p>
          <a:p xmlns:a="http://schemas.openxmlformats.org/drawingml/2006/main">
            <a:r>
              <a:t>**Evidence / Source:**</a:t>
            </a:r>
          </a:p>
          <a:p xmlns:a="http://schemas.openxmlformats.org/drawingml/2006/main">
            <a:r>
              <a:t>TRIAL-006  →  DEC-0016  ·  evaluation / reporting policy</a:t>
            </a:r>
          </a:p>
          <a:p xmlns:a="http://schemas.openxmlformats.org/drawingml/2006/main">
            <a:r>
              <a:t/>
            </a:r>
          </a:p>
          <a:p xmlns:a="http://schemas.openxmlformats.org/drawingml/2006/main">
            <a:r>
              <a:t>**Claim Boundary:**</a:t>
            </a:r>
          </a:p>
          <a:p xmlns:a="http://schemas.openxmlformats.org/drawingml/2006/main">
            <a:r>
              <a:t>실제 Training Production evaluation/reporting governance 변화다. Product code 또는 Demo Skill을 수정하지 않았고 clean isolation을 구축했다고 말하지 않는다.</a:t>
            </a:r>
          </a:p>
          <a:p xmlns:a="http://schemas.openxmlformats.org/drawingml/2006/main">
            <a:r>
              <a:t/>
            </a:r>
          </a:p>
          <a:p xmlns:a="http://schemas.openxmlformats.org/drawingml/2006/main">
            <a:r>
              <a:t>**Beginner Explanation:**</a:t>
            </a:r>
          </a:p>
          <a:p xmlns:a="http://schemas.openxmlformats.org/drawingml/2006/main">
            <a:r>
              <a:t>환경 조건과 수행 도구가 다르면 결과 설명도 그 경계를 밝혀야 한다.</a:t>
            </a:r>
          </a:p>
          <a:p xmlns:a="http://schemas.openxmlformats.org/drawingml/2006/main">
            <a:r>
              <a:t/>
            </a:r>
          </a:p>
          <a:p xmlns:a="http://schemas.openxmlformats.org/drawingml/2006/main">
            <a:r>
              <a:t>**Advanced Insight:**</a:t>
            </a:r>
          </a:p>
          <a:p xmlns:a="http://schemas.openxmlformats.org/drawingml/2006/main">
            <a:r>
              <a:t>미통제 조건을 숨기지 않고 Trial 결과의 사용 범위를 제한한다.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 평가·보고 결정의 의미를 Before/After로 재구성했다. 원문 직접 인용이나 Product diff로 표현하지 않는다. PARTIAL 보존과 관찰된 Global influence 기록을 변경 내용으로 한정한다.</a:t>
            </a:r>
          </a:p>
          <a:p xmlns:a="http://schemas.openxmlformats.org/drawingml/2006/main">
            <a:r>
              <a:t/>
            </a:r>
          </a:p>
          <a:p xmlns:a="http://schemas.openxmlformats.org/drawingml/2006/main">
            <a:r>
              <a:t>**Audience Interaction:**</a:t>
            </a:r>
          </a:p>
          <a:p xmlns:a="http://schemas.openxmlformats.org/drawingml/2006/main">
            <a:r>
              <a:t>무엇이 바뀌었는지와 무엇이 바뀌지 않았는지 비교한다.</a:t>
            </a:r>
          </a:p>
          <a:p xmlns:a="http://schemas.openxmlformats.org/drawingml/2006/main">
            <a:r>
              <a:t/>
            </a:r>
          </a:p>
          <a:p xmlns:a="http://schemas.openxmlformats.org/drawingml/2006/main">
            <a:r>
              <a:t>**Transition:**</a:t>
            </a:r>
          </a:p>
          <a:p xmlns:a="http://schemas.openxmlformats.org/drawingml/2006/main">
            <a:r>
              <a:t>이 기준은 TRIAL-007/008에 어떻게 적용됐을까?</a:t>
            </a:r>
          </a:p>
          <a:p xmlns:a="http://schemas.openxmlformats.org/drawingml/2006/main">
            <a:r>
              <a:t/>
            </a:r>
          </a:p>
          <a:p xmlns:a="http://schemas.openxmlformats.org/drawingml/2006/main">
            <a:r>
              <a:t>**Time Management:**</a:t>
            </a:r>
          </a:p>
          <a:p xmlns:a="http://schemas.openxmlformats.org/drawingml/2006/main">
            <a:r>
              <a:t>Lecture 1분 + CAPTURED 2분. Trial/reporting boundary에만 머문다.</a:t>
            </a:r>
          </a:p>
          <a:p xmlns:a="http://schemas.openxmlformats.org/drawingml/2006/main">
            <a:r>
              <a:t/>
            </a:r>
          </a:p>
          <a:p xmlns:a="http://schemas.openxmlformats.org/drawingml/2006/main">
            <a:r>
              <a:t>**Fallback:**</a:t>
            </a:r>
          </a:p>
          <a:p xmlns:a="http://schemas.openxmlformats.org/drawingml/2006/main">
            <a:r>
              <a:t>LOCAL STATIC ARTIFACT — production/ACT_4.pptx의 S69와 production/preview/act4/S69.png를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후속 기록은 개선됐지만 완전하지 않았다</a:t>
            </a:r>
          </a:p>
          <a:p xmlns:a="http://schemas.openxmlformats.org/drawingml/2006/main">
            <a:r>
              <a:t/>
            </a:r>
          </a:p>
          <a:p xmlns:a="http://schemas.openxmlformats.org/drawingml/2006/main">
            <a:r>
              <a:t>**Slide ID:**</a:t>
            </a:r>
          </a:p>
          <a:p xmlns:a="http://schemas.openxmlformats.org/drawingml/2006/main">
            <a:r>
              <a:t>S70</a:t>
            </a:r>
          </a:p>
          <a:p xmlns:a="http://schemas.openxmlformats.org/drawingml/2006/main">
            <a:r>
              <a:t/>
            </a:r>
          </a:p>
          <a:p xmlns:a="http://schemas.openxmlformats.org/drawingml/2006/main">
            <a:r>
              <a:t>**Working Title:**</a:t>
            </a:r>
          </a:p>
          <a:p xmlns:a="http://schemas.openxmlformats.org/drawingml/2006/main">
            <a:r>
              <a:t>후속 기록은 개선됐지만 완전하지 않았다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TRIAL-007은 global influence를 기록했지만 MCP report와 stderr가 불일치한다. TRIAL-008은 repository Skill 호출과 global influence를 별도로 기록했다. 품질 향상은 측정되지 않았다.</a:t>
            </a:r>
          </a:p>
          <a:p xmlns:a="http://schemas.openxmlformats.org/drawingml/2006/main">
            <a:r>
              <a:t/>
            </a:r>
          </a:p>
          <a:p xmlns:a="http://schemas.openxmlformats.org/drawingml/2006/main">
            <a:r>
              <a:t>**Opening Question:**</a:t>
            </a:r>
          </a:p>
          <a:p xmlns:a="http://schemas.openxmlformats.org/drawingml/2006/main">
            <a:r>
              <a:t>“새로운 기록 규칙이 모든 불확실성을 해결했을까?”</a:t>
            </a:r>
          </a:p>
          <a:p xmlns:a="http://schemas.openxmlformats.org/drawingml/2006/main">
            <a:r>
              <a:t/>
            </a:r>
          </a:p>
          <a:p xmlns:a="http://schemas.openxmlformats.org/drawingml/2006/main">
            <a:r>
              <a:t>**Speaker Flow:**</a:t>
            </a:r>
          </a:p>
          <a:p xmlns:a="http://schemas.openxmlformats.org/drawingml/2006/main">
            <a:r>
              <a:t>1. (0:00–1:00 / Lecture) TRIAL-007의 최종 보고 “MCP 경고 없음”과 보존된 stderr의 Nimble AuthRequired가 서로 맞지 않는 점을 가리킨다. 화면 문구는 원문 의미의 요약이다.</a:t>
            </a:r>
          </a:p>
          <a:p xmlns:a="http://schemas.openxmlformats.org/drawingml/2006/main">
            <a:r>
              <a:t>2. (1:00–2:00 / Case) 오류 표시는 MCP 작업 결과를 뜻하지 않음을 명확히 한다. TRIAL-008은 Repository Skill 발견·명시 호출과 Global influence를 따로 기록한 Codex CLI 0.154.0 사례다.</a:t>
            </a:r>
          </a:p>
          <a:p xmlns:a="http://schemas.openxmlformats.org/drawingml/2006/main">
            <a:r>
              <a:t>3. (2:00–3:00 / Case) 기록 경계가 명확해진 부분과 남은 불일치를 함께 보존한다. 완전한 목록이나 측정된 품질 개선이라고 말하지 않는다.</a:t>
            </a:r>
          </a:p>
          <a:p xmlns:a="http://schemas.openxmlformats.org/drawingml/2006/main">
            <a:r>
              <a:t/>
            </a:r>
          </a:p>
          <a:p xmlns:a="http://schemas.openxmlformats.org/drawingml/2006/main">
            <a:r>
              <a:t>**Evidence / Source:**</a:t>
            </a:r>
          </a:p>
          <a:p xmlns:a="http://schemas.openxmlformats.org/drawingml/2006/main">
            <a:r>
              <a:t>TRIAL-007 / TRIAL-008  ·  DEC-0016</a:t>
            </a:r>
          </a:p>
          <a:p xmlns:a="http://schemas.openxmlformats.org/drawingml/2006/main">
            <a:r>
              <a:t/>
            </a:r>
          </a:p>
          <a:p xmlns:a="http://schemas.openxmlformats.org/drawingml/2006/main">
            <a:r>
              <a:t>**Claim Boundary:**</a:t>
            </a:r>
          </a:p>
          <a:p xmlns:a="http://schemas.openxmlformats.org/drawingml/2006/main">
            <a:r>
              <a:t>적용은 부분적이다. 완전한 environment inventory, 완벽한 report, 측정된 Trial-quality improvement를 주장하지 않는다. TRIAL-007의 stderr에는 Nimble AuthRequired가 있으나 MCP task result는 없다.</a:t>
            </a:r>
          </a:p>
          <a:p xmlns:a="http://schemas.openxmlformats.org/drawingml/2006/main">
            <a:r>
              <a:t/>
            </a:r>
          </a:p>
          <a:p xmlns:a="http://schemas.openxmlformats.org/drawingml/2006/main">
            <a:r>
              <a:t>**Beginner Explanation:**</a:t>
            </a:r>
          </a:p>
          <a:p xmlns:a="http://schemas.openxmlformats.org/drawingml/2006/main">
            <a:r>
              <a:t>개선된 기록도 빠진 점과 불일치가 있는지 다시 본다.</a:t>
            </a:r>
          </a:p>
          <a:p xmlns:a="http://schemas.openxmlformats.org/drawingml/2006/main">
            <a:r>
              <a:t/>
            </a:r>
          </a:p>
          <a:p xmlns:a="http://schemas.openxmlformats.org/drawingml/2006/main">
            <a:r>
              <a:t>**Advanced Insight:**</a:t>
            </a:r>
          </a:p>
          <a:p xmlns:a="http://schemas.openxmlformats.org/drawingml/2006/main">
            <a:r>
              <a:t>보고, stderr, global influence inventory를 서로 대조하고 claim boundary를 유지한다.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위쪽 두 행은 TRIAL-007 보고/stderr의 의미 대조이고, 아래 행은 TRIAL-008의 별도 기록을 요약한다. 실제 로그 캡처로 위장하지 않는다.</a:t>
            </a:r>
          </a:p>
          <a:p xmlns:a="http://schemas.openxmlformats.org/drawingml/2006/main">
            <a:r>
              <a:t/>
            </a:r>
          </a:p>
          <a:p xmlns:a="http://schemas.openxmlformats.org/drawingml/2006/main">
            <a:r>
              <a:t>**Audience Interaction:**</a:t>
            </a:r>
          </a:p>
          <a:p xmlns:a="http://schemas.openxmlformats.org/drawingml/2006/main">
            <a:r>
              <a:t>후속 기록이 무엇을 명확히 했고 무엇을 남겼는지 비교한다.</a:t>
            </a:r>
          </a:p>
          <a:p xmlns:a="http://schemas.openxmlformats.org/drawingml/2006/main">
            <a:r>
              <a:t/>
            </a:r>
          </a:p>
          <a:p xmlns:a="http://schemas.openxmlformats.org/drawingml/2006/main">
            <a:r>
              <a:t>**Transition:**</a:t>
            </a:r>
          </a:p>
          <a:p xmlns:a="http://schemas.openxmlformats.org/drawingml/2006/main">
            <a:r>
              <a:t>S71에서 실제로 바뀐 System과 미확정 사항을 한 번에 회수한다.</a:t>
            </a:r>
          </a:p>
          <a:p xmlns:a="http://schemas.openxmlformats.org/drawingml/2006/main">
            <a:r>
              <a:t/>
            </a:r>
          </a:p>
          <a:p xmlns:a="http://schemas.openxmlformats.org/drawingml/2006/main">
            <a:r>
              <a:t>**Time Management:**</a:t>
            </a:r>
          </a:p>
          <a:p xmlns:a="http://schemas.openxmlformats.org/drawingml/2006/main">
            <a:r>
              <a:t>Lecture 1분 + Case 2분. 불일치와 unknown을 숨기지 않는다.</a:t>
            </a:r>
          </a:p>
          <a:p xmlns:a="http://schemas.openxmlformats.org/drawingml/2006/main">
            <a:r>
              <a:t/>
            </a:r>
          </a:p>
          <a:p xmlns:a="http://schemas.openxmlformats.org/drawingml/2006/main">
            <a:r>
              <a:t>**Fallback:**</a:t>
            </a:r>
          </a:p>
          <a:p xmlns:a="http://schemas.openxmlformats.org/drawingml/2006/main">
            <a:r>
              <a:t>LOCAL STATIC ARTIFACT — production/ACT_4.pptx의 S70와 production/preview/act4/S70.png를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실제 Meta Loop에서 바뀐 것</a:t>
            </a:r>
          </a:p>
          <a:p xmlns:a="http://schemas.openxmlformats.org/drawingml/2006/main">
            <a:r>
              <a:t/>
            </a:r>
          </a:p>
          <a:p xmlns:a="http://schemas.openxmlformats.org/drawingml/2006/main">
            <a:r>
              <a:t>**Slide ID:**</a:t>
            </a:r>
          </a:p>
          <a:p xmlns:a="http://schemas.openxmlformats.org/drawingml/2006/main">
            <a:r>
              <a:t>S71</a:t>
            </a:r>
          </a:p>
          <a:p xmlns:a="http://schemas.openxmlformats.org/drawingml/2006/main">
            <a:r>
              <a:t/>
            </a:r>
          </a:p>
          <a:p xmlns:a="http://schemas.openxmlformats.org/drawingml/2006/main">
            <a:r>
              <a:t>**Working Title:**</a:t>
            </a:r>
          </a:p>
          <a:p xmlns:a="http://schemas.openxmlformats.org/drawingml/2006/main">
            <a:r>
              <a:t>실제 Meta Loop에서 바뀐 것</a:t>
            </a:r>
          </a:p>
          <a:p xmlns:a="http://schemas.openxmlformats.org/drawingml/2006/main">
            <a:r>
              <a:t/>
            </a:r>
          </a:p>
          <a:p xmlns:a="http://schemas.openxmlformats.org/drawingml/2006/main">
            <a:r>
              <a:t>**ACT / Section:**</a:t>
            </a:r>
          </a:p>
          <a:p xmlns:a="http://schemas.openxmlformats.org/drawingml/2006/main">
            <a:r>
              <a:t>ACT 4 / 4F  OBSERVED META LOOP</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TRIAL-006의 ambient influence 및 PARTIAL attribution은 DEC-0016의 Trial evaluation/reporting 변경으로 이어졌고 TRIAL-007/008에서 기록 경계가 부분적으로 적용됐다. Product code가 바뀐 것은 아니다.</a:t>
            </a:r>
          </a:p>
          <a:p xmlns:a="http://schemas.openxmlformats.org/drawingml/2006/main">
            <a:r>
              <a:t/>
            </a:r>
          </a:p>
          <a:p xmlns:a="http://schemas.openxmlformats.org/drawingml/2006/main">
            <a:r>
              <a:t>**Opening Question:**</a:t>
            </a:r>
          </a:p>
          <a:p xmlns:a="http://schemas.openxmlformats.org/drawingml/2006/main">
            <a:r>
              <a:t>“무엇이 바뀌었고, 무엇은 아직 모르는가?”</a:t>
            </a:r>
          </a:p>
          <a:p xmlns:a="http://schemas.openxmlformats.org/drawingml/2006/main">
            <a:r>
              <a:t/>
            </a:r>
          </a:p>
          <a:p xmlns:a="http://schemas.openxmlformats.org/drawingml/2006/main">
            <a:r>
              <a:t>**Speaker Flow:**</a:t>
            </a:r>
          </a:p>
          <a:p xmlns:a="http://schemas.openxmlformats.org/drawingml/2006/main">
            <a:r>
              <a:t>1. (0:00–1:00 / Lecture) TRIAL-006의 관찰→DEC-0016→후속 TRIAL-007/008이라는 실제 흐름을 한 문장으로 회수한다.</a:t>
            </a:r>
          </a:p>
          <a:p xmlns:a="http://schemas.openxmlformats.org/drawingml/2006/main">
            <a:r>
              <a:t>2. (1:00–2:00 / Case) 왼쪽에서 바뀐 대상이 교육 제작의 평가·보고 기준임을 짚는다.</a:t>
            </a:r>
          </a:p>
          <a:p xmlns:a="http://schemas.openxmlformats.org/drawingml/2006/main">
            <a:r>
              <a:t>3. (2:00–3:00 / Case) 오른쪽의 원인별 효과, 환경 목록의 완전성, Trial 품질 향상은 미확인이라고 남기고 C++ 전이로 이동한다.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후속 report에는 불일치가 남고 quality effect는 미측정이다. DEMO-04A conceptual stale workflow와 합치지 않는다.</a:t>
            </a:r>
          </a:p>
          <a:p xmlns:a="http://schemas.openxmlformats.org/drawingml/2006/main">
            <a:r>
              <a:t/>
            </a:r>
          </a:p>
          <a:p xmlns:a="http://schemas.openxmlformats.org/drawingml/2006/main">
            <a:r>
              <a:t>**Beginner Explanation:**</a:t>
            </a:r>
          </a:p>
          <a:p xmlns:a="http://schemas.openxmlformats.org/drawingml/2006/main">
            <a:r>
              <a:t>실제로 바뀐 것과 아직 모르는 점을 구분한다.</a:t>
            </a:r>
          </a:p>
          <a:p xmlns:a="http://schemas.openxmlformats.org/drawingml/2006/main">
            <a:r>
              <a:t/>
            </a:r>
          </a:p>
          <a:p xmlns:a="http://schemas.openxmlformats.org/drawingml/2006/main">
            <a:r>
              <a:t>**Advanced Insight:**</a:t>
            </a:r>
          </a:p>
          <a:p xmlns:a="http://schemas.openxmlformats.org/drawingml/2006/main">
            <a:r>
              <a:t>Loop의 system change는 평가·보고 거버넌스일 수 있으나 outcome은 재평가해야 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실제로 바뀐 것과 아직 확인 못한 것의 두 영역을 비교한다. 앞의 Timeline을 다시 길게 강의하거나 가상 Workflow의 실제 복구로 합치지 않는다.</a:t>
            </a:r>
          </a:p>
          <a:p xmlns:a="http://schemas.openxmlformats.org/drawingml/2006/main">
            <a:r>
              <a:t/>
            </a:r>
          </a:p>
          <a:p xmlns:a="http://schemas.openxmlformats.org/drawingml/2006/main">
            <a:r>
              <a:t>**Audience Interaction:**</a:t>
            </a:r>
          </a:p>
          <a:p xmlns:a="http://schemas.openxmlformats.org/drawingml/2006/main">
            <a:r>
              <a:t>Changed/Unknown 두 칸을 비교하며 Meta case를 정리한다.</a:t>
            </a:r>
          </a:p>
          <a:p xmlns:a="http://schemas.openxmlformats.org/drawingml/2006/main">
            <a:r>
              <a:t/>
            </a:r>
          </a:p>
          <a:p xmlns:a="http://schemas.openxmlformats.org/drawingml/2006/main">
            <a:r>
              <a:t>**Transition:**</a:t>
            </a:r>
          </a:p>
          <a:p xmlns:a="http://schemas.openxmlformats.org/drawingml/2006/main">
            <a:r>
              <a:t>이 원리를 C++ Vision Project에 옮기면 무엇을 확인할까?</a:t>
            </a:r>
          </a:p>
          <a:p xmlns:a="http://schemas.openxmlformats.org/drawingml/2006/main">
            <a:r>
              <a:t/>
            </a:r>
          </a:p>
          <a:p xmlns:a="http://schemas.openxmlformats.org/drawingml/2006/main">
            <a:r>
              <a:t>**Time Management:**</a:t>
            </a:r>
          </a:p>
          <a:p xmlns:a="http://schemas.openxmlformats.org/drawingml/2006/main">
            <a:r>
              <a:t>Lecture 1분 + Case 2분. preceding slides를 다시 풀어 설명하지 않는다.</a:t>
            </a:r>
          </a:p>
          <a:p xmlns:a="http://schemas.openxmlformats.org/drawingml/2006/main">
            <a:r>
              <a:t/>
            </a:r>
          </a:p>
          <a:p xmlns:a="http://schemas.openxmlformats.org/drawingml/2006/main">
            <a:r>
              <a:t>**Fallback:**</a:t>
            </a:r>
          </a:p>
          <a:p xmlns:a="http://schemas.openxmlformats.org/drawingml/2006/main">
            <a:r>
              <a:t>LOCAL STATIC ARTIFACT — production/ACT_4.pptx의 S71와 production/preview/act4/S71.png를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Project와 환경이 바뀌면 검증도 다시 본다</a:t>
            </a:r>
          </a:p>
          <a:p xmlns:a="http://schemas.openxmlformats.org/drawingml/2006/main">
            <a:r>
              <a:t/>
            </a:r>
          </a:p>
          <a:p xmlns:a="http://schemas.openxmlformats.org/drawingml/2006/main">
            <a:r>
              <a:t>**Slide ID:**</a:t>
            </a:r>
          </a:p>
          <a:p xmlns:a="http://schemas.openxmlformats.org/drawingml/2006/main">
            <a:r>
              <a:t>S72</a:t>
            </a:r>
          </a:p>
          <a:p xmlns:a="http://schemas.openxmlformats.org/drawingml/2006/main">
            <a:r>
              <a:t/>
            </a:r>
          </a:p>
          <a:p xmlns:a="http://schemas.openxmlformats.org/drawingml/2006/main">
            <a:r>
              <a:t>**Working Title:**</a:t>
            </a:r>
          </a:p>
          <a:p xmlns:a="http://schemas.openxmlformats.org/drawingml/2006/main">
            <a:r>
              <a:t>Project와 환경이 바뀌면 검증도 다시 본다</a:t>
            </a:r>
          </a:p>
          <a:p xmlns:a="http://schemas.openxmlformats.org/drawingml/2006/main">
            <a:r>
              <a:t/>
            </a:r>
          </a:p>
          <a:p xmlns:a="http://schemas.openxmlformats.org/drawingml/2006/main">
            <a:r>
              <a:t>**ACT / Section:**</a:t>
            </a:r>
          </a:p>
          <a:p xmlns:a="http://schemas.openxmlformats.org/drawingml/2006/main">
            <a:r>
              <a:t>ACT 4 / 4G  C++ VISION TRANSFER  /  4H DISCUSSION &amp; TRANSITION</a:t>
            </a:r>
          </a:p>
          <a:p xmlns:a="http://schemas.openxmlformats.org/drawingml/2006/main">
            <a:r>
              <a:t/>
            </a:r>
          </a:p>
          <a:p xmlns:a="http://schemas.openxmlformats.org/drawingml/2006/main">
            <a:r>
              <a:t>**Allocated Time:**</a:t>
            </a:r>
          </a:p>
          <a:p xmlns:a="http://schemas.openxmlformats.org/drawingml/2006/main">
            <a:r>
              <a:t>20 minutes</a:t>
            </a:r>
          </a:p>
          <a:p xmlns:a="http://schemas.openxmlformats.org/drawingml/2006/main">
            <a:r>
              <a:t/>
            </a:r>
          </a:p>
          <a:p xmlns:a="http://schemas.openxmlformats.org/drawingml/2006/main">
            <a:r>
              <a:t>**Mode Split:**</a:t>
            </a:r>
          </a:p>
          <a:p xmlns:a="http://schemas.openxmlformats.org/drawingml/2006/main">
            <a:r>
              <a:t>Case 7분 + Reflection 2분 + Q&amp;A 7분 + Transition 4분</a:t>
            </a:r>
          </a:p>
          <a:p xmlns:a="http://schemas.openxmlformats.org/drawingml/2006/main">
            <a:r>
              <a:t/>
            </a:r>
          </a:p>
          <a:p xmlns:a="http://schemas.openxmlformats.org/drawingml/2006/main">
            <a:r>
              <a:t>**Primary Message:**</a:t>
            </a:r>
          </a:p>
          <a:p xmlns:a="http://schemas.openxmlformats.org/drawingml/2006/main">
            <a:r>
              <a:t>Project나 환경이 바뀌면 기존 performance 가정과 verification 절차가 여전히 맞는지 다시 확인한다. 반복되는 마찰은 관찰하고 원인을 찾아 관련 layer를 바꾼 뒤 benchmark와 regression으로 확인한다.</a:t>
            </a:r>
          </a:p>
          <a:p xmlns:a="http://schemas.openxmlformats.org/drawingml/2006/main">
            <a:r>
              <a:t/>
            </a:r>
          </a:p>
          <a:p xmlns:a="http://schemas.openxmlformats.org/drawingml/2006/main">
            <a:r>
              <a:t>**Opening Question:**</a:t>
            </a:r>
          </a:p>
          <a:p xmlns:a="http://schemas.openxmlformats.org/drawingml/2006/main">
            <a:r>
              <a:t>“같은 문제가 두 번째로 생기면 다시 Prompt를 고칠까, System을 살펴볼까?”</a:t>
            </a:r>
          </a:p>
          <a:p xmlns:a="http://schemas.openxmlformats.org/drawingml/2006/main">
            <a:r>
              <a:t/>
            </a:r>
          </a:p>
          <a:p xmlns:a="http://schemas.openxmlformats.org/drawingml/2006/main">
            <a:r>
              <a:t>**Speaker Flow:**</a:t>
            </a:r>
          </a:p>
          <a:p xmlns:a="http://schemas.openxmlformats.org/drawingml/2006/main">
            <a:r>
              <a:t>1. (0:00–2:00 / Case) GPU·빌드·측정 조건이 달라진 상황을 가정한다. 실제 C++ 사건이나 구체적 버전 조합을 주장하지 않는다.</a:t>
            </a:r>
          </a:p>
          <a:p xmlns:a="http://schemas.openxmlformats.org/drawingml/2006/main">
            <a:r>
              <a:t>2. (2:00–4:30 / Case) 첫 두 행을 가리킨다. 기존 판단이 어떤 조건에서 맞았는지, 입력과 실행 조건이 비교 가능한지 묻는다. 관찰된 성능 저하나 숫자를 만들지 않는다.</a:t>
            </a:r>
          </a:p>
          <a:p xmlns:a="http://schemas.openxmlformats.org/drawingml/2006/main">
            <a:r>
              <a:t>3. (4:30–7:00 / Case) 기능 계약 행에서 성능과 함께 다시 확인할 동작 범위를 살핀다. 반복 신호→원인 Layer 조사→관련 시스템 변경→Benchmark/Regression 재확인으로 연결한다.</a:t>
            </a:r>
          </a:p>
          <a:p xmlns:a="http://schemas.openxmlformats.org/drawingml/2006/main">
            <a:r>
              <a:t>4. (7:00–9:00 / Reflection) 하단 질문을 가리켜 자기 업무의 반복 마찰 하나를 마음속으로 떠올리게 한다. 기록·답변·발표는 요구하지 않는다.</a:t>
            </a:r>
          </a:p>
          <a:p xmlns:a="http://schemas.openxmlformats.org/drawingml/2006/main">
            <a:r>
              <a:t>5. (9:00–16:00 / Q&amp;A) 질문을 받는다. 질문이 없으면 아래 Fallback 질문을 하나씩 골라 강사가 짧게 해설한다. 새로운 기술 사례나 제품 설정 강의를 열지 않는다.</a:t>
            </a:r>
          </a:p>
          <a:p xmlns:a="http://schemas.openxmlformats.org/drawingml/2006/main">
            <a:r>
              <a:t>6. (16:00–20:00 / Transition) 16분에 질문을 마감한다. 가정→측정 조건→기능 계약 세 행을 전체 Story의 Context→Harness→Loop와 연결하고 S73의 여정 회수로 이동한다.</a:t>
            </a:r>
          </a:p>
          <a:p xmlns:a="http://schemas.openxmlformats.org/drawingml/2006/main">
            <a:r>
              <a:t/>
            </a:r>
          </a:p>
          <a:p xmlns:a="http://schemas.openxmlformats.org/drawingml/2006/main">
            <a:r>
              <a:t>**Evidence / Source:**</a:t>
            </a:r>
          </a:p>
          <a:p xmlns:a="http://schemas.openxmlformats.org/drawingml/2006/main">
            <a:r>
              <a:t>BEAT-059 / TRANS-012  ·  teaching transfer, not observed C++ incident</a:t>
            </a:r>
          </a:p>
          <a:p xmlns:a="http://schemas.openxmlformats.org/drawingml/2006/main">
            <a:r>
              <a:t/>
            </a:r>
          </a:p>
          <a:p xmlns:a="http://schemas.openxmlformats.org/drawingml/2006/main">
            <a:r>
              <a:t>**Claim Boundary:**</a:t>
            </a:r>
          </a:p>
          <a:p xmlns:a="http://schemas.openxmlformats.org/drawingml/2006/main">
            <a:r>
              <a:t>COURSE MODEL / C++ VISION TRANSFER. Toolchain, CUDA/GPU architecture, build/benchmark configuration은 hypothetical teaching context이며 실제 Demo history가 아니다. 구체적인 Windows/shell/IDE/hardware setup을 주장하지 않는다.</a:t>
            </a:r>
          </a:p>
          <a:p xmlns:a="http://schemas.openxmlformats.org/drawingml/2006/main">
            <a:r>
              <a:t/>
            </a:r>
          </a:p>
          <a:p xmlns:a="http://schemas.openxmlformats.org/drawingml/2006/main">
            <a:r>
              <a:t>**Beginner Explanation:**</a:t>
            </a:r>
          </a:p>
          <a:p xmlns:a="http://schemas.openxmlformats.org/drawingml/2006/main">
            <a:r>
              <a:t>같은 문제가 반복되면 Prompt 외에도 Project와 workflow를 살핀다.</a:t>
            </a:r>
          </a:p>
          <a:p xmlns:a="http://schemas.openxmlformats.org/drawingml/2006/main">
            <a:r>
              <a:t/>
            </a:r>
          </a:p>
          <a:p xmlns:a="http://schemas.openxmlformats.org/drawingml/2006/main">
            <a:r>
              <a:t>**Advanced Insight:**</a:t>
            </a:r>
          </a:p>
          <a:p xmlns:a="http://schemas.openxmlformats.org/drawingml/2006/main">
            <a:r>
              <a:t>Project/environment 변화가 verification assumptions에 미치는 영향을 평가한다.</a:t>
            </a:r>
          </a:p>
          <a:p xmlns:a="http://schemas.openxmlformats.org/drawingml/2006/main">
            <a:r>
              <a:t/>
            </a:r>
          </a:p>
          <a:p xmlns:a="http://schemas.openxmlformats.org/drawingml/2006/main">
            <a:r>
              <a:t>**C++ Vision Bridge:**</a:t>
            </a:r>
          </a:p>
          <a:p xmlns:a="http://schemas.openxmlformats.org/drawingml/2006/main">
            <a:r>
              <a:t>Primary bridge. 변화한 조건에서 기존 tuning 가정과 benchmark/regression 조건을 다시 확인하는 engineering pattern만 전한다.</a:t>
            </a:r>
          </a:p>
          <a:p xmlns:a="http://schemas.openxmlformats.org/drawingml/2006/main">
            <a:r>
              <a:t/>
            </a:r>
          </a:p>
          <a:p xmlns:a="http://schemas.openxmlformats.org/drawingml/2006/main">
            <a:r>
              <a:t>**Demo Operation:**</a:t>
            </a:r>
          </a:p>
          <a:p xmlns:a="http://schemas.openxmlformats.org/drawingml/2006/main">
            <a:r>
              <a:t>정적 화면과 speaker-led highlighting을 사용한다. 화면에는 세 확인 대상과 성찰 질문을 두고, 20분 운영표는 Notes에만 둔다. Live 프로젝트·제품 실행·애니메이션 의존 없음.</a:t>
            </a:r>
          </a:p>
          <a:p xmlns:a="http://schemas.openxmlformats.org/drawingml/2006/main">
            <a:r>
              <a:t/>
            </a:r>
          </a:p>
          <a:p xmlns:a="http://schemas.openxmlformats.org/drawingml/2006/main">
            <a:r>
              <a:t>**Audience Interaction:**</a:t>
            </a:r>
          </a:p>
          <a:p xmlns:a="http://schemas.openxmlformats.org/drawingml/2006/main">
            <a:r>
              <a:t>7–9분 개인 Reflection은 답변·공유 없이 진행한다. 9–16분 Q&amp;A에서는 실제 회사 환경의 검증되지 않은 해결책을 단정하지 않고 어떤 조건을 확인해야 하는지로 답한다.</a:t>
            </a:r>
          </a:p>
          <a:p xmlns:a="http://schemas.openxmlformats.org/drawingml/2006/main">
            <a:r>
              <a:t/>
            </a:r>
          </a:p>
          <a:p xmlns:a="http://schemas.openxmlformats.org/drawingml/2006/main">
            <a:r>
              <a:t>**Transition:**</a:t>
            </a:r>
          </a:p>
          <a:p xmlns:a="http://schemas.openxmlformats.org/drawingml/2006/main">
            <a:r>
              <a:t>“이제 기능이 아니라, 처음의 문제에서 Loop까지 이어진 Story를 다시 연결해 보겠습니다.” ACT 5 S73으로 넘긴다.</a:t>
            </a:r>
          </a:p>
          <a:p xmlns:a="http://schemas.openxmlformats.org/drawingml/2006/main">
            <a:r>
              <a:t/>
            </a:r>
          </a:p>
          <a:p xmlns:a="http://schemas.openxmlformats.org/drawingml/2006/main">
            <a:r>
              <a:t>**Time Management:**</a:t>
            </a:r>
          </a:p>
          <a:p xmlns:a="http://schemas.openxmlformats.org/drawingml/2006/main">
            <a:r>
              <a:t>0–7 Case 7분, 7–9 Reflection 2분, 9–16 Q&amp;A 7분, 16–20 Transition 4분으로 20분을 유지한다. Cutoff cue: “이 질문은 여기까지 정리하고, 이제 처음 문제부터 지금의 Loop까지 연결해 보겠습니다.” 실제 20분 리허설은 수행하지 않았다.</a:t>
            </a:r>
          </a:p>
          <a:p xmlns:a="http://schemas.openxmlformats.org/drawingml/2006/main">
            <a:r>
              <a:t/>
            </a:r>
          </a:p>
          <a:p xmlns:a="http://schemas.openxmlformats.org/drawingml/2006/main">
            <a:r>
              <a:t>**Fallback:**</a:t>
            </a:r>
          </a:p>
          <a:p xmlns:a="http://schemas.openxmlformats.org/drawingml/2006/main">
            <a:r>
              <a:t>정적 PPT/PNG를 기본 경로로 사용한다. Q&amp;A가 없으면 ①“예전 Benchmark와 비교하기 전에 어떤 조건을 맞춰야 할까요?” ②“성능이 달라졌을 때 기능 계약은 무엇으로 다시 확인할까요?” ③“두 번째로 같은 문제가 생기면 Prompt 외에 무엇을 살펴볼까요?” 중 하나씩 선택한다. 응답을 요구하지 않고 기존 세 행의 질문 안에서 강사가 짧게 해설한다.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여섯 시간의 Story를 한 장으로</a:t>
            </a:r>
          </a:p>
          <a:p xmlns:a="http://schemas.openxmlformats.org/drawingml/2006/main">
            <a:r>
              <a:t/>
            </a:r>
          </a:p>
          <a:p xmlns:a="http://schemas.openxmlformats.org/drawingml/2006/main">
            <a:r>
              <a:t>**Slide ID:**</a:t>
            </a:r>
          </a:p>
          <a:p xmlns:a="http://schemas.openxmlformats.org/drawingml/2006/main">
            <a:r>
              <a:t>S73</a:t>
            </a:r>
          </a:p>
          <a:p xmlns:a="http://schemas.openxmlformats.org/drawingml/2006/main">
            <a:r>
              <a:t/>
            </a:r>
          </a:p>
          <a:p xmlns:a="http://schemas.openxmlformats.org/drawingml/2006/main">
            <a:r>
              <a:t>**Working Title:**</a:t>
            </a:r>
          </a:p>
          <a:p xmlns:a="http://schemas.openxmlformats.org/drawingml/2006/main">
            <a:r>
              <a:t>여섯 시간의 Story를 한 장으로</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Chatbot은 답을 구하고, Prompt는 Task를 구체화하며, Context는 필요한 Project 지식을 제공하고, Harness는 작업 환경을 설계하며, Loop는 Feedback으로 System을 개선한다.</a:t>
            </a:r>
          </a:p>
          <a:p xmlns:a="http://schemas.openxmlformats.org/drawingml/2006/main">
            <a:r>
              <a:t/>
            </a:r>
          </a:p>
          <a:p xmlns:a="http://schemas.openxmlformats.org/drawingml/2006/main">
            <a:r>
              <a:t>**Opening Question:**</a:t>
            </a:r>
          </a:p>
          <a:p xmlns:a="http://schemas.openxmlformats.org/drawingml/2006/main">
            <a:r>
              <a:t>“나는 지금 AI를 어떤 방식으로 사용하고 있을까?”</a:t>
            </a:r>
          </a:p>
          <a:p xmlns:a="http://schemas.openxmlformats.org/drawingml/2006/main">
            <a:r>
              <a:t/>
            </a:r>
          </a:p>
          <a:p xmlns:a="http://schemas.openxmlformats.org/drawingml/2006/main">
            <a:r>
              <a:t>**Speaker Flow:**</a:t>
            </a:r>
          </a:p>
          <a:p xmlns:a="http://schemas.openxmlformats.org/drawingml/2006/main">
            <a:r>
              <a:t>1. (0:00–0:30 / Lecture) 처음의 질문으로 돌아가 다섯 방식을 한눈에 보여준다.</a:t>
            </a:r>
          </a:p>
          <a:p xmlns:a="http://schemas.openxmlformats.org/drawingml/2006/main">
            <a:r>
              <a:t>2. (0:30–2:45 / Lecture) 각 행의 행동만 회수한다: 답을 구하기, 이번 작업 구체화, 프로젝트 지식 제공, 일하는 환경 설계, 피드백으로 시스템 수정. 새 용어를 덧붙이지 않는다.</a:t>
            </a:r>
          </a:p>
          <a:p xmlns:a="http://schemas.openxmlformats.org/drawingml/2006/main">
            <a:r>
              <a:t>3. (2:45–4:00 / Lecture) 앞의 방식이 사라지지 않고 문제에 맞는 대응이 더해졌다고 정리한다. S74 실제 Repository 이력→S75 선택 기준→S76 책임을 거쳐 S77에서 AI-Native 운영 모델을 회수한다.</a:t>
            </a:r>
          </a:p>
          <a:p xmlns:a="http://schemas.openxmlformats.org/drawingml/2006/main">
            <a:r>
              <a:t/>
            </a:r>
          </a:p>
          <a:p xmlns:a="http://schemas.openxmlformats.org/drawingml/2006/main">
            <a:r>
              <a:t>**Evidence / Source:**</a:t>
            </a:r>
          </a:p>
          <a:p xmlns:a="http://schemas.openxmlformats.org/drawingml/2006/main">
            <a:r>
              <a:t>TEACHING_MODEL · BEAT-060 · 앞선 ACT의 Story callback. 새 Demo는 실행하지 않는다.</a:t>
            </a:r>
          </a:p>
          <a:p xmlns:a="http://schemas.openxmlformats.org/drawingml/2006/main">
            <a:r>
              <a:t/>
            </a:r>
          </a:p>
          <a:p xmlns:a="http://schemas.openxmlformats.org/drawingml/2006/main">
            <a:r>
              <a:t>**Claim Boundary:**</a:t>
            </a:r>
          </a:p>
          <a:p xmlns:a="http://schemas.openxmlformats.org/drawingml/2006/main">
            <a:r>
              <a:t>이 교육의 문제-driven 진화 모델이다. 각 단계는 앞 단계를 대체하거나 모든 개발자가 같은 maturity 순서로 이동해야 한다는 뜻이 아니다.</a:t>
            </a:r>
          </a:p>
          <a:p xmlns:a="http://schemas.openxmlformats.org/drawingml/2006/main">
            <a:r>
              <a:t/>
            </a:r>
          </a:p>
          <a:p xmlns:a="http://schemas.openxmlformats.org/drawingml/2006/main">
            <a:r>
              <a:t>**Beginner Explanation:**</a:t>
            </a:r>
          </a:p>
          <a:p xmlns:a="http://schemas.openxmlformats.org/drawingml/2006/main">
            <a:r>
              <a:t>현재 사용 방식에서 다음으로 필요한 작은 engineering 대응 하나를 찾는다.</a:t>
            </a:r>
          </a:p>
          <a:p xmlns:a="http://schemas.openxmlformats.org/drawingml/2006/main">
            <a:r>
              <a:t/>
            </a:r>
          </a:p>
          <a:p xmlns:a="http://schemas.openxmlformats.org/drawingml/2006/main">
            <a:r>
              <a:t>**Advanced Insight:**</a:t>
            </a:r>
          </a:p>
          <a:p xmlns:a="http://schemas.openxmlformats.org/drawingml/2006/main">
            <a:r>
              <a:t>어떤 문제가 다음 단계의 접근을 필요하게 했는지 시스템 관점으로 설명한다.</a:t>
            </a:r>
          </a:p>
          <a:p xmlns:a="http://schemas.openxmlformats.org/drawingml/2006/main">
            <a:r>
              <a:t/>
            </a:r>
          </a:p>
          <a:p xmlns:a="http://schemas.openxmlformats.org/drawingml/2006/main">
            <a:r>
              <a:t>**C++ Vision Bridge:**</a:t>
            </a:r>
          </a:p>
          <a:p xmlns:a="http://schemas.openxmlformats.org/drawingml/2006/main">
            <a:r>
              <a:t>기존 Vision 사례를 선택적으로 회상할 수 있다. 새 C++ 기술 사례는 추가하지 않는다.</a:t>
            </a:r>
          </a:p>
          <a:p xmlns:a="http://schemas.openxmlformats.org/drawingml/2006/main">
            <a:r>
              <a:t/>
            </a:r>
          </a:p>
          <a:p xmlns:a="http://schemas.openxmlformats.org/drawingml/2006/main">
            <a:r>
              <a:t>**Demo Operation:**</a:t>
            </a:r>
          </a:p>
          <a:p xmlns:a="http://schemas.openxmlformats.org/drawingml/2006/main">
            <a:r>
              <a:t>다섯 개 행동 행을 차례로 가리킨다. 새로운 실행이나 상태를 추가하지 않는다. S77의 정의를 바로 다음 장에서 설명한다고 예고하지 않는다.</a:t>
            </a:r>
          </a:p>
          <a:p xmlns:a="http://schemas.openxmlformats.org/drawingml/2006/main">
            <a:r>
              <a:t/>
            </a:r>
          </a:p>
          <a:p xmlns:a="http://schemas.openxmlformats.org/drawingml/2006/main">
            <a:r>
              <a:t>**Audience Interaction:**</a:t>
            </a:r>
          </a:p>
          <a:p xmlns:a="http://schemas.openxmlformats.org/drawingml/2006/main">
            <a:r>
              <a:t>Opening question을 띄우고 개인적으로 떠올리게 한다. 답변이나 현재 수준 발표를 요구하지 않는다.</a:t>
            </a:r>
          </a:p>
          <a:p xmlns:a="http://schemas.openxmlformats.org/drawingml/2006/main">
            <a:r>
              <a:t/>
            </a:r>
          </a:p>
          <a:p xmlns:a="http://schemas.openxmlformats.org/drawingml/2006/main">
            <a:r>
              <a:t>**Transition:**</a:t>
            </a:r>
          </a:p>
          <a:p xmlns:a="http://schemas.openxmlformats.org/drawingml/2006/main">
            <a:r>
              <a:t>“이 흐름이 하나의 Repository에서는 어떤 변화로 기록됐을까요?” S74로 넘긴다.</a:t>
            </a:r>
          </a:p>
          <a:p xmlns:a="http://schemas.openxmlformats.org/drawingml/2006/main">
            <a:r>
              <a:t/>
            </a:r>
          </a:p>
          <a:p xmlns:a="http://schemas.openxmlformats.org/drawingml/2006/main">
            <a:r>
              <a:t>**Time Management:**</a:t>
            </a:r>
          </a:p>
          <a:p xmlns:a="http://schemas.openxmlformats.org/drawingml/2006/main">
            <a:r>
              <a:t>총 4분, Lecture 4분. 각 단계 설명을 한 문장에 제한하고 앞선 ACT 내용을 다시 강의하지 않는다.</a:t>
            </a:r>
          </a:p>
          <a:p xmlns:a="http://schemas.openxmlformats.org/drawingml/2006/main">
            <a:r>
              <a:t/>
            </a:r>
          </a:p>
          <a:p xmlns:a="http://schemas.openxmlformats.org/drawingml/2006/main">
            <a:r>
              <a:t>**Fallback:**</a:t>
            </a:r>
          </a:p>
          <a:p xmlns:a="http://schemas.openxmlformats.org/drawingml/2006/main">
            <a:r>
              <a:t>LOCAL STATIC ARTIFACT — production/ACT_5.pptx의 S73와 production/preview/act5/S73.png를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하나의 Repository가 문제에 대응해 진화했다</a:t>
            </a:r>
          </a:p>
          <a:p xmlns:a="http://schemas.openxmlformats.org/drawingml/2006/main">
            <a:r>
              <a:t/>
            </a:r>
          </a:p>
          <a:p xmlns:a="http://schemas.openxmlformats.org/drawingml/2006/main">
            <a:r>
              <a:t>**Slide ID:**</a:t>
            </a:r>
          </a:p>
          <a:p xmlns:a="http://schemas.openxmlformats.org/drawingml/2006/main">
            <a:r>
              <a:t>S74</a:t>
            </a:r>
          </a:p>
          <a:p xmlns:a="http://schemas.openxmlformats.org/drawingml/2006/main">
            <a:r>
              <a:t/>
            </a:r>
          </a:p>
          <a:p xmlns:a="http://schemas.openxmlformats.org/drawingml/2006/main">
            <a:r>
              <a:t>**Working Title:**</a:t>
            </a:r>
          </a:p>
          <a:p xmlns:a="http://schemas.openxmlformats.org/drawingml/2006/main">
            <a:r>
              <a:t>하나의 Repository가 문제에 대응해 진화했다</a:t>
            </a:r>
          </a:p>
          <a:p xmlns:a="http://schemas.openxmlformats.org/drawingml/2006/main">
            <a:r>
              <a:t/>
            </a:r>
          </a:p>
          <a:p xmlns:a="http://schemas.openxmlformats.org/drawingml/2006/main">
            <a:r>
              <a:t>**ACT / Section:**</a:t>
            </a:r>
          </a:p>
          <a:p xmlns:a="http://schemas.openxmlformats.org/drawingml/2006/main">
            <a:r>
              <a:t>ACT 5 / 5A  PRIMARY DEMO EVOLUTION</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Demo 2분 (VISUAL)</a:t>
            </a:r>
          </a:p>
          <a:p xmlns:a="http://schemas.openxmlformats.org/drawingml/2006/main">
            <a:r>
              <a:t/>
            </a:r>
          </a:p>
          <a:p xmlns:a="http://schemas.openxmlformats.org/drawingml/2006/main">
            <a:r>
              <a:t>**Primary Message:**</a:t>
            </a:r>
          </a:p>
          <a:p xmlns:a="http://schemas.openxmlformats.org/drawingml/2006/main">
            <a:r>
              <a:t>각 State는 해당 문제에 대응해 기록된 Engineering history다. State 순서는 기능 성숙도 등급이 아니다.</a:t>
            </a:r>
          </a:p>
          <a:p xmlns:a="http://schemas.openxmlformats.org/drawingml/2006/main">
            <a:r>
              <a:t/>
            </a:r>
          </a:p>
          <a:p xmlns:a="http://schemas.openxmlformats.org/drawingml/2006/main">
            <a:r>
              <a:t>**Opening Question:**</a:t>
            </a:r>
          </a:p>
          <a:p xmlns:a="http://schemas.openxmlformats.org/drawingml/2006/main">
            <a:r>
              <a:t>“이 Repository는 어떤 문제를 만나며 바뀌었나?”</a:t>
            </a:r>
          </a:p>
          <a:p xmlns:a="http://schemas.openxmlformats.org/drawingml/2006/main">
            <a:r>
              <a:t/>
            </a:r>
          </a:p>
          <a:p xmlns:a="http://schemas.openxmlformats.org/drawingml/2006/main">
            <a:r>
              <a:t>**Speaker Flow:**</a:t>
            </a:r>
          </a:p>
          <a:p xmlns:a="http://schemas.openxmlformats.org/drawingml/2006/main">
            <a:r>
              <a:t>1. (0:00–1:00 / Lecture) 일곱 이름을 위쪽 왼쪽부터 오른쪽, 다음 아래쪽 왼쪽부터 읽는다. State는 당시 문제에 대응한 이력임을 말한다.</a:t>
            </a:r>
          </a:p>
          <a:p xmlns:a="http://schemas.openxmlformats.org/drawingml/2006/main">
            <a:r>
              <a:t>2. (1:00–2:30 / VISUAL Demo) crop 문제→수정→프로젝트 지침→Context 증가→상세 정보 연결→재사용 Workflow→검증된 제품 변경을 짧게 회수한다.</a:t>
            </a:r>
          </a:p>
          <a:p xmlns:a="http://schemas.openxmlformats.org/drawingml/2006/main">
            <a:r>
              <a:t>3. (2:30–3:00 / VISUAL Demo) STATE-04-PERF의 bounded endpoint에서 닫는다. Benchmark 준비 commit은 추가 State가 아니다.</a:t>
            </a:r>
          </a:p>
          <a:p xmlns:a="http://schemas.openxmlformats.org/drawingml/2006/main">
            <a:r>
              <a:t/>
            </a:r>
          </a:p>
          <a:p xmlns:a="http://schemas.openxmlformats.org/drawingml/2006/main">
            <a:r>
              <a:t>**Evidence / Source:**</a:t>
            </a:r>
          </a:p>
          <a:p xmlns:a="http://schemas.openxmlformats.org/drawingml/2006/main">
            <a:r>
              <a:t>OBSERVED_PRODUCT · `ai-dev-training-demo`의 named Git State/tag 기록과 DEMO-12. State 순서는 STATE-00 → STATE-00-FIXED → STATE-01 → STATE-02 → STATE-03 → STATE-04 → STATE-04-PERF다.</a:t>
            </a:r>
          </a:p>
          <a:p xmlns:a="http://schemas.openxmlformats.org/drawingml/2006/main">
            <a:r>
              <a:t/>
            </a:r>
          </a:p>
          <a:p xmlns:a="http://schemas.openxmlformats.org/drawingml/2006/main">
            <a:r>
              <a:t>**Claim Boundary:**</a:t>
            </a:r>
          </a:p>
          <a:p xmlns:a="http://schemas.openxmlformats.org/drawingml/2006/main">
            <a:r>
              <a:t>기록된 State와 Demo evidence 범위에 한정한다. Benchmark preparation commits는 supporting history이며 별도 State가 아니다. Subagent, Memory, stale Harness 또는 Loop를 Product State로 표시하지 않는다.</a:t>
            </a:r>
          </a:p>
          <a:p xmlns:a="http://schemas.openxmlformats.org/drawingml/2006/main">
            <a:r>
              <a:t/>
            </a:r>
          </a:p>
          <a:p xmlns:a="http://schemas.openxmlformats.org/drawingml/2006/main">
            <a:r>
              <a:t>**Beginner Explanation:**</a:t>
            </a:r>
          </a:p>
          <a:p xmlns:a="http://schemas.openxmlformats.org/drawingml/2006/main">
            <a:r>
              <a:t>변화가 기능 수를 늘리기 위한 것이 아니라 당시 확인된 문제에 대응했다는 점을 본다.</a:t>
            </a:r>
          </a:p>
          <a:p xmlns:a="http://schemas.openxmlformats.org/drawingml/2006/main">
            <a:r>
              <a:t/>
            </a:r>
          </a:p>
          <a:p xmlns:a="http://schemas.openxmlformats.org/drawingml/2006/main">
            <a:r>
              <a:t>**Advanced Insight:**</a:t>
            </a:r>
          </a:p>
          <a:p xmlns:a="http://schemas.openxmlformats.org/drawingml/2006/main">
            <a:r>
              <a:t>Product State와 Conceptual 또는 Observed Meta 사례를 구분하고 bounded Product endpoint를 읽는다.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DEMO-12 · VISUAL, 2분. 실제 Product State/tag를 요약한 static timeline이다. 새 Trial·repository 실행·추가 state는 없다. Benchmark preparation은 별도 State로 그리지 않는다.</a:t>
            </a:r>
          </a:p>
          <a:p xmlns:a="http://schemas.openxmlformats.org/drawingml/2006/main">
            <a:r>
              <a:t/>
            </a:r>
          </a:p>
          <a:p xmlns:a="http://schemas.openxmlformats.org/drawingml/2006/main">
            <a:r>
              <a:t>**Audience Interaction:**</a:t>
            </a:r>
          </a:p>
          <a:p xmlns:a="http://schemas.openxmlformats.org/drawingml/2006/main">
            <a:r>
              <a:t>질문에 맞춰 각 State 아래 한 문구를 함께 훑는다. 평가 점수나 성숙도 단계로 읽지 않게 안내한다.</a:t>
            </a:r>
          </a:p>
          <a:p xmlns:a="http://schemas.openxmlformats.org/drawingml/2006/main">
            <a:r>
              <a:t/>
            </a:r>
          </a:p>
          <a:p xmlns:a="http://schemas.openxmlformats.org/drawingml/2006/main">
            <a:r>
              <a:t>**Transition:**</a:t>
            </a:r>
          </a:p>
          <a:p xmlns:a="http://schemas.openxmlformats.org/drawingml/2006/main">
            <a:r>
              <a:t>“그러면 이 작업에서 Subagent와 Memory는 왜 없었을까요?” S75로 전환한다.</a:t>
            </a:r>
          </a:p>
          <a:p xmlns:a="http://schemas.openxmlformats.org/drawingml/2006/main">
            <a:r>
              <a:t/>
            </a:r>
          </a:p>
          <a:p xmlns:a="http://schemas.openxmlformats.org/drawingml/2006/main">
            <a:r>
              <a:t>**Time Management:**</a:t>
            </a:r>
          </a:p>
          <a:p xmlns:a="http://schemas.openxmlformats.org/drawingml/2006/main">
            <a:r>
              <a:t>Lecture 1분 + VISUAL Demo 2분 = 3분. 세부 Trial을 재설명하지 않는다.</a:t>
            </a:r>
          </a:p>
          <a:p xmlns:a="http://schemas.openxmlformats.org/drawingml/2006/main">
            <a:r>
              <a:t/>
            </a:r>
          </a:p>
          <a:p xmlns:a="http://schemas.openxmlformats.org/drawingml/2006/main">
            <a:r>
              <a:t>**Fallback:**</a:t>
            </a:r>
          </a:p>
          <a:p xmlns:a="http://schemas.openxmlformats.org/drawingml/2006/main">
            <a:r>
              <a:t>LOCAL STATIC ARTIFACT — production/ACT_5.pptx의 S74와 production/preview/act5/S74.png를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필요성이 입증되지 않은 것은 보류했다</a:t>
            </a:r>
          </a:p>
          <a:p xmlns:a="http://schemas.openxmlformats.org/drawingml/2006/main">
            <a:r>
              <a:t/>
            </a:r>
          </a:p>
          <a:p xmlns:a="http://schemas.openxmlformats.org/drawingml/2006/main">
            <a:r>
              <a:t>**Slide ID:**</a:t>
            </a:r>
          </a:p>
          <a:p xmlns:a="http://schemas.openxmlformats.org/drawingml/2006/main">
            <a:r>
              <a:t>S75</a:t>
            </a:r>
          </a:p>
          <a:p xmlns:a="http://schemas.openxmlformats.org/drawingml/2006/main">
            <a:r>
              <a:t/>
            </a:r>
          </a:p>
          <a:p xmlns:a="http://schemas.openxmlformats.org/drawingml/2006/main">
            <a:r>
              <a:t>**Working Title:**</a:t>
            </a:r>
          </a:p>
          <a:p xmlns:a="http://schemas.openxmlformats.org/drawingml/2006/main">
            <a:r>
              <a:t>필요성이 입증되지 않은 것은 보류했다</a:t>
            </a:r>
          </a:p>
          <a:p xmlns:a="http://schemas.openxmlformats.org/drawingml/2006/main">
            <a:r>
              <a:t/>
            </a:r>
          </a:p>
          <a:p xmlns:a="http://schemas.openxmlformats.org/drawingml/2006/main">
            <a:r>
              <a:t>**ACT / Section:**</a:t>
            </a:r>
          </a:p>
          <a:p xmlns:a="http://schemas.openxmlformats.org/drawingml/2006/main">
            <a:r>
              <a:t>ACT 5 / 5A  MINIMUM EFFECTIVE HARNESS CALLBACK</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이 bounded task에서는 Subagent와 Memory를 추가할 충분한 근거가 없었다. “Use what the problem justifies.”</a:t>
            </a:r>
          </a:p>
          <a:p xmlns:a="http://schemas.openxmlformats.org/drawingml/2006/main">
            <a:r>
              <a:t/>
            </a:r>
          </a:p>
          <a:p xmlns:a="http://schemas.openxmlformats.org/drawingml/2006/main">
            <a:r>
              <a:t>**Opening Question:**</a:t>
            </a:r>
          </a:p>
          <a:p xmlns:a="http://schemas.openxmlformats.org/drawingml/2006/main">
            <a:r>
              <a:t>“왜 현재 Demo의 최종 그림에 Subagent와 Memory가 없을까?”</a:t>
            </a:r>
          </a:p>
          <a:p xmlns:a="http://schemas.openxmlformats.org/drawingml/2006/main">
            <a:r>
              <a:t/>
            </a:r>
          </a:p>
          <a:p xmlns:a="http://schemas.openxmlformats.org/drawingml/2006/main">
            <a:r>
              <a:t>**Speaker Flow:**</a:t>
            </a:r>
          </a:p>
          <a:p xmlns:a="http://schemas.openxmlformats.org/drawingml/2006/main">
            <a:r>
              <a:t>1. (0:00–0:30 / Lecture) 이번 작업에서 쓴 왼쪽 요소와 보류한 오른쪽 요소를 비교한다.</a:t>
            </a:r>
          </a:p>
          <a:p xmlns:a="http://schemas.openxmlformats.org/drawingml/2006/main">
            <a:r>
              <a:t>2. (0:30–1:20 / Lecture) STATE-04-PERF와 DEC-0018의 bounded 범위에서 Subagent·Memory 추가의 이득이 충분히 정당화되지 않았다고 설명한다.</a:t>
            </a:r>
          </a:p>
          <a:p xmlns:a="http://schemas.openxmlformats.org/drawingml/2006/main">
            <a:r>
              <a:t>3. (1:20–2:00 / Lecture) “현재 문제가 필요로 하는 만큼 설계한다”는 기준을 남긴다. 기능 수가 많거나 적다는 이유만으로 성숙도를 판단하지 않는다.</a:t>
            </a:r>
          </a:p>
          <a:p xmlns:a="http://schemas.openxmlformats.org/drawingml/2006/main">
            <a:r>
              <a:t/>
            </a:r>
          </a:p>
          <a:p xmlns:a="http://schemas.openxmlformats.org/drawingml/2006/main">
            <a:r>
              <a:t>**Evidence / Source:**</a:t>
            </a:r>
          </a:p>
          <a:p xmlns:a="http://schemas.openxmlformats.org/drawingml/2006/main">
            <a:r>
              <a:t>OBSERVED_PRODUCT / TEACHING_MODEL · STATE-04-PERF와 DEC-0018. 사용한 요소: task Prompt, Project Context/routing, reusable Skill/workflow, Tests와 benchmark. 이번 bounded task에서 Subagent와 Memory는 사용되지 않았다.</a:t>
            </a:r>
          </a:p>
          <a:p xmlns:a="http://schemas.openxmlformats.org/drawingml/2006/main">
            <a:r>
              <a:t/>
            </a:r>
          </a:p>
          <a:p xmlns:a="http://schemas.openxmlformats.org/drawingml/2006/main">
            <a:r>
              <a:t>**Claim Boundary:**</a:t>
            </a:r>
          </a:p>
          <a:p xmlns:a="http://schemas.openxmlformats.org/drawingml/2006/main">
            <a:r>
              <a:t>이 Demo의 bounded 작업과 이 교육의 프로젝트별 heuristic이다. 모든 Project에 Subagent/Memory가 불필요하거나 적게 쓰는 것이 항상 낫다는 뜻이 아니다.</a:t>
            </a:r>
          </a:p>
          <a:p xmlns:a="http://schemas.openxmlformats.org/drawingml/2006/main">
            <a:r>
              <a:t/>
            </a:r>
          </a:p>
          <a:p xmlns:a="http://schemas.openxmlformats.org/drawingml/2006/main">
            <a:r>
              <a:t>**Beginner Explanation:**</a:t>
            </a:r>
          </a:p>
          <a:p xmlns:a="http://schemas.openxmlformats.org/drawingml/2006/main">
            <a:r>
              <a:t>처음부터 모든 기능을 넣지 않고 지금 반복되는 마찰과 필요한 지원부터 찾는다.</a:t>
            </a:r>
          </a:p>
          <a:p xmlns:a="http://schemas.openxmlformats.org/drawingml/2006/main">
            <a:r>
              <a:t/>
            </a:r>
          </a:p>
          <a:p xmlns:a="http://schemas.openxmlformats.org/drawingml/2006/main">
            <a:r>
              <a:t>**Advanced Insight:**</a:t>
            </a:r>
          </a:p>
          <a:p xmlns:a="http://schemas.openxmlformats.org/drawingml/2006/main">
            <a:r>
              <a:t>구성요소별 비용과 이득을 실제 task, context, verification 요구에 맞춰 평가한다.</a:t>
            </a:r>
          </a:p>
          <a:p xmlns:a="http://schemas.openxmlformats.org/drawingml/2006/main">
            <a:r>
              <a:t/>
            </a:r>
          </a:p>
          <a:p xmlns:a="http://schemas.openxmlformats.org/drawingml/2006/main">
            <a:r>
              <a:t>**C++ Vision Bridge:**</a:t>
            </a:r>
          </a:p>
          <a:p xmlns:a="http://schemas.openxmlformats.org/drawingml/2006/main">
            <a:r>
              <a:t>자신의 Repository에서도 같은 정당화 질문을 적용할 수 있다. 새 C++ 절차는 추가하지 않는다.</a:t>
            </a:r>
          </a:p>
          <a:p xmlns:a="http://schemas.openxmlformats.org/drawingml/2006/main">
            <a:r>
              <a:t/>
            </a:r>
          </a:p>
          <a:p xmlns:a="http://schemas.openxmlformats.org/drawingml/2006/main">
            <a:r>
              <a:t>**Demo Operation:**</a:t>
            </a:r>
          </a:p>
          <a:p xmlns:a="http://schemas.openxmlformats.org/drawingml/2006/main">
            <a:r>
              <a:t>추가 실행 없음. 왼쪽은 STATE-04-PERF의 system components, 오른쪽은 이번 사례에서 정당화되지 않은 Subagent/Memory다. 상태와 일반 규칙을 섞지 않는다.</a:t>
            </a:r>
          </a:p>
          <a:p xmlns:a="http://schemas.openxmlformats.org/drawingml/2006/main">
            <a:r>
              <a:t/>
            </a:r>
          </a:p>
          <a:p xmlns:a="http://schemas.openxmlformats.org/drawingml/2006/main">
            <a:r>
              <a:t>**Audience Interaction:**</a:t>
            </a:r>
          </a:p>
          <a:p xmlns:a="http://schemas.openxmlformats.org/drawingml/2006/main">
            <a:r>
              <a:t>차이를 보고 “Use what the problem justifies”라는 기준을 가져간다. 도구 선택 답변이나 투표는 요구하지 않는다.</a:t>
            </a:r>
          </a:p>
          <a:p xmlns:a="http://schemas.openxmlformats.org/drawingml/2006/main">
            <a:r>
              <a:t/>
            </a:r>
          </a:p>
          <a:p xmlns:a="http://schemas.openxmlformats.org/drawingml/2006/main">
            <a:r>
              <a:t>**Transition:**</a:t>
            </a:r>
          </a:p>
          <a:p xmlns:a="http://schemas.openxmlformats.org/drawingml/2006/main">
            <a:r>
              <a:t>“AI에게 더 많은 일을 맡겨도 개발자에게 남는 책임은 무엇일까요?” S76으로 이동한다.</a:t>
            </a:r>
          </a:p>
          <a:p xmlns:a="http://schemas.openxmlformats.org/drawingml/2006/main">
            <a:r>
              <a:t/>
            </a:r>
          </a:p>
          <a:p xmlns:a="http://schemas.openxmlformats.org/drawingml/2006/main">
            <a:r>
              <a:t>**Time Management:**</a:t>
            </a:r>
          </a:p>
          <a:p xmlns:a="http://schemas.openxmlformats.org/drawingml/2006/main">
            <a:r>
              <a:t>Lecture 2분. 구성요소를 다시 강의하지 않고 판단 근거와 범위에 집중한다.</a:t>
            </a:r>
          </a:p>
          <a:p xmlns:a="http://schemas.openxmlformats.org/drawingml/2006/main">
            <a:r>
              <a:t/>
            </a:r>
          </a:p>
          <a:p xmlns:a="http://schemas.openxmlformats.org/drawingml/2006/main">
            <a:r>
              <a:t>**Fallback:**</a:t>
            </a:r>
          </a:p>
          <a:p xmlns:a="http://schemas.openxmlformats.org/drawingml/2006/main">
            <a:r>
              <a:t>LOCAL STATIC ARTIFACT — production/ACT_5.pptx의 S75와 production/preview/act5/S75.png를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위임이 늘어도 개발자 책임은 남는다</a:t>
            </a:r>
          </a:p>
          <a:p xmlns:a="http://schemas.openxmlformats.org/drawingml/2006/main">
            <a:r>
              <a:t/>
            </a:r>
          </a:p>
          <a:p xmlns:a="http://schemas.openxmlformats.org/drawingml/2006/main">
            <a:r>
              <a:t>**Slide ID:**</a:t>
            </a:r>
          </a:p>
          <a:p xmlns:a="http://schemas.openxmlformats.org/drawingml/2006/main">
            <a:r>
              <a:t>S76</a:t>
            </a:r>
          </a:p>
          <a:p xmlns:a="http://schemas.openxmlformats.org/drawingml/2006/main">
            <a:r>
              <a:t/>
            </a:r>
          </a:p>
          <a:p xmlns:a="http://schemas.openxmlformats.org/drawingml/2006/main">
            <a:r>
              <a:t>**Working Title:**</a:t>
            </a:r>
          </a:p>
          <a:p xmlns:a="http://schemas.openxmlformats.org/drawingml/2006/main">
            <a:r>
              <a:t>위임이 늘어도 개발자 책임은 남는다</a:t>
            </a:r>
          </a:p>
          <a:p xmlns:a="http://schemas.openxmlformats.org/drawingml/2006/main">
            <a:r>
              <a:t/>
            </a:r>
          </a:p>
          <a:p xmlns:a="http://schemas.openxmlformats.org/drawingml/2006/main">
            <a:r>
              <a:t>**ACT / Section:**</a:t>
            </a:r>
          </a:p>
          <a:p xmlns:a="http://schemas.openxmlformats.org/drawingml/2006/main">
            <a:r>
              <a:t>ACT 5 / 5A  DEVELOPER RESPONSIBILITY</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Agent는 조사·생성·변경·실행·비교를 도울 수 있다. 개발자는 목표, 제약, 판단, Verification, 완료 여부와 결과 책임을 유지한다.</a:t>
            </a:r>
          </a:p>
          <a:p xmlns:a="http://schemas.openxmlformats.org/drawingml/2006/main">
            <a:r>
              <a:t/>
            </a:r>
          </a:p>
          <a:p xmlns:a="http://schemas.openxmlformats.org/drawingml/2006/main">
            <a:r>
              <a:t>**Opening Question:**</a:t>
            </a:r>
          </a:p>
          <a:p xmlns:a="http://schemas.openxmlformats.org/drawingml/2006/main">
            <a:r>
              <a:t>“AI가 더 많은 일을 맡아도 개발자가 계속 책임지는 것은 무엇인가?”</a:t>
            </a:r>
          </a:p>
          <a:p xmlns:a="http://schemas.openxmlformats.org/drawingml/2006/main">
            <a:r>
              <a:t/>
            </a:r>
          </a:p>
          <a:p xmlns:a="http://schemas.openxmlformats.org/drawingml/2006/main">
            <a:r>
              <a:t>**Speaker Flow:**</a:t>
            </a:r>
          </a:p>
          <a:p xmlns:a="http://schemas.openxmlformats.org/drawingml/2006/main">
            <a:r>
              <a:t>1. (0:00–0:40 / Lecture) AI가 도울 수 있는 행동은 상단 한 문장으로만 읽는다.</a:t>
            </a:r>
          </a:p>
          <a:p xmlns:a="http://schemas.openxmlformats.org/drawingml/2006/main">
            <a:r>
              <a:t>2. (0:40–2:20 / Lecture) 네 질문을 차례로 짚는다: 해결할 목표, 적절한 선택, 확인 근거, 완료 수용 여부.</a:t>
            </a:r>
          </a:p>
          <a:p xmlns:a="http://schemas.openxmlformats.org/drawingml/2006/main">
            <a:r>
              <a:t>3. (2:20–3:00 / Lecture) 역할의 절대적 분업이 아니라 개발자의 판단과 책임을 강조하고 S77의 운영 모델로 연결한다.</a:t>
            </a:r>
          </a:p>
          <a:p xmlns:a="http://schemas.openxmlformats.org/drawingml/2006/main">
            <a:r>
              <a:t/>
            </a:r>
          </a:p>
          <a:p xmlns:a="http://schemas.openxmlformats.org/drawingml/2006/main">
            <a:r>
              <a:t>**Evidence / Source:**</a:t>
            </a:r>
          </a:p>
          <a:p xmlns:a="http://schemas.openxmlformats.org/drawingml/2006/main">
            <a:r>
              <a:t>TEACHING_MODEL · BEAT-061–062. 새 Product feature나 책임 handoff evidence는 없다.</a:t>
            </a:r>
          </a:p>
          <a:p xmlns:a="http://schemas.openxmlformats.org/drawingml/2006/main">
            <a:r>
              <a:t/>
            </a:r>
          </a:p>
          <a:p xmlns:a="http://schemas.openxmlformats.org/drawingml/2006/main">
            <a:r>
              <a:t>**Claim Boundary:**</a:t>
            </a:r>
          </a:p>
          <a:p xmlns:a="http://schemas.openxmlformats.org/drawingml/2006/main">
            <a:r>
              <a:t>이 교육에서 고정한 책임 원칙이다. Agent와 개발자의 역할을 절대적인 분업 규칙으로 제시하지 않는다. AI fear/control framing을 사용하지 않는다.</a:t>
            </a:r>
          </a:p>
          <a:p xmlns:a="http://schemas.openxmlformats.org/drawingml/2006/main">
            <a:r>
              <a:t/>
            </a:r>
          </a:p>
          <a:p xmlns:a="http://schemas.openxmlformats.org/drawingml/2006/main">
            <a:r>
              <a:t>**Beginner Explanation:**</a:t>
            </a:r>
          </a:p>
          <a:p xmlns:a="http://schemas.openxmlformats.org/drawingml/2006/main">
            <a:r>
              <a:t>AI가 결과를 만들 수 있어도 무엇이 맞고 완료인지 판단하는 일은 남는다.</a:t>
            </a:r>
          </a:p>
          <a:p xmlns:a="http://schemas.openxmlformats.org/drawingml/2006/main">
            <a:r>
              <a:t/>
            </a:r>
          </a:p>
          <a:p xmlns:a="http://schemas.openxmlformats.org/drawingml/2006/main">
            <a:r>
              <a:t>**Advanced Insight:**</a:t>
            </a:r>
          </a:p>
          <a:p xmlns:a="http://schemas.openxmlformats.org/drawingml/2006/main">
            <a:r>
              <a:t>위임 범위, 제약, 검증 기준과 최종 수용 기준을 함께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N/A — 별도 실행 없음. 정적 role/responsibility diagram.</a:t>
            </a:r>
          </a:p>
          <a:p xmlns:a="http://schemas.openxmlformats.org/drawingml/2006/main">
            <a:r>
              <a:t/>
            </a:r>
          </a:p>
          <a:p xmlns:a="http://schemas.openxmlformats.org/drawingml/2006/main">
            <a:r>
              <a:t>**Audience Interaction:**</a:t>
            </a:r>
          </a:p>
          <a:p xmlns:a="http://schemas.openxmlformats.org/drawingml/2006/main">
            <a:r>
              <a:t>네 가지 책임 축을 읽고 자신의 완료 기준을 떠올리게 한다. 응답 요구 없음.</a:t>
            </a:r>
          </a:p>
          <a:p xmlns:a="http://schemas.openxmlformats.org/drawingml/2006/main">
            <a:r>
              <a:t/>
            </a:r>
          </a:p>
          <a:p xmlns:a="http://schemas.openxmlformats.org/drawingml/2006/main">
            <a:r>
              <a:t>**Transition:**</a:t>
            </a:r>
          </a:p>
          <a:p xmlns:a="http://schemas.openxmlformats.org/drawingml/2006/main">
            <a:r>
              <a:t>“이 역할 변화를 이 교육에서는 어떤 모델로 부를까요?” S77로 이동한다.</a:t>
            </a:r>
          </a:p>
          <a:p xmlns:a="http://schemas.openxmlformats.org/drawingml/2006/main">
            <a:r>
              <a:t/>
            </a:r>
          </a:p>
          <a:p xmlns:a="http://schemas.openxmlformats.org/drawingml/2006/main">
            <a:r>
              <a:t>**Time Management:**</a:t>
            </a:r>
          </a:p>
          <a:p xmlns:a="http://schemas.openxmlformats.org/drawingml/2006/main">
            <a:r>
              <a:t>Lecture 3분. 다섯 Agent 행동을 상세 제품 기능처럼 설명하지 않는다.</a:t>
            </a:r>
          </a:p>
          <a:p xmlns:a="http://schemas.openxmlformats.org/drawingml/2006/main">
            <a:r>
              <a:t/>
            </a:r>
          </a:p>
          <a:p xmlns:a="http://schemas.openxmlformats.org/drawingml/2006/main">
            <a:r>
              <a:t>**Fallback:**</a:t>
            </a:r>
          </a:p>
          <a:p xmlns:a="http://schemas.openxmlformats.org/drawingml/2006/main">
            <a:r>
              <a:t>LOCAL STATIC ARTIFACT — production/ACT_5.pptx의 S76와 production/preview/act5/S76.png를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AI-Native Development는 이 교육의 운영 모델</a:t>
            </a:r>
          </a:p>
          <a:p xmlns:a="http://schemas.openxmlformats.org/drawingml/2006/main">
            <a:r>
              <a:t/>
            </a:r>
          </a:p>
          <a:p xmlns:a="http://schemas.openxmlformats.org/drawingml/2006/main">
            <a:r>
              <a:t>**Slide ID:**</a:t>
            </a:r>
          </a:p>
          <a:p xmlns:a="http://schemas.openxmlformats.org/drawingml/2006/main">
            <a:r>
              <a:t>S77</a:t>
            </a:r>
          </a:p>
          <a:p xmlns:a="http://schemas.openxmlformats.org/drawingml/2006/main">
            <a:r>
              <a:t/>
            </a:r>
          </a:p>
          <a:p xmlns:a="http://schemas.openxmlformats.org/drawingml/2006/main">
            <a:r>
              <a:t>**Working Title:**</a:t>
            </a:r>
          </a:p>
          <a:p xmlns:a="http://schemas.openxmlformats.org/drawingml/2006/main">
            <a:r>
              <a:t>AI-Native Development는 이 교육의 운영 모델</a:t>
            </a:r>
          </a:p>
          <a:p xmlns:a="http://schemas.openxmlformats.org/drawingml/2006/main">
            <a:r>
              <a:t/>
            </a:r>
          </a:p>
          <a:p xmlns:a="http://schemas.openxmlformats.org/drawingml/2006/main">
            <a:r>
              <a:t>**ACT / Section:**</a:t>
            </a:r>
          </a:p>
          <a:p xmlns:a="http://schemas.openxmlformats.org/drawingml/2006/main">
            <a:r>
              <a:t>ACT 5 / 5A  AI-NATIVE DEVELOPMENT</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이 교육은 Task Boundary, Project Context, Reusable Workflow, Verification, Feedback Loop를 의도적으로 설계·운영하는 방식을 AI-Native Development의 operational model로 사용한다.</a:t>
            </a:r>
          </a:p>
          <a:p xmlns:a="http://schemas.openxmlformats.org/drawingml/2006/main">
            <a:r>
              <a:t/>
            </a:r>
          </a:p>
          <a:p xmlns:a="http://schemas.openxmlformats.org/drawingml/2006/main">
            <a:r>
              <a:t>**Opening Question:**</a:t>
            </a:r>
          </a:p>
          <a:p xmlns:a="http://schemas.openxmlformats.org/drawingml/2006/main">
            <a:r>
              <a:t>“AI에게 일을 많이 맡기면 AI-Native일까?”</a:t>
            </a:r>
          </a:p>
          <a:p xmlns:a="http://schemas.openxmlformats.org/drawingml/2006/main">
            <a:r>
              <a:t/>
            </a:r>
          </a:p>
          <a:p xmlns:a="http://schemas.openxmlformats.org/drawingml/2006/main">
            <a:r>
              <a:t>**Speaker Flow:**</a:t>
            </a:r>
          </a:p>
          <a:p xmlns:a="http://schemas.openxmlformats.org/drawingml/2006/main">
            <a:r>
              <a:t>1. (0:00–0:30 / Lecture) 이 과정이 AI가 일할 조건과 결과 확인 경로를 설계하는 방식에 AI-Native Development라는 운영 모델 이름을 붙였음을 밝힌다.</a:t>
            </a:r>
          </a:p>
          <a:p xmlns:a="http://schemas.openxmlformats.org/drawingml/2006/main">
            <a:r>
              <a:t>2. (0:30–2:20 / Lecture) 작업 경계, 프로젝트 지식·절차, 검증·피드백 세 행에서 각각 Task Boundary, Project Context/Reusable Workflow, Verification/Feedback Loop가 맡는 질문을 연결한다.</a:t>
            </a:r>
          </a:p>
          <a:p xmlns:a="http://schemas.openxmlformats.org/drawingml/2006/main">
            <a:r>
              <a:t>3. (2:20–3:00 / Lecture) 모든 Task에 모든 요소를 의무적으로 넣으라는 보편 정의가 아님을 한정하고 자신의 반복 마찰을 찾는 S78로 이동한다.</a:t>
            </a:r>
          </a:p>
          <a:p xmlns:a="http://schemas.openxmlformats.org/drawingml/2006/main">
            <a:r>
              <a:t/>
            </a:r>
          </a:p>
          <a:p xmlns:a="http://schemas.openxmlformats.org/drawingml/2006/main">
            <a:r>
              <a:t>**Evidence / Source:**</a:t>
            </a:r>
          </a:p>
          <a:p xmlns:a="http://schemas.openxmlformats.org/drawingml/2006/main">
            <a:r>
              <a:t>TEACHING_MODEL · DEC-0023의 course-specific operational framing.</a:t>
            </a:r>
          </a:p>
          <a:p xmlns:a="http://schemas.openxmlformats.org/drawingml/2006/main">
            <a:r>
              <a:t/>
            </a:r>
          </a:p>
          <a:p xmlns:a="http://schemas.openxmlformats.org/drawingml/2006/main">
            <a:r>
              <a:t>**Claim Boundary:**</a:t>
            </a:r>
          </a:p>
          <a:p xmlns:a="http://schemas.openxmlformats.org/drawingml/2006/main">
            <a:r>
              <a:t>공식·보편 업계 표준 정의라고 말하지 않는다. 모든 task 또는 Demo에 다섯 구성요소를 의무적으로 도입하라는 뜻이 아니다.</a:t>
            </a:r>
          </a:p>
          <a:p xmlns:a="http://schemas.openxmlformats.org/drawingml/2006/main">
            <a:r>
              <a:t/>
            </a:r>
          </a:p>
          <a:p xmlns:a="http://schemas.openxmlformats.org/drawingml/2006/main">
            <a:r>
              <a:t>**Beginner Explanation:**</a:t>
            </a:r>
          </a:p>
          <a:p xmlns:a="http://schemas.openxmlformats.org/drawingml/2006/main">
            <a:r>
              <a:t>AI 사용량을 늘리는 것만으로 끝내지 않고 반복되는 작은 마찰을 하나 개선한다.</a:t>
            </a:r>
          </a:p>
          <a:p xmlns:a="http://schemas.openxmlformats.org/drawingml/2006/main">
            <a:r>
              <a:t/>
            </a:r>
          </a:p>
          <a:p xmlns:a="http://schemas.openxmlformats.org/drawingml/2006/main">
            <a:r>
              <a:t>**Advanced Insight:**</a:t>
            </a:r>
          </a:p>
          <a:p xmlns:a="http://schemas.openxmlformats.org/drawingml/2006/main">
            <a:r>
              <a:t>Model capability와 작업 System/Harness 설계를 구분해 다음 병목을 진단한다.</a:t>
            </a:r>
          </a:p>
          <a:p xmlns:a="http://schemas.openxmlformats.org/drawingml/2006/main">
            <a:r>
              <a:t/>
            </a:r>
          </a:p>
          <a:p xmlns:a="http://schemas.openxmlformats.org/drawingml/2006/main">
            <a:r>
              <a:t>**C++ Vision Bridge:**</a:t>
            </a:r>
          </a:p>
          <a:p xmlns:a="http://schemas.openxmlformats.org/drawingml/2006/main">
            <a:r>
              <a:t>다음 S78에서 C++ Vision 업무와 자신의 Repository로 transfer한다.</a:t>
            </a:r>
          </a:p>
          <a:p xmlns:a="http://schemas.openxmlformats.org/drawingml/2006/main">
            <a:r>
              <a:t/>
            </a:r>
          </a:p>
          <a:p xmlns:a="http://schemas.openxmlformats.org/drawingml/2006/main">
            <a:r>
              <a:t>**Demo Operation:**</a:t>
            </a:r>
          </a:p>
          <a:p xmlns:a="http://schemas.openxmlformats.org/drawingml/2006/main">
            <a:r>
              <a:t>N/A — 별도 실행 없음. 다섯 구성요소는 비교 가능한 system components로 보이며 maturity 순서가 아니다.</a:t>
            </a:r>
          </a:p>
          <a:p xmlns:a="http://schemas.openxmlformats.org/drawingml/2006/main">
            <a:r>
              <a:t/>
            </a:r>
          </a:p>
          <a:p xmlns:a="http://schemas.openxmlformats.org/drawingml/2006/main">
            <a:r>
              <a:t>**Audience Interaction:**</a:t>
            </a:r>
          </a:p>
          <a:p xmlns:a="http://schemas.openxmlformats.org/drawingml/2006/main">
            <a:r>
              <a:t>Opening question을 남긴 뒤 course model의 범위를 확인한다. 공식 용어 정의나 정답 발표를 요구하지 않는다.</a:t>
            </a:r>
          </a:p>
          <a:p xmlns:a="http://schemas.openxmlformats.org/drawingml/2006/main">
            <a:r>
              <a:t/>
            </a:r>
          </a:p>
          <a:p xmlns:a="http://schemas.openxmlformats.org/drawingml/2006/main">
            <a:r>
              <a:t>**Transition:**</a:t>
            </a:r>
          </a:p>
          <a:p xmlns:a="http://schemas.openxmlformats.org/drawingml/2006/main">
            <a:r>
              <a:t>“내 Repository에서는 어떤 Layer에서 마찰이 반복될까요?” S78로 넘긴다.</a:t>
            </a:r>
          </a:p>
          <a:p xmlns:a="http://schemas.openxmlformats.org/drawingml/2006/main">
            <a:r>
              <a:t/>
            </a:r>
          </a:p>
          <a:p xmlns:a="http://schemas.openxmlformats.org/drawingml/2006/main">
            <a:r>
              <a:t>**Time Management:**</a:t>
            </a:r>
          </a:p>
          <a:p xmlns:a="http://schemas.openxmlformats.org/drawingml/2006/main">
            <a:r>
              <a:t>Lecture 3분. AI 사용량과 설계된 work system의 차이만 설명한다.</a:t>
            </a:r>
          </a:p>
          <a:p xmlns:a="http://schemas.openxmlformats.org/drawingml/2006/main">
            <a:r>
              <a:t/>
            </a:r>
          </a:p>
          <a:p xmlns:a="http://schemas.openxmlformats.org/drawingml/2006/main">
            <a:r>
              <a:t>**Fallback:**</a:t>
            </a:r>
          </a:p>
          <a:p xmlns:a="http://schemas.openxmlformats.org/drawingml/2006/main">
            <a:r>
              <a:t>LOCAL STATIC ARTIFACT — production/ACT_5.pptx의 S77와 production/preview/act5/S77.png를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어느 Layer에서 마찰이 반복되는가?</a:t>
            </a:r>
          </a:p>
          <a:p xmlns:a="http://schemas.openxmlformats.org/drawingml/2006/main">
            <a:r>
              <a:t/>
            </a:r>
          </a:p>
          <a:p xmlns:a="http://schemas.openxmlformats.org/drawingml/2006/main">
            <a:r>
              <a:t>**Slide ID:**</a:t>
            </a:r>
          </a:p>
          <a:p xmlns:a="http://schemas.openxmlformats.org/drawingml/2006/main">
            <a:r>
              <a:t>S78</a:t>
            </a:r>
          </a:p>
          <a:p xmlns:a="http://schemas.openxmlformats.org/drawingml/2006/main">
            <a:r>
              <a:t/>
            </a:r>
          </a:p>
          <a:p xmlns:a="http://schemas.openxmlformats.org/drawingml/2006/main">
            <a:r>
              <a:t>**Working Title:**</a:t>
            </a:r>
          </a:p>
          <a:p xmlns:a="http://schemas.openxmlformats.org/drawingml/2006/main">
            <a:r>
              <a:t>어느 Layer에서 마찰이 반복되는가?</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Task, Context, Workflow, Verification, Repeated Failure Loop 중 현재 가장 큰 마찰과 가까운 한 곳을 선택한다. 정해진 maturity sequence가 아니다.</a:t>
            </a:r>
          </a:p>
          <a:p xmlns:a="http://schemas.openxmlformats.org/drawingml/2006/main">
            <a:r>
              <a:t/>
            </a:r>
          </a:p>
          <a:p xmlns:a="http://schemas.openxmlformats.org/drawingml/2006/main">
            <a:r>
              <a:t>**Opening Question:**</a:t>
            </a:r>
          </a:p>
          <a:p xmlns:a="http://schemas.openxmlformats.org/drawingml/2006/main">
            <a:r>
              <a:t>“내 Repository에서 다음 주에 하나만 바꾼다면?”</a:t>
            </a:r>
          </a:p>
          <a:p xmlns:a="http://schemas.openxmlformats.org/drawingml/2006/main">
            <a:r>
              <a:t/>
            </a:r>
          </a:p>
          <a:p xmlns:a="http://schemas.openxmlformats.org/drawingml/2006/main">
            <a:r>
              <a:t>**Speaker Flow:**</a:t>
            </a:r>
          </a:p>
          <a:p xmlns:a="http://schemas.openxmlformats.org/drawingml/2006/main">
            <a:r>
              <a:t>1. (0:00–1:00 / Case) C++ Vision의 병목 범위, 빌드 조건·계약·하드웨어 가정, 분석·측정 절차를 업무에 비춰 보는 교육용 예시라고 밝힌다. 실제 프로젝트 사건이 아니다.</a:t>
            </a:r>
          </a:p>
          <a:p xmlns:a="http://schemas.openxmlformats.org/drawingml/2006/main">
            <a:r>
              <a:t>2. (1:00–3:00 / Transition) 다섯 행의 증상 질문을 읽으며 현재 자기 업무와 가까운 것이 있는지 마음속으로 떠올리게 한다. 같은 수준의 선택지이며 반드시 위에서부터 도입하는 순서가 아니다.</a:t>
            </a:r>
          </a:p>
          <a:p xmlns:a="http://schemas.openxmlformats.org/drawingml/2006/main">
            <a:r>
              <a:t>3. (3:00–5:00 / Transition) Task/Context/Workflow/Verification/Feedback의 새 개념 설명은 하지 않고 S79의 개인 성찰 세 질문으로 좁혀 준다.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a:t>
            </a:r>
          </a:p>
          <a:p xmlns:a="http://schemas.openxmlformats.org/drawingml/2006/main">
            <a:r>
              <a:t/>
            </a:r>
          </a:p>
          <a:p xmlns:a="http://schemas.openxmlformats.org/drawingml/2006/main">
            <a:r>
              <a:t>**Beginner Explanation:**</a:t>
            </a:r>
          </a:p>
          <a:p xmlns:a="http://schemas.openxmlformats.org/drawingml/2006/main">
            <a:r>
              <a:t>전체 Harness를 새로 만들기 전에 반복해서 설명하거나 확인하는 부분 하나를 찾는다.</a:t>
            </a:r>
          </a:p>
          <a:p xmlns:a="http://schemas.openxmlformats.org/drawingml/2006/main">
            <a:r>
              <a:t/>
            </a:r>
          </a:p>
          <a:p xmlns:a="http://schemas.openxmlformats.org/drawingml/2006/main">
            <a:r>
              <a:t>**Advanced Insight:**</a:t>
            </a:r>
          </a:p>
          <a:p xmlns:a="http://schemas.openxmlformats.org/drawingml/2006/main">
            <a:r>
              <a:t>반복 비용, 위험과 verification surface를 보고 투자 지점을 고른다.</a:t>
            </a:r>
          </a:p>
          <a:p xmlns:a="http://schemas.openxmlformats.org/drawingml/2006/main">
            <a:r>
              <a:t/>
            </a:r>
          </a:p>
          <a:p xmlns:a="http://schemas.openxmlformats.org/drawingml/2006/main">
            <a:r>
              <a:t>**C++ Vision Bridge:**</a:t>
            </a:r>
          </a:p>
          <a:p xmlns:a="http://schemas.openxmlformats.org/drawingml/2006/main">
            <a:r>
              <a:t>Primary bridge. 예시: 성능 병목 조사 Task; build mode/algorithm contract/hardware assumptions Context; profile → change → benchmark → regression Workflow; tests + benchmark Verification; 반복 이슈가 다시 생기면 관련 System 수정. 실제 project procedure가 아닌 pattern transfer.</a:t>
            </a:r>
          </a:p>
          <a:p xmlns:a="http://schemas.openxmlformats.org/drawingml/2006/main">
            <a:r>
              <a:t/>
            </a:r>
          </a:p>
          <a:p xmlns:a="http://schemas.openxmlformats.org/drawingml/2006/main">
            <a:r>
              <a:t>**Demo Operation:**</a:t>
            </a:r>
          </a:p>
          <a:p xmlns:a="http://schemas.openxmlformats.org/drawingml/2006/main">
            <a:r>
              <a:t>새 Demo가 없다. 왼쪽 Layer 이름보다 오른쪽 반복되는 마찰을 먼저 읽고, 선택지들은 같은 높이의 적용 후보임을 유지한다.</a:t>
            </a:r>
          </a:p>
          <a:p xmlns:a="http://schemas.openxmlformats.org/drawingml/2006/main">
            <a:r>
              <a:t/>
            </a:r>
          </a:p>
          <a:p xmlns:a="http://schemas.openxmlformats.org/drawingml/2006/main">
            <a:r>
              <a:t>**Audience Interaction:**</a:t>
            </a:r>
          </a:p>
          <a:p xmlns:a="http://schemas.openxmlformats.org/drawingml/2006/main">
            <a:r>
              <a:t>선택지를 강사 주도로 비교한다. 청중에게 선택 발표, 투표, 실습, 제출을 요구하지 않는다.</a:t>
            </a:r>
          </a:p>
          <a:p xmlns:a="http://schemas.openxmlformats.org/drawingml/2006/main">
            <a:r>
              <a:t/>
            </a:r>
          </a:p>
          <a:p xmlns:a="http://schemas.openxmlformats.org/drawingml/2006/main">
            <a:r>
              <a:t>**Transition:**</a:t>
            </a:r>
          </a:p>
          <a:p xmlns:a="http://schemas.openxmlformats.org/drawingml/2006/main">
            <a:r>
              <a:t>“마지막으로, 각자 업무에서 반복되는 마찰을 개인적으로 생각해 봅시다.” S79로 이동한다.</a:t>
            </a:r>
          </a:p>
          <a:p xmlns:a="http://schemas.openxmlformats.org/drawingml/2006/main">
            <a:r>
              <a:t/>
            </a:r>
          </a:p>
          <a:p xmlns:a="http://schemas.openxmlformats.org/drawingml/2006/main">
            <a:r>
              <a:t>**Time Management:**</a:t>
            </a:r>
          </a:p>
          <a:p xmlns:a="http://schemas.openxmlformats.org/drawingml/2006/main">
            <a:r>
              <a:t>Case 1분 + Transition 4분 = 5분. Transition 동안 새 사례를 열지 않고 reflection handoff만 수행한다.</a:t>
            </a:r>
          </a:p>
          <a:p xmlns:a="http://schemas.openxmlformats.org/drawingml/2006/main">
            <a:r>
              <a:t/>
            </a:r>
          </a:p>
          <a:p xmlns:a="http://schemas.openxmlformats.org/drawingml/2006/main">
            <a:r>
              <a:t>**Fallback:**</a:t>
            </a:r>
          </a:p>
          <a:p xmlns:a="http://schemas.openxmlformats.org/drawingml/2006/main">
            <a:r>
              <a:t>LOCAL STATIC ARTIFACT — production/ACT_5.pptx의 S78와 production/preview/act5/S78.png를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다음 작은 행동을 개인적으로 고른다</a:t>
            </a:r>
          </a:p>
          <a:p xmlns:a="http://schemas.openxmlformats.org/drawingml/2006/main">
            <a:r>
              <a:t/>
            </a:r>
          </a:p>
          <a:p xmlns:a="http://schemas.openxmlformats.org/drawingml/2006/main">
            <a:r>
              <a:t>**Slide ID:**</a:t>
            </a:r>
          </a:p>
          <a:p xmlns:a="http://schemas.openxmlformats.org/drawingml/2006/main">
            <a:r>
              <a:t>S79</a:t>
            </a:r>
          </a:p>
          <a:p xmlns:a="http://schemas.openxmlformats.org/drawingml/2006/main">
            <a:r>
              <a:t/>
            </a:r>
          </a:p>
          <a:p xmlns:a="http://schemas.openxmlformats.org/drawingml/2006/main">
            <a:r>
              <a:t>**Working Title:**</a:t>
            </a:r>
          </a:p>
          <a:p xmlns:a="http://schemas.openxmlformats.org/drawingml/2006/main">
            <a:r>
              <a:t>다음 작은 행동을 개인적으로 고른다</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반복해서 적는 설명, AI가 다시 찾는 Project 사실, 반복되는 실패에서 고칠 System layer 가운데 한 가지를 생각한다.</a:t>
            </a:r>
          </a:p>
          <a:p xmlns:a="http://schemas.openxmlformats.org/drawingml/2006/main">
            <a:r>
              <a:t/>
            </a:r>
          </a:p>
          <a:p xmlns:a="http://schemas.openxmlformats.org/drawingml/2006/main">
            <a:r>
              <a:t>**Opening Question:**</a:t>
            </a:r>
          </a:p>
          <a:p xmlns:a="http://schemas.openxmlformats.org/drawingml/2006/main">
            <a:r>
              <a:t>“내가 AI와 개발하는 방식에서 다음에 바꿀 수 있는 것은 무엇인가?”</a:t>
            </a:r>
          </a:p>
          <a:p xmlns:a="http://schemas.openxmlformats.org/drawingml/2006/main">
            <a:r>
              <a:t/>
            </a:r>
          </a:p>
          <a:p xmlns:a="http://schemas.openxmlformats.org/drawingml/2006/main">
            <a:r>
              <a:t>**Speaker Flow:**</a:t>
            </a:r>
          </a:p>
          <a:p xmlns:a="http://schemas.openxmlformats.org/drawingml/2006/main">
            <a:r>
              <a:t>1. (0:00–1:00 / Lecture) S78에서 떠올린 반복 마찰을 이어 간다.</a:t>
            </a:r>
          </a:p>
          <a:p xmlns:a="http://schemas.openxmlformats.org/drawingml/2006/main">
            <a:r>
              <a:t>2. (1:00–2:00 / Lecture) 화면의 반복 설명, 재탐색하는 프로젝트 사실, 두 번째 실패의 수정 위치 세 질문을 차례로 읽는다.</a:t>
            </a:r>
          </a:p>
          <a:p xmlns:a="http://schemas.openxmlformats.org/drawingml/2006/main">
            <a:r>
              <a:t>3. (2:00–4:00 / Reflection) 두 분 동안 조용히 개인적으로 생각할 시간을 둔다. 답변·기록·발표·제출을 요구하지 않는다. 시간 뒤 S80 질문 시간으로 넘어간다.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a:t>
            </a:r>
          </a:p>
          <a:p xmlns:a="http://schemas.openxmlformats.org/drawingml/2006/main">
            <a:r>
              <a:t/>
            </a:r>
          </a:p>
          <a:p xmlns:a="http://schemas.openxmlformats.org/drawingml/2006/main">
            <a:r>
              <a:t>**Beginner Explanation:**</a:t>
            </a:r>
          </a:p>
          <a:p xmlns:a="http://schemas.openxmlformats.org/drawingml/2006/main">
            <a:r>
              <a:t>반복되는 설명이나 Project 사실을 AI가 다시 찾는 지점부터 생각한다.</a:t>
            </a:r>
          </a:p>
          <a:p xmlns:a="http://schemas.openxmlformats.org/drawingml/2006/main">
            <a:r>
              <a:t/>
            </a:r>
          </a:p>
          <a:p xmlns:a="http://schemas.openxmlformats.org/drawingml/2006/main">
            <a:r>
              <a:t>**Advanced Insight:**</a:t>
            </a:r>
          </a:p>
          <a:p xmlns:a="http://schemas.openxmlformats.org/drawingml/2006/main">
            <a:r>
              <a:t>같은 실패가 반복될 때 Prompt 밖의 어떤 System layer가 원인인지 떠올린다.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N/A — 별도 Demo 없음.</a:t>
            </a:r>
          </a:p>
          <a:p xmlns:a="http://schemas.openxmlformats.org/drawingml/2006/main">
            <a:r>
              <a:t/>
            </a:r>
          </a:p>
          <a:p xmlns:a="http://schemas.openxmlformats.org/drawingml/2006/main">
            <a:r>
              <a:t>**Audience Interaction:**</a:t>
            </a:r>
          </a:p>
          <a:p xmlns:a="http://schemas.openxmlformats.org/drawingml/2006/main">
            <a:r>
              <a:t>공유하지 않는 개인 성찰로 진행한다. 응답을 받기 위해 기다리지 않는다. 2분 뒤 바로 S80으로 이동한다.</a:t>
            </a:r>
          </a:p>
          <a:p xmlns:a="http://schemas.openxmlformats.org/drawingml/2006/main">
            <a:r>
              <a:t/>
            </a:r>
          </a:p>
          <a:p xmlns:a="http://schemas.openxmlformats.org/drawingml/2006/main">
            <a:r>
              <a:t>**Transition:**</a:t>
            </a:r>
          </a:p>
          <a:p xmlns:a="http://schemas.openxmlformats.org/drawingml/2006/main">
            <a:r>
              <a:t>“이제 질문을 받고, 마지막 공통 모델로 마무리하겠습니다.” S80으로 넘긴다.</a:t>
            </a:r>
          </a:p>
          <a:p xmlns:a="http://schemas.openxmlformats.org/drawingml/2006/main">
            <a:r>
              <a:t/>
            </a:r>
          </a:p>
          <a:p xmlns:a="http://schemas.openxmlformats.org/drawingml/2006/main">
            <a:r>
              <a:t>**Time Management:**</a:t>
            </a:r>
          </a:p>
          <a:p xmlns:a="http://schemas.openxmlformats.org/drawingml/2006/main">
            <a:r>
              <a:t>Lecture 2분 + Reflection 2분 = 4분. Reflection은 2분에 종료하고 Q&amp;A와 섞지 않는다.</a:t>
            </a:r>
          </a:p>
          <a:p xmlns:a="http://schemas.openxmlformats.org/drawingml/2006/main">
            <a:r>
              <a:t/>
            </a:r>
          </a:p>
          <a:p xmlns:a="http://schemas.openxmlformats.org/drawingml/2006/main">
            <a:r>
              <a:t>**Fallback:**</a:t>
            </a:r>
          </a:p>
          <a:p xmlns:a="http://schemas.openxmlformats.org/drawingml/2006/main">
            <a:r>
              <a:t>LOCAL STATIC ARTIFACT — production/ACT_5.pptx의 S79와 production/preview/act5/S79.png를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Q&amp;A와 교육 마무리</a:t>
            </a:r>
          </a:p>
          <a:p xmlns:a="http://schemas.openxmlformats.org/drawingml/2006/main">
            <a:r>
              <a:t/>
            </a:r>
          </a:p>
          <a:p xmlns:a="http://schemas.openxmlformats.org/drawingml/2006/main">
            <a:r>
              <a:t>**Slide ID:**</a:t>
            </a:r>
          </a:p>
          <a:p xmlns:a="http://schemas.openxmlformats.org/drawingml/2006/main">
            <a:r>
              <a:t>S80</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Goal, Judgment, Verification, Responsibility를 유지하면서 AI가 일할 환경과 Feedback을 설계한다.</a:t>
            </a:r>
          </a:p>
          <a:p xmlns:a="http://schemas.openxmlformats.org/drawingml/2006/main">
            <a:r>
              <a:t/>
            </a:r>
          </a:p>
          <a:p xmlns:a="http://schemas.openxmlformats.org/drawingml/2006/main">
            <a:r>
              <a:t>**Opening Question:**</a:t>
            </a:r>
          </a:p>
          <a:p xmlns:a="http://schemas.openxmlformats.org/drawingml/2006/main">
            <a:r>
              <a:t>“남은 질문은 무엇인가?”</a:t>
            </a:r>
          </a:p>
          <a:p xmlns:a="http://schemas.openxmlformats.org/drawingml/2006/main">
            <a:r>
              <a:t/>
            </a:r>
          </a:p>
          <a:p xmlns:a="http://schemas.openxmlformats.org/drawingml/2006/main">
            <a:r>
              <a:t>**Speaker Flow:**</a:t>
            </a:r>
          </a:p>
          <a:p xmlns:a="http://schemas.openxmlformats.org/drawingml/2006/main">
            <a:r>
              <a:t>1. (0:00–4:00 / Q&amp;A) 상단의 “내 업무에서 무엇부터 바꿀까요?”를 가리키고 질문을 받는다. 질문이 없으면 “반복 설명을 줄이려면 Task와 Project Context 중 무엇을 살필까요?” 또는 “결과 확인 기준을 먼저 정한다면 어떤 업무부터 볼까요?”를 사용해 앞의 교육 모델 안에서 짧게 정리한다.</a:t>
            </a:r>
          </a:p>
          <a:p xmlns:a="http://schemas.openxmlformats.org/drawingml/2006/main">
            <a:r>
              <a:t>2. (4:00–6:00 / Closing Transition) 질문을 마감하고 중앙의 “AI가 잘 일할 환경을 설계한다”로 마무리한다. 하단 Question→Task→Context→System→Feedback Loop를 짧게 회수한다.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AI 사용량 대신 내 일에 필요한 환경과 확인 기준을 기억한다.</a:t>
            </a:r>
          </a:p>
          <a:p xmlns:a="http://schemas.openxmlformats.org/drawingml/2006/main">
            <a:r>
              <a:t/>
            </a:r>
          </a:p>
          <a:p xmlns:a="http://schemas.openxmlformats.org/drawingml/2006/main">
            <a:r>
              <a:t>**Advanced Insight:**</a:t>
            </a:r>
          </a:p>
          <a:p xmlns:a="http://schemas.openxmlformats.org/drawingml/2006/main">
            <a:r>
              <a:t>Goal, Judgment, Verification, Responsibility를 유지하며 System의 Feedback 경로를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운영 지시와 시간표는 Notes에만 두고 화면에는 질문과 마지막 한 문장을 남긴다.</a:t>
            </a:r>
          </a:p>
          <a:p xmlns:a="http://schemas.openxmlformats.org/drawingml/2006/main">
            <a:r>
              <a:t/>
            </a:r>
          </a:p>
          <a:p xmlns:a="http://schemas.openxmlformats.org/drawingml/2006/main">
            <a:r>
              <a:t>**Audience Interaction:**</a:t>
            </a:r>
          </a:p>
          <a:p xmlns:a="http://schemas.openxmlformats.org/drawingml/2006/main">
            <a:r>
              <a:t>Q&amp;A 4분. 질문이 없으면 FAQ 또는 개발 업무 적용 질문 하나를 사용하며 새로운 강의 topic을 열지 않는다.</a:t>
            </a:r>
          </a:p>
          <a:p xmlns:a="http://schemas.openxmlformats.org/drawingml/2006/main">
            <a:r>
              <a:t/>
            </a:r>
          </a:p>
          <a:p xmlns:a="http://schemas.openxmlformats.org/drawingml/2006/main">
            <a:r>
              <a:t>**Transition:**</a:t>
            </a:r>
          </a:p>
          <a:p xmlns:a="http://schemas.openxmlformats.org/drawingml/2006/main">
            <a:r>
              <a:t>2분 closing transition: Question → Task → Context → System → Feedback Loop를 회수하고 교육을 마친다.</a:t>
            </a:r>
          </a:p>
          <a:p xmlns:a="http://schemas.openxmlformats.org/drawingml/2006/main">
            <a:r>
              <a:t/>
            </a:r>
          </a:p>
          <a:p xmlns:a="http://schemas.openxmlformats.org/drawingml/2006/main">
            <a:r>
              <a:t>**Time Management:**</a:t>
            </a:r>
          </a:p>
          <a:p xmlns:a="http://schemas.openxmlformats.org/drawingml/2006/main">
            <a:r>
              <a:t>Q&amp;A 4분 + Closing Transition 2분 = 6분. Q&amp;A는 4분에 마감하고 추가 질문을 이유로 시간을 늘리지 않는다.</a:t>
            </a:r>
          </a:p>
          <a:p xmlns:a="http://schemas.openxmlformats.org/drawingml/2006/main">
            <a:r>
              <a:t/>
            </a:r>
          </a:p>
          <a:p xmlns:a="http://schemas.openxmlformats.org/drawingml/2006/main">
            <a:r>
              <a:t>**Fallback:**</a:t>
            </a:r>
          </a:p>
          <a:p xmlns:a="http://schemas.openxmlformats.org/drawingml/2006/main">
            <a:r>
              <a:t>LOCAL STATIC ARTIFACT — production/ACT_5.pptx의 S80와 production/preview/act5/S80.png를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784df4d19fb44cf"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66ed4126522406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a7e379e4a5048a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0dff438f2a54357"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92381be5fe4d49b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6d03f11004a432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DD2F357-34F9-4CBA-BC7D-EF504DDF80FA}"/>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541622BB-C207-48BA-BF18-92824D6EC6A1}"/>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3C9D8952-9C33-45CB-A932-1136E7BF050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FFAE991-CEAA-4BAB-9154-95D30053EA0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55882F9E-FBD1-4DCF-87E4-B13867BDEC70}"/>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E131A7F2-CAB2-4A44-8AC9-22683CC6F66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5FC55E4-5575-43E6-899D-E1F4AA35AE4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283D61DE-3B53-40E2-8456-82392FB8B476}"/>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D37F7FA-93EB-4044-9BF9-F339CEC26CB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42DE4DB-7EE6-4246-B036-F75D31615A3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072d5795c6d4e42" /><Relationship Type="http://schemas.openxmlformats.org/officeDocument/2006/relationships/slideLayout" Target="/ppt/slideLayouts/slideLayout1.xml" Id="Rf5820b73e3a54614" /><Relationship Type="http://schemas.openxmlformats.org/officeDocument/2006/relationships/slideLayout" Target="/ppt/slideLayouts/slideLayout2.xml" Id="Rd504c8d2a5624caa" /><Relationship Type="http://schemas.openxmlformats.org/officeDocument/2006/relationships/slideLayout" Target="/ppt/slideLayouts/slideLayout3.xml" Id="Rb7ed8ae6b70f4694" /><Relationship Type="http://schemas.openxmlformats.org/officeDocument/2006/relationships/slideLayout" Target="/ppt/slideLayouts/slideLayout4.xml" Id="Rcc5c4109ad724c5f" /><Relationship Type="http://schemas.openxmlformats.org/officeDocument/2006/relationships/slideLayout" Target="/ppt/slideLayouts/slideLayout5.xml" Id="Rcdf9c3ae764c4986" /><Relationship Type="http://schemas.openxmlformats.org/officeDocument/2006/relationships/slideLayout" Target="/ppt/slideLayouts/slideLayout6.xml" Id="Rfe8f0f3226a6459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5820b73e3a54614"/>
    <p:sldLayoutId xmlns:r="http://schemas.openxmlformats.org/officeDocument/2006/relationships" id="2147483650" r:id="Rd504c8d2a5624caa"/>
    <p:sldLayoutId xmlns:r="http://schemas.openxmlformats.org/officeDocument/2006/relationships" id="2147483651" r:id="Rb7ed8ae6b70f4694"/>
    <p:sldLayoutId xmlns:r="http://schemas.openxmlformats.org/officeDocument/2006/relationships" id="2147483652" r:id="Rcc5c4109ad724c5f"/>
    <p:sldLayoutId xmlns:r="http://schemas.openxmlformats.org/officeDocument/2006/relationships" id="2147483653" r:id="Rcdf9c3ae764c4986"/>
    <p:sldLayoutId xmlns:r="http://schemas.openxmlformats.org/officeDocument/2006/relationships" id="2147483654" r:id="Rfe8f0f3226a6459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2c53e47fc5a48d8" /><Relationship Type="http://schemas.openxmlformats.org/officeDocument/2006/relationships/notesSlide" Target="/ppt/notesSlides/notesSlide1.xml" Id="Rb9667c09b64a44ed"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00b0dac3b8e248df" /><Relationship Type="http://schemas.openxmlformats.org/officeDocument/2006/relationships/notesSlide" Target="/ppt/notesSlides/notesSlide2.xml" Id="R1fd6ce5cb1ce4ef6"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09ffea3ab8534b61" /><Relationship Type="http://schemas.openxmlformats.org/officeDocument/2006/relationships/notesSlide" Target="/ppt/notesSlides/notesSlide3.xml" Id="R0ed47b6a43614111"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27cb120f7fc34f46" /><Relationship Type="http://schemas.openxmlformats.org/officeDocument/2006/relationships/notesSlide" Target="/ppt/notesSlides/notesSlide4.xml" Id="Rf74c18ec7d8741a0"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3e70885f0dca4b1a" /><Relationship Type="http://schemas.openxmlformats.org/officeDocument/2006/relationships/notesSlide" Target="/ppt/notesSlides/notesSlide5.xml" Id="R53702f3241da4040"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21542c7a66a44f5a" /><Relationship Type="http://schemas.openxmlformats.org/officeDocument/2006/relationships/notesSlide" Target="/ppt/notesSlides/notesSlide6.xml" Id="R5dce1a986747426a"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9fb8a531483b432c" /><Relationship Type="http://schemas.openxmlformats.org/officeDocument/2006/relationships/notesSlide" Target="/ppt/notesSlides/notesSlide7.xml" Id="R876d19f58ec74f79"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123ab891f08e4e4a" /><Relationship Type="http://schemas.openxmlformats.org/officeDocument/2006/relationships/notesSlide" Target="/ppt/notesSlides/notesSlide8.xml" Id="R1c6ebcf2ee254132"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a3e89705010942dd" /><Relationship Type="http://schemas.openxmlformats.org/officeDocument/2006/relationships/notesSlide" Target="/ppt/notesSlides/notesSlide9.xml" Id="Rc322a8a78b7945d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42e56ea321684de3" /><Relationship Type="http://schemas.openxmlformats.org/officeDocument/2006/relationships/notesSlide" Target="/ppt/notesSlides/notesSlide10.xml" Id="R28368e142ee34e1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b0d0f5dba95d4a4b" /><Relationship Type="http://schemas.openxmlformats.org/officeDocument/2006/relationships/notesSlide" Target="/ppt/notesSlides/notesSlide11.xml" Id="R35fa7fbcf4b9422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0682468fc83a4c32" /><Relationship Type="http://schemas.openxmlformats.org/officeDocument/2006/relationships/notesSlide" Target="/ppt/notesSlides/notesSlide12.xml" Id="Re2b929f376ba40a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c5dd70fe425749a0" /><Relationship Type="http://schemas.openxmlformats.org/officeDocument/2006/relationships/notesSlide" Target="/ppt/notesSlides/notesSlide13.xml" Id="Ra0aafb3b13694fb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6a59ff1479a94e20" /><Relationship Type="http://schemas.openxmlformats.org/officeDocument/2006/relationships/notesSlide" Target="/ppt/notesSlides/notesSlide14.xml" Id="R4c2903d867954047"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268ea6e4a7bb41ac" /><Relationship Type="http://schemas.openxmlformats.org/officeDocument/2006/relationships/notesSlide" Target="/ppt/notesSlides/notesSlide15.xml" Id="Rb6d92cb87681419d"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8dc69c78907c42f4" /><Relationship Type="http://schemas.openxmlformats.org/officeDocument/2006/relationships/notesSlide" Target="/ppt/notesSlides/notesSlide16.xml" Id="Rf583ba49427f4b9d"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dc421b86869a44c0" /><Relationship Type="http://schemas.openxmlformats.org/officeDocument/2006/relationships/notesSlide" Target="/ppt/notesSlides/notesSlide17.xml" Id="R232880bf9537473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f28328736ca64c96" /><Relationship Type="http://schemas.openxmlformats.org/officeDocument/2006/relationships/notesSlide" Target="/ppt/notesSlides/notesSlide18.xml" Id="R38d137d37f3f4a6f"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dbfbf5e6448f4297" /><Relationship Type="http://schemas.openxmlformats.org/officeDocument/2006/relationships/notesSlide" Target="/ppt/notesSlides/notesSlide19.xml" Id="Rd4b046f5d1ff4e60"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0eef4eeb23964706" /><Relationship Type="http://schemas.openxmlformats.org/officeDocument/2006/relationships/notesSlide" Target="/ppt/notesSlides/notesSlide20.xml" Id="R255ee56169b84e46"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867afbb9bb884323" /><Relationship Type="http://schemas.openxmlformats.org/officeDocument/2006/relationships/notesSlide" Target="/ppt/notesSlides/notesSlide21.xml" Id="Rbf7a27bf90e04bc6"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30247319824645a1" /><Relationship Type="http://schemas.openxmlformats.org/officeDocument/2006/relationships/notesSlide" Target="/ppt/notesSlides/notesSlide22.xml" Id="R5f8280a480db45b7"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974876094b824580" /><Relationship Type="http://schemas.openxmlformats.org/officeDocument/2006/relationships/notesSlide" Target="/ppt/notesSlides/notesSlide23.xml" Id="Ra520eb78457141a5"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bb68454fc9354b06" /><Relationship Type="http://schemas.openxmlformats.org/officeDocument/2006/relationships/notesSlide" Target="/ppt/notesSlides/notesSlide24.xml" Id="R3a423e4e4871415d"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c1fd7ce4179a495a" /><Relationship Type="http://schemas.openxmlformats.org/officeDocument/2006/relationships/notesSlide" Target="/ppt/notesSlides/notesSlide25.xml" Id="Rcb1d24ba6a7646b8"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85d14fa627274007" /><Relationship Type="http://schemas.openxmlformats.org/officeDocument/2006/relationships/notesSlide" Target="/ppt/notesSlides/notesSlide26.xml" Id="R2b519f025ec445f4"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912065d8e320483d" /><Relationship Type="http://schemas.openxmlformats.org/officeDocument/2006/relationships/notesSlide" Target="/ppt/notesSlides/notesSlide27.xml" Id="Rbf408dc782da4b03"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9ffb6f1eabe442b3" /><Relationship Type="http://schemas.openxmlformats.org/officeDocument/2006/relationships/notesSlide" Target="/ppt/notesSlides/notesSlide28.xml" Id="R132fad504eb1460e"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3a7bc80946744bb5" /><Relationship Type="http://schemas.openxmlformats.org/officeDocument/2006/relationships/notesSlide" Target="/ppt/notesSlides/notesSlide29.xml" Id="Rcf07a99c742b4ca1"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35244bfac28a4305" /><Relationship Type="http://schemas.openxmlformats.org/officeDocument/2006/relationships/notesSlide" Target="/ppt/notesSlides/notesSlide30.xml" Id="Rf3523c053f22422f"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7dc2c954654543ab" /><Relationship Type="http://schemas.openxmlformats.org/officeDocument/2006/relationships/notesSlide" Target="/ppt/notesSlides/notesSlide31.xml" Id="Rf9650f591e8341c7"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ca5d05ba5093471a" /><Relationship Type="http://schemas.openxmlformats.org/officeDocument/2006/relationships/notesSlide" Target="/ppt/notesSlides/notesSlide32.xml" Id="R08dbc8a097924c2d"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e2d82b8e24b54e26" /><Relationship Type="http://schemas.openxmlformats.org/officeDocument/2006/relationships/notesSlide" Target="/ppt/notesSlides/notesSlide33.xml" Id="R87d93dec0c7d4ca7"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2b8196dd55964e17" /><Relationship Type="http://schemas.openxmlformats.org/officeDocument/2006/relationships/notesSlide" Target="/ppt/notesSlides/notesSlide34.xml" Id="Rbd2b59fd42c94d9f"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2899a62cf53e4e54" /><Relationship Type="http://schemas.openxmlformats.org/officeDocument/2006/relationships/notesSlide" Target="/ppt/notesSlides/notesSlide35.xml" Id="R53229767110b469d"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a10145e96e9e4a5d" /><Relationship Type="http://schemas.openxmlformats.org/officeDocument/2006/relationships/notesSlide" Target="/ppt/notesSlides/notesSlide36.xml" Id="R3c06b352ac354658"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f54f20183c6d4e53" /><Relationship Type="http://schemas.openxmlformats.org/officeDocument/2006/relationships/notesSlide" Target="/ppt/notesSlides/notesSlide37.xml" Id="R101ddcca73164716"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7b44bf5814b24d33" /><Relationship Type="http://schemas.openxmlformats.org/officeDocument/2006/relationships/notesSlide" Target="/ppt/notesSlides/notesSlide38.xml" Id="Rd9770d3c8e6b4f45"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ac0b06a5f9904eeb" /><Relationship Type="http://schemas.openxmlformats.org/officeDocument/2006/relationships/notesSlide" Target="/ppt/notesSlides/notesSlide39.xml" Id="R014d29f90df74b61"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86e5504013c544c9" /><Relationship Type="http://schemas.openxmlformats.org/officeDocument/2006/relationships/notesSlide" Target="/ppt/notesSlides/notesSlide40.xml" Id="Raf3447022fa54b6d"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ae31377a7a854245" /><Relationship Type="http://schemas.openxmlformats.org/officeDocument/2006/relationships/notesSlide" Target="/ppt/notesSlides/notesSlide41.xml" Id="Ra1d7e2b0955040ad"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8b826e142e164f32" /><Relationship Type="http://schemas.openxmlformats.org/officeDocument/2006/relationships/notesSlide" Target="/ppt/notesSlides/notesSlide42.xml" Id="Rf99f6ee00a9b48c3"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2d1be66a337a4555" /><Relationship Type="http://schemas.openxmlformats.org/officeDocument/2006/relationships/notesSlide" Target="/ppt/notesSlides/notesSlide43.xml" Id="Rb9a48792d1d54487"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1313f91f2fb54d6a" /><Relationship Type="http://schemas.openxmlformats.org/officeDocument/2006/relationships/notesSlide" Target="/ppt/notesSlides/notesSlide44.xml" Id="R1065d2f7442a480a"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a9759c0a1c0c4b92" /><Relationship Type="http://schemas.openxmlformats.org/officeDocument/2006/relationships/chart" Target="/ppt/slides/charts/chart1.xml" Id="Ra5fa3699e92e4476" /><Relationship Type="http://schemas.openxmlformats.org/officeDocument/2006/relationships/notesSlide" Target="/ppt/notesSlides/notesSlide45.xml" Id="R98341dbf8716454a"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bbbfa808724b46e3" /><Relationship Type="http://schemas.openxmlformats.org/officeDocument/2006/relationships/notesSlide" Target="/ppt/notesSlides/notesSlide46.xml" Id="R45431b62f9644d30"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e2b81b28c0844cdd" /><Relationship Type="http://schemas.openxmlformats.org/officeDocument/2006/relationships/notesSlide" Target="/ppt/notesSlides/notesSlide47.xml" Id="R557b6e1700e149b3"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9ec39f8a82774685" /><Relationship Type="http://schemas.openxmlformats.org/officeDocument/2006/relationships/notesSlide" Target="/ppt/notesSlides/notesSlide48.xml" Id="R40893570c8064281"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60b7432a9e214dbb" /><Relationship Type="http://schemas.openxmlformats.org/officeDocument/2006/relationships/notesSlide" Target="/ppt/notesSlides/notesSlide49.xml" Id="R4cc67183a3c746ac"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d12fb31553b548d7" /><Relationship Type="http://schemas.openxmlformats.org/officeDocument/2006/relationships/notesSlide" Target="/ppt/notesSlides/notesSlide50.xml" Id="R832fd4ff83f547a8"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c0c821021ced4d6a" /><Relationship Type="http://schemas.openxmlformats.org/officeDocument/2006/relationships/notesSlide" Target="/ppt/notesSlides/notesSlide51.xml" Id="R49a73caf3e774c54"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282ea82134ce4b7f" /><Relationship Type="http://schemas.openxmlformats.org/officeDocument/2006/relationships/notesSlide" Target="/ppt/notesSlides/notesSlide52.xml" Id="R514d4d9515694313"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534d391277e34e4d" /><Relationship Type="http://schemas.openxmlformats.org/officeDocument/2006/relationships/notesSlide" Target="/ppt/notesSlides/notesSlide53.xml" Id="Rc729e3c6458549a9"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bdade4fa2faf4c0e" /><Relationship Type="http://schemas.openxmlformats.org/officeDocument/2006/relationships/notesSlide" Target="/ppt/notesSlides/notesSlide54.xml" Id="R14870f260a214d0c"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9e3c50b904e24141" /><Relationship Type="http://schemas.openxmlformats.org/officeDocument/2006/relationships/notesSlide" Target="/ppt/notesSlides/notesSlide55.xml" Id="R77550267cd0b484e"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33712ce30d4945c5" /><Relationship Type="http://schemas.openxmlformats.org/officeDocument/2006/relationships/notesSlide" Target="/ppt/notesSlides/notesSlide56.xml" Id="Rdc167ba354444434"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2e785c75b1ed4a85" /><Relationship Type="http://schemas.openxmlformats.org/officeDocument/2006/relationships/notesSlide" Target="/ppt/notesSlides/notesSlide57.xml" Id="R85dc0000d46348a8"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303ddb701c17451a" /><Relationship Type="http://schemas.openxmlformats.org/officeDocument/2006/relationships/notesSlide" Target="/ppt/notesSlides/notesSlide58.xml" Id="Raba163e76ba74066"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0d8aaf9f81a8492d" /><Relationship Type="http://schemas.openxmlformats.org/officeDocument/2006/relationships/notesSlide" Target="/ppt/notesSlides/notesSlide59.xml" Id="Ra1d7100712fc4e8b"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350724a6665c40ce" /><Relationship Type="http://schemas.openxmlformats.org/officeDocument/2006/relationships/notesSlide" Target="/ppt/notesSlides/notesSlide60.xml" Id="Rb849ae753755469b"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9da6762f94894746" /><Relationship Type="http://schemas.openxmlformats.org/officeDocument/2006/relationships/notesSlide" Target="/ppt/notesSlides/notesSlide61.xml" Id="R4ad94b264b6b4bff"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70031c7f13ee4daf" /><Relationship Type="http://schemas.openxmlformats.org/officeDocument/2006/relationships/notesSlide" Target="/ppt/notesSlides/notesSlide62.xml" Id="R228b88e6a83b48b1"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2f8192ccc23944ef" /><Relationship Type="http://schemas.openxmlformats.org/officeDocument/2006/relationships/notesSlide" Target="/ppt/notesSlides/notesSlide63.xml" Id="R3911f2348c3c418b"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ab08c56b0380451a" /><Relationship Type="http://schemas.openxmlformats.org/officeDocument/2006/relationships/notesSlide" Target="/ppt/notesSlides/notesSlide64.xml" Id="R3991235a40a74b75"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992e204a07c243fa" /><Relationship Type="http://schemas.openxmlformats.org/officeDocument/2006/relationships/notesSlide" Target="/ppt/notesSlides/notesSlide65.xml" Id="R3686f280fbc04dd7"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85879396191a406c" /><Relationship Type="http://schemas.openxmlformats.org/officeDocument/2006/relationships/notesSlide" Target="/ppt/notesSlides/notesSlide66.xml" Id="R0696e686f35c4f07"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8646821806f94966" /><Relationship Type="http://schemas.openxmlformats.org/officeDocument/2006/relationships/notesSlide" Target="/ppt/notesSlides/notesSlide67.xml" Id="R0b1e0ab0c1cf4f88"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463a3b59ea134486" /><Relationship Type="http://schemas.openxmlformats.org/officeDocument/2006/relationships/notesSlide" Target="/ppt/notesSlides/notesSlide68.xml" Id="R9cd64af6532940fc"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7aeff4423f094ced" /><Relationship Type="http://schemas.openxmlformats.org/officeDocument/2006/relationships/notesSlide" Target="/ppt/notesSlides/notesSlide69.xml" Id="Re594b7dfe4f04b0d"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daa42b5e34674073" /><Relationship Type="http://schemas.openxmlformats.org/officeDocument/2006/relationships/notesSlide" Target="/ppt/notesSlides/notesSlide70.xml" Id="R72e6f82736e14661"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f755b909e246406a" /><Relationship Type="http://schemas.openxmlformats.org/officeDocument/2006/relationships/notesSlide" Target="/ppt/notesSlides/notesSlide71.xml" Id="R4ee4f4bf6947494d"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58e7704d4cda43d9" /><Relationship Type="http://schemas.openxmlformats.org/officeDocument/2006/relationships/notesSlide" Target="/ppt/notesSlides/notesSlide72.xml" Id="R801385c6352a42c1"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1c0f66da873344a4" /><Relationship Type="http://schemas.openxmlformats.org/officeDocument/2006/relationships/notesSlide" Target="/ppt/notesSlides/notesSlide73.xml" Id="R8a27bd828ad7438b"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fd91ff698eb64651" /><Relationship Type="http://schemas.openxmlformats.org/officeDocument/2006/relationships/notesSlide" Target="/ppt/notesSlides/notesSlide74.xml" Id="R5bd9eb07e18e42c2"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573b150707d54ad9" /><Relationship Type="http://schemas.openxmlformats.org/officeDocument/2006/relationships/notesSlide" Target="/ppt/notesSlides/notesSlide75.xml" Id="Rbadcbadfc7da459a"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990fa8a93f034169" /><Relationship Type="http://schemas.openxmlformats.org/officeDocument/2006/relationships/notesSlide" Target="/ppt/notesSlides/notesSlide76.xml" Id="R1c23d4989c9b4736"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a49934db20ac4998" /><Relationship Type="http://schemas.openxmlformats.org/officeDocument/2006/relationships/notesSlide" Target="/ppt/notesSlides/notesSlide77.xml" Id="R6281706dcb7f4c33"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438dc7fd90794b94" /><Relationship Type="http://schemas.openxmlformats.org/officeDocument/2006/relationships/notesSlide" Target="/ppt/notesSlides/notesSlide78.xml" Id="R720efed0ea9c45b0"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26fba264aee5450a" /><Relationship Type="http://schemas.openxmlformats.org/officeDocument/2006/relationships/notesSlide" Target="/ppt/notesSlides/notesSlide79.xml" Id="R6291d78cba5648c1"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1f6cfd9d916d4af6" /><Relationship Type="http://schemas.openxmlformats.org/officeDocument/2006/relationships/notesSlide" Target="/ppt/notesSlides/notesSlide80.xml" Id="R380bbf0aff664642"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2025"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80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0 · 익숙한 사용에서 시작하기">
            <a:extLst xmlns:a="http://schemas.openxmlformats.org/drawingml/2006/main">
              <a:ext uri="{FF2B5EF4-FFF2-40B4-BE49-F238E27FC236}">
                <a16:creationId xmlns:a16="http://schemas.microsoft.com/office/drawing/2014/main" id="{9326332A-A945-4FC1-A923-A1120118B43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시작하기</a:t>
            </a:r>
          </a:p>
        </p:txBody>
      </p:sp>
      <p:sp>
        <p:nvSpPr>
          <p:cNvPr id="2" name="S01">
            <a:extLst xmlns:a="http://schemas.openxmlformats.org/drawingml/2006/main">
              <a:ext uri="{FF2B5EF4-FFF2-40B4-BE49-F238E27FC236}">
                <a16:creationId xmlns:a16="http://schemas.microsoft.com/office/drawing/2014/main" id="{2ED0DF61-17AF-4A27-8B3F-D703FADEFA6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AI에게 지금 무엇을 맡기고 있는가?">
            <a:extLst xmlns:a="http://schemas.openxmlformats.org/drawingml/2006/main">
              <a:ext uri="{FF2B5EF4-FFF2-40B4-BE49-F238E27FC236}">
                <a16:creationId xmlns:a16="http://schemas.microsoft.com/office/drawing/2014/main" id="{46EBD46B-5DAC-4BBB-8055-876D786DA7F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C7F1802D-0848-4E5E-974A-D25C7592107E}"/>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72AB32FA-F5CD-4542-9A00-2BD70B13CB9F}"/>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E60F8135-B2EA-4E8B-A4E4-C4C14395E075}"/>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가장 최근에 AI에게 맡긴 일 하나">
            <a:extLst xmlns:a="http://schemas.openxmlformats.org/drawingml/2006/main">
              <a:ext uri="{FF2B5EF4-FFF2-40B4-BE49-F238E27FC236}">
                <a16:creationId xmlns:a16="http://schemas.microsoft.com/office/drawing/2014/main" id="{F4E871B3-7CF9-4162-AB62-9031DD038256}"/>
              </a:ext>
            </a:extLst>
          </p:cNvPr>
          <p:cNvSpPr>
            <a:spLocks xmlns:a="http://schemas.openxmlformats.org/drawingml/2006/main" noGrp="1"/>
          </p:cNvSpPr>
          <p:nvPr/>
        </p:nvSpPr>
        <p:spPr>
          <a:xfrm xmlns:a="http://schemas.openxmlformats.org/drawingml/2006/main">
            <a:off x="609600" y="2266950"/>
            <a:ext cx="10972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가장 최근에 AI에게 맡긴 일 하나</a:t>
            </a:r>
          </a:p>
        </p:txBody>
      </p:sp>
      <p:sp>
        <p:nvSpPr>
          <p:cNvPr id="8" name="오류 설명을 들었나요?&#10;관련 코드를 조사하게 했나요?&#10;수정한 결과까지 확인하게 했나요?">
            <a:extLst xmlns:a="http://schemas.openxmlformats.org/drawingml/2006/main">
              <a:ext uri="{FF2B5EF4-FFF2-40B4-BE49-F238E27FC236}">
                <a16:creationId xmlns:a16="http://schemas.microsoft.com/office/drawing/2014/main" id="{AC56834C-0F7A-4855-BB8C-CA52F936CCD5}"/>
              </a:ext>
            </a:extLst>
          </p:cNvPr>
          <p:cNvSpPr>
            <a:spLocks xmlns:a="http://schemas.openxmlformats.org/drawingml/2006/main" noGrp="1"/>
          </p:cNvSpPr>
          <p:nvPr/>
        </p:nvSpPr>
        <p:spPr>
          <a:xfrm xmlns:a="http://schemas.openxmlformats.org/drawingml/2006/main">
            <a:off x="609600" y="3086100"/>
            <a:ext cx="7048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0">
                <a:solidFill>
                  <a:srgbClr val="17212B"/>
                </a:solidFill>
                <a:latin typeface="Malgun Gothic"/>
                <a:ea typeface="Malgun Gothic"/>
                <a:cs typeface="Malgun Gothic"/>
              </a:defRPr>
            </a:defPPr>
            <a:lvl1pPr algn="l">
              <a:defRPr sz="2550" b="0">
                <a:solidFill>
                  <a:srgbClr val="17212B"/>
                </a:solidFill>
                <a:latin typeface="Malgun Gothic"/>
                <a:ea typeface="Malgun Gothic"/>
                <a:cs typeface="Malgun Gothic"/>
              </a:defRPr>
            </a:lvl1pPr>
            <a:lvl2pPr algn="l">
              <a:defRPr sz="2550" b="0">
                <a:solidFill>
                  <a:srgbClr val="17212B"/>
                </a:solidFill>
                <a:latin typeface="Malgun Gothic"/>
                <a:ea typeface="Malgun Gothic"/>
                <a:cs typeface="Malgun Gothic"/>
              </a:defRPr>
            </a:lvl2pPr>
            <a:lvl3pPr algn="l">
              <a:defRPr sz="2550" b="0">
                <a:solidFill>
                  <a:srgbClr val="17212B"/>
                </a:solidFill>
                <a:latin typeface="Malgun Gothic"/>
                <a:ea typeface="Malgun Gothic"/>
                <a:cs typeface="Malgun Gothic"/>
              </a:defRPr>
            </a:lvl3pPr>
            <a:lvl4pPr algn="l">
              <a:defRPr sz="2550" b="0">
                <a:solidFill>
                  <a:srgbClr val="17212B"/>
                </a:solidFill>
                <a:latin typeface="Malgun Gothic"/>
                <a:ea typeface="Malgun Gothic"/>
                <a:cs typeface="Malgun Gothic"/>
              </a:defRPr>
            </a:lvl4pPr>
            <a:lvl5pPr algn="l">
              <a:defRPr sz="2550" b="0">
                <a:solidFill>
                  <a:srgbClr val="17212B"/>
                </a:solidFill>
                <a:latin typeface="Malgun Gothic"/>
                <a:ea typeface="Malgun Gothic"/>
                <a:cs typeface="Malgun Gothic"/>
              </a:defRPr>
            </a:lvl5pPr>
            <a:lvl6pPr algn="l">
              <a:defRPr sz="2550" b="0">
                <a:solidFill>
                  <a:srgbClr val="17212B"/>
                </a:solidFill>
                <a:latin typeface="Malgun Gothic"/>
                <a:ea typeface="Malgun Gothic"/>
                <a:cs typeface="Malgun Gothic"/>
              </a:defRPr>
            </a:lvl6pPr>
            <a:lvl7pPr algn="l">
              <a:defRPr sz="2550" b="0">
                <a:solidFill>
                  <a:srgbClr val="17212B"/>
                </a:solidFill>
                <a:latin typeface="Malgun Gothic"/>
                <a:ea typeface="Malgun Gothic"/>
                <a:cs typeface="Malgun Gothic"/>
              </a:defRPr>
            </a:lvl7pPr>
            <a:lvl8pPr algn="l">
              <a:defRPr sz="2550" b="0">
                <a:solidFill>
                  <a:srgbClr val="17212B"/>
                </a:solidFill>
                <a:latin typeface="Malgun Gothic"/>
                <a:ea typeface="Malgun Gothic"/>
                <a:cs typeface="Malgun Gothic"/>
              </a:defRPr>
            </a:lvl8pPr>
            <a:lvl9pPr algn="l">
              <a:defRPr sz="2550" b="0">
                <a:solidFill>
                  <a:srgbClr val="17212B"/>
                </a:solidFill>
                <a:latin typeface="Malgun Gothic"/>
                <a:ea typeface="Malgun Gothic"/>
                <a:cs typeface="Malgun Gothic"/>
              </a:defRPr>
            </a:lvl9pPr>
          </a:lstStyle>
          <a:p xmlns:a="http://schemas.openxmlformats.org/drawingml/2006/main">
            <a:pPr algn="l">
              <a:defRPr sz="2550" b="0">
                <a:solidFill>
                  <a:srgbClr val="17212B"/>
                </a:solidFill>
                <a:latin typeface="Malgun Gothic"/>
                <a:ea typeface="Malgun Gothic"/>
                <a:cs typeface="Malgun Gothic"/>
              </a:defRPr>
            </a:pPr>
            <a:r>
              <a:rPr sz="2550" b="0">
                <a:solidFill>
                  <a:srgbClr val="17212B"/>
                </a:solidFill>
                <a:latin typeface="Malgun Gothic"/>
                <a:ea typeface="Malgun Gothic"/>
                <a:cs typeface="Malgun Gothic"/>
              </a:rPr>
              <a:t>오류 설명을 들었나요?</a:t>
            </a:r>
          </a:p>
          <a:p xmlns:a="http://schemas.openxmlformats.org/drawingml/2006/main">
            <a:pPr algn="l">
              <a:defRPr sz="2550" b="0">
                <a:solidFill>
                  <a:srgbClr val="17212B"/>
                </a:solidFill>
                <a:latin typeface="Malgun Gothic"/>
                <a:ea typeface="Malgun Gothic"/>
                <a:cs typeface="Malgun Gothic"/>
              </a:defRPr>
            </a:pPr>
            <a:r>
              <a:rPr sz="2550" b="0">
                <a:solidFill>
                  <a:srgbClr val="17212B"/>
                </a:solidFill>
                <a:latin typeface="Malgun Gothic"/>
                <a:ea typeface="Malgun Gothic"/>
                <a:cs typeface="Malgun Gothic"/>
              </a:rPr>
              <a:t>관련 코드를 조사하게 했나요?</a:t>
            </a:r>
          </a:p>
          <a:p xmlns:a="http://schemas.openxmlformats.org/drawingml/2006/main">
            <a:pPr algn="l">
              <a:defRPr sz="2550" b="0">
                <a:solidFill>
                  <a:srgbClr val="17212B"/>
                </a:solidFill>
                <a:latin typeface="Malgun Gothic"/>
                <a:ea typeface="Malgun Gothic"/>
                <a:cs typeface="Malgun Gothic"/>
              </a:defRPr>
            </a:pPr>
            <a:r>
              <a:rPr sz="2550" b="0">
                <a:solidFill>
                  <a:srgbClr val="17212B"/>
                </a:solidFill>
                <a:latin typeface="Malgun Gothic"/>
                <a:ea typeface="Malgun Gothic"/>
                <a:cs typeface="Malgun Gothic"/>
              </a:rPr>
              <a:t>수정한 결과까지 확인하게 했나요?</a:t>
            </a:r>
          </a:p>
        </p:txBody>
      </p:sp>
      <p:sp>
        <p:nvSpPr>
          <p:cNvPr id="9" name="">
            <a:extLst xmlns:a="http://schemas.openxmlformats.org/drawingml/2006/main">
              <a:ext uri="{FF2B5EF4-FFF2-40B4-BE49-F238E27FC236}">
                <a16:creationId xmlns:a16="http://schemas.microsoft.com/office/drawing/2014/main" id="{E192A413-CC65-4F09-8DCB-4FF2EAB1FBCB}"/>
              </a:ext>
            </a:extLst>
          </p:cNvPr>
          <p:cNvSpPr>
            <a:spLocks xmlns:a="http://schemas.openxmlformats.org/drawingml/2006/main" noGrp="1"/>
          </p:cNvSpPr>
          <p:nvPr/>
        </p:nvSpPr>
        <p:spPr>
          <a:xfrm xmlns:a="http://schemas.openxmlformats.org/drawingml/2006/main">
            <a:off x="8334375" y="2400300"/>
            <a:ext cx="3248025"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질문 · 생성&#10;조사 · 변경&#10;검증 · 작업 방식 개선">
            <a:extLst xmlns:a="http://schemas.openxmlformats.org/drawingml/2006/main">
              <a:ext uri="{FF2B5EF4-FFF2-40B4-BE49-F238E27FC236}">
                <a16:creationId xmlns:a16="http://schemas.microsoft.com/office/drawing/2014/main" id="{412F57BF-F003-4929-ADB6-D2023C2C181A}"/>
              </a:ext>
            </a:extLst>
          </p:cNvPr>
          <p:cNvSpPr>
            <a:spLocks xmlns:a="http://schemas.openxmlformats.org/drawingml/2006/main" noGrp="1"/>
          </p:cNvSpPr>
          <p:nvPr/>
        </p:nvSpPr>
        <p:spPr>
          <a:xfrm xmlns:a="http://schemas.openxmlformats.org/drawingml/2006/main">
            <a:off x="8334375" y="2790825"/>
            <a:ext cx="3248025" cy="1771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질문 · 생성</a:t>
            </a:r>
          </a:p>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조사 · 변경</a:t>
            </a:r>
          </a:p>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검증 · 작업 방식 개선</a:t>
            </a:r>
          </a:p>
        </p:txBody>
      </p:sp>
      <p:sp>
        <p:nvSpPr>
          <p:cNvPr id="11" name="익숙한 방식에서 출발해도 괜찮습니다.">
            <a:extLst xmlns:a="http://schemas.openxmlformats.org/drawingml/2006/main">
              <a:ext uri="{FF2B5EF4-FFF2-40B4-BE49-F238E27FC236}">
                <a16:creationId xmlns:a16="http://schemas.microsoft.com/office/drawing/2014/main" id="{350E182F-0848-433D-8E54-494C27A1F494}"/>
              </a:ext>
            </a:extLst>
          </p:cNvPr>
          <p:cNvSpPr>
            <a:spLocks xmlns:a="http://schemas.openxmlformats.org/drawingml/2006/main" noGrp="1"/>
          </p:cNvSpPr>
          <p:nvPr/>
        </p:nvSpPr>
        <p:spPr>
          <a:xfrm xmlns:a="http://schemas.openxmlformats.org/drawingml/2006/main">
            <a:off x="609600" y="51720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익숙한 방식에서 출발해도 괜찮습니다.</a:t>
            </a:r>
          </a:p>
        </p:txBody>
      </p:sp>
    </p:spTree>
    <p:extLst>
      <p:ext uri="{BB962C8B-B14F-4D97-AF65-F5344CB8AC3E}">
        <p14:creationId xmlns:p14="http://schemas.microsoft.com/office/powerpoint/2010/main" val="771357886"/>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작은 코드 질문">
            <a:extLst xmlns:a="http://schemas.openxmlformats.org/drawingml/2006/main">
              <a:ext uri="{FF2B5EF4-FFF2-40B4-BE49-F238E27FC236}">
                <a16:creationId xmlns:a16="http://schemas.microsoft.com/office/drawing/2014/main" id="{101A997C-FFFB-4E18-8E5A-7FA2CE753D3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작은 코드 질문</a:t>
            </a:r>
          </a:p>
        </p:txBody>
      </p:sp>
      <p:sp>
        <p:nvSpPr>
          <p:cNvPr id="2" name="S02">
            <a:extLst xmlns:a="http://schemas.openxmlformats.org/drawingml/2006/main">
              <a:ext uri="{FF2B5EF4-FFF2-40B4-BE49-F238E27FC236}">
                <a16:creationId xmlns:a16="http://schemas.microsoft.com/office/drawing/2014/main" id="{45654D37-7963-4A42-BF2C-BB211D924E8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작은 질문에는 Chatbot이 유용하다">
            <a:extLst xmlns:a="http://schemas.openxmlformats.org/drawingml/2006/main">
              <a:ext uri="{FF2B5EF4-FFF2-40B4-BE49-F238E27FC236}">
                <a16:creationId xmlns:a16="http://schemas.microsoft.com/office/drawing/2014/main" id="{D587DC5C-90E4-475A-8E6D-C8EB2ADB5F4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95E4A173-F155-4287-B4CA-8F8F63AF5311}"/>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예시 · 실제 ChatGPT 대화 캡처가 아님">
            <a:extLst xmlns:a="http://schemas.openxmlformats.org/drawingml/2006/main">
              <a:ext uri="{FF2B5EF4-FFF2-40B4-BE49-F238E27FC236}">
                <a16:creationId xmlns:a16="http://schemas.microsoft.com/office/drawing/2014/main" id="{8E0C3670-3167-4D26-AE06-4C90DDFC9F32}"/>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예시 · 실제 ChatGPT 대화 캡처가 아님</a:t>
            </a:r>
          </a:p>
        </p:txBody>
      </p:sp>
      <p:sp>
        <p:nvSpPr>
          <p:cNvPr id="6" name="일반적인 질문 흐름을 설명하며 특정 제품의 정확도나 우월성을 주장하지 않습니다.">
            <a:extLst xmlns:a="http://schemas.openxmlformats.org/drawingml/2006/main">
              <a:ext uri="{FF2B5EF4-FFF2-40B4-BE49-F238E27FC236}">
                <a16:creationId xmlns:a16="http://schemas.microsoft.com/office/drawing/2014/main" id="{1969D537-D3AC-42E8-8BD4-62F5211C8419}"/>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일반적인 질문 흐름을 설명하며 특정 제품의 정확도나 우월성을 주장하지 않습니다.</a:t>
            </a:r>
          </a:p>
        </p:txBody>
      </p:sp>
      <p:sp>
        <p:nvSpPr>
          <p:cNvPr id="7" name="“이 코드에서 무엇이 남을까?”">
            <a:extLst xmlns:a="http://schemas.openxmlformats.org/drawingml/2006/main">
              <a:ext uri="{FF2B5EF4-FFF2-40B4-BE49-F238E27FC236}">
                <a16:creationId xmlns:a16="http://schemas.microsoft.com/office/drawing/2014/main" id="{8E5F4FF8-ED4D-4E2F-8FF6-43E00C7816DE}"/>
              </a:ext>
            </a:extLst>
          </p:cNvPr>
          <p:cNvSpPr>
            <a:spLocks xmlns:a="http://schemas.openxmlformats.org/drawingml/2006/main" noGrp="1"/>
          </p:cNvSpPr>
          <p:nvPr/>
        </p:nvSpPr>
        <p:spPr>
          <a:xfrm xmlns:a="http://schemas.openxmlformats.org/drawingml/2006/main">
            <a:off x="609600" y="2219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 코드에서 무엇이 남을까?”</a:t>
            </a:r>
          </a:p>
        </p:txBody>
      </p:sp>
      <p:sp>
        <p:nvSpPr>
          <p:cNvPr id="8" name="">
            <a:extLst xmlns:a="http://schemas.openxmlformats.org/drawingml/2006/main">
              <a:ext uri="{FF2B5EF4-FFF2-40B4-BE49-F238E27FC236}">
                <a16:creationId xmlns:a16="http://schemas.microsoft.com/office/drawing/2014/main" id="{7DFB0ABC-A8A9-4DFB-81C8-EC34B287682A}"/>
              </a:ext>
            </a:extLst>
          </p:cNvPr>
          <p:cNvSpPr>
            <a:spLocks xmlns:a="http://schemas.openxmlformats.org/drawingml/2006/main" noGrp="1"/>
          </p:cNvSpPr>
          <p:nvPr/>
        </p:nvSpPr>
        <p:spPr>
          <a:xfrm xmlns:a="http://schemas.openxmlformats.org/drawingml/2006/main">
            <a:off x="609600" y="2933700"/>
            <a:ext cx="4895850" cy="142875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row = [1, 2, 3, 4]&#10;row[1:3]">
            <a:extLst xmlns:a="http://schemas.openxmlformats.org/drawingml/2006/main">
              <a:ext uri="{FF2B5EF4-FFF2-40B4-BE49-F238E27FC236}">
                <a16:creationId xmlns:a16="http://schemas.microsoft.com/office/drawing/2014/main" id="{826CFCF3-F8C7-4118-BE61-E42282FD035F}"/>
              </a:ext>
            </a:extLst>
          </p:cNvPr>
          <p:cNvSpPr>
            <a:spLocks xmlns:a="http://schemas.openxmlformats.org/drawingml/2006/main" noGrp="1"/>
          </p:cNvSpPr>
          <p:nvPr/>
        </p:nvSpPr>
        <p:spPr>
          <a:xfrm xmlns:a="http://schemas.openxmlformats.org/drawingml/2006/main">
            <a:off x="838200" y="3086100"/>
            <a:ext cx="44386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FFFFFF"/>
                </a:solidFill>
                <a:latin typeface="Consolas"/>
                <a:ea typeface="Consolas"/>
                <a:cs typeface="Consolas"/>
              </a:defRPr>
            </a:defPPr>
            <a:lvl1pPr algn="l">
              <a:defRPr sz="2400" b="0">
                <a:solidFill>
                  <a:srgbClr val="FFFFFF"/>
                </a:solidFill>
                <a:latin typeface="Consolas"/>
                <a:ea typeface="Consolas"/>
                <a:cs typeface="Consolas"/>
              </a:defRPr>
            </a:lvl1pPr>
            <a:lvl2pPr algn="l">
              <a:defRPr sz="2400" b="0">
                <a:solidFill>
                  <a:srgbClr val="FFFFFF"/>
                </a:solidFill>
                <a:latin typeface="Consolas"/>
                <a:ea typeface="Consolas"/>
                <a:cs typeface="Consolas"/>
              </a:defRPr>
            </a:lvl2pPr>
            <a:lvl3pPr algn="l">
              <a:defRPr sz="2400" b="0">
                <a:solidFill>
                  <a:srgbClr val="FFFFFF"/>
                </a:solidFill>
                <a:latin typeface="Consolas"/>
                <a:ea typeface="Consolas"/>
                <a:cs typeface="Consolas"/>
              </a:defRPr>
            </a:lvl3pPr>
            <a:lvl4pPr algn="l">
              <a:defRPr sz="2400" b="0">
                <a:solidFill>
                  <a:srgbClr val="FFFFFF"/>
                </a:solidFill>
                <a:latin typeface="Consolas"/>
                <a:ea typeface="Consolas"/>
                <a:cs typeface="Consolas"/>
              </a:defRPr>
            </a:lvl4pPr>
            <a:lvl5pPr algn="l">
              <a:defRPr sz="2400" b="0">
                <a:solidFill>
                  <a:srgbClr val="FFFFFF"/>
                </a:solidFill>
                <a:latin typeface="Consolas"/>
                <a:ea typeface="Consolas"/>
                <a:cs typeface="Consolas"/>
              </a:defRPr>
            </a:lvl5pPr>
            <a:lvl6pPr algn="l">
              <a:defRPr sz="2400" b="0">
                <a:solidFill>
                  <a:srgbClr val="FFFFFF"/>
                </a:solidFill>
                <a:latin typeface="Consolas"/>
                <a:ea typeface="Consolas"/>
                <a:cs typeface="Consolas"/>
              </a:defRPr>
            </a:lvl6pPr>
            <a:lvl7pPr algn="l">
              <a:defRPr sz="2400" b="0">
                <a:solidFill>
                  <a:srgbClr val="FFFFFF"/>
                </a:solidFill>
                <a:latin typeface="Consolas"/>
                <a:ea typeface="Consolas"/>
                <a:cs typeface="Consolas"/>
              </a:defRPr>
            </a:lvl7pPr>
            <a:lvl8pPr algn="l">
              <a:defRPr sz="2400" b="0">
                <a:solidFill>
                  <a:srgbClr val="FFFFFF"/>
                </a:solidFill>
                <a:latin typeface="Consolas"/>
                <a:ea typeface="Consolas"/>
                <a:cs typeface="Consolas"/>
              </a:defRPr>
            </a:lvl8pPr>
            <a:lvl9pPr algn="l">
              <a:defRPr sz="2400" b="0">
                <a:solidFill>
                  <a:srgbClr val="FFFFFF"/>
                </a:solidFill>
                <a:latin typeface="Consolas"/>
                <a:ea typeface="Consolas"/>
                <a:cs typeface="Consolas"/>
              </a:defRPr>
            </a:lvl9pPr>
          </a:lstStyle>
          <a:p xmlns:a="http://schemas.openxmlformats.org/drawingml/2006/main">
            <a:pPr algn="l">
              <a:defRPr sz="2400" b="0">
                <a:solidFill>
                  <a:srgbClr val="FFFFFF"/>
                </a:solidFill>
                <a:latin typeface="Consolas"/>
                <a:ea typeface="Consolas"/>
                <a:cs typeface="Consolas"/>
              </a:defRPr>
            </a:pPr>
            <a:r>
              <a:rPr sz="2400" b="0">
                <a:solidFill>
                  <a:srgbClr val="FFFFFF"/>
                </a:solidFill>
                <a:latin typeface="Consolas"/>
                <a:ea typeface="Consolas"/>
                <a:cs typeface="Consolas"/>
              </a:rPr>
              <a:t>row = [1, 2, 3, 4]</a:t>
            </a:r>
          </a:p>
          <a:p xmlns:a="http://schemas.openxmlformats.org/drawingml/2006/main">
            <a:pPr algn="l">
              <a:defRPr sz="2400" b="0">
                <a:solidFill>
                  <a:srgbClr val="FFFFFF"/>
                </a:solidFill>
                <a:latin typeface="Consolas"/>
                <a:ea typeface="Consolas"/>
                <a:cs typeface="Consolas"/>
              </a:defRPr>
            </a:pPr>
            <a:r>
              <a:rPr sz="2400" b="0">
                <a:solidFill>
                  <a:srgbClr val="FFFFFF"/>
                </a:solidFill>
                <a:latin typeface="Consolas"/>
                <a:ea typeface="Consolas"/>
                <a:cs typeface="Consolas"/>
              </a:rPr>
              <a:t>row[1:3]</a:t>
            </a:r>
          </a:p>
        </p:txBody>
      </p:sp>
      <p:sp>
        <p:nvSpPr>
          <p:cNvPr id="10" name="">
            <a:extLst xmlns:a="http://schemas.openxmlformats.org/drawingml/2006/main">
              <a:ext uri="{FF2B5EF4-FFF2-40B4-BE49-F238E27FC236}">
                <a16:creationId xmlns:a16="http://schemas.microsoft.com/office/drawing/2014/main" id="{639AFB1F-C853-46D5-AD80-135C05D71984}"/>
              </a:ext>
            </a:extLst>
          </p:cNvPr>
          <p:cNvSpPr>
            <a:spLocks xmlns:a="http://schemas.openxmlformats.org/drawingml/2006/main" noGrp="1"/>
          </p:cNvSpPr>
          <p:nvPr/>
        </p:nvSpPr>
        <p:spPr>
          <a:xfrm xmlns:a="http://schemas.openxmlformats.org/drawingml/2006/main">
            <a:off x="5743575" y="3467100"/>
            <a:ext cx="457200" cy="2857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2, 3]">
            <a:extLst xmlns:a="http://schemas.openxmlformats.org/drawingml/2006/main">
              <a:ext uri="{FF2B5EF4-FFF2-40B4-BE49-F238E27FC236}">
                <a16:creationId xmlns:a16="http://schemas.microsoft.com/office/drawing/2014/main" id="{D9CD1482-10C0-4466-AA36-0F8FD344BC47}"/>
              </a:ext>
            </a:extLst>
          </p:cNvPr>
          <p:cNvSpPr>
            <a:spLocks xmlns:a="http://schemas.openxmlformats.org/drawingml/2006/main" noGrp="1"/>
          </p:cNvSpPr>
          <p:nvPr/>
        </p:nvSpPr>
        <p:spPr>
          <a:xfrm xmlns:a="http://schemas.openxmlformats.org/drawingml/2006/main">
            <a:off x="6715125" y="3009900"/>
            <a:ext cx="4381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900" b="1">
                <a:solidFill>
                  <a:srgbClr val="17212B"/>
                </a:solidFill>
                <a:latin typeface="Consolas"/>
                <a:ea typeface="Consolas"/>
                <a:cs typeface="Consolas"/>
              </a:defRPr>
            </a:defPPr>
            <a:lvl1pPr algn="l">
              <a:defRPr sz="3900" b="1">
                <a:solidFill>
                  <a:srgbClr val="17212B"/>
                </a:solidFill>
                <a:latin typeface="Consolas"/>
                <a:ea typeface="Consolas"/>
                <a:cs typeface="Consolas"/>
              </a:defRPr>
            </a:lvl1pPr>
            <a:lvl2pPr algn="l">
              <a:defRPr sz="3900" b="1">
                <a:solidFill>
                  <a:srgbClr val="17212B"/>
                </a:solidFill>
                <a:latin typeface="Consolas"/>
                <a:ea typeface="Consolas"/>
                <a:cs typeface="Consolas"/>
              </a:defRPr>
            </a:lvl2pPr>
            <a:lvl3pPr algn="l">
              <a:defRPr sz="3900" b="1">
                <a:solidFill>
                  <a:srgbClr val="17212B"/>
                </a:solidFill>
                <a:latin typeface="Consolas"/>
                <a:ea typeface="Consolas"/>
                <a:cs typeface="Consolas"/>
              </a:defRPr>
            </a:lvl3pPr>
            <a:lvl4pPr algn="l">
              <a:defRPr sz="3900" b="1">
                <a:solidFill>
                  <a:srgbClr val="17212B"/>
                </a:solidFill>
                <a:latin typeface="Consolas"/>
                <a:ea typeface="Consolas"/>
                <a:cs typeface="Consolas"/>
              </a:defRPr>
            </a:lvl4pPr>
            <a:lvl5pPr algn="l">
              <a:defRPr sz="3900" b="1">
                <a:solidFill>
                  <a:srgbClr val="17212B"/>
                </a:solidFill>
                <a:latin typeface="Consolas"/>
                <a:ea typeface="Consolas"/>
                <a:cs typeface="Consolas"/>
              </a:defRPr>
            </a:lvl5pPr>
            <a:lvl6pPr algn="l">
              <a:defRPr sz="3900" b="1">
                <a:solidFill>
                  <a:srgbClr val="17212B"/>
                </a:solidFill>
                <a:latin typeface="Consolas"/>
                <a:ea typeface="Consolas"/>
                <a:cs typeface="Consolas"/>
              </a:defRPr>
            </a:lvl6pPr>
            <a:lvl7pPr algn="l">
              <a:defRPr sz="3900" b="1">
                <a:solidFill>
                  <a:srgbClr val="17212B"/>
                </a:solidFill>
                <a:latin typeface="Consolas"/>
                <a:ea typeface="Consolas"/>
                <a:cs typeface="Consolas"/>
              </a:defRPr>
            </a:lvl7pPr>
            <a:lvl8pPr algn="l">
              <a:defRPr sz="3900" b="1">
                <a:solidFill>
                  <a:srgbClr val="17212B"/>
                </a:solidFill>
                <a:latin typeface="Consolas"/>
                <a:ea typeface="Consolas"/>
                <a:cs typeface="Consolas"/>
              </a:defRPr>
            </a:lvl8pPr>
            <a:lvl9pPr algn="l">
              <a:defRPr sz="3900" b="1">
                <a:solidFill>
                  <a:srgbClr val="17212B"/>
                </a:solidFill>
                <a:latin typeface="Consolas"/>
                <a:ea typeface="Consolas"/>
                <a:cs typeface="Consolas"/>
              </a:defRPr>
            </a:lvl9pPr>
          </a:lstStyle>
          <a:p xmlns:a="http://schemas.openxmlformats.org/drawingml/2006/main">
            <a:pPr algn="l">
              <a:defRPr sz="3900" b="1">
                <a:solidFill>
                  <a:srgbClr val="17212B"/>
                </a:solidFill>
                <a:latin typeface="Consolas"/>
                <a:ea typeface="Consolas"/>
                <a:cs typeface="Consolas"/>
              </a:defRPr>
            </a:pPr>
            <a:r>
              <a:rPr sz="3900" b="1">
                <a:solidFill>
                  <a:srgbClr val="17212B"/>
                </a:solidFill>
                <a:latin typeface="Consolas"/>
                <a:ea typeface="Consolas"/>
                <a:cs typeface="Consolas"/>
              </a:rPr>
              <a:t>[2, 3]</a:t>
            </a:r>
          </a:p>
        </p:txBody>
      </p:sp>
      <p:sp>
        <p:nvSpPr>
          <p:cNvPr id="12" name="끝 index 3은 포함하지 않습니다.">
            <a:extLst xmlns:a="http://schemas.openxmlformats.org/drawingml/2006/main">
              <a:ext uri="{FF2B5EF4-FFF2-40B4-BE49-F238E27FC236}">
                <a16:creationId xmlns:a16="http://schemas.microsoft.com/office/drawing/2014/main" id="{1BBF1160-A420-43E5-AC1A-8B63BE45C3C2}"/>
              </a:ext>
            </a:extLst>
          </p:cNvPr>
          <p:cNvSpPr>
            <a:spLocks xmlns:a="http://schemas.openxmlformats.org/drawingml/2006/main" noGrp="1"/>
          </p:cNvSpPr>
          <p:nvPr/>
        </p:nvSpPr>
        <p:spPr>
          <a:xfrm xmlns:a="http://schemas.openxmlformats.org/drawingml/2006/main">
            <a:off x="6715125" y="3733800"/>
            <a:ext cx="46672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끝 index 3은 포함하지 않습니다.</a:t>
            </a:r>
          </a:p>
        </p:txBody>
      </p:sp>
      <p:sp>
        <p:nvSpPr>
          <p:cNvPr id="13" name="코드·오류">
            <a:extLst xmlns:a="http://schemas.openxmlformats.org/drawingml/2006/main">
              <a:ext uri="{FF2B5EF4-FFF2-40B4-BE49-F238E27FC236}">
                <a16:creationId xmlns:a16="http://schemas.microsoft.com/office/drawing/2014/main" id="{8679527F-05F8-4F6D-8C53-165F563C2C71}"/>
              </a:ext>
            </a:extLst>
          </p:cNvPr>
          <p:cNvSpPr>
            <a:spLocks xmlns:a="http://schemas.openxmlformats.org/drawingml/2006/main" noGrp="1"/>
          </p:cNvSpPr>
          <p:nvPr/>
        </p:nvSpPr>
        <p:spPr>
          <a:xfrm xmlns:a="http://schemas.openxmlformats.org/drawingml/2006/main">
            <a:off x="609600" y="5010150"/>
            <a:ext cx="18954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코드·오류</a:t>
            </a:r>
          </a:p>
        </p:txBody>
      </p:sp>
      <p:sp>
        <p:nvSpPr>
          <p:cNvPr id="14" name="">
            <a:extLst xmlns:a="http://schemas.openxmlformats.org/drawingml/2006/main">
              <a:ext uri="{FF2B5EF4-FFF2-40B4-BE49-F238E27FC236}">
                <a16:creationId xmlns:a16="http://schemas.microsoft.com/office/drawing/2014/main" id="{3EB6657C-CE32-4CEE-AEB5-16B0A7A3B4B4}"/>
              </a:ext>
            </a:extLst>
          </p:cNvPr>
          <p:cNvSpPr>
            <a:spLocks xmlns:a="http://schemas.openxmlformats.org/drawingml/2006/main" noGrp="1"/>
          </p:cNvSpPr>
          <p:nvPr/>
        </p:nvSpPr>
        <p:spPr>
          <a:xfrm xmlns:a="http://schemas.openxmlformats.org/drawingml/2006/main">
            <a:off x="2571750" y="5133975"/>
            <a:ext cx="21907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복사">
            <a:extLst xmlns:a="http://schemas.openxmlformats.org/drawingml/2006/main">
              <a:ext uri="{FF2B5EF4-FFF2-40B4-BE49-F238E27FC236}">
                <a16:creationId xmlns:a16="http://schemas.microsoft.com/office/drawing/2014/main" id="{3665FCC9-B223-4844-8720-7D6739AD4594}"/>
              </a:ext>
            </a:extLst>
          </p:cNvPr>
          <p:cNvSpPr>
            <a:spLocks xmlns:a="http://schemas.openxmlformats.org/drawingml/2006/main" noGrp="1"/>
          </p:cNvSpPr>
          <p:nvPr/>
        </p:nvSpPr>
        <p:spPr>
          <a:xfrm xmlns:a="http://schemas.openxmlformats.org/drawingml/2006/main">
            <a:off x="2876550" y="5010150"/>
            <a:ext cx="18954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복사</a:t>
            </a:r>
          </a:p>
        </p:txBody>
      </p:sp>
      <p:sp>
        <p:nvSpPr>
          <p:cNvPr id="16" name="">
            <a:extLst xmlns:a="http://schemas.openxmlformats.org/drawingml/2006/main">
              <a:ext uri="{FF2B5EF4-FFF2-40B4-BE49-F238E27FC236}">
                <a16:creationId xmlns:a16="http://schemas.microsoft.com/office/drawing/2014/main" id="{2FCF9535-622B-4BAE-8A88-578660E570AA}"/>
              </a:ext>
            </a:extLst>
          </p:cNvPr>
          <p:cNvSpPr>
            <a:spLocks xmlns:a="http://schemas.openxmlformats.org/drawingml/2006/main" noGrp="1"/>
          </p:cNvSpPr>
          <p:nvPr/>
        </p:nvSpPr>
        <p:spPr>
          <a:xfrm xmlns:a="http://schemas.openxmlformats.org/drawingml/2006/main">
            <a:off x="4838700" y="5133975"/>
            <a:ext cx="21907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질문">
            <a:extLst xmlns:a="http://schemas.openxmlformats.org/drawingml/2006/main">
              <a:ext uri="{FF2B5EF4-FFF2-40B4-BE49-F238E27FC236}">
                <a16:creationId xmlns:a16="http://schemas.microsoft.com/office/drawing/2014/main" id="{EA25BBC0-70F4-41B2-ACD1-D56125FA0C7F}"/>
              </a:ext>
            </a:extLst>
          </p:cNvPr>
          <p:cNvSpPr>
            <a:spLocks xmlns:a="http://schemas.openxmlformats.org/drawingml/2006/main" noGrp="1"/>
          </p:cNvSpPr>
          <p:nvPr/>
        </p:nvSpPr>
        <p:spPr>
          <a:xfrm xmlns:a="http://schemas.openxmlformats.org/drawingml/2006/main">
            <a:off x="5143500" y="5010150"/>
            <a:ext cx="18954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질문</a:t>
            </a:r>
          </a:p>
        </p:txBody>
      </p:sp>
      <p:sp>
        <p:nvSpPr>
          <p:cNvPr id="18" name="">
            <a:extLst xmlns:a="http://schemas.openxmlformats.org/drawingml/2006/main">
              <a:ext uri="{FF2B5EF4-FFF2-40B4-BE49-F238E27FC236}">
                <a16:creationId xmlns:a16="http://schemas.microsoft.com/office/drawing/2014/main" id="{DFA38559-B13D-4D7F-B535-E461A9CDD4BC}"/>
              </a:ext>
            </a:extLst>
          </p:cNvPr>
          <p:cNvSpPr>
            <a:spLocks xmlns:a="http://schemas.openxmlformats.org/drawingml/2006/main" noGrp="1"/>
          </p:cNvSpPr>
          <p:nvPr/>
        </p:nvSpPr>
        <p:spPr>
          <a:xfrm xmlns:a="http://schemas.openxmlformats.org/drawingml/2006/main">
            <a:off x="7105650" y="5133975"/>
            <a:ext cx="21907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답 확인">
            <a:extLst xmlns:a="http://schemas.openxmlformats.org/drawingml/2006/main">
              <a:ext uri="{FF2B5EF4-FFF2-40B4-BE49-F238E27FC236}">
                <a16:creationId xmlns:a16="http://schemas.microsoft.com/office/drawing/2014/main" id="{D2150BB5-0F18-4041-B2F9-733BBB34BBD8}"/>
              </a:ext>
            </a:extLst>
          </p:cNvPr>
          <p:cNvSpPr>
            <a:spLocks xmlns:a="http://schemas.openxmlformats.org/drawingml/2006/main" noGrp="1"/>
          </p:cNvSpPr>
          <p:nvPr/>
        </p:nvSpPr>
        <p:spPr>
          <a:xfrm xmlns:a="http://schemas.openxmlformats.org/drawingml/2006/main">
            <a:off x="7410450" y="5010150"/>
            <a:ext cx="18954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답 확인</a:t>
            </a:r>
          </a:p>
        </p:txBody>
      </p:sp>
      <p:sp>
        <p:nvSpPr>
          <p:cNvPr id="20" name="">
            <a:extLst xmlns:a="http://schemas.openxmlformats.org/drawingml/2006/main">
              <a:ext uri="{FF2B5EF4-FFF2-40B4-BE49-F238E27FC236}">
                <a16:creationId xmlns:a16="http://schemas.microsoft.com/office/drawing/2014/main" id="{C7CB8C42-E60D-477A-8525-7898C1EED7AF}"/>
              </a:ext>
            </a:extLst>
          </p:cNvPr>
          <p:cNvSpPr>
            <a:spLocks xmlns:a="http://schemas.openxmlformats.org/drawingml/2006/main" noGrp="1"/>
          </p:cNvSpPr>
          <p:nvPr/>
        </p:nvSpPr>
        <p:spPr>
          <a:xfrm xmlns:a="http://schemas.openxmlformats.org/drawingml/2006/main">
            <a:off x="9372600" y="5133975"/>
            <a:ext cx="21907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IDE로 복귀">
            <a:extLst xmlns:a="http://schemas.openxmlformats.org/drawingml/2006/main">
              <a:ext uri="{FF2B5EF4-FFF2-40B4-BE49-F238E27FC236}">
                <a16:creationId xmlns:a16="http://schemas.microsoft.com/office/drawing/2014/main" id="{5FA6AEAF-B0F7-4E2A-9A39-F3282C233E1A}"/>
              </a:ext>
            </a:extLst>
          </p:cNvPr>
          <p:cNvSpPr>
            <a:spLocks xmlns:a="http://schemas.openxmlformats.org/drawingml/2006/main" noGrp="1"/>
          </p:cNvSpPr>
          <p:nvPr/>
        </p:nvSpPr>
        <p:spPr>
          <a:xfrm xmlns:a="http://schemas.openxmlformats.org/drawingml/2006/main">
            <a:off x="9677400" y="5010150"/>
            <a:ext cx="18954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IDE로 복귀</a:t>
            </a:r>
          </a:p>
        </p:txBody>
      </p:sp>
      <p:sp>
        <p:nvSpPr>
          <p:cNvPr id="22" name="">
            <a:extLst xmlns:a="http://schemas.openxmlformats.org/drawingml/2006/main">
              <a:ext uri="{FF2B5EF4-FFF2-40B4-BE49-F238E27FC236}">
                <a16:creationId xmlns:a16="http://schemas.microsoft.com/office/drawing/2014/main" id="{CC49FEFB-AE39-4218-818D-F3BD6E1C4F74}"/>
              </a:ext>
            </a:extLst>
          </p:cNvPr>
          <p:cNvSpPr>
            <a:spLocks xmlns:a="http://schemas.openxmlformats.org/drawingml/2006/main" noGrp="1"/>
          </p:cNvSpPr>
          <p:nvPr/>
        </p:nvSpPr>
        <p:spPr>
          <a:xfrm xmlns:a="http://schemas.openxmlformats.org/drawingml/2006/main">
            <a:off x="609600" y="4743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Tree>
    <p:extLst>
      <p:ext uri="{BB962C8B-B14F-4D97-AF65-F5344CB8AC3E}">
        <p14:creationId xmlns:p14="http://schemas.microsoft.com/office/powerpoint/2010/main" val="1157274021"/>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0 · 여러 파일을 가로지르는 질문">
            <a:extLst xmlns:a="http://schemas.openxmlformats.org/drawingml/2006/main">
              <a:ext uri="{FF2B5EF4-FFF2-40B4-BE49-F238E27FC236}">
                <a16:creationId xmlns:a16="http://schemas.microsoft.com/office/drawing/2014/main" id="{D8DB3C89-9E8B-4B0B-A42E-F3A3C1202FB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여러 파일을 가로지르는 질문</a:t>
            </a:r>
          </a:p>
        </p:txBody>
      </p:sp>
      <p:sp>
        <p:nvSpPr>
          <p:cNvPr id="2" name="S03">
            <a:extLst xmlns:a="http://schemas.openxmlformats.org/drawingml/2006/main">
              <a:ext uri="{FF2B5EF4-FFF2-40B4-BE49-F238E27FC236}">
                <a16:creationId xmlns:a16="http://schemas.microsoft.com/office/drawing/2014/main" id="{E5396D1C-DFE3-4CD3-8728-00487DE46D6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질문이 커지면 Context를 모으는 일이 생긴다">
            <a:extLst xmlns:a="http://schemas.openxmlformats.org/drawingml/2006/main">
              <a:ext uri="{FF2B5EF4-FFF2-40B4-BE49-F238E27FC236}">
                <a16:creationId xmlns:a16="http://schemas.microsoft.com/office/drawing/2014/main" id="{46291DBD-1556-41BB-A987-BE0B4DFB07C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BA09FC9D-9C96-4BA3-A141-689E6EF29E4F}"/>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개념 사례 · Repository 수준의 질문을 설명하는 관계도">
            <a:extLst xmlns:a="http://schemas.openxmlformats.org/drawingml/2006/main">
              <a:ext uri="{FF2B5EF4-FFF2-40B4-BE49-F238E27FC236}">
                <a16:creationId xmlns:a16="http://schemas.microsoft.com/office/drawing/2014/main" id="{A27D5992-8F99-48F8-95C9-62AE19CB08A8}"/>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개념 사례 · Repository 수준의 질문을 설명하는 관계도</a:t>
            </a:r>
          </a:p>
        </p:txBody>
      </p:sp>
      <p:sp>
        <p:nvSpPr>
          <p:cNvPr id="6" name="특정 Trial에서 실제로 발생한 비용이나 실패를 뜻하지 않습니다.">
            <a:extLst xmlns:a="http://schemas.openxmlformats.org/drawingml/2006/main">
              <a:ext uri="{FF2B5EF4-FFF2-40B4-BE49-F238E27FC236}">
                <a16:creationId xmlns:a16="http://schemas.microsoft.com/office/drawing/2014/main" id="{FB05FBD7-F164-4E0D-BA6C-E9DFD66D9AC8}"/>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Trial에서 실제로 발생한 비용이나 실패를 뜻하지 않습니다.</a:t>
            </a:r>
          </a:p>
        </p:txBody>
      </p:sp>
      <p:sp>
        <p:nvSpPr>
          <p:cNvPr id="7" name="“CLI 결과가 기대와 다른데, 어디서부터 봐야 할까?”">
            <a:extLst xmlns:a="http://schemas.openxmlformats.org/drawingml/2006/main">
              <a:ext uri="{FF2B5EF4-FFF2-40B4-BE49-F238E27FC236}">
                <a16:creationId xmlns:a16="http://schemas.microsoft.com/office/drawing/2014/main" id="{523BFE0A-0B6B-4081-B2A5-173B6A0D42B5}"/>
              </a:ext>
            </a:extLst>
          </p:cNvPr>
          <p:cNvSpPr>
            <a:spLocks xmlns:a="http://schemas.openxmlformats.org/drawingml/2006/main" noGrp="1"/>
          </p:cNvSpPr>
          <p:nvPr/>
        </p:nvSpPr>
        <p:spPr>
          <a:xfrm xmlns:a="http://schemas.openxmlformats.org/drawingml/2006/main">
            <a:off x="609600" y="21526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“CLI 결과가 기대와 다른데, 어디서부터 봐야 할까?”</a:t>
            </a:r>
          </a:p>
        </p:txBody>
      </p:sp>
      <p:sp>
        <p:nvSpPr>
          <p:cNvPr id="8" name="">
            <a:extLst xmlns:a="http://schemas.openxmlformats.org/drawingml/2006/main">
              <a:ext uri="{FF2B5EF4-FFF2-40B4-BE49-F238E27FC236}">
                <a16:creationId xmlns:a16="http://schemas.microsoft.com/office/drawing/2014/main" id="{A9CC7CAD-C996-45D3-94D9-7418F670F33A}"/>
              </a:ext>
            </a:extLst>
          </p:cNvPr>
          <p:cNvSpPr>
            <a:spLocks xmlns:a="http://schemas.openxmlformats.org/drawingml/2006/main" noGrp="1"/>
          </p:cNvSpPr>
          <p:nvPr/>
        </p:nvSpPr>
        <p:spPr>
          <a:xfrm xmlns:a="http://schemas.openxmlformats.org/drawingml/2006/main">
            <a:off x="609600" y="2981325"/>
            <a:ext cx="34290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CLI">
            <a:extLst xmlns:a="http://schemas.openxmlformats.org/drawingml/2006/main">
              <a:ext uri="{FF2B5EF4-FFF2-40B4-BE49-F238E27FC236}">
                <a16:creationId xmlns:a16="http://schemas.microsoft.com/office/drawing/2014/main" id="{1E52B19C-9A07-4339-A3A7-607DAAA2F2B0}"/>
              </a:ext>
            </a:extLst>
          </p:cNvPr>
          <p:cNvSpPr>
            <a:spLocks xmlns:a="http://schemas.openxmlformats.org/drawingml/2006/main" noGrp="1"/>
          </p:cNvSpPr>
          <p:nvPr/>
        </p:nvSpPr>
        <p:spPr>
          <a:xfrm xmlns:a="http://schemas.openxmlformats.org/drawingml/2006/main">
            <a:off x="838200" y="3133725"/>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CLI</a:t>
            </a:r>
          </a:p>
        </p:txBody>
      </p:sp>
      <p:sp>
        <p:nvSpPr>
          <p:cNvPr id="10" name="입력은 어떻게 받나?">
            <a:extLst xmlns:a="http://schemas.openxmlformats.org/drawingml/2006/main">
              <a:ext uri="{FF2B5EF4-FFF2-40B4-BE49-F238E27FC236}">
                <a16:creationId xmlns:a16="http://schemas.microsoft.com/office/drawing/2014/main" id="{53C0F8FD-6B47-4A41-94AF-2C409A6A7A06}"/>
              </a:ext>
            </a:extLst>
          </p:cNvPr>
          <p:cNvSpPr>
            <a:spLocks xmlns:a="http://schemas.openxmlformats.org/drawingml/2006/main" noGrp="1"/>
          </p:cNvSpPr>
          <p:nvPr/>
        </p:nvSpPr>
        <p:spPr>
          <a:xfrm xmlns:a="http://schemas.openxmlformats.org/drawingml/2006/main">
            <a:off x="838200" y="3648075"/>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입력은 어떻게 받나?</a:t>
            </a:r>
          </a:p>
        </p:txBody>
      </p:sp>
      <p:sp>
        <p:nvSpPr>
          <p:cNvPr id="11" name="">
            <a:extLst xmlns:a="http://schemas.openxmlformats.org/drawingml/2006/main">
              <a:ext uri="{FF2B5EF4-FFF2-40B4-BE49-F238E27FC236}">
                <a16:creationId xmlns:a16="http://schemas.microsoft.com/office/drawing/2014/main" id="{4FC7E8BE-4FFF-4984-A06D-0960C0C50494}"/>
              </a:ext>
            </a:extLst>
          </p:cNvPr>
          <p:cNvSpPr>
            <a:spLocks xmlns:a="http://schemas.openxmlformats.org/drawingml/2006/main" noGrp="1"/>
          </p:cNvSpPr>
          <p:nvPr/>
        </p:nvSpPr>
        <p:spPr>
          <a:xfrm xmlns:a="http://schemas.openxmlformats.org/drawingml/2006/main">
            <a:off x="4105275" y="3448050"/>
            <a:ext cx="2190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3F4A2C8A-B7FD-4BF8-95B7-38D39C43BCA2}"/>
              </a:ext>
            </a:extLst>
          </p:cNvPr>
          <p:cNvSpPr>
            <a:spLocks xmlns:a="http://schemas.openxmlformats.org/drawingml/2006/main" noGrp="1"/>
          </p:cNvSpPr>
          <p:nvPr/>
        </p:nvSpPr>
        <p:spPr>
          <a:xfrm xmlns:a="http://schemas.openxmlformats.org/drawingml/2006/main">
            <a:off x="4381500" y="2981325"/>
            <a:ext cx="34290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처리 흐름">
            <a:extLst xmlns:a="http://schemas.openxmlformats.org/drawingml/2006/main">
              <a:ext uri="{FF2B5EF4-FFF2-40B4-BE49-F238E27FC236}">
                <a16:creationId xmlns:a16="http://schemas.microsoft.com/office/drawing/2014/main" id="{7B25251A-A56A-40FD-A186-7C626BDAD4F4}"/>
              </a:ext>
            </a:extLst>
          </p:cNvPr>
          <p:cNvSpPr>
            <a:spLocks xmlns:a="http://schemas.openxmlformats.org/drawingml/2006/main" noGrp="1"/>
          </p:cNvSpPr>
          <p:nvPr/>
        </p:nvSpPr>
        <p:spPr>
          <a:xfrm xmlns:a="http://schemas.openxmlformats.org/drawingml/2006/main">
            <a:off x="4610100" y="3133725"/>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처리 흐름</a:t>
            </a:r>
          </a:p>
        </p:txBody>
      </p:sp>
      <p:sp>
        <p:nvSpPr>
          <p:cNvPr id="14" name="어떤 연산을 호출하나?">
            <a:extLst xmlns:a="http://schemas.openxmlformats.org/drawingml/2006/main">
              <a:ext uri="{FF2B5EF4-FFF2-40B4-BE49-F238E27FC236}">
                <a16:creationId xmlns:a16="http://schemas.microsoft.com/office/drawing/2014/main" id="{7DE5256B-3977-4F66-956C-54A06EBDA55D}"/>
              </a:ext>
            </a:extLst>
          </p:cNvPr>
          <p:cNvSpPr>
            <a:spLocks xmlns:a="http://schemas.openxmlformats.org/drawingml/2006/main" noGrp="1"/>
          </p:cNvSpPr>
          <p:nvPr/>
        </p:nvSpPr>
        <p:spPr>
          <a:xfrm xmlns:a="http://schemas.openxmlformats.org/drawingml/2006/main">
            <a:off x="4610100" y="3648075"/>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어떤 연산을 호출하나?</a:t>
            </a:r>
          </a:p>
        </p:txBody>
      </p:sp>
      <p:sp>
        <p:nvSpPr>
          <p:cNvPr id="15" name="">
            <a:extLst xmlns:a="http://schemas.openxmlformats.org/drawingml/2006/main">
              <a:ext uri="{FF2B5EF4-FFF2-40B4-BE49-F238E27FC236}">
                <a16:creationId xmlns:a16="http://schemas.microsoft.com/office/drawing/2014/main" id="{FBDE4C58-DC1F-4CA6-A4A1-BED9A42367E7}"/>
              </a:ext>
            </a:extLst>
          </p:cNvPr>
          <p:cNvSpPr>
            <a:spLocks xmlns:a="http://schemas.openxmlformats.org/drawingml/2006/main" noGrp="1"/>
          </p:cNvSpPr>
          <p:nvPr/>
        </p:nvSpPr>
        <p:spPr>
          <a:xfrm xmlns:a="http://schemas.openxmlformats.org/drawingml/2006/main">
            <a:off x="7877175" y="3448050"/>
            <a:ext cx="2190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8DD6C3F9-4A26-4644-9B4D-FEC0CCF26D50}"/>
              </a:ext>
            </a:extLst>
          </p:cNvPr>
          <p:cNvSpPr>
            <a:spLocks xmlns:a="http://schemas.openxmlformats.org/drawingml/2006/main" noGrp="1"/>
          </p:cNvSpPr>
          <p:nvPr/>
        </p:nvSpPr>
        <p:spPr>
          <a:xfrm xmlns:a="http://schemas.openxmlformats.org/drawingml/2006/main">
            <a:off x="8153400" y="2981325"/>
            <a:ext cx="3429000" cy="12001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이미지 연산">
            <a:extLst xmlns:a="http://schemas.openxmlformats.org/drawingml/2006/main">
              <a:ext uri="{FF2B5EF4-FFF2-40B4-BE49-F238E27FC236}">
                <a16:creationId xmlns:a16="http://schemas.microsoft.com/office/drawing/2014/main" id="{CCA14EE7-557E-40B6-9CBC-10D56CEC6BD0}"/>
              </a:ext>
            </a:extLst>
          </p:cNvPr>
          <p:cNvSpPr>
            <a:spLocks xmlns:a="http://schemas.openxmlformats.org/drawingml/2006/main" noGrp="1"/>
          </p:cNvSpPr>
          <p:nvPr/>
        </p:nvSpPr>
        <p:spPr>
          <a:xfrm xmlns:a="http://schemas.openxmlformats.org/drawingml/2006/main">
            <a:off x="8382000" y="3133725"/>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이미지 연산</a:t>
            </a:r>
          </a:p>
        </p:txBody>
      </p:sp>
      <p:sp>
        <p:nvSpPr>
          <p:cNvPr id="18" name="구현은 어떻게 생겼나?">
            <a:extLst xmlns:a="http://schemas.openxmlformats.org/drawingml/2006/main">
              <a:ext uri="{FF2B5EF4-FFF2-40B4-BE49-F238E27FC236}">
                <a16:creationId xmlns:a16="http://schemas.microsoft.com/office/drawing/2014/main" id="{9789AFFC-F3F0-424B-93A2-AAA2E8DAFEEB}"/>
              </a:ext>
            </a:extLst>
          </p:cNvPr>
          <p:cNvSpPr>
            <a:spLocks xmlns:a="http://schemas.openxmlformats.org/drawingml/2006/main" noGrp="1"/>
          </p:cNvSpPr>
          <p:nvPr/>
        </p:nvSpPr>
        <p:spPr>
          <a:xfrm xmlns:a="http://schemas.openxmlformats.org/drawingml/2006/main">
            <a:off x="8382000" y="3648075"/>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구현은 어떻게 생겼나?</a:t>
            </a:r>
          </a:p>
        </p:txBody>
      </p:sp>
      <p:sp>
        <p:nvSpPr>
          <p:cNvPr id="19" name="">
            <a:extLst xmlns:a="http://schemas.openxmlformats.org/drawingml/2006/main">
              <a:ext uri="{FF2B5EF4-FFF2-40B4-BE49-F238E27FC236}">
                <a16:creationId xmlns:a16="http://schemas.microsoft.com/office/drawing/2014/main" id="{DBE0F850-062B-4924-AD69-F90193B42630}"/>
              </a:ext>
            </a:extLst>
          </p:cNvPr>
          <p:cNvSpPr>
            <a:spLocks xmlns:a="http://schemas.openxmlformats.org/drawingml/2006/main" noGrp="1"/>
          </p:cNvSpPr>
          <p:nvPr/>
        </p:nvSpPr>
        <p:spPr>
          <a:xfrm xmlns:a="http://schemas.openxmlformats.org/drawingml/2006/main">
            <a:off x="609600" y="4581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테스트">
            <a:extLst xmlns:a="http://schemas.openxmlformats.org/drawingml/2006/main">
              <a:ext uri="{FF2B5EF4-FFF2-40B4-BE49-F238E27FC236}">
                <a16:creationId xmlns:a16="http://schemas.microsoft.com/office/drawing/2014/main" id="{FF7E332D-0C1C-493F-BAFA-BD8B1C7D884E}"/>
              </a:ext>
            </a:extLst>
          </p:cNvPr>
          <p:cNvSpPr>
            <a:spLocks xmlns:a="http://schemas.openxmlformats.org/drawingml/2006/main" noGrp="1"/>
          </p:cNvSpPr>
          <p:nvPr/>
        </p:nvSpPr>
        <p:spPr>
          <a:xfrm xmlns:a="http://schemas.openxmlformats.org/drawingml/2006/main">
            <a:off x="609600" y="48768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테스트</a:t>
            </a:r>
          </a:p>
        </p:txBody>
      </p:sp>
      <p:sp>
        <p:nvSpPr>
          <p:cNvPr id="21" name="어떤 조건에서 실패했나?">
            <a:extLst xmlns:a="http://schemas.openxmlformats.org/drawingml/2006/main">
              <a:ext uri="{FF2B5EF4-FFF2-40B4-BE49-F238E27FC236}">
                <a16:creationId xmlns:a16="http://schemas.microsoft.com/office/drawing/2014/main" id="{3766A798-2AC4-4E82-AB20-95651713672B}"/>
              </a:ext>
            </a:extLst>
          </p:cNvPr>
          <p:cNvSpPr>
            <a:spLocks xmlns:a="http://schemas.openxmlformats.org/drawingml/2006/main" noGrp="1"/>
          </p:cNvSpPr>
          <p:nvPr/>
        </p:nvSpPr>
        <p:spPr>
          <a:xfrm xmlns:a="http://schemas.openxmlformats.org/drawingml/2006/main">
            <a:off x="2181225" y="4876800"/>
            <a:ext cx="3962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어떤 조건에서 실패했나?</a:t>
            </a:r>
          </a:p>
        </p:txBody>
      </p:sp>
      <p:sp>
        <p:nvSpPr>
          <p:cNvPr id="22" name="계약">
            <a:extLst xmlns:a="http://schemas.openxmlformats.org/drawingml/2006/main">
              <a:ext uri="{FF2B5EF4-FFF2-40B4-BE49-F238E27FC236}">
                <a16:creationId xmlns:a16="http://schemas.microsoft.com/office/drawing/2014/main" id="{7BEE2381-BECC-4752-B4A7-60F3B512DB6D}"/>
              </a:ext>
            </a:extLst>
          </p:cNvPr>
          <p:cNvSpPr>
            <a:spLocks xmlns:a="http://schemas.openxmlformats.org/drawingml/2006/main" noGrp="1"/>
          </p:cNvSpPr>
          <p:nvPr/>
        </p:nvSpPr>
        <p:spPr>
          <a:xfrm xmlns:a="http://schemas.openxmlformats.org/drawingml/2006/main">
            <a:off x="6705600" y="4876800"/>
            <a:ext cx="1047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계약</a:t>
            </a:r>
          </a:p>
        </p:txBody>
      </p:sp>
      <p:sp>
        <p:nvSpPr>
          <p:cNvPr id="23" name="원래 기대한 동작은?">
            <a:extLst xmlns:a="http://schemas.openxmlformats.org/drawingml/2006/main">
              <a:ext uri="{FF2B5EF4-FFF2-40B4-BE49-F238E27FC236}">
                <a16:creationId xmlns:a16="http://schemas.microsoft.com/office/drawing/2014/main" id="{E46D8E90-D04B-47AF-9B0E-5FE83147CF39}"/>
              </a:ext>
            </a:extLst>
          </p:cNvPr>
          <p:cNvSpPr>
            <a:spLocks xmlns:a="http://schemas.openxmlformats.org/drawingml/2006/main" noGrp="1"/>
          </p:cNvSpPr>
          <p:nvPr/>
        </p:nvSpPr>
        <p:spPr>
          <a:xfrm xmlns:a="http://schemas.openxmlformats.org/drawingml/2006/main">
            <a:off x="7867650" y="4876800"/>
            <a:ext cx="3714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원래 기대한 동작은?</a:t>
            </a:r>
          </a:p>
        </p:txBody>
      </p:sp>
    </p:spTree>
    <p:extLst>
      <p:ext uri="{BB962C8B-B14F-4D97-AF65-F5344CB8AC3E}">
        <p14:creationId xmlns:p14="http://schemas.microsoft.com/office/powerpoint/2010/main" val="859258036"/>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Repository 조사 관찰">
            <a:extLst xmlns:a="http://schemas.openxmlformats.org/drawingml/2006/main">
              <a:ext uri="{FF2B5EF4-FFF2-40B4-BE49-F238E27FC236}">
                <a16:creationId xmlns:a16="http://schemas.microsoft.com/office/drawing/2014/main" id="{AD73D7FE-2D83-462F-930A-0C4EC987818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4">
            <a:extLst xmlns:a="http://schemas.openxmlformats.org/drawingml/2006/main">
              <a:ext uri="{FF2B5EF4-FFF2-40B4-BE49-F238E27FC236}">
                <a16:creationId xmlns:a16="http://schemas.microsoft.com/office/drawing/2014/main" id="{426C1C9B-9DAA-4305-BCDB-527D50454AE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파일명을 주지 않으면 Agent는 어디부터 볼까?">
            <a:extLst xmlns:a="http://schemas.openxmlformats.org/drawingml/2006/main">
              <a:ext uri="{FF2B5EF4-FFF2-40B4-BE49-F238E27FC236}">
                <a16:creationId xmlns:a16="http://schemas.microsoft.com/office/drawing/2014/main" id="{57D782B8-8185-40EC-AC49-38FA94CF85D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AE5BF613-823D-4DDA-B4FC-5F41F6BA6F93}"/>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실제 요청 발췌 · Codex CLI 0.154.0 · macOS · 읽기 전용">
            <a:extLst xmlns:a="http://schemas.openxmlformats.org/drawingml/2006/main">
              <a:ext uri="{FF2B5EF4-FFF2-40B4-BE49-F238E27FC236}">
                <a16:creationId xmlns:a16="http://schemas.microsoft.com/office/drawing/2014/main" id="{22EA6C4F-43E6-40E1-BDC0-27E744089B3B}"/>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실제 요청 발췌 · Codex CLI 0.154.0 · macOS · 읽기 전용</a:t>
            </a:r>
          </a:p>
        </p:txBody>
      </p:sp>
      <p:sp>
        <p:nvSpPr>
          <p:cNvPr id="6" name="과거 단일 실행의 기록을 살펴봅니다. 현재 Desktop 동작은 미검증입니다.">
            <a:extLst xmlns:a="http://schemas.openxmlformats.org/drawingml/2006/main">
              <a:ext uri="{FF2B5EF4-FFF2-40B4-BE49-F238E27FC236}">
                <a16:creationId xmlns:a16="http://schemas.microsoft.com/office/drawing/2014/main" id="{F9AB1F5C-E9F0-49FF-AC19-11B026AFC4F0}"/>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과거 단일 실행의 기록을 살펴봅니다. 현재 Desktop 동작은 미검증입니다.</a:t>
            </a:r>
          </a:p>
        </p:txBody>
      </p:sp>
      <p:sp>
        <p:nvSpPr>
          <p:cNvPr id="7" name="“현재 이 저장소에서 테스트 하나가 실패하고 있다.&#10;실패 원인을 조사해줘. 관련 구현과 호출 경로,&#10;실패하는">
            <a:extLst xmlns:a="http://schemas.openxmlformats.org/drawingml/2006/main">
              <a:ext uri="{FF2B5EF4-FFF2-40B4-BE49-F238E27FC236}">
                <a16:creationId xmlns:a16="http://schemas.microsoft.com/office/drawing/2014/main" id="{4CC4AC3E-A80A-4628-944B-1F780A5A4743}"/>
              </a:ext>
            </a:extLst>
          </p:cNvPr>
          <p:cNvSpPr>
            <a:spLocks xmlns:a="http://schemas.openxmlformats.org/drawingml/2006/main" noGrp="1"/>
          </p:cNvSpPr>
          <p:nvPr/>
        </p:nvSpPr>
        <p:spPr>
          <a:xfrm xmlns:a="http://schemas.openxmlformats.org/drawingml/2006/main">
            <a:off x="609600" y="2114550"/>
            <a:ext cx="10972800" cy="1590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“현재 이 저장소에서 테스트 하나가 실패하고 있다.</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실패 원인을 조사해줘. 관련 구현과 호출 경로,</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실패하는 테스트를 확인해서 왜 실패하는지 설명해줘.</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아직 코드는 수정하지 마.”</a:t>
            </a:r>
          </a:p>
        </p:txBody>
      </p:sp>
      <p:sp>
        <p:nvSpPr>
          <p:cNvPr id="8" name="">
            <a:extLst xmlns:a="http://schemas.openxmlformats.org/drawingml/2006/main">
              <a:ext uri="{FF2B5EF4-FFF2-40B4-BE49-F238E27FC236}">
                <a16:creationId xmlns:a16="http://schemas.microsoft.com/office/drawing/2014/main" id="{9FFBBF47-934E-4F8D-B8D1-6BD7624A39D6}"/>
              </a:ext>
            </a:extLst>
          </p:cNvPr>
          <p:cNvSpPr>
            <a:spLocks xmlns:a="http://schemas.openxmlformats.org/drawingml/2006/main" noGrp="1"/>
          </p:cNvSpPr>
          <p:nvPr/>
        </p:nvSpPr>
        <p:spPr>
          <a:xfrm xmlns:a="http://schemas.openxmlformats.org/drawingml/2006/main">
            <a:off x="609600" y="4029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찾았는지 확인할 세 가지">
            <a:extLst xmlns:a="http://schemas.openxmlformats.org/drawingml/2006/main">
              <a:ext uri="{FF2B5EF4-FFF2-40B4-BE49-F238E27FC236}">
                <a16:creationId xmlns:a16="http://schemas.microsoft.com/office/drawing/2014/main" id="{E8F24F5B-EA67-4182-A3CB-3D89E170B179}"/>
              </a:ext>
            </a:extLst>
          </p:cNvPr>
          <p:cNvSpPr>
            <a:spLocks xmlns:a="http://schemas.openxmlformats.org/drawingml/2006/main" noGrp="1"/>
          </p:cNvSpPr>
          <p:nvPr/>
        </p:nvSpPr>
        <p:spPr>
          <a:xfrm xmlns:a="http://schemas.openxmlformats.org/drawingml/2006/main">
            <a:off x="609600" y="42767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찾았는지 확인할 세 가지</a:t>
            </a:r>
          </a:p>
        </p:txBody>
      </p:sp>
      <p:sp>
        <p:nvSpPr>
          <p:cNvPr id="10" name="01  실패하는 테스트">
            <a:extLst xmlns:a="http://schemas.openxmlformats.org/drawingml/2006/main">
              <a:ext uri="{FF2B5EF4-FFF2-40B4-BE49-F238E27FC236}">
                <a16:creationId xmlns:a16="http://schemas.microsoft.com/office/drawing/2014/main" id="{7A820C9F-0F01-4BC9-BD92-18960A6DC88D}"/>
              </a:ext>
            </a:extLst>
          </p:cNvPr>
          <p:cNvSpPr>
            <a:spLocks xmlns:a="http://schemas.openxmlformats.org/drawingml/2006/main" noGrp="1"/>
          </p:cNvSpPr>
          <p:nvPr/>
        </p:nvSpPr>
        <p:spPr>
          <a:xfrm xmlns:a="http://schemas.openxmlformats.org/drawingml/2006/main">
            <a:off x="609600" y="4943475"/>
            <a:ext cx="342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01  실패하는 테스트</a:t>
            </a:r>
          </a:p>
        </p:txBody>
      </p:sp>
      <p:sp>
        <p:nvSpPr>
          <p:cNvPr id="11" name="02  관련 구현">
            <a:extLst xmlns:a="http://schemas.openxmlformats.org/drawingml/2006/main">
              <a:ext uri="{FF2B5EF4-FFF2-40B4-BE49-F238E27FC236}">
                <a16:creationId xmlns:a16="http://schemas.microsoft.com/office/drawing/2014/main" id="{6AAB7A69-34CD-4280-86F9-6CEA1D23041C}"/>
              </a:ext>
            </a:extLst>
          </p:cNvPr>
          <p:cNvSpPr>
            <a:spLocks xmlns:a="http://schemas.openxmlformats.org/drawingml/2006/main" noGrp="1"/>
          </p:cNvSpPr>
          <p:nvPr/>
        </p:nvSpPr>
        <p:spPr>
          <a:xfrm xmlns:a="http://schemas.openxmlformats.org/drawingml/2006/main">
            <a:off x="4381500" y="4943475"/>
            <a:ext cx="342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02  관련 구현</a:t>
            </a:r>
          </a:p>
        </p:txBody>
      </p:sp>
      <p:sp>
        <p:nvSpPr>
          <p:cNvPr id="12" name="03  제품의 호출 경로">
            <a:extLst xmlns:a="http://schemas.openxmlformats.org/drawingml/2006/main">
              <a:ext uri="{FF2B5EF4-FFF2-40B4-BE49-F238E27FC236}">
                <a16:creationId xmlns:a16="http://schemas.microsoft.com/office/drawing/2014/main" id="{673E0092-1B4A-4F47-9FA3-182E771F7238}"/>
              </a:ext>
            </a:extLst>
          </p:cNvPr>
          <p:cNvSpPr>
            <a:spLocks xmlns:a="http://schemas.openxmlformats.org/drawingml/2006/main" noGrp="1"/>
          </p:cNvSpPr>
          <p:nvPr/>
        </p:nvSpPr>
        <p:spPr>
          <a:xfrm xmlns:a="http://schemas.openxmlformats.org/drawingml/2006/main">
            <a:off x="8153400" y="4943475"/>
            <a:ext cx="342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03  제품의 호출 경로</a:t>
            </a:r>
          </a:p>
        </p:txBody>
      </p:sp>
    </p:spTree>
    <p:extLst>
      <p:ext uri="{BB962C8B-B14F-4D97-AF65-F5344CB8AC3E}">
        <p14:creationId xmlns:p14="http://schemas.microsoft.com/office/powerpoint/2010/main" val="217518326"/>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3" name="ACT 0  ·  Repository 탐색">
            <a:extLst xmlns:a="http://schemas.openxmlformats.org/drawingml/2006/main">
              <a:ext uri="{FF2B5EF4-FFF2-40B4-BE49-F238E27FC236}">
                <a16:creationId xmlns:a16="http://schemas.microsoft.com/office/drawing/2014/main" id="{21B8F4D4-489E-4783-B05A-0371AAB5597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탐색</a:t>
            </a:r>
          </a:p>
        </p:txBody>
      </p:sp>
      <p:sp>
        <p:nvSpPr>
          <p:cNvPr id="2" name="S05">
            <a:extLst xmlns:a="http://schemas.openxmlformats.org/drawingml/2006/main">
              <a:ext uri="{FF2B5EF4-FFF2-40B4-BE49-F238E27FC236}">
                <a16:creationId xmlns:a16="http://schemas.microsoft.com/office/drawing/2014/main" id="{A3945D5D-0EE4-4DD9-B97A-9777D274185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Agent가 Test와 호출 경로를 찾았다">
            <a:extLst xmlns:a="http://schemas.openxmlformats.org/drawingml/2006/main">
              <a:ext uri="{FF2B5EF4-FFF2-40B4-BE49-F238E27FC236}">
                <a16:creationId xmlns:a16="http://schemas.microsoft.com/office/drawing/2014/main" id="{30EB3492-FF02-4FE6-B49F-9BF9EA09E3C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Test와 호출 경로를 찾았다</a:t>
            </a:r>
          </a:p>
        </p:txBody>
      </p:sp>
      <p:sp>
        <p:nvSpPr>
          <p:cNvPr id="4" name="">
            <a:extLst xmlns:a="http://schemas.openxmlformats.org/drawingml/2006/main">
              <a:ext uri="{FF2B5EF4-FFF2-40B4-BE49-F238E27FC236}">
                <a16:creationId xmlns:a16="http://schemas.microsoft.com/office/drawing/2014/main" id="{5188D381-12BA-4BD0-9549-6D4DF42FE6A4}"/>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기록·STATE-00 테스트 재구성  |  Codex CLI 0.154.0 · 읽기 전용">
            <a:extLst xmlns:a="http://schemas.openxmlformats.org/drawingml/2006/main">
              <a:ext uri="{FF2B5EF4-FFF2-40B4-BE49-F238E27FC236}">
                <a16:creationId xmlns:a16="http://schemas.microsoft.com/office/drawing/2014/main" id="{3A08F95B-34A7-406B-8A06-4256003DC870}"/>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기록·STATE-00 테스트 재구성  |  Codex CLI 0.154.0 · 읽기 전용</a:t>
            </a:r>
          </a:p>
        </p:txBody>
      </p:sp>
      <p:sp>
        <p:nvSpPr>
          <p:cNvPr id="6" name="실제 실행 화면이 아님 · 이 조사에서는 코드 수정 없음 · 현재 Desktop 동작 미검증">
            <a:extLst xmlns:a="http://schemas.openxmlformats.org/drawingml/2006/main">
              <a:ext uri="{FF2B5EF4-FFF2-40B4-BE49-F238E27FC236}">
                <a16:creationId xmlns:a16="http://schemas.microsoft.com/office/drawing/2014/main" id="{080A72A7-C9B6-47C4-925B-F92D7FBDD571}"/>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화면이 아님 · 이 조사에서는 코드 수정 없음 · 현재 Desktop 동작 미검증</a:t>
            </a:r>
          </a:p>
        </p:txBody>
      </p:sp>
      <p:sp>
        <p:nvSpPr>
          <p:cNvPr id="7" name="crop(image, 1, 3)">
            <a:extLst xmlns:a="http://schemas.openxmlformats.org/drawingml/2006/main">
              <a:ext uri="{FF2B5EF4-FFF2-40B4-BE49-F238E27FC236}">
                <a16:creationId xmlns:a16="http://schemas.microsoft.com/office/drawing/2014/main" id="{14AEB0E0-A8AD-4B60-8123-5C7E6C191BF0}"/>
              </a:ext>
            </a:extLst>
          </p:cNvPr>
          <p:cNvSpPr>
            <a:spLocks xmlns:a="http://schemas.openxmlformats.org/drawingml/2006/main" noGrp="1"/>
          </p:cNvSpPr>
          <p:nvPr/>
        </p:nvSpPr>
        <p:spPr>
          <a:xfrm xmlns:a="http://schemas.openxmlformats.org/drawingml/2006/main">
            <a:off x="609600" y="1571625"/>
            <a:ext cx="5334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Consolas"/>
                <a:ea typeface="Consolas"/>
                <a:cs typeface="Consolas"/>
              </a:defRPr>
            </a:defPPr>
            <a:lvl1pPr algn="l">
              <a:defRPr sz="2550" b="1">
                <a:solidFill>
                  <a:srgbClr val="0B6172"/>
                </a:solidFill>
                <a:latin typeface="Consolas"/>
                <a:ea typeface="Consolas"/>
                <a:cs typeface="Consolas"/>
              </a:defRPr>
            </a:lvl1pPr>
            <a:lvl2pPr algn="l">
              <a:defRPr sz="2550" b="1">
                <a:solidFill>
                  <a:srgbClr val="0B6172"/>
                </a:solidFill>
                <a:latin typeface="Consolas"/>
                <a:ea typeface="Consolas"/>
                <a:cs typeface="Consolas"/>
              </a:defRPr>
            </a:lvl2pPr>
            <a:lvl3pPr algn="l">
              <a:defRPr sz="2550" b="1">
                <a:solidFill>
                  <a:srgbClr val="0B6172"/>
                </a:solidFill>
                <a:latin typeface="Consolas"/>
                <a:ea typeface="Consolas"/>
                <a:cs typeface="Consolas"/>
              </a:defRPr>
            </a:lvl3pPr>
            <a:lvl4pPr algn="l">
              <a:defRPr sz="2550" b="1">
                <a:solidFill>
                  <a:srgbClr val="0B6172"/>
                </a:solidFill>
                <a:latin typeface="Consolas"/>
                <a:ea typeface="Consolas"/>
                <a:cs typeface="Consolas"/>
              </a:defRPr>
            </a:lvl4pPr>
            <a:lvl5pPr algn="l">
              <a:defRPr sz="2550" b="1">
                <a:solidFill>
                  <a:srgbClr val="0B6172"/>
                </a:solidFill>
                <a:latin typeface="Consolas"/>
                <a:ea typeface="Consolas"/>
                <a:cs typeface="Consolas"/>
              </a:defRPr>
            </a:lvl5pPr>
            <a:lvl6pPr algn="l">
              <a:defRPr sz="2550" b="1">
                <a:solidFill>
                  <a:srgbClr val="0B6172"/>
                </a:solidFill>
                <a:latin typeface="Consolas"/>
                <a:ea typeface="Consolas"/>
                <a:cs typeface="Consolas"/>
              </a:defRPr>
            </a:lvl6pPr>
            <a:lvl7pPr algn="l">
              <a:defRPr sz="2550" b="1">
                <a:solidFill>
                  <a:srgbClr val="0B6172"/>
                </a:solidFill>
                <a:latin typeface="Consolas"/>
                <a:ea typeface="Consolas"/>
                <a:cs typeface="Consolas"/>
              </a:defRPr>
            </a:lvl7pPr>
            <a:lvl8pPr algn="l">
              <a:defRPr sz="2550" b="1">
                <a:solidFill>
                  <a:srgbClr val="0B6172"/>
                </a:solidFill>
                <a:latin typeface="Consolas"/>
                <a:ea typeface="Consolas"/>
                <a:cs typeface="Consolas"/>
              </a:defRPr>
            </a:lvl8pPr>
            <a:lvl9pPr algn="l">
              <a:defRPr sz="2550" b="1">
                <a:solidFill>
                  <a:srgbClr val="0B6172"/>
                </a:solidFill>
                <a:latin typeface="Consolas"/>
                <a:ea typeface="Consolas"/>
                <a:cs typeface="Consolas"/>
              </a:defRPr>
            </a:lvl9pPr>
          </a:lstStyle>
          <a:p xmlns:a="http://schemas.openxmlformats.org/drawingml/2006/main">
            <a:pPr algn="l">
              <a:defRPr sz="2550" b="1">
                <a:solidFill>
                  <a:srgbClr val="0B6172"/>
                </a:solidFill>
                <a:latin typeface="Consolas"/>
                <a:ea typeface="Consolas"/>
                <a:cs typeface="Consolas"/>
              </a:defRPr>
            </a:pPr>
            <a:r>
              <a:rPr sz="2550" b="1">
                <a:solidFill>
                  <a:srgbClr val="0B6172"/>
                </a:solidFill>
                <a:latin typeface="Consolas"/>
                <a:ea typeface="Consolas"/>
                <a:cs typeface="Consolas"/>
              </a:rPr>
              <a:t>crop(image, 1, 3)</a:t>
            </a:r>
          </a:p>
        </p:txBody>
      </p:sp>
      <p:sp>
        <p:nvSpPr>
          <p:cNvPr id="8" name="끝 좌표 3은 포함하지 않는 계약">
            <a:extLst xmlns:a="http://schemas.openxmlformats.org/drawingml/2006/main">
              <a:ext uri="{FF2B5EF4-FFF2-40B4-BE49-F238E27FC236}">
                <a16:creationId xmlns:a16="http://schemas.microsoft.com/office/drawing/2014/main" id="{0F574646-C8BC-4D3F-91E3-1396F029D45D}"/>
              </a:ext>
            </a:extLst>
          </p:cNvPr>
          <p:cNvSpPr>
            <a:spLocks xmlns:a="http://schemas.openxmlformats.org/drawingml/2006/main" noGrp="1"/>
          </p:cNvSpPr>
          <p:nvPr/>
        </p:nvSpPr>
        <p:spPr>
          <a:xfrm xmlns:a="http://schemas.openxmlformats.org/drawingml/2006/main">
            <a:off x="609600" y="2019300"/>
            <a:ext cx="5905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3은 포함하지 않는 계약</a:t>
            </a:r>
          </a:p>
        </p:txBody>
      </p:sp>
      <p:sp>
        <p:nvSpPr>
          <p:cNvPr id="9" name="입력">
            <a:extLst xmlns:a="http://schemas.openxmlformats.org/drawingml/2006/main">
              <a:ext uri="{FF2B5EF4-FFF2-40B4-BE49-F238E27FC236}">
                <a16:creationId xmlns:a16="http://schemas.microsoft.com/office/drawing/2014/main" id="{FDCCEC6B-7D63-46B8-8735-10F201613830}"/>
              </a:ext>
            </a:extLst>
          </p:cNvPr>
          <p:cNvSpPr>
            <a:spLocks xmlns:a="http://schemas.openxmlformats.org/drawingml/2006/main" noGrp="1"/>
          </p:cNvSpPr>
          <p:nvPr/>
        </p:nvSpPr>
        <p:spPr>
          <a:xfrm xmlns:a="http://schemas.openxmlformats.org/drawingml/2006/main">
            <a:off x="609600" y="2571750"/>
            <a:ext cx="685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입력</a:t>
            </a:r>
          </a:p>
        </p:txBody>
      </p:sp>
      <p:sp>
        <p:nvSpPr>
          <p:cNvPr id="10" name="0">
            <a:extLst xmlns:a="http://schemas.openxmlformats.org/drawingml/2006/main">
              <a:ext uri="{FF2B5EF4-FFF2-40B4-BE49-F238E27FC236}">
                <a16:creationId xmlns:a16="http://schemas.microsoft.com/office/drawing/2014/main" id="{1B841085-82EA-4211-92AB-0873ACC31D3F}"/>
              </a:ext>
            </a:extLst>
          </p:cNvPr>
          <p:cNvSpPr>
            <a:spLocks xmlns:a="http://schemas.openxmlformats.org/drawingml/2006/main" noGrp="1"/>
          </p:cNvSpPr>
          <p:nvPr/>
        </p:nvSpPr>
        <p:spPr>
          <a:xfrm xmlns:a="http://schemas.openxmlformats.org/drawingml/2006/main">
            <a:off x="1485900" y="2428875"/>
            <a:ext cx="628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0</a:t>
            </a:r>
          </a:p>
        </p:txBody>
      </p:sp>
      <p:sp>
        <p:nvSpPr>
          <p:cNvPr id="11" name="1">
            <a:extLst xmlns:a="http://schemas.openxmlformats.org/drawingml/2006/main">
              <a:ext uri="{FF2B5EF4-FFF2-40B4-BE49-F238E27FC236}">
                <a16:creationId xmlns:a16="http://schemas.microsoft.com/office/drawing/2014/main" id="{8D749D97-0EE6-4370-BFAF-1249FB387BA2}"/>
              </a:ext>
            </a:extLst>
          </p:cNvPr>
          <p:cNvSpPr>
            <a:spLocks xmlns:a="http://schemas.openxmlformats.org/drawingml/2006/main" noGrp="1"/>
          </p:cNvSpPr>
          <p:nvPr/>
        </p:nvSpPr>
        <p:spPr>
          <a:xfrm xmlns:a="http://schemas.openxmlformats.org/drawingml/2006/main">
            <a:off x="2152650" y="2428875"/>
            <a:ext cx="628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1</a:t>
            </a:r>
          </a:p>
        </p:txBody>
      </p:sp>
      <p:sp>
        <p:nvSpPr>
          <p:cNvPr id="12" name="2">
            <a:extLst xmlns:a="http://schemas.openxmlformats.org/drawingml/2006/main">
              <a:ext uri="{FF2B5EF4-FFF2-40B4-BE49-F238E27FC236}">
                <a16:creationId xmlns:a16="http://schemas.microsoft.com/office/drawing/2014/main" id="{5E87E26D-71DB-47E5-8D0D-1B1D977458CA}"/>
              </a:ext>
            </a:extLst>
          </p:cNvPr>
          <p:cNvSpPr>
            <a:spLocks xmlns:a="http://schemas.openxmlformats.org/drawingml/2006/main" noGrp="1"/>
          </p:cNvSpPr>
          <p:nvPr/>
        </p:nvSpPr>
        <p:spPr>
          <a:xfrm xmlns:a="http://schemas.openxmlformats.org/drawingml/2006/main">
            <a:off x="2819400" y="2428875"/>
            <a:ext cx="628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2</a:t>
            </a:r>
          </a:p>
        </p:txBody>
      </p:sp>
      <p:sp>
        <p:nvSpPr>
          <p:cNvPr id="13" name="3">
            <a:extLst xmlns:a="http://schemas.openxmlformats.org/drawingml/2006/main">
              <a:ext uri="{FF2B5EF4-FFF2-40B4-BE49-F238E27FC236}">
                <a16:creationId xmlns:a16="http://schemas.microsoft.com/office/drawing/2014/main" id="{25490117-5EFA-434F-A1E1-2BF657844510}"/>
              </a:ext>
            </a:extLst>
          </p:cNvPr>
          <p:cNvSpPr>
            <a:spLocks xmlns:a="http://schemas.openxmlformats.org/drawingml/2006/main" noGrp="1"/>
          </p:cNvSpPr>
          <p:nvPr/>
        </p:nvSpPr>
        <p:spPr>
          <a:xfrm xmlns:a="http://schemas.openxmlformats.org/drawingml/2006/main">
            <a:off x="3486150" y="2428875"/>
            <a:ext cx="628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3</a:t>
            </a:r>
          </a:p>
        </p:txBody>
      </p:sp>
      <p:sp>
        <p:nvSpPr>
          <p:cNvPr id="14" name="">
            <a:extLst xmlns:a="http://schemas.openxmlformats.org/drawingml/2006/main">
              <a:ext uri="{FF2B5EF4-FFF2-40B4-BE49-F238E27FC236}">
                <a16:creationId xmlns:a16="http://schemas.microsoft.com/office/drawing/2014/main" id="{21C6C862-3A54-4BB2-8995-CD6F4A686C58}"/>
              </a:ext>
            </a:extLst>
          </p:cNvPr>
          <p:cNvSpPr>
            <a:spLocks xmlns:a="http://schemas.openxmlformats.org/drawingml/2006/main" noGrp="1"/>
          </p:cNvSpPr>
          <p:nvPr/>
        </p:nvSpPr>
        <p:spPr>
          <a:xfrm xmlns:a="http://schemas.openxmlformats.org/drawingml/2006/main">
            <a:off x="1485900" y="2771775"/>
            <a:ext cx="62865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1">
            <a:extLst xmlns:a="http://schemas.openxmlformats.org/drawingml/2006/main">
              <a:ext uri="{FF2B5EF4-FFF2-40B4-BE49-F238E27FC236}">
                <a16:creationId xmlns:a16="http://schemas.microsoft.com/office/drawing/2014/main" id="{C74629B0-28EF-408C-B200-BD45804053C6}"/>
              </a:ext>
            </a:extLst>
          </p:cNvPr>
          <p:cNvSpPr>
            <a:spLocks xmlns:a="http://schemas.openxmlformats.org/drawingml/2006/main" noGrp="1"/>
          </p:cNvSpPr>
          <p:nvPr/>
        </p:nvSpPr>
        <p:spPr>
          <a:xfrm xmlns:a="http://schemas.openxmlformats.org/drawingml/2006/main">
            <a:off x="1485900" y="277177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1</a:t>
            </a:r>
          </a:p>
        </p:txBody>
      </p:sp>
      <p:sp>
        <p:nvSpPr>
          <p:cNvPr id="16" name="">
            <a:extLst xmlns:a="http://schemas.openxmlformats.org/drawingml/2006/main">
              <a:ext uri="{FF2B5EF4-FFF2-40B4-BE49-F238E27FC236}">
                <a16:creationId xmlns:a16="http://schemas.microsoft.com/office/drawing/2014/main" id="{F6C3150F-B13B-4187-BC92-5667B4A7EF4F}"/>
              </a:ext>
            </a:extLst>
          </p:cNvPr>
          <p:cNvSpPr>
            <a:spLocks xmlns:a="http://schemas.openxmlformats.org/drawingml/2006/main" noGrp="1"/>
          </p:cNvSpPr>
          <p:nvPr/>
        </p:nvSpPr>
        <p:spPr>
          <a:xfrm xmlns:a="http://schemas.openxmlformats.org/drawingml/2006/main">
            <a:off x="2152650" y="2771775"/>
            <a:ext cx="628650"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2">
            <a:extLst xmlns:a="http://schemas.openxmlformats.org/drawingml/2006/main">
              <a:ext uri="{FF2B5EF4-FFF2-40B4-BE49-F238E27FC236}">
                <a16:creationId xmlns:a16="http://schemas.microsoft.com/office/drawing/2014/main" id="{359E3EEA-8B2F-4A17-A3DB-31A727D46EB4}"/>
              </a:ext>
            </a:extLst>
          </p:cNvPr>
          <p:cNvSpPr>
            <a:spLocks xmlns:a="http://schemas.openxmlformats.org/drawingml/2006/main" noGrp="1"/>
          </p:cNvSpPr>
          <p:nvPr/>
        </p:nvSpPr>
        <p:spPr>
          <a:xfrm xmlns:a="http://schemas.openxmlformats.org/drawingml/2006/main">
            <a:off x="2152650" y="277177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18" name="">
            <a:extLst xmlns:a="http://schemas.openxmlformats.org/drawingml/2006/main">
              <a:ext uri="{FF2B5EF4-FFF2-40B4-BE49-F238E27FC236}">
                <a16:creationId xmlns:a16="http://schemas.microsoft.com/office/drawing/2014/main" id="{D05A5D03-0ED8-4186-B6C4-37353B53E63B}"/>
              </a:ext>
            </a:extLst>
          </p:cNvPr>
          <p:cNvSpPr>
            <a:spLocks xmlns:a="http://schemas.openxmlformats.org/drawingml/2006/main" noGrp="1"/>
          </p:cNvSpPr>
          <p:nvPr/>
        </p:nvSpPr>
        <p:spPr>
          <a:xfrm xmlns:a="http://schemas.openxmlformats.org/drawingml/2006/main">
            <a:off x="2819400" y="2771775"/>
            <a:ext cx="628650"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9" name="3">
            <a:extLst xmlns:a="http://schemas.openxmlformats.org/drawingml/2006/main">
              <a:ext uri="{FF2B5EF4-FFF2-40B4-BE49-F238E27FC236}">
                <a16:creationId xmlns:a16="http://schemas.microsoft.com/office/drawing/2014/main" id="{53216343-85F7-4917-B6EB-EA9574198503}"/>
              </a:ext>
            </a:extLst>
          </p:cNvPr>
          <p:cNvSpPr>
            <a:spLocks xmlns:a="http://schemas.openxmlformats.org/drawingml/2006/main" noGrp="1"/>
          </p:cNvSpPr>
          <p:nvPr/>
        </p:nvSpPr>
        <p:spPr>
          <a:xfrm xmlns:a="http://schemas.openxmlformats.org/drawingml/2006/main">
            <a:off x="2819400" y="277177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20" name="">
            <a:extLst xmlns:a="http://schemas.openxmlformats.org/drawingml/2006/main">
              <a:ext uri="{FF2B5EF4-FFF2-40B4-BE49-F238E27FC236}">
                <a16:creationId xmlns:a16="http://schemas.microsoft.com/office/drawing/2014/main" id="{1AF086C0-752D-42FB-91AE-098B253E53AD}"/>
              </a:ext>
            </a:extLst>
          </p:cNvPr>
          <p:cNvSpPr>
            <a:spLocks xmlns:a="http://schemas.openxmlformats.org/drawingml/2006/main" noGrp="1"/>
          </p:cNvSpPr>
          <p:nvPr/>
        </p:nvSpPr>
        <p:spPr>
          <a:xfrm xmlns:a="http://schemas.openxmlformats.org/drawingml/2006/main">
            <a:off x="3486150" y="2771775"/>
            <a:ext cx="62865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4">
            <a:extLst xmlns:a="http://schemas.openxmlformats.org/drawingml/2006/main">
              <a:ext uri="{FF2B5EF4-FFF2-40B4-BE49-F238E27FC236}">
                <a16:creationId xmlns:a16="http://schemas.microsoft.com/office/drawing/2014/main" id="{4F666B64-EF1A-4BC7-AD32-BCD7F3F1A6E4}"/>
              </a:ext>
            </a:extLst>
          </p:cNvPr>
          <p:cNvSpPr>
            <a:spLocks xmlns:a="http://schemas.openxmlformats.org/drawingml/2006/main" noGrp="1"/>
          </p:cNvSpPr>
          <p:nvPr/>
        </p:nvSpPr>
        <p:spPr>
          <a:xfrm xmlns:a="http://schemas.openxmlformats.org/drawingml/2006/main">
            <a:off x="3486150" y="277177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22" name="">
            <a:extLst xmlns:a="http://schemas.openxmlformats.org/drawingml/2006/main">
              <a:ext uri="{FF2B5EF4-FFF2-40B4-BE49-F238E27FC236}">
                <a16:creationId xmlns:a16="http://schemas.microsoft.com/office/drawing/2014/main" id="{1CF87E3C-E1EE-4D21-9950-C6EC4961EF92}"/>
              </a:ext>
            </a:extLst>
          </p:cNvPr>
          <p:cNvSpPr>
            <a:spLocks xmlns:a="http://schemas.openxmlformats.org/drawingml/2006/main" noGrp="1"/>
          </p:cNvSpPr>
          <p:nvPr/>
        </p:nvSpPr>
        <p:spPr>
          <a:xfrm xmlns:a="http://schemas.openxmlformats.org/drawingml/2006/main">
            <a:off x="1485900" y="3438525"/>
            <a:ext cx="62865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5">
            <a:extLst xmlns:a="http://schemas.openxmlformats.org/drawingml/2006/main">
              <a:ext uri="{FF2B5EF4-FFF2-40B4-BE49-F238E27FC236}">
                <a16:creationId xmlns:a16="http://schemas.microsoft.com/office/drawing/2014/main" id="{BA78D321-9BA4-4DC3-956A-633AAEB92303}"/>
              </a:ext>
            </a:extLst>
          </p:cNvPr>
          <p:cNvSpPr>
            <a:spLocks xmlns:a="http://schemas.openxmlformats.org/drawingml/2006/main" noGrp="1"/>
          </p:cNvSpPr>
          <p:nvPr/>
        </p:nvSpPr>
        <p:spPr>
          <a:xfrm xmlns:a="http://schemas.openxmlformats.org/drawingml/2006/main">
            <a:off x="1485900" y="343852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5</a:t>
            </a:r>
          </a:p>
        </p:txBody>
      </p:sp>
      <p:sp>
        <p:nvSpPr>
          <p:cNvPr id="24" name="">
            <a:extLst xmlns:a="http://schemas.openxmlformats.org/drawingml/2006/main">
              <a:ext uri="{FF2B5EF4-FFF2-40B4-BE49-F238E27FC236}">
                <a16:creationId xmlns:a16="http://schemas.microsoft.com/office/drawing/2014/main" id="{4AE3551B-D159-4628-900E-8F8FA70B0AF0}"/>
              </a:ext>
            </a:extLst>
          </p:cNvPr>
          <p:cNvSpPr>
            <a:spLocks xmlns:a="http://schemas.openxmlformats.org/drawingml/2006/main" noGrp="1"/>
          </p:cNvSpPr>
          <p:nvPr/>
        </p:nvSpPr>
        <p:spPr>
          <a:xfrm xmlns:a="http://schemas.openxmlformats.org/drawingml/2006/main">
            <a:off x="2152650" y="3438525"/>
            <a:ext cx="628650"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5" name="6">
            <a:extLst xmlns:a="http://schemas.openxmlformats.org/drawingml/2006/main">
              <a:ext uri="{FF2B5EF4-FFF2-40B4-BE49-F238E27FC236}">
                <a16:creationId xmlns:a16="http://schemas.microsoft.com/office/drawing/2014/main" id="{D563C8F0-858F-4E5A-BFB5-98A9F6E107DB}"/>
              </a:ext>
            </a:extLst>
          </p:cNvPr>
          <p:cNvSpPr>
            <a:spLocks xmlns:a="http://schemas.openxmlformats.org/drawingml/2006/main" noGrp="1"/>
          </p:cNvSpPr>
          <p:nvPr/>
        </p:nvSpPr>
        <p:spPr>
          <a:xfrm xmlns:a="http://schemas.openxmlformats.org/drawingml/2006/main">
            <a:off x="2152650" y="343852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6</a:t>
            </a:r>
          </a:p>
        </p:txBody>
      </p:sp>
      <p:sp>
        <p:nvSpPr>
          <p:cNvPr id="26" name="">
            <a:extLst xmlns:a="http://schemas.openxmlformats.org/drawingml/2006/main">
              <a:ext uri="{FF2B5EF4-FFF2-40B4-BE49-F238E27FC236}">
                <a16:creationId xmlns:a16="http://schemas.microsoft.com/office/drawing/2014/main" id="{0C8D4D02-D99B-41A2-8142-6F5C10C06179}"/>
              </a:ext>
            </a:extLst>
          </p:cNvPr>
          <p:cNvSpPr>
            <a:spLocks xmlns:a="http://schemas.openxmlformats.org/drawingml/2006/main" noGrp="1"/>
          </p:cNvSpPr>
          <p:nvPr/>
        </p:nvSpPr>
        <p:spPr>
          <a:xfrm xmlns:a="http://schemas.openxmlformats.org/drawingml/2006/main">
            <a:off x="2819400" y="3438525"/>
            <a:ext cx="628650"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7" name="7">
            <a:extLst xmlns:a="http://schemas.openxmlformats.org/drawingml/2006/main">
              <a:ext uri="{FF2B5EF4-FFF2-40B4-BE49-F238E27FC236}">
                <a16:creationId xmlns:a16="http://schemas.microsoft.com/office/drawing/2014/main" id="{A41351BF-8907-4496-8392-AB508ABA81BD}"/>
              </a:ext>
            </a:extLst>
          </p:cNvPr>
          <p:cNvSpPr>
            <a:spLocks xmlns:a="http://schemas.openxmlformats.org/drawingml/2006/main" noGrp="1"/>
          </p:cNvSpPr>
          <p:nvPr/>
        </p:nvSpPr>
        <p:spPr>
          <a:xfrm xmlns:a="http://schemas.openxmlformats.org/drawingml/2006/main">
            <a:off x="2819400" y="343852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7</a:t>
            </a:r>
          </a:p>
        </p:txBody>
      </p:sp>
      <p:sp>
        <p:nvSpPr>
          <p:cNvPr id="28" name="">
            <a:extLst xmlns:a="http://schemas.openxmlformats.org/drawingml/2006/main">
              <a:ext uri="{FF2B5EF4-FFF2-40B4-BE49-F238E27FC236}">
                <a16:creationId xmlns:a16="http://schemas.microsoft.com/office/drawing/2014/main" id="{7500455B-B904-4980-9CAA-B5A7F5380180}"/>
              </a:ext>
            </a:extLst>
          </p:cNvPr>
          <p:cNvSpPr>
            <a:spLocks xmlns:a="http://schemas.openxmlformats.org/drawingml/2006/main" noGrp="1"/>
          </p:cNvSpPr>
          <p:nvPr/>
        </p:nvSpPr>
        <p:spPr>
          <a:xfrm xmlns:a="http://schemas.openxmlformats.org/drawingml/2006/main">
            <a:off x="3486150" y="3438525"/>
            <a:ext cx="62865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8">
            <a:extLst xmlns:a="http://schemas.openxmlformats.org/drawingml/2006/main">
              <a:ext uri="{FF2B5EF4-FFF2-40B4-BE49-F238E27FC236}">
                <a16:creationId xmlns:a16="http://schemas.microsoft.com/office/drawing/2014/main" id="{4B996CE4-6544-4D4E-BC97-E9BB1218ECCC}"/>
              </a:ext>
            </a:extLst>
          </p:cNvPr>
          <p:cNvSpPr>
            <a:spLocks xmlns:a="http://schemas.openxmlformats.org/drawingml/2006/main" noGrp="1"/>
          </p:cNvSpPr>
          <p:nvPr/>
        </p:nvSpPr>
        <p:spPr>
          <a:xfrm xmlns:a="http://schemas.openxmlformats.org/drawingml/2006/main">
            <a:off x="3486150" y="343852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8</a:t>
            </a:r>
          </a:p>
        </p:txBody>
      </p:sp>
      <p:sp>
        <p:nvSpPr>
          <p:cNvPr id="30" name="열 index">
            <a:extLst xmlns:a="http://schemas.openxmlformats.org/drawingml/2006/main">
              <a:ext uri="{FF2B5EF4-FFF2-40B4-BE49-F238E27FC236}">
                <a16:creationId xmlns:a16="http://schemas.microsoft.com/office/drawing/2014/main" id="{21E53834-F69A-4611-BC6F-7AD042A0DEFD}"/>
              </a:ext>
            </a:extLst>
          </p:cNvPr>
          <p:cNvSpPr>
            <a:spLocks xmlns:a="http://schemas.openxmlformats.org/drawingml/2006/main" noGrp="1"/>
          </p:cNvSpPr>
          <p:nvPr/>
        </p:nvSpPr>
        <p:spPr>
          <a:xfrm xmlns:a="http://schemas.openxmlformats.org/drawingml/2006/main">
            <a:off x="4248150" y="2428875"/>
            <a:ext cx="1257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열 index</a:t>
            </a:r>
          </a:p>
        </p:txBody>
      </p:sp>
      <p:sp>
        <p:nvSpPr>
          <p:cNvPr id="31" name="기대">
            <a:extLst xmlns:a="http://schemas.openxmlformats.org/drawingml/2006/main">
              <a:ext uri="{FF2B5EF4-FFF2-40B4-BE49-F238E27FC236}">
                <a16:creationId xmlns:a16="http://schemas.microsoft.com/office/drawing/2014/main" id="{DEBB2E84-34EF-404F-97F1-D96895AB2F8B}"/>
              </a:ext>
            </a:extLst>
          </p:cNvPr>
          <p:cNvSpPr>
            <a:spLocks xmlns:a="http://schemas.openxmlformats.org/drawingml/2006/main" noGrp="1"/>
          </p:cNvSpPr>
          <p:nvPr/>
        </p:nvSpPr>
        <p:spPr>
          <a:xfrm xmlns:a="http://schemas.openxmlformats.org/drawingml/2006/main">
            <a:off x="609600" y="4410075"/>
            <a:ext cx="685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기대</a:t>
            </a:r>
          </a:p>
        </p:txBody>
      </p:sp>
      <p:sp>
        <p:nvSpPr>
          <p:cNvPr id="32" name="">
            <a:extLst xmlns:a="http://schemas.openxmlformats.org/drawingml/2006/main">
              <a:ext uri="{FF2B5EF4-FFF2-40B4-BE49-F238E27FC236}">
                <a16:creationId xmlns:a16="http://schemas.microsoft.com/office/drawing/2014/main" id="{7E2E9A1E-2392-4720-81F9-94785B38D783}"/>
              </a:ext>
            </a:extLst>
          </p:cNvPr>
          <p:cNvSpPr>
            <a:spLocks xmlns:a="http://schemas.openxmlformats.org/drawingml/2006/main" noGrp="1"/>
          </p:cNvSpPr>
          <p:nvPr/>
        </p:nvSpPr>
        <p:spPr>
          <a:xfrm xmlns:a="http://schemas.openxmlformats.org/drawingml/2006/main">
            <a:off x="1485900" y="436245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2">
            <a:extLst xmlns:a="http://schemas.openxmlformats.org/drawingml/2006/main">
              <a:ext uri="{FF2B5EF4-FFF2-40B4-BE49-F238E27FC236}">
                <a16:creationId xmlns:a16="http://schemas.microsoft.com/office/drawing/2014/main" id="{DBE094CF-A742-4611-998B-651D004E2AB6}"/>
              </a:ext>
            </a:extLst>
          </p:cNvPr>
          <p:cNvSpPr>
            <a:spLocks xmlns:a="http://schemas.openxmlformats.org/drawingml/2006/main" noGrp="1"/>
          </p:cNvSpPr>
          <p:nvPr/>
        </p:nvSpPr>
        <p:spPr>
          <a:xfrm xmlns:a="http://schemas.openxmlformats.org/drawingml/2006/main">
            <a:off x="1485900" y="436245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34" name="">
            <a:extLst xmlns:a="http://schemas.openxmlformats.org/drawingml/2006/main">
              <a:ext uri="{FF2B5EF4-FFF2-40B4-BE49-F238E27FC236}">
                <a16:creationId xmlns:a16="http://schemas.microsoft.com/office/drawing/2014/main" id="{46B4781D-91A0-46CB-9E2F-0B6411E611EE}"/>
              </a:ext>
            </a:extLst>
          </p:cNvPr>
          <p:cNvSpPr>
            <a:spLocks xmlns:a="http://schemas.openxmlformats.org/drawingml/2006/main" noGrp="1"/>
          </p:cNvSpPr>
          <p:nvPr/>
        </p:nvSpPr>
        <p:spPr>
          <a:xfrm xmlns:a="http://schemas.openxmlformats.org/drawingml/2006/main">
            <a:off x="2000250" y="436245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5" name="3">
            <a:extLst xmlns:a="http://schemas.openxmlformats.org/drawingml/2006/main">
              <a:ext uri="{FF2B5EF4-FFF2-40B4-BE49-F238E27FC236}">
                <a16:creationId xmlns:a16="http://schemas.microsoft.com/office/drawing/2014/main" id="{1A4DC2C6-1A76-4590-AA2A-205B040D96AB}"/>
              </a:ext>
            </a:extLst>
          </p:cNvPr>
          <p:cNvSpPr>
            <a:spLocks xmlns:a="http://schemas.openxmlformats.org/drawingml/2006/main" noGrp="1"/>
          </p:cNvSpPr>
          <p:nvPr/>
        </p:nvSpPr>
        <p:spPr>
          <a:xfrm xmlns:a="http://schemas.openxmlformats.org/drawingml/2006/main">
            <a:off x="2000250" y="436245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6" name="">
            <a:extLst xmlns:a="http://schemas.openxmlformats.org/drawingml/2006/main">
              <a:ext uri="{FF2B5EF4-FFF2-40B4-BE49-F238E27FC236}">
                <a16:creationId xmlns:a16="http://schemas.microsoft.com/office/drawing/2014/main" id="{EC91E750-9E9E-42BB-9E05-1289A212A055}"/>
              </a:ext>
            </a:extLst>
          </p:cNvPr>
          <p:cNvSpPr>
            <a:spLocks xmlns:a="http://schemas.openxmlformats.org/drawingml/2006/main" noGrp="1"/>
          </p:cNvSpPr>
          <p:nvPr/>
        </p:nvSpPr>
        <p:spPr>
          <a:xfrm xmlns:a="http://schemas.openxmlformats.org/drawingml/2006/main">
            <a:off x="1485900" y="487680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7" name="6">
            <a:extLst xmlns:a="http://schemas.openxmlformats.org/drawingml/2006/main">
              <a:ext uri="{FF2B5EF4-FFF2-40B4-BE49-F238E27FC236}">
                <a16:creationId xmlns:a16="http://schemas.microsoft.com/office/drawing/2014/main" id="{7E65B9E8-4005-4159-84BF-C957D24C0C1A}"/>
              </a:ext>
            </a:extLst>
          </p:cNvPr>
          <p:cNvSpPr>
            <a:spLocks xmlns:a="http://schemas.openxmlformats.org/drawingml/2006/main" noGrp="1"/>
          </p:cNvSpPr>
          <p:nvPr/>
        </p:nvSpPr>
        <p:spPr>
          <a:xfrm xmlns:a="http://schemas.openxmlformats.org/drawingml/2006/main">
            <a:off x="1485900" y="487680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6</a:t>
            </a:r>
          </a:p>
        </p:txBody>
      </p:sp>
      <p:sp>
        <p:nvSpPr>
          <p:cNvPr id="38" name="">
            <a:extLst xmlns:a="http://schemas.openxmlformats.org/drawingml/2006/main">
              <a:ext uri="{FF2B5EF4-FFF2-40B4-BE49-F238E27FC236}">
                <a16:creationId xmlns:a16="http://schemas.microsoft.com/office/drawing/2014/main" id="{EB12B23C-E570-4AB6-8547-870270975F9D}"/>
              </a:ext>
            </a:extLst>
          </p:cNvPr>
          <p:cNvSpPr>
            <a:spLocks xmlns:a="http://schemas.openxmlformats.org/drawingml/2006/main" noGrp="1"/>
          </p:cNvSpPr>
          <p:nvPr/>
        </p:nvSpPr>
        <p:spPr>
          <a:xfrm xmlns:a="http://schemas.openxmlformats.org/drawingml/2006/main">
            <a:off x="2000250" y="487680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9" name="7">
            <a:extLst xmlns:a="http://schemas.openxmlformats.org/drawingml/2006/main">
              <a:ext uri="{FF2B5EF4-FFF2-40B4-BE49-F238E27FC236}">
                <a16:creationId xmlns:a16="http://schemas.microsoft.com/office/drawing/2014/main" id="{1B41FF41-00E1-4746-A744-ADAA56CFC331}"/>
              </a:ext>
            </a:extLst>
          </p:cNvPr>
          <p:cNvSpPr>
            <a:spLocks xmlns:a="http://schemas.openxmlformats.org/drawingml/2006/main" noGrp="1"/>
          </p:cNvSpPr>
          <p:nvPr/>
        </p:nvSpPr>
        <p:spPr>
          <a:xfrm xmlns:a="http://schemas.openxmlformats.org/drawingml/2006/main">
            <a:off x="2000250" y="487680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7</a:t>
            </a:r>
          </a:p>
        </p:txBody>
      </p:sp>
      <p:sp>
        <p:nvSpPr>
          <p:cNvPr id="40" name="구현 결과">
            <a:extLst xmlns:a="http://schemas.openxmlformats.org/drawingml/2006/main">
              <a:ext uri="{FF2B5EF4-FFF2-40B4-BE49-F238E27FC236}">
                <a16:creationId xmlns:a16="http://schemas.microsoft.com/office/drawing/2014/main" id="{CEBCC742-51ED-43FB-AC5F-EABE9E0EA827}"/>
              </a:ext>
            </a:extLst>
          </p:cNvPr>
          <p:cNvSpPr>
            <a:spLocks xmlns:a="http://schemas.openxmlformats.org/drawingml/2006/main" noGrp="1"/>
          </p:cNvSpPr>
          <p:nvPr/>
        </p:nvSpPr>
        <p:spPr>
          <a:xfrm xmlns:a="http://schemas.openxmlformats.org/drawingml/2006/main">
            <a:off x="3048000" y="4410075"/>
            <a:ext cx="1238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B42318"/>
                </a:solidFill>
                <a:latin typeface="Malgun Gothic"/>
                <a:ea typeface="Malgun Gothic"/>
                <a:cs typeface="Malgun Gothic"/>
              </a:defRPr>
            </a:defPPr>
            <a:lvl1pPr algn="l">
              <a:defRPr sz="1800" b="1">
                <a:solidFill>
                  <a:srgbClr val="B42318"/>
                </a:solidFill>
                <a:latin typeface="Malgun Gothic"/>
                <a:ea typeface="Malgun Gothic"/>
                <a:cs typeface="Malgun Gothic"/>
              </a:defRPr>
            </a:lvl1pPr>
            <a:lvl2pPr algn="l">
              <a:defRPr sz="1800" b="1">
                <a:solidFill>
                  <a:srgbClr val="B42318"/>
                </a:solidFill>
                <a:latin typeface="Malgun Gothic"/>
                <a:ea typeface="Malgun Gothic"/>
                <a:cs typeface="Malgun Gothic"/>
              </a:defRPr>
            </a:lvl2pPr>
            <a:lvl3pPr algn="l">
              <a:defRPr sz="1800" b="1">
                <a:solidFill>
                  <a:srgbClr val="B42318"/>
                </a:solidFill>
                <a:latin typeface="Malgun Gothic"/>
                <a:ea typeface="Malgun Gothic"/>
                <a:cs typeface="Malgun Gothic"/>
              </a:defRPr>
            </a:lvl3pPr>
            <a:lvl4pPr algn="l">
              <a:defRPr sz="1800" b="1">
                <a:solidFill>
                  <a:srgbClr val="B42318"/>
                </a:solidFill>
                <a:latin typeface="Malgun Gothic"/>
                <a:ea typeface="Malgun Gothic"/>
                <a:cs typeface="Malgun Gothic"/>
              </a:defRPr>
            </a:lvl4pPr>
            <a:lvl5pPr algn="l">
              <a:defRPr sz="1800" b="1">
                <a:solidFill>
                  <a:srgbClr val="B42318"/>
                </a:solidFill>
                <a:latin typeface="Malgun Gothic"/>
                <a:ea typeface="Malgun Gothic"/>
                <a:cs typeface="Malgun Gothic"/>
              </a:defRPr>
            </a:lvl5pPr>
            <a:lvl6pPr algn="l">
              <a:defRPr sz="1800" b="1">
                <a:solidFill>
                  <a:srgbClr val="B42318"/>
                </a:solidFill>
                <a:latin typeface="Malgun Gothic"/>
                <a:ea typeface="Malgun Gothic"/>
                <a:cs typeface="Malgun Gothic"/>
              </a:defRPr>
            </a:lvl6pPr>
            <a:lvl7pPr algn="l">
              <a:defRPr sz="1800" b="1">
                <a:solidFill>
                  <a:srgbClr val="B42318"/>
                </a:solidFill>
                <a:latin typeface="Malgun Gothic"/>
                <a:ea typeface="Malgun Gothic"/>
                <a:cs typeface="Malgun Gothic"/>
              </a:defRPr>
            </a:lvl7pPr>
            <a:lvl8pPr algn="l">
              <a:defRPr sz="1800" b="1">
                <a:solidFill>
                  <a:srgbClr val="B42318"/>
                </a:solidFill>
                <a:latin typeface="Malgun Gothic"/>
                <a:ea typeface="Malgun Gothic"/>
                <a:cs typeface="Malgun Gothic"/>
              </a:defRPr>
            </a:lvl8pPr>
            <a:lvl9pPr algn="l">
              <a:defRPr sz="1800" b="1">
                <a:solidFill>
                  <a:srgbClr val="B42318"/>
                </a:solidFill>
                <a:latin typeface="Malgun Gothic"/>
                <a:ea typeface="Malgun Gothic"/>
                <a:cs typeface="Malgun Gothic"/>
              </a:defRPr>
            </a:lvl9pPr>
          </a:lstStyle>
          <a:p xmlns:a="http://schemas.openxmlformats.org/drawingml/2006/main">
            <a:pPr algn="l">
              <a:defRPr sz="1800" b="1">
                <a:solidFill>
                  <a:srgbClr val="B42318"/>
                </a:solidFill>
                <a:latin typeface="Malgun Gothic"/>
                <a:ea typeface="Malgun Gothic"/>
                <a:cs typeface="Malgun Gothic"/>
              </a:defRPr>
            </a:pPr>
            <a:r>
              <a:rPr sz="1800" b="1">
                <a:solidFill>
                  <a:srgbClr val="B42318"/>
                </a:solidFill>
                <a:latin typeface="Malgun Gothic"/>
                <a:ea typeface="Malgun Gothic"/>
                <a:cs typeface="Malgun Gothic"/>
              </a:rPr>
              <a:t>구현 결과</a:t>
            </a:r>
          </a:p>
        </p:txBody>
      </p:sp>
      <p:sp>
        <p:nvSpPr>
          <p:cNvPr id="41" name="">
            <a:extLst xmlns:a="http://schemas.openxmlformats.org/drawingml/2006/main">
              <a:ext uri="{FF2B5EF4-FFF2-40B4-BE49-F238E27FC236}">
                <a16:creationId xmlns:a16="http://schemas.microsoft.com/office/drawing/2014/main" id="{12C78FB2-2BD6-4710-BD57-5DFCC6F5311B}"/>
              </a:ext>
            </a:extLst>
          </p:cNvPr>
          <p:cNvSpPr>
            <a:spLocks xmlns:a="http://schemas.openxmlformats.org/drawingml/2006/main" noGrp="1"/>
          </p:cNvSpPr>
          <p:nvPr/>
        </p:nvSpPr>
        <p:spPr>
          <a:xfrm xmlns:a="http://schemas.openxmlformats.org/drawingml/2006/main">
            <a:off x="4391025" y="436245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2" name="2">
            <a:extLst xmlns:a="http://schemas.openxmlformats.org/drawingml/2006/main">
              <a:ext uri="{FF2B5EF4-FFF2-40B4-BE49-F238E27FC236}">
                <a16:creationId xmlns:a16="http://schemas.microsoft.com/office/drawing/2014/main" id="{4092610E-6D5F-4494-922B-2ECB331C7957}"/>
              </a:ext>
            </a:extLst>
          </p:cNvPr>
          <p:cNvSpPr>
            <a:spLocks xmlns:a="http://schemas.openxmlformats.org/drawingml/2006/main" noGrp="1"/>
          </p:cNvSpPr>
          <p:nvPr/>
        </p:nvSpPr>
        <p:spPr>
          <a:xfrm xmlns:a="http://schemas.openxmlformats.org/drawingml/2006/main">
            <a:off x="4391025" y="436245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43" name="">
            <a:extLst xmlns:a="http://schemas.openxmlformats.org/drawingml/2006/main">
              <a:ext uri="{FF2B5EF4-FFF2-40B4-BE49-F238E27FC236}">
                <a16:creationId xmlns:a16="http://schemas.microsoft.com/office/drawing/2014/main" id="{F53A546E-5E50-4D56-92C5-019C3A247BF4}"/>
              </a:ext>
            </a:extLst>
          </p:cNvPr>
          <p:cNvSpPr>
            <a:spLocks xmlns:a="http://schemas.openxmlformats.org/drawingml/2006/main" noGrp="1"/>
          </p:cNvSpPr>
          <p:nvPr/>
        </p:nvSpPr>
        <p:spPr>
          <a:xfrm xmlns:a="http://schemas.openxmlformats.org/drawingml/2006/main">
            <a:off x="4905375" y="436245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4" name="3">
            <a:extLst xmlns:a="http://schemas.openxmlformats.org/drawingml/2006/main">
              <a:ext uri="{FF2B5EF4-FFF2-40B4-BE49-F238E27FC236}">
                <a16:creationId xmlns:a16="http://schemas.microsoft.com/office/drawing/2014/main" id="{EF0AC0C3-E60E-4162-B2B6-A35FCEFFCA8E}"/>
              </a:ext>
            </a:extLst>
          </p:cNvPr>
          <p:cNvSpPr>
            <a:spLocks xmlns:a="http://schemas.openxmlformats.org/drawingml/2006/main" noGrp="1"/>
          </p:cNvSpPr>
          <p:nvPr/>
        </p:nvSpPr>
        <p:spPr>
          <a:xfrm xmlns:a="http://schemas.openxmlformats.org/drawingml/2006/main">
            <a:off x="4905375" y="436245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45" name="">
            <a:extLst xmlns:a="http://schemas.openxmlformats.org/drawingml/2006/main">
              <a:ext uri="{FF2B5EF4-FFF2-40B4-BE49-F238E27FC236}">
                <a16:creationId xmlns:a16="http://schemas.microsoft.com/office/drawing/2014/main" id="{595BC88B-15FB-4793-B3B5-9CD40046E222}"/>
              </a:ext>
            </a:extLst>
          </p:cNvPr>
          <p:cNvSpPr>
            <a:spLocks xmlns:a="http://schemas.openxmlformats.org/drawingml/2006/main" noGrp="1"/>
          </p:cNvSpPr>
          <p:nvPr/>
        </p:nvSpPr>
        <p:spPr>
          <a:xfrm xmlns:a="http://schemas.openxmlformats.org/drawingml/2006/main">
            <a:off x="5419725" y="4362450"/>
            <a:ext cx="476250" cy="476250"/>
          </a:xfrm>
          <a:prstGeom xmlns:a="http://schemas.openxmlformats.org/drawingml/2006/main" prst="rect">
            <a:avLst/>
          </a:prstGeom>
          <a:solidFill xmlns:a="http://schemas.openxmlformats.org/drawingml/2006/main">
            <a:srgbClr val="FBE4DF"/>
          </a:solidFill>
          <a:ln xmlns:a="http://schemas.openxmlformats.org/drawingml/2006/main" w="9525">
            <a:solidFill>
              <a:srgbClr val="C7D0DA"/>
            </a:solidFill>
            <a:prstDash val="solid"/>
          </a:ln>
        </p:spPr>
      </p:sp>
      <p:sp>
        <p:nvSpPr>
          <p:cNvPr id="46" name="4">
            <a:extLst xmlns:a="http://schemas.openxmlformats.org/drawingml/2006/main">
              <a:ext uri="{FF2B5EF4-FFF2-40B4-BE49-F238E27FC236}">
                <a16:creationId xmlns:a16="http://schemas.microsoft.com/office/drawing/2014/main" id="{7800712D-2568-4862-8DC7-1F7D31ECD177}"/>
              </a:ext>
            </a:extLst>
          </p:cNvPr>
          <p:cNvSpPr>
            <a:spLocks xmlns:a="http://schemas.openxmlformats.org/drawingml/2006/main" noGrp="1"/>
          </p:cNvSpPr>
          <p:nvPr/>
        </p:nvSpPr>
        <p:spPr>
          <a:xfrm xmlns:a="http://schemas.openxmlformats.org/drawingml/2006/main">
            <a:off x="5419725" y="436245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47" name="">
            <a:extLst xmlns:a="http://schemas.openxmlformats.org/drawingml/2006/main">
              <a:ext uri="{FF2B5EF4-FFF2-40B4-BE49-F238E27FC236}">
                <a16:creationId xmlns:a16="http://schemas.microsoft.com/office/drawing/2014/main" id="{7169D834-DD3E-4C61-B19A-E0A15EA9DA4C}"/>
              </a:ext>
            </a:extLst>
          </p:cNvPr>
          <p:cNvSpPr>
            <a:spLocks xmlns:a="http://schemas.openxmlformats.org/drawingml/2006/main" noGrp="1"/>
          </p:cNvSpPr>
          <p:nvPr/>
        </p:nvSpPr>
        <p:spPr>
          <a:xfrm xmlns:a="http://schemas.openxmlformats.org/drawingml/2006/main">
            <a:off x="4391025" y="487680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6">
            <a:extLst xmlns:a="http://schemas.openxmlformats.org/drawingml/2006/main">
              <a:ext uri="{FF2B5EF4-FFF2-40B4-BE49-F238E27FC236}">
                <a16:creationId xmlns:a16="http://schemas.microsoft.com/office/drawing/2014/main" id="{3C4F7C5C-EAA8-4806-8DF6-483AC68C2C42}"/>
              </a:ext>
            </a:extLst>
          </p:cNvPr>
          <p:cNvSpPr>
            <a:spLocks xmlns:a="http://schemas.openxmlformats.org/drawingml/2006/main" noGrp="1"/>
          </p:cNvSpPr>
          <p:nvPr/>
        </p:nvSpPr>
        <p:spPr>
          <a:xfrm xmlns:a="http://schemas.openxmlformats.org/drawingml/2006/main">
            <a:off x="4391025" y="487680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6</a:t>
            </a:r>
          </a:p>
        </p:txBody>
      </p:sp>
      <p:sp>
        <p:nvSpPr>
          <p:cNvPr id="49" name="">
            <a:extLst xmlns:a="http://schemas.openxmlformats.org/drawingml/2006/main">
              <a:ext uri="{FF2B5EF4-FFF2-40B4-BE49-F238E27FC236}">
                <a16:creationId xmlns:a16="http://schemas.microsoft.com/office/drawing/2014/main" id="{6C184D33-054B-494D-B01A-E1D268A554C8}"/>
              </a:ext>
            </a:extLst>
          </p:cNvPr>
          <p:cNvSpPr>
            <a:spLocks xmlns:a="http://schemas.openxmlformats.org/drawingml/2006/main" noGrp="1"/>
          </p:cNvSpPr>
          <p:nvPr/>
        </p:nvSpPr>
        <p:spPr>
          <a:xfrm xmlns:a="http://schemas.openxmlformats.org/drawingml/2006/main">
            <a:off x="4905375" y="487680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50" name="7">
            <a:extLst xmlns:a="http://schemas.openxmlformats.org/drawingml/2006/main">
              <a:ext uri="{FF2B5EF4-FFF2-40B4-BE49-F238E27FC236}">
                <a16:creationId xmlns:a16="http://schemas.microsoft.com/office/drawing/2014/main" id="{946104D8-BCFD-4D49-AFEA-E51FEA860F2E}"/>
              </a:ext>
            </a:extLst>
          </p:cNvPr>
          <p:cNvSpPr>
            <a:spLocks xmlns:a="http://schemas.openxmlformats.org/drawingml/2006/main" noGrp="1"/>
          </p:cNvSpPr>
          <p:nvPr/>
        </p:nvSpPr>
        <p:spPr>
          <a:xfrm xmlns:a="http://schemas.openxmlformats.org/drawingml/2006/main">
            <a:off x="4905375" y="487680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7</a:t>
            </a:r>
          </a:p>
        </p:txBody>
      </p:sp>
      <p:sp>
        <p:nvSpPr>
          <p:cNvPr id="51" name="">
            <a:extLst xmlns:a="http://schemas.openxmlformats.org/drawingml/2006/main">
              <a:ext uri="{FF2B5EF4-FFF2-40B4-BE49-F238E27FC236}">
                <a16:creationId xmlns:a16="http://schemas.microsoft.com/office/drawing/2014/main" id="{B6928175-47E6-4818-AB0C-BB4A1546F2C3}"/>
              </a:ext>
            </a:extLst>
          </p:cNvPr>
          <p:cNvSpPr>
            <a:spLocks xmlns:a="http://schemas.openxmlformats.org/drawingml/2006/main" noGrp="1"/>
          </p:cNvSpPr>
          <p:nvPr/>
        </p:nvSpPr>
        <p:spPr>
          <a:xfrm xmlns:a="http://schemas.openxmlformats.org/drawingml/2006/main">
            <a:off x="5419725" y="4876800"/>
            <a:ext cx="476250" cy="476250"/>
          </a:xfrm>
          <a:prstGeom xmlns:a="http://schemas.openxmlformats.org/drawingml/2006/main" prst="rect">
            <a:avLst/>
          </a:prstGeom>
          <a:solidFill xmlns:a="http://schemas.openxmlformats.org/drawingml/2006/main">
            <a:srgbClr val="FBE4DF"/>
          </a:solidFill>
          <a:ln xmlns:a="http://schemas.openxmlformats.org/drawingml/2006/main" w="9525">
            <a:solidFill>
              <a:srgbClr val="C7D0DA"/>
            </a:solidFill>
            <a:prstDash val="solid"/>
          </a:ln>
        </p:spPr>
      </p:sp>
      <p:sp>
        <p:nvSpPr>
          <p:cNvPr id="52" name="8">
            <a:extLst xmlns:a="http://schemas.openxmlformats.org/drawingml/2006/main">
              <a:ext uri="{FF2B5EF4-FFF2-40B4-BE49-F238E27FC236}">
                <a16:creationId xmlns:a16="http://schemas.microsoft.com/office/drawing/2014/main" id="{45B8C9B3-DFE1-4147-964C-426669CBDD45}"/>
              </a:ext>
            </a:extLst>
          </p:cNvPr>
          <p:cNvSpPr>
            <a:spLocks xmlns:a="http://schemas.openxmlformats.org/drawingml/2006/main" noGrp="1"/>
          </p:cNvSpPr>
          <p:nvPr/>
        </p:nvSpPr>
        <p:spPr>
          <a:xfrm xmlns:a="http://schemas.openxmlformats.org/drawingml/2006/main">
            <a:off x="5419725" y="487680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8</a:t>
            </a:r>
          </a:p>
        </p:txBody>
      </p:sp>
      <p:sp>
        <p:nvSpPr>
          <p:cNvPr id="53" name="한 열이 더 포함됨">
            <a:extLst xmlns:a="http://schemas.openxmlformats.org/drawingml/2006/main">
              <a:ext uri="{FF2B5EF4-FFF2-40B4-BE49-F238E27FC236}">
                <a16:creationId xmlns:a16="http://schemas.microsoft.com/office/drawing/2014/main" id="{1355C209-7D51-4BE6-99BE-968B6BF726FB}"/>
              </a:ext>
            </a:extLst>
          </p:cNvPr>
          <p:cNvSpPr>
            <a:spLocks xmlns:a="http://schemas.openxmlformats.org/drawingml/2006/main" noGrp="1"/>
          </p:cNvSpPr>
          <p:nvPr/>
        </p:nvSpPr>
        <p:spPr>
          <a:xfrm xmlns:a="http://schemas.openxmlformats.org/drawingml/2006/main">
            <a:off x="4391025" y="5429250"/>
            <a:ext cx="1952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B42318"/>
                </a:solidFill>
                <a:latin typeface="Malgun Gothic"/>
                <a:ea typeface="Malgun Gothic"/>
                <a:cs typeface="Malgun Gothic"/>
              </a:defRPr>
            </a:defPPr>
            <a:lvl1pPr algn="l">
              <a:defRPr sz="1650" b="1">
                <a:solidFill>
                  <a:srgbClr val="B42318"/>
                </a:solidFill>
                <a:latin typeface="Malgun Gothic"/>
                <a:ea typeface="Malgun Gothic"/>
                <a:cs typeface="Malgun Gothic"/>
              </a:defRPr>
            </a:lvl1pPr>
            <a:lvl2pPr algn="l">
              <a:defRPr sz="1650" b="1">
                <a:solidFill>
                  <a:srgbClr val="B42318"/>
                </a:solidFill>
                <a:latin typeface="Malgun Gothic"/>
                <a:ea typeface="Malgun Gothic"/>
                <a:cs typeface="Malgun Gothic"/>
              </a:defRPr>
            </a:lvl2pPr>
            <a:lvl3pPr algn="l">
              <a:defRPr sz="1650" b="1">
                <a:solidFill>
                  <a:srgbClr val="B42318"/>
                </a:solidFill>
                <a:latin typeface="Malgun Gothic"/>
                <a:ea typeface="Malgun Gothic"/>
                <a:cs typeface="Malgun Gothic"/>
              </a:defRPr>
            </a:lvl3pPr>
            <a:lvl4pPr algn="l">
              <a:defRPr sz="1650" b="1">
                <a:solidFill>
                  <a:srgbClr val="B42318"/>
                </a:solidFill>
                <a:latin typeface="Malgun Gothic"/>
                <a:ea typeface="Malgun Gothic"/>
                <a:cs typeface="Malgun Gothic"/>
              </a:defRPr>
            </a:lvl4pPr>
            <a:lvl5pPr algn="l">
              <a:defRPr sz="1650" b="1">
                <a:solidFill>
                  <a:srgbClr val="B42318"/>
                </a:solidFill>
                <a:latin typeface="Malgun Gothic"/>
                <a:ea typeface="Malgun Gothic"/>
                <a:cs typeface="Malgun Gothic"/>
              </a:defRPr>
            </a:lvl5pPr>
            <a:lvl6pPr algn="l">
              <a:defRPr sz="1650" b="1">
                <a:solidFill>
                  <a:srgbClr val="B42318"/>
                </a:solidFill>
                <a:latin typeface="Malgun Gothic"/>
                <a:ea typeface="Malgun Gothic"/>
                <a:cs typeface="Malgun Gothic"/>
              </a:defRPr>
            </a:lvl6pPr>
            <a:lvl7pPr algn="l">
              <a:defRPr sz="1650" b="1">
                <a:solidFill>
                  <a:srgbClr val="B42318"/>
                </a:solidFill>
                <a:latin typeface="Malgun Gothic"/>
                <a:ea typeface="Malgun Gothic"/>
                <a:cs typeface="Malgun Gothic"/>
              </a:defRPr>
            </a:lvl7pPr>
            <a:lvl8pPr algn="l">
              <a:defRPr sz="1650" b="1">
                <a:solidFill>
                  <a:srgbClr val="B42318"/>
                </a:solidFill>
                <a:latin typeface="Malgun Gothic"/>
                <a:ea typeface="Malgun Gothic"/>
                <a:cs typeface="Malgun Gothic"/>
              </a:defRPr>
            </a:lvl8pPr>
            <a:lvl9pPr algn="l">
              <a:defRPr sz="1650" b="1">
                <a:solidFill>
                  <a:srgbClr val="B42318"/>
                </a:solidFill>
                <a:latin typeface="Malgun Gothic"/>
                <a:ea typeface="Malgun Gothic"/>
                <a:cs typeface="Malgun Gothic"/>
              </a:defRPr>
            </a:lvl9pPr>
          </a:lstStyle>
          <a:p xmlns:a="http://schemas.openxmlformats.org/drawingml/2006/main">
            <a:pPr algn="l">
              <a:defRPr sz="1650" b="1">
                <a:solidFill>
                  <a:srgbClr val="B42318"/>
                </a:solidFill>
                <a:latin typeface="Malgun Gothic"/>
                <a:ea typeface="Malgun Gothic"/>
                <a:cs typeface="Malgun Gothic"/>
              </a:defRPr>
            </a:pPr>
            <a:r>
              <a:rPr sz="1650" b="1">
                <a:solidFill>
                  <a:srgbClr val="B42318"/>
                </a:solidFill>
                <a:latin typeface="Malgun Gothic"/>
                <a:ea typeface="Malgun Gothic"/>
                <a:cs typeface="Malgun Gothic"/>
              </a:rPr>
              <a:t>한 열이 더 포함됨</a:t>
            </a:r>
          </a:p>
        </p:txBody>
      </p:sp>
      <p:sp>
        <p:nvSpPr>
          <p:cNvPr id="54" name="">
            <a:extLst xmlns:a="http://schemas.openxmlformats.org/drawingml/2006/main">
              <a:ext uri="{FF2B5EF4-FFF2-40B4-BE49-F238E27FC236}">
                <a16:creationId xmlns:a16="http://schemas.microsoft.com/office/drawing/2014/main" id="{EE1FBE3D-00FA-474C-B7F0-BCCE11C60E7B}"/>
              </a:ext>
            </a:extLst>
          </p:cNvPr>
          <p:cNvSpPr>
            <a:spLocks xmlns:a="http://schemas.openxmlformats.org/drawingml/2006/main" noGrp="1"/>
          </p:cNvSpPr>
          <p:nvPr/>
        </p:nvSpPr>
        <p:spPr>
          <a:xfrm xmlns:a="http://schemas.openxmlformats.org/drawingml/2006/main">
            <a:off x="6743700" y="1638300"/>
            <a:ext cx="19050" cy="39624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55" name="조사에서 연결한 근거">
            <a:extLst xmlns:a="http://schemas.openxmlformats.org/drawingml/2006/main">
              <a:ext uri="{FF2B5EF4-FFF2-40B4-BE49-F238E27FC236}">
                <a16:creationId xmlns:a16="http://schemas.microsoft.com/office/drawing/2014/main" id="{0FF14CAF-30FC-4692-A3D3-20EEC0F62D2F}"/>
              </a:ext>
            </a:extLst>
          </p:cNvPr>
          <p:cNvSpPr>
            <a:spLocks xmlns:a="http://schemas.openxmlformats.org/drawingml/2006/main" noGrp="1"/>
          </p:cNvSpPr>
          <p:nvPr/>
        </p:nvSpPr>
        <p:spPr>
          <a:xfrm xmlns:a="http://schemas.openxmlformats.org/drawingml/2006/main">
            <a:off x="7162800" y="1638300"/>
            <a:ext cx="438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조사에서 연결한 근거</a:t>
            </a:r>
          </a:p>
        </p:txBody>
      </p:sp>
      <p:sp>
        <p:nvSpPr>
          <p:cNvPr id="56" name="01  실패 테스트">
            <a:extLst xmlns:a="http://schemas.openxmlformats.org/drawingml/2006/main">
              <a:ext uri="{FF2B5EF4-FFF2-40B4-BE49-F238E27FC236}">
                <a16:creationId xmlns:a16="http://schemas.microsoft.com/office/drawing/2014/main" id="{E13BD9C8-1239-40BB-AD6E-4353863AA570}"/>
              </a:ext>
            </a:extLst>
          </p:cNvPr>
          <p:cNvSpPr>
            <a:spLocks xmlns:a="http://schemas.openxmlformats.org/drawingml/2006/main" noGrp="1"/>
          </p:cNvSpPr>
          <p:nvPr/>
        </p:nvSpPr>
        <p:spPr>
          <a:xfrm xmlns:a="http://schemas.openxmlformats.org/drawingml/2006/main">
            <a:off x="7162800" y="224790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실패 테스트</a:t>
            </a:r>
          </a:p>
        </p:txBody>
      </p:sp>
      <p:sp>
        <p:nvSpPr>
          <p:cNvPr id="57" name="test_crop_excludes_&#10;end_coordinate">
            <a:extLst xmlns:a="http://schemas.openxmlformats.org/drawingml/2006/main">
              <a:ext uri="{FF2B5EF4-FFF2-40B4-BE49-F238E27FC236}">
                <a16:creationId xmlns:a16="http://schemas.microsoft.com/office/drawing/2014/main" id="{0B930F86-6378-493D-BC73-F81315B36C0F}"/>
              </a:ext>
            </a:extLst>
          </p:cNvPr>
          <p:cNvSpPr>
            <a:spLocks xmlns:a="http://schemas.openxmlformats.org/drawingml/2006/main" noGrp="1"/>
          </p:cNvSpPr>
          <p:nvPr/>
        </p:nvSpPr>
        <p:spPr>
          <a:xfrm xmlns:a="http://schemas.openxmlformats.org/drawingml/2006/main">
            <a:off x="7162800" y="2600325"/>
            <a:ext cx="4419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Consolas"/>
                <a:ea typeface="Consolas"/>
                <a:cs typeface="Consolas"/>
              </a:defRPr>
            </a:defPPr>
            <a:lvl1pPr algn="l">
              <a:defRPr sz="1950" b="0">
                <a:solidFill>
                  <a:srgbClr val="17212B"/>
                </a:solidFill>
                <a:latin typeface="Consolas"/>
                <a:ea typeface="Consolas"/>
                <a:cs typeface="Consolas"/>
              </a:defRPr>
            </a:lvl1pPr>
            <a:lvl2pPr algn="l">
              <a:defRPr sz="1950" b="0">
                <a:solidFill>
                  <a:srgbClr val="17212B"/>
                </a:solidFill>
                <a:latin typeface="Consolas"/>
                <a:ea typeface="Consolas"/>
                <a:cs typeface="Consolas"/>
              </a:defRPr>
            </a:lvl2pPr>
            <a:lvl3pPr algn="l">
              <a:defRPr sz="1950" b="0">
                <a:solidFill>
                  <a:srgbClr val="17212B"/>
                </a:solidFill>
                <a:latin typeface="Consolas"/>
                <a:ea typeface="Consolas"/>
                <a:cs typeface="Consolas"/>
              </a:defRPr>
            </a:lvl3pPr>
            <a:lvl4pPr algn="l">
              <a:defRPr sz="1950" b="0">
                <a:solidFill>
                  <a:srgbClr val="17212B"/>
                </a:solidFill>
                <a:latin typeface="Consolas"/>
                <a:ea typeface="Consolas"/>
                <a:cs typeface="Consolas"/>
              </a:defRPr>
            </a:lvl4pPr>
            <a:lvl5pPr algn="l">
              <a:defRPr sz="1950" b="0">
                <a:solidFill>
                  <a:srgbClr val="17212B"/>
                </a:solidFill>
                <a:latin typeface="Consolas"/>
                <a:ea typeface="Consolas"/>
                <a:cs typeface="Consolas"/>
              </a:defRPr>
            </a:lvl5pPr>
            <a:lvl6pPr algn="l">
              <a:defRPr sz="1950" b="0">
                <a:solidFill>
                  <a:srgbClr val="17212B"/>
                </a:solidFill>
                <a:latin typeface="Consolas"/>
                <a:ea typeface="Consolas"/>
                <a:cs typeface="Consolas"/>
              </a:defRPr>
            </a:lvl6pPr>
            <a:lvl7pPr algn="l">
              <a:defRPr sz="1950" b="0">
                <a:solidFill>
                  <a:srgbClr val="17212B"/>
                </a:solidFill>
                <a:latin typeface="Consolas"/>
                <a:ea typeface="Consolas"/>
                <a:cs typeface="Consolas"/>
              </a:defRPr>
            </a:lvl7pPr>
            <a:lvl8pPr algn="l">
              <a:defRPr sz="1950" b="0">
                <a:solidFill>
                  <a:srgbClr val="17212B"/>
                </a:solidFill>
                <a:latin typeface="Consolas"/>
                <a:ea typeface="Consolas"/>
                <a:cs typeface="Consolas"/>
              </a:defRPr>
            </a:lvl8pPr>
            <a:lvl9pPr algn="l">
              <a:defRPr sz="1950" b="0">
                <a:solidFill>
                  <a:srgbClr val="17212B"/>
                </a:solidFill>
                <a:latin typeface="Consolas"/>
                <a:ea typeface="Consolas"/>
                <a:cs typeface="Consolas"/>
              </a:defRPr>
            </a:lvl9pPr>
          </a:lstStyle>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test_crop_excludes_</a:t>
            </a:r>
          </a:p>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end_coordinate</a:t>
            </a:r>
          </a:p>
        </p:txBody>
      </p:sp>
      <p:sp>
        <p:nvSpPr>
          <p:cNvPr id="58" name="02  제품의 호출 경로">
            <a:extLst xmlns:a="http://schemas.openxmlformats.org/drawingml/2006/main">
              <a:ext uri="{FF2B5EF4-FFF2-40B4-BE49-F238E27FC236}">
                <a16:creationId xmlns:a16="http://schemas.microsoft.com/office/drawing/2014/main" id="{85287E92-6ABC-4D09-84CC-DB317727EC42}"/>
              </a:ext>
            </a:extLst>
          </p:cNvPr>
          <p:cNvSpPr>
            <a:spLocks xmlns:a="http://schemas.openxmlformats.org/drawingml/2006/main" noGrp="1"/>
          </p:cNvSpPr>
          <p:nvPr/>
        </p:nvSpPr>
        <p:spPr>
          <a:xfrm xmlns:a="http://schemas.openxmlformats.org/drawingml/2006/main">
            <a:off x="7162800" y="3400425"/>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02  제품의 호출 경로</a:t>
            </a:r>
          </a:p>
        </p:txBody>
      </p:sp>
      <p:sp>
        <p:nvSpPr>
          <p:cNvPr id="59" name="cli.main → process_image → crop">
            <a:extLst xmlns:a="http://schemas.openxmlformats.org/drawingml/2006/main">
              <a:ext uri="{FF2B5EF4-FFF2-40B4-BE49-F238E27FC236}">
                <a16:creationId xmlns:a16="http://schemas.microsoft.com/office/drawing/2014/main" id="{112B34A2-92A4-459F-8D76-2389614D4122}"/>
              </a:ext>
            </a:extLst>
          </p:cNvPr>
          <p:cNvSpPr>
            <a:spLocks xmlns:a="http://schemas.openxmlformats.org/drawingml/2006/main" noGrp="1"/>
          </p:cNvSpPr>
          <p:nvPr/>
        </p:nvSpPr>
        <p:spPr>
          <a:xfrm xmlns:a="http://schemas.openxmlformats.org/drawingml/2006/main">
            <a:off x="7162800" y="378142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Consolas"/>
                <a:ea typeface="Consolas"/>
                <a:cs typeface="Consolas"/>
              </a:defRPr>
            </a:defPPr>
            <a:lvl1pPr algn="l">
              <a:defRPr sz="1800" b="0">
                <a:solidFill>
                  <a:srgbClr val="17212B"/>
                </a:solidFill>
                <a:latin typeface="Consolas"/>
                <a:ea typeface="Consolas"/>
                <a:cs typeface="Consolas"/>
              </a:defRPr>
            </a:lvl1pPr>
            <a:lvl2pPr algn="l">
              <a:defRPr sz="1800" b="0">
                <a:solidFill>
                  <a:srgbClr val="17212B"/>
                </a:solidFill>
                <a:latin typeface="Consolas"/>
                <a:ea typeface="Consolas"/>
                <a:cs typeface="Consolas"/>
              </a:defRPr>
            </a:lvl2pPr>
            <a:lvl3pPr algn="l">
              <a:defRPr sz="1800" b="0">
                <a:solidFill>
                  <a:srgbClr val="17212B"/>
                </a:solidFill>
                <a:latin typeface="Consolas"/>
                <a:ea typeface="Consolas"/>
                <a:cs typeface="Consolas"/>
              </a:defRPr>
            </a:lvl3pPr>
            <a:lvl4pPr algn="l">
              <a:defRPr sz="1800" b="0">
                <a:solidFill>
                  <a:srgbClr val="17212B"/>
                </a:solidFill>
                <a:latin typeface="Consolas"/>
                <a:ea typeface="Consolas"/>
                <a:cs typeface="Consolas"/>
              </a:defRPr>
            </a:lvl4pPr>
            <a:lvl5pPr algn="l">
              <a:defRPr sz="1800" b="0">
                <a:solidFill>
                  <a:srgbClr val="17212B"/>
                </a:solidFill>
                <a:latin typeface="Consolas"/>
                <a:ea typeface="Consolas"/>
                <a:cs typeface="Consolas"/>
              </a:defRPr>
            </a:lvl5pPr>
            <a:lvl6pPr algn="l">
              <a:defRPr sz="1800" b="0">
                <a:solidFill>
                  <a:srgbClr val="17212B"/>
                </a:solidFill>
                <a:latin typeface="Consolas"/>
                <a:ea typeface="Consolas"/>
                <a:cs typeface="Consolas"/>
              </a:defRPr>
            </a:lvl6pPr>
            <a:lvl7pPr algn="l">
              <a:defRPr sz="1800" b="0">
                <a:solidFill>
                  <a:srgbClr val="17212B"/>
                </a:solidFill>
                <a:latin typeface="Consolas"/>
                <a:ea typeface="Consolas"/>
                <a:cs typeface="Consolas"/>
              </a:defRPr>
            </a:lvl7pPr>
            <a:lvl8pPr algn="l">
              <a:defRPr sz="1800" b="0">
                <a:solidFill>
                  <a:srgbClr val="17212B"/>
                </a:solidFill>
                <a:latin typeface="Consolas"/>
                <a:ea typeface="Consolas"/>
                <a:cs typeface="Consolas"/>
              </a:defRPr>
            </a:lvl8pPr>
            <a:lvl9pPr algn="l">
              <a:defRPr sz="1800" b="0">
                <a:solidFill>
                  <a:srgbClr val="17212B"/>
                </a:solidFill>
                <a:latin typeface="Consolas"/>
                <a:ea typeface="Consolas"/>
                <a:cs typeface="Consolas"/>
              </a:defRPr>
            </a:lvl9pPr>
          </a:lstStyle>
          <a:p xmlns:a="http://schemas.openxmlformats.org/drawingml/2006/main">
            <a:pPr algn="l">
              <a:defRPr sz="1800" b="0">
                <a:solidFill>
                  <a:srgbClr val="17212B"/>
                </a:solidFill>
                <a:latin typeface="Consolas"/>
                <a:ea typeface="Consolas"/>
                <a:cs typeface="Consolas"/>
              </a:defRPr>
            </a:pPr>
            <a:r>
              <a:rPr sz="1800" b="0">
                <a:solidFill>
                  <a:srgbClr val="17212B"/>
                </a:solidFill>
                <a:latin typeface="Consolas"/>
                <a:ea typeface="Consolas"/>
                <a:cs typeface="Consolas"/>
              </a:rPr>
              <a:t>cli.main → process_image → crop</a:t>
            </a:r>
          </a:p>
        </p:txBody>
      </p:sp>
      <p:sp>
        <p:nvSpPr>
          <p:cNvPr id="60" name="03  계약과 다른 구현">
            <a:extLst xmlns:a="http://schemas.openxmlformats.org/drawingml/2006/main">
              <a:ext uri="{FF2B5EF4-FFF2-40B4-BE49-F238E27FC236}">
                <a16:creationId xmlns:a16="http://schemas.microsoft.com/office/drawing/2014/main" id="{3FBA37DE-7B0E-40CF-9157-8A876786B690}"/>
              </a:ext>
            </a:extLst>
          </p:cNvPr>
          <p:cNvSpPr>
            <a:spLocks xmlns:a="http://schemas.openxmlformats.org/drawingml/2006/main" noGrp="1"/>
          </p:cNvSpPr>
          <p:nvPr/>
        </p:nvSpPr>
        <p:spPr>
          <a:xfrm xmlns:a="http://schemas.openxmlformats.org/drawingml/2006/main">
            <a:off x="7162800" y="4352925"/>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03  계약과 다른 구현</a:t>
            </a:r>
          </a:p>
        </p:txBody>
      </p:sp>
      <p:sp>
        <p:nvSpPr>
          <p:cNvPr id="61" name="row[x_start : x_end + 1]">
            <a:extLst xmlns:a="http://schemas.openxmlformats.org/drawingml/2006/main">
              <a:ext uri="{FF2B5EF4-FFF2-40B4-BE49-F238E27FC236}">
                <a16:creationId xmlns:a16="http://schemas.microsoft.com/office/drawing/2014/main" id="{123544EC-9ABB-4C54-94EF-B5CEA097B01E}"/>
              </a:ext>
            </a:extLst>
          </p:cNvPr>
          <p:cNvSpPr>
            <a:spLocks xmlns:a="http://schemas.openxmlformats.org/drawingml/2006/main" noGrp="1"/>
          </p:cNvSpPr>
          <p:nvPr/>
        </p:nvSpPr>
        <p:spPr>
          <a:xfrm xmlns:a="http://schemas.openxmlformats.org/drawingml/2006/main">
            <a:off x="7162800" y="4743450"/>
            <a:ext cx="44196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 x_end + 1]</a:t>
            </a:r>
          </a:p>
        </p:txBody>
      </p:sp>
      <p:sp>
        <p:nvSpPr>
          <p:cNvPr id="62" name="계약: [x_start, x_end)">
            <a:extLst xmlns:a="http://schemas.openxmlformats.org/drawingml/2006/main">
              <a:ext uri="{FF2B5EF4-FFF2-40B4-BE49-F238E27FC236}">
                <a16:creationId xmlns:a16="http://schemas.microsoft.com/office/drawing/2014/main" id="{9FF55045-AD39-4CD7-AB58-E4780324C532}"/>
              </a:ext>
            </a:extLst>
          </p:cNvPr>
          <p:cNvSpPr>
            <a:spLocks xmlns:a="http://schemas.openxmlformats.org/drawingml/2006/main" noGrp="1"/>
          </p:cNvSpPr>
          <p:nvPr/>
        </p:nvSpPr>
        <p:spPr>
          <a:xfrm xmlns:a="http://schemas.openxmlformats.org/drawingml/2006/main">
            <a:off x="7162800" y="5210175"/>
            <a:ext cx="441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Consolas"/>
                <a:ea typeface="Consolas"/>
                <a:cs typeface="Consolas"/>
              </a:defRPr>
            </a:defPPr>
            <a:lvl1pPr algn="l">
              <a:defRPr sz="1950" b="0">
                <a:solidFill>
                  <a:srgbClr val="4D5A68"/>
                </a:solidFill>
                <a:latin typeface="Consolas"/>
                <a:ea typeface="Consolas"/>
                <a:cs typeface="Consolas"/>
              </a:defRPr>
            </a:lvl1pPr>
            <a:lvl2pPr algn="l">
              <a:defRPr sz="1950" b="0">
                <a:solidFill>
                  <a:srgbClr val="4D5A68"/>
                </a:solidFill>
                <a:latin typeface="Consolas"/>
                <a:ea typeface="Consolas"/>
                <a:cs typeface="Consolas"/>
              </a:defRPr>
            </a:lvl2pPr>
            <a:lvl3pPr algn="l">
              <a:defRPr sz="1950" b="0">
                <a:solidFill>
                  <a:srgbClr val="4D5A68"/>
                </a:solidFill>
                <a:latin typeface="Consolas"/>
                <a:ea typeface="Consolas"/>
                <a:cs typeface="Consolas"/>
              </a:defRPr>
            </a:lvl3pPr>
            <a:lvl4pPr algn="l">
              <a:defRPr sz="1950" b="0">
                <a:solidFill>
                  <a:srgbClr val="4D5A68"/>
                </a:solidFill>
                <a:latin typeface="Consolas"/>
                <a:ea typeface="Consolas"/>
                <a:cs typeface="Consolas"/>
              </a:defRPr>
            </a:lvl4pPr>
            <a:lvl5pPr algn="l">
              <a:defRPr sz="1950" b="0">
                <a:solidFill>
                  <a:srgbClr val="4D5A68"/>
                </a:solidFill>
                <a:latin typeface="Consolas"/>
                <a:ea typeface="Consolas"/>
                <a:cs typeface="Consolas"/>
              </a:defRPr>
            </a:lvl5pPr>
            <a:lvl6pPr algn="l">
              <a:defRPr sz="1950" b="0">
                <a:solidFill>
                  <a:srgbClr val="4D5A68"/>
                </a:solidFill>
                <a:latin typeface="Consolas"/>
                <a:ea typeface="Consolas"/>
                <a:cs typeface="Consolas"/>
              </a:defRPr>
            </a:lvl6pPr>
            <a:lvl7pPr algn="l">
              <a:defRPr sz="1950" b="0">
                <a:solidFill>
                  <a:srgbClr val="4D5A68"/>
                </a:solidFill>
                <a:latin typeface="Consolas"/>
                <a:ea typeface="Consolas"/>
                <a:cs typeface="Consolas"/>
              </a:defRPr>
            </a:lvl7pPr>
            <a:lvl8pPr algn="l">
              <a:defRPr sz="1950" b="0">
                <a:solidFill>
                  <a:srgbClr val="4D5A68"/>
                </a:solidFill>
                <a:latin typeface="Consolas"/>
                <a:ea typeface="Consolas"/>
                <a:cs typeface="Consolas"/>
              </a:defRPr>
            </a:lvl8pPr>
            <a:lvl9pPr algn="l">
              <a:defRPr sz="1950" b="0">
                <a:solidFill>
                  <a:srgbClr val="4D5A68"/>
                </a:solidFill>
                <a:latin typeface="Consolas"/>
                <a:ea typeface="Consolas"/>
                <a:cs typeface="Consolas"/>
              </a:defRPr>
            </a:lvl9pPr>
          </a:lstStyle>
          <a:p xmlns:a="http://schemas.openxmlformats.org/drawingml/2006/main">
            <a:pPr algn="l">
              <a:defRPr sz="1950" b="0">
                <a:solidFill>
                  <a:srgbClr val="4D5A68"/>
                </a:solidFill>
                <a:latin typeface="Consolas"/>
                <a:ea typeface="Consolas"/>
                <a:cs typeface="Consolas"/>
              </a:defRPr>
            </a:pPr>
            <a:r>
              <a:rPr sz="1950" b="0">
                <a:solidFill>
                  <a:srgbClr val="4D5A68"/>
                </a:solidFill>
                <a:latin typeface="Consolas"/>
                <a:ea typeface="Consolas"/>
                <a:cs typeface="Consolas"/>
              </a:rPr>
              <a:t>계약: [x_start, x_end)</a:t>
            </a:r>
          </a:p>
        </p:txBody>
      </p:sp>
    </p:spTree>
    <p:extLst>
      <p:ext uri="{BB962C8B-B14F-4D97-AF65-F5344CB8AC3E}">
        <p14:creationId xmlns:p14="http://schemas.microsoft.com/office/powerpoint/2010/main" val="1583282882"/>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0 · 조사 결과 읽기">
            <a:extLst xmlns:a="http://schemas.openxmlformats.org/drawingml/2006/main">
              <a:ext uri="{FF2B5EF4-FFF2-40B4-BE49-F238E27FC236}">
                <a16:creationId xmlns:a16="http://schemas.microsoft.com/office/drawing/2014/main" id="{2D41E09B-1E3F-45D0-BEF0-BFAAB2A0A86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조사 결과 읽기</a:t>
            </a:r>
          </a:p>
        </p:txBody>
      </p:sp>
      <p:sp>
        <p:nvSpPr>
          <p:cNvPr id="2" name="S06">
            <a:extLst xmlns:a="http://schemas.openxmlformats.org/drawingml/2006/main">
              <a:ext uri="{FF2B5EF4-FFF2-40B4-BE49-F238E27FC236}">
                <a16:creationId xmlns:a16="http://schemas.microsoft.com/office/drawing/2014/main" id="{E9392B7D-0C00-4833-91F5-6E7096C1DAD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관찰 결과와 실행 제한을 분리한다">
            <a:extLst xmlns:a="http://schemas.openxmlformats.org/drawingml/2006/main">
              <a:ext uri="{FF2B5EF4-FFF2-40B4-BE49-F238E27FC236}">
                <a16:creationId xmlns:a16="http://schemas.microsoft.com/office/drawing/2014/main" id="{A7D895A2-1CD9-4876-9B58-FF7EB69317D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 결과와 실행 제한을 분리한다</a:t>
            </a:r>
          </a:p>
        </p:txBody>
      </p:sp>
      <p:sp>
        <p:nvSpPr>
          <p:cNvPr id="4" name="">
            <a:extLst xmlns:a="http://schemas.openxmlformats.org/drawingml/2006/main">
              <a:ext uri="{FF2B5EF4-FFF2-40B4-BE49-F238E27FC236}">
                <a16:creationId xmlns:a16="http://schemas.microsoft.com/office/drawing/2014/main" id="{EEC857EC-3BF1-47FB-B331-801B8B466CD0}"/>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기록 재구성 · Codex CLI 0.154.0 · 단일 읽기 전용 조사">
            <a:extLst xmlns:a="http://schemas.openxmlformats.org/drawingml/2006/main">
              <a:ext uri="{FF2B5EF4-FFF2-40B4-BE49-F238E27FC236}">
                <a16:creationId xmlns:a16="http://schemas.microsoft.com/office/drawing/2014/main" id="{08FC8EBF-A951-46B3-B5AB-97460DDC2851}"/>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기록 재구성 · Codex CLI 0.154.0 · 단일 읽기 전용 조사</a:t>
            </a:r>
          </a:p>
        </p:txBody>
      </p:sp>
      <p:sp>
        <p:nvSpPr>
          <p:cNvPr id="6" name="환경 오류 3건은 crop 결함의 증거가 아닙니다. 이 조사에서 코드는 수정하지 않았습니다.">
            <a:extLst xmlns:a="http://schemas.openxmlformats.org/drawingml/2006/main">
              <a:ext uri="{FF2B5EF4-FFF2-40B4-BE49-F238E27FC236}">
                <a16:creationId xmlns:a16="http://schemas.microsoft.com/office/drawing/2014/main" id="{C4C06D56-2CF6-4A46-B1C9-B25C1064F60F}"/>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환경 오류 3건은 crop 결함의 증거가 아닙니다. 이 조사에서 코드는 수정하지 않았습니다.</a:t>
            </a:r>
          </a:p>
        </p:txBody>
      </p:sp>
      <p:sp>
        <p:nvSpPr>
          <p:cNvPr id="7" name="코드에서 확인한 문제">
            <a:extLst xmlns:a="http://schemas.openxmlformats.org/drawingml/2006/main">
              <a:ext uri="{FF2B5EF4-FFF2-40B4-BE49-F238E27FC236}">
                <a16:creationId xmlns:a16="http://schemas.microsoft.com/office/drawing/2014/main" id="{75A660B2-1374-4327-A040-6B5CB8ED98F5}"/>
              </a:ext>
            </a:extLst>
          </p:cNvPr>
          <p:cNvSpPr>
            <a:spLocks xmlns:a="http://schemas.openxmlformats.org/drawingml/2006/main" noGrp="1"/>
          </p:cNvSpPr>
          <p:nvPr/>
        </p:nvSpPr>
        <p:spPr>
          <a:xfrm xmlns:a="http://schemas.openxmlformats.org/drawingml/2006/main">
            <a:off x="609600" y="2266950"/>
            <a:ext cx="5162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코드에서 확인한 문제</a:t>
            </a:r>
          </a:p>
        </p:txBody>
      </p:sp>
      <p:sp>
        <p:nvSpPr>
          <p:cNvPr id="8" name="실행 환경에서 생긴 제한">
            <a:extLst xmlns:a="http://schemas.openxmlformats.org/drawingml/2006/main">
              <a:ext uri="{FF2B5EF4-FFF2-40B4-BE49-F238E27FC236}">
                <a16:creationId xmlns:a16="http://schemas.microsoft.com/office/drawing/2014/main" id="{6C6EFF60-830C-4F19-A8E1-BE0259EF3EDA}"/>
              </a:ext>
            </a:extLst>
          </p:cNvPr>
          <p:cNvSpPr>
            <a:spLocks xmlns:a="http://schemas.openxmlformats.org/drawingml/2006/main" noGrp="1"/>
          </p:cNvSpPr>
          <p:nvPr/>
        </p:nvSpPr>
        <p:spPr>
          <a:xfrm xmlns:a="http://schemas.openxmlformats.org/drawingml/2006/main">
            <a:off x="6667500" y="2266950"/>
            <a:ext cx="4914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실행 환경에서 생긴 제한</a:t>
            </a:r>
          </a:p>
        </p:txBody>
      </p:sp>
      <p:sp>
        <p:nvSpPr>
          <p:cNvPr id="9" name="">
            <a:extLst xmlns:a="http://schemas.openxmlformats.org/drawingml/2006/main">
              <a:ext uri="{FF2B5EF4-FFF2-40B4-BE49-F238E27FC236}">
                <a16:creationId xmlns:a16="http://schemas.microsoft.com/office/drawing/2014/main" id="{83FB49CB-A18A-40E5-A0C9-022CFB0C21BB}"/>
              </a:ext>
            </a:extLst>
          </p:cNvPr>
          <p:cNvSpPr>
            <a:spLocks xmlns:a="http://schemas.openxmlformats.org/drawingml/2006/main" noGrp="1"/>
          </p:cNvSpPr>
          <p:nvPr/>
        </p:nvSpPr>
        <p:spPr>
          <a:xfrm xmlns:a="http://schemas.openxmlformats.org/drawingml/2006/main">
            <a:off x="609600" y="2924175"/>
            <a:ext cx="5162550" cy="20097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2CB7C272-5C72-431C-A9CC-4413B3B6A2AB}"/>
              </a:ext>
            </a:extLst>
          </p:cNvPr>
          <p:cNvSpPr>
            <a:spLocks xmlns:a="http://schemas.openxmlformats.org/drawingml/2006/main" noGrp="1"/>
          </p:cNvSpPr>
          <p:nvPr/>
        </p:nvSpPr>
        <p:spPr>
          <a:xfrm xmlns:a="http://schemas.openxmlformats.org/drawingml/2006/main">
            <a:off x="6667500" y="2924175"/>
            <a:ext cx="4914900" cy="20097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1" name="crop에 한 열이 더 포함됨">
            <a:extLst xmlns:a="http://schemas.openxmlformats.org/drawingml/2006/main">
              <a:ext uri="{FF2B5EF4-FFF2-40B4-BE49-F238E27FC236}">
                <a16:creationId xmlns:a16="http://schemas.microsoft.com/office/drawing/2014/main" id="{B015B41F-C41C-408E-BDEF-7C61652A7344}"/>
              </a:ext>
            </a:extLst>
          </p:cNvPr>
          <p:cNvSpPr>
            <a:spLocks xmlns:a="http://schemas.openxmlformats.org/drawingml/2006/main" noGrp="1"/>
          </p:cNvSpPr>
          <p:nvPr/>
        </p:nvSpPr>
        <p:spPr>
          <a:xfrm xmlns:a="http://schemas.openxmlformats.org/drawingml/2006/main">
            <a:off x="838200" y="3133725"/>
            <a:ext cx="47053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crop에 한 열이 더 포함됨</a:t>
            </a:r>
          </a:p>
        </p:txBody>
      </p:sp>
      <p:sp>
        <p:nvSpPr>
          <p:cNvPr id="12" name="테스트·호출 경로·계약 연결&#10;원인 설명 / 코드 수정 없음">
            <a:extLst xmlns:a="http://schemas.openxmlformats.org/drawingml/2006/main">
              <a:ext uri="{FF2B5EF4-FFF2-40B4-BE49-F238E27FC236}">
                <a16:creationId xmlns:a16="http://schemas.microsoft.com/office/drawing/2014/main" id="{4021BB76-E3D5-4521-A8A6-FDAB268A7846}"/>
              </a:ext>
            </a:extLst>
          </p:cNvPr>
          <p:cNvSpPr>
            <a:spLocks xmlns:a="http://schemas.openxmlformats.org/drawingml/2006/main" noGrp="1"/>
          </p:cNvSpPr>
          <p:nvPr/>
        </p:nvSpPr>
        <p:spPr>
          <a:xfrm xmlns:a="http://schemas.openxmlformats.org/drawingml/2006/main">
            <a:off x="838200" y="3867150"/>
            <a:ext cx="4705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테스트·호출 경로·계약 연결</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원인 설명 / 코드 수정 없음</a:t>
            </a:r>
          </a:p>
        </p:txBody>
      </p:sp>
      <p:sp>
        <p:nvSpPr>
          <p:cNvPr id="13" name="임시 디렉터리를 만들 수 없음">
            <a:extLst xmlns:a="http://schemas.openxmlformats.org/drawingml/2006/main">
              <a:ext uri="{FF2B5EF4-FFF2-40B4-BE49-F238E27FC236}">
                <a16:creationId xmlns:a16="http://schemas.microsoft.com/office/drawing/2014/main" id="{7B50C5C8-2E53-4869-9FEA-65349282FAA1}"/>
              </a:ext>
            </a:extLst>
          </p:cNvPr>
          <p:cNvSpPr>
            <a:spLocks xmlns:a="http://schemas.openxmlformats.org/drawingml/2006/main" noGrp="1"/>
          </p:cNvSpPr>
          <p:nvPr/>
        </p:nvSpPr>
        <p:spPr>
          <a:xfrm xmlns:a="http://schemas.openxmlformats.org/drawingml/2006/main">
            <a:off x="6896100" y="3133725"/>
            <a:ext cx="44577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임시 디렉터리를 만들 수 없음</a:t>
            </a:r>
          </a:p>
        </p:txBody>
      </p:sp>
      <p:sp>
        <p:nvSpPr>
          <p:cNvPr id="14" name="읽기 전용 권한 때문에&#10;서로 다른 테스트 3건이 오류">
            <a:extLst xmlns:a="http://schemas.openxmlformats.org/drawingml/2006/main">
              <a:ext uri="{FF2B5EF4-FFF2-40B4-BE49-F238E27FC236}">
                <a16:creationId xmlns:a16="http://schemas.microsoft.com/office/drawing/2014/main" id="{5BEA5B56-C27C-4FF1-B77F-CE7F020D707D}"/>
              </a:ext>
            </a:extLst>
          </p:cNvPr>
          <p:cNvSpPr>
            <a:spLocks xmlns:a="http://schemas.openxmlformats.org/drawingml/2006/main" noGrp="1"/>
          </p:cNvSpPr>
          <p:nvPr/>
        </p:nvSpPr>
        <p:spPr>
          <a:xfrm xmlns:a="http://schemas.openxmlformats.org/drawingml/2006/main">
            <a:off x="6896100" y="3867150"/>
            <a:ext cx="44577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읽기 전용 권한 때문에</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서로 다른 테스트 3건이 오류</a:t>
            </a:r>
          </a:p>
        </p:txBody>
      </p:sp>
      <p:sp>
        <p:nvSpPr>
          <p:cNvPr id="15" name="">
            <a:extLst xmlns:a="http://schemas.openxmlformats.org/drawingml/2006/main">
              <a:ext uri="{FF2B5EF4-FFF2-40B4-BE49-F238E27FC236}">
                <a16:creationId xmlns:a16="http://schemas.microsoft.com/office/drawing/2014/main" id="{7A7F1A05-39E9-4FFC-A1CB-E93A4D91FFC4}"/>
              </a:ext>
            </a:extLst>
          </p:cNvPr>
          <p:cNvSpPr>
            <a:spLocks xmlns:a="http://schemas.openxmlformats.org/drawingml/2006/main" noGrp="1"/>
          </p:cNvSpPr>
          <p:nvPr/>
        </p:nvSpPr>
        <p:spPr>
          <a:xfrm xmlns:a="http://schemas.openxmlformats.org/drawingml/2006/main">
            <a:off x="609600" y="52006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전체 실행 기록: 7개 통과 + crop 실패 + 환경 오류 3건">
            <a:extLst xmlns:a="http://schemas.openxmlformats.org/drawingml/2006/main">
              <a:ext uri="{FF2B5EF4-FFF2-40B4-BE49-F238E27FC236}">
                <a16:creationId xmlns:a16="http://schemas.microsoft.com/office/drawing/2014/main" id="{84F6B941-D812-43E3-801E-6FB38645DA94}"/>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전체 실행 기록: 7개 통과 + crop 실패 + 환경 오류 3건</a:t>
            </a:r>
          </a:p>
        </p:txBody>
      </p:sp>
    </p:spTree>
    <p:extLst>
      <p:ext uri="{BB962C8B-B14F-4D97-AF65-F5344CB8AC3E}">
        <p14:creationId xmlns:p14="http://schemas.microsoft.com/office/powerpoint/2010/main" val="897935053"/>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0 · Context를 찾는 주체">
            <a:extLst xmlns:a="http://schemas.openxmlformats.org/drawingml/2006/main">
              <a:ext uri="{FF2B5EF4-FFF2-40B4-BE49-F238E27FC236}">
                <a16:creationId xmlns:a16="http://schemas.microsoft.com/office/drawing/2014/main" id="{2971C512-BBDF-4B1D-8E1E-2BA003992E0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Context를 찾는 주체</a:t>
            </a:r>
          </a:p>
        </p:txBody>
      </p:sp>
      <p:sp>
        <p:nvSpPr>
          <p:cNvPr id="2" name="S07">
            <a:extLst xmlns:a="http://schemas.openxmlformats.org/drawingml/2006/main">
              <a:ext uri="{FF2B5EF4-FFF2-40B4-BE49-F238E27FC236}">
                <a16:creationId xmlns:a16="http://schemas.microsoft.com/office/drawing/2014/main" id="{4398A9EA-F839-4DA8-9873-E94658E9724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코드를 AI에게 가져가는 대신&#10;AI를 Repository로 데려간다">
            <a:extLst xmlns:a="http://schemas.openxmlformats.org/drawingml/2006/main">
              <a:ext uri="{FF2B5EF4-FFF2-40B4-BE49-F238E27FC236}">
                <a16:creationId xmlns:a16="http://schemas.microsoft.com/office/drawing/2014/main" id="{7D22A375-D1D6-44C4-92AF-9D856FC638B3}"/>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코드를 AI에게 가져가는 대신</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AI를 Repository로 데려간다</a:t>
            </a:r>
          </a:p>
        </p:txBody>
      </p:sp>
      <p:sp>
        <p:nvSpPr>
          <p:cNvPr id="4" name="">
            <a:extLst xmlns:a="http://schemas.openxmlformats.org/drawingml/2006/main">
              <a:ext uri="{FF2B5EF4-FFF2-40B4-BE49-F238E27FC236}">
                <a16:creationId xmlns:a16="http://schemas.microsoft.com/office/drawing/2014/main" id="{EFA9405A-28BE-4FC9-A8DB-E3FB493DA48D}"/>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 모델 · 연결된 관찰: TRIAL-001에서 테스트·구현·호출 경로를 확인">
            <a:extLst xmlns:a="http://schemas.openxmlformats.org/drawingml/2006/main">
              <a:ext uri="{FF2B5EF4-FFF2-40B4-BE49-F238E27FC236}">
                <a16:creationId xmlns:a16="http://schemas.microsoft.com/office/drawing/2014/main" id="{502927AF-0125-4BB7-9400-B11A3ABCB495}"/>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 모델 · 연결된 관찰: TRIAL-001에서 테스트·구현·호출 경로를 확인</a:t>
            </a:r>
          </a:p>
        </p:txBody>
      </p:sp>
      <p:sp>
        <p:nvSpPr>
          <p:cNvPr id="6" name="관찰은 단일 CLI 조사에 한정됩니다. Repository 접근이 작업의 목표까지 정하지는 않습니다.">
            <a:extLst xmlns:a="http://schemas.openxmlformats.org/drawingml/2006/main">
              <a:ext uri="{FF2B5EF4-FFF2-40B4-BE49-F238E27FC236}">
                <a16:creationId xmlns:a16="http://schemas.microsoft.com/office/drawing/2014/main" id="{2F786025-6429-47C3-99E5-BC8FD617CDDD}"/>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관찰은 단일 CLI 조사에 한정됩니다. Repository 접근이 작업의 목표까지 정하지는 않습니다.</a:t>
            </a:r>
          </a:p>
        </p:txBody>
      </p:sp>
      <p:sp>
        <p:nvSpPr>
          <p:cNvPr id="7" name="내가 관련 코드를 모아 전달">
            <a:extLst xmlns:a="http://schemas.openxmlformats.org/drawingml/2006/main">
              <a:ext uri="{FF2B5EF4-FFF2-40B4-BE49-F238E27FC236}">
                <a16:creationId xmlns:a16="http://schemas.microsoft.com/office/drawing/2014/main" id="{23051820-7E59-4BE4-B8C1-8F28B3653A6F}"/>
              </a:ext>
            </a:extLst>
          </p:cNvPr>
          <p:cNvSpPr>
            <a:spLocks xmlns:a="http://schemas.openxmlformats.org/drawingml/2006/main" noGrp="1"/>
          </p:cNvSpPr>
          <p:nvPr/>
        </p:nvSpPr>
        <p:spPr>
          <a:xfrm xmlns:a="http://schemas.openxmlformats.org/drawingml/2006/main">
            <a:off x="609600" y="22574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내가 관련 코드를 모아 전달</a:t>
            </a:r>
          </a:p>
        </p:txBody>
      </p:sp>
      <p:sp>
        <p:nvSpPr>
          <p:cNvPr id="8" name="Repository">
            <a:extLst xmlns:a="http://schemas.openxmlformats.org/drawingml/2006/main">
              <a:ext uri="{FF2B5EF4-FFF2-40B4-BE49-F238E27FC236}">
                <a16:creationId xmlns:a16="http://schemas.microsoft.com/office/drawing/2014/main" id="{01552489-17B0-4620-9C06-879BDA9F80E1}"/>
              </a:ext>
            </a:extLst>
          </p:cNvPr>
          <p:cNvSpPr>
            <a:spLocks xmlns:a="http://schemas.openxmlformats.org/drawingml/2006/main" noGrp="1"/>
          </p:cNvSpPr>
          <p:nvPr/>
        </p:nvSpPr>
        <p:spPr>
          <a:xfrm xmlns:a="http://schemas.openxmlformats.org/drawingml/2006/main">
            <a:off x="609600" y="2924175"/>
            <a:ext cx="26479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Repository</a:t>
            </a:r>
          </a:p>
        </p:txBody>
      </p:sp>
      <p:sp>
        <p:nvSpPr>
          <p:cNvPr id="9" name="">
            <a:extLst xmlns:a="http://schemas.openxmlformats.org/drawingml/2006/main">
              <a:ext uri="{FF2B5EF4-FFF2-40B4-BE49-F238E27FC236}">
                <a16:creationId xmlns:a16="http://schemas.microsoft.com/office/drawing/2014/main" id="{4870DCD2-1998-42AE-B750-85AAA37A58B2}"/>
              </a:ext>
            </a:extLst>
          </p:cNvPr>
          <p:cNvSpPr>
            <a:spLocks xmlns:a="http://schemas.openxmlformats.org/drawingml/2006/main" noGrp="1"/>
          </p:cNvSpPr>
          <p:nvPr/>
        </p:nvSpPr>
        <p:spPr>
          <a:xfrm xmlns:a="http://schemas.openxmlformats.org/drawingml/2006/main">
            <a:off x="3324225" y="3057525"/>
            <a:ext cx="53340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2B707FFE-67D2-484C-B700-417089EF55A6}"/>
              </a:ext>
            </a:extLst>
          </p:cNvPr>
          <p:cNvSpPr>
            <a:spLocks xmlns:a="http://schemas.openxmlformats.org/drawingml/2006/main" noGrp="1"/>
          </p:cNvSpPr>
          <p:nvPr/>
        </p:nvSpPr>
        <p:spPr>
          <a:xfrm xmlns:a="http://schemas.openxmlformats.org/drawingml/2006/main">
            <a:off x="4095750" y="2800350"/>
            <a:ext cx="3286125" cy="742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개발자: 선택·복사">
            <a:extLst xmlns:a="http://schemas.openxmlformats.org/drawingml/2006/main">
              <a:ext uri="{FF2B5EF4-FFF2-40B4-BE49-F238E27FC236}">
                <a16:creationId xmlns:a16="http://schemas.microsoft.com/office/drawing/2014/main" id="{EC6AA49E-B4CC-4F47-942C-711AD691D7C4}"/>
              </a:ext>
            </a:extLst>
          </p:cNvPr>
          <p:cNvSpPr>
            <a:spLocks xmlns:a="http://schemas.openxmlformats.org/drawingml/2006/main" noGrp="1"/>
          </p:cNvSpPr>
          <p:nvPr/>
        </p:nvSpPr>
        <p:spPr>
          <a:xfrm xmlns:a="http://schemas.openxmlformats.org/drawingml/2006/main">
            <a:off x="4324350" y="2952750"/>
            <a:ext cx="28289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개발자: 선택·복사</a:t>
            </a:r>
          </a:p>
        </p:txBody>
      </p:sp>
      <p:sp>
        <p:nvSpPr>
          <p:cNvPr id="12" name="">
            <a:extLst xmlns:a="http://schemas.openxmlformats.org/drawingml/2006/main">
              <a:ext uri="{FF2B5EF4-FFF2-40B4-BE49-F238E27FC236}">
                <a16:creationId xmlns:a16="http://schemas.microsoft.com/office/drawing/2014/main" id="{A7D716A7-92F9-40BF-9993-DB9BAA66D063}"/>
              </a:ext>
            </a:extLst>
          </p:cNvPr>
          <p:cNvSpPr>
            <a:spLocks xmlns:a="http://schemas.openxmlformats.org/drawingml/2006/main" noGrp="1"/>
          </p:cNvSpPr>
          <p:nvPr/>
        </p:nvSpPr>
        <p:spPr>
          <a:xfrm xmlns:a="http://schemas.openxmlformats.org/drawingml/2006/main">
            <a:off x="7648575" y="3057525"/>
            <a:ext cx="53340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AI">
            <a:extLst xmlns:a="http://schemas.openxmlformats.org/drawingml/2006/main">
              <a:ext uri="{FF2B5EF4-FFF2-40B4-BE49-F238E27FC236}">
                <a16:creationId xmlns:a16="http://schemas.microsoft.com/office/drawing/2014/main" id="{6BE1EEC4-C59F-44A0-BDFC-7B56C2E27C3A}"/>
              </a:ext>
            </a:extLst>
          </p:cNvPr>
          <p:cNvSpPr>
            <a:spLocks xmlns:a="http://schemas.openxmlformats.org/drawingml/2006/main" noGrp="1"/>
          </p:cNvSpPr>
          <p:nvPr/>
        </p:nvSpPr>
        <p:spPr>
          <a:xfrm xmlns:a="http://schemas.openxmlformats.org/drawingml/2006/main">
            <a:off x="8667750" y="2924175"/>
            <a:ext cx="26289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AI</a:t>
            </a:r>
          </a:p>
        </p:txBody>
      </p:sp>
      <p:sp>
        <p:nvSpPr>
          <p:cNvPr id="14" name="">
            <a:extLst xmlns:a="http://schemas.openxmlformats.org/drawingml/2006/main">
              <a:ext uri="{FF2B5EF4-FFF2-40B4-BE49-F238E27FC236}">
                <a16:creationId xmlns:a16="http://schemas.microsoft.com/office/drawing/2014/main" id="{83BFB201-0DEC-4445-B627-6AA59E5620FC}"/>
              </a:ext>
            </a:extLst>
          </p:cNvPr>
          <p:cNvSpPr>
            <a:spLocks xmlns:a="http://schemas.openxmlformats.org/drawingml/2006/main" noGrp="1"/>
          </p:cNvSpPr>
          <p:nvPr/>
        </p:nvSpPr>
        <p:spPr>
          <a:xfrm xmlns:a="http://schemas.openxmlformats.org/drawingml/2006/main">
            <a:off x="609600" y="3905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조사할 일을 맡기고 근거를 확인">
            <a:extLst xmlns:a="http://schemas.openxmlformats.org/drawingml/2006/main">
              <a:ext uri="{FF2B5EF4-FFF2-40B4-BE49-F238E27FC236}">
                <a16:creationId xmlns:a16="http://schemas.microsoft.com/office/drawing/2014/main" id="{D289CFD0-86E5-4537-84BC-581F1742051F}"/>
              </a:ext>
            </a:extLst>
          </p:cNvPr>
          <p:cNvSpPr>
            <a:spLocks xmlns:a="http://schemas.openxmlformats.org/drawingml/2006/main" noGrp="1"/>
          </p:cNvSpPr>
          <p:nvPr/>
        </p:nvSpPr>
        <p:spPr>
          <a:xfrm xmlns:a="http://schemas.openxmlformats.org/drawingml/2006/main">
            <a:off x="609600" y="42100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조사할 일을 맡기고 근거를 확인</a:t>
            </a:r>
          </a:p>
        </p:txBody>
      </p:sp>
      <p:sp>
        <p:nvSpPr>
          <p:cNvPr id="16" name="개발자: 조사 요청">
            <a:extLst xmlns:a="http://schemas.openxmlformats.org/drawingml/2006/main">
              <a:ext uri="{FF2B5EF4-FFF2-40B4-BE49-F238E27FC236}">
                <a16:creationId xmlns:a16="http://schemas.microsoft.com/office/drawing/2014/main" id="{D6899B14-65B3-4E4E-BACC-7C354AAE8F0D}"/>
              </a:ext>
            </a:extLst>
          </p:cNvPr>
          <p:cNvSpPr>
            <a:spLocks xmlns:a="http://schemas.openxmlformats.org/drawingml/2006/main" noGrp="1"/>
          </p:cNvSpPr>
          <p:nvPr/>
        </p:nvSpPr>
        <p:spPr>
          <a:xfrm xmlns:a="http://schemas.openxmlformats.org/drawingml/2006/main">
            <a:off x="609600" y="4933950"/>
            <a:ext cx="333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개발자: 조사 요청</a:t>
            </a:r>
          </a:p>
        </p:txBody>
      </p:sp>
      <p:sp>
        <p:nvSpPr>
          <p:cNvPr id="17" name="">
            <a:extLst xmlns:a="http://schemas.openxmlformats.org/drawingml/2006/main">
              <a:ext uri="{FF2B5EF4-FFF2-40B4-BE49-F238E27FC236}">
                <a16:creationId xmlns:a16="http://schemas.microsoft.com/office/drawing/2014/main" id="{37F2C00E-0989-4036-A011-F31991B63D16}"/>
              </a:ext>
            </a:extLst>
          </p:cNvPr>
          <p:cNvSpPr>
            <a:spLocks xmlns:a="http://schemas.openxmlformats.org/drawingml/2006/main" noGrp="1"/>
          </p:cNvSpPr>
          <p:nvPr/>
        </p:nvSpPr>
        <p:spPr>
          <a:xfrm xmlns:a="http://schemas.openxmlformats.org/drawingml/2006/main">
            <a:off x="4000500" y="5067300"/>
            <a:ext cx="53340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Agent ↔ Repository">
            <a:extLst xmlns:a="http://schemas.openxmlformats.org/drawingml/2006/main">
              <a:ext uri="{FF2B5EF4-FFF2-40B4-BE49-F238E27FC236}">
                <a16:creationId xmlns:a16="http://schemas.microsoft.com/office/drawing/2014/main" id="{9C574E44-ED0C-430E-8B1A-3FE474E97553}"/>
              </a:ext>
            </a:extLst>
          </p:cNvPr>
          <p:cNvSpPr>
            <a:spLocks xmlns:a="http://schemas.openxmlformats.org/drawingml/2006/main" noGrp="1"/>
          </p:cNvSpPr>
          <p:nvPr/>
        </p:nvSpPr>
        <p:spPr>
          <a:xfrm xmlns:a="http://schemas.openxmlformats.org/drawingml/2006/main">
            <a:off x="4991100" y="4848225"/>
            <a:ext cx="65913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Agent ↔ Repository</a:t>
            </a:r>
          </a:p>
        </p:txBody>
      </p:sp>
    </p:spTree>
    <p:extLst>
      <p:ext uri="{BB962C8B-B14F-4D97-AF65-F5344CB8AC3E}">
        <p14:creationId xmlns:p14="http://schemas.microsoft.com/office/powerpoint/2010/main" val="650744473"/>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0 · 접근할 정보와 정할 목표">
            <a:extLst xmlns:a="http://schemas.openxmlformats.org/drawingml/2006/main">
              <a:ext uri="{FF2B5EF4-FFF2-40B4-BE49-F238E27FC236}">
                <a16:creationId xmlns:a16="http://schemas.microsoft.com/office/drawing/2014/main" id="{37982073-47B0-4502-9F95-CD7556CD162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접근할 정보와 정할 목표</a:t>
            </a:r>
          </a:p>
        </p:txBody>
      </p:sp>
      <p:sp>
        <p:nvSpPr>
          <p:cNvPr id="2" name="S08">
            <a:extLst xmlns:a="http://schemas.openxmlformats.org/drawingml/2006/main">
              <a:ext uri="{FF2B5EF4-FFF2-40B4-BE49-F238E27FC236}">
                <a16:creationId xmlns:a16="http://schemas.microsoft.com/office/drawing/2014/main" id="{A1478A22-4F4C-43BB-AD3A-70F95327735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Repository 접근과 Task 의도는 별개다">
            <a:extLst xmlns:a="http://schemas.openxmlformats.org/drawingml/2006/main">
              <a:ext uri="{FF2B5EF4-FFF2-40B4-BE49-F238E27FC236}">
                <a16:creationId xmlns:a16="http://schemas.microsoft.com/office/drawing/2014/main" id="{DA161A0B-BDA5-4A77-8336-724D9DC2BC6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DC10AE1B-BA41-4CD4-A0BB-14A1C3F942D3}"/>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Repository 접근과 작업 의도의 관계">
            <a:extLst xmlns:a="http://schemas.openxmlformats.org/drawingml/2006/main">
              <a:ext uri="{FF2B5EF4-FFF2-40B4-BE49-F238E27FC236}">
                <a16:creationId xmlns:a16="http://schemas.microsoft.com/office/drawing/2014/main" id="{E898549E-2647-43EA-A6FF-2845975E98C8}"/>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Repository 접근과 작업 의도의 관계</a:t>
            </a:r>
          </a:p>
        </p:txBody>
      </p:sp>
      <p:sp>
        <p:nvSpPr>
          <p:cNvPr id="6" name="모든 제품이나 환경의 기능을 설명하는 공식 분류가 아닙니다.">
            <a:extLst xmlns:a="http://schemas.openxmlformats.org/drawingml/2006/main">
              <a:ext uri="{FF2B5EF4-FFF2-40B4-BE49-F238E27FC236}">
                <a16:creationId xmlns:a16="http://schemas.microsoft.com/office/drawing/2014/main" id="{C6D05627-FB77-42A2-B160-06A7EE0B97C9}"/>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제품이나 환경의 기능을 설명하는 공식 분류가 아닙니다.</a:t>
            </a:r>
          </a:p>
        </p:txBody>
      </p:sp>
      <p:sp>
        <p:nvSpPr>
          <p:cNvPr id="7" name="볼 수 있는 것">
            <a:extLst xmlns:a="http://schemas.openxmlformats.org/drawingml/2006/main">
              <a:ext uri="{FF2B5EF4-FFF2-40B4-BE49-F238E27FC236}">
                <a16:creationId xmlns:a16="http://schemas.microsoft.com/office/drawing/2014/main" id="{EA5C8524-DE3D-4A8B-AFE8-D2598CB57698}"/>
              </a:ext>
            </a:extLst>
          </p:cNvPr>
          <p:cNvSpPr>
            <a:spLocks xmlns:a="http://schemas.openxmlformats.org/drawingml/2006/main" noGrp="1"/>
          </p:cNvSpPr>
          <p:nvPr/>
        </p:nvSpPr>
        <p:spPr>
          <a:xfrm xmlns:a="http://schemas.openxmlformats.org/drawingml/2006/main">
            <a:off x="609600" y="2352675"/>
            <a:ext cx="4838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CA63912E-8206-4185-A7E5-9D6BF664C82F}"/>
              </a:ext>
            </a:extLst>
          </p:cNvPr>
          <p:cNvSpPr>
            <a:spLocks xmlns:a="http://schemas.openxmlformats.org/drawingml/2006/main" noGrp="1"/>
          </p:cNvSpPr>
          <p:nvPr/>
        </p:nvSpPr>
        <p:spPr>
          <a:xfrm xmlns:a="http://schemas.openxmlformats.org/drawingml/2006/main">
            <a:off x="7181850" y="2352675"/>
            <a:ext cx="4400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sp>
        <p:nvSpPr>
          <p:cNvPr id="9" name="">
            <a:extLst xmlns:a="http://schemas.openxmlformats.org/drawingml/2006/main">
              <a:ext uri="{FF2B5EF4-FFF2-40B4-BE49-F238E27FC236}">
                <a16:creationId xmlns:a16="http://schemas.microsoft.com/office/drawing/2014/main" id="{AF67EE8F-DFFD-4DDA-81D8-269EB4DFCA58}"/>
              </a:ext>
            </a:extLst>
          </p:cNvPr>
          <p:cNvSpPr>
            <a:spLocks xmlns:a="http://schemas.openxmlformats.org/drawingml/2006/main" noGrp="1"/>
          </p:cNvSpPr>
          <p:nvPr/>
        </p:nvSpPr>
        <p:spPr>
          <a:xfrm xmlns:a="http://schemas.openxmlformats.org/drawingml/2006/main">
            <a:off x="609600" y="2981325"/>
            <a:ext cx="48387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99C42BC2-CDF8-48C9-8882-BD747260EAF0}"/>
              </a:ext>
            </a:extLst>
          </p:cNvPr>
          <p:cNvSpPr>
            <a:spLocks xmlns:a="http://schemas.openxmlformats.org/drawingml/2006/main" noGrp="1"/>
          </p:cNvSpPr>
          <p:nvPr/>
        </p:nvSpPr>
        <p:spPr>
          <a:xfrm xmlns:a="http://schemas.openxmlformats.org/drawingml/2006/main">
            <a:off x="7181850" y="2981325"/>
            <a:ext cx="4400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파일&#10;구현&#10;테스트">
            <a:extLst xmlns:a="http://schemas.openxmlformats.org/drawingml/2006/main">
              <a:ext uri="{FF2B5EF4-FFF2-40B4-BE49-F238E27FC236}">
                <a16:creationId xmlns:a16="http://schemas.microsoft.com/office/drawing/2014/main" id="{5C2D69B4-9595-44C0-8083-57F238D23E4C}"/>
              </a:ext>
            </a:extLst>
          </p:cNvPr>
          <p:cNvSpPr>
            <a:spLocks xmlns:a="http://schemas.openxmlformats.org/drawingml/2006/main" noGrp="1"/>
          </p:cNvSpPr>
          <p:nvPr/>
        </p:nvSpPr>
        <p:spPr>
          <a:xfrm xmlns:a="http://schemas.openxmlformats.org/drawingml/2006/main">
            <a:off x="609600" y="3295650"/>
            <a:ext cx="483870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17212B"/>
                </a:solidFill>
                <a:latin typeface="Malgun Gothic"/>
                <a:ea typeface="Malgun Gothic"/>
                <a:cs typeface="Malgun Gothic"/>
              </a:defRPr>
            </a:defPPr>
            <a:lvl1pPr algn="l">
              <a:defRPr sz="2700" b="0">
                <a:solidFill>
                  <a:srgbClr val="17212B"/>
                </a:solidFill>
                <a:latin typeface="Malgun Gothic"/>
                <a:ea typeface="Malgun Gothic"/>
                <a:cs typeface="Malgun Gothic"/>
              </a:defRPr>
            </a:lvl1pPr>
            <a:lvl2pPr algn="l">
              <a:defRPr sz="2700" b="0">
                <a:solidFill>
                  <a:srgbClr val="17212B"/>
                </a:solidFill>
                <a:latin typeface="Malgun Gothic"/>
                <a:ea typeface="Malgun Gothic"/>
                <a:cs typeface="Malgun Gothic"/>
              </a:defRPr>
            </a:lvl2pPr>
            <a:lvl3pPr algn="l">
              <a:defRPr sz="2700" b="0">
                <a:solidFill>
                  <a:srgbClr val="17212B"/>
                </a:solidFill>
                <a:latin typeface="Malgun Gothic"/>
                <a:ea typeface="Malgun Gothic"/>
                <a:cs typeface="Malgun Gothic"/>
              </a:defRPr>
            </a:lvl3pPr>
            <a:lvl4pPr algn="l">
              <a:defRPr sz="2700" b="0">
                <a:solidFill>
                  <a:srgbClr val="17212B"/>
                </a:solidFill>
                <a:latin typeface="Malgun Gothic"/>
                <a:ea typeface="Malgun Gothic"/>
                <a:cs typeface="Malgun Gothic"/>
              </a:defRPr>
            </a:lvl4pPr>
            <a:lvl5pPr algn="l">
              <a:defRPr sz="2700" b="0">
                <a:solidFill>
                  <a:srgbClr val="17212B"/>
                </a:solidFill>
                <a:latin typeface="Malgun Gothic"/>
                <a:ea typeface="Malgun Gothic"/>
                <a:cs typeface="Malgun Gothic"/>
              </a:defRPr>
            </a:lvl5pPr>
            <a:lvl6pPr algn="l">
              <a:defRPr sz="2700" b="0">
                <a:solidFill>
                  <a:srgbClr val="17212B"/>
                </a:solidFill>
                <a:latin typeface="Malgun Gothic"/>
                <a:ea typeface="Malgun Gothic"/>
                <a:cs typeface="Malgun Gothic"/>
              </a:defRPr>
            </a:lvl6pPr>
            <a:lvl7pPr algn="l">
              <a:defRPr sz="2700" b="0">
                <a:solidFill>
                  <a:srgbClr val="17212B"/>
                </a:solidFill>
                <a:latin typeface="Malgun Gothic"/>
                <a:ea typeface="Malgun Gothic"/>
                <a:cs typeface="Malgun Gothic"/>
              </a:defRPr>
            </a:lvl7pPr>
            <a:lvl8pPr algn="l">
              <a:defRPr sz="2700" b="0">
                <a:solidFill>
                  <a:srgbClr val="17212B"/>
                </a:solidFill>
                <a:latin typeface="Malgun Gothic"/>
                <a:ea typeface="Malgun Gothic"/>
                <a:cs typeface="Malgun Gothic"/>
              </a:defRPr>
            </a:lvl8pPr>
            <a:lvl9pPr algn="l">
              <a:defRPr sz="2700" b="0">
                <a:solidFill>
                  <a:srgbClr val="17212B"/>
                </a:solidFill>
                <a:latin typeface="Malgun Gothic"/>
                <a:ea typeface="Malgun Gothic"/>
                <a:cs typeface="Malgun Gothic"/>
              </a:defRPr>
            </a:lvl9pPr>
          </a:lstStyle>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파일</a:t>
            </a:r>
          </a:p>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구현</a:t>
            </a:r>
          </a:p>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테스트</a:t>
            </a:r>
          </a:p>
        </p:txBody>
      </p:sp>
      <p:sp>
        <p:nvSpPr>
          <p:cNvPr id="12" name="원하는 변화&#10;허용할 범위&#10;완료 판단">
            <a:extLst xmlns:a="http://schemas.openxmlformats.org/drawingml/2006/main">
              <a:ext uri="{FF2B5EF4-FFF2-40B4-BE49-F238E27FC236}">
                <a16:creationId xmlns:a16="http://schemas.microsoft.com/office/drawing/2014/main" id="{8B7E1785-851B-4BB4-9EA8-62FE11C86023}"/>
              </a:ext>
            </a:extLst>
          </p:cNvPr>
          <p:cNvSpPr>
            <a:spLocks xmlns:a="http://schemas.openxmlformats.org/drawingml/2006/main" noGrp="1"/>
          </p:cNvSpPr>
          <p:nvPr/>
        </p:nvSpPr>
        <p:spPr>
          <a:xfrm xmlns:a="http://schemas.openxmlformats.org/drawingml/2006/main">
            <a:off x="7181850" y="3295650"/>
            <a:ext cx="44005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17212B"/>
                </a:solidFill>
                <a:latin typeface="Malgun Gothic"/>
                <a:ea typeface="Malgun Gothic"/>
                <a:cs typeface="Malgun Gothic"/>
              </a:defRPr>
            </a:defPPr>
            <a:lvl1pPr algn="l">
              <a:defRPr sz="2700" b="0">
                <a:solidFill>
                  <a:srgbClr val="17212B"/>
                </a:solidFill>
                <a:latin typeface="Malgun Gothic"/>
                <a:ea typeface="Malgun Gothic"/>
                <a:cs typeface="Malgun Gothic"/>
              </a:defRPr>
            </a:lvl1pPr>
            <a:lvl2pPr algn="l">
              <a:defRPr sz="2700" b="0">
                <a:solidFill>
                  <a:srgbClr val="17212B"/>
                </a:solidFill>
                <a:latin typeface="Malgun Gothic"/>
                <a:ea typeface="Malgun Gothic"/>
                <a:cs typeface="Malgun Gothic"/>
              </a:defRPr>
            </a:lvl2pPr>
            <a:lvl3pPr algn="l">
              <a:defRPr sz="2700" b="0">
                <a:solidFill>
                  <a:srgbClr val="17212B"/>
                </a:solidFill>
                <a:latin typeface="Malgun Gothic"/>
                <a:ea typeface="Malgun Gothic"/>
                <a:cs typeface="Malgun Gothic"/>
              </a:defRPr>
            </a:lvl3pPr>
            <a:lvl4pPr algn="l">
              <a:defRPr sz="2700" b="0">
                <a:solidFill>
                  <a:srgbClr val="17212B"/>
                </a:solidFill>
                <a:latin typeface="Malgun Gothic"/>
                <a:ea typeface="Malgun Gothic"/>
                <a:cs typeface="Malgun Gothic"/>
              </a:defRPr>
            </a:lvl4pPr>
            <a:lvl5pPr algn="l">
              <a:defRPr sz="2700" b="0">
                <a:solidFill>
                  <a:srgbClr val="17212B"/>
                </a:solidFill>
                <a:latin typeface="Malgun Gothic"/>
                <a:ea typeface="Malgun Gothic"/>
                <a:cs typeface="Malgun Gothic"/>
              </a:defRPr>
            </a:lvl5pPr>
            <a:lvl6pPr algn="l">
              <a:defRPr sz="2700" b="0">
                <a:solidFill>
                  <a:srgbClr val="17212B"/>
                </a:solidFill>
                <a:latin typeface="Malgun Gothic"/>
                <a:ea typeface="Malgun Gothic"/>
                <a:cs typeface="Malgun Gothic"/>
              </a:defRPr>
            </a:lvl6pPr>
            <a:lvl7pPr algn="l">
              <a:defRPr sz="2700" b="0">
                <a:solidFill>
                  <a:srgbClr val="17212B"/>
                </a:solidFill>
                <a:latin typeface="Malgun Gothic"/>
                <a:ea typeface="Malgun Gothic"/>
                <a:cs typeface="Malgun Gothic"/>
              </a:defRPr>
            </a:lvl7pPr>
            <a:lvl8pPr algn="l">
              <a:defRPr sz="2700" b="0">
                <a:solidFill>
                  <a:srgbClr val="17212B"/>
                </a:solidFill>
                <a:latin typeface="Malgun Gothic"/>
                <a:ea typeface="Malgun Gothic"/>
                <a:cs typeface="Malgun Gothic"/>
              </a:defRPr>
            </a:lvl8pPr>
            <a:lvl9pPr algn="l">
              <a:defRPr sz="2700" b="0">
                <a:solidFill>
                  <a:srgbClr val="17212B"/>
                </a:solidFill>
                <a:latin typeface="Malgun Gothic"/>
                <a:ea typeface="Malgun Gothic"/>
                <a:cs typeface="Malgun Gothic"/>
              </a:defRPr>
            </a:lvl9pPr>
          </a:lstStyle>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원하는 변화</a:t>
            </a:r>
          </a:p>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허용할 범위</a:t>
            </a:r>
          </a:p>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완료 판단</a:t>
            </a:r>
          </a:p>
        </p:txBody>
      </p:sp>
      <p:sp>
        <p:nvSpPr>
          <p:cNvPr id="13" name="≠">
            <a:extLst xmlns:a="http://schemas.openxmlformats.org/drawingml/2006/main">
              <a:ext uri="{FF2B5EF4-FFF2-40B4-BE49-F238E27FC236}">
                <a16:creationId xmlns:a16="http://schemas.microsoft.com/office/drawing/2014/main" id="{6B546CF5-303C-4EAE-9434-CB0DE626B178}"/>
              </a:ext>
            </a:extLst>
          </p:cNvPr>
          <p:cNvSpPr>
            <a:spLocks xmlns:a="http://schemas.openxmlformats.org/drawingml/2006/main" noGrp="1"/>
          </p:cNvSpPr>
          <p:nvPr/>
        </p:nvSpPr>
        <p:spPr>
          <a:xfrm xmlns:a="http://schemas.openxmlformats.org/drawingml/2006/main">
            <a:off x="5810250" y="3514725"/>
            <a:ext cx="9715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0B6172"/>
                </a:solidFill>
                <a:latin typeface="Malgun Gothic"/>
                <a:ea typeface="Malgun Gothic"/>
                <a:cs typeface="Malgun Gothic"/>
              </a:defRPr>
            </a:defPPr>
            <a:lvl1pPr algn="l">
              <a:defRPr sz="4800" b="1">
                <a:solidFill>
                  <a:srgbClr val="0B6172"/>
                </a:solidFill>
                <a:latin typeface="Malgun Gothic"/>
                <a:ea typeface="Malgun Gothic"/>
                <a:cs typeface="Malgun Gothic"/>
              </a:defRPr>
            </a:lvl1pPr>
            <a:lvl2pPr algn="l">
              <a:defRPr sz="4800" b="1">
                <a:solidFill>
                  <a:srgbClr val="0B6172"/>
                </a:solidFill>
                <a:latin typeface="Malgun Gothic"/>
                <a:ea typeface="Malgun Gothic"/>
                <a:cs typeface="Malgun Gothic"/>
              </a:defRPr>
            </a:lvl2pPr>
            <a:lvl3pPr algn="l">
              <a:defRPr sz="4800" b="1">
                <a:solidFill>
                  <a:srgbClr val="0B6172"/>
                </a:solidFill>
                <a:latin typeface="Malgun Gothic"/>
                <a:ea typeface="Malgun Gothic"/>
                <a:cs typeface="Malgun Gothic"/>
              </a:defRPr>
            </a:lvl3pPr>
            <a:lvl4pPr algn="l">
              <a:defRPr sz="4800" b="1">
                <a:solidFill>
                  <a:srgbClr val="0B6172"/>
                </a:solidFill>
                <a:latin typeface="Malgun Gothic"/>
                <a:ea typeface="Malgun Gothic"/>
                <a:cs typeface="Malgun Gothic"/>
              </a:defRPr>
            </a:lvl4pPr>
            <a:lvl5pPr algn="l">
              <a:defRPr sz="4800" b="1">
                <a:solidFill>
                  <a:srgbClr val="0B6172"/>
                </a:solidFill>
                <a:latin typeface="Malgun Gothic"/>
                <a:ea typeface="Malgun Gothic"/>
                <a:cs typeface="Malgun Gothic"/>
              </a:defRPr>
            </a:lvl5pPr>
            <a:lvl6pPr algn="l">
              <a:defRPr sz="4800" b="1">
                <a:solidFill>
                  <a:srgbClr val="0B6172"/>
                </a:solidFill>
                <a:latin typeface="Malgun Gothic"/>
                <a:ea typeface="Malgun Gothic"/>
                <a:cs typeface="Malgun Gothic"/>
              </a:defRPr>
            </a:lvl6pPr>
            <a:lvl7pPr algn="l">
              <a:defRPr sz="4800" b="1">
                <a:solidFill>
                  <a:srgbClr val="0B6172"/>
                </a:solidFill>
                <a:latin typeface="Malgun Gothic"/>
                <a:ea typeface="Malgun Gothic"/>
                <a:cs typeface="Malgun Gothic"/>
              </a:defRPr>
            </a:lvl7pPr>
            <a:lvl8pPr algn="l">
              <a:defRPr sz="4800" b="1">
                <a:solidFill>
                  <a:srgbClr val="0B6172"/>
                </a:solidFill>
                <a:latin typeface="Malgun Gothic"/>
                <a:ea typeface="Malgun Gothic"/>
                <a:cs typeface="Malgun Gothic"/>
              </a:defRPr>
            </a:lvl8pPr>
            <a:lvl9pPr algn="l">
              <a:defRPr sz="4800" b="1">
                <a:solidFill>
                  <a:srgbClr val="0B6172"/>
                </a:solidFill>
                <a:latin typeface="Malgun Gothic"/>
                <a:ea typeface="Malgun Gothic"/>
                <a:cs typeface="Malgun Gothic"/>
              </a:defRPr>
            </a:lvl9pPr>
          </a:lstStyle>
          <a:p xmlns:a="http://schemas.openxmlformats.org/drawingml/2006/main">
            <a:pPr algn="l">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14" name="코드가 보여도, 원하는 일은 따로 전달해야 한다.">
            <a:extLst xmlns:a="http://schemas.openxmlformats.org/drawingml/2006/main">
              <a:ext uri="{FF2B5EF4-FFF2-40B4-BE49-F238E27FC236}">
                <a16:creationId xmlns:a16="http://schemas.microsoft.com/office/drawing/2014/main" id="{CB518D53-6BB4-4ACC-BDF9-057DBDEA896E}"/>
              </a:ext>
            </a:extLst>
          </p:cNvPr>
          <p:cNvSpPr>
            <a:spLocks xmlns:a="http://schemas.openxmlformats.org/drawingml/2006/main" noGrp="1"/>
          </p:cNvSpPr>
          <p:nvPr/>
        </p:nvSpPr>
        <p:spPr>
          <a:xfrm xmlns:a="http://schemas.openxmlformats.org/drawingml/2006/main">
            <a:off x="609600" y="52482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코드가 보여도, 원하는 일은 따로 전달해야 한다.</a:t>
            </a:r>
          </a:p>
        </p:txBody>
      </p:sp>
    </p:spTree>
    <p:extLst>
      <p:ext uri="{BB962C8B-B14F-4D97-AF65-F5344CB8AC3E}">
        <p14:creationId xmlns:p14="http://schemas.microsoft.com/office/powerpoint/2010/main" val="1456181130"/>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1" name="ACT 0 · 다음 질문">
            <a:extLst xmlns:a="http://schemas.openxmlformats.org/drawingml/2006/main">
              <a:ext uri="{FF2B5EF4-FFF2-40B4-BE49-F238E27FC236}">
                <a16:creationId xmlns:a16="http://schemas.microsoft.com/office/drawing/2014/main" id="{D90EB540-B403-492B-9D9C-59683F25D30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다음 질문</a:t>
            </a:r>
          </a:p>
        </p:txBody>
      </p:sp>
      <p:sp>
        <p:nvSpPr>
          <p:cNvPr id="2" name="S09">
            <a:extLst xmlns:a="http://schemas.openxmlformats.org/drawingml/2006/main">
              <a:ext uri="{FF2B5EF4-FFF2-40B4-BE49-F238E27FC236}">
                <a16:creationId xmlns:a16="http://schemas.microsoft.com/office/drawing/2014/main" id="{0762C0A3-D085-449B-88B7-AD5D4E37AAD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Repository를 보면 내가 원하는 것까지 알까?">
            <a:extLst xmlns:a="http://schemas.openxmlformats.org/drawingml/2006/main">
              <a:ext uri="{FF2B5EF4-FFF2-40B4-BE49-F238E27FC236}">
                <a16:creationId xmlns:a16="http://schemas.microsoft.com/office/drawing/2014/main" id="{5ADEED54-0164-4537-AC97-B8FD6871744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40FBEF1F-A107-4543-A491-17F6FEFABB7E}"/>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함께 생각해 보기 · 교육 모델">
            <a:extLst xmlns:a="http://schemas.openxmlformats.org/drawingml/2006/main">
              <a:ext uri="{FF2B5EF4-FFF2-40B4-BE49-F238E27FC236}">
                <a16:creationId xmlns:a16="http://schemas.microsoft.com/office/drawing/2014/main" id="{3372E8EF-E0F9-4285-9C33-55493E81D1E4}"/>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함께 생각해 보기 · 교육 모델</a:t>
            </a:r>
          </a:p>
        </p:txBody>
      </p:sp>
      <p:sp>
        <p:nvSpPr>
          <p:cNvPr id="6" name="현재 맡기고 싶은 일을 떠올려 보세요. 질문과 경험 공유는 자발적으로 진행합니다.">
            <a:extLst xmlns:a="http://schemas.openxmlformats.org/drawingml/2006/main">
              <a:ext uri="{FF2B5EF4-FFF2-40B4-BE49-F238E27FC236}">
                <a16:creationId xmlns:a16="http://schemas.microsoft.com/office/drawing/2014/main" id="{5D1B638A-8B98-4C09-B81A-69FDAF9C6316}"/>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맡기고 싶은 일을 떠올려 보세요. 질문과 경험 공유는 자발적으로 진행합니다.</a:t>
            </a:r>
          </a:p>
        </p:txBody>
      </p:sp>
      <p:sp>
        <p:nvSpPr>
          <p:cNvPr id="7" name="지금 이 저장소에&#10;어떤 일을 맡기고 싶으신가요?">
            <a:extLst xmlns:a="http://schemas.openxmlformats.org/drawingml/2006/main">
              <a:ext uri="{FF2B5EF4-FFF2-40B4-BE49-F238E27FC236}">
                <a16:creationId xmlns:a16="http://schemas.microsoft.com/office/drawing/2014/main" id="{96CDABBB-1AE3-43A1-BDE0-89C6407090B2}"/>
              </a:ext>
            </a:extLst>
          </p:cNvPr>
          <p:cNvSpPr>
            <a:spLocks xmlns:a="http://schemas.openxmlformats.org/drawingml/2006/main" noGrp="1"/>
          </p:cNvSpPr>
          <p:nvPr/>
        </p:nvSpPr>
        <p:spPr>
          <a:xfrm xmlns:a="http://schemas.openxmlformats.org/drawingml/2006/main">
            <a:off x="609600" y="2333625"/>
            <a:ext cx="9620250" cy="1371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75" b="1">
                <a:solidFill>
                  <a:srgbClr val="17212B"/>
                </a:solidFill>
                <a:latin typeface="Malgun Gothic"/>
                <a:ea typeface="Malgun Gothic"/>
                <a:cs typeface="Malgun Gothic"/>
              </a:defRPr>
            </a:defPPr>
            <a:lvl1pPr algn="l">
              <a:defRPr sz="3375" b="1">
                <a:solidFill>
                  <a:srgbClr val="17212B"/>
                </a:solidFill>
                <a:latin typeface="Malgun Gothic"/>
                <a:ea typeface="Malgun Gothic"/>
                <a:cs typeface="Malgun Gothic"/>
              </a:defRPr>
            </a:lvl1pPr>
            <a:lvl2pPr algn="l">
              <a:defRPr sz="3375" b="1">
                <a:solidFill>
                  <a:srgbClr val="17212B"/>
                </a:solidFill>
                <a:latin typeface="Malgun Gothic"/>
                <a:ea typeface="Malgun Gothic"/>
                <a:cs typeface="Malgun Gothic"/>
              </a:defRPr>
            </a:lvl2pPr>
            <a:lvl3pPr algn="l">
              <a:defRPr sz="3375" b="1">
                <a:solidFill>
                  <a:srgbClr val="17212B"/>
                </a:solidFill>
                <a:latin typeface="Malgun Gothic"/>
                <a:ea typeface="Malgun Gothic"/>
                <a:cs typeface="Malgun Gothic"/>
              </a:defRPr>
            </a:lvl3pPr>
            <a:lvl4pPr algn="l">
              <a:defRPr sz="3375" b="1">
                <a:solidFill>
                  <a:srgbClr val="17212B"/>
                </a:solidFill>
                <a:latin typeface="Malgun Gothic"/>
                <a:ea typeface="Malgun Gothic"/>
                <a:cs typeface="Malgun Gothic"/>
              </a:defRPr>
            </a:lvl4pPr>
            <a:lvl5pPr algn="l">
              <a:defRPr sz="3375" b="1">
                <a:solidFill>
                  <a:srgbClr val="17212B"/>
                </a:solidFill>
                <a:latin typeface="Malgun Gothic"/>
                <a:ea typeface="Malgun Gothic"/>
                <a:cs typeface="Malgun Gothic"/>
              </a:defRPr>
            </a:lvl5pPr>
            <a:lvl6pPr algn="l">
              <a:defRPr sz="3375" b="1">
                <a:solidFill>
                  <a:srgbClr val="17212B"/>
                </a:solidFill>
                <a:latin typeface="Malgun Gothic"/>
                <a:ea typeface="Malgun Gothic"/>
                <a:cs typeface="Malgun Gothic"/>
              </a:defRPr>
            </a:lvl6pPr>
            <a:lvl7pPr algn="l">
              <a:defRPr sz="3375" b="1">
                <a:solidFill>
                  <a:srgbClr val="17212B"/>
                </a:solidFill>
                <a:latin typeface="Malgun Gothic"/>
                <a:ea typeface="Malgun Gothic"/>
                <a:cs typeface="Malgun Gothic"/>
              </a:defRPr>
            </a:lvl7pPr>
            <a:lvl8pPr algn="l">
              <a:defRPr sz="3375" b="1">
                <a:solidFill>
                  <a:srgbClr val="17212B"/>
                </a:solidFill>
                <a:latin typeface="Malgun Gothic"/>
                <a:ea typeface="Malgun Gothic"/>
                <a:cs typeface="Malgun Gothic"/>
              </a:defRPr>
            </a:lvl8pPr>
            <a:lvl9pPr algn="l">
              <a:defRPr sz="3375" b="1">
                <a:solidFill>
                  <a:srgbClr val="17212B"/>
                </a:solidFill>
                <a:latin typeface="Malgun Gothic"/>
                <a:ea typeface="Malgun Gothic"/>
                <a:cs typeface="Malgun Gothic"/>
              </a:defRPr>
            </a:lvl9pPr>
          </a:lstStyle>
          <a:p xmlns:a="http://schemas.openxmlformats.org/drawingml/2006/main">
            <a:pPr algn="l">
              <a:defRPr sz="3375" b="1">
                <a:solidFill>
                  <a:srgbClr val="17212B"/>
                </a:solidFill>
                <a:latin typeface="Malgun Gothic"/>
                <a:ea typeface="Malgun Gothic"/>
                <a:cs typeface="Malgun Gothic"/>
              </a:defRPr>
            </a:pPr>
            <a:r>
              <a:rPr sz="3375" b="1">
                <a:solidFill>
                  <a:srgbClr val="17212B"/>
                </a:solidFill>
                <a:latin typeface="Malgun Gothic"/>
                <a:ea typeface="Malgun Gothic"/>
                <a:cs typeface="Malgun Gothic"/>
              </a:rPr>
              <a:t>지금 이 저장소에</a:t>
            </a:r>
          </a:p>
          <a:p xmlns:a="http://schemas.openxmlformats.org/drawingml/2006/main">
            <a:pPr algn="l">
              <a:defRPr sz="3375" b="1">
                <a:solidFill>
                  <a:srgbClr val="17212B"/>
                </a:solidFill>
                <a:latin typeface="Malgun Gothic"/>
                <a:ea typeface="Malgun Gothic"/>
                <a:cs typeface="Malgun Gothic"/>
              </a:defRPr>
            </a:pPr>
            <a:r>
              <a:rPr sz="3375" b="1">
                <a:solidFill>
                  <a:srgbClr val="17212B"/>
                </a:solidFill>
                <a:latin typeface="Malgun Gothic"/>
                <a:ea typeface="Malgun Gothic"/>
                <a:cs typeface="Malgun Gothic"/>
              </a:rPr>
              <a:t>어떤 일을 맡기고 싶으신가요?</a:t>
            </a:r>
          </a:p>
        </p:txBody>
      </p:sp>
      <p:sp>
        <p:nvSpPr>
          <p:cNvPr id="8" name="?">
            <a:extLst xmlns:a="http://schemas.openxmlformats.org/drawingml/2006/main">
              <a:ext uri="{FF2B5EF4-FFF2-40B4-BE49-F238E27FC236}">
                <a16:creationId xmlns:a16="http://schemas.microsoft.com/office/drawing/2014/main" id="{0AF379B6-4823-4361-AE53-61969E44655B}"/>
              </a:ext>
            </a:extLst>
          </p:cNvPr>
          <p:cNvSpPr>
            <a:spLocks xmlns:a="http://schemas.openxmlformats.org/drawingml/2006/main" noGrp="1"/>
          </p:cNvSpPr>
          <p:nvPr/>
        </p:nvSpPr>
        <p:spPr>
          <a:xfrm xmlns:a="http://schemas.openxmlformats.org/drawingml/2006/main">
            <a:off x="10287000" y="2381250"/>
            <a:ext cx="12382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8400" b="1">
                <a:solidFill>
                  <a:srgbClr val="0B6172"/>
                </a:solidFill>
                <a:latin typeface="Malgun Gothic"/>
                <a:ea typeface="Malgun Gothic"/>
                <a:cs typeface="Malgun Gothic"/>
              </a:defRPr>
            </a:defPPr>
            <a:lvl1pPr algn="l">
              <a:defRPr sz="8400" b="1">
                <a:solidFill>
                  <a:srgbClr val="0B6172"/>
                </a:solidFill>
                <a:latin typeface="Malgun Gothic"/>
                <a:ea typeface="Malgun Gothic"/>
                <a:cs typeface="Malgun Gothic"/>
              </a:defRPr>
            </a:lvl1pPr>
            <a:lvl2pPr algn="l">
              <a:defRPr sz="8400" b="1">
                <a:solidFill>
                  <a:srgbClr val="0B6172"/>
                </a:solidFill>
                <a:latin typeface="Malgun Gothic"/>
                <a:ea typeface="Malgun Gothic"/>
                <a:cs typeface="Malgun Gothic"/>
              </a:defRPr>
            </a:lvl2pPr>
            <a:lvl3pPr algn="l">
              <a:defRPr sz="8400" b="1">
                <a:solidFill>
                  <a:srgbClr val="0B6172"/>
                </a:solidFill>
                <a:latin typeface="Malgun Gothic"/>
                <a:ea typeface="Malgun Gothic"/>
                <a:cs typeface="Malgun Gothic"/>
              </a:defRPr>
            </a:lvl3pPr>
            <a:lvl4pPr algn="l">
              <a:defRPr sz="8400" b="1">
                <a:solidFill>
                  <a:srgbClr val="0B6172"/>
                </a:solidFill>
                <a:latin typeface="Malgun Gothic"/>
                <a:ea typeface="Malgun Gothic"/>
                <a:cs typeface="Malgun Gothic"/>
              </a:defRPr>
            </a:lvl4pPr>
            <a:lvl5pPr algn="l">
              <a:defRPr sz="8400" b="1">
                <a:solidFill>
                  <a:srgbClr val="0B6172"/>
                </a:solidFill>
                <a:latin typeface="Malgun Gothic"/>
                <a:ea typeface="Malgun Gothic"/>
                <a:cs typeface="Malgun Gothic"/>
              </a:defRPr>
            </a:lvl5pPr>
            <a:lvl6pPr algn="l">
              <a:defRPr sz="8400" b="1">
                <a:solidFill>
                  <a:srgbClr val="0B6172"/>
                </a:solidFill>
                <a:latin typeface="Malgun Gothic"/>
                <a:ea typeface="Malgun Gothic"/>
                <a:cs typeface="Malgun Gothic"/>
              </a:defRPr>
            </a:lvl6pPr>
            <a:lvl7pPr algn="l">
              <a:defRPr sz="8400" b="1">
                <a:solidFill>
                  <a:srgbClr val="0B6172"/>
                </a:solidFill>
                <a:latin typeface="Malgun Gothic"/>
                <a:ea typeface="Malgun Gothic"/>
                <a:cs typeface="Malgun Gothic"/>
              </a:defRPr>
            </a:lvl7pPr>
            <a:lvl8pPr algn="l">
              <a:defRPr sz="8400" b="1">
                <a:solidFill>
                  <a:srgbClr val="0B6172"/>
                </a:solidFill>
                <a:latin typeface="Malgun Gothic"/>
                <a:ea typeface="Malgun Gothic"/>
                <a:cs typeface="Malgun Gothic"/>
              </a:defRPr>
            </a:lvl8pPr>
            <a:lvl9pPr algn="l">
              <a:defRPr sz="8400" b="1">
                <a:solidFill>
                  <a:srgbClr val="0B6172"/>
                </a:solidFill>
                <a:latin typeface="Malgun Gothic"/>
                <a:ea typeface="Malgun Gothic"/>
                <a:cs typeface="Malgun Gothic"/>
              </a:defRPr>
            </a:lvl9pPr>
          </a:lstStyle>
          <a:p xmlns:a="http://schemas.openxmlformats.org/drawingml/2006/main">
            <a:pPr algn="l">
              <a:defRPr sz="8400" b="1">
                <a:solidFill>
                  <a:srgbClr val="0B6172"/>
                </a:solidFill>
                <a:latin typeface="Malgun Gothic"/>
                <a:ea typeface="Malgun Gothic"/>
                <a:cs typeface="Malgun Gothic"/>
              </a:defRPr>
            </a:pPr>
            <a:r>
              <a:rPr sz="8400" b="1">
                <a:solidFill>
                  <a:srgbClr val="0B6172"/>
                </a:solidFill>
                <a:latin typeface="Malgun Gothic"/>
                <a:ea typeface="Malgun Gothic"/>
                <a:cs typeface="Malgun Gothic"/>
              </a:rPr>
              <a:t>?</a:t>
            </a:r>
          </a:p>
        </p:txBody>
      </p:sp>
      <p:sp>
        <p:nvSpPr>
          <p:cNvPr id="9" name="">
            <a:extLst xmlns:a="http://schemas.openxmlformats.org/drawingml/2006/main">
              <a:ext uri="{FF2B5EF4-FFF2-40B4-BE49-F238E27FC236}">
                <a16:creationId xmlns:a16="http://schemas.microsoft.com/office/drawing/2014/main" id="{BEA0EC56-6E17-48DE-ADDC-2A25E1D8DE4F}"/>
              </a:ext>
            </a:extLst>
          </p:cNvPr>
          <p:cNvSpPr>
            <a:spLocks xmlns:a="http://schemas.openxmlformats.org/drawingml/2006/main" noGrp="1"/>
          </p:cNvSpPr>
          <p:nvPr/>
        </p:nvSpPr>
        <p:spPr>
          <a:xfrm xmlns:a="http://schemas.openxmlformats.org/drawingml/2006/main">
            <a:off x="609600" y="42386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그 원하는 결과까지&#10;코드에 적혀 있을까요?">
            <a:extLst xmlns:a="http://schemas.openxmlformats.org/drawingml/2006/main">
              <a:ext uri="{FF2B5EF4-FFF2-40B4-BE49-F238E27FC236}">
                <a16:creationId xmlns:a16="http://schemas.microsoft.com/office/drawing/2014/main" id="{6B9EB91F-4621-4DA1-8F94-E2C0A6692C1B}"/>
              </a:ext>
            </a:extLst>
          </p:cNvPr>
          <p:cNvSpPr>
            <a:spLocks xmlns:a="http://schemas.openxmlformats.org/drawingml/2006/main" noGrp="1"/>
          </p:cNvSpPr>
          <p:nvPr/>
        </p:nvSpPr>
        <p:spPr>
          <a:xfrm xmlns:a="http://schemas.openxmlformats.org/drawingml/2006/main">
            <a:off x="609600" y="4600575"/>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그 원하는 결과까지</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코드에 적혀 있을까요?</a:t>
            </a:r>
          </a:p>
        </p:txBody>
      </p:sp>
    </p:spTree>
    <p:extLst>
      <p:ext uri="{BB962C8B-B14F-4D97-AF65-F5344CB8AC3E}">
        <p14:creationId xmlns:p14="http://schemas.microsoft.com/office/powerpoint/2010/main" val="948763792"/>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1 · 모호한 작업 요청">
            <a:extLst xmlns:a="http://schemas.openxmlformats.org/drawingml/2006/main">
              <a:ext uri="{FF2B5EF4-FFF2-40B4-BE49-F238E27FC236}">
                <a16:creationId xmlns:a16="http://schemas.microsoft.com/office/drawing/2014/main" id="{FF7B2374-844D-40A5-B47E-451D621D698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모호한 작업 요청</a:t>
            </a:r>
          </a:p>
        </p:txBody>
      </p:sp>
      <p:sp>
        <p:nvSpPr>
          <p:cNvPr id="2" name="S10">
            <a:extLst xmlns:a="http://schemas.openxmlformats.org/drawingml/2006/main">
              <a:ext uri="{FF2B5EF4-FFF2-40B4-BE49-F238E27FC236}">
                <a16:creationId xmlns:a16="http://schemas.microsoft.com/office/drawing/2014/main" id="{16623FCC-CFE3-4FF3-B8BE-714CA44F08D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Task에는 무엇이 아직 정해지지 않았을까?">
            <a:extLst xmlns:a="http://schemas.openxmlformats.org/drawingml/2006/main">
              <a:ext uri="{FF2B5EF4-FFF2-40B4-BE49-F238E27FC236}">
                <a16:creationId xmlns:a16="http://schemas.microsoft.com/office/drawing/2014/main" id="{3AB8669D-A242-42F1-908C-EDEB22F4271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08910051-6525-4866-917E-B492314D53CD}"/>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실제 Agent 실패나 Trial 결과가 아님">
            <a:extLst xmlns:a="http://schemas.openxmlformats.org/drawingml/2006/main">
              <a:ext uri="{FF2B5EF4-FFF2-40B4-BE49-F238E27FC236}">
                <a16:creationId xmlns:a16="http://schemas.microsoft.com/office/drawing/2014/main" id="{5726B594-0E21-4087-AC7A-1569C7BD0C6C}"/>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실제 Agent 실패나 Trial 결과가 아님</a:t>
            </a:r>
          </a:p>
        </p:txBody>
      </p:sp>
      <p:sp>
        <p:nvSpPr>
          <p:cNvPr id="6" name="Repository는 열려 있어도 작업의 목표·보존 조건·완료 기준이 자동으로 정해지지는 않습니다.">
            <a:extLst xmlns:a="http://schemas.openxmlformats.org/drawingml/2006/main">
              <a:ext uri="{FF2B5EF4-FFF2-40B4-BE49-F238E27FC236}">
                <a16:creationId xmlns:a16="http://schemas.microsoft.com/office/drawing/2014/main" id="{7428F3F8-074D-4951-974A-67DF296C31CF}"/>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Repository는 열려 있어도 작업의 목표·보존 조건·완료 기준이 자동으로 정해지지는 않습니다.</a:t>
            </a:r>
          </a:p>
        </p:txBody>
      </p:sp>
      <p:sp>
        <p:nvSpPr>
          <p:cNvPr id="7" name="같은 Repository를 보고 있습니다.">
            <a:extLst xmlns:a="http://schemas.openxmlformats.org/drawingml/2006/main">
              <a:ext uri="{FF2B5EF4-FFF2-40B4-BE49-F238E27FC236}">
                <a16:creationId xmlns:a16="http://schemas.microsoft.com/office/drawing/2014/main" id="{A538ACC7-9E47-450D-9091-C7D4AEEBB945}"/>
              </a:ext>
            </a:extLst>
          </p:cNvPr>
          <p:cNvSpPr>
            <a:spLocks xmlns:a="http://schemas.openxmlformats.org/drawingml/2006/main" noGrp="1"/>
          </p:cNvSpPr>
          <p:nvPr/>
        </p:nvSpPr>
        <p:spPr>
          <a:xfrm xmlns:a="http://schemas.openxmlformats.org/drawingml/2006/main">
            <a:off x="609600" y="2219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C3DA85A8-59E7-4D41-A36D-C029909CB536}"/>
              </a:ext>
            </a:extLst>
          </p:cNvPr>
          <p:cNvSpPr>
            <a:spLocks xmlns:a="http://schemas.openxmlformats.org/drawingml/2006/main" noGrp="1"/>
          </p:cNvSpPr>
          <p:nvPr/>
        </p:nvSpPr>
        <p:spPr>
          <a:xfrm xmlns:a="http://schemas.openxmlformats.org/drawingml/2006/main">
            <a:off x="609600" y="2952750"/>
            <a:ext cx="5391150" cy="1771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filter 성능 개선해줘.”">
            <a:extLst xmlns:a="http://schemas.openxmlformats.org/drawingml/2006/main">
              <a:ext uri="{FF2B5EF4-FFF2-40B4-BE49-F238E27FC236}">
                <a16:creationId xmlns:a16="http://schemas.microsoft.com/office/drawing/2014/main" id="{21417350-5BD4-4B28-B86D-5D0A329EC8D3}"/>
              </a:ext>
            </a:extLst>
          </p:cNvPr>
          <p:cNvSpPr>
            <a:spLocks xmlns:a="http://schemas.openxmlformats.org/drawingml/2006/main" noGrp="1"/>
          </p:cNvSpPr>
          <p:nvPr/>
        </p:nvSpPr>
        <p:spPr>
          <a:xfrm xmlns:a="http://schemas.openxmlformats.org/drawingml/2006/main">
            <a:off x="838200" y="3238500"/>
            <a:ext cx="493395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“filter 성능 개선해줘.”</a:t>
            </a:r>
          </a:p>
        </p:txBody>
      </p:sp>
      <p:sp>
        <p:nvSpPr>
          <p:cNvPr id="10" name="무엇을 바꿀까?">
            <a:extLst xmlns:a="http://schemas.openxmlformats.org/drawingml/2006/main">
              <a:ext uri="{FF2B5EF4-FFF2-40B4-BE49-F238E27FC236}">
                <a16:creationId xmlns:a16="http://schemas.microsoft.com/office/drawing/2014/main" id="{A16F68A1-4207-4309-9E57-62639C110250}"/>
              </a:ext>
            </a:extLst>
          </p:cNvPr>
          <p:cNvSpPr>
            <a:spLocks xmlns:a="http://schemas.openxmlformats.org/drawingml/2006/main" noGrp="1"/>
          </p:cNvSpPr>
          <p:nvPr/>
        </p:nvSpPr>
        <p:spPr>
          <a:xfrm xmlns:a="http://schemas.openxmlformats.org/drawingml/2006/main">
            <a:off x="6705600" y="2847975"/>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무엇을 바꿀까?</a:t>
            </a:r>
          </a:p>
        </p:txBody>
      </p:sp>
      <p:sp>
        <p:nvSpPr>
          <p:cNvPr id="11" name="">
            <a:extLst xmlns:a="http://schemas.openxmlformats.org/drawingml/2006/main">
              <a:ext uri="{FF2B5EF4-FFF2-40B4-BE49-F238E27FC236}">
                <a16:creationId xmlns:a16="http://schemas.microsoft.com/office/drawing/2014/main" id="{F38F7237-B03B-4F61-955F-CADD9DB38061}"/>
              </a:ext>
            </a:extLst>
          </p:cNvPr>
          <p:cNvSpPr>
            <a:spLocks xmlns:a="http://schemas.openxmlformats.org/drawingml/2006/main" noGrp="1"/>
          </p:cNvSpPr>
          <p:nvPr/>
        </p:nvSpPr>
        <p:spPr>
          <a:xfrm xmlns:a="http://schemas.openxmlformats.org/drawingml/2006/main">
            <a:off x="6705600" y="3467100"/>
            <a:ext cx="4876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무엇을 그대로 지킬까?">
            <a:extLst xmlns:a="http://schemas.openxmlformats.org/drawingml/2006/main">
              <a:ext uri="{FF2B5EF4-FFF2-40B4-BE49-F238E27FC236}">
                <a16:creationId xmlns:a16="http://schemas.microsoft.com/office/drawing/2014/main" id="{A542298B-7C45-4953-84C3-31A3D5EA0F63}"/>
              </a:ext>
            </a:extLst>
          </p:cNvPr>
          <p:cNvSpPr>
            <a:spLocks xmlns:a="http://schemas.openxmlformats.org/drawingml/2006/main" noGrp="1"/>
          </p:cNvSpPr>
          <p:nvPr/>
        </p:nvSpPr>
        <p:spPr>
          <a:xfrm xmlns:a="http://schemas.openxmlformats.org/drawingml/2006/main">
            <a:off x="6705600" y="3762375"/>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무엇을 그대로 지킬까?</a:t>
            </a:r>
          </a:p>
        </p:txBody>
      </p:sp>
      <p:sp>
        <p:nvSpPr>
          <p:cNvPr id="13" name="">
            <a:extLst xmlns:a="http://schemas.openxmlformats.org/drawingml/2006/main">
              <a:ext uri="{FF2B5EF4-FFF2-40B4-BE49-F238E27FC236}">
                <a16:creationId xmlns:a16="http://schemas.microsoft.com/office/drawing/2014/main" id="{4ACDA01E-43BC-474E-AB7C-C07EC0E29AF0}"/>
              </a:ext>
            </a:extLst>
          </p:cNvPr>
          <p:cNvSpPr>
            <a:spLocks xmlns:a="http://schemas.openxmlformats.org/drawingml/2006/main" noGrp="1"/>
          </p:cNvSpPr>
          <p:nvPr/>
        </p:nvSpPr>
        <p:spPr>
          <a:xfrm xmlns:a="http://schemas.openxmlformats.org/drawingml/2006/main">
            <a:off x="6705600" y="4381500"/>
            <a:ext cx="4876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을 보면 끝났다고 할까?">
            <a:extLst xmlns:a="http://schemas.openxmlformats.org/drawingml/2006/main">
              <a:ext uri="{FF2B5EF4-FFF2-40B4-BE49-F238E27FC236}">
                <a16:creationId xmlns:a16="http://schemas.microsoft.com/office/drawing/2014/main" id="{A00BEE34-1675-404E-BFC3-9B24EDCC2626}"/>
              </a:ext>
            </a:extLst>
          </p:cNvPr>
          <p:cNvSpPr>
            <a:spLocks xmlns:a="http://schemas.openxmlformats.org/drawingml/2006/main" noGrp="1"/>
          </p:cNvSpPr>
          <p:nvPr/>
        </p:nvSpPr>
        <p:spPr>
          <a:xfrm xmlns:a="http://schemas.openxmlformats.org/drawingml/2006/main">
            <a:off x="6705600" y="4676775"/>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무엇을 보면 끝났다고 할까?</a:t>
            </a:r>
          </a:p>
        </p:txBody>
      </p:sp>
      <p:sp>
        <p:nvSpPr>
          <p:cNvPr id="15" name="">
            <a:extLst xmlns:a="http://schemas.openxmlformats.org/drawingml/2006/main">
              <a:ext uri="{FF2B5EF4-FFF2-40B4-BE49-F238E27FC236}">
                <a16:creationId xmlns:a16="http://schemas.microsoft.com/office/drawing/2014/main" id="{6EF186BA-8A1F-4F06-A0DA-55FE178F47AE}"/>
              </a:ext>
            </a:extLst>
          </p:cNvPr>
          <p:cNvSpPr>
            <a:spLocks xmlns:a="http://schemas.openxmlformats.org/drawingml/2006/main" noGrp="1"/>
          </p:cNvSpPr>
          <p:nvPr/>
        </p:nvSpPr>
        <p:spPr>
          <a:xfrm xmlns:a="http://schemas.openxmlformats.org/drawingml/2006/main">
            <a:off x="6705600" y="5295900"/>
            <a:ext cx="4876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Tree>
    <p:extLst>
      <p:ext uri="{BB962C8B-B14F-4D97-AF65-F5344CB8AC3E}">
        <p14:creationId xmlns:p14="http://schemas.microsoft.com/office/powerpoint/2010/main" val="1019600292"/>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1 · 요청에 남아 있는 결정">
            <a:extLst xmlns:a="http://schemas.openxmlformats.org/drawingml/2006/main">
              <a:ext uri="{FF2B5EF4-FFF2-40B4-BE49-F238E27FC236}">
                <a16:creationId xmlns:a16="http://schemas.microsoft.com/office/drawing/2014/main" id="{6E11CF1F-5062-45D9-8A14-F2614979F9C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남아 있는 결정</a:t>
            </a:r>
          </a:p>
        </p:txBody>
      </p:sp>
      <p:sp>
        <p:nvSpPr>
          <p:cNvPr id="2" name="S11">
            <a:extLst xmlns:a="http://schemas.openxmlformats.org/drawingml/2006/main">
              <a:ext uri="{FF2B5EF4-FFF2-40B4-BE49-F238E27FC236}">
                <a16:creationId xmlns:a16="http://schemas.microsoft.com/office/drawing/2014/main" id="{6EEE5F3D-B0BA-49DC-8CC0-A7C4F0D14BF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요청만으로는 의도가 보이지 않는다">
            <a:extLst xmlns:a="http://schemas.openxmlformats.org/drawingml/2006/main">
              <a:ext uri="{FF2B5EF4-FFF2-40B4-BE49-F238E27FC236}">
                <a16:creationId xmlns:a16="http://schemas.microsoft.com/office/drawing/2014/main" id="{90EE25D2-E284-4CC0-9998-03B4F7A602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FEFD35E0-7E0E-4CBA-9365-1F7D604F1E5F}"/>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TRIAL-002의 실제 Prompt가 아님">
            <a:extLst xmlns:a="http://schemas.openxmlformats.org/drawingml/2006/main">
              <a:ext uri="{FF2B5EF4-FFF2-40B4-BE49-F238E27FC236}">
                <a16:creationId xmlns:a16="http://schemas.microsoft.com/office/drawing/2014/main" id="{0978D814-557A-43C8-9FC0-E062C98715C2}"/>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TRIAL-002의 실제 Prompt가 아님</a:t>
            </a:r>
          </a:p>
        </p:txBody>
      </p:sp>
      <p:sp>
        <p:nvSpPr>
          <p:cNvPr id="6" name="짧은 요청을 비난하거나 이 요청이 특정 실패를 만들었다고 주장하지 않습니다.">
            <a:extLst xmlns:a="http://schemas.openxmlformats.org/drawingml/2006/main">
              <a:ext uri="{FF2B5EF4-FFF2-40B4-BE49-F238E27FC236}">
                <a16:creationId xmlns:a16="http://schemas.microsoft.com/office/drawing/2014/main" id="{7396A4C8-F799-4A25-A08B-289DD7249689}"/>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요청을 비난하거나 이 요청이 특정 실패를 만들었다고 주장하지 않습니다.</a:t>
            </a:r>
          </a:p>
        </p:txBody>
      </p:sp>
      <p:sp>
        <p:nvSpPr>
          <p:cNvPr id="7" name="“crop test 고쳐줘”">
            <a:extLst xmlns:a="http://schemas.openxmlformats.org/drawingml/2006/main">
              <a:ext uri="{FF2B5EF4-FFF2-40B4-BE49-F238E27FC236}">
                <a16:creationId xmlns:a16="http://schemas.microsoft.com/office/drawing/2014/main" id="{FDFA2428-B9CD-4E1D-ABD2-C5D9930A96AE}"/>
              </a:ext>
            </a:extLst>
          </p:cNvPr>
          <p:cNvSpPr>
            <a:spLocks xmlns:a="http://schemas.openxmlformats.org/drawingml/2006/main" noGrp="1"/>
          </p:cNvSpPr>
          <p:nvPr/>
        </p:nvSpPr>
        <p:spPr>
          <a:xfrm xmlns:a="http://schemas.openxmlformats.org/drawingml/2006/main">
            <a:off x="609600" y="2171700"/>
            <a:ext cx="1097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212B"/>
                </a:solidFill>
                <a:latin typeface="Malgun Gothic"/>
                <a:ea typeface="Malgun Gothic"/>
                <a:cs typeface="Malgun Gothic"/>
              </a:defRPr>
            </a:defPPr>
            <a:lvl1pPr algn="l">
              <a:defRPr sz="3750" b="1">
                <a:solidFill>
                  <a:srgbClr val="17212B"/>
                </a:solidFill>
                <a:latin typeface="Malgun Gothic"/>
                <a:ea typeface="Malgun Gothic"/>
                <a:cs typeface="Malgun Gothic"/>
              </a:defRPr>
            </a:lvl1pPr>
            <a:lvl2pPr algn="l">
              <a:defRPr sz="3750" b="1">
                <a:solidFill>
                  <a:srgbClr val="17212B"/>
                </a:solidFill>
                <a:latin typeface="Malgun Gothic"/>
                <a:ea typeface="Malgun Gothic"/>
                <a:cs typeface="Malgun Gothic"/>
              </a:defRPr>
            </a:lvl2pPr>
            <a:lvl3pPr algn="l">
              <a:defRPr sz="3750" b="1">
                <a:solidFill>
                  <a:srgbClr val="17212B"/>
                </a:solidFill>
                <a:latin typeface="Malgun Gothic"/>
                <a:ea typeface="Malgun Gothic"/>
                <a:cs typeface="Malgun Gothic"/>
              </a:defRPr>
            </a:lvl3pPr>
            <a:lvl4pPr algn="l">
              <a:defRPr sz="3750" b="1">
                <a:solidFill>
                  <a:srgbClr val="17212B"/>
                </a:solidFill>
                <a:latin typeface="Malgun Gothic"/>
                <a:ea typeface="Malgun Gothic"/>
                <a:cs typeface="Malgun Gothic"/>
              </a:defRPr>
            </a:lvl4pPr>
            <a:lvl5pPr algn="l">
              <a:defRPr sz="3750" b="1">
                <a:solidFill>
                  <a:srgbClr val="17212B"/>
                </a:solidFill>
                <a:latin typeface="Malgun Gothic"/>
                <a:ea typeface="Malgun Gothic"/>
                <a:cs typeface="Malgun Gothic"/>
              </a:defRPr>
            </a:lvl5pPr>
            <a:lvl6pPr algn="l">
              <a:defRPr sz="3750" b="1">
                <a:solidFill>
                  <a:srgbClr val="17212B"/>
                </a:solidFill>
                <a:latin typeface="Malgun Gothic"/>
                <a:ea typeface="Malgun Gothic"/>
                <a:cs typeface="Malgun Gothic"/>
              </a:defRPr>
            </a:lvl6pPr>
            <a:lvl7pPr algn="l">
              <a:defRPr sz="3750" b="1">
                <a:solidFill>
                  <a:srgbClr val="17212B"/>
                </a:solidFill>
                <a:latin typeface="Malgun Gothic"/>
                <a:ea typeface="Malgun Gothic"/>
                <a:cs typeface="Malgun Gothic"/>
              </a:defRPr>
            </a:lvl7pPr>
            <a:lvl8pPr algn="l">
              <a:defRPr sz="3750" b="1">
                <a:solidFill>
                  <a:srgbClr val="17212B"/>
                </a:solidFill>
                <a:latin typeface="Malgun Gothic"/>
                <a:ea typeface="Malgun Gothic"/>
                <a:cs typeface="Malgun Gothic"/>
              </a:defRPr>
            </a:lvl8pPr>
            <a:lvl9pPr algn="l">
              <a:defRPr sz="3750" b="1">
                <a:solidFill>
                  <a:srgbClr val="17212B"/>
                </a:solidFill>
                <a:latin typeface="Malgun Gothic"/>
                <a:ea typeface="Malgun Gothic"/>
                <a:cs typeface="Malgun Gothic"/>
              </a:defRPr>
            </a:lvl9pPr>
          </a:lstStyle>
          <a:p xmlns:a="http://schemas.openxmlformats.org/drawingml/2006/main">
            <a:pPr algn="l">
              <a:defRPr sz="3750" b="1">
                <a:solidFill>
                  <a:srgbClr val="17212B"/>
                </a:solidFill>
                <a:latin typeface="Malgun Gothic"/>
                <a:ea typeface="Malgun Gothic"/>
                <a:cs typeface="Malgun Gothic"/>
              </a:defRPr>
            </a:pPr>
            <a:r>
              <a:rPr sz="3750" b="1">
                <a:solidFill>
                  <a:srgbClr val="17212B"/>
                </a:solidFill>
                <a:latin typeface="Malgun Gothic"/>
                <a:ea typeface="Malgun Gothic"/>
                <a:cs typeface="Malgun Gothic"/>
              </a:rPr>
              <a:t>“crop test 고쳐줘”</a:t>
            </a:r>
          </a:p>
        </p:txBody>
      </p:sp>
      <p:sp>
        <p:nvSpPr>
          <p:cNvPr id="8" name="테스트를 바꿀까?">
            <a:extLst xmlns:a="http://schemas.openxmlformats.org/drawingml/2006/main">
              <a:ext uri="{FF2B5EF4-FFF2-40B4-BE49-F238E27FC236}">
                <a16:creationId xmlns:a16="http://schemas.microsoft.com/office/drawing/2014/main" id="{D9B1682B-6D05-44AE-A131-8D4A6BF60413}"/>
              </a:ext>
            </a:extLst>
          </p:cNvPr>
          <p:cNvSpPr>
            <a:spLocks xmlns:a="http://schemas.openxmlformats.org/drawingml/2006/main" noGrp="1"/>
          </p:cNvSpPr>
          <p:nvPr/>
        </p:nvSpPr>
        <p:spPr>
          <a:xfrm xmlns:a="http://schemas.openxmlformats.org/drawingml/2006/main">
            <a:off x="609600" y="3276600"/>
            <a:ext cx="52006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테스트를 바꿀까?</a:t>
            </a:r>
          </a:p>
        </p:txBody>
      </p:sp>
      <p:sp>
        <p:nvSpPr>
          <p:cNvPr id="9" name="구현을 바꿀까?">
            <a:extLst xmlns:a="http://schemas.openxmlformats.org/drawingml/2006/main">
              <a:ext uri="{FF2B5EF4-FFF2-40B4-BE49-F238E27FC236}">
                <a16:creationId xmlns:a16="http://schemas.microsoft.com/office/drawing/2014/main" id="{646833E8-5078-45D6-9EDC-E01952E7BE58}"/>
              </a:ext>
            </a:extLst>
          </p:cNvPr>
          <p:cNvSpPr>
            <a:spLocks xmlns:a="http://schemas.openxmlformats.org/drawingml/2006/main" noGrp="1"/>
          </p:cNvSpPr>
          <p:nvPr/>
        </p:nvSpPr>
        <p:spPr>
          <a:xfrm xmlns:a="http://schemas.openxmlformats.org/drawingml/2006/main">
            <a:off x="6705600" y="3276600"/>
            <a:ext cx="4876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구현을 바꿀까?</a:t>
            </a:r>
          </a:p>
        </p:txBody>
      </p:sp>
      <p:sp>
        <p:nvSpPr>
          <p:cNvPr id="10" name="">
            <a:extLst xmlns:a="http://schemas.openxmlformats.org/drawingml/2006/main">
              <a:ext uri="{FF2B5EF4-FFF2-40B4-BE49-F238E27FC236}">
                <a16:creationId xmlns:a16="http://schemas.microsoft.com/office/drawing/2014/main" id="{96474EDE-4036-4FBD-A3EF-C0E94E770EAF}"/>
              </a:ext>
            </a:extLst>
          </p:cNvPr>
          <p:cNvSpPr>
            <a:spLocks xmlns:a="http://schemas.openxmlformats.org/drawingml/2006/main" noGrp="1"/>
          </p:cNvSpPr>
          <p:nvPr/>
        </p:nvSpPr>
        <p:spPr>
          <a:xfrm xmlns:a="http://schemas.openxmlformats.org/drawingml/2006/main">
            <a:off x="609600" y="4229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아직 정해지지 않은 정보">
            <a:extLst xmlns:a="http://schemas.openxmlformats.org/drawingml/2006/main">
              <a:ext uri="{FF2B5EF4-FFF2-40B4-BE49-F238E27FC236}">
                <a16:creationId xmlns:a16="http://schemas.microsoft.com/office/drawing/2014/main" id="{002712CE-D807-4FA0-B389-1B5801848DB9}"/>
              </a:ext>
            </a:extLst>
          </p:cNvPr>
          <p:cNvSpPr>
            <a:spLocks xmlns:a="http://schemas.openxmlformats.org/drawingml/2006/main" noGrp="1"/>
          </p:cNvSpPr>
          <p:nvPr/>
        </p:nvSpPr>
        <p:spPr>
          <a:xfrm xmlns:a="http://schemas.openxmlformats.org/drawingml/2006/main">
            <a:off x="609600" y="45529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아직 정해지지 않은 정보</a:t>
            </a:r>
          </a:p>
        </p:txBody>
      </p:sp>
      <p:sp>
        <p:nvSpPr>
          <p:cNvPr id="12" name="목표의 세부 ?">
            <a:extLst xmlns:a="http://schemas.openxmlformats.org/drawingml/2006/main">
              <a:ext uri="{FF2B5EF4-FFF2-40B4-BE49-F238E27FC236}">
                <a16:creationId xmlns:a16="http://schemas.microsoft.com/office/drawing/2014/main" id="{EA685DBC-C925-42A2-9930-042FF16C5C79}"/>
              </a:ext>
            </a:extLst>
          </p:cNvPr>
          <p:cNvSpPr>
            <a:spLocks xmlns:a="http://schemas.openxmlformats.org/drawingml/2006/main" noGrp="1"/>
          </p:cNvSpPr>
          <p:nvPr/>
        </p:nvSpPr>
        <p:spPr>
          <a:xfrm xmlns:a="http://schemas.openxmlformats.org/drawingml/2006/main">
            <a:off x="609600" y="5133975"/>
            <a:ext cx="20383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목표의 세부 ?</a:t>
            </a:r>
          </a:p>
        </p:txBody>
      </p:sp>
      <p:sp>
        <p:nvSpPr>
          <p:cNvPr id="13" name="보존 조건 ?">
            <a:extLst xmlns:a="http://schemas.openxmlformats.org/drawingml/2006/main">
              <a:ext uri="{FF2B5EF4-FFF2-40B4-BE49-F238E27FC236}">
                <a16:creationId xmlns:a16="http://schemas.microsoft.com/office/drawing/2014/main" id="{C96679BB-C0C6-43A8-9700-66F2EEC3D330}"/>
              </a:ext>
            </a:extLst>
          </p:cNvPr>
          <p:cNvSpPr>
            <a:spLocks xmlns:a="http://schemas.openxmlformats.org/drawingml/2006/main" noGrp="1"/>
          </p:cNvSpPr>
          <p:nvPr/>
        </p:nvSpPr>
        <p:spPr>
          <a:xfrm xmlns:a="http://schemas.openxmlformats.org/drawingml/2006/main">
            <a:off x="2838450" y="5133975"/>
            <a:ext cx="20383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보존 조건 ?</a:t>
            </a:r>
          </a:p>
        </p:txBody>
      </p:sp>
      <p:sp>
        <p:nvSpPr>
          <p:cNvPr id="14" name="수정 범위 ?">
            <a:extLst xmlns:a="http://schemas.openxmlformats.org/drawingml/2006/main">
              <a:ext uri="{FF2B5EF4-FFF2-40B4-BE49-F238E27FC236}">
                <a16:creationId xmlns:a16="http://schemas.microsoft.com/office/drawing/2014/main" id="{2ACDFD8B-B9FD-410D-A87A-3A1E9F3229AF}"/>
              </a:ext>
            </a:extLst>
          </p:cNvPr>
          <p:cNvSpPr>
            <a:spLocks xmlns:a="http://schemas.openxmlformats.org/drawingml/2006/main" noGrp="1"/>
          </p:cNvSpPr>
          <p:nvPr/>
        </p:nvSpPr>
        <p:spPr>
          <a:xfrm xmlns:a="http://schemas.openxmlformats.org/drawingml/2006/main">
            <a:off x="5067300" y="5133975"/>
            <a:ext cx="20383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수정 범위 ?</a:t>
            </a:r>
          </a:p>
        </p:txBody>
      </p:sp>
      <p:sp>
        <p:nvSpPr>
          <p:cNvPr id="15" name="확인 근거 ?">
            <a:extLst xmlns:a="http://schemas.openxmlformats.org/drawingml/2006/main">
              <a:ext uri="{FF2B5EF4-FFF2-40B4-BE49-F238E27FC236}">
                <a16:creationId xmlns:a16="http://schemas.microsoft.com/office/drawing/2014/main" id="{8821D573-476F-416E-99AA-3C32B0E8A3B1}"/>
              </a:ext>
            </a:extLst>
          </p:cNvPr>
          <p:cNvSpPr>
            <a:spLocks xmlns:a="http://schemas.openxmlformats.org/drawingml/2006/main" noGrp="1"/>
          </p:cNvSpPr>
          <p:nvPr/>
        </p:nvSpPr>
        <p:spPr>
          <a:xfrm xmlns:a="http://schemas.openxmlformats.org/drawingml/2006/main">
            <a:off x="7296150" y="5133975"/>
            <a:ext cx="20383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확인 근거 ?</a:t>
            </a:r>
          </a:p>
        </p:txBody>
      </p:sp>
      <p:sp>
        <p:nvSpPr>
          <p:cNvPr id="16" name="완료 조건 ?">
            <a:extLst xmlns:a="http://schemas.openxmlformats.org/drawingml/2006/main">
              <a:ext uri="{FF2B5EF4-FFF2-40B4-BE49-F238E27FC236}">
                <a16:creationId xmlns:a16="http://schemas.microsoft.com/office/drawing/2014/main" id="{F1877878-4A13-43C2-B2BB-FBEFBEDC48F5}"/>
              </a:ext>
            </a:extLst>
          </p:cNvPr>
          <p:cNvSpPr>
            <a:spLocks xmlns:a="http://schemas.openxmlformats.org/drawingml/2006/main" noGrp="1"/>
          </p:cNvSpPr>
          <p:nvPr/>
        </p:nvSpPr>
        <p:spPr>
          <a:xfrm xmlns:a="http://schemas.openxmlformats.org/drawingml/2006/main">
            <a:off x="9525000" y="5133975"/>
            <a:ext cx="20383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완료 조건 ?</a:t>
            </a:r>
          </a:p>
        </p:txBody>
      </p:sp>
    </p:spTree>
    <p:extLst>
      <p:ext uri="{BB962C8B-B14F-4D97-AF65-F5344CB8AC3E}">
        <p14:creationId xmlns:p14="http://schemas.microsoft.com/office/powerpoint/2010/main" val="634019650"/>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1 · 요청을 보내기 전의 질문">
            <a:extLst xmlns:a="http://schemas.openxmlformats.org/drawingml/2006/main">
              <a:ext uri="{FF2B5EF4-FFF2-40B4-BE49-F238E27FC236}">
                <a16:creationId xmlns:a16="http://schemas.microsoft.com/office/drawing/2014/main" id="{A0BBB2FC-9991-487F-A100-1A3B0D163D7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2">
            <a:extLst xmlns:a="http://schemas.openxmlformats.org/drawingml/2006/main">
              <a:ext uri="{FF2B5EF4-FFF2-40B4-BE49-F238E27FC236}">
                <a16:creationId xmlns:a16="http://schemas.microsoft.com/office/drawing/2014/main" id="{FC2500A2-3BEE-4309-9350-730843B20E5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개발자가 정해야 하는 경계">
            <a:extLst xmlns:a="http://schemas.openxmlformats.org/drawingml/2006/main">
              <a:ext uri="{FF2B5EF4-FFF2-40B4-BE49-F238E27FC236}">
                <a16:creationId xmlns:a16="http://schemas.microsoft.com/office/drawing/2014/main" id="{0BC1D0A5-7113-49C0-9EA6-D69515D4AAE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5E2B4A00-DD32-4965-91CD-B391BBFF43E7}"/>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51E61651-D4C0-4093-ABA8-DBD1C72CF387}"/>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C918D044-6FD0-445A-9202-FF997A66CDF1}"/>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01">
            <a:extLst xmlns:a="http://schemas.openxmlformats.org/drawingml/2006/main">
              <a:ext uri="{FF2B5EF4-FFF2-40B4-BE49-F238E27FC236}">
                <a16:creationId xmlns:a16="http://schemas.microsoft.com/office/drawing/2014/main" id="{1420D37D-736A-4DDC-A729-D8142C402868}"/>
              </a:ext>
            </a:extLst>
          </p:cNvPr>
          <p:cNvSpPr>
            <a:spLocks xmlns:a="http://schemas.openxmlformats.org/drawingml/2006/main" noGrp="1"/>
          </p:cNvSpPr>
          <p:nvPr/>
        </p:nvSpPr>
        <p:spPr>
          <a:xfrm xmlns:a="http://schemas.openxmlformats.org/drawingml/2006/main">
            <a:off x="609600" y="2133600"/>
            <a:ext cx="762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a:t>
            </a:r>
          </a:p>
        </p:txBody>
      </p:sp>
      <p:sp>
        <p:nvSpPr>
          <p:cNvPr id="8" name="무엇을 바꿀까?">
            <a:extLst xmlns:a="http://schemas.openxmlformats.org/drawingml/2006/main">
              <a:ext uri="{FF2B5EF4-FFF2-40B4-BE49-F238E27FC236}">
                <a16:creationId xmlns:a16="http://schemas.microsoft.com/office/drawing/2014/main" id="{7136D35A-0F71-4E89-AAF2-7E2C44A5234A}"/>
              </a:ext>
            </a:extLst>
          </p:cNvPr>
          <p:cNvSpPr>
            <a:spLocks xmlns:a="http://schemas.openxmlformats.org/drawingml/2006/main" noGrp="1"/>
          </p:cNvSpPr>
          <p:nvPr/>
        </p:nvSpPr>
        <p:spPr>
          <a:xfrm xmlns:a="http://schemas.openxmlformats.org/drawingml/2006/main">
            <a:off x="1619250" y="2133600"/>
            <a:ext cx="9963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무엇을 바꿀까?</a:t>
            </a:r>
          </a:p>
        </p:txBody>
      </p:sp>
      <p:sp>
        <p:nvSpPr>
          <p:cNvPr id="9" name="">
            <a:extLst xmlns:a="http://schemas.openxmlformats.org/drawingml/2006/main">
              <a:ext uri="{FF2B5EF4-FFF2-40B4-BE49-F238E27FC236}">
                <a16:creationId xmlns:a16="http://schemas.microsoft.com/office/drawing/2014/main" id="{071D7BFF-8BA3-4DD2-B68F-6300FC78498B}"/>
              </a:ext>
            </a:extLst>
          </p:cNvPr>
          <p:cNvSpPr>
            <a:spLocks xmlns:a="http://schemas.openxmlformats.org/drawingml/2006/main" noGrp="1"/>
          </p:cNvSpPr>
          <p:nvPr/>
        </p:nvSpPr>
        <p:spPr>
          <a:xfrm xmlns:a="http://schemas.openxmlformats.org/drawingml/2006/main">
            <a:off x="1619250" y="2676525"/>
            <a:ext cx="9963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02">
            <a:extLst xmlns:a="http://schemas.openxmlformats.org/drawingml/2006/main">
              <a:ext uri="{FF2B5EF4-FFF2-40B4-BE49-F238E27FC236}">
                <a16:creationId xmlns:a16="http://schemas.microsoft.com/office/drawing/2014/main" id="{E928E0A8-DF93-4705-A7B8-837F3D09F5A1}"/>
              </a:ext>
            </a:extLst>
          </p:cNvPr>
          <p:cNvSpPr>
            <a:spLocks xmlns:a="http://schemas.openxmlformats.org/drawingml/2006/main" noGrp="1"/>
          </p:cNvSpPr>
          <p:nvPr/>
        </p:nvSpPr>
        <p:spPr>
          <a:xfrm xmlns:a="http://schemas.openxmlformats.org/drawingml/2006/main">
            <a:off x="609600" y="2809875"/>
            <a:ext cx="762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a:t>
            </a:r>
          </a:p>
        </p:txBody>
      </p:sp>
      <p:sp>
        <p:nvSpPr>
          <p:cNvPr id="11" name="무엇을 유지할까?">
            <a:extLst xmlns:a="http://schemas.openxmlformats.org/drawingml/2006/main">
              <a:ext uri="{FF2B5EF4-FFF2-40B4-BE49-F238E27FC236}">
                <a16:creationId xmlns:a16="http://schemas.microsoft.com/office/drawing/2014/main" id="{E402EC8C-E5D9-4F33-AD44-9FC3A71693DD}"/>
              </a:ext>
            </a:extLst>
          </p:cNvPr>
          <p:cNvSpPr>
            <a:spLocks xmlns:a="http://schemas.openxmlformats.org/drawingml/2006/main" noGrp="1"/>
          </p:cNvSpPr>
          <p:nvPr/>
        </p:nvSpPr>
        <p:spPr>
          <a:xfrm xmlns:a="http://schemas.openxmlformats.org/drawingml/2006/main">
            <a:off x="1619250" y="2809875"/>
            <a:ext cx="9963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무엇을 유지할까?</a:t>
            </a:r>
          </a:p>
        </p:txBody>
      </p:sp>
      <p:sp>
        <p:nvSpPr>
          <p:cNvPr id="12" name="">
            <a:extLst xmlns:a="http://schemas.openxmlformats.org/drawingml/2006/main">
              <a:ext uri="{FF2B5EF4-FFF2-40B4-BE49-F238E27FC236}">
                <a16:creationId xmlns:a16="http://schemas.microsoft.com/office/drawing/2014/main" id="{B1E6EC0C-0097-4EF5-922A-28A0850F4A7B}"/>
              </a:ext>
            </a:extLst>
          </p:cNvPr>
          <p:cNvSpPr>
            <a:spLocks xmlns:a="http://schemas.openxmlformats.org/drawingml/2006/main" noGrp="1"/>
          </p:cNvSpPr>
          <p:nvPr/>
        </p:nvSpPr>
        <p:spPr>
          <a:xfrm xmlns:a="http://schemas.openxmlformats.org/drawingml/2006/main">
            <a:off x="1619250" y="3352800"/>
            <a:ext cx="9963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03">
            <a:extLst xmlns:a="http://schemas.openxmlformats.org/drawingml/2006/main">
              <a:ext uri="{FF2B5EF4-FFF2-40B4-BE49-F238E27FC236}">
                <a16:creationId xmlns:a16="http://schemas.microsoft.com/office/drawing/2014/main" id="{F3834D94-41D4-4AC9-9430-6868BF7E4628}"/>
              </a:ext>
            </a:extLst>
          </p:cNvPr>
          <p:cNvSpPr>
            <a:spLocks xmlns:a="http://schemas.openxmlformats.org/drawingml/2006/main" noGrp="1"/>
          </p:cNvSpPr>
          <p:nvPr/>
        </p:nvSpPr>
        <p:spPr>
          <a:xfrm xmlns:a="http://schemas.openxmlformats.org/drawingml/2006/main">
            <a:off x="609600" y="3486150"/>
            <a:ext cx="762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03</a:t>
            </a:r>
          </a:p>
        </p:txBody>
      </p:sp>
      <p:sp>
        <p:nvSpPr>
          <p:cNvPr id="14" name="어디까지 바꿔도 될까?">
            <a:extLst xmlns:a="http://schemas.openxmlformats.org/drawingml/2006/main">
              <a:ext uri="{FF2B5EF4-FFF2-40B4-BE49-F238E27FC236}">
                <a16:creationId xmlns:a16="http://schemas.microsoft.com/office/drawing/2014/main" id="{169C87C0-D281-4839-85CA-2A2D1BC4B744}"/>
              </a:ext>
            </a:extLst>
          </p:cNvPr>
          <p:cNvSpPr>
            <a:spLocks xmlns:a="http://schemas.openxmlformats.org/drawingml/2006/main" noGrp="1"/>
          </p:cNvSpPr>
          <p:nvPr/>
        </p:nvSpPr>
        <p:spPr>
          <a:xfrm xmlns:a="http://schemas.openxmlformats.org/drawingml/2006/main">
            <a:off x="1619250" y="3486150"/>
            <a:ext cx="9963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어디까지 바꿔도 될까?</a:t>
            </a:r>
          </a:p>
        </p:txBody>
      </p:sp>
      <p:sp>
        <p:nvSpPr>
          <p:cNvPr id="15" name="">
            <a:extLst xmlns:a="http://schemas.openxmlformats.org/drawingml/2006/main">
              <a:ext uri="{FF2B5EF4-FFF2-40B4-BE49-F238E27FC236}">
                <a16:creationId xmlns:a16="http://schemas.microsoft.com/office/drawing/2014/main" id="{5CE49F4E-1396-476F-8B12-D47E55A0E800}"/>
              </a:ext>
            </a:extLst>
          </p:cNvPr>
          <p:cNvSpPr>
            <a:spLocks xmlns:a="http://schemas.openxmlformats.org/drawingml/2006/main" noGrp="1"/>
          </p:cNvSpPr>
          <p:nvPr/>
        </p:nvSpPr>
        <p:spPr>
          <a:xfrm xmlns:a="http://schemas.openxmlformats.org/drawingml/2006/main">
            <a:off x="1619250" y="4029075"/>
            <a:ext cx="9963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4">
            <a:extLst xmlns:a="http://schemas.openxmlformats.org/drawingml/2006/main">
              <a:ext uri="{FF2B5EF4-FFF2-40B4-BE49-F238E27FC236}">
                <a16:creationId xmlns:a16="http://schemas.microsoft.com/office/drawing/2014/main" id="{C579ABF5-B960-48B0-A187-4B45F11959E7}"/>
              </a:ext>
            </a:extLst>
          </p:cNvPr>
          <p:cNvSpPr>
            <a:spLocks xmlns:a="http://schemas.openxmlformats.org/drawingml/2006/main" noGrp="1"/>
          </p:cNvSpPr>
          <p:nvPr/>
        </p:nvSpPr>
        <p:spPr>
          <a:xfrm xmlns:a="http://schemas.openxmlformats.org/drawingml/2006/main">
            <a:off x="609600" y="4162425"/>
            <a:ext cx="762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04</a:t>
            </a:r>
          </a:p>
        </p:txBody>
      </p:sp>
      <p:sp>
        <p:nvSpPr>
          <p:cNvPr id="17" name="무슨 근거로 확인할까?">
            <a:extLst xmlns:a="http://schemas.openxmlformats.org/drawingml/2006/main">
              <a:ext uri="{FF2B5EF4-FFF2-40B4-BE49-F238E27FC236}">
                <a16:creationId xmlns:a16="http://schemas.microsoft.com/office/drawing/2014/main" id="{4B1F38ED-309D-429C-B8C8-076D93ED0F4C}"/>
              </a:ext>
            </a:extLst>
          </p:cNvPr>
          <p:cNvSpPr>
            <a:spLocks xmlns:a="http://schemas.openxmlformats.org/drawingml/2006/main" noGrp="1"/>
          </p:cNvSpPr>
          <p:nvPr/>
        </p:nvSpPr>
        <p:spPr>
          <a:xfrm xmlns:a="http://schemas.openxmlformats.org/drawingml/2006/main">
            <a:off x="1619250" y="4162425"/>
            <a:ext cx="9963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무슨 근거로 확인할까?</a:t>
            </a:r>
          </a:p>
        </p:txBody>
      </p:sp>
      <p:sp>
        <p:nvSpPr>
          <p:cNvPr id="18" name="">
            <a:extLst xmlns:a="http://schemas.openxmlformats.org/drawingml/2006/main">
              <a:ext uri="{FF2B5EF4-FFF2-40B4-BE49-F238E27FC236}">
                <a16:creationId xmlns:a16="http://schemas.microsoft.com/office/drawing/2014/main" id="{1B48732A-F8DB-424B-9D15-88C893238907}"/>
              </a:ext>
            </a:extLst>
          </p:cNvPr>
          <p:cNvSpPr>
            <a:spLocks xmlns:a="http://schemas.openxmlformats.org/drawingml/2006/main" noGrp="1"/>
          </p:cNvSpPr>
          <p:nvPr/>
        </p:nvSpPr>
        <p:spPr>
          <a:xfrm xmlns:a="http://schemas.openxmlformats.org/drawingml/2006/main">
            <a:off x="1619250" y="4705350"/>
            <a:ext cx="9963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05">
            <a:extLst xmlns:a="http://schemas.openxmlformats.org/drawingml/2006/main">
              <a:ext uri="{FF2B5EF4-FFF2-40B4-BE49-F238E27FC236}">
                <a16:creationId xmlns:a16="http://schemas.microsoft.com/office/drawing/2014/main" id="{EEF5EEB9-806F-4E95-9C77-AC7E7F09DA1F}"/>
              </a:ext>
            </a:extLst>
          </p:cNvPr>
          <p:cNvSpPr>
            <a:spLocks xmlns:a="http://schemas.openxmlformats.org/drawingml/2006/main" noGrp="1"/>
          </p:cNvSpPr>
          <p:nvPr/>
        </p:nvSpPr>
        <p:spPr>
          <a:xfrm xmlns:a="http://schemas.openxmlformats.org/drawingml/2006/main">
            <a:off x="609600" y="4838700"/>
            <a:ext cx="762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05</a:t>
            </a:r>
          </a:p>
        </p:txBody>
      </p:sp>
      <p:sp>
        <p:nvSpPr>
          <p:cNvPr id="20" name="언제 완료라고 할까?">
            <a:extLst xmlns:a="http://schemas.openxmlformats.org/drawingml/2006/main">
              <a:ext uri="{FF2B5EF4-FFF2-40B4-BE49-F238E27FC236}">
                <a16:creationId xmlns:a16="http://schemas.microsoft.com/office/drawing/2014/main" id="{49EC3EEA-253A-4566-AF60-2F943CBAA1EF}"/>
              </a:ext>
            </a:extLst>
          </p:cNvPr>
          <p:cNvSpPr>
            <a:spLocks xmlns:a="http://schemas.openxmlformats.org/drawingml/2006/main" noGrp="1"/>
          </p:cNvSpPr>
          <p:nvPr/>
        </p:nvSpPr>
        <p:spPr>
          <a:xfrm xmlns:a="http://schemas.openxmlformats.org/drawingml/2006/main">
            <a:off x="1619250" y="4838700"/>
            <a:ext cx="9963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언제 완료라고 할까?</a:t>
            </a:r>
          </a:p>
        </p:txBody>
      </p:sp>
    </p:spTree>
    <p:extLst>
      <p:ext uri="{BB962C8B-B14F-4D97-AF65-F5344CB8AC3E}">
        <p14:creationId xmlns:p14="http://schemas.microsoft.com/office/powerpoint/2010/main" val="683489891"/>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1 · 작업을 구체화하는 틀">
            <a:extLst xmlns:a="http://schemas.openxmlformats.org/drawingml/2006/main">
              <a:ext uri="{FF2B5EF4-FFF2-40B4-BE49-F238E27FC236}">
                <a16:creationId xmlns:a16="http://schemas.microsoft.com/office/drawing/2014/main" id="{988D33A1-089E-46E4-A9D2-687AF4AE1C8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13">
            <a:extLst xmlns:a="http://schemas.openxmlformats.org/drawingml/2006/main">
              <a:ext uri="{FF2B5EF4-FFF2-40B4-BE49-F238E27FC236}">
                <a16:creationId xmlns:a16="http://schemas.microsoft.com/office/drawing/2014/main" id="{A4F0A9ED-F9D8-475B-B343-50F11827437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Task Specification의 다섯 책임">
            <a:extLst xmlns:a="http://schemas.openxmlformats.org/drawingml/2006/main">
              <a:ext uri="{FF2B5EF4-FFF2-40B4-BE49-F238E27FC236}">
                <a16:creationId xmlns:a16="http://schemas.microsoft.com/office/drawing/2014/main" id="{B1FE5D22-2F9F-4148-ADC3-2DD9E1C7B33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790BE8CA-4300-473A-BBD2-BEA51E0610CF}"/>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A56EE178-5BBE-426D-80B9-FE7E69DDB944}"/>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다섯 항목은 서로 분리된 기능이 아니라 하나의 작업 요청에 담는 책임입니다.">
            <a:extLst xmlns:a="http://schemas.openxmlformats.org/drawingml/2006/main">
              <a:ext uri="{FF2B5EF4-FFF2-40B4-BE49-F238E27FC236}">
                <a16:creationId xmlns:a16="http://schemas.microsoft.com/office/drawing/2014/main" id="{D1D74F61-2F7B-4339-8F67-F92BDF41DF90}"/>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다섯 항목은 서로 분리된 기능이 아니라 하나의 작업 요청에 담는 책임입니다.</a:t>
            </a:r>
          </a:p>
        </p:txBody>
      </p:sp>
      <p:sp>
        <p:nvSpPr>
          <p:cNvPr id="7" name="">
            <a:extLst xmlns:a="http://schemas.openxmlformats.org/drawingml/2006/main">
              <a:ext uri="{FF2B5EF4-FFF2-40B4-BE49-F238E27FC236}">
                <a16:creationId xmlns:a16="http://schemas.microsoft.com/office/drawing/2014/main" id="{B8B829CD-7829-41B7-949E-0FCC94D44FC5}"/>
              </a:ext>
            </a:extLst>
          </p:cNvPr>
          <p:cNvSpPr>
            <a:spLocks xmlns:a="http://schemas.openxmlformats.org/drawingml/2006/main" noGrp="1"/>
          </p:cNvSpPr>
          <p:nvPr/>
        </p:nvSpPr>
        <p:spPr>
          <a:xfrm xmlns:a="http://schemas.openxmlformats.org/drawingml/2006/main">
            <a:off x="609600" y="2152650"/>
            <a:ext cx="10972800" cy="3371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목표">
            <a:extLst xmlns:a="http://schemas.openxmlformats.org/drawingml/2006/main">
              <a:ext uri="{FF2B5EF4-FFF2-40B4-BE49-F238E27FC236}">
                <a16:creationId xmlns:a16="http://schemas.microsoft.com/office/drawing/2014/main" id="{EDA370C0-76D2-419B-9E8C-85C0687EAA72}"/>
              </a:ext>
            </a:extLst>
          </p:cNvPr>
          <p:cNvSpPr>
            <a:spLocks xmlns:a="http://schemas.openxmlformats.org/drawingml/2006/main" noGrp="1"/>
          </p:cNvSpPr>
          <p:nvPr/>
        </p:nvSpPr>
        <p:spPr>
          <a:xfrm xmlns:a="http://schemas.openxmlformats.org/drawingml/2006/main">
            <a:off x="838200" y="2305050"/>
            <a:ext cx="1381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목표</a:t>
            </a:r>
          </a:p>
        </p:txBody>
      </p:sp>
      <p:sp>
        <p:nvSpPr>
          <p:cNvPr id="9" name="Goal">
            <a:extLst xmlns:a="http://schemas.openxmlformats.org/drawingml/2006/main">
              <a:ext uri="{FF2B5EF4-FFF2-40B4-BE49-F238E27FC236}">
                <a16:creationId xmlns:a16="http://schemas.microsoft.com/office/drawing/2014/main" id="{240D55ED-6D60-41AA-AC01-707C33940984}"/>
              </a:ext>
            </a:extLst>
          </p:cNvPr>
          <p:cNvSpPr>
            <a:spLocks xmlns:a="http://schemas.openxmlformats.org/drawingml/2006/main" noGrp="1"/>
          </p:cNvSpPr>
          <p:nvPr/>
        </p:nvSpPr>
        <p:spPr>
          <a:xfrm xmlns:a="http://schemas.openxmlformats.org/drawingml/2006/main">
            <a:off x="2409825" y="2305050"/>
            <a:ext cx="25050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Goal</a:t>
            </a:r>
          </a:p>
        </p:txBody>
      </p:sp>
      <p:sp>
        <p:nvSpPr>
          <p:cNvPr id="10" name="어떤 결과를 바꿀까?">
            <a:extLst xmlns:a="http://schemas.openxmlformats.org/drawingml/2006/main">
              <a:ext uri="{FF2B5EF4-FFF2-40B4-BE49-F238E27FC236}">
                <a16:creationId xmlns:a16="http://schemas.microsoft.com/office/drawing/2014/main" id="{C88BC8A3-4E4F-44CA-B83A-4A15FF2CC7A7}"/>
              </a:ext>
            </a:extLst>
          </p:cNvPr>
          <p:cNvSpPr>
            <a:spLocks xmlns:a="http://schemas.openxmlformats.org/drawingml/2006/main" noGrp="1"/>
          </p:cNvSpPr>
          <p:nvPr/>
        </p:nvSpPr>
        <p:spPr>
          <a:xfrm xmlns:a="http://schemas.openxmlformats.org/drawingml/2006/main">
            <a:off x="5429250" y="2305050"/>
            <a:ext cx="5886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결과를 바꿀까?</a:t>
            </a:r>
          </a:p>
        </p:txBody>
      </p:sp>
      <p:sp>
        <p:nvSpPr>
          <p:cNvPr id="11" name="">
            <a:extLst xmlns:a="http://schemas.openxmlformats.org/drawingml/2006/main">
              <a:ext uri="{FF2B5EF4-FFF2-40B4-BE49-F238E27FC236}">
                <a16:creationId xmlns:a16="http://schemas.microsoft.com/office/drawing/2014/main" id="{EB914E7C-B3C8-48E7-AFA3-717C75CD96A4}"/>
              </a:ext>
            </a:extLst>
          </p:cNvPr>
          <p:cNvSpPr>
            <a:spLocks xmlns:a="http://schemas.openxmlformats.org/drawingml/2006/main" noGrp="1"/>
          </p:cNvSpPr>
          <p:nvPr/>
        </p:nvSpPr>
        <p:spPr>
          <a:xfrm xmlns:a="http://schemas.openxmlformats.org/drawingml/2006/main">
            <a:off x="838200" y="2809875"/>
            <a:ext cx="10477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맥락">
            <a:extLst xmlns:a="http://schemas.openxmlformats.org/drawingml/2006/main">
              <a:ext uri="{FF2B5EF4-FFF2-40B4-BE49-F238E27FC236}">
                <a16:creationId xmlns:a16="http://schemas.microsoft.com/office/drawing/2014/main" id="{BD440905-1B1B-4632-8B59-30FB326A1F8D}"/>
              </a:ext>
            </a:extLst>
          </p:cNvPr>
          <p:cNvSpPr>
            <a:spLocks xmlns:a="http://schemas.openxmlformats.org/drawingml/2006/main" noGrp="1"/>
          </p:cNvSpPr>
          <p:nvPr/>
        </p:nvSpPr>
        <p:spPr>
          <a:xfrm xmlns:a="http://schemas.openxmlformats.org/drawingml/2006/main">
            <a:off x="838200" y="2924175"/>
            <a:ext cx="1381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맥락</a:t>
            </a:r>
          </a:p>
        </p:txBody>
      </p:sp>
      <p:sp>
        <p:nvSpPr>
          <p:cNvPr id="13" name="Context">
            <a:extLst xmlns:a="http://schemas.openxmlformats.org/drawingml/2006/main">
              <a:ext uri="{FF2B5EF4-FFF2-40B4-BE49-F238E27FC236}">
                <a16:creationId xmlns:a16="http://schemas.microsoft.com/office/drawing/2014/main" id="{BFEE0F92-83B7-48FF-8A42-6179A73E7891}"/>
              </a:ext>
            </a:extLst>
          </p:cNvPr>
          <p:cNvSpPr>
            <a:spLocks xmlns:a="http://schemas.openxmlformats.org/drawingml/2006/main" noGrp="1"/>
          </p:cNvSpPr>
          <p:nvPr/>
        </p:nvSpPr>
        <p:spPr>
          <a:xfrm xmlns:a="http://schemas.openxmlformats.org/drawingml/2006/main">
            <a:off x="2409825" y="2924175"/>
            <a:ext cx="25050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Context</a:t>
            </a:r>
          </a:p>
        </p:txBody>
      </p:sp>
      <p:sp>
        <p:nvSpPr>
          <p:cNvPr id="14" name="이 작업에 필요한 사실은?">
            <a:extLst xmlns:a="http://schemas.openxmlformats.org/drawingml/2006/main">
              <a:ext uri="{FF2B5EF4-FFF2-40B4-BE49-F238E27FC236}">
                <a16:creationId xmlns:a16="http://schemas.microsoft.com/office/drawing/2014/main" id="{60A07859-2502-4851-9301-C73A94FDCF8F}"/>
              </a:ext>
            </a:extLst>
          </p:cNvPr>
          <p:cNvSpPr>
            <a:spLocks xmlns:a="http://schemas.openxmlformats.org/drawingml/2006/main" noGrp="1"/>
          </p:cNvSpPr>
          <p:nvPr/>
        </p:nvSpPr>
        <p:spPr>
          <a:xfrm xmlns:a="http://schemas.openxmlformats.org/drawingml/2006/main">
            <a:off x="5429250" y="2924175"/>
            <a:ext cx="5886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 작업에 필요한 사실은?</a:t>
            </a:r>
          </a:p>
        </p:txBody>
      </p:sp>
      <p:sp>
        <p:nvSpPr>
          <p:cNvPr id="15" name="">
            <a:extLst xmlns:a="http://schemas.openxmlformats.org/drawingml/2006/main">
              <a:ext uri="{FF2B5EF4-FFF2-40B4-BE49-F238E27FC236}">
                <a16:creationId xmlns:a16="http://schemas.microsoft.com/office/drawing/2014/main" id="{EE0D0E64-7AE7-4AC5-9145-BE861B323ABE}"/>
              </a:ext>
            </a:extLst>
          </p:cNvPr>
          <p:cNvSpPr>
            <a:spLocks xmlns:a="http://schemas.openxmlformats.org/drawingml/2006/main" noGrp="1"/>
          </p:cNvSpPr>
          <p:nvPr/>
        </p:nvSpPr>
        <p:spPr>
          <a:xfrm xmlns:a="http://schemas.openxmlformats.org/drawingml/2006/main">
            <a:off x="838200" y="3429000"/>
            <a:ext cx="10477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제약">
            <a:extLst xmlns:a="http://schemas.openxmlformats.org/drawingml/2006/main">
              <a:ext uri="{FF2B5EF4-FFF2-40B4-BE49-F238E27FC236}">
                <a16:creationId xmlns:a16="http://schemas.microsoft.com/office/drawing/2014/main" id="{9107C03D-F075-446D-A82F-DBD3E5EFBD6D}"/>
              </a:ext>
            </a:extLst>
          </p:cNvPr>
          <p:cNvSpPr>
            <a:spLocks xmlns:a="http://schemas.openxmlformats.org/drawingml/2006/main" noGrp="1"/>
          </p:cNvSpPr>
          <p:nvPr/>
        </p:nvSpPr>
        <p:spPr>
          <a:xfrm xmlns:a="http://schemas.openxmlformats.org/drawingml/2006/main">
            <a:off x="838200" y="3543300"/>
            <a:ext cx="1381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제약</a:t>
            </a:r>
          </a:p>
        </p:txBody>
      </p:sp>
      <p:sp>
        <p:nvSpPr>
          <p:cNvPr id="17" name="Constraints">
            <a:extLst xmlns:a="http://schemas.openxmlformats.org/drawingml/2006/main">
              <a:ext uri="{FF2B5EF4-FFF2-40B4-BE49-F238E27FC236}">
                <a16:creationId xmlns:a16="http://schemas.microsoft.com/office/drawing/2014/main" id="{B50A1C13-A601-41AB-B9D5-E9FA69CFAB82}"/>
              </a:ext>
            </a:extLst>
          </p:cNvPr>
          <p:cNvSpPr>
            <a:spLocks xmlns:a="http://schemas.openxmlformats.org/drawingml/2006/main" noGrp="1"/>
          </p:cNvSpPr>
          <p:nvPr/>
        </p:nvSpPr>
        <p:spPr>
          <a:xfrm xmlns:a="http://schemas.openxmlformats.org/drawingml/2006/main">
            <a:off x="2409825" y="3543300"/>
            <a:ext cx="25050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Constraints</a:t>
            </a:r>
          </a:p>
        </p:txBody>
      </p:sp>
      <p:sp>
        <p:nvSpPr>
          <p:cNvPr id="18" name="무엇을 보존할까?">
            <a:extLst xmlns:a="http://schemas.openxmlformats.org/drawingml/2006/main">
              <a:ext uri="{FF2B5EF4-FFF2-40B4-BE49-F238E27FC236}">
                <a16:creationId xmlns:a16="http://schemas.microsoft.com/office/drawing/2014/main" id="{F39A5FB6-FCDC-44FC-AC14-54C955A268E6}"/>
              </a:ext>
            </a:extLst>
          </p:cNvPr>
          <p:cNvSpPr>
            <a:spLocks xmlns:a="http://schemas.openxmlformats.org/drawingml/2006/main" noGrp="1"/>
          </p:cNvSpPr>
          <p:nvPr/>
        </p:nvSpPr>
        <p:spPr>
          <a:xfrm xmlns:a="http://schemas.openxmlformats.org/drawingml/2006/main">
            <a:off x="5429250" y="3543300"/>
            <a:ext cx="5886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무엇을 보존할까?</a:t>
            </a:r>
          </a:p>
        </p:txBody>
      </p:sp>
      <p:sp>
        <p:nvSpPr>
          <p:cNvPr id="19" name="">
            <a:extLst xmlns:a="http://schemas.openxmlformats.org/drawingml/2006/main">
              <a:ext uri="{FF2B5EF4-FFF2-40B4-BE49-F238E27FC236}">
                <a16:creationId xmlns:a16="http://schemas.microsoft.com/office/drawing/2014/main" id="{D59597C9-E890-43C6-9CDC-6C237E6D596B}"/>
              </a:ext>
            </a:extLst>
          </p:cNvPr>
          <p:cNvSpPr>
            <a:spLocks xmlns:a="http://schemas.openxmlformats.org/drawingml/2006/main" noGrp="1"/>
          </p:cNvSpPr>
          <p:nvPr/>
        </p:nvSpPr>
        <p:spPr>
          <a:xfrm xmlns:a="http://schemas.openxmlformats.org/drawingml/2006/main">
            <a:off x="838200" y="4048125"/>
            <a:ext cx="10477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a:extLst xmlns:a="http://schemas.openxmlformats.org/drawingml/2006/main">
              <a:ext uri="{FF2B5EF4-FFF2-40B4-BE49-F238E27FC236}">
                <a16:creationId xmlns:a16="http://schemas.microsoft.com/office/drawing/2014/main" id="{DECB2CD0-8FB5-4791-9360-1F1C7CAF0274}"/>
              </a:ext>
            </a:extLst>
          </p:cNvPr>
          <p:cNvSpPr>
            <a:spLocks xmlns:a="http://schemas.openxmlformats.org/drawingml/2006/main" noGrp="1"/>
          </p:cNvSpPr>
          <p:nvPr/>
        </p:nvSpPr>
        <p:spPr>
          <a:xfrm xmlns:a="http://schemas.openxmlformats.org/drawingml/2006/main">
            <a:off x="838200" y="4162425"/>
            <a:ext cx="1381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과정</a:t>
            </a:r>
          </a:p>
        </p:txBody>
      </p:sp>
      <p:sp>
        <p:nvSpPr>
          <p:cNvPr id="21" name="Process">
            <a:extLst xmlns:a="http://schemas.openxmlformats.org/drawingml/2006/main">
              <a:ext uri="{FF2B5EF4-FFF2-40B4-BE49-F238E27FC236}">
                <a16:creationId xmlns:a16="http://schemas.microsoft.com/office/drawing/2014/main" id="{FC739BFB-8082-4E21-B0E1-A62425551642}"/>
              </a:ext>
            </a:extLst>
          </p:cNvPr>
          <p:cNvSpPr>
            <a:spLocks xmlns:a="http://schemas.openxmlformats.org/drawingml/2006/main" noGrp="1"/>
          </p:cNvSpPr>
          <p:nvPr/>
        </p:nvSpPr>
        <p:spPr>
          <a:xfrm xmlns:a="http://schemas.openxmlformats.org/drawingml/2006/main">
            <a:off x="2409825" y="4162425"/>
            <a:ext cx="25050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Process</a:t>
            </a:r>
          </a:p>
        </p:txBody>
      </p:sp>
      <p:sp>
        <p:nvSpPr>
          <p:cNvPr id="22" name="어떤 순서·경계를 지킬까?">
            <a:extLst xmlns:a="http://schemas.openxmlformats.org/drawingml/2006/main">
              <a:ext uri="{FF2B5EF4-FFF2-40B4-BE49-F238E27FC236}">
                <a16:creationId xmlns:a16="http://schemas.microsoft.com/office/drawing/2014/main" id="{FD5BF6F5-79ED-488E-8903-811189481E8D}"/>
              </a:ext>
            </a:extLst>
          </p:cNvPr>
          <p:cNvSpPr>
            <a:spLocks xmlns:a="http://schemas.openxmlformats.org/drawingml/2006/main" noGrp="1"/>
          </p:cNvSpPr>
          <p:nvPr/>
        </p:nvSpPr>
        <p:spPr>
          <a:xfrm xmlns:a="http://schemas.openxmlformats.org/drawingml/2006/main">
            <a:off x="5429250" y="4162425"/>
            <a:ext cx="5886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순서·경계를 지킬까?</a:t>
            </a:r>
          </a:p>
        </p:txBody>
      </p:sp>
      <p:sp>
        <p:nvSpPr>
          <p:cNvPr id="23" name="">
            <a:extLst xmlns:a="http://schemas.openxmlformats.org/drawingml/2006/main">
              <a:ext uri="{FF2B5EF4-FFF2-40B4-BE49-F238E27FC236}">
                <a16:creationId xmlns:a16="http://schemas.microsoft.com/office/drawing/2014/main" id="{D071529D-DF8C-4EE1-A3B3-070DF93F1ECB}"/>
              </a:ext>
            </a:extLst>
          </p:cNvPr>
          <p:cNvSpPr>
            <a:spLocks xmlns:a="http://schemas.openxmlformats.org/drawingml/2006/main" noGrp="1"/>
          </p:cNvSpPr>
          <p:nvPr/>
        </p:nvSpPr>
        <p:spPr>
          <a:xfrm xmlns:a="http://schemas.openxmlformats.org/drawingml/2006/main">
            <a:off x="838200" y="4667250"/>
            <a:ext cx="10477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0E645854-056B-4B25-ABB7-DD01B528B4B7}"/>
              </a:ext>
            </a:extLst>
          </p:cNvPr>
          <p:cNvSpPr>
            <a:spLocks xmlns:a="http://schemas.openxmlformats.org/drawingml/2006/main" noGrp="1"/>
          </p:cNvSpPr>
          <p:nvPr/>
        </p:nvSpPr>
        <p:spPr>
          <a:xfrm xmlns:a="http://schemas.openxmlformats.org/drawingml/2006/main">
            <a:off x="838200" y="4781550"/>
            <a:ext cx="1381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a:t>
            </a:r>
          </a:p>
        </p:txBody>
      </p:sp>
      <p:sp>
        <p:nvSpPr>
          <p:cNvPr id="25" name="Verification">
            <a:extLst xmlns:a="http://schemas.openxmlformats.org/drawingml/2006/main">
              <a:ext uri="{FF2B5EF4-FFF2-40B4-BE49-F238E27FC236}">
                <a16:creationId xmlns:a16="http://schemas.microsoft.com/office/drawing/2014/main" id="{8C7100B4-A425-408A-BCA0-B823BE1B59E8}"/>
              </a:ext>
            </a:extLst>
          </p:cNvPr>
          <p:cNvSpPr>
            <a:spLocks xmlns:a="http://schemas.openxmlformats.org/drawingml/2006/main" noGrp="1"/>
          </p:cNvSpPr>
          <p:nvPr/>
        </p:nvSpPr>
        <p:spPr>
          <a:xfrm xmlns:a="http://schemas.openxmlformats.org/drawingml/2006/main">
            <a:off x="2409825" y="4781550"/>
            <a:ext cx="25050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Verification</a:t>
            </a:r>
          </a:p>
        </p:txBody>
      </p:sp>
      <p:sp>
        <p:nvSpPr>
          <p:cNvPr id="26" name="무엇으로 완료를 확인할까?">
            <a:extLst xmlns:a="http://schemas.openxmlformats.org/drawingml/2006/main">
              <a:ext uri="{FF2B5EF4-FFF2-40B4-BE49-F238E27FC236}">
                <a16:creationId xmlns:a16="http://schemas.microsoft.com/office/drawing/2014/main" id="{9A9569EE-407C-4790-A75A-75B60A54EC29}"/>
              </a:ext>
            </a:extLst>
          </p:cNvPr>
          <p:cNvSpPr>
            <a:spLocks xmlns:a="http://schemas.openxmlformats.org/drawingml/2006/main" noGrp="1"/>
          </p:cNvSpPr>
          <p:nvPr/>
        </p:nvSpPr>
        <p:spPr>
          <a:xfrm xmlns:a="http://schemas.openxmlformats.org/drawingml/2006/main">
            <a:off x="5429250" y="4781550"/>
            <a:ext cx="5886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무엇으로 완료를 확인할까?</a:t>
            </a:r>
          </a:p>
        </p:txBody>
      </p:sp>
    </p:spTree>
    <p:extLst>
      <p:ext uri="{BB962C8B-B14F-4D97-AF65-F5344CB8AC3E}">
        <p14:creationId xmlns:p14="http://schemas.microsoft.com/office/powerpoint/2010/main" val="2007738612"/>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1 · 같은 요청을 구체화하기">
            <a:extLst xmlns:a="http://schemas.openxmlformats.org/drawingml/2006/main">
              <a:ext uri="{FF2B5EF4-FFF2-40B4-BE49-F238E27FC236}">
                <a16:creationId xmlns:a16="http://schemas.microsoft.com/office/drawing/2014/main" id="{006FB178-4F55-4C93-97F2-81931B3D3EE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요청을 구체화하기</a:t>
            </a:r>
          </a:p>
        </p:txBody>
      </p:sp>
      <p:sp>
        <p:nvSpPr>
          <p:cNvPr id="2" name="S14">
            <a:extLst xmlns:a="http://schemas.openxmlformats.org/drawingml/2006/main">
              <a:ext uri="{FF2B5EF4-FFF2-40B4-BE49-F238E27FC236}">
                <a16:creationId xmlns:a16="http://schemas.microsoft.com/office/drawing/2014/main" id="{BB604DF3-F1AC-4D1D-A936-5C1453A9210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더 긴 Prompt보다 분명한 경계">
            <a:extLst xmlns:a="http://schemas.openxmlformats.org/drawingml/2006/main">
              <a:ext uri="{FF2B5EF4-FFF2-40B4-BE49-F238E27FC236}">
                <a16:creationId xmlns:a16="http://schemas.microsoft.com/office/drawing/2014/main" id="{67EFE2DF-10E2-4595-BF84-08A2874EDC1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0456BF0E-0ECF-42F0-ABBD-03514FDB480B}"/>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2A63B113-84FC-42C8-AA8E-0F8126705D19}"/>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C++ 적용도 작업 경계를 정하는 예시입니다. 특정 Windows·빌드 환경을 검증한 것은 아닙니다.">
            <a:extLst xmlns:a="http://schemas.openxmlformats.org/drawingml/2006/main">
              <a:ext uri="{FF2B5EF4-FFF2-40B4-BE49-F238E27FC236}">
                <a16:creationId xmlns:a16="http://schemas.microsoft.com/office/drawing/2014/main" id="{42B3EEB6-AA56-4042-B8BF-E64217430019}"/>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 적용도 작업 경계를 정하는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C5ABBC50-BE88-498B-8D0A-45D60BCCA353}"/>
              </a:ext>
            </a:extLst>
          </p:cNvPr>
          <p:cNvSpPr>
            <a:spLocks xmlns:a="http://schemas.openxmlformats.org/drawingml/2006/main" noGrp="1"/>
          </p:cNvSpPr>
          <p:nvPr/>
        </p:nvSpPr>
        <p:spPr>
          <a:xfrm xmlns:a="http://schemas.openxmlformats.org/drawingml/2006/main">
            <a:off x="609600" y="2143125"/>
            <a:ext cx="3009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80D584B8-8EEC-4F72-984E-47D48191F17D}"/>
              </a:ext>
            </a:extLst>
          </p:cNvPr>
          <p:cNvSpPr>
            <a:spLocks xmlns:a="http://schemas.openxmlformats.org/drawingml/2006/main" noGrp="1"/>
          </p:cNvSpPr>
          <p:nvPr/>
        </p:nvSpPr>
        <p:spPr>
          <a:xfrm xmlns:a="http://schemas.openxmlformats.org/drawingml/2006/main">
            <a:off x="609600" y="2800350"/>
            <a:ext cx="28575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“crop test</a:t>
            </a:r>
          </a:p>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84763B91-78F6-4851-8DDD-F17AD54E2271}"/>
              </a:ext>
            </a:extLst>
          </p:cNvPr>
          <p:cNvSpPr>
            <a:spLocks xmlns:a="http://schemas.openxmlformats.org/drawingml/2006/main" noGrp="1"/>
          </p:cNvSpPr>
          <p:nvPr/>
        </p:nvSpPr>
        <p:spPr>
          <a:xfrm xmlns:a="http://schemas.openxmlformats.org/drawingml/2006/main">
            <a:off x="3714750" y="3286125"/>
            <a:ext cx="428625" cy="2476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추가한 정보">
            <a:extLst xmlns:a="http://schemas.openxmlformats.org/drawingml/2006/main">
              <a:ext uri="{FF2B5EF4-FFF2-40B4-BE49-F238E27FC236}">
                <a16:creationId xmlns:a16="http://schemas.microsoft.com/office/drawing/2014/main" id="{F87D184E-E720-470D-AD4D-1A523421A4F2}"/>
              </a:ext>
            </a:extLst>
          </p:cNvPr>
          <p:cNvSpPr>
            <a:spLocks xmlns:a="http://schemas.openxmlformats.org/drawingml/2006/main" noGrp="1"/>
          </p:cNvSpPr>
          <p:nvPr/>
        </p:nvSpPr>
        <p:spPr>
          <a:xfrm xmlns:a="http://schemas.openxmlformats.org/drawingml/2006/main">
            <a:off x="4476750" y="2143125"/>
            <a:ext cx="71056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추가한 정보</a:t>
            </a:r>
          </a:p>
        </p:txBody>
      </p:sp>
      <p:sp>
        <p:nvSpPr>
          <p:cNvPr id="11" name="">
            <a:extLst xmlns:a="http://schemas.openxmlformats.org/drawingml/2006/main">
              <a:ext uri="{FF2B5EF4-FFF2-40B4-BE49-F238E27FC236}">
                <a16:creationId xmlns:a16="http://schemas.microsoft.com/office/drawing/2014/main" id="{2E4D591F-F59C-4107-8CA2-042DED4532FB}"/>
              </a:ext>
            </a:extLst>
          </p:cNvPr>
          <p:cNvSpPr>
            <a:spLocks xmlns:a="http://schemas.openxmlformats.org/drawingml/2006/main" noGrp="1"/>
          </p:cNvSpPr>
          <p:nvPr/>
        </p:nvSpPr>
        <p:spPr>
          <a:xfrm xmlns:a="http://schemas.openxmlformats.org/drawingml/2006/main">
            <a:off x="4476750" y="2657475"/>
            <a:ext cx="710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맥락">
            <a:extLst xmlns:a="http://schemas.openxmlformats.org/drawingml/2006/main">
              <a:ext uri="{FF2B5EF4-FFF2-40B4-BE49-F238E27FC236}">
                <a16:creationId xmlns:a16="http://schemas.microsoft.com/office/drawing/2014/main" id="{ADF2AA5B-D4D5-436A-91D3-80E69EA04719}"/>
              </a:ext>
            </a:extLst>
          </p:cNvPr>
          <p:cNvSpPr>
            <a:spLocks xmlns:a="http://schemas.openxmlformats.org/drawingml/2006/main" noGrp="1"/>
          </p:cNvSpPr>
          <p:nvPr/>
        </p:nvSpPr>
        <p:spPr>
          <a:xfrm xmlns:a="http://schemas.openxmlformats.org/drawingml/2006/main">
            <a:off x="4476750" y="2743200"/>
            <a:ext cx="1371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목표·맥락</a:t>
            </a:r>
          </a:p>
        </p:txBody>
      </p:sp>
      <p:sp>
        <p:nvSpPr>
          <p:cNvPr id="13" name="crop 경계 실패를 조사·수정한다.">
            <a:extLst xmlns:a="http://schemas.openxmlformats.org/drawingml/2006/main">
              <a:ext uri="{FF2B5EF4-FFF2-40B4-BE49-F238E27FC236}">
                <a16:creationId xmlns:a16="http://schemas.microsoft.com/office/drawing/2014/main" id="{98B69248-C964-4832-96B6-E951CCD85E3F}"/>
              </a:ext>
            </a:extLst>
          </p:cNvPr>
          <p:cNvSpPr>
            <a:spLocks xmlns:a="http://schemas.openxmlformats.org/drawingml/2006/main" noGrp="1"/>
          </p:cNvSpPr>
          <p:nvPr/>
        </p:nvSpPr>
        <p:spPr>
          <a:xfrm xmlns:a="http://schemas.openxmlformats.org/drawingml/2006/main">
            <a:off x="5981700" y="2743200"/>
            <a:ext cx="5600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crop 경계 실패를 조사·수정한다.</a:t>
            </a:r>
          </a:p>
        </p:txBody>
      </p:sp>
      <p:sp>
        <p:nvSpPr>
          <p:cNvPr id="14" name="">
            <a:extLst xmlns:a="http://schemas.openxmlformats.org/drawingml/2006/main">
              <a:ext uri="{FF2B5EF4-FFF2-40B4-BE49-F238E27FC236}">
                <a16:creationId xmlns:a16="http://schemas.microsoft.com/office/drawing/2014/main" id="{4B777543-B158-450A-A489-0A9B30D17DCB}"/>
              </a:ext>
            </a:extLst>
          </p:cNvPr>
          <p:cNvSpPr>
            <a:spLocks xmlns:a="http://schemas.openxmlformats.org/drawingml/2006/main" noGrp="1"/>
          </p:cNvSpPr>
          <p:nvPr/>
        </p:nvSpPr>
        <p:spPr>
          <a:xfrm xmlns:a="http://schemas.openxmlformats.org/drawingml/2006/main">
            <a:off x="4476750" y="3276600"/>
            <a:ext cx="710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제약">
            <a:extLst xmlns:a="http://schemas.openxmlformats.org/drawingml/2006/main">
              <a:ext uri="{FF2B5EF4-FFF2-40B4-BE49-F238E27FC236}">
                <a16:creationId xmlns:a16="http://schemas.microsoft.com/office/drawing/2014/main" id="{E1384323-91D3-49AF-BC3D-FB1C5F619B52}"/>
              </a:ext>
            </a:extLst>
          </p:cNvPr>
          <p:cNvSpPr>
            <a:spLocks xmlns:a="http://schemas.openxmlformats.org/drawingml/2006/main" noGrp="1"/>
          </p:cNvSpPr>
          <p:nvPr/>
        </p:nvSpPr>
        <p:spPr>
          <a:xfrm xmlns:a="http://schemas.openxmlformats.org/drawingml/2006/main">
            <a:off x="4476750" y="3362325"/>
            <a:ext cx="1371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제약</a:t>
            </a:r>
          </a:p>
        </p:txBody>
      </p:sp>
      <p:sp>
        <p:nvSpPr>
          <p:cNvPr id="16" name="끝 좌표 제외, 무관한 API·의존성 유지">
            <a:extLst xmlns:a="http://schemas.openxmlformats.org/drawingml/2006/main">
              <a:ext uri="{FF2B5EF4-FFF2-40B4-BE49-F238E27FC236}">
                <a16:creationId xmlns:a16="http://schemas.microsoft.com/office/drawing/2014/main" id="{19A5B34D-3704-426A-ABD3-90A0964690E7}"/>
              </a:ext>
            </a:extLst>
          </p:cNvPr>
          <p:cNvSpPr>
            <a:spLocks xmlns:a="http://schemas.openxmlformats.org/drawingml/2006/main" noGrp="1"/>
          </p:cNvSpPr>
          <p:nvPr/>
        </p:nvSpPr>
        <p:spPr>
          <a:xfrm xmlns:a="http://schemas.openxmlformats.org/drawingml/2006/main">
            <a:off x="5981700" y="3362325"/>
            <a:ext cx="5600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제외, 무관한 API·의존성 유지</a:t>
            </a:r>
          </a:p>
        </p:txBody>
      </p:sp>
      <p:sp>
        <p:nvSpPr>
          <p:cNvPr id="17" name="">
            <a:extLst xmlns:a="http://schemas.openxmlformats.org/drawingml/2006/main">
              <a:ext uri="{FF2B5EF4-FFF2-40B4-BE49-F238E27FC236}">
                <a16:creationId xmlns:a16="http://schemas.microsoft.com/office/drawing/2014/main" id="{E2689B63-5BE2-4712-9086-A3AE0A872077}"/>
              </a:ext>
            </a:extLst>
          </p:cNvPr>
          <p:cNvSpPr>
            <a:spLocks xmlns:a="http://schemas.openxmlformats.org/drawingml/2006/main" noGrp="1"/>
          </p:cNvSpPr>
          <p:nvPr/>
        </p:nvSpPr>
        <p:spPr>
          <a:xfrm xmlns:a="http://schemas.openxmlformats.org/drawingml/2006/main">
            <a:off x="4476750" y="3895725"/>
            <a:ext cx="710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과정">
            <a:extLst xmlns:a="http://schemas.openxmlformats.org/drawingml/2006/main">
              <a:ext uri="{FF2B5EF4-FFF2-40B4-BE49-F238E27FC236}">
                <a16:creationId xmlns:a16="http://schemas.microsoft.com/office/drawing/2014/main" id="{3ABE4A86-B5E9-450C-BDFA-084E70E62104}"/>
              </a:ext>
            </a:extLst>
          </p:cNvPr>
          <p:cNvSpPr>
            <a:spLocks xmlns:a="http://schemas.openxmlformats.org/drawingml/2006/main" noGrp="1"/>
          </p:cNvSpPr>
          <p:nvPr/>
        </p:nvSpPr>
        <p:spPr>
          <a:xfrm xmlns:a="http://schemas.openxmlformats.org/drawingml/2006/main">
            <a:off x="4476750" y="3981450"/>
            <a:ext cx="1371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과정</a:t>
            </a:r>
          </a:p>
        </p:txBody>
      </p:sp>
      <p:sp>
        <p:nvSpPr>
          <p:cNvPr id="19" name="재현 → 조사 → 계획 → 최소 수정">
            <a:extLst xmlns:a="http://schemas.openxmlformats.org/drawingml/2006/main">
              <a:ext uri="{FF2B5EF4-FFF2-40B4-BE49-F238E27FC236}">
                <a16:creationId xmlns:a16="http://schemas.microsoft.com/office/drawing/2014/main" id="{9667A140-8FEC-4224-AE30-E732057ECEBD}"/>
              </a:ext>
            </a:extLst>
          </p:cNvPr>
          <p:cNvSpPr>
            <a:spLocks xmlns:a="http://schemas.openxmlformats.org/drawingml/2006/main" noGrp="1"/>
          </p:cNvSpPr>
          <p:nvPr/>
        </p:nvSpPr>
        <p:spPr>
          <a:xfrm xmlns:a="http://schemas.openxmlformats.org/drawingml/2006/main">
            <a:off x="5981700" y="3981450"/>
            <a:ext cx="5600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재현 → 조사 → 계획 → 최소 수정</a:t>
            </a:r>
          </a:p>
        </p:txBody>
      </p:sp>
      <p:sp>
        <p:nvSpPr>
          <p:cNvPr id="20" name="">
            <a:extLst xmlns:a="http://schemas.openxmlformats.org/drawingml/2006/main">
              <a:ext uri="{FF2B5EF4-FFF2-40B4-BE49-F238E27FC236}">
                <a16:creationId xmlns:a16="http://schemas.microsoft.com/office/drawing/2014/main" id="{27C2A82C-56BB-43AB-B6EB-AFE99D376C68}"/>
              </a:ext>
            </a:extLst>
          </p:cNvPr>
          <p:cNvSpPr>
            <a:spLocks xmlns:a="http://schemas.openxmlformats.org/drawingml/2006/main" noGrp="1"/>
          </p:cNvSpPr>
          <p:nvPr/>
        </p:nvSpPr>
        <p:spPr>
          <a:xfrm xmlns:a="http://schemas.openxmlformats.org/drawingml/2006/main">
            <a:off x="4476750" y="4514850"/>
            <a:ext cx="710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검증">
            <a:extLst xmlns:a="http://schemas.openxmlformats.org/drawingml/2006/main">
              <a:ext uri="{FF2B5EF4-FFF2-40B4-BE49-F238E27FC236}">
                <a16:creationId xmlns:a16="http://schemas.microsoft.com/office/drawing/2014/main" id="{02FAA697-1ED5-4B4D-B947-266923F2E3AC}"/>
              </a:ext>
            </a:extLst>
          </p:cNvPr>
          <p:cNvSpPr>
            <a:spLocks xmlns:a="http://schemas.openxmlformats.org/drawingml/2006/main" noGrp="1"/>
          </p:cNvSpPr>
          <p:nvPr/>
        </p:nvSpPr>
        <p:spPr>
          <a:xfrm xmlns:a="http://schemas.openxmlformats.org/drawingml/2006/main">
            <a:off x="4476750" y="4600575"/>
            <a:ext cx="1371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검증</a:t>
            </a:r>
          </a:p>
        </p:txBody>
      </p:sp>
      <p:sp>
        <p:nvSpPr>
          <p:cNvPr id="22" name="집중·전체 Test + CLI smoke + diff">
            <a:extLst xmlns:a="http://schemas.openxmlformats.org/drawingml/2006/main">
              <a:ext uri="{FF2B5EF4-FFF2-40B4-BE49-F238E27FC236}">
                <a16:creationId xmlns:a16="http://schemas.microsoft.com/office/drawing/2014/main" id="{BBF53DAC-E8CB-40FC-BD1F-A7C13FE84DE9}"/>
              </a:ext>
            </a:extLst>
          </p:cNvPr>
          <p:cNvSpPr>
            <a:spLocks xmlns:a="http://schemas.openxmlformats.org/drawingml/2006/main" noGrp="1"/>
          </p:cNvSpPr>
          <p:nvPr/>
        </p:nvSpPr>
        <p:spPr>
          <a:xfrm xmlns:a="http://schemas.openxmlformats.org/drawingml/2006/main">
            <a:off x="5981700" y="4600575"/>
            <a:ext cx="5600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집중·전체 Test + CLI smoke + diff</a:t>
            </a:r>
          </a:p>
        </p:txBody>
      </p:sp>
      <p:sp>
        <p:nvSpPr>
          <p:cNvPr id="23" name="">
            <a:extLst xmlns:a="http://schemas.openxmlformats.org/drawingml/2006/main">
              <a:ext uri="{FF2B5EF4-FFF2-40B4-BE49-F238E27FC236}">
                <a16:creationId xmlns:a16="http://schemas.microsoft.com/office/drawing/2014/main" id="{A26B8479-5AFA-431D-8AA8-37C2589F2855}"/>
              </a:ext>
            </a:extLst>
          </p:cNvPr>
          <p:cNvSpPr>
            <a:spLocks xmlns:a="http://schemas.openxmlformats.org/drawingml/2006/main" noGrp="1"/>
          </p:cNvSpPr>
          <p:nvPr/>
        </p:nvSpPr>
        <p:spPr>
          <a:xfrm xmlns:a="http://schemas.openxmlformats.org/drawingml/2006/main">
            <a:off x="609600" y="5286375"/>
            <a:ext cx="10972800" cy="4000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C++에도: 출력·API/ABI 보존 범위와 Release 검증 조건을 먼저 정한다.">
            <a:extLst xmlns:a="http://schemas.openxmlformats.org/drawingml/2006/main">
              <a:ext uri="{FF2B5EF4-FFF2-40B4-BE49-F238E27FC236}">
                <a16:creationId xmlns:a16="http://schemas.microsoft.com/office/drawing/2014/main" id="{8586724B-FDD3-4CAE-8E24-6D0AAD1877FD}"/>
              </a:ext>
            </a:extLst>
          </p:cNvPr>
          <p:cNvSpPr>
            <a:spLocks xmlns:a="http://schemas.openxmlformats.org/drawingml/2006/main" noGrp="1"/>
          </p:cNvSpPr>
          <p:nvPr/>
        </p:nvSpPr>
        <p:spPr>
          <a:xfrm xmlns:a="http://schemas.openxmlformats.org/drawingml/2006/main">
            <a:off x="762000" y="5305425"/>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0B6172"/>
                </a:solidFill>
                <a:latin typeface="Malgun Gothic"/>
                <a:ea typeface="Malgun Gothic"/>
                <a:cs typeface="Malgun Gothic"/>
              </a:defRPr>
            </a:defPPr>
            <a:lvl1pPr algn="l">
              <a:defRPr sz="2100" b="0">
                <a:solidFill>
                  <a:srgbClr val="0B6172"/>
                </a:solidFill>
                <a:latin typeface="Malgun Gothic"/>
                <a:ea typeface="Malgun Gothic"/>
                <a:cs typeface="Malgun Gothic"/>
              </a:defRPr>
            </a:lvl1pPr>
            <a:lvl2pPr algn="l">
              <a:defRPr sz="2100" b="0">
                <a:solidFill>
                  <a:srgbClr val="0B6172"/>
                </a:solidFill>
                <a:latin typeface="Malgun Gothic"/>
                <a:ea typeface="Malgun Gothic"/>
                <a:cs typeface="Malgun Gothic"/>
              </a:defRPr>
            </a:lvl2pPr>
            <a:lvl3pPr algn="l">
              <a:defRPr sz="2100" b="0">
                <a:solidFill>
                  <a:srgbClr val="0B6172"/>
                </a:solidFill>
                <a:latin typeface="Malgun Gothic"/>
                <a:ea typeface="Malgun Gothic"/>
                <a:cs typeface="Malgun Gothic"/>
              </a:defRPr>
            </a:lvl3pPr>
            <a:lvl4pPr algn="l">
              <a:defRPr sz="2100" b="0">
                <a:solidFill>
                  <a:srgbClr val="0B6172"/>
                </a:solidFill>
                <a:latin typeface="Malgun Gothic"/>
                <a:ea typeface="Malgun Gothic"/>
                <a:cs typeface="Malgun Gothic"/>
              </a:defRPr>
            </a:lvl4pPr>
            <a:lvl5pPr algn="l">
              <a:defRPr sz="2100" b="0">
                <a:solidFill>
                  <a:srgbClr val="0B6172"/>
                </a:solidFill>
                <a:latin typeface="Malgun Gothic"/>
                <a:ea typeface="Malgun Gothic"/>
                <a:cs typeface="Malgun Gothic"/>
              </a:defRPr>
            </a:lvl5pPr>
            <a:lvl6pPr algn="l">
              <a:defRPr sz="2100" b="0">
                <a:solidFill>
                  <a:srgbClr val="0B6172"/>
                </a:solidFill>
                <a:latin typeface="Malgun Gothic"/>
                <a:ea typeface="Malgun Gothic"/>
                <a:cs typeface="Malgun Gothic"/>
              </a:defRPr>
            </a:lvl6pPr>
            <a:lvl7pPr algn="l">
              <a:defRPr sz="2100" b="0">
                <a:solidFill>
                  <a:srgbClr val="0B6172"/>
                </a:solidFill>
                <a:latin typeface="Malgun Gothic"/>
                <a:ea typeface="Malgun Gothic"/>
                <a:cs typeface="Malgun Gothic"/>
              </a:defRPr>
            </a:lvl7pPr>
            <a:lvl8pPr algn="l">
              <a:defRPr sz="2100" b="0">
                <a:solidFill>
                  <a:srgbClr val="0B6172"/>
                </a:solidFill>
                <a:latin typeface="Malgun Gothic"/>
                <a:ea typeface="Malgun Gothic"/>
                <a:cs typeface="Malgun Gothic"/>
              </a:defRPr>
            </a:lvl8pPr>
            <a:lvl9pPr algn="l">
              <a:defRPr sz="2100" b="0">
                <a:solidFill>
                  <a:srgbClr val="0B6172"/>
                </a:solidFill>
                <a:latin typeface="Malgun Gothic"/>
                <a:ea typeface="Malgun Gothic"/>
                <a:cs typeface="Malgun Gothic"/>
              </a:defRPr>
            </a:lvl9pPr>
          </a:lstStyle>
          <a:p xmlns:a="http://schemas.openxmlformats.org/drawingml/2006/main">
            <a:pPr algn="l">
              <a:defRPr sz="2100" b="0">
                <a:solidFill>
                  <a:srgbClr val="0B6172"/>
                </a:solidFill>
                <a:latin typeface="Malgun Gothic"/>
                <a:ea typeface="Malgun Gothic"/>
                <a:cs typeface="Malgun Gothic"/>
              </a:defRPr>
            </a:pPr>
            <a:r>
              <a:rPr sz="2100" b="0">
                <a:solidFill>
                  <a:srgbClr val="0B6172"/>
                </a:solidFill>
                <a:latin typeface="Malgun Gothic"/>
                <a:ea typeface="Malgun Gothic"/>
                <a:cs typeface="Malgun Gothic"/>
              </a:rPr>
              <a:t>C++에도: 출력·API/ABI 보존 범위와 Release 검증 조건을 먼저 정한다.</a:t>
            </a:r>
          </a:p>
        </p:txBody>
      </p:sp>
    </p:spTree>
    <p:extLst>
      <p:ext uri="{BB962C8B-B14F-4D97-AF65-F5344CB8AC3E}">
        <p14:creationId xmlns:p14="http://schemas.microsoft.com/office/powerpoint/2010/main" val="1788884842"/>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1 · 수정 전 행동 관찰">
            <a:extLst xmlns:a="http://schemas.openxmlformats.org/drawingml/2006/main">
              <a:ext uri="{FF2B5EF4-FFF2-40B4-BE49-F238E27FC236}">
                <a16:creationId xmlns:a16="http://schemas.microsoft.com/office/drawing/2014/main" id="{878008D2-358E-4BAF-A73D-AFAF5F2DE0E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수정 전 행동 관찰</a:t>
            </a:r>
          </a:p>
        </p:txBody>
      </p:sp>
      <p:sp>
        <p:nvSpPr>
          <p:cNvPr id="2" name="S15">
            <a:extLst xmlns:a="http://schemas.openxmlformats.org/drawingml/2006/main">
              <a:ext uri="{FF2B5EF4-FFF2-40B4-BE49-F238E27FC236}">
                <a16:creationId xmlns:a16="http://schemas.microsoft.com/office/drawing/2014/main" id="{5C296EA8-DE06-4151-AEB2-3E5155DEA95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먼저 무엇을 하는지 보자">
            <a:extLst xmlns:a="http://schemas.openxmlformats.org/drawingml/2006/main">
              <a:ext uri="{FF2B5EF4-FFF2-40B4-BE49-F238E27FC236}">
                <a16:creationId xmlns:a16="http://schemas.microsoft.com/office/drawing/2014/main" id="{A8D9455A-A5D2-44D1-B394-EF9F6CE448D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무엇을 하는지 보자</a:t>
            </a:r>
          </a:p>
        </p:txBody>
      </p:sp>
      <p:sp>
        <p:nvSpPr>
          <p:cNvPr id="4" name="">
            <a:extLst xmlns:a="http://schemas.openxmlformats.org/drawingml/2006/main">
              <a:ext uri="{FF2B5EF4-FFF2-40B4-BE49-F238E27FC236}">
                <a16:creationId xmlns:a16="http://schemas.microsoft.com/office/drawing/2014/main" id="{32C4946B-DE08-48F8-BFBE-333FED26E146}"/>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찰 기준 · 2026-09-28 · Codex CLI 0.154.0 · macOS">
            <a:extLst xmlns:a="http://schemas.openxmlformats.org/drawingml/2006/main">
              <a:ext uri="{FF2B5EF4-FFF2-40B4-BE49-F238E27FC236}">
                <a16:creationId xmlns:a16="http://schemas.microsoft.com/office/drawing/2014/main" id="{18B805F3-2A9C-469A-AA28-FC3EC4753F2E}"/>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관찰 기준 · 2026-09-28 · Codex CLI 0.154.0 · macOS</a:t>
            </a:r>
          </a:p>
        </p:txBody>
      </p:sp>
      <p:sp>
        <p:nvSpPr>
          <p:cNvPr id="6" name="단일 과거 CLI 기록을 살펴봅니다. 현재 Desktop 실행이나 반복성을 입증하지 않습니다.">
            <a:extLst xmlns:a="http://schemas.openxmlformats.org/drawingml/2006/main">
              <a:ext uri="{FF2B5EF4-FFF2-40B4-BE49-F238E27FC236}">
                <a16:creationId xmlns:a16="http://schemas.microsoft.com/office/drawing/2014/main" id="{8DBD57C0-77B0-4029-983C-9CDDC5E855E1}"/>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단일 과거 CLI 기록을 살펴봅니다. 현재 Desktop 실행이나 반복성을 입증하지 않습니다.</a:t>
            </a:r>
          </a:p>
        </p:txBody>
      </p:sp>
      <p:sp>
        <p:nvSpPr>
          <p:cNvPr id="7" name="“이 요청을 받으면 수정부터 시작할까?”">
            <a:extLst xmlns:a="http://schemas.openxmlformats.org/drawingml/2006/main">
              <a:ext uri="{FF2B5EF4-FFF2-40B4-BE49-F238E27FC236}">
                <a16:creationId xmlns:a16="http://schemas.microsoft.com/office/drawing/2014/main" id="{92AC630B-6C20-497C-A9E9-D7C15C875D34}"/>
              </a:ext>
            </a:extLst>
          </p:cNvPr>
          <p:cNvSpPr>
            <a:spLocks xmlns:a="http://schemas.openxmlformats.org/drawingml/2006/main" noGrp="1"/>
          </p:cNvSpPr>
          <p:nvPr/>
        </p:nvSpPr>
        <p:spPr>
          <a:xfrm xmlns:a="http://schemas.openxmlformats.org/drawingml/2006/main">
            <a:off x="609600" y="228600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17212B"/>
                </a:solidFill>
                <a:latin typeface="Malgun Gothic"/>
                <a:ea typeface="Malgun Gothic"/>
                <a:cs typeface="Malgun Gothic"/>
              </a:defRPr>
            </a:defPPr>
            <a:lvl1pPr algn="l">
              <a:defRPr sz="3000" b="1">
                <a:solidFill>
                  <a:srgbClr val="17212B"/>
                </a:solidFill>
                <a:latin typeface="Malgun Gothic"/>
                <a:ea typeface="Malgun Gothic"/>
                <a:cs typeface="Malgun Gothic"/>
              </a:defRPr>
            </a:lvl1pPr>
            <a:lvl2pPr algn="l">
              <a:defRPr sz="3000" b="1">
                <a:solidFill>
                  <a:srgbClr val="17212B"/>
                </a:solidFill>
                <a:latin typeface="Malgun Gothic"/>
                <a:ea typeface="Malgun Gothic"/>
                <a:cs typeface="Malgun Gothic"/>
              </a:defRPr>
            </a:lvl2pPr>
            <a:lvl3pPr algn="l">
              <a:defRPr sz="3000" b="1">
                <a:solidFill>
                  <a:srgbClr val="17212B"/>
                </a:solidFill>
                <a:latin typeface="Malgun Gothic"/>
                <a:ea typeface="Malgun Gothic"/>
                <a:cs typeface="Malgun Gothic"/>
              </a:defRPr>
            </a:lvl3pPr>
            <a:lvl4pPr algn="l">
              <a:defRPr sz="3000" b="1">
                <a:solidFill>
                  <a:srgbClr val="17212B"/>
                </a:solidFill>
                <a:latin typeface="Malgun Gothic"/>
                <a:ea typeface="Malgun Gothic"/>
                <a:cs typeface="Malgun Gothic"/>
              </a:defRPr>
            </a:lvl4pPr>
            <a:lvl5pPr algn="l">
              <a:defRPr sz="3000" b="1">
                <a:solidFill>
                  <a:srgbClr val="17212B"/>
                </a:solidFill>
                <a:latin typeface="Malgun Gothic"/>
                <a:ea typeface="Malgun Gothic"/>
                <a:cs typeface="Malgun Gothic"/>
              </a:defRPr>
            </a:lvl5pPr>
            <a:lvl6pPr algn="l">
              <a:defRPr sz="3000" b="1">
                <a:solidFill>
                  <a:srgbClr val="17212B"/>
                </a:solidFill>
                <a:latin typeface="Malgun Gothic"/>
                <a:ea typeface="Malgun Gothic"/>
                <a:cs typeface="Malgun Gothic"/>
              </a:defRPr>
            </a:lvl6pPr>
            <a:lvl7pPr algn="l">
              <a:defRPr sz="3000" b="1">
                <a:solidFill>
                  <a:srgbClr val="17212B"/>
                </a:solidFill>
                <a:latin typeface="Malgun Gothic"/>
                <a:ea typeface="Malgun Gothic"/>
                <a:cs typeface="Malgun Gothic"/>
              </a:defRPr>
            </a:lvl7pPr>
            <a:lvl8pPr algn="l">
              <a:defRPr sz="3000" b="1">
                <a:solidFill>
                  <a:srgbClr val="17212B"/>
                </a:solidFill>
                <a:latin typeface="Malgun Gothic"/>
                <a:ea typeface="Malgun Gothic"/>
                <a:cs typeface="Malgun Gothic"/>
              </a:defRPr>
            </a:lvl8pPr>
            <a:lvl9pPr algn="l">
              <a:defRPr sz="3000" b="1">
                <a:solidFill>
                  <a:srgbClr val="17212B"/>
                </a:solidFill>
                <a:latin typeface="Malgun Gothic"/>
                <a:ea typeface="Malgun Gothic"/>
                <a:cs typeface="Malgun Gothic"/>
              </a:defRPr>
            </a:lvl9pPr>
          </a:lstStyle>
          <a:p xmlns:a="http://schemas.openxmlformats.org/drawingml/2006/main">
            <a:pPr algn="l">
              <a:defRPr sz="3000" b="1">
                <a:solidFill>
                  <a:srgbClr val="17212B"/>
                </a:solidFill>
                <a:latin typeface="Malgun Gothic"/>
                <a:ea typeface="Malgun Gothic"/>
                <a:cs typeface="Malgun Gothic"/>
              </a:defRPr>
            </a:pPr>
            <a:r>
              <a:rPr sz="3000" b="1">
                <a:solidFill>
                  <a:srgbClr val="17212B"/>
                </a:solidFill>
                <a:latin typeface="Malgun Gothic"/>
                <a:ea typeface="Malgun Gothic"/>
                <a:cs typeface="Malgun Gothic"/>
              </a:rPr>
              <a:t>“이 요청을 받으면 수정부터 시작할까?”</a:t>
            </a:r>
          </a:p>
        </p:txBody>
      </p:sp>
      <p:sp>
        <p:nvSpPr>
          <p:cNvPr id="8" name="01">
            <a:extLst xmlns:a="http://schemas.openxmlformats.org/drawingml/2006/main">
              <a:ext uri="{FF2B5EF4-FFF2-40B4-BE49-F238E27FC236}">
                <a16:creationId xmlns:a16="http://schemas.microsoft.com/office/drawing/2014/main" id="{DC299C69-70DE-4FAE-83F6-FEA6CBD58426}"/>
              </a:ext>
            </a:extLst>
          </p:cNvPr>
          <p:cNvSpPr>
            <a:spLocks xmlns:a="http://schemas.openxmlformats.org/drawingml/2006/main" noGrp="1"/>
          </p:cNvSpPr>
          <p:nvPr/>
        </p:nvSpPr>
        <p:spPr>
          <a:xfrm xmlns:a="http://schemas.openxmlformats.org/drawingml/2006/main">
            <a:off x="609600" y="3400425"/>
            <a:ext cx="1762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01</a:t>
            </a:r>
          </a:p>
        </p:txBody>
      </p:sp>
      <p:sp>
        <p:nvSpPr>
          <p:cNvPr id="9" name="재현">
            <a:extLst xmlns:a="http://schemas.openxmlformats.org/drawingml/2006/main">
              <a:ext uri="{FF2B5EF4-FFF2-40B4-BE49-F238E27FC236}">
                <a16:creationId xmlns:a16="http://schemas.microsoft.com/office/drawing/2014/main" id="{621606D9-7B02-49C6-BC20-7C23A82540B3}"/>
              </a:ext>
            </a:extLst>
          </p:cNvPr>
          <p:cNvSpPr>
            <a:spLocks xmlns:a="http://schemas.openxmlformats.org/drawingml/2006/main" noGrp="1"/>
          </p:cNvSpPr>
          <p:nvPr/>
        </p:nvSpPr>
        <p:spPr>
          <a:xfrm xmlns:a="http://schemas.openxmlformats.org/drawingml/2006/main">
            <a:off x="609600" y="3857625"/>
            <a:ext cx="1762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재현</a:t>
            </a:r>
          </a:p>
        </p:txBody>
      </p:sp>
      <p:sp>
        <p:nvSpPr>
          <p:cNvPr id="10" name="실패 확인">
            <a:extLst xmlns:a="http://schemas.openxmlformats.org/drawingml/2006/main">
              <a:ext uri="{FF2B5EF4-FFF2-40B4-BE49-F238E27FC236}">
                <a16:creationId xmlns:a16="http://schemas.microsoft.com/office/drawing/2014/main" id="{C5BEC934-FA15-4E0B-9A84-AA3966AF3C22}"/>
              </a:ext>
            </a:extLst>
          </p:cNvPr>
          <p:cNvSpPr>
            <a:spLocks xmlns:a="http://schemas.openxmlformats.org/drawingml/2006/main" noGrp="1"/>
          </p:cNvSpPr>
          <p:nvPr/>
        </p:nvSpPr>
        <p:spPr>
          <a:xfrm xmlns:a="http://schemas.openxmlformats.org/drawingml/2006/main">
            <a:off x="609600" y="4514850"/>
            <a:ext cx="1762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실패 확인</a:t>
            </a:r>
          </a:p>
        </p:txBody>
      </p:sp>
      <p:sp>
        <p:nvSpPr>
          <p:cNvPr id="11" name="">
            <a:extLst xmlns:a="http://schemas.openxmlformats.org/drawingml/2006/main">
              <a:ext uri="{FF2B5EF4-FFF2-40B4-BE49-F238E27FC236}">
                <a16:creationId xmlns:a16="http://schemas.microsoft.com/office/drawing/2014/main" id="{609CDD6E-7ABA-4839-918D-4453FF0E4524}"/>
              </a:ext>
            </a:extLst>
          </p:cNvPr>
          <p:cNvSpPr>
            <a:spLocks xmlns:a="http://schemas.openxmlformats.org/drawingml/2006/main" noGrp="1"/>
          </p:cNvSpPr>
          <p:nvPr/>
        </p:nvSpPr>
        <p:spPr>
          <a:xfrm xmlns:a="http://schemas.openxmlformats.org/drawingml/2006/main">
            <a:off x="2381250" y="4038600"/>
            <a:ext cx="238125" cy="1619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02">
            <a:extLst xmlns:a="http://schemas.openxmlformats.org/drawingml/2006/main">
              <a:ext uri="{FF2B5EF4-FFF2-40B4-BE49-F238E27FC236}">
                <a16:creationId xmlns:a16="http://schemas.microsoft.com/office/drawing/2014/main" id="{8E8716FD-EB8A-4B54-9B0F-30B92F655AA3}"/>
              </a:ext>
            </a:extLst>
          </p:cNvPr>
          <p:cNvSpPr>
            <a:spLocks xmlns:a="http://schemas.openxmlformats.org/drawingml/2006/main" noGrp="1"/>
          </p:cNvSpPr>
          <p:nvPr/>
        </p:nvSpPr>
        <p:spPr>
          <a:xfrm xmlns:a="http://schemas.openxmlformats.org/drawingml/2006/main">
            <a:off x="2838450" y="3400425"/>
            <a:ext cx="1762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02</a:t>
            </a:r>
          </a:p>
        </p:txBody>
      </p:sp>
      <p:sp>
        <p:nvSpPr>
          <p:cNvPr id="13" name="조사">
            <a:extLst xmlns:a="http://schemas.openxmlformats.org/drawingml/2006/main">
              <a:ext uri="{FF2B5EF4-FFF2-40B4-BE49-F238E27FC236}">
                <a16:creationId xmlns:a16="http://schemas.microsoft.com/office/drawing/2014/main" id="{322D7552-6445-457E-9982-B51E5E1BC8B5}"/>
              </a:ext>
            </a:extLst>
          </p:cNvPr>
          <p:cNvSpPr>
            <a:spLocks xmlns:a="http://schemas.openxmlformats.org/drawingml/2006/main" noGrp="1"/>
          </p:cNvSpPr>
          <p:nvPr/>
        </p:nvSpPr>
        <p:spPr>
          <a:xfrm xmlns:a="http://schemas.openxmlformats.org/drawingml/2006/main">
            <a:off x="2838450" y="3857625"/>
            <a:ext cx="1762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조사</a:t>
            </a:r>
          </a:p>
        </p:txBody>
      </p:sp>
      <p:sp>
        <p:nvSpPr>
          <p:cNvPr id="14" name="근거 연결">
            <a:extLst xmlns:a="http://schemas.openxmlformats.org/drawingml/2006/main">
              <a:ext uri="{FF2B5EF4-FFF2-40B4-BE49-F238E27FC236}">
                <a16:creationId xmlns:a16="http://schemas.microsoft.com/office/drawing/2014/main" id="{F3EA545A-8BCB-4C54-9E5E-7F5175AFD8DF}"/>
              </a:ext>
            </a:extLst>
          </p:cNvPr>
          <p:cNvSpPr>
            <a:spLocks xmlns:a="http://schemas.openxmlformats.org/drawingml/2006/main" noGrp="1"/>
          </p:cNvSpPr>
          <p:nvPr/>
        </p:nvSpPr>
        <p:spPr>
          <a:xfrm xmlns:a="http://schemas.openxmlformats.org/drawingml/2006/main">
            <a:off x="2838450" y="4514850"/>
            <a:ext cx="1762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근거 연결</a:t>
            </a:r>
          </a:p>
        </p:txBody>
      </p:sp>
      <p:sp>
        <p:nvSpPr>
          <p:cNvPr id="15" name="">
            <a:extLst xmlns:a="http://schemas.openxmlformats.org/drawingml/2006/main">
              <a:ext uri="{FF2B5EF4-FFF2-40B4-BE49-F238E27FC236}">
                <a16:creationId xmlns:a16="http://schemas.microsoft.com/office/drawing/2014/main" id="{E4DF449F-1013-4A40-9E1D-A22E4A38F49F}"/>
              </a:ext>
            </a:extLst>
          </p:cNvPr>
          <p:cNvSpPr>
            <a:spLocks xmlns:a="http://schemas.openxmlformats.org/drawingml/2006/main" noGrp="1"/>
          </p:cNvSpPr>
          <p:nvPr/>
        </p:nvSpPr>
        <p:spPr>
          <a:xfrm xmlns:a="http://schemas.openxmlformats.org/drawingml/2006/main">
            <a:off x="4610100" y="4038600"/>
            <a:ext cx="238125" cy="1619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03">
            <a:extLst xmlns:a="http://schemas.openxmlformats.org/drawingml/2006/main">
              <a:ext uri="{FF2B5EF4-FFF2-40B4-BE49-F238E27FC236}">
                <a16:creationId xmlns:a16="http://schemas.microsoft.com/office/drawing/2014/main" id="{A1F84C9F-32B1-460C-9008-663E10CBE0DD}"/>
              </a:ext>
            </a:extLst>
          </p:cNvPr>
          <p:cNvSpPr>
            <a:spLocks xmlns:a="http://schemas.openxmlformats.org/drawingml/2006/main" noGrp="1"/>
          </p:cNvSpPr>
          <p:nvPr/>
        </p:nvSpPr>
        <p:spPr>
          <a:xfrm xmlns:a="http://schemas.openxmlformats.org/drawingml/2006/main">
            <a:off x="5067300" y="3400425"/>
            <a:ext cx="1762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03</a:t>
            </a:r>
          </a:p>
        </p:txBody>
      </p:sp>
      <p:sp>
        <p:nvSpPr>
          <p:cNvPr id="17" name="계획">
            <a:extLst xmlns:a="http://schemas.openxmlformats.org/drawingml/2006/main">
              <a:ext uri="{FF2B5EF4-FFF2-40B4-BE49-F238E27FC236}">
                <a16:creationId xmlns:a16="http://schemas.microsoft.com/office/drawing/2014/main" id="{3112D06F-01E0-4F30-A1E6-5796B30186BA}"/>
              </a:ext>
            </a:extLst>
          </p:cNvPr>
          <p:cNvSpPr>
            <a:spLocks xmlns:a="http://schemas.openxmlformats.org/drawingml/2006/main" noGrp="1"/>
          </p:cNvSpPr>
          <p:nvPr/>
        </p:nvSpPr>
        <p:spPr>
          <a:xfrm xmlns:a="http://schemas.openxmlformats.org/drawingml/2006/main">
            <a:off x="5067300" y="3857625"/>
            <a:ext cx="1762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계획</a:t>
            </a:r>
          </a:p>
        </p:txBody>
      </p:sp>
      <p:sp>
        <p:nvSpPr>
          <p:cNvPr id="18" name="수정 전 설명">
            <a:extLst xmlns:a="http://schemas.openxmlformats.org/drawingml/2006/main">
              <a:ext uri="{FF2B5EF4-FFF2-40B4-BE49-F238E27FC236}">
                <a16:creationId xmlns:a16="http://schemas.microsoft.com/office/drawing/2014/main" id="{DEA2073B-F59E-46C9-BAD1-A2CB14E8AB4B}"/>
              </a:ext>
            </a:extLst>
          </p:cNvPr>
          <p:cNvSpPr>
            <a:spLocks xmlns:a="http://schemas.openxmlformats.org/drawingml/2006/main" noGrp="1"/>
          </p:cNvSpPr>
          <p:nvPr/>
        </p:nvSpPr>
        <p:spPr>
          <a:xfrm xmlns:a="http://schemas.openxmlformats.org/drawingml/2006/main">
            <a:off x="5067300" y="4514850"/>
            <a:ext cx="1762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수정 전 설명</a:t>
            </a:r>
          </a:p>
        </p:txBody>
      </p:sp>
      <p:sp>
        <p:nvSpPr>
          <p:cNvPr id="19" name="">
            <a:extLst xmlns:a="http://schemas.openxmlformats.org/drawingml/2006/main">
              <a:ext uri="{FF2B5EF4-FFF2-40B4-BE49-F238E27FC236}">
                <a16:creationId xmlns:a16="http://schemas.microsoft.com/office/drawing/2014/main" id="{C39A446B-3858-41DB-85CD-33FAA021F321}"/>
              </a:ext>
            </a:extLst>
          </p:cNvPr>
          <p:cNvSpPr>
            <a:spLocks xmlns:a="http://schemas.openxmlformats.org/drawingml/2006/main" noGrp="1"/>
          </p:cNvSpPr>
          <p:nvPr/>
        </p:nvSpPr>
        <p:spPr>
          <a:xfrm xmlns:a="http://schemas.openxmlformats.org/drawingml/2006/main">
            <a:off x="6838950" y="4038600"/>
            <a:ext cx="238125" cy="1619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4">
            <a:extLst xmlns:a="http://schemas.openxmlformats.org/drawingml/2006/main">
              <a:ext uri="{FF2B5EF4-FFF2-40B4-BE49-F238E27FC236}">
                <a16:creationId xmlns:a16="http://schemas.microsoft.com/office/drawing/2014/main" id="{925BC995-5B18-44B9-81F3-F6C95F122C3A}"/>
              </a:ext>
            </a:extLst>
          </p:cNvPr>
          <p:cNvSpPr>
            <a:spLocks xmlns:a="http://schemas.openxmlformats.org/drawingml/2006/main" noGrp="1"/>
          </p:cNvSpPr>
          <p:nvPr/>
        </p:nvSpPr>
        <p:spPr>
          <a:xfrm xmlns:a="http://schemas.openxmlformats.org/drawingml/2006/main">
            <a:off x="7296150" y="3400425"/>
            <a:ext cx="1762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04</a:t>
            </a:r>
          </a:p>
        </p:txBody>
      </p:sp>
      <p:sp>
        <p:nvSpPr>
          <p:cNvPr id="21" name="수정">
            <a:extLst xmlns:a="http://schemas.openxmlformats.org/drawingml/2006/main">
              <a:ext uri="{FF2B5EF4-FFF2-40B4-BE49-F238E27FC236}">
                <a16:creationId xmlns:a16="http://schemas.microsoft.com/office/drawing/2014/main" id="{BFC60FAF-F613-46B2-9B07-5E2247AF430A}"/>
              </a:ext>
            </a:extLst>
          </p:cNvPr>
          <p:cNvSpPr>
            <a:spLocks xmlns:a="http://schemas.openxmlformats.org/drawingml/2006/main" noGrp="1"/>
          </p:cNvSpPr>
          <p:nvPr/>
        </p:nvSpPr>
        <p:spPr>
          <a:xfrm xmlns:a="http://schemas.openxmlformats.org/drawingml/2006/main">
            <a:off x="7296150" y="3857625"/>
            <a:ext cx="1762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수정</a:t>
            </a:r>
          </a:p>
        </p:txBody>
      </p:sp>
      <p:sp>
        <p:nvSpPr>
          <p:cNvPr id="22" name="최소 변경">
            <a:extLst xmlns:a="http://schemas.openxmlformats.org/drawingml/2006/main">
              <a:ext uri="{FF2B5EF4-FFF2-40B4-BE49-F238E27FC236}">
                <a16:creationId xmlns:a16="http://schemas.microsoft.com/office/drawing/2014/main" id="{4F1439E3-888E-4F25-8C99-2FD8BB4C9D98}"/>
              </a:ext>
            </a:extLst>
          </p:cNvPr>
          <p:cNvSpPr>
            <a:spLocks xmlns:a="http://schemas.openxmlformats.org/drawingml/2006/main" noGrp="1"/>
          </p:cNvSpPr>
          <p:nvPr/>
        </p:nvSpPr>
        <p:spPr>
          <a:xfrm xmlns:a="http://schemas.openxmlformats.org/drawingml/2006/main">
            <a:off x="7296150" y="4514850"/>
            <a:ext cx="1762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최소 변경</a:t>
            </a:r>
          </a:p>
        </p:txBody>
      </p:sp>
      <p:sp>
        <p:nvSpPr>
          <p:cNvPr id="23" name="">
            <a:extLst xmlns:a="http://schemas.openxmlformats.org/drawingml/2006/main">
              <a:ext uri="{FF2B5EF4-FFF2-40B4-BE49-F238E27FC236}">
                <a16:creationId xmlns:a16="http://schemas.microsoft.com/office/drawing/2014/main" id="{5BE886A6-D189-4B3A-A269-964765B2BA18}"/>
              </a:ext>
            </a:extLst>
          </p:cNvPr>
          <p:cNvSpPr>
            <a:spLocks xmlns:a="http://schemas.openxmlformats.org/drawingml/2006/main" noGrp="1"/>
          </p:cNvSpPr>
          <p:nvPr/>
        </p:nvSpPr>
        <p:spPr>
          <a:xfrm xmlns:a="http://schemas.openxmlformats.org/drawingml/2006/main">
            <a:off x="9067800" y="4038600"/>
            <a:ext cx="238125" cy="1619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4" name="05">
            <a:extLst xmlns:a="http://schemas.openxmlformats.org/drawingml/2006/main">
              <a:ext uri="{FF2B5EF4-FFF2-40B4-BE49-F238E27FC236}">
                <a16:creationId xmlns:a16="http://schemas.microsoft.com/office/drawing/2014/main" id="{CFFFA74A-6898-456C-A3F5-3EB75E952442}"/>
              </a:ext>
            </a:extLst>
          </p:cNvPr>
          <p:cNvSpPr>
            <a:spLocks xmlns:a="http://schemas.openxmlformats.org/drawingml/2006/main" noGrp="1"/>
          </p:cNvSpPr>
          <p:nvPr/>
        </p:nvSpPr>
        <p:spPr>
          <a:xfrm xmlns:a="http://schemas.openxmlformats.org/drawingml/2006/main">
            <a:off x="9525000" y="3400425"/>
            <a:ext cx="1762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05</a:t>
            </a:r>
          </a:p>
        </p:txBody>
      </p:sp>
      <p:sp>
        <p:nvSpPr>
          <p:cNvPr id="25" name="검증">
            <a:extLst xmlns:a="http://schemas.openxmlformats.org/drawingml/2006/main">
              <a:ext uri="{FF2B5EF4-FFF2-40B4-BE49-F238E27FC236}">
                <a16:creationId xmlns:a16="http://schemas.microsoft.com/office/drawing/2014/main" id="{CBE26DA6-4E27-432B-98E1-B2B3CF1BD3F1}"/>
              </a:ext>
            </a:extLst>
          </p:cNvPr>
          <p:cNvSpPr>
            <a:spLocks xmlns:a="http://schemas.openxmlformats.org/drawingml/2006/main" noGrp="1"/>
          </p:cNvSpPr>
          <p:nvPr/>
        </p:nvSpPr>
        <p:spPr>
          <a:xfrm xmlns:a="http://schemas.openxmlformats.org/drawingml/2006/main">
            <a:off x="9525000" y="3857625"/>
            <a:ext cx="1762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검증</a:t>
            </a:r>
          </a:p>
        </p:txBody>
      </p:sp>
      <p:sp>
        <p:nvSpPr>
          <p:cNvPr id="26" name="결과 확인">
            <a:extLst xmlns:a="http://schemas.openxmlformats.org/drawingml/2006/main">
              <a:ext uri="{FF2B5EF4-FFF2-40B4-BE49-F238E27FC236}">
                <a16:creationId xmlns:a16="http://schemas.microsoft.com/office/drawing/2014/main" id="{216D311C-A14C-42D6-B046-9979E0337322}"/>
              </a:ext>
            </a:extLst>
          </p:cNvPr>
          <p:cNvSpPr>
            <a:spLocks xmlns:a="http://schemas.openxmlformats.org/drawingml/2006/main" noGrp="1"/>
          </p:cNvSpPr>
          <p:nvPr/>
        </p:nvSpPr>
        <p:spPr>
          <a:xfrm xmlns:a="http://schemas.openxmlformats.org/drawingml/2006/main">
            <a:off x="9525000" y="4514850"/>
            <a:ext cx="1762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결과 확인</a:t>
            </a:r>
          </a:p>
        </p:txBody>
      </p:sp>
      <p:sp>
        <p:nvSpPr>
          <p:cNvPr id="27" name="">
            <a:extLst xmlns:a="http://schemas.openxmlformats.org/drawingml/2006/main">
              <a:ext uri="{FF2B5EF4-FFF2-40B4-BE49-F238E27FC236}">
                <a16:creationId xmlns:a16="http://schemas.microsoft.com/office/drawing/2014/main" id="{6A601D81-5084-4239-A847-A8E1BB06E6E8}"/>
              </a:ext>
            </a:extLst>
          </p:cNvPr>
          <p:cNvSpPr>
            <a:spLocks xmlns:a="http://schemas.openxmlformats.org/drawingml/2006/main" noGrp="1"/>
          </p:cNvSpPr>
          <p:nvPr/>
        </p:nvSpPr>
        <p:spPr>
          <a:xfrm xmlns:a="http://schemas.openxmlformats.org/drawingml/2006/main">
            <a:off x="609600" y="5219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다음 두 장에서 요청한 흐름과 기록된 행동을 대조한다.">
            <a:extLst xmlns:a="http://schemas.openxmlformats.org/drawingml/2006/main">
              <a:ext uri="{FF2B5EF4-FFF2-40B4-BE49-F238E27FC236}">
                <a16:creationId xmlns:a16="http://schemas.microsoft.com/office/drawing/2014/main" id="{DEBDEEB7-6EAF-4B60-9022-09B36ACD88DE}"/>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두 장에서 요청한 흐름과 기록된 행동을 대조한다.</a:t>
            </a:r>
          </a:p>
        </p:txBody>
      </p:sp>
    </p:spTree>
    <p:extLst>
      <p:ext uri="{BB962C8B-B14F-4D97-AF65-F5344CB8AC3E}">
        <p14:creationId xmlns:p14="http://schemas.microsoft.com/office/powerpoint/2010/main" val="1514550925"/>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계약을 보존하는 최소 변경">
            <a:extLst xmlns:a="http://schemas.openxmlformats.org/drawingml/2006/main">
              <a:ext uri="{FF2B5EF4-FFF2-40B4-BE49-F238E27FC236}">
                <a16:creationId xmlns:a16="http://schemas.microsoft.com/office/drawing/2014/main" id="{ED2F1CA1-3183-44F3-B3FB-6C72936C813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계약을 보존하는 최소 변경</a:t>
            </a:r>
          </a:p>
        </p:txBody>
      </p:sp>
      <p:sp>
        <p:nvSpPr>
          <p:cNvPr id="2" name="S16">
            <a:extLst xmlns:a="http://schemas.openxmlformats.org/drawingml/2006/main">
              <a:ext uri="{FF2B5EF4-FFF2-40B4-BE49-F238E27FC236}">
                <a16:creationId xmlns:a16="http://schemas.microsoft.com/office/drawing/2014/main" id="{7A3E5FA1-C58B-48A7-8D4B-06F15072957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조사에서 한 줄 변경까지">
            <a:extLst xmlns:a="http://schemas.openxmlformats.org/drawingml/2006/main">
              <a:ext uri="{FF2B5EF4-FFF2-40B4-BE49-F238E27FC236}">
                <a16:creationId xmlns:a16="http://schemas.microsoft.com/office/drawing/2014/main" id="{94F92108-C280-40AD-AC04-DCB26345370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F49A949F-66F4-4836-8407-E9BC79225FDF}"/>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84882615-8383-4CA7-AED6-7B6C62D59F63}"/>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0C5B6594-CD5E-4FF7-908B-6202551AA8E3}"/>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실패 테스트 → 호출 경로 → 계약 확인 → 수정 전 계획">
            <a:extLst xmlns:a="http://schemas.openxmlformats.org/drawingml/2006/main">
              <a:ext uri="{FF2B5EF4-FFF2-40B4-BE49-F238E27FC236}">
                <a16:creationId xmlns:a16="http://schemas.microsoft.com/office/drawing/2014/main" id="{F70958B6-B56D-4EA9-8014-F3528444F520}"/>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실패 테스트 → 호출 경로 → 계약 확인 → 수정 전 계획</a:t>
            </a:r>
          </a:p>
        </p:txBody>
      </p:sp>
      <p:sp>
        <p:nvSpPr>
          <p:cNvPr id="8" name="끝 좌표를 제외한다: [x_start, x_end)">
            <a:extLst xmlns:a="http://schemas.openxmlformats.org/drawingml/2006/main">
              <a:ext uri="{FF2B5EF4-FFF2-40B4-BE49-F238E27FC236}">
                <a16:creationId xmlns:a16="http://schemas.microsoft.com/office/drawing/2014/main" id="{57B5B862-48BA-4681-B558-93A27D8418B7}"/>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제외한다: [x_start, x_end)</a:t>
            </a:r>
          </a:p>
        </p:txBody>
      </p:sp>
      <p:sp>
        <p:nvSpPr>
          <p:cNvPr id="9" name="">
            <a:extLst xmlns:a="http://schemas.openxmlformats.org/drawingml/2006/main">
              <a:ext uri="{FF2B5EF4-FFF2-40B4-BE49-F238E27FC236}">
                <a16:creationId xmlns:a16="http://schemas.microsoft.com/office/drawing/2014/main" id="{E4D605FC-3A04-415B-9B86-BE19EB8EA667}"/>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9BB068E-AA94-4824-8E4B-608269A18B7A}"/>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CB19E9C4-7A1B-4E30-8A76-BD27158BF89D}"/>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BE5DAD65-594C-491F-93E9-32912D2D5C37}"/>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F9A99DDB-4A68-4186-BEF1-060E0CDBF5E2}"/>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87250BB9-12E8-4B1C-BDAB-F59B30AF1532}"/>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75B93AEB-8C66-4A25-8788-895350D54C94}"/>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C8F44920-3C92-4C09-A5BC-0E7A102CCB60}"/>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계약대로 너비 2">
            <a:extLst xmlns:a="http://schemas.openxmlformats.org/drawingml/2006/main">
              <a:ext uri="{FF2B5EF4-FFF2-40B4-BE49-F238E27FC236}">
                <a16:creationId xmlns:a16="http://schemas.microsoft.com/office/drawing/2014/main" id="{B885468E-8B76-41B6-926B-E87E71084841}"/>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계약대로 너비 2</a:t>
            </a:r>
          </a:p>
        </p:txBody>
      </p:sp>
    </p:spTree>
    <p:extLst>
      <p:ext uri="{BB962C8B-B14F-4D97-AF65-F5344CB8AC3E}">
        <p14:creationId xmlns:p14="http://schemas.microsoft.com/office/powerpoint/2010/main" val="1243178362"/>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수정 뒤 확인한 것">
            <a:extLst xmlns:a="http://schemas.openxmlformats.org/drawingml/2006/main">
              <a:ext uri="{FF2B5EF4-FFF2-40B4-BE49-F238E27FC236}">
                <a16:creationId xmlns:a16="http://schemas.microsoft.com/office/drawing/2014/main" id="{385545DE-D2F1-4053-A1E3-E2DF9D5A28C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수정 뒤 확인한 것</a:t>
            </a:r>
          </a:p>
        </p:txBody>
      </p:sp>
      <p:sp>
        <p:nvSpPr>
          <p:cNvPr id="2" name="S17">
            <a:extLst xmlns:a="http://schemas.openxmlformats.org/drawingml/2006/main">
              <a:ext uri="{FF2B5EF4-FFF2-40B4-BE49-F238E27FC236}">
                <a16:creationId xmlns:a16="http://schemas.microsoft.com/office/drawing/2014/main" id="{1DA88083-9264-4982-A181-EF338D98C1B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변경 결과와 확인 증거">
            <a:extLst xmlns:a="http://schemas.openxmlformats.org/drawingml/2006/main">
              <a:ext uri="{FF2B5EF4-FFF2-40B4-BE49-F238E27FC236}">
                <a16:creationId xmlns:a16="http://schemas.microsoft.com/office/drawing/2014/main" id="{AC10188F-7C05-4CAC-B776-E5957513F73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CB154FDD-9E01-4CFB-875B-A489506A806E}"/>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E7F33E6C-06A5-42E1-862A-C76ECC6197C7}"/>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4C55B765-C381-457E-B088-FD8AB5A0C7FA}"/>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동작 확인">
            <a:extLst xmlns:a="http://schemas.openxmlformats.org/drawingml/2006/main">
              <a:ext uri="{FF2B5EF4-FFF2-40B4-BE49-F238E27FC236}">
                <a16:creationId xmlns:a16="http://schemas.microsoft.com/office/drawing/2014/main" id="{D2073F87-F72D-4043-A610-50326CE2B04B}"/>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동작 확인</a:t>
            </a:r>
          </a:p>
        </p:txBody>
      </p:sp>
      <p:sp>
        <p:nvSpPr>
          <p:cNvPr id="8" name="">
            <a:extLst xmlns:a="http://schemas.openxmlformats.org/drawingml/2006/main">
              <a:ext uri="{FF2B5EF4-FFF2-40B4-BE49-F238E27FC236}">
                <a16:creationId xmlns:a16="http://schemas.microsoft.com/office/drawing/2014/main" id="{2B082EA6-1201-4B06-B117-981F497628F6}"/>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3 / 3">
            <a:extLst xmlns:a="http://schemas.openxmlformats.org/drawingml/2006/main">
              <a:ext uri="{FF2B5EF4-FFF2-40B4-BE49-F238E27FC236}">
                <a16:creationId xmlns:a16="http://schemas.microsoft.com/office/drawing/2014/main" id="{E187AB30-AF43-41E0-B92F-E05B8F904C65}"/>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0" name="crop 집중 테스트">
            <a:extLst xmlns:a="http://schemas.openxmlformats.org/drawingml/2006/main">
              <a:ext uri="{FF2B5EF4-FFF2-40B4-BE49-F238E27FC236}">
                <a16:creationId xmlns:a16="http://schemas.microsoft.com/office/drawing/2014/main" id="{4B4B8ED7-18B6-4FA8-BF8D-2F99E557C827}"/>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집중 테스트</a:t>
            </a:r>
          </a:p>
        </p:txBody>
      </p:sp>
      <p:sp>
        <p:nvSpPr>
          <p:cNvPr id="11" name="전체 suite 11 / 11 통과">
            <a:extLst xmlns:a="http://schemas.openxmlformats.org/drawingml/2006/main">
              <a:ext uri="{FF2B5EF4-FFF2-40B4-BE49-F238E27FC236}">
                <a16:creationId xmlns:a16="http://schemas.microsoft.com/office/drawing/2014/main" id="{37647CBE-4CC0-45FF-A42C-897E26CD04CC}"/>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전체 suite 11 / 11 통과</a:t>
            </a:r>
          </a:p>
        </p:txBody>
      </p:sp>
      <p:sp>
        <p:nvSpPr>
          <p:cNvPr id="12" name="실행 확인">
            <a:extLst xmlns:a="http://schemas.openxmlformats.org/drawingml/2006/main">
              <a:ext uri="{FF2B5EF4-FFF2-40B4-BE49-F238E27FC236}">
                <a16:creationId xmlns:a16="http://schemas.microsoft.com/office/drawing/2014/main" id="{205E5A9F-32C3-4D79-8625-0121EF4370D6}"/>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실행 확인</a:t>
            </a:r>
          </a:p>
        </p:txBody>
      </p:sp>
      <p:sp>
        <p:nvSpPr>
          <p:cNvPr id="13" name="">
            <a:extLst xmlns:a="http://schemas.openxmlformats.org/drawingml/2006/main">
              <a:ext uri="{FF2B5EF4-FFF2-40B4-BE49-F238E27FC236}">
                <a16:creationId xmlns:a16="http://schemas.microsoft.com/office/drawing/2014/main" id="{40E7F136-4C2A-4307-8770-94F78F0468E4}"/>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PASS">
            <a:extLst xmlns:a="http://schemas.openxmlformats.org/drawingml/2006/main">
              <a:ext uri="{FF2B5EF4-FFF2-40B4-BE49-F238E27FC236}">
                <a16:creationId xmlns:a16="http://schemas.microsoft.com/office/drawing/2014/main" id="{0B0D4E42-C60C-4ACF-A29A-01922C661F2C}"/>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5" name="CLI smoke">
            <a:extLst xmlns:a="http://schemas.openxmlformats.org/drawingml/2006/main">
              <a:ext uri="{FF2B5EF4-FFF2-40B4-BE49-F238E27FC236}">
                <a16:creationId xmlns:a16="http://schemas.microsoft.com/office/drawing/2014/main" id="{64FD78FA-5BD6-4516-A67B-A22247AB3768}"/>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smoke</a:t>
            </a:r>
          </a:p>
        </p:txBody>
      </p:sp>
      <p:sp>
        <p:nvSpPr>
          <p:cNvPr id="16" name="기록된 샘플의 실행 경로">
            <a:extLst xmlns:a="http://schemas.openxmlformats.org/drawingml/2006/main">
              <a:ext uri="{FF2B5EF4-FFF2-40B4-BE49-F238E27FC236}">
                <a16:creationId xmlns:a16="http://schemas.microsoft.com/office/drawing/2014/main" id="{7AE716E8-EECE-4683-8046-CB3DB60C8B9C}"/>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7" name="범위 확인">
            <a:extLst xmlns:a="http://schemas.openxmlformats.org/drawingml/2006/main">
              <a:ext uri="{FF2B5EF4-FFF2-40B4-BE49-F238E27FC236}">
                <a16:creationId xmlns:a16="http://schemas.microsoft.com/office/drawing/2014/main" id="{1703F6FC-AF84-4A04-869C-B716EC4DD412}"/>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범위 확인</a:t>
            </a:r>
          </a:p>
        </p:txBody>
      </p:sp>
      <p:sp>
        <p:nvSpPr>
          <p:cNvPr id="18" name="">
            <a:extLst xmlns:a="http://schemas.openxmlformats.org/drawingml/2006/main">
              <a:ext uri="{FF2B5EF4-FFF2-40B4-BE49-F238E27FC236}">
                <a16:creationId xmlns:a16="http://schemas.microsoft.com/office/drawing/2014/main" id="{4B9D3624-12A3-4304-AD87-54DF3EA69E05}"/>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1줄">
            <a:extLst xmlns:a="http://schemas.openxmlformats.org/drawingml/2006/main">
              <a:ext uri="{FF2B5EF4-FFF2-40B4-BE49-F238E27FC236}">
                <a16:creationId xmlns:a16="http://schemas.microsoft.com/office/drawing/2014/main" id="{F6CD6AD3-5723-4222-AC9A-E7182F3C7640}"/>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0" name="한 파일의 crop 구현">
            <a:extLst xmlns:a="http://schemas.openxmlformats.org/drawingml/2006/main">
              <a:ext uri="{FF2B5EF4-FFF2-40B4-BE49-F238E27FC236}">
                <a16:creationId xmlns:a16="http://schemas.microsoft.com/office/drawing/2014/main" id="{C0F9BCCF-D3E1-485F-9DCC-F3530EBF1AB1}"/>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1" name="git diff --check 통과">
            <a:extLst xmlns:a="http://schemas.openxmlformats.org/drawingml/2006/main">
              <a:ext uri="{FF2B5EF4-FFF2-40B4-BE49-F238E27FC236}">
                <a16:creationId xmlns:a16="http://schemas.microsoft.com/office/drawing/2014/main" id="{939A4215-540F-4153-9B19-78090D27ABA8}"/>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Tree>
    <p:extLst>
      <p:ext uri="{BB962C8B-B14F-4D97-AF65-F5344CB8AC3E}">
        <p14:creationId xmlns:p14="http://schemas.microsoft.com/office/powerpoint/2010/main" val="804691259"/>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1 · 생성 뒤에 남는 판단">
            <a:extLst xmlns:a="http://schemas.openxmlformats.org/drawingml/2006/main">
              <a:ext uri="{FF2B5EF4-FFF2-40B4-BE49-F238E27FC236}">
                <a16:creationId xmlns:a16="http://schemas.microsoft.com/office/drawing/2014/main" id="{8110EC0B-A85F-461E-9B97-7AEA584F725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생성 뒤에 남는 판단</a:t>
            </a:r>
          </a:p>
        </p:txBody>
      </p:sp>
      <p:sp>
        <p:nvSpPr>
          <p:cNvPr id="2" name="S18">
            <a:extLst xmlns:a="http://schemas.openxmlformats.org/drawingml/2006/main">
              <a:ext uri="{FF2B5EF4-FFF2-40B4-BE49-F238E27FC236}">
                <a16:creationId xmlns:a16="http://schemas.microsoft.com/office/drawing/2014/main" id="{A730AD37-01DB-4701-A35C-3D9528934D1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Generated ≠ Done">
            <a:extLst xmlns:a="http://schemas.openxmlformats.org/drawingml/2006/main">
              <a:ext uri="{FF2B5EF4-FFF2-40B4-BE49-F238E27FC236}">
                <a16:creationId xmlns:a16="http://schemas.microsoft.com/office/drawing/2014/main" id="{54A96560-BD31-428B-825D-8ECAE9457D1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D09E3571-565F-444B-BD56-F24CB7CF1CE7}"/>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 모델 · 관찰 예: TRIAL-002에서 테스트·CLI·diff를 확인">
            <a:extLst xmlns:a="http://schemas.openxmlformats.org/drawingml/2006/main">
              <a:ext uri="{FF2B5EF4-FFF2-40B4-BE49-F238E27FC236}">
                <a16:creationId xmlns:a16="http://schemas.microsoft.com/office/drawing/2014/main" id="{D3CD7332-C88A-4100-B421-D67A8021D915}"/>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 모델 · 관찰 예: TRIAL-002에서 테스트·CLI·diff를 확인</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D2FD4022-8132-4521-A9A5-20355868EC1F}"/>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코드가 나왔다">
            <a:extLst xmlns:a="http://schemas.openxmlformats.org/drawingml/2006/main">
              <a:ext uri="{FF2B5EF4-FFF2-40B4-BE49-F238E27FC236}">
                <a16:creationId xmlns:a16="http://schemas.microsoft.com/office/drawing/2014/main" id="{BE8969FC-C767-4529-AA58-F74C6D1FF824}"/>
              </a:ext>
            </a:extLst>
          </p:cNvPr>
          <p:cNvSpPr>
            <a:spLocks xmlns:a="http://schemas.openxmlformats.org/drawingml/2006/main" noGrp="1"/>
          </p:cNvSpPr>
          <p:nvPr/>
        </p:nvSpPr>
        <p:spPr>
          <a:xfrm xmlns:a="http://schemas.openxmlformats.org/drawingml/2006/main">
            <a:off x="609600" y="2362200"/>
            <a:ext cx="36195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17212B"/>
                </a:solidFill>
                <a:latin typeface="Malgun Gothic"/>
                <a:ea typeface="Malgun Gothic"/>
                <a:cs typeface="Malgun Gothic"/>
              </a:defRPr>
            </a:defPPr>
            <a:lvl1pPr algn="l">
              <a:defRPr sz="3000" b="1">
                <a:solidFill>
                  <a:srgbClr val="17212B"/>
                </a:solidFill>
                <a:latin typeface="Malgun Gothic"/>
                <a:ea typeface="Malgun Gothic"/>
                <a:cs typeface="Malgun Gothic"/>
              </a:defRPr>
            </a:lvl1pPr>
            <a:lvl2pPr algn="l">
              <a:defRPr sz="3000" b="1">
                <a:solidFill>
                  <a:srgbClr val="17212B"/>
                </a:solidFill>
                <a:latin typeface="Malgun Gothic"/>
                <a:ea typeface="Malgun Gothic"/>
                <a:cs typeface="Malgun Gothic"/>
              </a:defRPr>
            </a:lvl2pPr>
            <a:lvl3pPr algn="l">
              <a:defRPr sz="3000" b="1">
                <a:solidFill>
                  <a:srgbClr val="17212B"/>
                </a:solidFill>
                <a:latin typeface="Malgun Gothic"/>
                <a:ea typeface="Malgun Gothic"/>
                <a:cs typeface="Malgun Gothic"/>
              </a:defRPr>
            </a:lvl3pPr>
            <a:lvl4pPr algn="l">
              <a:defRPr sz="3000" b="1">
                <a:solidFill>
                  <a:srgbClr val="17212B"/>
                </a:solidFill>
                <a:latin typeface="Malgun Gothic"/>
                <a:ea typeface="Malgun Gothic"/>
                <a:cs typeface="Malgun Gothic"/>
              </a:defRPr>
            </a:lvl4pPr>
            <a:lvl5pPr algn="l">
              <a:defRPr sz="3000" b="1">
                <a:solidFill>
                  <a:srgbClr val="17212B"/>
                </a:solidFill>
                <a:latin typeface="Malgun Gothic"/>
                <a:ea typeface="Malgun Gothic"/>
                <a:cs typeface="Malgun Gothic"/>
              </a:defRPr>
            </a:lvl5pPr>
            <a:lvl6pPr algn="l">
              <a:defRPr sz="3000" b="1">
                <a:solidFill>
                  <a:srgbClr val="17212B"/>
                </a:solidFill>
                <a:latin typeface="Malgun Gothic"/>
                <a:ea typeface="Malgun Gothic"/>
                <a:cs typeface="Malgun Gothic"/>
              </a:defRPr>
            </a:lvl6pPr>
            <a:lvl7pPr algn="l">
              <a:defRPr sz="3000" b="1">
                <a:solidFill>
                  <a:srgbClr val="17212B"/>
                </a:solidFill>
                <a:latin typeface="Malgun Gothic"/>
                <a:ea typeface="Malgun Gothic"/>
                <a:cs typeface="Malgun Gothic"/>
              </a:defRPr>
            </a:lvl7pPr>
            <a:lvl8pPr algn="l">
              <a:defRPr sz="3000" b="1">
                <a:solidFill>
                  <a:srgbClr val="17212B"/>
                </a:solidFill>
                <a:latin typeface="Malgun Gothic"/>
                <a:ea typeface="Malgun Gothic"/>
                <a:cs typeface="Malgun Gothic"/>
              </a:defRPr>
            </a:lvl8pPr>
            <a:lvl9pPr algn="l">
              <a:defRPr sz="3000" b="1">
                <a:solidFill>
                  <a:srgbClr val="17212B"/>
                </a:solidFill>
                <a:latin typeface="Malgun Gothic"/>
                <a:ea typeface="Malgun Gothic"/>
                <a:cs typeface="Malgun Gothic"/>
              </a:defRPr>
            </a:lvl9pPr>
          </a:lstStyle>
          <a:p xmlns:a="http://schemas.openxmlformats.org/drawingml/2006/main">
            <a:pPr algn="l">
              <a:defRPr sz="3000" b="1">
                <a:solidFill>
                  <a:srgbClr val="17212B"/>
                </a:solidFill>
                <a:latin typeface="Malgun Gothic"/>
                <a:ea typeface="Malgun Gothic"/>
                <a:cs typeface="Malgun Gothic"/>
              </a:defRPr>
            </a:pPr>
            <a:r>
              <a:rPr sz="3000" b="1">
                <a:solidFill>
                  <a:srgbClr val="17212B"/>
                </a:solidFill>
                <a:latin typeface="Malgun Gothic"/>
                <a:ea typeface="Malgun Gothic"/>
                <a:cs typeface="Malgun Gothic"/>
              </a:rPr>
              <a:t>코드가 나왔다</a:t>
            </a:r>
          </a:p>
        </p:txBody>
      </p:sp>
      <p:sp>
        <p:nvSpPr>
          <p:cNvPr id="8" name="완료라고 말할 수 있나?">
            <a:extLst xmlns:a="http://schemas.openxmlformats.org/drawingml/2006/main">
              <a:ext uri="{FF2B5EF4-FFF2-40B4-BE49-F238E27FC236}">
                <a16:creationId xmlns:a16="http://schemas.microsoft.com/office/drawing/2014/main" id="{5EB48180-C1EF-4A4D-AFDB-D91AB413EC5E}"/>
              </a:ext>
            </a:extLst>
          </p:cNvPr>
          <p:cNvSpPr>
            <a:spLocks xmlns:a="http://schemas.openxmlformats.org/drawingml/2006/main" noGrp="1"/>
          </p:cNvSpPr>
          <p:nvPr/>
        </p:nvSpPr>
        <p:spPr>
          <a:xfrm xmlns:a="http://schemas.openxmlformats.org/drawingml/2006/main">
            <a:off x="6324600" y="2362200"/>
            <a:ext cx="52578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완료라고 말할 수 있나?</a:t>
            </a:r>
          </a:p>
        </p:txBody>
      </p:sp>
      <p:sp>
        <p:nvSpPr>
          <p:cNvPr id="9" name="">
            <a:extLst xmlns:a="http://schemas.openxmlformats.org/drawingml/2006/main">
              <a:ext uri="{FF2B5EF4-FFF2-40B4-BE49-F238E27FC236}">
                <a16:creationId xmlns:a16="http://schemas.microsoft.com/office/drawing/2014/main" id="{9BD14435-FA25-4ECB-81A5-E3118CA54E8E}"/>
              </a:ext>
            </a:extLst>
          </p:cNvPr>
          <p:cNvSpPr>
            <a:spLocks xmlns:a="http://schemas.openxmlformats.org/drawingml/2006/main" noGrp="1"/>
          </p:cNvSpPr>
          <p:nvPr/>
        </p:nvSpPr>
        <p:spPr>
          <a:xfrm xmlns:a="http://schemas.openxmlformats.org/drawingml/2006/main">
            <a:off x="4686300" y="249555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0B258F49-A6B6-4683-91A4-AB2F789AF653}"/>
              </a:ext>
            </a:extLst>
          </p:cNvPr>
          <p:cNvSpPr>
            <a:spLocks xmlns:a="http://schemas.openxmlformats.org/drawingml/2006/main" noGrp="1"/>
          </p:cNvSpPr>
          <p:nvPr/>
        </p:nvSpPr>
        <p:spPr>
          <a:xfrm xmlns:a="http://schemas.openxmlformats.org/drawingml/2006/main">
            <a:off x="609600" y="3438525"/>
            <a:ext cx="10972800" cy="14382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동작 테스트">
            <a:extLst xmlns:a="http://schemas.openxmlformats.org/drawingml/2006/main">
              <a:ext uri="{FF2B5EF4-FFF2-40B4-BE49-F238E27FC236}">
                <a16:creationId xmlns:a16="http://schemas.microsoft.com/office/drawing/2014/main" id="{6B27856A-BA95-4D4E-8506-4C353668CDA6}"/>
              </a:ext>
            </a:extLst>
          </p:cNvPr>
          <p:cNvSpPr>
            <a:spLocks xmlns:a="http://schemas.openxmlformats.org/drawingml/2006/main" noGrp="1"/>
          </p:cNvSpPr>
          <p:nvPr/>
        </p:nvSpPr>
        <p:spPr>
          <a:xfrm xmlns:a="http://schemas.openxmlformats.org/drawingml/2006/main">
            <a:off x="838200" y="3743325"/>
            <a:ext cx="33337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동작 테스트</a:t>
            </a:r>
          </a:p>
        </p:txBody>
      </p:sp>
      <p:sp>
        <p:nvSpPr>
          <p:cNvPr id="12" name="샘플 실행">
            <a:extLst xmlns:a="http://schemas.openxmlformats.org/drawingml/2006/main">
              <a:ext uri="{FF2B5EF4-FFF2-40B4-BE49-F238E27FC236}">
                <a16:creationId xmlns:a16="http://schemas.microsoft.com/office/drawing/2014/main" id="{EF6BD6C7-F85A-40AE-AE6A-8F7561114658}"/>
              </a:ext>
            </a:extLst>
          </p:cNvPr>
          <p:cNvSpPr>
            <a:spLocks xmlns:a="http://schemas.openxmlformats.org/drawingml/2006/main" noGrp="1"/>
          </p:cNvSpPr>
          <p:nvPr/>
        </p:nvSpPr>
        <p:spPr>
          <a:xfrm xmlns:a="http://schemas.openxmlformats.org/drawingml/2006/main">
            <a:off x="4419600" y="3743325"/>
            <a:ext cx="33337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샘플 실행</a:t>
            </a:r>
          </a:p>
        </p:txBody>
      </p:sp>
      <p:sp>
        <p:nvSpPr>
          <p:cNvPr id="13" name="변경 검토">
            <a:extLst xmlns:a="http://schemas.openxmlformats.org/drawingml/2006/main">
              <a:ext uri="{FF2B5EF4-FFF2-40B4-BE49-F238E27FC236}">
                <a16:creationId xmlns:a16="http://schemas.microsoft.com/office/drawing/2014/main" id="{C99DF3F0-71C4-4080-99E2-4C1246529FB3}"/>
              </a:ext>
            </a:extLst>
          </p:cNvPr>
          <p:cNvSpPr>
            <a:spLocks xmlns:a="http://schemas.openxmlformats.org/drawingml/2006/main" noGrp="1"/>
          </p:cNvSpPr>
          <p:nvPr/>
        </p:nvSpPr>
        <p:spPr>
          <a:xfrm xmlns:a="http://schemas.openxmlformats.org/drawingml/2006/main">
            <a:off x="8001000" y="3743325"/>
            <a:ext cx="33337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변경 검토</a:t>
            </a:r>
          </a:p>
        </p:txBody>
      </p:sp>
      <p:sp>
        <p:nvSpPr>
          <p:cNvPr id="14" name="">
            <a:extLst xmlns:a="http://schemas.openxmlformats.org/drawingml/2006/main">
              <a:ext uri="{FF2B5EF4-FFF2-40B4-BE49-F238E27FC236}">
                <a16:creationId xmlns:a16="http://schemas.microsoft.com/office/drawing/2014/main" id="{23D4A338-5678-49FF-A256-B5D22FA111D6}"/>
              </a:ext>
            </a:extLst>
          </p:cNvPr>
          <p:cNvSpPr>
            <a:spLocks xmlns:a="http://schemas.openxmlformats.org/drawingml/2006/main" noGrp="1"/>
          </p:cNvSpPr>
          <p:nvPr/>
        </p:nvSpPr>
        <p:spPr>
          <a:xfrm xmlns:a="http://schemas.openxmlformats.org/drawingml/2006/main">
            <a:off x="609600" y="51625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더 빨라졌다”고 말하려면 → 해당 조건의 성능 측정도 필요">
            <a:extLst xmlns:a="http://schemas.openxmlformats.org/drawingml/2006/main">
              <a:ext uri="{FF2B5EF4-FFF2-40B4-BE49-F238E27FC236}">
                <a16:creationId xmlns:a16="http://schemas.microsoft.com/office/drawing/2014/main" id="{86915A71-119E-49B8-A93A-E3BD884679E6}"/>
              </a:ext>
            </a:extLst>
          </p:cNvPr>
          <p:cNvSpPr>
            <a:spLocks xmlns:a="http://schemas.openxmlformats.org/drawingml/2006/main" noGrp="1"/>
          </p:cNvSpPr>
          <p:nvPr/>
        </p:nvSpPr>
        <p:spPr>
          <a:xfrm xmlns:a="http://schemas.openxmlformats.org/drawingml/2006/main">
            <a:off x="609600" y="52673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“더 빨라졌다”고 말하려면 → 해당 조건의 성능 측정도 필요</a:t>
            </a:r>
          </a:p>
        </p:txBody>
      </p:sp>
    </p:spTree>
    <p:extLst>
      <p:ext uri="{BB962C8B-B14F-4D97-AF65-F5344CB8AC3E}">
        <p14:creationId xmlns:p14="http://schemas.microsoft.com/office/powerpoint/2010/main" val="1855702294"/>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1 · 근거에 맞춰 말하기">
            <a:extLst xmlns:a="http://schemas.openxmlformats.org/drawingml/2006/main">
              <a:ext uri="{FF2B5EF4-FFF2-40B4-BE49-F238E27FC236}">
                <a16:creationId xmlns:a16="http://schemas.microsoft.com/office/drawing/2014/main" id="{6845AD14-22C6-4273-B019-8C31B41D319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근거에 맞춰 말하기</a:t>
            </a:r>
          </a:p>
        </p:txBody>
      </p:sp>
      <p:sp>
        <p:nvSpPr>
          <p:cNvPr id="2" name="S19">
            <a:extLst xmlns:a="http://schemas.openxmlformats.org/drawingml/2006/main">
              <a:ext uri="{FF2B5EF4-FFF2-40B4-BE49-F238E27FC236}">
                <a16:creationId xmlns:a16="http://schemas.microsoft.com/office/drawing/2014/main" id="{658E7BDA-DB47-4384-9986-35CD35F8BD1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Check마다 확인하는 범위">
            <a:extLst xmlns:a="http://schemas.openxmlformats.org/drawingml/2006/main">
              <a:ext uri="{FF2B5EF4-FFF2-40B4-BE49-F238E27FC236}">
                <a16:creationId xmlns:a16="http://schemas.microsoft.com/office/drawing/2014/main" id="{430834D3-70C1-4F50-BE0A-877B9E7CBB0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06A2C3E6-504A-4F0E-8118-FD9075346A2E}"/>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 모델 · TRIAL-002 실제 확인: 집중·전체 테스트 / CLI smoke / diff">
            <a:extLst xmlns:a="http://schemas.openxmlformats.org/drawingml/2006/main">
              <a:ext uri="{FF2B5EF4-FFF2-40B4-BE49-F238E27FC236}">
                <a16:creationId xmlns:a16="http://schemas.microsoft.com/office/drawing/2014/main" id="{3E1E14BF-D0EF-4514-8DDC-666C396102C8}"/>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 모델 · TRIAL-002 실제 확인: 집중·전체 테스트 / CLI smoke / diff</a:t>
            </a:r>
          </a:p>
        </p:txBody>
      </p:sp>
      <p:sp>
        <p:nvSpPr>
          <p:cNvPr id="6" name="Benchmark는 이 Trial에서 미실행. C++ 적용은 도구 사용법이 아닌 검증 범위의 예시입니다.">
            <a:extLst xmlns:a="http://schemas.openxmlformats.org/drawingml/2006/main">
              <a:ext uri="{FF2B5EF4-FFF2-40B4-BE49-F238E27FC236}">
                <a16:creationId xmlns:a16="http://schemas.microsoft.com/office/drawing/2014/main" id="{AC8119BE-2211-4AFD-BB21-82C1B69DC75D}"/>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Benchmark는 이 Trial에서 미실행. C++ 적용은 도구 사용법이 아닌 검증 범위의 예시입니다.</a:t>
            </a:r>
          </a:p>
        </p:txBody>
      </p:sp>
      <p:sp>
        <p:nvSpPr>
          <p:cNvPr id="7" name="확인 방법">
            <a:extLst xmlns:a="http://schemas.openxmlformats.org/drawingml/2006/main">
              <a:ext uri="{FF2B5EF4-FFF2-40B4-BE49-F238E27FC236}">
                <a16:creationId xmlns:a16="http://schemas.microsoft.com/office/drawing/2014/main" id="{84089F20-FAD5-4EE3-90BF-ECD1CDBE326B}"/>
              </a:ext>
            </a:extLst>
          </p:cNvPr>
          <p:cNvSpPr>
            <a:spLocks xmlns:a="http://schemas.openxmlformats.org/drawingml/2006/main" noGrp="1"/>
          </p:cNvSpPr>
          <p:nvPr/>
        </p:nvSpPr>
        <p:spPr>
          <a:xfrm xmlns:a="http://schemas.openxmlformats.org/drawingml/2006/main">
            <a:off x="609600" y="2095500"/>
            <a:ext cx="3619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확인 방법</a:t>
            </a:r>
          </a:p>
        </p:txBody>
      </p:sp>
      <p:sp>
        <p:nvSpPr>
          <p:cNvPr id="8" name="말할 수 있는 범위">
            <a:extLst xmlns:a="http://schemas.openxmlformats.org/drawingml/2006/main">
              <a:ext uri="{FF2B5EF4-FFF2-40B4-BE49-F238E27FC236}">
                <a16:creationId xmlns:a16="http://schemas.microsoft.com/office/drawing/2014/main" id="{D52065F6-5F7B-4C8C-AEDF-C3E37ADF4BC5}"/>
              </a:ext>
            </a:extLst>
          </p:cNvPr>
          <p:cNvSpPr>
            <a:spLocks xmlns:a="http://schemas.openxmlformats.org/drawingml/2006/main" noGrp="1"/>
          </p:cNvSpPr>
          <p:nvPr/>
        </p:nvSpPr>
        <p:spPr>
          <a:xfrm xmlns:a="http://schemas.openxmlformats.org/drawingml/2006/main">
            <a:off x="4381500" y="2095500"/>
            <a:ext cx="7200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3AC0B72F-1F8B-40B4-95B8-18E08C22B5DD}"/>
              </a:ext>
            </a:extLst>
          </p:cNvPr>
          <p:cNvSpPr>
            <a:spLocks xmlns:a="http://schemas.openxmlformats.org/drawingml/2006/main" noGrp="1"/>
          </p:cNvSpPr>
          <p:nvPr/>
        </p:nvSpPr>
        <p:spPr>
          <a:xfrm xmlns:a="http://schemas.openxmlformats.org/drawingml/2006/main">
            <a:off x="609600" y="2571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집중 테스트">
            <a:extLst xmlns:a="http://schemas.openxmlformats.org/drawingml/2006/main">
              <a:ext uri="{FF2B5EF4-FFF2-40B4-BE49-F238E27FC236}">
                <a16:creationId xmlns:a16="http://schemas.microsoft.com/office/drawing/2014/main" id="{C80008FF-8655-43B6-856F-E9C94D8140D8}"/>
              </a:ext>
            </a:extLst>
          </p:cNvPr>
          <p:cNvSpPr>
            <a:spLocks xmlns:a="http://schemas.openxmlformats.org/drawingml/2006/main" noGrp="1"/>
          </p:cNvSpPr>
          <p:nvPr/>
        </p:nvSpPr>
        <p:spPr>
          <a:xfrm xmlns:a="http://schemas.openxmlformats.org/drawingml/2006/main">
            <a:off x="609600" y="2628900"/>
            <a:ext cx="3238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집중 테스트</a:t>
            </a:r>
          </a:p>
        </p:txBody>
      </p:sp>
      <p:sp>
        <p:nvSpPr>
          <p:cNvPr id="11" name="바뀐 동작의 해당 테스트 조건">
            <a:extLst xmlns:a="http://schemas.openxmlformats.org/drawingml/2006/main">
              <a:ext uri="{FF2B5EF4-FFF2-40B4-BE49-F238E27FC236}">
                <a16:creationId xmlns:a16="http://schemas.microsoft.com/office/drawing/2014/main" id="{412C1257-2337-4948-BCC7-101E646345D3}"/>
              </a:ext>
            </a:extLst>
          </p:cNvPr>
          <p:cNvSpPr>
            <a:spLocks xmlns:a="http://schemas.openxmlformats.org/drawingml/2006/main" noGrp="1"/>
          </p:cNvSpPr>
          <p:nvPr/>
        </p:nvSpPr>
        <p:spPr>
          <a:xfrm xmlns:a="http://schemas.openxmlformats.org/drawingml/2006/main">
            <a:off x="4381500" y="2628900"/>
            <a:ext cx="7200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바뀐 동작의 해당 테스트 조건</a:t>
            </a:r>
          </a:p>
        </p:txBody>
      </p:sp>
      <p:sp>
        <p:nvSpPr>
          <p:cNvPr id="12" name="">
            <a:extLst xmlns:a="http://schemas.openxmlformats.org/drawingml/2006/main">
              <a:ext uri="{FF2B5EF4-FFF2-40B4-BE49-F238E27FC236}">
                <a16:creationId xmlns:a16="http://schemas.microsoft.com/office/drawing/2014/main" id="{AEE71BF7-D17C-4A6F-BACA-2F23CC0BE948}"/>
              </a:ext>
            </a:extLst>
          </p:cNvPr>
          <p:cNvSpPr>
            <a:spLocks xmlns:a="http://schemas.openxmlformats.org/drawingml/2006/main" noGrp="1"/>
          </p:cNvSpPr>
          <p:nvPr/>
        </p:nvSpPr>
        <p:spPr>
          <a:xfrm xmlns:a="http://schemas.openxmlformats.org/drawingml/2006/main">
            <a:off x="609600" y="30765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4EFB5CF5-51BF-4C75-AD97-64EFAB1BCCC9}"/>
              </a:ext>
            </a:extLst>
          </p:cNvPr>
          <p:cNvSpPr>
            <a:spLocks xmlns:a="http://schemas.openxmlformats.org/drawingml/2006/main" noGrp="1"/>
          </p:cNvSpPr>
          <p:nvPr/>
        </p:nvSpPr>
        <p:spPr>
          <a:xfrm xmlns:a="http://schemas.openxmlformats.org/drawingml/2006/main">
            <a:off x="609600" y="3133725"/>
            <a:ext cx="3238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전체 테스트</a:t>
            </a:r>
          </a:p>
        </p:txBody>
      </p:sp>
      <p:sp>
        <p:nvSpPr>
          <p:cNvPr id="14" name="현재 suite에 담긴 회귀 범위">
            <a:extLst xmlns:a="http://schemas.openxmlformats.org/drawingml/2006/main">
              <a:ext uri="{FF2B5EF4-FFF2-40B4-BE49-F238E27FC236}">
                <a16:creationId xmlns:a16="http://schemas.microsoft.com/office/drawing/2014/main" id="{79B32A2B-48ED-4DC8-B9D0-8E84A60BD18C}"/>
              </a:ext>
            </a:extLst>
          </p:cNvPr>
          <p:cNvSpPr>
            <a:spLocks xmlns:a="http://schemas.openxmlformats.org/drawingml/2006/main" noGrp="1"/>
          </p:cNvSpPr>
          <p:nvPr/>
        </p:nvSpPr>
        <p:spPr>
          <a:xfrm xmlns:a="http://schemas.openxmlformats.org/drawingml/2006/main">
            <a:off x="4381500" y="3133725"/>
            <a:ext cx="7200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현재 suite에 담긴 회귀 범위</a:t>
            </a:r>
          </a:p>
        </p:txBody>
      </p:sp>
      <p:sp>
        <p:nvSpPr>
          <p:cNvPr id="15" name="">
            <a:extLst xmlns:a="http://schemas.openxmlformats.org/drawingml/2006/main">
              <a:ext uri="{FF2B5EF4-FFF2-40B4-BE49-F238E27FC236}">
                <a16:creationId xmlns:a16="http://schemas.microsoft.com/office/drawing/2014/main" id="{9882945E-A038-4B3C-A48F-2D700F2D4B04}"/>
              </a:ext>
            </a:extLst>
          </p:cNvPr>
          <p:cNvSpPr>
            <a:spLocks xmlns:a="http://schemas.openxmlformats.org/drawingml/2006/main" noGrp="1"/>
          </p:cNvSpPr>
          <p:nvPr/>
        </p:nvSpPr>
        <p:spPr>
          <a:xfrm xmlns:a="http://schemas.openxmlformats.org/drawingml/2006/main">
            <a:off x="609600" y="35814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smoke">
            <a:extLst xmlns:a="http://schemas.openxmlformats.org/drawingml/2006/main">
              <a:ext uri="{FF2B5EF4-FFF2-40B4-BE49-F238E27FC236}">
                <a16:creationId xmlns:a16="http://schemas.microsoft.com/office/drawing/2014/main" id="{32F2F92D-AAAC-468A-B47B-33D47DB9FB14}"/>
              </a:ext>
            </a:extLst>
          </p:cNvPr>
          <p:cNvSpPr>
            <a:spLocks xmlns:a="http://schemas.openxmlformats.org/drawingml/2006/main" noGrp="1"/>
          </p:cNvSpPr>
          <p:nvPr/>
        </p:nvSpPr>
        <p:spPr>
          <a:xfrm xmlns:a="http://schemas.openxmlformats.org/drawingml/2006/main">
            <a:off x="609600" y="3638550"/>
            <a:ext cx="3238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CLI smoke</a:t>
            </a:r>
          </a:p>
        </p:txBody>
      </p:sp>
      <p:sp>
        <p:nvSpPr>
          <p:cNvPr id="17" name="샘플 입력의 통합 실행 경로">
            <a:extLst xmlns:a="http://schemas.openxmlformats.org/drawingml/2006/main">
              <a:ext uri="{FF2B5EF4-FFF2-40B4-BE49-F238E27FC236}">
                <a16:creationId xmlns:a16="http://schemas.microsoft.com/office/drawing/2014/main" id="{5D529C80-5A09-4000-A372-A3548BEFB8AD}"/>
              </a:ext>
            </a:extLst>
          </p:cNvPr>
          <p:cNvSpPr>
            <a:spLocks xmlns:a="http://schemas.openxmlformats.org/drawingml/2006/main" noGrp="1"/>
          </p:cNvSpPr>
          <p:nvPr/>
        </p:nvSpPr>
        <p:spPr>
          <a:xfrm xmlns:a="http://schemas.openxmlformats.org/drawingml/2006/main">
            <a:off x="4381500" y="3638550"/>
            <a:ext cx="7200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샘플 입력의 통합 실행 경로</a:t>
            </a:r>
          </a:p>
        </p:txBody>
      </p:sp>
      <p:sp>
        <p:nvSpPr>
          <p:cNvPr id="18" name="">
            <a:extLst xmlns:a="http://schemas.openxmlformats.org/drawingml/2006/main">
              <a:ext uri="{FF2B5EF4-FFF2-40B4-BE49-F238E27FC236}">
                <a16:creationId xmlns:a16="http://schemas.microsoft.com/office/drawing/2014/main" id="{445D840F-B210-4111-B77D-96A615248EFD}"/>
              </a:ext>
            </a:extLst>
          </p:cNvPr>
          <p:cNvSpPr>
            <a:spLocks xmlns:a="http://schemas.openxmlformats.org/drawingml/2006/main" noGrp="1"/>
          </p:cNvSpPr>
          <p:nvPr/>
        </p:nvSpPr>
        <p:spPr>
          <a:xfrm xmlns:a="http://schemas.openxmlformats.org/drawingml/2006/main">
            <a:off x="609600" y="40862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diff 검토">
            <a:extLst xmlns:a="http://schemas.openxmlformats.org/drawingml/2006/main">
              <a:ext uri="{FF2B5EF4-FFF2-40B4-BE49-F238E27FC236}">
                <a16:creationId xmlns:a16="http://schemas.microsoft.com/office/drawing/2014/main" id="{E5221962-C2BC-422A-81C3-B0E4717C0ABB}"/>
              </a:ext>
            </a:extLst>
          </p:cNvPr>
          <p:cNvSpPr>
            <a:spLocks xmlns:a="http://schemas.openxmlformats.org/drawingml/2006/main" noGrp="1"/>
          </p:cNvSpPr>
          <p:nvPr/>
        </p:nvSpPr>
        <p:spPr>
          <a:xfrm xmlns:a="http://schemas.openxmlformats.org/drawingml/2006/main">
            <a:off x="609600" y="4143375"/>
            <a:ext cx="3238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diff 검토</a:t>
            </a:r>
          </a:p>
        </p:txBody>
      </p:sp>
      <p:sp>
        <p:nvSpPr>
          <p:cNvPr id="20" name="변경 범위와 의도하지 않은 수정">
            <a:extLst xmlns:a="http://schemas.openxmlformats.org/drawingml/2006/main">
              <a:ext uri="{FF2B5EF4-FFF2-40B4-BE49-F238E27FC236}">
                <a16:creationId xmlns:a16="http://schemas.microsoft.com/office/drawing/2014/main" id="{1DCC9D65-9608-4571-9381-F14C99D79CFF}"/>
              </a:ext>
            </a:extLst>
          </p:cNvPr>
          <p:cNvSpPr>
            <a:spLocks xmlns:a="http://schemas.openxmlformats.org/drawingml/2006/main" noGrp="1"/>
          </p:cNvSpPr>
          <p:nvPr/>
        </p:nvSpPr>
        <p:spPr>
          <a:xfrm xmlns:a="http://schemas.openxmlformats.org/drawingml/2006/main">
            <a:off x="4381500" y="4143375"/>
            <a:ext cx="7200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변경 범위와 의도하지 않은 수정</a:t>
            </a:r>
          </a:p>
        </p:txBody>
      </p:sp>
      <p:sp>
        <p:nvSpPr>
          <p:cNvPr id="21" name="">
            <a:extLst xmlns:a="http://schemas.openxmlformats.org/drawingml/2006/main">
              <a:ext uri="{FF2B5EF4-FFF2-40B4-BE49-F238E27FC236}">
                <a16:creationId xmlns:a16="http://schemas.microsoft.com/office/drawing/2014/main" id="{132485C7-925C-407B-874A-7D4E7DE451B5}"/>
              </a:ext>
            </a:extLst>
          </p:cNvPr>
          <p:cNvSpPr>
            <a:spLocks xmlns:a="http://schemas.openxmlformats.org/drawingml/2006/main" noGrp="1"/>
          </p:cNvSpPr>
          <p:nvPr/>
        </p:nvSpPr>
        <p:spPr>
          <a:xfrm xmlns:a="http://schemas.openxmlformats.org/drawingml/2006/main">
            <a:off x="609600" y="45910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17469B4B-B985-44C3-948D-974C706EC4AF}"/>
              </a:ext>
            </a:extLst>
          </p:cNvPr>
          <p:cNvSpPr>
            <a:spLocks xmlns:a="http://schemas.openxmlformats.org/drawingml/2006/main" noGrp="1"/>
          </p:cNvSpPr>
          <p:nvPr/>
        </p:nvSpPr>
        <p:spPr>
          <a:xfrm xmlns:a="http://schemas.openxmlformats.org/drawingml/2006/main">
            <a:off x="609600" y="4648200"/>
            <a:ext cx="3238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성능 측정</a:t>
            </a:r>
          </a:p>
        </p:txBody>
      </p:sp>
      <p:sp>
        <p:nvSpPr>
          <p:cNvPr id="23" name="측정한 입력·환경에서의 성능">
            <a:extLst xmlns:a="http://schemas.openxmlformats.org/drawingml/2006/main">
              <a:ext uri="{FF2B5EF4-FFF2-40B4-BE49-F238E27FC236}">
                <a16:creationId xmlns:a16="http://schemas.microsoft.com/office/drawing/2014/main" id="{9E695F68-26A9-444C-B539-97FFC6117C70}"/>
              </a:ext>
            </a:extLst>
          </p:cNvPr>
          <p:cNvSpPr>
            <a:spLocks xmlns:a="http://schemas.openxmlformats.org/drawingml/2006/main" noGrp="1"/>
          </p:cNvSpPr>
          <p:nvPr/>
        </p:nvSpPr>
        <p:spPr>
          <a:xfrm xmlns:a="http://schemas.openxmlformats.org/drawingml/2006/main">
            <a:off x="4381500" y="4648200"/>
            <a:ext cx="7200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측정한 입력·환경에서의 성능</a:t>
            </a:r>
          </a:p>
        </p:txBody>
      </p:sp>
      <p:sp>
        <p:nvSpPr>
          <p:cNvPr id="24" name="C++에서도: Release 실행·API/ABI·대상 데이터에 맞춰 근거를 고른다.">
            <a:extLst xmlns:a="http://schemas.openxmlformats.org/drawingml/2006/main">
              <a:ext uri="{FF2B5EF4-FFF2-40B4-BE49-F238E27FC236}">
                <a16:creationId xmlns:a16="http://schemas.microsoft.com/office/drawing/2014/main" id="{C604A58E-825C-4173-8731-6E4C904E83EE}"/>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0B6172"/>
                </a:solidFill>
                <a:latin typeface="Malgun Gothic"/>
                <a:ea typeface="Malgun Gothic"/>
                <a:cs typeface="Malgun Gothic"/>
              </a:defRPr>
            </a:defPPr>
            <a:lvl1pPr algn="l">
              <a:defRPr sz="2100" b="0">
                <a:solidFill>
                  <a:srgbClr val="0B6172"/>
                </a:solidFill>
                <a:latin typeface="Malgun Gothic"/>
                <a:ea typeface="Malgun Gothic"/>
                <a:cs typeface="Malgun Gothic"/>
              </a:defRPr>
            </a:lvl1pPr>
            <a:lvl2pPr algn="l">
              <a:defRPr sz="2100" b="0">
                <a:solidFill>
                  <a:srgbClr val="0B6172"/>
                </a:solidFill>
                <a:latin typeface="Malgun Gothic"/>
                <a:ea typeface="Malgun Gothic"/>
                <a:cs typeface="Malgun Gothic"/>
              </a:defRPr>
            </a:lvl2pPr>
            <a:lvl3pPr algn="l">
              <a:defRPr sz="2100" b="0">
                <a:solidFill>
                  <a:srgbClr val="0B6172"/>
                </a:solidFill>
                <a:latin typeface="Malgun Gothic"/>
                <a:ea typeface="Malgun Gothic"/>
                <a:cs typeface="Malgun Gothic"/>
              </a:defRPr>
            </a:lvl3pPr>
            <a:lvl4pPr algn="l">
              <a:defRPr sz="2100" b="0">
                <a:solidFill>
                  <a:srgbClr val="0B6172"/>
                </a:solidFill>
                <a:latin typeface="Malgun Gothic"/>
                <a:ea typeface="Malgun Gothic"/>
                <a:cs typeface="Malgun Gothic"/>
              </a:defRPr>
            </a:lvl4pPr>
            <a:lvl5pPr algn="l">
              <a:defRPr sz="2100" b="0">
                <a:solidFill>
                  <a:srgbClr val="0B6172"/>
                </a:solidFill>
                <a:latin typeface="Malgun Gothic"/>
                <a:ea typeface="Malgun Gothic"/>
                <a:cs typeface="Malgun Gothic"/>
              </a:defRPr>
            </a:lvl5pPr>
            <a:lvl6pPr algn="l">
              <a:defRPr sz="2100" b="0">
                <a:solidFill>
                  <a:srgbClr val="0B6172"/>
                </a:solidFill>
                <a:latin typeface="Malgun Gothic"/>
                <a:ea typeface="Malgun Gothic"/>
                <a:cs typeface="Malgun Gothic"/>
              </a:defRPr>
            </a:lvl6pPr>
            <a:lvl7pPr algn="l">
              <a:defRPr sz="2100" b="0">
                <a:solidFill>
                  <a:srgbClr val="0B6172"/>
                </a:solidFill>
                <a:latin typeface="Malgun Gothic"/>
                <a:ea typeface="Malgun Gothic"/>
                <a:cs typeface="Malgun Gothic"/>
              </a:defRPr>
            </a:lvl7pPr>
            <a:lvl8pPr algn="l">
              <a:defRPr sz="2100" b="0">
                <a:solidFill>
                  <a:srgbClr val="0B6172"/>
                </a:solidFill>
                <a:latin typeface="Malgun Gothic"/>
                <a:ea typeface="Malgun Gothic"/>
                <a:cs typeface="Malgun Gothic"/>
              </a:defRPr>
            </a:lvl8pPr>
            <a:lvl9pPr algn="l">
              <a:defRPr sz="2100" b="0">
                <a:solidFill>
                  <a:srgbClr val="0B6172"/>
                </a:solidFill>
                <a:latin typeface="Malgun Gothic"/>
                <a:ea typeface="Malgun Gothic"/>
                <a:cs typeface="Malgun Gothic"/>
              </a:defRPr>
            </a:lvl9pPr>
          </a:lstStyle>
          <a:p xmlns:a="http://schemas.openxmlformats.org/drawingml/2006/main">
            <a:pPr algn="l">
              <a:defRPr sz="2100" b="0">
                <a:solidFill>
                  <a:srgbClr val="0B6172"/>
                </a:solidFill>
                <a:latin typeface="Malgun Gothic"/>
                <a:ea typeface="Malgun Gothic"/>
                <a:cs typeface="Malgun Gothic"/>
              </a:defRPr>
            </a:pPr>
            <a:r>
              <a:rPr sz="2100" b="0">
                <a:solidFill>
                  <a:srgbClr val="0B6172"/>
                </a:solidFill>
                <a:latin typeface="Malgun Gothic"/>
                <a:ea typeface="Malgun Gothic"/>
                <a:cs typeface="Malgun Gothic"/>
              </a:rPr>
              <a:t>C++에서도: Release 실행·API/ABI·대상 데이터에 맞춰 근거를 고른다.</a:t>
            </a:r>
          </a:p>
        </p:txBody>
      </p:sp>
    </p:spTree>
    <p:extLst>
      <p:ext uri="{BB962C8B-B14F-4D97-AF65-F5344CB8AC3E}">
        <p14:creationId xmlns:p14="http://schemas.microsoft.com/office/powerpoint/2010/main" val="1449751597"/>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1 · 반복해서 쓰는 정보 돌아보기">
            <a:extLst xmlns:a="http://schemas.openxmlformats.org/drawingml/2006/main">
              <a:ext uri="{FF2B5EF4-FFF2-40B4-BE49-F238E27FC236}">
                <a16:creationId xmlns:a16="http://schemas.microsoft.com/office/drawing/2014/main" id="{7BEC019E-0E17-48F7-8366-09ABA6AF53F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20">
            <a:extLst xmlns:a="http://schemas.openxmlformats.org/drawingml/2006/main">
              <a:ext uri="{FF2B5EF4-FFF2-40B4-BE49-F238E27FC236}">
                <a16:creationId xmlns:a16="http://schemas.microsoft.com/office/drawing/2014/main" id="{7A929E3B-4868-46E5-9B1E-DF71734EEF9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이번 Task인가,&#10;계속 유지할 Project 정보인가?">
            <a:extLst xmlns:a="http://schemas.openxmlformats.org/drawingml/2006/main">
              <a:ext uri="{FF2B5EF4-FFF2-40B4-BE49-F238E27FC236}">
                <a16:creationId xmlns:a16="http://schemas.microsoft.com/office/drawing/2014/main" id="{355A9963-4EC8-47BF-9236-CB5992600F55}"/>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E34527B5-903A-4683-96D8-4A49A0697950}"/>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56A72F22-6252-479E-BF30-A1403EAD2343}"/>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CAEF385F-B1C1-42E0-8882-06E15F01DDE4}"/>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최근 요청에 썼던 문장 하나를 떠올려 보세요.">
            <a:extLst xmlns:a="http://schemas.openxmlformats.org/drawingml/2006/main">
              <a:ext uri="{FF2B5EF4-FFF2-40B4-BE49-F238E27FC236}">
                <a16:creationId xmlns:a16="http://schemas.microsoft.com/office/drawing/2014/main" id="{08F3A246-E183-4C26-8E9C-F2C2E33A3F87}"/>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최근 요청에 썼던 문장 하나를 떠올려 보세요.</a:t>
            </a:r>
          </a:p>
        </p:txBody>
      </p:sp>
      <p:sp>
        <p:nvSpPr>
          <p:cNvPr id="8" name="이번 작업에만?">
            <a:extLst xmlns:a="http://schemas.openxmlformats.org/drawingml/2006/main">
              <a:ext uri="{FF2B5EF4-FFF2-40B4-BE49-F238E27FC236}">
                <a16:creationId xmlns:a16="http://schemas.microsoft.com/office/drawing/2014/main" id="{6BAACA9A-BA04-4948-BE51-CBF583015619}"/>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B63BE033-1890-4C0D-A0F7-E7FD6817B9EE}"/>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151597E6-41D8-4FF1-8D30-204811EB84D7}"/>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773408F9-5150-4453-B53A-B310145E9FB0}"/>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3680AEB0-892A-47D2-AEEC-F083CC003AF5}"/>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Tree>
    <p:extLst>
      <p:ext uri="{BB962C8B-B14F-4D97-AF65-F5344CB8AC3E}">
        <p14:creationId xmlns:p14="http://schemas.microsoft.com/office/powerpoint/2010/main" val="1464956382"/>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1 · 정보의 수명과 범위">
            <a:extLst xmlns:a="http://schemas.openxmlformats.org/drawingml/2006/main">
              <a:ext uri="{FF2B5EF4-FFF2-40B4-BE49-F238E27FC236}">
                <a16:creationId xmlns:a16="http://schemas.microsoft.com/office/drawing/2014/main" id="{12D30D4D-C888-46D3-A32E-BCAE6E5A029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21">
            <a:extLst xmlns:a="http://schemas.openxmlformats.org/drawingml/2006/main">
              <a:ext uri="{FF2B5EF4-FFF2-40B4-BE49-F238E27FC236}">
                <a16:creationId xmlns:a16="http://schemas.microsoft.com/office/drawing/2014/main" id="{8CA0A947-48D4-4902-AB76-1BB63ADF03B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반복하는 설명을 두 범주로 나누기">
            <a:extLst xmlns:a="http://schemas.openxmlformats.org/drawingml/2006/main">
              <a:ext uri="{FF2B5EF4-FFF2-40B4-BE49-F238E27FC236}">
                <a16:creationId xmlns:a16="http://schemas.microsoft.com/office/drawing/2014/main" id="{E142021E-767E-42E1-95C4-9414ED9533A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05827752-65E5-4BA0-BB11-9005961C0AC2}"/>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6E294A0D-0927-4A9D-932E-1A65443B07B6}"/>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B2B230A2-75D4-4E5F-89F7-6570D93987C9}"/>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이번 Task">
            <a:extLst xmlns:a="http://schemas.openxmlformats.org/drawingml/2006/main">
              <a:ext uri="{FF2B5EF4-FFF2-40B4-BE49-F238E27FC236}">
                <a16:creationId xmlns:a16="http://schemas.microsoft.com/office/drawing/2014/main" id="{DD6433B3-4BCD-4A32-B5B6-ED0711D39FDE}"/>
              </a:ext>
            </a:extLst>
          </p:cNvPr>
          <p:cNvSpPr>
            <a:spLocks xmlns:a="http://schemas.openxmlformats.org/drawingml/2006/main" noGrp="1"/>
          </p:cNvSpPr>
          <p:nvPr/>
        </p:nvSpPr>
        <p:spPr>
          <a:xfrm xmlns:a="http://schemas.openxmlformats.org/drawingml/2006/main">
            <a:off x="609600" y="2238375"/>
            <a:ext cx="51625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이번 Task</a:t>
            </a:r>
          </a:p>
        </p:txBody>
      </p:sp>
      <p:sp>
        <p:nvSpPr>
          <p:cNvPr id="8" name="계속 유지할 Project 정보">
            <a:extLst xmlns:a="http://schemas.openxmlformats.org/drawingml/2006/main">
              <a:ext uri="{FF2B5EF4-FFF2-40B4-BE49-F238E27FC236}">
                <a16:creationId xmlns:a16="http://schemas.microsoft.com/office/drawing/2014/main" id="{D2693B9F-F908-45C9-BC7E-2627EBF268E7}"/>
              </a:ext>
            </a:extLst>
          </p:cNvPr>
          <p:cNvSpPr>
            <a:spLocks xmlns:a="http://schemas.openxmlformats.org/drawingml/2006/main" noGrp="1"/>
          </p:cNvSpPr>
          <p:nvPr/>
        </p:nvSpPr>
        <p:spPr>
          <a:xfrm xmlns:a="http://schemas.openxmlformats.org/drawingml/2006/main">
            <a:off x="6705600" y="2238375"/>
            <a:ext cx="4876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계속 유지할 Project 정보</a:t>
            </a:r>
          </a:p>
        </p:txBody>
      </p:sp>
      <p:sp>
        <p:nvSpPr>
          <p:cNvPr id="9" name="">
            <a:extLst xmlns:a="http://schemas.openxmlformats.org/drawingml/2006/main">
              <a:ext uri="{FF2B5EF4-FFF2-40B4-BE49-F238E27FC236}">
                <a16:creationId xmlns:a16="http://schemas.microsoft.com/office/drawing/2014/main" id="{13767FBA-E61C-4C5A-AC2E-5CA840E07194}"/>
              </a:ext>
            </a:extLst>
          </p:cNvPr>
          <p:cNvSpPr>
            <a:spLocks xmlns:a="http://schemas.openxmlformats.org/drawingml/2006/main" noGrp="1"/>
          </p:cNvSpPr>
          <p:nvPr/>
        </p:nvSpPr>
        <p:spPr>
          <a:xfrm xmlns:a="http://schemas.openxmlformats.org/drawingml/2006/main">
            <a:off x="609600" y="2905125"/>
            <a:ext cx="5162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92651EDB-B560-4CFE-B50A-B8CD18E5D739}"/>
              </a:ext>
            </a:extLst>
          </p:cNvPr>
          <p:cNvSpPr>
            <a:spLocks xmlns:a="http://schemas.openxmlformats.org/drawingml/2006/main" noGrp="1"/>
          </p:cNvSpPr>
          <p:nvPr/>
        </p:nvSpPr>
        <p:spPr>
          <a:xfrm xmlns:a="http://schemas.openxmlformats.org/drawingml/2006/main">
            <a:off x="6705600" y="2905125"/>
            <a:ext cx="4876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0E87366A-7DFB-44DD-9EF4-C487357BB17E}"/>
              </a:ext>
            </a:extLst>
          </p:cNvPr>
          <p:cNvSpPr>
            <a:spLocks xmlns:a="http://schemas.openxmlformats.org/drawingml/2006/main" noGrp="1"/>
          </p:cNvSpPr>
          <p:nvPr/>
        </p:nvSpPr>
        <p:spPr>
          <a:xfrm xmlns:a="http://schemas.openxmlformats.org/drawingml/2006/main">
            <a:off x="609600" y="3219450"/>
            <a:ext cx="51625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의존성 추가에는 작업상 근거 필요&#10;프로젝트 테스트 명령">
            <a:extLst xmlns:a="http://schemas.openxmlformats.org/drawingml/2006/main">
              <a:ext uri="{FF2B5EF4-FFF2-40B4-BE49-F238E27FC236}">
                <a16:creationId xmlns:a16="http://schemas.microsoft.com/office/drawing/2014/main" id="{4EF7B99C-717B-41BA-879D-0C612BD8B46F}"/>
              </a:ext>
            </a:extLst>
          </p:cNvPr>
          <p:cNvSpPr>
            <a:spLocks xmlns:a="http://schemas.openxmlformats.org/drawingml/2006/main" noGrp="1"/>
          </p:cNvSpPr>
          <p:nvPr/>
        </p:nvSpPr>
        <p:spPr>
          <a:xfrm xmlns:a="http://schemas.openxmlformats.org/drawingml/2006/main">
            <a:off x="6705600" y="3219450"/>
            <a:ext cx="48768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의존성 추가에는 작업상 근거 필요</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프로젝트 테스트 명령</a:t>
            </a:r>
          </a:p>
        </p:txBody>
      </p:sp>
      <p:sp>
        <p:nvSpPr>
          <p:cNvPr id="13" name="">
            <a:extLst xmlns:a="http://schemas.openxmlformats.org/drawingml/2006/main">
              <a:ext uri="{FF2B5EF4-FFF2-40B4-BE49-F238E27FC236}">
                <a16:creationId xmlns:a16="http://schemas.microsoft.com/office/drawing/2014/main" id="{29A9056A-9870-473C-8341-A02041125032}"/>
              </a:ext>
            </a:extLst>
          </p:cNvPr>
          <p:cNvSpPr>
            <a:spLocks xmlns:a="http://schemas.openxmlformats.org/drawingml/2006/main" noGrp="1"/>
          </p:cNvSpPr>
          <p:nvPr/>
        </p:nvSpPr>
        <p:spPr>
          <a:xfrm xmlns:a="http://schemas.openxmlformats.org/drawingml/2006/main">
            <a:off x="609600" y="5000625"/>
            <a:ext cx="10972800" cy="6191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정보마다 필요한 기간과 적용 범위가 다르다.">
            <a:extLst xmlns:a="http://schemas.openxmlformats.org/drawingml/2006/main">
              <a:ext uri="{FF2B5EF4-FFF2-40B4-BE49-F238E27FC236}">
                <a16:creationId xmlns:a16="http://schemas.microsoft.com/office/drawing/2014/main" id="{C70FF74B-2268-4534-A7BC-066766D51482}"/>
              </a:ext>
            </a:extLst>
          </p:cNvPr>
          <p:cNvSpPr>
            <a:spLocks xmlns:a="http://schemas.openxmlformats.org/drawingml/2006/main" noGrp="1"/>
          </p:cNvSpPr>
          <p:nvPr/>
        </p:nvSpPr>
        <p:spPr>
          <a:xfrm xmlns:a="http://schemas.openxmlformats.org/drawingml/2006/main">
            <a:off x="800100" y="5105400"/>
            <a:ext cx="10591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정보마다 필요한 기간과 적용 범위가 다르다.</a:t>
            </a:r>
          </a:p>
        </p:txBody>
      </p:sp>
    </p:spTree>
    <p:extLst>
      <p:ext uri="{BB962C8B-B14F-4D97-AF65-F5344CB8AC3E}">
        <p14:creationId xmlns:p14="http://schemas.microsoft.com/office/powerpoint/2010/main" val="1635157439"/>
      </p:ext>
    </p:extLst>
  </p:cSld>
</p:sld>
</file>

<file path=ppt/slides/slide2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반복되는 프로젝트 설명">
            <a:extLst xmlns:a="http://schemas.openxmlformats.org/drawingml/2006/main">
              <a:ext uri="{FF2B5EF4-FFF2-40B4-BE49-F238E27FC236}">
                <a16:creationId xmlns:a16="http://schemas.microsoft.com/office/drawing/2014/main" id="{437783BA-C3B6-41C8-80CB-F7BEAA53B71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22">
            <a:extLst xmlns:a="http://schemas.openxmlformats.org/drawingml/2006/main">
              <a:ext uri="{FF2B5EF4-FFF2-40B4-BE49-F238E27FC236}">
                <a16:creationId xmlns:a16="http://schemas.microsoft.com/office/drawing/2014/main" id="{3545C519-DA7E-4E3E-912A-AD40114BAA1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다른 Task에 같은 설명이 반복된다">
            <a:extLst xmlns:a="http://schemas.openxmlformats.org/drawingml/2006/main">
              <a:ext uri="{FF2B5EF4-FFF2-40B4-BE49-F238E27FC236}">
                <a16:creationId xmlns:a16="http://schemas.microsoft.com/office/drawing/2014/main" id="{A04ADADE-6875-4A2C-BC02-389992F9CF4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5DE3FD05-3CBC-48F5-BACB-8BF59E54D072}"/>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86F530E0-C922-46D8-8401-388B675AC2D7}"/>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7FA8F81B-AD4B-48FA-9506-2A32A4380FA8}"/>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2FFC380A-D665-40B3-B06F-547B8EA820EA}"/>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7236B6D3-499F-42C7-8432-8814E49E5BD4}"/>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99B9BEAF-6DA6-4B63-877F-79055BE454EA}"/>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A0BF5359-FB32-42E3-A54C-5FBC42768831}"/>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BAA9D472-12C2-4C22-8B24-F66B141E6501}"/>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BD54F58C-2368-4F00-8309-143408786001}"/>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C5E9FE6F-9C94-4D57-9EFA-AE743693299D}"/>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84E4C683-0CD0-48C4-B04D-0F535C7901AF}"/>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4A1AC5D7-B051-4CCC-BCE8-845C6F0C65F4}"/>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682F2B27-9DB6-4250-9C49-0A06158CDA0A}"/>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C3C48474-AD18-40FF-93A4-CC2E3D1CB9E2}"/>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2C7B582F-FCD6-444E-AB6B-F8965AD92B62}"/>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1ED85FB7-0AFC-42B1-94A8-3B33992F711C}"/>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A54881F9-C77B-436D-9C00-31F9C66AE941}"/>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11285443-7A0F-40F3-A830-4FD5DAC85880}"/>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012DBB45-7165-4486-84CE-691C58C2D43F}"/>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Tree>
    <p:extLst>
      <p:ext uri="{BB962C8B-B14F-4D97-AF65-F5344CB8AC3E}">
        <p14:creationId xmlns:p14="http://schemas.microsoft.com/office/powerpoint/2010/main" val="2012447362"/>
      </p:ext>
    </p:extLst>
  </p:cSld>
</p:sld>
</file>

<file path=ppt/slides/slide2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2  ·  Project Context">
            <a:extLst xmlns:a="http://schemas.openxmlformats.org/drawingml/2006/main">
              <a:ext uri="{FF2B5EF4-FFF2-40B4-BE49-F238E27FC236}">
                <a16:creationId xmlns:a16="http://schemas.microsoft.com/office/drawing/2014/main" id="{9050B792-399F-4A6C-B6E8-02C7E30C683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23">
            <a:extLst xmlns:a="http://schemas.openxmlformats.org/drawingml/2006/main">
              <a:ext uri="{FF2B5EF4-FFF2-40B4-BE49-F238E27FC236}">
                <a16:creationId xmlns:a16="http://schemas.microsoft.com/office/drawing/2014/main" id="{05672E5B-96BA-42F9-8FE7-C6A6D8C9121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작은 Project Context의 첫 기록">
            <a:extLst xmlns:a="http://schemas.openxmlformats.org/drawingml/2006/main">
              <a:ext uri="{FF2B5EF4-FFF2-40B4-BE49-F238E27FC236}">
                <a16:creationId xmlns:a16="http://schemas.microsoft.com/office/drawing/2014/main" id="{BE7BDEA9-7ED6-41C4-A79D-EA756B1513B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FCBBCD5C-84EE-4AD7-B197-E6D78B42248D}"/>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72C93AC3-6EF8-4EB2-AE88-9978A4BFB62F}"/>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345AD8F9-F6D0-40B7-AEE5-EBD88292A8E8}"/>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8B46040E-0587-4DD0-AF86-A3A17CEDFE1D}"/>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583B7E86-98FA-435F-9A8E-F303A93AF81C}"/>
              </a:ext>
            </a:extLst>
          </p:cNvPr>
          <p:cNvSpPr>
            <a:spLocks xmlns:a="http://schemas.openxmlformats.org/drawingml/2006/main" noGrp="1"/>
          </p:cNvSpPr>
          <p:nvPr/>
        </p:nvSpPr>
        <p:spPr>
          <a:xfrm xmlns:a="http://schemas.openxmlformats.org/drawingml/2006/main">
            <a:off x="609600" y="2286000"/>
            <a:ext cx="361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Consolas"/>
                <a:ea typeface="Consolas"/>
                <a:cs typeface="Consolas"/>
              </a:defRPr>
            </a:defPPr>
            <a:lvl1pPr algn="l">
              <a:defRPr sz="2850" b="1">
                <a:solidFill>
                  <a:srgbClr val="17212B"/>
                </a:solidFill>
                <a:latin typeface="Consolas"/>
                <a:ea typeface="Consolas"/>
                <a:cs typeface="Consolas"/>
              </a:defRPr>
            </a:lvl1pPr>
            <a:lvl2pPr algn="l">
              <a:defRPr sz="2850" b="1">
                <a:solidFill>
                  <a:srgbClr val="17212B"/>
                </a:solidFill>
                <a:latin typeface="Consolas"/>
                <a:ea typeface="Consolas"/>
                <a:cs typeface="Consolas"/>
              </a:defRPr>
            </a:lvl2pPr>
            <a:lvl3pPr algn="l">
              <a:defRPr sz="2850" b="1">
                <a:solidFill>
                  <a:srgbClr val="17212B"/>
                </a:solidFill>
                <a:latin typeface="Consolas"/>
                <a:ea typeface="Consolas"/>
                <a:cs typeface="Consolas"/>
              </a:defRPr>
            </a:lvl3pPr>
            <a:lvl4pPr algn="l">
              <a:defRPr sz="2850" b="1">
                <a:solidFill>
                  <a:srgbClr val="17212B"/>
                </a:solidFill>
                <a:latin typeface="Consolas"/>
                <a:ea typeface="Consolas"/>
                <a:cs typeface="Consolas"/>
              </a:defRPr>
            </a:lvl4pPr>
            <a:lvl5pPr algn="l">
              <a:defRPr sz="2850" b="1">
                <a:solidFill>
                  <a:srgbClr val="17212B"/>
                </a:solidFill>
                <a:latin typeface="Consolas"/>
                <a:ea typeface="Consolas"/>
                <a:cs typeface="Consolas"/>
              </a:defRPr>
            </a:lvl5pPr>
            <a:lvl6pPr algn="l">
              <a:defRPr sz="2850" b="1">
                <a:solidFill>
                  <a:srgbClr val="17212B"/>
                </a:solidFill>
                <a:latin typeface="Consolas"/>
                <a:ea typeface="Consolas"/>
                <a:cs typeface="Consolas"/>
              </a:defRPr>
            </a:lvl6pPr>
            <a:lvl7pPr algn="l">
              <a:defRPr sz="2850" b="1">
                <a:solidFill>
                  <a:srgbClr val="17212B"/>
                </a:solidFill>
                <a:latin typeface="Consolas"/>
                <a:ea typeface="Consolas"/>
                <a:cs typeface="Consolas"/>
              </a:defRPr>
            </a:lvl7pPr>
            <a:lvl8pPr algn="l">
              <a:defRPr sz="2850" b="1">
                <a:solidFill>
                  <a:srgbClr val="17212B"/>
                </a:solidFill>
                <a:latin typeface="Consolas"/>
                <a:ea typeface="Consolas"/>
                <a:cs typeface="Consolas"/>
              </a:defRPr>
            </a:lvl8pPr>
            <a:lvl9pPr algn="l">
              <a:defRPr sz="2850" b="1">
                <a:solidFill>
                  <a:srgbClr val="17212B"/>
                </a:solidFill>
                <a:latin typeface="Consolas"/>
                <a:ea typeface="Consolas"/>
                <a:cs typeface="Consolas"/>
              </a:defRPr>
            </a:lvl9pPr>
          </a:lstStyle>
          <a:p xmlns:a="http://schemas.openxmlformats.org/drawingml/2006/main">
            <a:pPr algn="l">
              <a:defRPr sz="2850" b="1">
                <a:solidFill>
                  <a:srgbClr val="17212B"/>
                </a:solidFill>
                <a:latin typeface="Consolas"/>
                <a:ea typeface="Consolas"/>
                <a:cs typeface="Consolas"/>
              </a:defRPr>
            </a:pPr>
            <a:r>
              <a:rPr sz="28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C41E9946-A2A1-4494-BBF5-BD3B479454C0}"/>
              </a:ext>
            </a:extLst>
          </p:cNvPr>
          <p:cNvSpPr>
            <a:spLocks xmlns:a="http://schemas.openxmlformats.org/drawingml/2006/main" noGrp="1"/>
          </p:cNvSpPr>
          <p:nvPr/>
        </p:nvSpPr>
        <p:spPr>
          <a:xfrm xmlns:a="http://schemas.openxmlformats.org/drawingml/2006/main">
            <a:off x="7143750" y="2343150"/>
            <a:ext cx="4438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46B4299C-9EC0-474F-AF87-6EFC416BD946}"/>
              </a:ext>
            </a:extLst>
          </p:cNvPr>
          <p:cNvSpPr>
            <a:spLocks xmlns:a="http://schemas.openxmlformats.org/drawingml/2006/main" noGrp="1"/>
          </p:cNvSpPr>
          <p:nvPr/>
        </p:nvSpPr>
        <p:spPr>
          <a:xfrm xmlns:a="http://schemas.openxmlformats.org/drawingml/2006/main">
            <a:off x="609600" y="29146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A06B5657-8FEE-4DED-91B0-A62324800474}"/>
              </a:ext>
            </a:extLst>
          </p:cNvPr>
          <p:cNvSpPr>
            <a:spLocks xmlns:a="http://schemas.openxmlformats.org/drawingml/2006/main" noGrp="1"/>
          </p:cNvSpPr>
          <p:nvPr/>
        </p:nvSpPr>
        <p:spPr>
          <a:xfrm xmlns:a="http://schemas.openxmlformats.org/drawingml/2006/main">
            <a:off x="609600" y="3105150"/>
            <a:ext cx="2190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06E46F29-A756-4C19-81CE-84566F5DE8D8}"/>
              </a:ext>
            </a:extLst>
          </p:cNvPr>
          <p:cNvSpPr>
            <a:spLocks xmlns:a="http://schemas.openxmlformats.org/drawingml/2006/main" noGrp="1"/>
          </p:cNvSpPr>
          <p:nvPr/>
        </p:nvSpPr>
        <p:spPr>
          <a:xfrm xmlns:a="http://schemas.openxmlformats.org/drawingml/2006/main">
            <a:off x="2952750" y="3105150"/>
            <a:ext cx="8629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Local </a:t>
            </a:r>
            <a:r>
              <a:rPr sz="1800" b="1">
                <a:solidFill>
                  <a:srgbClr val="17212B"/>
                </a:solidFill>
                <a:latin typeface="Malgun Gothic"/>
                <a:ea typeface="Malgun Gothic"/>
                <a:cs typeface="Malgun Gothic"/>
              </a:rPr>
              <a:t>grayscale image-processing CLI</a:t>
            </a:r>
            <a:r>
              <a:rPr sz="1800" b="0">
                <a:solidFill>
                  <a:srgbClr val="17212B"/>
                </a:solidFill>
                <a:latin typeface="Malgun Gothic"/>
                <a:ea typeface="Malgun Gothic"/>
                <a:cs typeface="Malgun Gothic"/>
              </a:rPr>
              <a:t> using synthetic ASCII PGM data.</a:t>
            </a:r>
          </a:p>
        </p:txBody>
      </p:sp>
      <p:sp>
        <p:nvSpPr>
          <p:cNvPr id="13" name="">
            <a:extLst xmlns:a="http://schemas.openxmlformats.org/drawingml/2006/main">
              <a:ext uri="{FF2B5EF4-FFF2-40B4-BE49-F238E27FC236}">
                <a16:creationId xmlns:a16="http://schemas.microsoft.com/office/drawing/2014/main" id="{33FDAC35-F62C-4829-92F7-B2CC6A2DD574}"/>
              </a:ext>
            </a:extLst>
          </p:cNvPr>
          <p:cNvSpPr>
            <a:spLocks xmlns:a="http://schemas.openxmlformats.org/drawingml/2006/main" noGrp="1"/>
          </p:cNvSpPr>
          <p:nvPr/>
        </p:nvSpPr>
        <p:spPr>
          <a:xfrm xmlns:a="http://schemas.openxmlformats.org/drawingml/2006/main">
            <a:off x="609600" y="36099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실행 방법">
            <a:extLst xmlns:a="http://schemas.openxmlformats.org/drawingml/2006/main">
              <a:ext uri="{FF2B5EF4-FFF2-40B4-BE49-F238E27FC236}">
                <a16:creationId xmlns:a16="http://schemas.microsoft.com/office/drawing/2014/main" id="{1B3C1D6F-DF42-4108-AD54-4410D743C68C}"/>
              </a:ext>
            </a:extLst>
          </p:cNvPr>
          <p:cNvSpPr>
            <a:spLocks xmlns:a="http://schemas.openxmlformats.org/drawingml/2006/main" noGrp="1"/>
          </p:cNvSpPr>
          <p:nvPr/>
        </p:nvSpPr>
        <p:spPr>
          <a:xfrm xmlns:a="http://schemas.openxmlformats.org/drawingml/2006/main">
            <a:off x="609600" y="3800475"/>
            <a:ext cx="2190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방법</a:t>
            </a:r>
          </a:p>
        </p:txBody>
      </p:sp>
      <p:sp>
        <p:nvSpPr>
          <p:cNvPr id="15" name="Use the prepared build and CLI commands documented in `READM">
            <a:extLst xmlns:a="http://schemas.openxmlformats.org/drawingml/2006/main">
              <a:ext uri="{FF2B5EF4-FFF2-40B4-BE49-F238E27FC236}">
                <a16:creationId xmlns:a16="http://schemas.microsoft.com/office/drawing/2014/main" id="{B64BB367-FC1D-47AD-A156-6E4CB3A07B02}"/>
              </a:ext>
            </a:extLst>
          </p:cNvPr>
          <p:cNvSpPr>
            <a:spLocks xmlns:a="http://schemas.openxmlformats.org/drawingml/2006/main" noGrp="1"/>
          </p:cNvSpPr>
          <p:nvPr/>
        </p:nvSpPr>
        <p:spPr>
          <a:xfrm xmlns:a="http://schemas.openxmlformats.org/drawingml/2006/main">
            <a:off x="2952750" y="3800475"/>
            <a:ext cx="8629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Use the prepared build and CLI commands documented in `</a:t>
            </a:r>
            <a:r>
              <a:rPr sz="1800" b="1">
                <a:solidFill>
                  <a:srgbClr val="17212B"/>
                </a:solidFill>
                <a:latin typeface="Malgun Gothic"/>
                <a:ea typeface="Malgun Gothic"/>
                <a:cs typeface="Malgun Gothic"/>
              </a:rPr>
              <a:t>README.md</a:t>
            </a:r>
            <a:r>
              <a:rPr sz="1800" b="0">
                <a:solidFill>
                  <a:srgbClr val="17212B"/>
                </a:solidFill>
                <a:latin typeface="Malgun Gothic"/>
                <a:ea typeface="Malgun Gothic"/>
                <a:cs typeface="Malgun Gothic"/>
              </a:rPr>
              <a:t>`.</a:t>
            </a:r>
          </a:p>
        </p:txBody>
      </p:sp>
      <p:sp>
        <p:nvSpPr>
          <p:cNvPr id="16" name="">
            <a:extLst xmlns:a="http://schemas.openxmlformats.org/drawingml/2006/main">
              <a:ext uri="{FF2B5EF4-FFF2-40B4-BE49-F238E27FC236}">
                <a16:creationId xmlns:a16="http://schemas.microsoft.com/office/drawing/2014/main" id="{F99592F2-1C73-4270-B312-35BEA26F3604}"/>
              </a:ext>
            </a:extLst>
          </p:cNvPr>
          <p:cNvSpPr>
            <a:spLocks xmlns:a="http://schemas.openxmlformats.org/drawingml/2006/main" noGrp="1"/>
          </p:cNvSpPr>
          <p:nvPr/>
        </p:nvSpPr>
        <p:spPr>
          <a:xfrm xmlns:a="http://schemas.openxmlformats.org/drawingml/2006/main">
            <a:off x="609600" y="4305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테스트 명령">
            <a:extLst xmlns:a="http://schemas.openxmlformats.org/drawingml/2006/main">
              <a:ext uri="{FF2B5EF4-FFF2-40B4-BE49-F238E27FC236}">
                <a16:creationId xmlns:a16="http://schemas.microsoft.com/office/drawing/2014/main" id="{07CF1567-AD4B-4D8E-8794-A3C3B0DFA95E}"/>
              </a:ext>
            </a:extLst>
          </p:cNvPr>
          <p:cNvSpPr>
            <a:spLocks xmlns:a="http://schemas.openxmlformats.org/drawingml/2006/main" noGrp="1"/>
          </p:cNvSpPr>
          <p:nvPr/>
        </p:nvSpPr>
        <p:spPr>
          <a:xfrm xmlns:a="http://schemas.openxmlformats.org/drawingml/2006/main">
            <a:off x="609600" y="4495800"/>
            <a:ext cx="2190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테스트 명령</a:t>
            </a:r>
          </a:p>
        </p:txBody>
      </p:sp>
      <p:sp>
        <p:nvSpPr>
          <p:cNvPr id="18" name="PYTHONPATH=src python3 -m unittest discover -s tests -v">
            <a:extLst xmlns:a="http://schemas.openxmlformats.org/drawingml/2006/main">
              <a:ext uri="{FF2B5EF4-FFF2-40B4-BE49-F238E27FC236}">
                <a16:creationId xmlns:a16="http://schemas.microsoft.com/office/drawing/2014/main" id="{EF140112-CBDF-4F9D-B563-017186DCFECE}"/>
              </a:ext>
            </a:extLst>
          </p:cNvPr>
          <p:cNvSpPr>
            <a:spLocks xmlns:a="http://schemas.openxmlformats.org/drawingml/2006/main" noGrp="1"/>
          </p:cNvSpPr>
          <p:nvPr/>
        </p:nvSpPr>
        <p:spPr>
          <a:xfrm xmlns:a="http://schemas.openxmlformats.org/drawingml/2006/main">
            <a:off x="2952750" y="4495800"/>
            <a:ext cx="8629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Consolas"/>
                <a:ea typeface="Consolas"/>
                <a:cs typeface="Consolas"/>
              </a:defRPr>
            </a:defPPr>
            <a:lvl1pPr algn="l">
              <a:defRPr sz="1800" b="0">
                <a:solidFill>
                  <a:srgbClr val="17212B"/>
                </a:solidFill>
                <a:latin typeface="Consolas"/>
                <a:ea typeface="Consolas"/>
                <a:cs typeface="Consolas"/>
              </a:defRPr>
            </a:lvl1pPr>
            <a:lvl2pPr algn="l">
              <a:defRPr sz="1800" b="0">
                <a:solidFill>
                  <a:srgbClr val="17212B"/>
                </a:solidFill>
                <a:latin typeface="Consolas"/>
                <a:ea typeface="Consolas"/>
                <a:cs typeface="Consolas"/>
              </a:defRPr>
            </a:lvl2pPr>
            <a:lvl3pPr algn="l">
              <a:defRPr sz="1800" b="0">
                <a:solidFill>
                  <a:srgbClr val="17212B"/>
                </a:solidFill>
                <a:latin typeface="Consolas"/>
                <a:ea typeface="Consolas"/>
                <a:cs typeface="Consolas"/>
              </a:defRPr>
            </a:lvl3pPr>
            <a:lvl4pPr algn="l">
              <a:defRPr sz="1800" b="0">
                <a:solidFill>
                  <a:srgbClr val="17212B"/>
                </a:solidFill>
                <a:latin typeface="Consolas"/>
                <a:ea typeface="Consolas"/>
                <a:cs typeface="Consolas"/>
              </a:defRPr>
            </a:lvl4pPr>
            <a:lvl5pPr algn="l">
              <a:defRPr sz="1800" b="0">
                <a:solidFill>
                  <a:srgbClr val="17212B"/>
                </a:solidFill>
                <a:latin typeface="Consolas"/>
                <a:ea typeface="Consolas"/>
                <a:cs typeface="Consolas"/>
              </a:defRPr>
            </a:lvl5pPr>
            <a:lvl6pPr algn="l">
              <a:defRPr sz="1800" b="0">
                <a:solidFill>
                  <a:srgbClr val="17212B"/>
                </a:solidFill>
                <a:latin typeface="Consolas"/>
                <a:ea typeface="Consolas"/>
                <a:cs typeface="Consolas"/>
              </a:defRPr>
            </a:lvl6pPr>
            <a:lvl7pPr algn="l">
              <a:defRPr sz="1800" b="0">
                <a:solidFill>
                  <a:srgbClr val="17212B"/>
                </a:solidFill>
                <a:latin typeface="Consolas"/>
                <a:ea typeface="Consolas"/>
                <a:cs typeface="Consolas"/>
              </a:defRPr>
            </a:lvl7pPr>
            <a:lvl8pPr algn="l">
              <a:defRPr sz="1800" b="0">
                <a:solidFill>
                  <a:srgbClr val="17212B"/>
                </a:solidFill>
                <a:latin typeface="Consolas"/>
                <a:ea typeface="Consolas"/>
                <a:cs typeface="Consolas"/>
              </a:defRPr>
            </a:lvl8pPr>
            <a:lvl9pPr algn="l">
              <a:defRPr sz="1800" b="0">
                <a:solidFill>
                  <a:srgbClr val="17212B"/>
                </a:solidFill>
                <a:latin typeface="Consolas"/>
                <a:ea typeface="Consolas"/>
                <a:cs typeface="Consolas"/>
              </a:defRPr>
            </a:lvl9pPr>
          </a:lstStyle>
          <a:p xmlns:a="http://schemas.openxmlformats.org/drawingml/2006/main">
            <a:pPr algn="l">
              <a:defRPr sz="1800" b="0">
                <a:solidFill>
                  <a:srgbClr val="17212B"/>
                </a:solidFill>
                <a:latin typeface="Consolas"/>
                <a:ea typeface="Consolas"/>
                <a:cs typeface="Consolas"/>
              </a:defRPr>
            </a:pPr>
            <a:r>
              <a:rPr sz="1800" b="0">
                <a:solidFill>
                  <a:srgbClr val="17212B"/>
                </a:solidFill>
                <a:latin typeface="Consolas"/>
                <a:ea typeface="Consolas"/>
                <a:cs typeface="Consolas"/>
              </a:rPr>
              <a:t>PYTHONPATH=src python3 -m unittest discover -s tests -v</a:t>
            </a:r>
          </a:p>
        </p:txBody>
      </p:sp>
      <p:sp>
        <p:nvSpPr>
          <p:cNvPr id="19" name="">
            <a:extLst xmlns:a="http://schemas.openxmlformats.org/drawingml/2006/main">
              <a:ext uri="{FF2B5EF4-FFF2-40B4-BE49-F238E27FC236}">
                <a16:creationId xmlns:a16="http://schemas.microsoft.com/office/drawing/2014/main" id="{8C9C46C5-B8D2-4305-838E-81C0893EF666}"/>
              </a:ext>
            </a:extLst>
          </p:cNvPr>
          <p:cNvSpPr>
            <a:spLocks xmlns:a="http://schemas.openxmlformats.org/drawingml/2006/main" noGrp="1"/>
          </p:cNvSpPr>
          <p:nvPr/>
        </p:nvSpPr>
        <p:spPr>
          <a:xfrm xmlns:a="http://schemas.openxmlformats.org/drawingml/2006/main">
            <a:off x="609600" y="50006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기본 제약">
            <a:extLst xmlns:a="http://schemas.openxmlformats.org/drawingml/2006/main">
              <a:ext uri="{FF2B5EF4-FFF2-40B4-BE49-F238E27FC236}">
                <a16:creationId xmlns:a16="http://schemas.microsoft.com/office/drawing/2014/main" id="{C78864CB-671E-4C47-A536-A5F8526D8C11}"/>
              </a:ext>
            </a:extLst>
          </p:cNvPr>
          <p:cNvSpPr>
            <a:spLocks xmlns:a="http://schemas.openxmlformats.org/drawingml/2006/main" noGrp="1"/>
          </p:cNvSpPr>
          <p:nvPr/>
        </p:nvSpPr>
        <p:spPr>
          <a:xfrm xmlns:a="http://schemas.openxmlformats.org/drawingml/2006/main">
            <a:off x="609600" y="5191125"/>
            <a:ext cx="2190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기본 제약</a:t>
            </a:r>
          </a:p>
        </p:txBody>
      </p:sp>
      <p:sp>
        <p:nvSpPr>
          <p:cNvPr id="21" name="Keep changes scoped and verify relevant behavior.">
            <a:extLst xmlns:a="http://schemas.openxmlformats.org/drawingml/2006/main">
              <a:ext uri="{FF2B5EF4-FFF2-40B4-BE49-F238E27FC236}">
                <a16:creationId xmlns:a16="http://schemas.microsoft.com/office/drawing/2014/main" id="{B9CD072E-6526-4592-892B-54854A42C25E}"/>
              </a:ext>
            </a:extLst>
          </p:cNvPr>
          <p:cNvSpPr>
            <a:spLocks xmlns:a="http://schemas.openxmlformats.org/drawingml/2006/main" noGrp="1"/>
          </p:cNvSpPr>
          <p:nvPr/>
        </p:nvSpPr>
        <p:spPr>
          <a:xfrm xmlns:a="http://schemas.openxmlformats.org/drawingml/2006/main">
            <a:off x="2952750" y="5191125"/>
            <a:ext cx="8629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Keep changes </a:t>
            </a:r>
            <a:r>
              <a:rPr sz="1800" b="1">
                <a:solidFill>
                  <a:srgbClr val="17212B"/>
                </a:solidFill>
                <a:latin typeface="Malgun Gothic"/>
                <a:ea typeface="Malgun Gothic"/>
                <a:cs typeface="Malgun Gothic"/>
              </a:rPr>
              <a:t>scoped and verify</a:t>
            </a:r>
            <a:r>
              <a:rPr sz="1800" b="0">
                <a:solidFill>
                  <a:srgbClr val="17212B"/>
                </a:solidFill>
                <a:latin typeface="Malgun Gothic"/>
                <a:ea typeface="Malgun Gothic"/>
                <a:cs typeface="Malgun Gothic"/>
              </a:rPr>
              <a:t> relevant behavior.</a:t>
            </a:r>
          </a:p>
        </p:txBody>
      </p:sp>
    </p:spTree>
    <p:extLst>
      <p:ext uri="{BB962C8B-B14F-4D97-AF65-F5344CB8AC3E}">
        <p14:creationId xmlns:p14="http://schemas.microsoft.com/office/powerpoint/2010/main" val="781227631"/>
      </p:ext>
    </p:extLst>
  </p:cSld>
</p:sld>
</file>

<file path=ppt/slides/slide2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지침을 활용한 관찰">
            <a:extLst xmlns:a="http://schemas.openxmlformats.org/drawingml/2006/main">
              <a:ext uri="{FF2B5EF4-FFF2-40B4-BE49-F238E27FC236}">
                <a16:creationId xmlns:a16="http://schemas.microsoft.com/office/drawing/2014/main" id="{C7A98752-CDDC-4DA6-A4D9-8D831B68DFF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지침을 활용한 관찰</a:t>
            </a:r>
          </a:p>
        </p:txBody>
      </p:sp>
      <p:sp>
        <p:nvSpPr>
          <p:cNvPr id="2" name="S24">
            <a:extLst xmlns:a="http://schemas.openxmlformats.org/drawingml/2006/main">
              <a:ext uri="{FF2B5EF4-FFF2-40B4-BE49-F238E27FC236}">
                <a16:creationId xmlns:a16="http://schemas.microsoft.com/office/drawing/2014/main" id="{8DC98DDA-07F3-4384-AADC-049EB66C551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한 번의 사용에서 확인된 것">
            <a:extLst xmlns:a="http://schemas.openxmlformats.org/drawingml/2006/main">
              <a:ext uri="{FF2B5EF4-FFF2-40B4-BE49-F238E27FC236}">
                <a16:creationId xmlns:a16="http://schemas.microsoft.com/office/drawing/2014/main" id="{A228577D-67B3-4CA4-BF8B-FA1001643A4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번의 사용에서 확인된 것</a:t>
            </a:r>
          </a:p>
        </p:txBody>
      </p:sp>
      <p:sp>
        <p:nvSpPr>
          <p:cNvPr id="4" name="">
            <a:extLst xmlns:a="http://schemas.openxmlformats.org/drawingml/2006/main">
              <a:ext uri="{FF2B5EF4-FFF2-40B4-BE49-F238E27FC236}">
                <a16:creationId xmlns:a16="http://schemas.microsoft.com/office/drawing/2014/main" id="{63C046B6-B682-4FB3-93D9-E837CB183730}"/>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Codex CLI 기록을 재구성 · 전체 테스트 11/11 PASS">
            <a:extLst xmlns:a="http://schemas.openxmlformats.org/drawingml/2006/main">
              <a:ext uri="{FF2B5EF4-FFF2-40B4-BE49-F238E27FC236}">
                <a16:creationId xmlns:a16="http://schemas.microsoft.com/office/drawing/2014/main" id="{02344513-7CEB-4581-AF1F-A050ECD7C035}"/>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Codex CLI 기록을 재구성 · 전체 테스트 11/11 PASS</a:t>
            </a:r>
          </a:p>
        </p:txBody>
      </p:sp>
      <p:sp>
        <p:nvSpPr>
          <p:cNvPr id="6" name="Personal/global Skills도 실행됨 · AGENTS.md만의 독립적인 효과로 해석하지 않음">
            <a:extLst xmlns:a="http://schemas.openxmlformats.org/drawingml/2006/main">
              <a:ext uri="{FF2B5EF4-FFF2-40B4-BE49-F238E27FC236}">
                <a16:creationId xmlns:a16="http://schemas.microsoft.com/office/drawing/2014/main" id="{5BE15FCB-5764-4F9D-898E-0D4CDBD857B7}"/>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Personal/global Skills도 실행됨 · AGENTS.md만의 독립적인 효과로 해석하지 않음</a:t>
            </a:r>
          </a:p>
        </p:txBody>
      </p:sp>
      <p:sp>
        <p:nvSpPr>
          <p:cNvPr id="7" name="요청">
            <a:extLst xmlns:a="http://schemas.openxmlformats.org/drawingml/2006/main">
              <a:ext uri="{FF2B5EF4-FFF2-40B4-BE49-F238E27FC236}">
                <a16:creationId xmlns:a16="http://schemas.microsoft.com/office/drawing/2014/main" id="{9F35DAED-CB1E-4961-9935-A72A6EB37CF1}"/>
              </a:ext>
            </a:extLst>
          </p:cNvPr>
          <p:cNvSpPr>
            <a:spLocks xmlns:a="http://schemas.openxmlformats.org/drawingml/2006/main" noGrp="1"/>
          </p:cNvSpPr>
          <p:nvPr/>
        </p:nvSpPr>
        <p:spPr>
          <a:xfrm xmlns:a="http://schemas.openxmlformats.org/drawingml/2006/main">
            <a:off x="609600" y="220980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요청</a:t>
            </a:r>
          </a:p>
        </p:txBody>
      </p:sp>
      <p:sp>
        <p:nvSpPr>
          <p:cNvPr id="8" name="">
            <a:extLst xmlns:a="http://schemas.openxmlformats.org/drawingml/2006/main">
              <a:ext uri="{FF2B5EF4-FFF2-40B4-BE49-F238E27FC236}">
                <a16:creationId xmlns:a16="http://schemas.microsoft.com/office/drawing/2014/main" id="{70C2E02D-B89C-4B26-867C-33DA7AC30E27}"/>
              </a:ext>
            </a:extLst>
          </p:cNvPr>
          <p:cNvSpPr>
            <a:spLocks xmlns:a="http://schemas.openxmlformats.org/drawingml/2006/main" noGrp="1"/>
          </p:cNvSpPr>
          <p:nvPr/>
        </p:nvSpPr>
        <p:spPr>
          <a:xfrm xmlns:a="http://schemas.openxmlformats.org/drawingml/2006/main">
            <a:off x="609600" y="2667000"/>
            <a:ext cx="33147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읽은 파일">
            <a:extLst xmlns:a="http://schemas.openxmlformats.org/drawingml/2006/main">
              <a:ext uri="{FF2B5EF4-FFF2-40B4-BE49-F238E27FC236}">
                <a16:creationId xmlns:a16="http://schemas.microsoft.com/office/drawing/2014/main" id="{6271E5B7-4F6C-47FD-B681-D72F3E8DEAD3}"/>
              </a:ext>
            </a:extLst>
          </p:cNvPr>
          <p:cNvSpPr>
            <a:spLocks xmlns:a="http://schemas.openxmlformats.org/drawingml/2006/main" noGrp="1"/>
          </p:cNvSpPr>
          <p:nvPr/>
        </p:nvSpPr>
        <p:spPr>
          <a:xfrm xmlns:a="http://schemas.openxmlformats.org/drawingml/2006/main">
            <a:off x="4438650" y="220980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읽은 파일</a:t>
            </a:r>
          </a:p>
        </p:txBody>
      </p:sp>
      <p:sp>
        <p:nvSpPr>
          <p:cNvPr id="10" name="">
            <a:extLst xmlns:a="http://schemas.openxmlformats.org/drawingml/2006/main">
              <a:ext uri="{FF2B5EF4-FFF2-40B4-BE49-F238E27FC236}">
                <a16:creationId xmlns:a16="http://schemas.microsoft.com/office/drawing/2014/main" id="{A2E3FE54-6616-4AA3-865A-7F205ED87CCA}"/>
              </a:ext>
            </a:extLst>
          </p:cNvPr>
          <p:cNvSpPr>
            <a:spLocks xmlns:a="http://schemas.openxmlformats.org/drawingml/2006/main" noGrp="1"/>
          </p:cNvSpPr>
          <p:nvPr/>
        </p:nvSpPr>
        <p:spPr>
          <a:xfrm xmlns:a="http://schemas.openxmlformats.org/drawingml/2006/main">
            <a:off x="4438650" y="2667000"/>
            <a:ext cx="33147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실행 기록">
            <a:extLst xmlns:a="http://schemas.openxmlformats.org/drawingml/2006/main">
              <a:ext uri="{FF2B5EF4-FFF2-40B4-BE49-F238E27FC236}">
                <a16:creationId xmlns:a16="http://schemas.microsoft.com/office/drawing/2014/main" id="{74ADE30B-C7D8-4A86-974D-480D32C25510}"/>
              </a:ext>
            </a:extLst>
          </p:cNvPr>
          <p:cNvSpPr>
            <a:spLocks xmlns:a="http://schemas.openxmlformats.org/drawingml/2006/main" noGrp="1"/>
          </p:cNvSpPr>
          <p:nvPr/>
        </p:nvSpPr>
        <p:spPr>
          <a:xfrm xmlns:a="http://schemas.openxmlformats.org/drawingml/2006/main">
            <a:off x="8267700" y="220980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2" name="">
            <a:extLst xmlns:a="http://schemas.openxmlformats.org/drawingml/2006/main">
              <a:ext uri="{FF2B5EF4-FFF2-40B4-BE49-F238E27FC236}">
                <a16:creationId xmlns:a16="http://schemas.microsoft.com/office/drawing/2014/main" id="{CD06B38F-1512-42A8-BD04-B4D0E12AA163}"/>
              </a:ext>
            </a:extLst>
          </p:cNvPr>
          <p:cNvSpPr>
            <a:spLocks xmlns:a="http://schemas.openxmlformats.org/drawingml/2006/main" noGrp="1"/>
          </p:cNvSpPr>
          <p:nvPr/>
        </p:nvSpPr>
        <p:spPr>
          <a:xfrm xmlns:a="http://schemas.openxmlformats.org/drawingml/2006/main">
            <a:off x="8267700" y="2667000"/>
            <a:ext cx="33147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README만 수정&#10;테스트 명령은 없음">
            <a:extLst xmlns:a="http://schemas.openxmlformats.org/drawingml/2006/main">
              <a:ext uri="{FF2B5EF4-FFF2-40B4-BE49-F238E27FC236}">
                <a16:creationId xmlns:a16="http://schemas.microsoft.com/office/drawing/2014/main" id="{71C2E290-9E40-465C-9EED-0D600572B4E4}"/>
              </a:ext>
            </a:extLst>
          </p:cNvPr>
          <p:cNvSpPr>
            <a:spLocks xmlns:a="http://schemas.openxmlformats.org/drawingml/2006/main" noGrp="1"/>
          </p:cNvSpPr>
          <p:nvPr/>
        </p:nvSpPr>
        <p:spPr>
          <a:xfrm xmlns:a="http://schemas.openxmlformats.org/drawingml/2006/main">
            <a:off x="609600" y="2876550"/>
            <a:ext cx="33147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README만 수정</a:t>
            </a:r>
          </a:p>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테스트 명령은 없음</a:t>
            </a:r>
          </a:p>
        </p:txBody>
      </p:sp>
      <p:sp>
        <p:nvSpPr>
          <p:cNvPr id="14" name="AGENTS.md">
            <a:extLst xmlns:a="http://schemas.openxmlformats.org/drawingml/2006/main">
              <a:ext uri="{FF2B5EF4-FFF2-40B4-BE49-F238E27FC236}">
                <a16:creationId xmlns:a16="http://schemas.microsoft.com/office/drawing/2014/main" id="{4A06C942-C8B5-4D8B-9B82-3D2DE2BFAD5D}"/>
              </a:ext>
            </a:extLst>
          </p:cNvPr>
          <p:cNvSpPr>
            <a:spLocks xmlns:a="http://schemas.openxmlformats.org/drawingml/2006/main" noGrp="1"/>
          </p:cNvSpPr>
          <p:nvPr/>
        </p:nvSpPr>
        <p:spPr>
          <a:xfrm xmlns:a="http://schemas.openxmlformats.org/drawingml/2006/main">
            <a:off x="4438650" y="2876550"/>
            <a:ext cx="3314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15" name="기록된 테스트&#10;명령을 사용">
            <a:extLst xmlns:a="http://schemas.openxmlformats.org/drawingml/2006/main">
              <a:ext uri="{FF2B5EF4-FFF2-40B4-BE49-F238E27FC236}">
                <a16:creationId xmlns:a16="http://schemas.microsoft.com/office/drawing/2014/main" id="{4776281B-78CF-400F-9FF4-6FBE9595F1BB}"/>
              </a:ext>
            </a:extLst>
          </p:cNvPr>
          <p:cNvSpPr>
            <a:spLocks xmlns:a="http://schemas.openxmlformats.org/drawingml/2006/main" noGrp="1"/>
          </p:cNvSpPr>
          <p:nvPr/>
        </p:nvSpPr>
        <p:spPr>
          <a:xfrm xmlns:a="http://schemas.openxmlformats.org/drawingml/2006/main">
            <a:off x="4438650" y="3533775"/>
            <a:ext cx="33147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기록된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사용</a:t>
            </a:r>
          </a:p>
        </p:txBody>
      </p:sp>
      <p:sp>
        <p:nvSpPr>
          <p:cNvPr id="16" name="전체 테스트">
            <a:extLst xmlns:a="http://schemas.openxmlformats.org/drawingml/2006/main">
              <a:ext uri="{FF2B5EF4-FFF2-40B4-BE49-F238E27FC236}">
                <a16:creationId xmlns:a16="http://schemas.microsoft.com/office/drawing/2014/main" id="{11E3AC9F-BC65-4D2B-9422-055204014D9E}"/>
              </a:ext>
            </a:extLst>
          </p:cNvPr>
          <p:cNvSpPr>
            <a:spLocks xmlns:a="http://schemas.openxmlformats.org/drawingml/2006/main" noGrp="1"/>
          </p:cNvSpPr>
          <p:nvPr/>
        </p:nvSpPr>
        <p:spPr>
          <a:xfrm xmlns:a="http://schemas.openxmlformats.org/drawingml/2006/main">
            <a:off x="8267700" y="2876550"/>
            <a:ext cx="33147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전체 테스트</a:t>
            </a:r>
          </a:p>
        </p:txBody>
      </p:sp>
      <p:sp>
        <p:nvSpPr>
          <p:cNvPr id="17" name="11 / 11">
            <a:extLst xmlns:a="http://schemas.openxmlformats.org/drawingml/2006/main">
              <a:ext uri="{FF2B5EF4-FFF2-40B4-BE49-F238E27FC236}">
                <a16:creationId xmlns:a16="http://schemas.microsoft.com/office/drawing/2014/main" id="{65FFE545-1061-4BD8-9DB1-5AFB6F4E8611}"/>
              </a:ext>
            </a:extLst>
          </p:cNvPr>
          <p:cNvSpPr>
            <a:spLocks xmlns:a="http://schemas.openxmlformats.org/drawingml/2006/main" noGrp="1"/>
          </p:cNvSpPr>
          <p:nvPr/>
        </p:nvSpPr>
        <p:spPr>
          <a:xfrm xmlns:a="http://schemas.openxmlformats.org/drawingml/2006/main">
            <a:off x="8267700" y="3476625"/>
            <a:ext cx="33147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18" name="PASS">
            <a:extLst xmlns:a="http://schemas.openxmlformats.org/drawingml/2006/main">
              <a:ext uri="{FF2B5EF4-FFF2-40B4-BE49-F238E27FC236}">
                <a16:creationId xmlns:a16="http://schemas.microsoft.com/office/drawing/2014/main" id="{F9CFA818-3505-442D-B6A6-AD4BF0AC5426}"/>
              </a:ext>
            </a:extLst>
          </p:cNvPr>
          <p:cNvSpPr>
            <a:spLocks xmlns:a="http://schemas.openxmlformats.org/drawingml/2006/main" noGrp="1"/>
          </p:cNvSpPr>
          <p:nvPr/>
        </p:nvSpPr>
        <p:spPr>
          <a:xfrm xmlns:a="http://schemas.openxmlformats.org/drawingml/2006/main">
            <a:off x="8267700" y="4105275"/>
            <a:ext cx="33147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6B4D"/>
                </a:solidFill>
                <a:latin typeface="Malgun Gothic"/>
                <a:ea typeface="Malgun Gothic"/>
                <a:cs typeface="Malgun Gothic"/>
              </a:defRPr>
            </a:defPPr>
            <a:lvl1pPr algn="l">
              <a:defRPr sz="2100" b="1">
                <a:solidFill>
                  <a:srgbClr val="176B4D"/>
                </a:solidFill>
                <a:latin typeface="Malgun Gothic"/>
                <a:ea typeface="Malgun Gothic"/>
                <a:cs typeface="Malgun Gothic"/>
              </a:defRPr>
            </a:lvl1pPr>
            <a:lvl2pPr algn="l">
              <a:defRPr sz="2100" b="1">
                <a:solidFill>
                  <a:srgbClr val="176B4D"/>
                </a:solidFill>
                <a:latin typeface="Malgun Gothic"/>
                <a:ea typeface="Malgun Gothic"/>
                <a:cs typeface="Malgun Gothic"/>
              </a:defRPr>
            </a:lvl2pPr>
            <a:lvl3pPr algn="l">
              <a:defRPr sz="2100" b="1">
                <a:solidFill>
                  <a:srgbClr val="176B4D"/>
                </a:solidFill>
                <a:latin typeface="Malgun Gothic"/>
                <a:ea typeface="Malgun Gothic"/>
                <a:cs typeface="Malgun Gothic"/>
              </a:defRPr>
            </a:lvl3pPr>
            <a:lvl4pPr algn="l">
              <a:defRPr sz="2100" b="1">
                <a:solidFill>
                  <a:srgbClr val="176B4D"/>
                </a:solidFill>
                <a:latin typeface="Malgun Gothic"/>
                <a:ea typeface="Malgun Gothic"/>
                <a:cs typeface="Malgun Gothic"/>
              </a:defRPr>
            </a:lvl4pPr>
            <a:lvl5pPr algn="l">
              <a:defRPr sz="2100" b="1">
                <a:solidFill>
                  <a:srgbClr val="176B4D"/>
                </a:solidFill>
                <a:latin typeface="Malgun Gothic"/>
                <a:ea typeface="Malgun Gothic"/>
                <a:cs typeface="Malgun Gothic"/>
              </a:defRPr>
            </a:lvl5pPr>
            <a:lvl6pPr algn="l">
              <a:defRPr sz="2100" b="1">
                <a:solidFill>
                  <a:srgbClr val="176B4D"/>
                </a:solidFill>
                <a:latin typeface="Malgun Gothic"/>
                <a:ea typeface="Malgun Gothic"/>
                <a:cs typeface="Malgun Gothic"/>
              </a:defRPr>
            </a:lvl6pPr>
            <a:lvl7pPr algn="l">
              <a:defRPr sz="2100" b="1">
                <a:solidFill>
                  <a:srgbClr val="176B4D"/>
                </a:solidFill>
                <a:latin typeface="Malgun Gothic"/>
                <a:ea typeface="Malgun Gothic"/>
                <a:cs typeface="Malgun Gothic"/>
              </a:defRPr>
            </a:lvl7pPr>
            <a:lvl8pPr algn="l">
              <a:defRPr sz="2100" b="1">
                <a:solidFill>
                  <a:srgbClr val="176B4D"/>
                </a:solidFill>
                <a:latin typeface="Malgun Gothic"/>
                <a:ea typeface="Malgun Gothic"/>
                <a:cs typeface="Malgun Gothic"/>
              </a:defRPr>
            </a:lvl8pPr>
            <a:lvl9pPr algn="l">
              <a:defRPr sz="2100" b="1">
                <a:solidFill>
                  <a:srgbClr val="176B4D"/>
                </a:solidFill>
                <a:latin typeface="Malgun Gothic"/>
                <a:ea typeface="Malgun Gothic"/>
                <a:cs typeface="Malgun Gothic"/>
              </a:defRPr>
            </a:lvl9pPr>
          </a:lstStyle>
          <a:p xmlns:a="http://schemas.openxmlformats.org/drawingml/2006/main">
            <a:pPr algn="l">
              <a:defRPr sz="2100" b="1">
                <a:solidFill>
                  <a:srgbClr val="176B4D"/>
                </a:solidFill>
                <a:latin typeface="Malgun Gothic"/>
                <a:ea typeface="Malgun Gothic"/>
                <a:cs typeface="Malgun Gothic"/>
              </a:defRPr>
            </a:pPr>
            <a:r>
              <a:rPr sz="2100" b="1">
                <a:solidFill>
                  <a:srgbClr val="176B4D"/>
                </a:solidFill>
                <a:latin typeface="Malgun Gothic"/>
                <a:ea typeface="Malgun Gothic"/>
                <a:cs typeface="Malgun Gothic"/>
              </a:rPr>
              <a:t>PASS</a:t>
            </a:r>
          </a:p>
        </p:txBody>
      </p:sp>
      <p:sp>
        <p:nvSpPr>
          <p:cNvPr id="19" name="">
            <a:extLst xmlns:a="http://schemas.openxmlformats.org/drawingml/2006/main">
              <a:ext uri="{FF2B5EF4-FFF2-40B4-BE49-F238E27FC236}">
                <a16:creationId xmlns:a16="http://schemas.microsoft.com/office/drawing/2014/main" id="{7E2FE7A7-CADE-4A2E-B96A-D3B75387D3CE}"/>
              </a:ext>
            </a:extLst>
          </p:cNvPr>
          <p:cNvSpPr>
            <a:spLocks xmlns:a="http://schemas.openxmlformats.org/drawingml/2006/main" noGrp="1"/>
          </p:cNvSpPr>
          <p:nvPr/>
        </p:nvSpPr>
        <p:spPr>
          <a:xfrm xmlns:a="http://schemas.openxmlformats.org/drawingml/2006/main">
            <a:off x="3962400" y="3190875"/>
            <a:ext cx="28575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84922DF2-4C60-435C-918D-29D808099637}"/>
              </a:ext>
            </a:extLst>
          </p:cNvPr>
          <p:cNvSpPr>
            <a:spLocks xmlns:a="http://schemas.openxmlformats.org/drawingml/2006/main" noGrp="1"/>
          </p:cNvSpPr>
          <p:nvPr/>
        </p:nvSpPr>
        <p:spPr>
          <a:xfrm xmlns:a="http://schemas.openxmlformats.org/drawingml/2006/main">
            <a:off x="7791450" y="3190875"/>
            <a:ext cx="28575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B5EA213C-7C9C-45DB-9524-CC842161BB08}"/>
              </a:ext>
            </a:extLst>
          </p:cNvPr>
          <p:cNvSpPr>
            <a:spLocks xmlns:a="http://schemas.openxmlformats.org/drawingml/2006/main" noGrp="1"/>
          </p:cNvSpPr>
          <p:nvPr/>
        </p:nvSpPr>
        <p:spPr>
          <a:xfrm xmlns:a="http://schemas.openxmlformats.org/drawingml/2006/main">
            <a:off x="609600" y="4772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README-only 범위는 작업 요청에도 명시돼 있었다">
            <a:extLst xmlns:a="http://schemas.openxmlformats.org/drawingml/2006/main">
              <a:ext uri="{FF2B5EF4-FFF2-40B4-BE49-F238E27FC236}">
                <a16:creationId xmlns:a16="http://schemas.microsoft.com/office/drawing/2014/main" id="{73679263-218A-4A06-9765-D1CFF6C9FC4A}"/>
              </a:ext>
            </a:extLst>
          </p:cNvPr>
          <p:cNvSpPr>
            <a:spLocks xmlns:a="http://schemas.openxmlformats.org/drawingml/2006/main" noGrp="1"/>
          </p:cNvSpPr>
          <p:nvPr/>
        </p:nvSpPr>
        <p:spPr>
          <a:xfrm xmlns:a="http://schemas.openxmlformats.org/drawingml/2006/main">
            <a:off x="609600" y="5048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README-only 범위는 작업 요청에도 명시돼 있었다</a:t>
            </a:r>
          </a:p>
        </p:txBody>
      </p:sp>
    </p:spTree>
    <p:extLst>
      <p:ext uri="{BB962C8B-B14F-4D97-AF65-F5344CB8AC3E}">
        <p14:creationId xmlns:p14="http://schemas.microsoft.com/office/powerpoint/2010/main" val="1344244498"/>
      </p:ext>
    </p:extLst>
  </p:cSld>
</p:sld>
</file>

<file path=ppt/slides/slide2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2 · 정보의 범위와 수명">
            <a:extLst xmlns:a="http://schemas.openxmlformats.org/drawingml/2006/main">
              <a:ext uri="{FF2B5EF4-FFF2-40B4-BE49-F238E27FC236}">
                <a16:creationId xmlns:a16="http://schemas.microsoft.com/office/drawing/2014/main" id="{6F597249-7A33-4228-B9B5-AE4B0C918BD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25">
            <a:extLst xmlns:a="http://schemas.openxmlformats.org/drawingml/2006/main">
              <a:ext uri="{FF2B5EF4-FFF2-40B4-BE49-F238E27FC236}">
                <a16:creationId xmlns:a16="http://schemas.microsoft.com/office/drawing/2014/main" id="{C83A8129-B2A0-445F-A31E-2CA97B91803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Task Prompt와 Project Context">
            <a:extLst xmlns:a="http://schemas.openxmlformats.org/drawingml/2006/main">
              <a:ext uri="{FF2B5EF4-FFF2-40B4-BE49-F238E27FC236}">
                <a16:creationId xmlns:a16="http://schemas.microsoft.com/office/drawing/2014/main" id="{5146CC07-D346-4077-9E88-2729FE5A4D4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8273ADB9-66B1-4E84-AF2B-8482A4034D78}"/>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현재 목표와 지속되는 프로젝트 사실">
            <a:extLst xmlns:a="http://schemas.openxmlformats.org/drawingml/2006/main">
              <a:ext uri="{FF2B5EF4-FFF2-40B4-BE49-F238E27FC236}">
                <a16:creationId xmlns:a16="http://schemas.microsoft.com/office/drawing/2014/main" id="{46FAD30F-69C2-40EB-A2D8-7C3A89E74A7E}"/>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현재 목표와 지속되는 프로젝트 사실</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AAA21D62-1EA3-4AF1-B31B-9BB64D22052E}"/>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이번 작업이 끝나면?">
            <a:extLst xmlns:a="http://schemas.openxmlformats.org/drawingml/2006/main">
              <a:ext uri="{FF2B5EF4-FFF2-40B4-BE49-F238E27FC236}">
                <a16:creationId xmlns:a16="http://schemas.microsoft.com/office/drawing/2014/main" id="{146B5561-1418-4959-93BD-F5520E00DD22}"/>
              </a:ext>
            </a:extLst>
          </p:cNvPr>
          <p:cNvSpPr>
            <a:spLocks xmlns:a="http://schemas.openxmlformats.org/drawingml/2006/main" noGrp="1"/>
          </p:cNvSpPr>
          <p:nvPr/>
        </p:nvSpPr>
        <p:spPr>
          <a:xfrm xmlns:a="http://schemas.openxmlformats.org/drawingml/2006/main">
            <a:off x="609600" y="2190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작업이 끝나면?</a:t>
            </a:r>
          </a:p>
        </p:txBody>
      </p:sp>
      <p:sp>
        <p:nvSpPr>
          <p:cNvPr id="8" name="">
            <a:extLst xmlns:a="http://schemas.openxmlformats.org/drawingml/2006/main">
              <a:ext uri="{FF2B5EF4-FFF2-40B4-BE49-F238E27FC236}">
                <a16:creationId xmlns:a16="http://schemas.microsoft.com/office/drawing/2014/main" id="{70D52050-5B9C-49F5-886D-BCB4083C0064}"/>
              </a:ext>
            </a:extLst>
          </p:cNvPr>
          <p:cNvSpPr>
            <a:spLocks xmlns:a="http://schemas.openxmlformats.org/drawingml/2006/main" noGrp="1"/>
          </p:cNvSpPr>
          <p:nvPr/>
        </p:nvSpPr>
        <p:spPr>
          <a:xfrm xmlns:a="http://schemas.openxmlformats.org/drawingml/2006/main">
            <a:off x="609600" y="2838450"/>
            <a:ext cx="50863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Task Prompt">
            <a:extLst xmlns:a="http://schemas.openxmlformats.org/drawingml/2006/main">
              <a:ext uri="{FF2B5EF4-FFF2-40B4-BE49-F238E27FC236}">
                <a16:creationId xmlns:a16="http://schemas.microsoft.com/office/drawing/2014/main" id="{E3226A54-2302-4355-9E97-EA79925D0D32}"/>
              </a:ext>
            </a:extLst>
          </p:cNvPr>
          <p:cNvSpPr>
            <a:spLocks xmlns:a="http://schemas.openxmlformats.org/drawingml/2006/main" noGrp="1"/>
          </p:cNvSpPr>
          <p:nvPr/>
        </p:nvSpPr>
        <p:spPr>
          <a:xfrm xmlns:a="http://schemas.openxmlformats.org/drawingml/2006/main">
            <a:off x="609600" y="3038475"/>
            <a:ext cx="5086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10" name="지금 원하는 결과">
            <a:extLst xmlns:a="http://schemas.openxmlformats.org/drawingml/2006/main">
              <a:ext uri="{FF2B5EF4-FFF2-40B4-BE49-F238E27FC236}">
                <a16:creationId xmlns:a16="http://schemas.microsoft.com/office/drawing/2014/main" id="{5181A1DD-99AF-45F4-AC5D-C37207DC9BD2}"/>
              </a:ext>
            </a:extLst>
          </p:cNvPr>
          <p:cNvSpPr>
            <a:spLocks xmlns:a="http://schemas.openxmlformats.org/drawingml/2006/main" noGrp="1"/>
          </p:cNvSpPr>
          <p:nvPr/>
        </p:nvSpPr>
        <p:spPr>
          <a:xfrm xmlns:a="http://schemas.openxmlformats.org/drawingml/2006/main">
            <a:off x="609600" y="3552825"/>
            <a:ext cx="5086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0B6172"/>
                </a:solidFill>
                <a:latin typeface="Malgun Gothic"/>
                <a:ea typeface="Malgun Gothic"/>
                <a:cs typeface="Malgun Gothic"/>
              </a:defRPr>
            </a:defPPr>
            <a:lvl1pPr algn="l">
              <a:defRPr sz="2100" b="0">
                <a:solidFill>
                  <a:srgbClr val="0B6172"/>
                </a:solidFill>
                <a:latin typeface="Malgun Gothic"/>
                <a:ea typeface="Malgun Gothic"/>
                <a:cs typeface="Malgun Gothic"/>
              </a:defRPr>
            </a:lvl1pPr>
            <a:lvl2pPr algn="l">
              <a:defRPr sz="2100" b="0">
                <a:solidFill>
                  <a:srgbClr val="0B6172"/>
                </a:solidFill>
                <a:latin typeface="Malgun Gothic"/>
                <a:ea typeface="Malgun Gothic"/>
                <a:cs typeface="Malgun Gothic"/>
              </a:defRPr>
            </a:lvl2pPr>
            <a:lvl3pPr algn="l">
              <a:defRPr sz="2100" b="0">
                <a:solidFill>
                  <a:srgbClr val="0B6172"/>
                </a:solidFill>
                <a:latin typeface="Malgun Gothic"/>
                <a:ea typeface="Malgun Gothic"/>
                <a:cs typeface="Malgun Gothic"/>
              </a:defRPr>
            </a:lvl3pPr>
            <a:lvl4pPr algn="l">
              <a:defRPr sz="2100" b="0">
                <a:solidFill>
                  <a:srgbClr val="0B6172"/>
                </a:solidFill>
                <a:latin typeface="Malgun Gothic"/>
                <a:ea typeface="Malgun Gothic"/>
                <a:cs typeface="Malgun Gothic"/>
              </a:defRPr>
            </a:lvl4pPr>
            <a:lvl5pPr algn="l">
              <a:defRPr sz="2100" b="0">
                <a:solidFill>
                  <a:srgbClr val="0B6172"/>
                </a:solidFill>
                <a:latin typeface="Malgun Gothic"/>
                <a:ea typeface="Malgun Gothic"/>
                <a:cs typeface="Malgun Gothic"/>
              </a:defRPr>
            </a:lvl5pPr>
            <a:lvl6pPr algn="l">
              <a:defRPr sz="2100" b="0">
                <a:solidFill>
                  <a:srgbClr val="0B6172"/>
                </a:solidFill>
                <a:latin typeface="Malgun Gothic"/>
                <a:ea typeface="Malgun Gothic"/>
                <a:cs typeface="Malgun Gothic"/>
              </a:defRPr>
            </a:lvl6pPr>
            <a:lvl7pPr algn="l">
              <a:defRPr sz="2100" b="0">
                <a:solidFill>
                  <a:srgbClr val="0B6172"/>
                </a:solidFill>
                <a:latin typeface="Malgun Gothic"/>
                <a:ea typeface="Malgun Gothic"/>
                <a:cs typeface="Malgun Gothic"/>
              </a:defRPr>
            </a:lvl7pPr>
            <a:lvl8pPr algn="l">
              <a:defRPr sz="2100" b="0">
                <a:solidFill>
                  <a:srgbClr val="0B6172"/>
                </a:solidFill>
                <a:latin typeface="Malgun Gothic"/>
                <a:ea typeface="Malgun Gothic"/>
                <a:cs typeface="Malgun Gothic"/>
              </a:defRPr>
            </a:lvl8pPr>
            <a:lvl9pPr algn="l">
              <a:defRPr sz="2100" b="0">
                <a:solidFill>
                  <a:srgbClr val="0B6172"/>
                </a:solidFill>
                <a:latin typeface="Malgun Gothic"/>
                <a:ea typeface="Malgun Gothic"/>
                <a:cs typeface="Malgun Gothic"/>
              </a:defRPr>
            </a:lvl9pPr>
          </a:lstStyle>
          <a:p xmlns:a="http://schemas.openxmlformats.org/drawingml/2006/main">
            <a:pPr algn="l">
              <a:defRPr sz="2100" b="0">
                <a:solidFill>
                  <a:srgbClr val="0B6172"/>
                </a:solidFill>
                <a:latin typeface="Malgun Gothic"/>
                <a:ea typeface="Malgun Gothic"/>
                <a:cs typeface="Malgun Gothic"/>
              </a:defRPr>
            </a:pPr>
            <a:r>
              <a:rPr sz="2100" b="0">
                <a:solidFill>
                  <a:srgbClr val="0B6172"/>
                </a:solidFill>
                <a:latin typeface="Malgun Gothic"/>
                <a:ea typeface="Malgun Gothic"/>
                <a:cs typeface="Malgun Gothic"/>
              </a:rPr>
              <a:t>지금 원하는 결과</a:t>
            </a:r>
          </a:p>
        </p:txBody>
      </p:sp>
      <p:sp>
        <p:nvSpPr>
          <p:cNvPr id="11" name="crop 경계 버그 수정&#10;이번에는 README만 변경">
            <a:extLst xmlns:a="http://schemas.openxmlformats.org/drawingml/2006/main">
              <a:ext uri="{FF2B5EF4-FFF2-40B4-BE49-F238E27FC236}">
                <a16:creationId xmlns:a16="http://schemas.microsoft.com/office/drawing/2014/main" id="{E236CAD6-8EF7-444D-B844-5F78DE2C9A68}"/>
              </a:ext>
            </a:extLst>
          </p:cNvPr>
          <p:cNvSpPr>
            <a:spLocks xmlns:a="http://schemas.openxmlformats.org/drawingml/2006/main" noGrp="1"/>
          </p:cNvSpPr>
          <p:nvPr/>
        </p:nvSpPr>
        <p:spPr>
          <a:xfrm xmlns:a="http://schemas.openxmlformats.org/drawingml/2006/main">
            <a:off x="609600" y="4114800"/>
            <a:ext cx="50863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crop 경계 버그 수정</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이번에는 README만 변경</a:t>
            </a:r>
          </a:p>
        </p:txBody>
      </p:sp>
      <p:sp>
        <p:nvSpPr>
          <p:cNvPr id="12" name="">
            <a:extLst xmlns:a="http://schemas.openxmlformats.org/drawingml/2006/main">
              <a:ext uri="{FF2B5EF4-FFF2-40B4-BE49-F238E27FC236}">
                <a16:creationId xmlns:a16="http://schemas.microsoft.com/office/drawing/2014/main" id="{2564C9A0-5F4E-4B73-88C0-DE696897A278}"/>
              </a:ext>
            </a:extLst>
          </p:cNvPr>
          <p:cNvSpPr>
            <a:spLocks xmlns:a="http://schemas.openxmlformats.org/drawingml/2006/main" noGrp="1"/>
          </p:cNvSpPr>
          <p:nvPr/>
        </p:nvSpPr>
        <p:spPr>
          <a:xfrm xmlns:a="http://schemas.openxmlformats.org/drawingml/2006/main">
            <a:off x="609600" y="5143500"/>
            <a:ext cx="5086350" cy="4572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다음 작업에서는 목표가 달라짐">
            <a:extLst xmlns:a="http://schemas.openxmlformats.org/drawingml/2006/main">
              <a:ext uri="{FF2B5EF4-FFF2-40B4-BE49-F238E27FC236}">
                <a16:creationId xmlns:a16="http://schemas.microsoft.com/office/drawing/2014/main" id="{550DA279-24D0-4B5C-97DC-7BBFCD6CD426}"/>
              </a:ext>
            </a:extLst>
          </p:cNvPr>
          <p:cNvSpPr>
            <a:spLocks xmlns:a="http://schemas.openxmlformats.org/drawingml/2006/main" noGrp="1"/>
          </p:cNvSpPr>
          <p:nvPr/>
        </p:nvSpPr>
        <p:spPr>
          <a:xfrm xmlns:a="http://schemas.openxmlformats.org/drawingml/2006/main">
            <a:off x="762000" y="5200650"/>
            <a:ext cx="4781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다음 작업에서는 목표가 달라짐</a:t>
            </a:r>
          </a:p>
        </p:txBody>
      </p:sp>
      <p:sp>
        <p:nvSpPr>
          <p:cNvPr id="14" name="">
            <a:extLst xmlns:a="http://schemas.openxmlformats.org/drawingml/2006/main">
              <a:ext uri="{FF2B5EF4-FFF2-40B4-BE49-F238E27FC236}">
                <a16:creationId xmlns:a16="http://schemas.microsoft.com/office/drawing/2014/main" id="{D012DD4F-3242-4C21-9633-B4D52F3A4D41}"/>
              </a:ext>
            </a:extLst>
          </p:cNvPr>
          <p:cNvSpPr>
            <a:spLocks xmlns:a="http://schemas.openxmlformats.org/drawingml/2006/main" noGrp="1"/>
          </p:cNvSpPr>
          <p:nvPr/>
        </p:nvSpPr>
        <p:spPr>
          <a:xfrm xmlns:a="http://schemas.openxmlformats.org/drawingml/2006/main">
            <a:off x="6496050" y="2838450"/>
            <a:ext cx="50863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Project Context">
            <a:extLst xmlns:a="http://schemas.openxmlformats.org/drawingml/2006/main">
              <a:ext uri="{FF2B5EF4-FFF2-40B4-BE49-F238E27FC236}">
                <a16:creationId xmlns:a16="http://schemas.microsoft.com/office/drawing/2014/main" id="{C08E4176-5EC0-4424-ABE6-C27EF75EED9D}"/>
              </a:ext>
            </a:extLst>
          </p:cNvPr>
          <p:cNvSpPr>
            <a:spLocks xmlns:a="http://schemas.openxmlformats.org/drawingml/2006/main" noGrp="1"/>
          </p:cNvSpPr>
          <p:nvPr/>
        </p:nvSpPr>
        <p:spPr>
          <a:xfrm xmlns:a="http://schemas.openxmlformats.org/drawingml/2006/main">
            <a:off x="6496050" y="3038475"/>
            <a:ext cx="5086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6" name="계속 참이어야 할 사실">
            <a:extLst xmlns:a="http://schemas.openxmlformats.org/drawingml/2006/main">
              <a:ext uri="{FF2B5EF4-FFF2-40B4-BE49-F238E27FC236}">
                <a16:creationId xmlns:a16="http://schemas.microsoft.com/office/drawing/2014/main" id="{A6E6E2B1-7B24-4097-BFD5-0211DDA948C5}"/>
              </a:ext>
            </a:extLst>
          </p:cNvPr>
          <p:cNvSpPr>
            <a:spLocks xmlns:a="http://schemas.openxmlformats.org/drawingml/2006/main" noGrp="1"/>
          </p:cNvSpPr>
          <p:nvPr/>
        </p:nvSpPr>
        <p:spPr>
          <a:xfrm xmlns:a="http://schemas.openxmlformats.org/drawingml/2006/main">
            <a:off x="6496050" y="3552825"/>
            <a:ext cx="5086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0B6172"/>
                </a:solidFill>
                <a:latin typeface="Malgun Gothic"/>
                <a:ea typeface="Malgun Gothic"/>
                <a:cs typeface="Malgun Gothic"/>
              </a:defRPr>
            </a:defPPr>
            <a:lvl1pPr algn="l">
              <a:defRPr sz="2100" b="0">
                <a:solidFill>
                  <a:srgbClr val="0B6172"/>
                </a:solidFill>
                <a:latin typeface="Malgun Gothic"/>
                <a:ea typeface="Malgun Gothic"/>
                <a:cs typeface="Malgun Gothic"/>
              </a:defRPr>
            </a:lvl1pPr>
            <a:lvl2pPr algn="l">
              <a:defRPr sz="2100" b="0">
                <a:solidFill>
                  <a:srgbClr val="0B6172"/>
                </a:solidFill>
                <a:latin typeface="Malgun Gothic"/>
                <a:ea typeface="Malgun Gothic"/>
                <a:cs typeface="Malgun Gothic"/>
              </a:defRPr>
            </a:lvl2pPr>
            <a:lvl3pPr algn="l">
              <a:defRPr sz="2100" b="0">
                <a:solidFill>
                  <a:srgbClr val="0B6172"/>
                </a:solidFill>
                <a:latin typeface="Malgun Gothic"/>
                <a:ea typeface="Malgun Gothic"/>
                <a:cs typeface="Malgun Gothic"/>
              </a:defRPr>
            </a:lvl3pPr>
            <a:lvl4pPr algn="l">
              <a:defRPr sz="2100" b="0">
                <a:solidFill>
                  <a:srgbClr val="0B6172"/>
                </a:solidFill>
                <a:latin typeface="Malgun Gothic"/>
                <a:ea typeface="Malgun Gothic"/>
                <a:cs typeface="Malgun Gothic"/>
              </a:defRPr>
            </a:lvl4pPr>
            <a:lvl5pPr algn="l">
              <a:defRPr sz="2100" b="0">
                <a:solidFill>
                  <a:srgbClr val="0B6172"/>
                </a:solidFill>
                <a:latin typeface="Malgun Gothic"/>
                <a:ea typeface="Malgun Gothic"/>
                <a:cs typeface="Malgun Gothic"/>
              </a:defRPr>
            </a:lvl5pPr>
            <a:lvl6pPr algn="l">
              <a:defRPr sz="2100" b="0">
                <a:solidFill>
                  <a:srgbClr val="0B6172"/>
                </a:solidFill>
                <a:latin typeface="Malgun Gothic"/>
                <a:ea typeface="Malgun Gothic"/>
                <a:cs typeface="Malgun Gothic"/>
              </a:defRPr>
            </a:lvl6pPr>
            <a:lvl7pPr algn="l">
              <a:defRPr sz="2100" b="0">
                <a:solidFill>
                  <a:srgbClr val="0B6172"/>
                </a:solidFill>
                <a:latin typeface="Malgun Gothic"/>
                <a:ea typeface="Malgun Gothic"/>
                <a:cs typeface="Malgun Gothic"/>
              </a:defRPr>
            </a:lvl7pPr>
            <a:lvl8pPr algn="l">
              <a:defRPr sz="2100" b="0">
                <a:solidFill>
                  <a:srgbClr val="0B6172"/>
                </a:solidFill>
                <a:latin typeface="Malgun Gothic"/>
                <a:ea typeface="Malgun Gothic"/>
                <a:cs typeface="Malgun Gothic"/>
              </a:defRPr>
            </a:lvl8pPr>
            <a:lvl9pPr algn="l">
              <a:defRPr sz="2100" b="0">
                <a:solidFill>
                  <a:srgbClr val="0B6172"/>
                </a:solidFill>
                <a:latin typeface="Malgun Gothic"/>
                <a:ea typeface="Malgun Gothic"/>
                <a:cs typeface="Malgun Gothic"/>
              </a:defRPr>
            </a:lvl9pPr>
          </a:lstStyle>
          <a:p xmlns:a="http://schemas.openxmlformats.org/drawingml/2006/main">
            <a:pPr algn="l">
              <a:defRPr sz="2100" b="0">
                <a:solidFill>
                  <a:srgbClr val="0B6172"/>
                </a:solidFill>
                <a:latin typeface="Malgun Gothic"/>
                <a:ea typeface="Malgun Gothic"/>
                <a:cs typeface="Malgun Gothic"/>
              </a:defRPr>
            </a:pPr>
            <a:r>
              <a:rPr sz="2100" b="0">
                <a:solidFill>
                  <a:srgbClr val="0B6172"/>
                </a:solidFill>
                <a:latin typeface="Malgun Gothic"/>
                <a:ea typeface="Malgun Gothic"/>
                <a:cs typeface="Malgun Gothic"/>
              </a:rPr>
              <a:t>계속 참이어야 할 사실</a:t>
            </a:r>
          </a:p>
        </p:txBody>
      </p:sp>
      <p:sp>
        <p:nvSpPr>
          <p:cNvPr id="17" name="프로젝트의 테스트 명령&#10;의존성 추가에는 작업상 근거 필요">
            <a:extLst xmlns:a="http://schemas.openxmlformats.org/drawingml/2006/main">
              <a:ext uri="{FF2B5EF4-FFF2-40B4-BE49-F238E27FC236}">
                <a16:creationId xmlns:a16="http://schemas.microsoft.com/office/drawing/2014/main" id="{C25BB3B0-EF24-420F-88BE-D04581378A29}"/>
              </a:ext>
            </a:extLst>
          </p:cNvPr>
          <p:cNvSpPr>
            <a:spLocks xmlns:a="http://schemas.openxmlformats.org/drawingml/2006/main" noGrp="1"/>
          </p:cNvSpPr>
          <p:nvPr/>
        </p:nvSpPr>
        <p:spPr>
          <a:xfrm xmlns:a="http://schemas.openxmlformats.org/drawingml/2006/main">
            <a:off x="6496050" y="4114800"/>
            <a:ext cx="50863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프로젝트의 테스트 명령</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p:txBody>
      </p:sp>
      <p:sp>
        <p:nvSpPr>
          <p:cNvPr id="18" name="">
            <a:extLst xmlns:a="http://schemas.openxmlformats.org/drawingml/2006/main">
              <a:ext uri="{FF2B5EF4-FFF2-40B4-BE49-F238E27FC236}">
                <a16:creationId xmlns:a16="http://schemas.microsoft.com/office/drawing/2014/main" id="{AF6D9FB6-7FAA-49B2-A68E-B987B995A23C}"/>
              </a:ext>
            </a:extLst>
          </p:cNvPr>
          <p:cNvSpPr>
            <a:spLocks xmlns:a="http://schemas.openxmlformats.org/drawingml/2006/main" noGrp="1"/>
          </p:cNvSpPr>
          <p:nvPr/>
        </p:nvSpPr>
        <p:spPr>
          <a:xfrm xmlns:a="http://schemas.openxmlformats.org/drawingml/2006/main">
            <a:off x="6496050" y="5143500"/>
            <a:ext cx="5086350" cy="4572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9" name="여러 작업에서 다시 참고">
            <a:extLst xmlns:a="http://schemas.openxmlformats.org/drawingml/2006/main">
              <a:ext uri="{FF2B5EF4-FFF2-40B4-BE49-F238E27FC236}">
                <a16:creationId xmlns:a16="http://schemas.microsoft.com/office/drawing/2014/main" id="{57186133-C18F-4B58-9749-3CC12CF7D0E4}"/>
              </a:ext>
            </a:extLst>
          </p:cNvPr>
          <p:cNvSpPr>
            <a:spLocks xmlns:a="http://schemas.openxmlformats.org/drawingml/2006/main" noGrp="1"/>
          </p:cNvSpPr>
          <p:nvPr/>
        </p:nvSpPr>
        <p:spPr>
          <a:xfrm xmlns:a="http://schemas.openxmlformats.org/drawingml/2006/main">
            <a:off x="6648450" y="5200650"/>
            <a:ext cx="4781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여러 작업에서 다시 참고</a:t>
            </a:r>
          </a:p>
        </p:txBody>
      </p:sp>
    </p:spTree>
    <p:extLst>
      <p:ext uri="{BB962C8B-B14F-4D97-AF65-F5344CB8AC3E}">
        <p14:creationId xmlns:p14="http://schemas.microsoft.com/office/powerpoint/2010/main" val="1678030388"/>
      </p:ext>
    </p:extLst>
  </p:cSld>
</p:sld>
</file>

<file path=ppt/slides/slide2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Context가 쌓이는 과정">
            <a:extLst xmlns:a="http://schemas.openxmlformats.org/drawingml/2006/main">
              <a:ext uri="{FF2B5EF4-FFF2-40B4-BE49-F238E27FC236}">
                <a16:creationId xmlns:a16="http://schemas.microsoft.com/office/drawing/2014/main" id="{8E60EBFD-33AB-45EA-9DEB-DCFE9A05988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26">
            <a:extLst xmlns:a="http://schemas.openxmlformats.org/drawingml/2006/main">
              <a:ext uri="{FF2B5EF4-FFF2-40B4-BE49-F238E27FC236}">
                <a16:creationId xmlns:a16="http://schemas.microsoft.com/office/drawing/2014/main" id="{593BA966-46CF-4002-9E06-4CEBE1D8E5F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정확한 정보도 계속 늘어난다">
            <a:extLst xmlns:a="http://schemas.openxmlformats.org/drawingml/2006/main">
              <a:ext uri="{FF2B5EF4-FFF2-40B4-BE49-F238E27FC236}">
                <a16:creationId xmlns:a16="http://schemas.microsoft.com/office/drawing/2014/main" id="{F1C1AA03-ED2A-4D80-9FBF-668D6469EFF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7EE9B4C3-5230-4741-B354-834D3536E5B3}"/>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1 → STATE-02 · 실제 AGENTS.md 상태 비교">
            <a:extLst xmlns:a="http://schemas.openxmlformats.org/drawingml/2006/main">
              <a:ext uri="{FF2B5EF4-FFF2-40B4-BE49-F238E27FC236}">
                <a16:creationId xmlns:a16="http://schemas.microsoft.com/office/drawing/2014/main" id="{A7D34A3C-0F63-4F01-96F6-AE0D9B65998E}"/>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STATE-01 → STATE-02 · 실제 AGENTS.md 상태 비교</a:t>
            </a:r>
          </a:p>
        </p:txBody>
      </p:sp>
      <p:sp>
        <p:nvSpPr>
          <p:cNvPr id="6" name="문서 크기는 상태 식별 정보 · Context 증가가 실패를 일으켰다는 근거는 아님">
            <a:extLst xmlns:a="http://schemas.openxmlformats.org/drawingml/2006/main">
              <a:ext uri="{FF2B5EF4-FFF2-40B4-BE49-F238E27FC236}">
                <a16:creationId xmlns:a16="http://schemas.microsoft.com/office/drawing/2014/main" id="{83358AC3-BFA0-4957-9581-67C2088EEBBB}"/>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문서 크기는 상태 식별 정보 · Context 증가가 실패를 일으켰다는 근거는 아님</a:t>
            </a:r>
          </a:p>
        </p:txBody>
      </p:sp>
      <p:sp>
        <p:nvSpPr>
          <p:cNvPr id="7" name="STATE-01">
            <a:extLst xmlns:a="http://schemas.openxmlformats.org/drawingml/2006/main">
              <a:ext uri="{FF2B5EF4-FFF2-40B4-BE49-F238E27FC236}">
                <a16:creationId xmlns:a16="http://schemas.microsoft.com/office/drawing/2014/main" id="{61E9A1A1-F581-4218-8DA4-288A44BD0D70}"/>
              </a:ext>
            </a:extLst>
          </p:cNvPr>
          <p:cNvSpPr>
            <a:spLocks xmlns:a="http://schemas.openxmlformats.org/drawingml/2006/main" noGrp="1"/>
          </p:cNvSpPr>
          <p:nvPr/>
        </p:nvSpPr>
        <p:spPr>
          <a:xfrm xmlns:a="http://schemas.openxmlformats.org/drawingml/2006/main">
            <a:off x="609600" y="2200275"/>
            <a:ext cx="2952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STATE-01</a:t>
            </a:r>
          </a:p>
        </p:txBody>
      </p:sp>
      <p:sp>
        <p:nvSpPr>
          <p:cNvPr id="8" name="목적 · 실행 · 테스트&#10;기본 제약">
            <a:extLst xmlns:a="http://schemas.openxmlformats.org/drawingml/2006/main">
              <a:ext uri="{FF2B5EF4-FFF2-40B4-BE49-F238E27FC236}">
                <a16:creationId xmlns:a16="http://schemas.microsoft.com/office/drawing/2014/main" id="{F3E03DD6-0AF6-44DE-BF13-0FD47D1AF97E}"/>
              </a:ext>
            </a:extLst>
          </p:cNvPr>
          <p:cNvSpPr>
            <a:spLocks xmlns:a="http://schemas.openxmlformats.org/drawingml/2006/main" noGrp="1"/>
          </p:cNvSpPr>
          <p:nvPr/>
        </p:nvSpPr>
        <p:spPr>
          <a:xfrm xmlns:a="http://schemas.openxmlformats.org/drawingml/2006/main">
            <a:off x="609600" y="2695575"/>
            <a:ext cx="2952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목적 · 실행 · 테스트</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기본 제약</a:t>
            </a:r>
          </a:p>
        </p:txBody>
      </p:sp>
      <p:sp>
        <p:nvSpPr>
          <p:cNvPr id="9" name="15줄 · 567 bytes">
            <a:extLst xmlns:a="http://schemas.openxmlformats.org/drawingml/2006/main">
              <a:ext uri="{FF2B5EF4-FFF2-40B4-BE49-F238E27FC236}">
                <a16:creationId xmlns:a16="http://schemas.microsoft.com/office/drawing/2014/main" id="{CAB676C5-38B1-4ED7-B5EE-1F42E9CCD6E0}"/>
              </a:ext>
            </a:extLst>
          </p:cNvPr>
          <p:cNvSpPr>
            <a:spLocks xmlns:a="http://schemas.openxmlformats.org/drawingml/2006/main" noGrp="1"/>
          </p:cNvSpPr>
          <p:nvPr/>
        </p:nvSpPr>
        <p:spPr>
          <a:xfrm xmlns:a="http://schemas.openxmlformats.org/drawingml/2006/main">
            <a:off x="609600" y="39433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15줄 · 567 bytes</a:t>
            </a:r>
          </a:p>
        </p:txBody>
      </p:sp>
      <p:sp>
        <p:nvSpPr>
          <p:cNvPr id="10" name="">
            <a:extLst xmlns:a="http://schemas.openxmlformats.org/drawingml/2006/main">
              <a:ext uri="{FF2B5EF4-FFF2-40B4-BE49-F238E27FC236}">
                <a16:creationId xmlns:a16="http://schemas.microsoft.com/office/drawing/2014/main" id="{AC7DD135-D20E-4147-B54C-574E02551C84}"/>
              </a:ext>
            </a:extLst>
          </p:cNvPr>
          <p:cNvSpPr>
            <a:spLocks xmlns:a="http://schemas.openxmlformats.org/drawingml/2006/main" noGrp="1"/>
          </p:cNvSpPr>
          <p:nvPr/>
        </p:nvSpPr>
        <p:spPr>
          <a:xfrm xmlns:a="http://schemas.openxmlformats.org/drawingml/2006/main">
            <a:off x="3695700" y="3076575"/>
            <a:ext cx="4762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STATE-02에 추가된 실제 정보">
            <a:extLst xmlns:a="http://schemas.openxmlformats.org/drawingml/2006/main">
              <a:ext uri="{FF2B5EF4-FFF2-40B4-BE49-F238E27FC236}">
                <a16:creationId xmlns:a16="http://schemas.microsoft.com/office/drawing/2014/main" id="{977BED03-2488-4AFA-B336-E43FD0F4EDBB}"/>
              </a:ext>
            </a:extLst>
          </p:cNvPr>
          <p:cNvSpPr>
            <a:spLocks xmlns:a="http://schemas.openxmlformats.org/drawingml/2006/main" noGrp="1"/>
          </p:cNvSpPr>
          <p:nvPr/>
        </p:nvSpPr>
        <p:spPr>
          <a:xfrm xmlns:a="http://schemas.openxmlformats.org/drawingml/2006/main">
            <a:off x="4610100" y="2200275"/>
            <a:ext cx="6972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STATE-02에 추가된 실제 정보</a:t>
            </a:r>
          </a:p>
        </p:txBody>
      </p:sp>
      <p:sp>
        <p:nvSpPr>
          <p:cNvPr id="12" name="">
            <a:extLst xmlns:a="http://schemas.openxmlformats.org/drawingml/2006/main">
              <a:ext uri="{FF2B5EF4-FFF2-40B4-BE49-F238E27FC236}">
                <a16:creationId xmlns:a16="http://schemas.microsoft.com/office/drawing/2014/main" id="{E93F0C47-8515-4469-967F-E6B17850ECF7}"/>
              </a:ext>
            </a:extLst>
          </p:cNvPr>
          <p:cNvSpPr>
            <a:spLocks xmlns:a="http://schemas.openxmlformats.org/drawingml/2006/main" noGrp="1"/>
          </p:cNvSpPr>
          <p:nvPr/>
        </p:nvSpPr>
        <p:spPr>
          <a:xfrm xmlns:a="http://schemas.openxmlformats.org/drawingml/2006/main">
            <a:off x="4610100" y="2743200"/>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처리 순서">
            <a:extLst xmlns:a="http://schemas.openxmlformats.org/drawingml/2006/main">
              <a:ext uri="{FF2B5EF4-FFF2-40B4-BE49-F238E27FC236}">
                <a16:creationId xmlns:a16="http://schemas.microsoft.com/office/drawing/2014/main" id="{C566732A-75CA-4F04-AEA1-D2B5FDC58CCE}"/>
              </a:ext>
            </a:extLst>
          </p:cNvPr>
          <p:cNvSpPr>
            <a:spLocks xmlns:a="http://schemas.openxmlformats.org/drawingml/2006/main" noGrp="1"/>
          </p:cNvSpPr>
          <p:nvPr/>
        </p:nvSpPr>
        <p:spPr>
          <a:xfrm xmlns:a="http://schemas.openxmlformats.org/drawingml/2006/main">
            <a:off x="4610100" y="2838450"/>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4" name="load → normalize → … → write">
            <a:extLst xmlns:a="http://schemas.openxmlformats.org/drawingml/2006/main">
              <a:ext uri="{FF2B5EF4-FFF2-40B4-BE49-F238E27FC236}">
                <a16:creationId xmlns:a16="http://schemas.microsoft.com/office/drawing/2014/main" id="{C73D5D73-2EBD-4013-96C2-852FEBCAF8CF}"/>
              </a:ext>
            </a:extLst>
          </p:cNvPr>
          <p:cNvSpPr>
            <a:spLocks xmlns:a="http://schemas.openxmlformats.org/drawingml/2006/main" noGrp="1"/>
          </p:cNvSpPr>
          <p:nvPr/>
        </p:nvSpPr>
        <p:spPr>
          <a:xfrm xmlns:a="http://schemas.openxmlformats.org/drawingml/2006/main">
            <a:off x="6810375" y="2838450"/>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load → normalize → … → write</a:t>
            </a:r>
          </a:p>
        </p:txBody>
      </p:sp>
      <p:sp>
        <p:nvSpPr>
          <p:cNvPr id="15" name="">
            <a:extLst xmlns:a="http://schemas.openxmlformats.org/drawingml/2006/main">
              <a:ext uri="{FF2B5EF4-FFF2-40B4-BE49-F238E27FC236}">
                <a16:creationId xmlns:a16="http://schemas.microsoft.com/office/drawing/2014/main" id="{5CFAD79C-DB46-48EA-AC58-497D3C5FB0F2}"/>
              </a:ext>
            </a:extLst>
          </p:cNvPr>
          <p:cNvSpPr>
            <a:spLocks xmlns:a="http://schemas.openxmlformats.org/drawingml/2006/main" noGrp="1"/>
          </p:cNvSpPr>
          <p:nvPr/>
        </p:nvSpPr>
        <p:spPr>
          <a:xfrm xmlns:a="http://schemas.openxmlformats.org/drawingml/2006/main">
            <a:off x="4610100" y="3286125"/>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계약">
            <a:extLst xmlns:a="http://schemas.openxmlformats.org/drawingml/2006/main">
              <a:ext uri="{FF2B5EF4-FFF2-40B4-BE49-F238E27FC236}">
                <a16:creationId xmlns:a16="http://schemas.microsoft.com/office/drawing/2014/main" id="{2CCC4BA1-70D3-4526-B8A8-6A36758B1C48}"/>
              </a:ext>
            </a:extLst>
          </p:cNvPr>
          <p:cNvSpPr>
            <a:spLocks xmlns:a="http://schemas.openxmlformats.org/drawingml/2006/main" noGrp="1"/>
          </p:cNvSpPr>
          <p:nvPr/>
        </p:nvSpPr>
        <p:spPr>
          <a:xfrm xmlns:a="http://schemas.openxmlformats.org/drawingml/2006/main">
            <a:off x="4610100" y="3381375"/>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계약</a:t>
            </a:r>
          </a:p>
        </p:txBody>
      </p:sp>
      <p:sp>
        <p:nvSpPr>
          <p:cNvPr id="17" name="crop: [x_start, x_end)">
            <a:extLst xmlns:a="http://schemas.openxmlformats.org/drawingml/2006/main">
              <a:ext uri="{FF2B5EF4-FFF2-40B4-BE49-F238E27FC236}">
                <a16:creationId xmlns:a16="http://schemas.microsoft.com/office/drawing/2014/main" id="{D00B5668-A003-482F-A12F-DCEB0F8A7700}"/>
              </a:ext>
            </a:extLst>
          </p:cNvPr>
          <p:cNvSpPr>
            <a:spLocks xmlns:a="http://schemas.openxmlformats.org/drawingml/2006/main" noGrp="1"/>
          </p:cNvSpPr>
          <p:nvPr/>
        </p:nvSpPr>
        <p:spPr>
          <a:xfrm xmlns:a="http://schemas.openxmlformats.org/drawingml/2006/main">
            <a:off x="6810375" y="3381375"/>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crop: [x_start, x_end)</a:t>
            </a:r>
          </a:p>
        </p:txBody>
      </p:sp>
      <p:sp>
        <p:nvSpPr>
          <p:cNvPr id="18" name="">
            <a:extLst xmlns:a="http://schemas.openxmlformats.org/drawingml/2006/main">
              <a:ext uri="{FF2B5EF4-FFF2-40B4-BE49-F238E27FC236}">
                <a16:creationId xmlns:a16="http://schemas.microsoft.com/office/drawing/2014/main" id="{F3D6B964-C2AF-410D-88DB-69EC5A408807}"/>
              </a:ext>
            </a:extLst>
          </p:cNvPr>
          <p:cNvSpPr>
            <a:spLocks xmlns:a="http://schemas.openxmlformats.org/drawingml/2006/main" noGrp="1"/>
          </p:cNvSpPr>
          <p:nvPr/>
        </p:nvSpPr>
        <p:spPr>
          <a:xfrm xmlns:a="http://schemas.openxmlformats.org/drawingml/2006/main">
            <a:off x="4610100" y="3829050"/>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구조">
            <a:extLst xmlns:a="http://schemas.openxmlformats.org/drawingml/2006/main">
              <a:ext uri="{FF2B5EF4-FFF2-40B4-BE49-F238E27FC236}">
                <a16:creationId xmlns:a16="http://schemas.microsoft.com/office/drawing/2014/main" id="{7AABFA68-1E8E-45F2-9129-83852CB2D750}"/>
              </a:ext>
            </a:extLst>
          </p:cNvPr>
          <p:cNvSpPr>
            <a:spLocks xmlns:a="http://schemas.openxmlformats.org/drawingml/2006/main" noGrp="1"/>
          </p:cNvSpPr>
          <p:nvPr/>
        </p:nvSpPr>
        <p:spPr>
          <a:xfrm xmlns:a="http://schemas.openxmlformats.org/drawingml/2006/main">
            <a:off x="4610100" y="3924300"/>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0" name="tests/test_pipeline.py">
            <a:extLst xmlns:a="http://schemas.openxmlformats.org/drawingml/2006/main">
              <a:ext uri="{FF2B5EF4-FFF2-40B4-BE49-F238E27FC236}">
                <a16:creationId xmlns:a16="http://schemas.microsoft.com/office/drawing/2014/main" id="{2CA71DE1-F35A-4EBF-8BE5-E86F06CC18A2}"/>
              </a:ext>
            </a:extLst>
          </p:cNvPr>
          <p:cNvSpPr>
            <a:spLocks xmlns:a="http://schemas.openxmlformats.org/drawingml/2006/main" noGrp="1"/>
          </p:cNvSpPr>
          <p:nvPr/>
        </p:nvSpPr>
        <p:spPr>
          <a:xfrm xmlns:a="http://schemas.openxmlformats.org/drawingml/2006/main">
            <a:off x="6810375" y="3924300"/>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tests/test_pipeline.py</a:t>
            </a:r>
          </a:p>
        </p:txBody>
      </p:sp>
      <p:sp>
        <p:nvSpPr>
          <p:cNvPr id="21" name="">
            <a:extLst xmlns:a="http://schemas.openxmlformats.org/drawingml/2006/main">
              <a:ext uri="{FF2B5EF4-FFF2-40B4-BE49-F238E27FC236}">
                <a16:creationId xmlns:a16="http://schemas.microsoft.com/office/drawing/2014/main" id="{AF55AF78-8944-4162-98C9-BFBC95F37719}"/>
              </a:ext>
            </a:extLst>
          </p:cNvPr>
          <p:cNvSpPr>
            <a:spLocks xmlns:a="http://schemas.openxmlformats.org/drawingml/2006/main" noGrp="1"/>
          </p:cNvSpPr>
          <p:nvPr/>
        </p:nvSpPr>
        <p:spPr>
          <a:xfrm xmlns:a="http://schemas.openxmlformats.org/drawingml/2006/main">
            <a:off x="4610100" y="4371975"/>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LI 출력">
            <a:extLst xmlns:a="http://schemas.openxmlformats.org/drawingml/2006/main">
              <a:ext uri="{FF2B5EF4-FFF2-40B4-BE49-F238E27FC236}">
                <a16:creationId xmlns:a16="http://schemas.microsoft.com/office/drawing/2014/main" id="{7BC9BA32-F0B9-4466-B2EE-DFF716AFBBB8}"/>
              </a:ext>
            </a:extLst>
          </p:cNvPr>
          <p:cNvSpPr>
            <a:spLocks xmlns:a="http://schemas.openxmlformats.org/drawingml/2006/main" noGrp="1"/>
          </p:cNvSpPr>
          <p:nvPr/>
        </p:nvSpPr>
        <p:spPr>
          <a:xfrm xmlns:a="http://schemas.openxmlformats.org/drawingml/2006/main">
            <a:off x="4610100" y="4467225"/>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3" name="width · height · pixel_count …">
            <a:extLst xmlns:a="http://schemas.openxmlformats.org/drawingml/2006/main">
              <a:ext uri="{FF2B5EF4-FFF2-40B4-BE49-F238E27FC236}">
                <a16:creationId xmlns:a16="http://schemas.microsoft.com/office/drawing/2014/main" id="{C3FC8257-2B1D-476C-A931-E2CC3D94986E}"/>
              </a:ext>
            </a:extLst>
          </p:cNvPr>
          <p:cNvSpPr>
            <a:spLocks xmlns:a="http://schemas.openxmlformats.org/drawingml/2006/main" noGrp="1"/>
          </p:cNvSpPr>
          <p:nvPr/>
        </p:nvSpPr>
        <p:spPr>
          <a:xfrm xmlns:a="http://schemas.openxmlformats.org/drawingml/2006/main">
            <a:off x="6810375" y="4467225"/>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width · height · pixel_count …</a:t>
            </a:r>
          </a:p>
        </p:txBody>
      </p:sp>
      <p:sp>
        <p:nvSpPr>
          <p:cNvPr id="24" name="32줄 · 1,303 bytes">
            <a:extLst xmlns:a="http://schemas.openxmlformats.org/drawingml/2006/main">
              <a:ext uri="{FF2B5EF4-FFF2-40B4-BE49-F238E27FC236}">
                <a16:creationId xmlns:a16="http://schemas.microsoft.com/office/drawing/2014/main" id="{B407AAFF-0DDC-4B22-B05F-74555FF9C309}"/>
              </a:ext>
            </a:extLst>
          </p:cNvPr>
          <p:cNvSpPr>
            <a:spLocks xmlns:a="http://schemas.openxmlformats.org/drawingml/2006/main" noGrp="1"/>
          </p:cNvSpPr>
          <p:nvPr/>
        </p:nvSpPr>
        <p:spPr>
          <a:xfrm xmlns:a="http://schemas.openxmlformats.org/drawingml/2006/main">
            <a:off x="4610100" y="5067300"/>
            <a:ext cx="697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32줄 · 1,303 bytes</a:t>
            </a:r>
          </a:p>
        </p:txBody>
      </p:sp>
      <p:sp>
        <p:nvSpPr>
          <p:cNvPr id="25" name="이번 Task에도 필요할까?">
            <a:extLst xmlns:a="http://schemas.openxmlformats.org/drawingml/2006/main">
              <a:ext uri="{FF2B5EF4-FFF2-40B4-BE49-F238E27FC236}">
                <a16:creationId xmlns:a16="http://schemas.microsoft.com/office/drawing/2014/main" id="{692ACAD5-A9E1-4CCB-9513-A113DBF055CA}"/>
              </a:ext>
            </a:extLst>
          </p:cNvPr>
          <p:cNvSpPr>
            <a:spLocks xmlns:a="http://schemas.openxmlformats.org/drawingml/2006/main" noGrp="1"/>
          </p:cNvSpPr>
          <p:nvPr/>
        </p:nvSpPr>
        <p:spPr>
          <a:xfrm xmlns:a="http://schemas.openxmlformats.org/drawingml/2006/main">
            <a:off x="609600" y="5219700"/>
            <a:ext cx="3714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Task에도 필요할까?</a:t>
            </a:r>
          </a:p>
        </p:txBody>
      </p:sp>
    </p:spTree>
    <p:extLst>
      <p:ext uri="{BB962C8B-B14F-4D97-AF65-F5344CB8AC3E}">
        <p14:creationId xmlns:p14="http://schemas.microsoft.com/office/powerpoint/2010/main" val="249821813"/>
      </p:ext>
    </p:extLst>
  </p:cSld>
</p:sld>
</file>

<file path=ppt/slides/slide2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2 · 관련성을 확인하기">
            <a:extLst xmlns:a="http://schemas.openxmlformats.org/drawingml/2006/main">
              <a:ext uri="{FF2B5EF4-FFF2-40B4-BE49-F238E27FC236}">
                <a16:creationId xmlns:a16="http://schemas.microsoft.com/office/drawing/2014/main" id="{CE5E11C3-518C-4796-842F-D282615A553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27">
            <a:extLst xmlns:a="http://schemas.openxmlformats.org/drawingml/2006/main">
              <a:ext uri="{FF2B5EF4-FFF2-40B4-BE49-F238E27FC236}">
                <a16:creationId xmlns:a16="http://schemas.microsoft.com/office/drawing/2014/main" id="{16ACBA4F-41A4-4E0A-88D6-D02EC805FB0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정확하지만 이번 Task에는 불필요한 정보">
            <a:extLst xmlns:a="http://schemas.openxmlformats.org/drawingml/2006/main">
              <a:ext uri="{FF2B5EF4-FFF2-40B4-BE49-F238E27FC236}">
                <a16:creationId xmlns:a16="http://schemas.microsoft.com/office/drawing/2014/main" id="{67FA1C68-D4C0-4DC3-B0F6-E192008BC01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Task에는 불필요한 정보</a:t>
            </a:r>
          </a:p>
        </p:txBody>
      </p:sp>
      <p:sp>
        <p:nvSpPr>
          <p:cNvPr id="4" name="">
            <a:extLst xmlns:a="http://schemas.openxmlformats.org/drawingml/2006/main">
              <a:ext uri="{FF2B5EF4-FFF2-40B4-BE49-F238E27FC236}">
                <a16:creationId xmlns:a16="http://schemas.microsoft.com/office/drawing/2014/main" id="{E5542244-3AF2-4D57-81E8-726422A8C704}"/>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README의 build tools 안내를 명확히 하는 작업">
            <a:extLst xmlns:a="http://schemas.openxmlformats.org/drawingml/2006/main">
              <a:ext uri="{FF2B5EF4-FFF2-40B4-BE49-F238E27FC236}">
                <a16:creationId xmlns:a16="http://schemas.microsoft.com/office/drawing/2014/main" id="{E12545DE-AA74-4D99-97C4-B0C62A4618EF}"/>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README의 build tools 안내를 명확히 하는 작업</a:t>
            </a:r>
          </a:p>
        </p:txBody>
      </p:sp>
      <p:sp>
        <p:nvSpPr>
          <p:cNvPr id="6" name="Agent 혼란과 Context 관련 실패는 관찰되지 않았다">
            <a:extLst xmlns:a="http://schemas.openxmlformats.org/drawingml/2006/main">
              <a:ext uri="{FF2B5EF4-FFF2-40B4-BE49-F238E27FC236}">
                <a16:creationId xmlns:a16="http://schemas.microsoft.com/office/drawing/2014/main" id="{24CCB45D-9D19-41B7-B9DF-600B3B76460E}"/>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 혼란과 Context 관련 실패는 관찰되지 않았다</a:t>
            </a:r>
          </a:p>
        </p:txBody>
      </p:sp>
      <p:sp>
        <p:nvSpPr>
          <p:cNvPr id="7" name="작업: README의 빌드 도구 안내를 고친다">
            <a:extLst xmlns:a="http://schemas.openxmlformats.org/drawingml/2006/main">
              <a:ext uri="{FF2B5EF4-FFF2-40B4-BE49-F238E27FC236}">
                <a16:creationId xmlns:a16="http://schemas.microsoft.com/office/drawing/2014/main" id="{4CFC6DAC-BD44-42EB-A78A-B5D55D74A6AE}"/>
              </a:ext>
            </a:extLst>
          </p:cNvPr>
          <p:cNvSpPr>
            <a:spLocks xmlns:a="http://schemas.openxmlformats.org/drawingml/2006/main" noGrp="1"/>
          </p:cNvSpPr>
          <p:nvPr/>
        </p:nvSpPr>
        <p:spPr>
          <a:xfrm xmlns:a="http://schemas.openxmlformats.org/drawingml/2006/main">
            <a:off x="609600" y="2190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작업: README의 빌드 도구 안내를 고친다</a:t>
            </a:r>
          </a:p>
        </p:txBody>
      </p:sp>
      <p:sp>
        <p:nvSpPr>
          <p:cNvPr id="8" name="이번 질문과 직접 관련">
            <a:extLst xmlns:a="http://schemas.openxmlformats.org/drawingml/2006/main">
              <a:ext uri="{FF2B5EF4-FFF2-40B4-BE49-F238E27FC236}">
                <a16:creationId xmlns:a16="http://schemas.microsoft.com/office/drawing/2014/main" id="{C14F9CA5-F3BC-48DF-B8DD-A557B4F5A920}"/>
              </a:ext>
            </a:extLst>
          </p:cNvPr>
          <p:cNvSpPr>
            <a:spLocks xmlns:a="http://schemas.openxmlformats.org/drawingml/2006/main" noGrp="1"/>
          </p:cNvSpPr>
          <p:nvPr/>
        </p:nvSpPr>
        <p:spPr>
          <a:xfrm xmlns:a="http://schemas.openxmlformats.org/drawingml/2006/main">
            <a:off x="609600" y="29337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질문과 직접 관련</a:t>
            </a:r>
          </a:p>
        </p:txBody>
      </p:sp>
      <p:sp>
        <p:nvSpPr>
          <p:cNvPr id="9" name="함께 있었지만 관련이 낮은 정보">
            <a:extLst xmlns:a="http://schemas.openxmlformats.org/drawingml/2006/main">
              <a:ext uri="{FF2B5EF4-FFF2-40B4-BE49-F238E27FC236}">
                <a16:creationId xmlns:a16="http://schemas.microsoft.com/office/drawing/2014/main" id="{17A1928F-6EF7-4143-8E32-B39F07B6925F}"/>
              </a:ext>
            </a:extLst>
          </p:cNvPr>
          <p:cNvSpPr>
            <a:spLocks xmlns:a="http://schemas.openxmlformats.org/drawingml/2006/main" noGrp="1"/>
          </p:cNvSpPr>
          <p:nvPr/>
        </p:nvSpPr>
        <p:spPr>
          <a:xfrm xmlns:a="http://schemas.openxmlformats.org/drawingml/2006/main">
            <a:off x="6705600" y="29337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함께 있었지만 관련이 낮은 정보</a:t>
            </a:r>
          </a:p>
        </p:txBody>
      </p:sp>
      <p:sp>
        <p:nvSpPr>
          <p:cNvPr id="10" name="">
            <a:extLst xmlns:a="http://schemas.openxmlformats.org/drawingml/2006/main">
              <a:ext uri="{FF2B5EF4-FFF2-40B4-BE49-F238E27FC236}">
                <a16:creationId xmlns:a16="http://schemas.microsoft.com/office/drawing/2014/main" id="{F4B020BD-B8D1-470F-A181-3FFA4DB6D854}"/>
              </a:ext>
            </a:extLst>
          </p:cNvPr>
          <p:cNvSpPr>
            <a:spLocks xmlns:a="http://schemas.openxmlformats.org/drawingml/2006/main" noGrp="1"/>
          </p:cNvSpPr>
          <p:nvPr/>
        </p:nvSpPr>
        <p:spPr>
          <a:xfrm xmlns:a="http://schemas.openxmlformats.org/drawingml/2006/main">
            <a:off x="609600" y="344805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28135F10-4C42-43AC-9195-5FD217C38949}"/>
              </a:ext>
            </a:extLst>
          </p:cNvPr>
          <p:cNvSpPr>
            <a:spLocks xmlns:a="http://schemas.openxmlformats.org/drawingml/2006/main" noGrp="1"/>
          </p:cNvSpPr>
          <p:nvPr/>
        </p:nvSpPr>
        <p:spPr>
          <a:xfrm xmlns:a="http://schemas.openxmlformats.org/drawingml/2006/main">
            <a:off x="6705600" y="3448050"/>
            <a:ext cx="4876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
            <a:extLst xmlns:a="http://schemas.openxmlformats.org/drawingml/2006/main">
              <a:ext uri="{FF2B5EF4-FFF2-40B4-BE49-F238E27FC236}">
                <a16:creationId xmlns:a16="http://schemas.microsoft.com/office/drawing/2014/main" id="{C9410B4D-2576-4BC8-981C-78AF1B6F26F8}"/>
              </a:ext>
            </a:extLst>
          </p:cNvPr>
          <p:cNvSpPr>
            <a:spLocks xmlns:a="http://schemas.openxmlformats.org/drawingml/2006/main" noGrp="1"/>
          </p:cNvSpPr>
          <p:nvPr/>
        </p:nvSpPr>
        <p:spPr>
          <a:xfrm xmlns:a="http://schemas.openxmlformats.org/drawingml/2006/main">
            <a:off x="609600" y="3638550"/>
            <a:ext cx="4953000" cy="12382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README&#10;pyproject.toml의 빌드 설정">
            <a:extLst xmlns:a="http://schemas.openxmlformats.org/drawingml/2006/main">
              <a:ext uri="{FF2B5EF4-FFF2-40B4-BE49-F238E27FC236}">
                <a16:creationId xmlns:a16="http://schemas.microsoft.com/office/drawing/2014/main" id="{AED223FE-3B3F-43AA-B7EA-34BE8B78877E}"/>
              </a:ext>
            </a:extLst>
          </p:cNvPr>
          <p:cNvSpPr>
            <a:spLocks xmlns:a="http://schemas.openxmlformats.org/drawingml/2006/main" noGrp="1"/>
          </p:cNvSpPr>
          <p:nvPr/>
        </p:nvSpPr>
        <p:spPr>
          <a:xfrm xmlns:a="http://schemas.openxmlformats.org/drawingml/2006/main">
            <a:off x="838200" y="3810000"/>
            <a:ext cx="4495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README</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pyproject.toml의 빌드 설정</a:t>
            </a:r>
          </a:p>
        </p:txBody>
      </p:sp>
      <p:sp>
        <p:nvSpPr>
          <p:cNvPr id="14" name="crop / resize 계약&#10;이미지 처리 pipeline 세부사항">
            <a:extLst xmlns:a="http://schemas.openxmlformats.org/drawingml/2006/main">
              <a:ext uri="{FF2B5EF4-FFF2-40B4-BE49-F238E27FC236}">
                <a16:creationId xmlns:a16="http://schemas.microsoft.com/office/drawing/2014/main" id="{48B1F62B-DDE6-47EB-8AC6-FA5789BA9800}"/>
              </a:ext>
            </a:extLst>
          </p:cNvPr>
          <p:cNvSpPr>
            <a:spLocks xmlns:a="http://schemas.openxmlformats.org/drawingml/2006/main" noGrp="1"/>
          </p:cNvSpPr>
          <p:nvPr/>
        </p:nvSpPr>
        <p:spPr>
          <a:xfrm xmlns:a="http://schemas.openxmlformats.org/drawingml/2006/main">
            <a:off x="6705600" y="3810000"/>
            <a:ext cx="4876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crop / resize 계약</a:t>
            </a:r>
          </a:p>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이미지 처리 pipeline 세부사항</a:t>
            </a:r>
          </a:p>
        </p:txBody>
      </p:sp>
      <p:sp>
        <p:nvSpPr>
          <p:cNvPr id="15" name="정확한 정보라도, 모든 질문에 필요한 것은 아니다">
            <a:extLst xmlns:a="http://schemas.openxmlformats.org/drawingml/2006/main">
              <a:ext uri="{FF2B5EF4-FFF2-40B4-BE49-F238E27FC236}">
                <a16:creationId xmlns:a16="http://schemas.microsoft.com/office/drawing/2014/main" id="{1D1560F1-06E0-4E35-8952-0F1BD940D4BD}"/>
              </a:ext>
            </a:extLst>
          </p:cNvPr>
          <p:cNvSpPr>
            <a:spLocks xmlns:a="http://schemas.openxmlformats.org/drawingml/2006/main" noGrp="1"/>
          </p:cNvSpPr>
          <p:nvPr/>
        </p:nvSpPr>
        <p:spPr>
          <a:xfrm xmlns:a="http://schemas.openxmlformats.org/drawingml/2006/main">
            <a:off x="609600" y="52387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정확한 정보라도, 모든 질문에 필요한 것은 아니다</a:t>
            </a:r>
          </a:p>
        </p:txBody>
      </p:sp>
    </p:spTree>
    <p:extLst>
      <p:ext uri="{BB962C8B-B14F-4D97-AF65-F5344CB8AC3E}">
        <p14:creationId xmlns:p14="http://schemas.microsoft.com/office/powerpoint/2010/main" val="1761141507"/>
      </p:ext>
    </p:extLst>
  </p:cSld>
</p:sld>
</file>

<file path=ppt/slides/slide2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2 · 언제 필요한 정보인가">
            <a:extLst xmlns:a="http://schemas.openxmlformats.org/drawingml/2006/main">
              <a:ext uri="{FF2B5EF4-FFF2-40B4-BE49-F238E27FC236}">
                <a16:creationId xmlns:a16="http://schemas.microsoft.com/office/drawing/2014/main" id="{80C9AD00-93F7-4A05-B654-72E39B0354C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언제 필요한 정보인가</a:t>
            </a:r>
          </a:p>
        </p:txBody>
      </p:sp>
      <p:sp>
        <p:nvSpPr>
          <p:cNvPr id="2" name="S28">
            <a:extLst xmlns:a="http://schemas.openxmlformats.org/drawingml/2006/main">
              <a:ext uri="{FF2B5EF4-FFF2-40B4-BE49-F238E27FC236}">
                <a16:creationId xmlns:a16="http://schemas.microsoft.com/office/drawing/2014/main" id="{333A91D7-39BC-4434-AD06-1F2F1136005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정보의 범위와 제공 시점">
            <a:extLst xmlns:a="http://schemas.openxmlformats.org/drawingml/2006/main">
              <a:ext uri="{FF2B5EF4-FFF2-40B4-BE49-F238E27FC236}">
                <a16:creationId xmlns:a16="http://schemas.microsoft.com/office/drawing/2014/main" id="{925B6F3F-590C-499C-A5CC-B5628CE0CF6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A772155A-9880-4DB6-8336-4119B14A30CC}"/>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분류 모델 · OpenAI의 공식 기능 분류가 아님">
            <a:extLst xmlns:a="http://schemas.openxmlformats.org/drawingml/2006/main">
              <a:ext uri="{FF2B5EF4-FFF2-40B4-BE49-F238E27FC236}">
                <a16:creationId xmlns:a16="http://schemas.microsoft.com/office/drawing/2014/main" id="{F5858144-329F-4435-8E97-CE6861B62F72}"/>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분류 모델 · OpenAI의 공식 기능 분류가 아님</a:t>
            </a:r>
          </a:p>
        </p:txBody>
      </p:sp>
      <p:sp>
        <p:nvSpPr>
          <p:cNvPr id="6" name="성능 조사 절차는 설명을 위한 예시이며 STATE-02에 저장돼 있었다는 뜻이 아님">
            <a:extLst xmlns:a="http://schemas.openxmlformats.org/drawingml/2006/main">
              <a:ext uri="{FF2B5EF4-FFF2-40B4-BE49-F238E27FC236}">
                <a16:creationId xmlns:a16="http://schemas.microsoft.com/office/drawing/2014/main" id="{8E48099C-E010-4B1C-8F2C-E09A18D371DA}"/>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성능 조사 절차는 설명을 위한 예시이며 STATE-02에 저장돼 있었다는 뜻이 아님</a:t>
            </a:r>
          </a:p>
        </p:txBody>
      </p:sp>
      <p:sp>
        <p:nvSpPr>
          <p:cNvPr id="7" name="">
            <a:extLst xmlns:a="http://schemas.openxmlformats.org/drawingml/2006/main">
              <a:ext uri="{FF2B5EF4-FFF2-40B4-BE49-F238E27FC236}">
                <a16:creationId xmlns:a16="http://schemas.microsoft.com/office/drawing/2014/main" id="{3977551C-A99D-4AD6-A38D-86B4AE780B69}"/>
              </a:ext>
            </a:extLst>
          </p:cNvPr>
          <p:cNvSpPr>
            <a:spLocks xmlns:a="http://schemas.openxmlformats.org/drawingml/2006/main" noGrp="1"/>
          </p:cNvSpPr>
          <p:nvPr/>
        </p:nvSpPr>
        <p:spPr>
          <a:xfrm xmlns:a="http://schemas.openxmlformats.org/drawingml/2006/main">
            <a:off x="609600" y="2209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항상 알아야 할 안내">
            <a:extLst xmlns:a="http://schemas.openxmlformats.org/drawingml/2006/main">
              <a:ext uri="{FF2B5EF4-FFF2-40B4-BE49-F238E27FC236}">
                <a16:creationId xmlns:a16="http://schemas.microsoft.com/office/drawing/2014/main" id="{EC551F7C-0CAA-478B-919A-B6FD685017AC}"/>
              </a:ext>
            </a:extLst>
          </p:cNvPr>
          <p:cNvSpPr>
            <a:spLocks xmlns:a="http://schemas.openxmlformats.org/drawingml/2006/main" noGrp="1"/>
          </p:cNvSpPr>
          <p:nvPr/>
        </p:nvSpPr>
        <p:spPr>
          <a:xfrm xmlns:a="http://schemas.openxmlformats.org/drawingml/2006/main">
            <a:off x="609600" y="23812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항상 알아야 할 안내</a:t>
            </a:r>
          </a:p>
        </p:txBody>
      </p:sp>
      <p:sp>
        <p:nvSpPr>
          <p:cNvPr id="9" name="프로젝트 목적 · 기본 제약">
            <a:extLst xmlns:a="http://schemas.openxmlformats.org/drawingml/2006/main">
              <a:ext uri="{FF2B5EF4-FFF2-40B4-BE49-F238E27FC236}">
                <a16:creationId xmlns:a16="http://schemas.microsoft.com/office/drawing/2014/main" id="{A2CC175B-4B65-4436-B633-87B54BFC9B6D}"/>
              </a:ext>
            </a:extLst>
          </p:cNvPr>
          <p:cNvSpPr>
            <a:spLocks xmlns:a="http://schemas.openxmlformats.org/drawingml/2006/main" noGrp="1"/>
          </p:cNvSpPr>
          <p:nvPr/>
        </p:nvSpPr>
        <p:spPr>
          <a:xfrm xmlns:a="http://schemas.openxmlformats.org/drawingml/2006/main">
            <a:off x="5305425" y="23812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프로젝트 목적 · 기본 제약</a:t>
            </a:r>
          </a:p>
        </p:txBody>
      </p:sp>
      <p:sp>
        <p:nvSpPr>
          <p:cNvPr id="10" name="ALWAYS-ON">
            <a:extLst xmlns:a="http://schemas.openxmlformats.org/drawingml/2006/main">
              <a:ext uri="{FF2B5EF4-FFF2-40B4-BE49-F238E27FC236}">
                <a16:creationId xmlns:a16="http://schemas.microsoft.com/office/drawing/2014/main" id="{6F7B8F9E-B4AF-44C6-8AA5-ECC87B7AB278}"/>
              </a:ext>
            </a:extLst>
          </p:cNvPr>
          <p:cNvSpPr>
            <a:spLocks xmlns:a="http://schemas.openxmlformats.org/drawingml/2006/main" noGrp="1"/>
          </p:cNvSpPr>
          <p:nvPr/>
        </p:nvSpPr>
        <p:spPr>
          <a:xfrm xmlns:a="http://schemas.openxmlformats.org/drawingml/2006/main">
            <a:off x="609600" y="28765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ALWAYS-ON</a:t>
            </a:r>
          </a:p>
        </p:txBody>
      </p:sp>
      <p:sp>
        <p:nvSpPr>
          <p:cNvPr id="11" name="">
            <a:extLst xmlns:a="http://schemas.openxmlformats.org/drawingml/2006/main">
              <a:ext uri="{FF2B5EF4-FFF2-40B4-BE49-F238E27FC236}">
                <a16:creationId xmlns:a16="http://schemas.microsoft.com/office/drawing/2014/main" id="{F4C3F3D3-9936-4F3F-BBED-FB5BA8B57F00}"/>
              </a:ext>
            </a:extLst>
          </p:cNvPr>
          <p:cNvSpPr>
            <a:spLocks xmlns:a="http://schemas.openxmlformats.org/drawingml/2006/main" noGrp="1"/>
          </p:cNvSpPr>
          <p:nvPr/>
        </p:nvSpPr>
        <p:spPr>
          <a:xfrm xmlns:a="http://schemas.openxmlformats.org/drawingml/2006/main">
            <a:off x="609600" y="3314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질문에 따라 찾아볼 상세">
            <a:extLst xmlns:a="http://schemas.openxmlformats.org/drawingml/2006/main">
              <a:ext uri="{FF2B5EF4-FFF2-40B4-BE49-F238E27FC236}">
                <a16:creationId xmlns:a16="http://schemas.microsoft.com/office/drawing/2014/main" id="{CFF9A916-40E0-4D1B-A7FD-FB30137267AF}"/>
              </a:ext>
            </a:extLst>
          </p:cNvPr>
          <p:cNvSpPr>
            <a:spLocks xmlns:a="http://schemas.openxmlformats.org/drawingml/2006/main" noGrp="1"/>
          </p:cNvSpPr>
          <p:nvPr/>
        </p:nvSpPr>
        <p:spPr>
          <a:xfrm xmlns:a="http://schemas.openxmlformats.org/drawingml/2006/main">
            <a:off x="609600" y="34861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질문에 따라 찾아볼 상세</a:t>
            </a:r>
          </a:p>
        </p:txBody>
      </p:sp>
      <p:sp>
        <p:nvSpPr>
          <p:cNvPr id="13" name="crop 계약 · 모듈 구조">
            <a:extLst xmlns:a="http://schemas.openxmlformats.org/drawingml/2006/main">
              <a:ext uri="{FF2B5EF4-FFF2-40B4-BE49-F238E27FC236}">
                <a16:creationId xmlns:a16="http://schemas.microsoft.com/office/drawing/2014/main" id="{BD1A0C37-E871-48A2-A63C-BF025BD6B0ED}"/>
              </a:ext>
            </a:extLst>
          </p:cNvPr>
          <p:cNvSpPr>
            <a:spLocks xmlns:a="http://schemas.openxmlformats.org/drawingml/2006/main" noGrp="1"/>
          </p:cNvSpPr>
          <p:nvPr/>
        </p:nvSpPr>
        <p:spPr>
          <a:xfrm xmlns:a="http://schemas.openxmlformats.org/drawingml/2006/main">
            <a:off x="5305425" y="34861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crop 계약 · 모듈 구조</a:t>
            </a:r>
          </a:p>
        </p:txBody>
      </p:sp>
      <p:sp>
        <p:nvSpPr>
          <p:cNvPr id="14" name="ON-DEMAND">
            <a:extLst xmlns:a="http://schemas.openxmlformats.org/drawingml/2006/main">
              <a:ext uri="{FF2B5EF4-FFF2-40B4-BE49-F238E27FC236}">
                <a16:creationId xmlns:a16="http://schemas.microsoft.com/office/drawing/2014/main" id="{1E185FBA-E46B-480B-AEA1-57E5BF2276C4}"/>
              </a:ext>
            </a:extLst>
          </p:cNvPr>
          <p:cNvSpPr>
            <a:spLocks xmlns:a="http://schemas.openxmlformats.org/drawingml/2006/main" noGrp="1"/>
          </p:cNvSpPr>
          <p:nvPr/>
        </p:nvSpPr>
        <p:spPr>
          <a:xfrm xmlns:a="http://schemas.openxmlformats.org/drawingml/2006/main">
            <a:off x="609600" y="39814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ON-DEMAND</a:t>
            </a:r>
          </a:p>
        </p:txBody>
      </p:sp>
      <p:sp>
        <p:nvSpPr>
          <p:cNvPr id="15" name="">
            <a:extLst xmlns:a="http://schemas.openxmlformats.org/drawingml/2006/main">
              <a:ext uri="{FF2B5EF4-FFF2-40B4-BE49-F238E27FC236}">
                <a16:creationId xmlns:a16="http://schemas.microsoft.com/office/drawing/2014/main" id="{4034C0A9-E8D2-47E8-847D-D5081BB0A501}"/>
              </a:ext>
            </a:extLst>
          </p:cNvPr>
          <p:cNvSpPr>
            <a:spLocks xmlns:a="http://schemas.openxmlformats.org/drawingml/2006/main" noGrp="1"/>
          </p:cNvSpPr>
          <p:nvPr/>
        </p:nvSpPr>
        <p:spPr>
          <a:xfrm xmlns:a="http://schemas.openxmlformats.org/drawingml/2006/main">
            <a:off x="609600" y="44196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런 일을 수행하는 방법">
            <a:extLst xmlns:a="http://schemas.openxmlformats.org/drawingml/2006/main">
              <a:ext uri="{FF2B5EF4-FFF2-40B4-BE49-F238E27FC236}">
                <a16:creationId xmlns:a16="http://schemas.microsoft.com/office/drawing/2014/main" id="{F0947C0F-B69C-42B4-8E10-98D90CFFB153}"/>
              </a:ext>
            </a:extLst>
          </p:cNvPr>
          <p:cNvSpPr>
            <a:spLocks xmlns:a="http://schemas.openxmlformats.org/drawingml/2006/main" noGrp="1"/>
          </p:cNvSpPr>
          <p:nvPr/>
        </p:nvSpPr>
        <p:spPr>
          <a:xfrm xmlns:a="http://schemas.openxmlformats.org/drawingml/2006/main">
            <a:off x="609600" y="45910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이런 일을 수행하는 방법</a:t>
            </a:r>
          </a:p>
        </p:txBody>
      </p:sp>
      <p:sp>
        <p:nvSpPr>
          <p:cNvPr id="17" name="변경 전 측정 → 조사 → 검증">
            <a:extLst xmlns:a="http://schemas.openxmlformats.org/drawingml/2006/main">
              <a:ext uri="{FF2B5EF4-FFF2-40B4-BE49-F238E27FC236}">
                <a16:creationId xmlns:a16="http://schemas.microsoft.com/office/drawing/2014/main" id="{83806B20-8991-42B3-9B56-687A34B87072}"/>
              </a:ext>
            </a:extLst>
          </p:cNvPr>
          <p:cNvSpPr>
            <a:spLocks xmlns:a="http://schemas.openxmlformats.org/drawingml/2006/main" noGrp="1"/>
          </p:cNvSpPr>
          <p:nvPr/>
        </p:nvSpPr>
        <p:spPr>
          <a:xfrm xmlns:a="http://schemas.openxmlformats.org/drawingml/2006/main">
            <a:off x="5305425" y="45910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변경 전 측정 → 조사 → 검증</a:t>
            </a:r>
          </a:p>
        </p:txBody>
      </p:sp>
      <p:sp>
        <p:nvSpPr>
          <p:cNvPr id="18" name="WORKFLOW">
            <a:extLst xmlns:a="http://schemas.openxmlformats.org/drawingml/2006/main">
              <a:ext uri="{FF2B5EF4-FFF2-40B4-BE49-F238E27FC236}">
                <a16:creationId xmlns:a16="http://schemas.microsoft.com/office/drawing/2014/main" id="{F09A5BC5-32D4-4F56-B5D0-7AC400B87D18}"/>
              </a:ext>
            </a:extLst>
          </p:cNvPr>
          <p:cNvSpPr>
            <a:spLocks xmlns:a="http://schemas.openxmlformats.org/drawingml/2006/main" noGrp="1"/>
          </p:cNvSpPr>
          <p:nvPr/>
        </p:nvSpPr>
        <p:spPr>
          <a:xfrm xmlns:a="http://schemas.openxmlformats.org/drawingml/2006/main">
            <a:off x="609600" y="50863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WORKFLOW</a:t>
            </a:r>
          </a:p>
        </p:txBody>
      </p:sp>
    </p:spTree>
    <p:extLst>
      <p:ext uri="{BB962C8B-B14F-4D97-AF65-F5344CB8AC3E}">
        <p14:creationId xmlns:p14="http://schemas.microsoft.com/office/powerpoint/2010/main" val="284354797"/>
      </p:ext>
    </p:extLst>
  </p:cSld>
</p:sld>
</file>

<file path=ppt/slides/slide2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2 · 연구가 답한 질문">
            <a:extLst xmlns:a="http://schemas.openxmlformats.org/drawingml/2006/main">
              <a:ext uri="{FF2B5EF4-FFF2-40B4-BE49-F238E27FC236}">
                <a16:creationId xmlns:a16="http://schemas.microsoft.com/office/drawing/2014/main" id="{181A21CA-33DF-4544-95C3-F5D6AC55DFE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연구가 답한 질문</a:t>
            </a:r>
          </a:p>
        </p:txBody>
      </p:sp>
      <p:sp>
        <p:nvSpPr>
          <p:cNvPr id="2" name="S29">
            <a:extLst xmlns:a="http://schemas.openxmlformats.org/drawingml/2006/main">
              <a:ext uri="{FF2B5EF4-FFF2-40B4-BE49-F238E27FC236}">
                <a16:creationId xmlns:a16="http://schemas.microsoft.com/office/drawing/2014/main" id="{1AD0574B-41C5-4F60-A163-357AC9BC25A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Long Context 연구가 말해주는 범위">
            <a:extLst xmlns:a="http://schemas.openxmlformats.org/drawingml/2006/main">
              <a:ext uri="{FF2B5EF4-FFF2-40B4-BE49-F238E27FC236}">
                <a16:creationId xmlns:a16="http://schemas.microsoft.com/office/drawing/2014/main" id="{0C8BD550-0049-4261-B6E5-CB3A12DD7D9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Long Context 연구가 말해주는 범위</a:t>
            </a:r>
          </a:p>
        </p:txBody>
      </p:sp>
      <p:sp>
        <p:nvSpPr>
          <p:cNvPr id="4" name="">
            <a:extLst xmlns:a="http://schemas.openxmlformats.org/drawingml/2006/main">
              <a:ext uri="{FF2B5EF4-FFF2-40B4-BE49-F238E27FC236}">
                <a16:creationId xmlns:a16="http://schemas.microsoft.com/office/drawing/2014/main" id="{753BB99D-8714-4EED-8CB3-A5E23D02BE86}"/>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Lost in the Middle, TACL 2024 · RepoQA, 2024">
            <a:extLst xmlns:a="http://schemas.openxmlformats.org/drawingml/2006/main">
              <a:ext uri="{FF2B5EF4-FFF2-40B4-BE49-F238E27FC236}">
                <a16:creationId xmlns:a16="http://schemas.microsoft.com/office/drawing/2014/main" id="{BA612EE2-AE53-4E8C-B2E0-2BE1173A6D74}"/>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Lost in the Middle, TACL 2024 · RepoQA, 2024</a:t>
            </a:r>
          </a:p>
        </p:txBody>
      </p:sp>
      <p:sp>
        <p:nvSpPr>
          <p:cNvPr id="6" name="특정 모델·과제의 결과 · 현재 Codex의 Repository coding 한계를 입증하지 않음">
            <a:extLst xmlns:a="http://schemas.openxmlformats.org/drawingml/2006/main">
              <a:ext uri="{FF2B5EF4-FFF2-40B4-BE49-F238E27FC236}">
                <a16:creationId xmlns:a16="http://schemas.microsoft.com/office/drawing/2014/main" id="{EC7A68DB-82DC-4B62-8508-8957A91F1F78}"/>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모델·과제의 결과 · 현재 Codex의 Repository coding 한계를 입증하지 않음</a:t>
            </a:r>
          </a:p>
        </p:txBody>
      </p:sp>
      <p:sp>
        <p:nvSpPr>
          <p:cNvPr id="7" name="더 많은 Context가 항상 더 좋은 것은 아니다">
            <a:extLst xmlns:a="http://schemas.openxmlformats.org/drawingml/2006/main">
              <a:ext uri="{FF2B5EF4-FFF2-40B4-BE49-F238E27FC236}">
                <a16:creationId xmlns:a16="http://schemas.microsoft.com/office/drawing/2014/main" id="{8752E832-FCC4-4839-A656-D20A9E20091D}"/>
              </a:ext>
            </a:extLst>
          </p:cNvPr>
          <p:cNvSpPr>
            <a:spLocks xmlns:a="http://schemas.openxmlformats.org/drawingml/2006/main" noGrp="1"/>
          </p:cNvSpPr>
          <p:nvPr/>
        </p:nvSpPr>
        <p:spPr>
          <a:xfrm xmlns:a="http://schemas.openxmlformats.org/drawingml/2006/main">
            <a:off x="609600" y="213360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더 많은 Context가 항상 더 좋은 것은 아니다</a:t>
            </a:r>
          </a:p>
        </p:txBody>
      </p:sp>
      <p:sp>
        <p:nvSpPr>
          <p:cNvPr id="8" name="">
            <a:extLst xmlns:a="http://schemas.openxmlformats.org/drawingml/2006/main">
              <a:ext uri="{FF2B5EF4-FFF2-40B4-BE49-F238E27FC236}">
                <a16:creationId xmlns:a16="http://schemas.microsoft.com/office/drawing/2014/main" id="{88117ED1-A7BD-4DF4-B26F-E9E21F31E091}"/>
              </a:ext>
            </a:extLst>
          </p:cNvPr>
          <p:cNvSpPr>
            <a:spLocks xmlns:a="http://schemas.openxmlformats.org/drawingml/2006/main" noGrp="1"/>
          </p:cNvSpPr>
          <p:nvPr/>
        </p:nvSpPr>
        <p:spPr>
          <a:xfrm xmlns:a="http://schemas.openxmlformats.org/drawingml/2006/main">
            <a:off x="609600" y="2781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Lost in the Middle">
            <a:extLst xmlns:a="http://schemas.openxmlformats.org/drawingml/2006/main">
              <a:ext uri="{FF2B5EF4-FFF2-40B4-BE49-F238E27FC236}">
                <a16:creationId xmlns:a16="http://schemas.microsoft.com/office/drawing/2014/main" id="{65E900D8-2467-4090-90CA-EFB88C1C005E}"/>
              </a:ext>
            </a:extLst>
          </p:cNvPr>
          <p:cNvSpPr>
            <a:spLocks xmlns:a="http://schemas.openxmlformats.org/drawingml/2006/main" noGrp="1"/>
          </p:cNvSpPr>
          <p:nvPr/>
        </p:nvSpPr>
        <p:spPr>
          <a:xfrm xmlns:a="http://schemas.openxmlformats.org/drawingml/2006/main">
            <a:off x="609600" y="2990850"/>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Lost in the Middle</a:t>
            </a:r>
          </a:p>
        </p:txBody>
      </p:sp>
      <p:sp>
        <p:nvSpPr>
          <p:cNvPr id="10" name="여러 문서의 질문 답변 · key-value 검색">
            <a:extLst xmlns:a="http://schemas.openxmlformats.org/drawingml/2006/main">
              <a:ext uri="{FF2B5EF4-FFF2-40B4-BE49-F238E27FC236}">
                <a16:creationId xmlns:a16="http://schemas.microsoft.com/office/drawing/2014/main" id="{17AEB786-DEAA-4C1E-9C06-8A7B96561DD9}"/>
              </a:ext>
            </a:extLst>
          </p:cNvPr>
          <p:cNvSpPr>
            <a:spLocks xmlns:a="http://schemas.openxmlformats.org/drawingml/2006/main" noGrp="1"/>
          </p:cNvSpPr>
          <p:nvPr/>
        </p:nvSpPr>
        <p:spPr>
          <a:xfrm xmlns:a="http://schemas.openxmlformats.org/drawingml/2006/main">
            <a:off x="609600" y="3514725"/>
            <a:ext cx="5238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여러 문서의 질문 답변 · key-value 검색</a:t>
            </a:r>
          </a:p>
        </p:txBody>
      </p:sp>
      <p:sp>
        <p:nvSpPr>
          <p:cNvPr id="11" name="관련 정보의 위치가&#10;일부 조건에서 중요할 수 있다">
            <a:extLst xmlns:a="http://schemas.openxmlformats.org/drawingml/2006/main">
              <a:ext uri="{FF2B5EF4-FFF2-40B4-BE49-F238E27FC236}">
                <a16:creationId xmlns:a16="http://schemas.microsoft.com/office/drawing/2014/main" id="{AA4FA641-4664-4BED-B236-6684F8A0B6ED}"/>
              </a:ext>
            </a:extLst>
          </p:cNvPr>
          <p:cNvSpPr>
            <a:spLocks xmlns:a="http://schemas.openxmlformats.org/drawingml/2006/main" noGrp="1"/>
          </p:cNvSpPr>
          <p:nvPr/>
        </p:nvSpPr>
        <p:spPr>
          <a:xfrm xmlns:a="http://schemas.openxmlformats.org/drawingml/2006/main">
            <a:off x="609600" y="4010025"/>
            <a:ext cx="5238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관련 정보의 위치가</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일부 조건에서 중요할 수 있다</a:t>
            </a:r>
          </a:p>
        </p:txBody>
      </p:sp>
      <p:sp>
        <p:nvSpPr>
          <p:cNvPr id="12" name="RepoQA">
            <a:extLst xmlns:a="http://schemas.openxmlformats.org/drawingml/2006/main">
              <a:ext uri="{FF2B5EF4-FFF2-40B4-BE49-F238E27FC236}">
                <a16:creationId xmlns:a16="http://schemas.microsoft.com/office/drawing/2014/main" id="{8FCD5EAF-A9BE-495E-AFFC-AE8DFC18D13B}"/>
              </a:ext>
            </a:extLst>
          </p:cNvPr>
          <p:cNvSpPr>
            <a:spLocks xmlns:a="http://schemas.openxmlformats.org/drawingml/2006/main" noGrp="1"/>
          </p:cNvSpPr>
          <p:nvPr/>
        </p:nvSpPr>
        <p:spPr>
          <a:xfrm xmlns:a="http://schemas.openxmlformats.org/drawingml/2006/main">
            <a:off x="6705600" y="299085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RepoQA</a:t>
            </a:r>
          </a:p>
        </p:txBody>
      </p:sp>
      <p:sp>
        <p:nvSpPr>
          <p:cNvPr id="13" name="50개 Repository의 코드 검색 과제">
            <a:extLst xmlns:a="http://schemas.openxmlformats.org/drawingml/2006/main">
              <a:ext uri="{FF2B5EF4-FFF2-40B4-BE49-F238E27FC236}">
                <a16:creationId xmlns:a16="http://schemas.microsoft.com/office/drawing/2014/main" id="{B53B2ACC-6183-484B-9F51-2B49E2047E6A}"/>
              </a:ext>
            </a:extLst>
          </p:cNvPr>
          <p:cNvSpPr>
            <a:spLocks xmlns:a="http://schemas.openxmlformats.org/drawingml/2006/main" noGrp="1"/>
          </p:cNvSpPr>
          <p:nvPr/>
        </p:nvSpPr>
        <p:spPr>
          <a:xfrm xmlns:a="http://schemas.openxmlformats.org/drawingml/2006/main">
            <a:off x="6705600" y="3514725"/>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50개 Repository의 코드 검색 과제</a:t>
            </a:r>
          </a:p>
        </p:txBody>
      </p:sp>
      <p:sp>
        <p:nvSpPr>
          <p:cNvPr id="14" name="관련 코드 정보를&#10;선택하고 찾는 능력을 평가">
            <a:extLst xmlns:a="http://schemas.openxmlformats.org/drawingml/2006/main">
              <a:ext uri="{FF2B5EF4-FFF2-40B4-BE49-F238E27FC236}">
                <a16:creationId xmlns:a16="http://schemas.microsoft.com/office/drawing/2014/main" id="{4EBE8CE7-E297-41FF-85DA-9D1D7F648D34}"/>
              </a:ext>
            </a:extLst>
          </p:cNvPr>
          <p:cNvSpPr>
            <a:spLocks xmlns:a="http://schemas.openxmlformats.org/drawingml/2006/main" noGrp="1"/>
          </p:cNvSpPr>
          <p:nvPr/>
        </p:nvSpPr>
        <p:spPr>
          <a:xfrm xmlns:a="http://schemas.openxmlformats.org/drawingml/2006/main">
            <a:off x="6705600" y="4010025"/>
            <a:ext cx="48768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관련 코드 정보를</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선택하고 찾는 능력을 평가</a:t>
            </a:r>
          </a:p>
        </p:txBody>
      </p:sp>
      <p:sp>
        <p:nvSpPr>
          <p:cNvPr id="15" name="aclanthology.org/2024.tacl-1.9/">
            <a:extLst xmlns:a="http://schemas.openxmlformats.org/drawingml/2006/main">
              <a:ext uri="{FF2B5EF4-FFF2-40B4-BE49-F238E27FC236}">
                <a16:creationId xmlns:a16="http://schemas.microsoft.com/office/drawing/2014/main" id="{55600CE0-99E2-4803-A591-D7A6912530DD}"/>
              </a:ext>
            </a:extLst>
          </p:cNvPr>
          <p:cNvSpPr>
            <a:spLocks xmlns:a="http://schemas.openxmlformats.org/drawingml/2006/main" noGrp="1"/>
          </p:cNvSpPr>
          <p:nvPr/>
        </p:nvSpPr>
        <p:spPr>
          <a:xfrm xmlns:a="http://schemas.openxmlformats.org/drawingml/2006/main">
            <a:off x="609600" y="5229225"/>
            <a:ext cx="5238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Consolas"/>
                <a:ea typeface="Consolas"/>
                <a:cs typeface="Consolas"/>
              </a:defRPr>
            </a:defPPr>
            <a:lvl1pPr algn="l">
              <a:defRPr sz="1500" b="0">
                <a:solidFill>
                  <a:srgbClr val="4D5A68"/>
                </a:solidFill>
                <a:latin typeface="Consolas"/>
                <a:ea typeface="Consolas"/>
                <a:cs typeface="Consolas"/>
              </a:defRPr>
            </a:lvl1pPr>
            <a:lvl2pPr algn="l">
              <a:defRPr sz="1500" b="0">
                <a:solidFill>
                  <a:srgbClr val="4D5A68"/>
                </a:solidFill>
                <a:latin typeface="Consolas"/>
                <a:ea typeface="Consolas"/>
                <a:cs typeface="Consolas"/>
              </a:defRPr>
            </a:lvl2pPr>
            <a:lvl3pPr algn="l">
              <a:defRPr sz="1500" b="0">
                <a:solidFill>
                  <a:srgbClr val="4D5A68"/>
                </a:solidFill>
                <a:latin typeface="Consolas"/>
                <a:ea typeface="Consolas"/>
                <a:cs typeface="Consolas"/>
              </a:defRPr>
            </a:lvl3pPr>
            <a:lvl4pPr algn="l">
              <a:defRPr sz="1500" b="0">
                <a:solidFill>
                  <a:srgbClr val="4D5A68"/>
                </a:solidFill>
                <a:latin typeface="Consolas"/>
                <a:ea typeface="Consolas"/>
                <a:cs typeface="Consolas"/>
              </a:defRPr>
            </a:lvl4pPr>
            <a:lvl5pPr algn="l">
              <a:defRPr sz="1500" b="0">
                <a:solidFill>
                  <a:srgbClr val="4D5A68"/>
                </a:solidFill>
                <a:latin typeface="Consolas"/>
                <a:ea typeface="Consolas"/>
                <a:cs typeface="Consolas"/>
              </a:defRPr>
            </a:lvl5pPr>
            <a:lvl6pPr algn="l">
              <a:defRPr sz="1500" b="0">
                <a:solidFill>
                  <a:srgbClr val="4D5A68"/>
                </a:solidFill>
                <a:latin typeface="Consolas"/>
                <a:ea typeface="Consolas"/>
                <a:cs typeface="Consolas"/>
              </a:defRPr>
            </a:lvl6pPr>
            <a:lvl7pPr algn="l">
              <a:defRPr sz="1500" b="0">
                <a:solidFill>
                  <a:srgbClr val="4D5A68"/>
                </a:solidFill>
                <a:latin typeface="Consolas"/>
                <a:ea typeface="Consolas"/>
                <a:cs typeface="Consolas"/>
              </a:defRPr>
            </a:lvl7pPr>
            <a:lvl8pPr algn="l">
              <a:defRPr sz="1500" b="0">
                <a:solidFill>
                  <a:srgbClr val="4D5A68"/>
                </a:solidFill>
                <a:latin typeface="Consolas"/>
                <a:ea typeface="Consolas"/>
                <a:cs typeface="Consolas"/>
              </a:defRPr>
            </a:lvl8pPr>
            <a:lvl9pPr algn="l">
              <a:defRPr sz="1500" b="0">
                <a:solidFill>
                  <a:srgbClr val="4D5A68"/>
                </a:solidFill>
                <a:latin typeface="Consolas"/>
                <a:ea typeface="Consolas"/>
                <a:cs typeface="Consolas"/>
              </a:defRPr>
            </a:lvl9pPr>
          </a:lstStyle>
          <a:p xmlns:a="http://schemas.openxmlformats.org/drawingml/2006/main">
            <a:pPr algn="l">
              <a:defRPr sz="1500" b="0">
                <a:solidFill>
                  <a:srgbClr val="4D5A68"/>
                </a:solidFill>
                <a:latin typeface="Consolas"/>
                <a:ea typeface="Consolas"/>
                <a:cs typeface="Consolas"/>
              </a:defRPr>
            </a:pPr>
            <a:r>
              <a:rPr sz="1500" b="0">
                <a:solidFill>
                  <a:srgbClr val="4D5A68"/>
                </a:solidFill>
                <a:latin typeface="Consolas"/>
                <a:ea typeface="Consolas"/>
                <a:cs typeface="Consolas"/>
              </a:rPr>
              <a:t>aclanthology.org/2024.tacl-1.9/</a:t>
            </a:r>
          </a:p>
        </p:txBody>
      </p:sp>
      <p:sp>
        <p:nvSpPr>
          <p:cNvPr id="16" name="arxiv.org/abs/2406.06025">
            <a:extLst xmlns:a="http://schemas.openxmlformats.org/drawingml/2006/main">
              <a:ext uri="{FF2B5EF4-FFF2-40B4-BE49-F238E27FC236}">
                <a16:creationId xmlns:a16="http://schemas.microsoft.com/office/drawing/2014/main" id="{ED9D3FE2-4022-47B1-9925-233D41EBF03F}"/>
              </a:ext>
            </a:extLst>
          </p:cNvPr>
          <p:cNvSpPr>
            <a:spLocks xmlns:a="http://schemas.openxmlformats.org/drawingml/2006/main" noGrp="1"/>
          </p:cNvSpPr>
          <p:nvPr/>
        </p:nvSpPr>
        <p:spPr>
          <a:xfrm xmlns:a="http://schemas.openxmlformats.org/drawingml/2006/main">
            <a:off x="6705600" y="5229225"/>
            <a:ext cx="4876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Consolas"/>
                <a:ea typeface="Consolas"/>
                <a:cs typeface="Consolas"/>
              </a:defRPr>
            </a:defPPr>
            <a:lvl1pPr algn="l">
              <a:defRPr sz="1500" b="0">
                <a:solidFill>
                  <a:srgbClr val="4D5A68"/>
                </a:solidFill>
                <a:latin typeface="Consolas"/>
                <a:ea typeface="Consolas"/>
                <a:cs typeface="Consolas"/>
              </a:defRPr>
            </a:lvl1pPr>
            <a:lvl2pPr algn="l">
              <a:defRPr sz="1500" b="0">
                <a:solidFill>
                  <a:srgbClr val="4D5A68"/>
                </a:solidFill>
                <a:latin typeface="Consolas"/>
                <a:ea typeface="Consolas"/>
                <a:cs typeface="Consolas"/>
              </a:defRPr>
            </a:lvl2pPr>
            <a:lvl3pPr algn="l">
              <a:defRPr sz="1500" b="0">
                <a:solidFill>
                  <a:srgbClr val="4D5A68"/>
                </a:solidFill>
                <a:latin typeface="Consolas"/>
                <a:ea typeface="Consolas"/>
                <a:cs typeface="Consolas"/>
              </a:defRPr>
            </a:lvl3pPr>
            <a:lvl4pPr algn="l">
              <a:defRPr sz="1500" b="0">
                <a:solidFill>
                  <a:srgbClr val="4D5A68"/>
                </a:solidFill>
                <a:latin typeface="Consolas"/>
                <a:ea typeface="Consolas"/>
                <a:cs typeface="Consolas"/>
              </a:defRPr>
            </a:lvl4pPr>
            <a:lvl5pPr algn="l">
              <a:defRPr sz="1500" b="0">
                <a:solidFill>
                  <a:srgbClr val="4D5A68"/>
                </a:solidFill>
                <a:latin typeface="Consolas"/>
                <a:ea typeface="Consolas"/>
                <a:cs typeface="Consolas"/>
              </a:defRPr>
            </a:lvl5pPr>
            <a:lvl6pPr algn="l">
              <a:defRPr sz="1500" b="0">
                <a:solidFill>
                  <a:srgbClr val="4D5A68"/>
                </a:solidFill>
                <a:latin typeface="Consolas"/>
                <a:ea typeface="Consolas"/>
                <a:cs typeface="Consolas"/>
              </a:defRPr>
            </a:lvl6pPr>
            <a:lvl7pPr algn="l">
              <a:defRPr sz="1500" b="0">
                <a:solidFill>
                  <a:srgbClr val="4D5A68"/>
                </a:solidFill>
                <a:latin typeface="Consolas"/>
                <a:ea typeface="Consolas"/>
                <a:cs typeface="Consolas"/>
              </a:defRPr>
            </a:lvl7pPr>
            <a:lvl8pPr algn="l">
              <a:defRPr sz="1500" b="0">
                <a:solidFill>
                  <a:srgbClr val="4D5A68"/>
                </a:solidFill>
                <a:latin typeface="Consolas"/>
                <a:ea typeface="Consolas"/>
                <a:cs typeface="Consolas"/>
              </a:defRPr>
            </a:lvl8pPr>
            <a:lvl9pPr algn="l">
              <a:defRPr sz="1500" b="0">
                <a:solidFill>
                  <a:srgbClr val="4D5A68"/>
                </a:solidFill>
                <a:latin typeface="Consolas"/>
                <a:ea typeface="Consolas"/>
                <a:cs typeface="Consolas"/>
              </a:defRPr>
            </a:lvl9pPr>
          </a:lstStyle>
          <a:p xmlns:a="http://schemas.openxmlformats.org/drawingml/2006/main">
            <a:pPr algn="l">
              <a:defRPr sz="1500" b="0">
                <a:solidFill>
                  <a:srgbClr val="4D5A68"/>
                </a:solidFill>
                <a:latin typeface="Consolas"/>
                <a:ea typeface="Consolas"/>
                <a:cs typeface="Consolas"/>
              </a:defRPr>
            </a:pPr>
            <a:r>
              <a:rPr sz="1500" b="0">
                <a:solidFill>
                  <a:srgbClr val="4D5A68"/>
                </a:solidFill>
                <a:latin typeface="Consolas"/>
                <a:ea typeface="Consolas"/>
                <a:cs typeface="Consolas"/>
              </a:rPr>
              <a:t>arxiv.org/abs/2406.06025</a:t>
            </a:r>
          </a:p>
        </p:txBody>
      </p:sp>
    </p:spTree>
    <p:extLst>
      <p:ext uri="{BB962C8B-B14F-4D97-AF65-F5344CB8AC3E}">
        <p14:creationId xmlns:p14="http://schemas.microsoft.com/office/powerpoint/2010/main" val="1148774520"/>
      </p:ext>
    </p:extLst>
  </p:cSld>
</p:sld>
</file>

<file path=ppt/slides/slide3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2 · Context를 찾게 하는 설계">
            <a:extLst xmlns:a="http://schemas.openxmlformats.org/drawingml/2006/main">
              <a:ext uri="{FF2B5EF4-FFF2-40B4-BE49-F238E27FC236}">
                <a16:creationId xmlns:a16="http://schemas.microsoft.com/office/drawing/2014/main" id="{24797ABF-E065-48C1-B1F3-9C1E6E13840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Context를 찾게 하는 설계</a:t>
            </a:r>
          </a:p>
        </p:txBody>
      </p:sp>
      <p:sp>
        <p:nvSpPr>
          <p:cNvPr id="2" name="S30">
            <a:extLst xmlns:a="http://schemas.openxmlformats.org/drawingml/2006/main">
              <a:ext uri="{FF2B5EF4-FFF2-40B4-BE49-F238E27FC236}">
                <a16:creationId xmlns:a16="http://schemas.microsoft.com/office/drawing/2014/main" id="{3B4F0B84-486A-480E-AAE0-A07A524FDE3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필요한 상세 정보로 가는 길">
            <a:extLst xmlns:a="http://schemas.openxmlformats.org/drawingml/2006/main">
              <a:ext uri="{FF2B5EF4-FFF2-40B4-BE49-F238E27FC236}">
                <a16:creationId xmlns:a16="http://schemas.microsoft.com/office/drawing/2014/main" id="{C5DAEF7E-5335-4F26-8650-EA0F28BFAE4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B9129DD3-12F3-4666-846A-D6C24E2E248B}"/>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Routing 모델 · 실제 문서 접근 결과는 다음 구간에서 확인">
            <a:extLst xmlns:a="http://schemas.openxmlformats.org/drawingml/2006/main">
              <a:ext uri="{FF2B5EF4-FFF2-40B4-BE49-F238E27FC236}">
                <a16:creationId xmlns:a16="http://schemas.microsoft.com/office/drawing/2014/main" id="{E4CB831B-2FB2-4B3C-B4E1-6753C2498299}"/>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Routing 모델 · 실제 문서 접근 결과는 다음 구간에서 확인</a:t>
            </a:r>
          </a:p>
        </p:txBody>
      </p:sp>
      <p:sp>
        <p:nvSpPr>
          <p:cNvPr id="6" name="검색 성능 향상이나 토큰 절약을 입증한 그림이 아님">
            <a:extLst xmlns:a="http://schemas.openxmlformats.org/drawingml/2006/main">
              <a:ext uri="{FF2B5EF4-FFF2-40B4-BE49-F238E27FC236}">
                <a16:creationId xmlns:a16="http://schemas.microsoft.com/office/drawing/2014/main" id="{EC903218-3E7B-4113-8022-650105C8A95D}"/>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검색 성능 향상이나 토큰 절약을 입증한 그림이 아님</a:t>
            </a:r>
          </a:p>
        </p:txBody>
      </p:sp>
      <p:sp>
        <p:nvSpPr>
          <p:cNvPr id="7" name="어떤 질문에서 어떤 상세 정보가 필요할까?">
            <a:extLst xmlns:a="http://schemas.openxmlformats.org/drawingml/2006/main">
              <a:ext uri="{FF2B5EF4-FFF2-40B4-BE49-F238E27FC236}">
                <a16:creationId xmlns:a16="http://schemas.microsoft.com/office/drawing/2014/main" id="{B4DBFF7F-1532-4F76-B6EE-51722C1C6BB7}"/>
              </a:ext>
            </a:extLst>
          </p:cNvPr>
          <p:cNvSpPr>
            <a:spLocks xmlns:a="http://schemas.openxmlformats.org/drawingml/2006/main" noGrp="1"/>
          </p:cNvSpPr>
          <p:nvPr/>
        </p:nvSpPr>
        <p:spPr>
          <a:xfrm xmlns:a="http://schemas.openxmlformats.org/drawingml/2006/main">
            <a:off x="609600" y="21812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어떤 질문에서 어떤 상세 정보가 필요할까?</a:t>
            </a:r>
          </a:p>
        </p:txBody>
      </p:sp>
      <p:sp>
        <p:nvSpPr>
          <p:cNvPr id="8" name="">
            <a:extLst xmlns:a="http://schemas.openxmlformats.org/drawingml/2006/main">
              <a:ext uri="{FF2B5EF4-FFF2-40B4-BE49-F238E27FC236}">
                <a16:creationId xmlns:a16="http://schemas.microsoft.com/office/drawing/2014/main" id="{516F8954-E6EA-42FC-B317-0016904EAA21}"/>
              </a:ext>
            </a:extLst>
          </p:cNvPr>
          <p:cNvSpPr>
            <a:spLocks xmlns:a="http://schemas.openxmlformats.org/drawingml/2006/main" noGrp="1"/>
          </p:cNvSpPr>
          <p:nvPr/>
        </p:nvSpPr>
        <p:spPr>
          <a:xfrm xmlns:a="http://schemas.openxmlformats.org/drawingml/2006/main">
            <a:off x="609600" y="2962275"/>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Task">
            <a:extLst xmlns:a="http://schemas.openxmlformats.org/drawingml/2006/main">
              <a:ext uri="{FF2B5EF4-FFF2-40B4-BE49-F238E27FC236}">
                <a16:creationId xmlns:a16="http://schemas.microsoft.com/office/drawing/2014/main" id="{769B1ED6-9593-457A-8432-0DBF735B2B33}"/>
              </a:ext>
            </a:extLst>
          </p:cNvPr>
          <p:cNvSpPr>
            <a:spLocks xmlns:a="http://schemas.openxmlformats.org/drawingml/2006/main" noGrp="1"/>
          </p:cNvSpPr>
          <p:nvPr/>
        </p:nvSpPr>
        <p:spPr>
          <a:xfrm xmlns:a="http://schemas.openxmlformats.org/drawingml/2006/main">
            <a:off x="609600" y="3152775"/>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Task</a:t>
            </a:r>
          </a:p>
        </p:txBody>
      </p:sp>
      <p:sp>
        <p:nvSpPr>
          <p:cNvPr id="10" name="지금 해결할 질문">
            <a:extLst xmlns:a="http://schemas.openxmlformats.org/drawingml/2006/main">
              <a:ext uri="{FF2B5EF4-FFF2-40B4-BE49-F238E27FC236}">
                <a16:creationId xmlns:a16="http://schemas.microsoft.com/office/drawing/2014/main" id="{1FB64715-0CC5-4410-8E58-89842A83EF99}"/>
              </a:ext>
            </a:extLst>
          </p:cNvPr>
          <p:cNvSpPr>
            <a:spLocks xmlns:a="http://schemas.openxmlformats.org/drawingml/2006/main" noGrp="1"/>
          </p:cNvSpPr>
          <p:nvPr/>
        </p:nvSpPr>
        <p:spPr>
          <a:xfrm xmlns:a="http://schemas.openxmlformats.org/drawingml/2006/main">
            <a:off x="609600" y="3914775"/>
            <a:ext cx="33909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지금 해결할 질문</a:t>
            </a:r>
          </a:p>
        </p:txBody>
      </p:sp>
      <p:sp>
        <p:nvSpPr>
          <p:cNvPr id="11" name="">
            <a:extLst xmlns:a="http://schemas.openxmlformats.org/drawingml/2006/main">
              <a:ext uri="{FF2B5EF4-FFF2-40B4-BE49-F238E27FC236}">
                <a16:creationId xmlns:a16="http://schemas.microsoft.com/office/drawing/2014/main" id="{8CCDE65D-A115-4607-91CD-FE88E072C613}"/>
              </a:ext>
            </a:extLst>
          </p:cNvPr>
          <p:cNvSpPr>
            <a:spLocks xmlns:a="http://schemas.openxmlformats.org/drawingml/2006/main" noGrp="1"/>
          </p:cNvSpPr>
          <p:nvPr/>
        </p:nvSpPr>
        <p:spPr>
          <a:xfrm xmlns:a="http://schemas.openxmlformats.org/drawingml/2006/main">
            <a:off x="4086225" y="3381375"/>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1CD64674-4CB7-479B-AD87-27F10C00A52E}"/>
              </a:ext>
            </a:extLst>
          </p:cNvPr>
          <p:cNvSpPr>
            <a:spLocks xmlns:a="http://schemas.openxmlformats.org/drawingml/2006/main" noGrp="1"/>
          </p:cNvSpPr>
          <p:nvPr/>
        </p:nvSpPr>
        <p:spPr>
          <a:xfrm xmlns:a="http://schemas.openxmlformats.org/drawingml/2006/main">
            <a:off x="4400550" y="2962275"/>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Core Context">
            <a:extLst xmlns:a="http://schemas.openxmlformats.org/drawingml/2006/main">
              <a:ext uri="{FF2B5EF4-FFF2-40B4-BE49-F238E27FC236}">
                <a16:creationId xmlns:a16="http://schemas.microsoft.com/office/drawing/2014/main" id="{A5DFC66E-6853-4750-BB66-279C8BD4B76B}"/>
              </a:ext>
            </a:extLst>
          </p:cNvPr>
          <p:cNvSpPr>
            <a:spLocks xmlns:a="http://schemas.openxmlformats.org/drawingml/2006/main" noGrp="1"/>
          </p:cNvSpPr>
          <p:nvPr/>
        </p:nvSpPr>
        <p:spPr>
          <a:xfrm xmlns:a="http://schemas.openxmlformats.org/drawingml/2006/main">
            <a:off x="4400550" y="3152775"/>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Core Context</a:t>
            </a:r>
          </a:p>
        </p:txBody>
      </p:sp>
      <p:sp>
        <p:nvSpPr>
          <p:cNvPr id="14" name="프로젝트 안내와&#10;찾아갈 위치">
            <a:extLst xmlns:a="http://schemas.openxmlformats.org/drawingml/2006/main">
              <a:ext uri="{FF2B5EF4-FFF2-40B4-BE49-F238E27FC236}">
                <a16:creationId xmlns:a16="http://schemas.microsoft.com/office/drawing/2014/main" id="{C0C35E75-ECD0-4AE6-BBF2-A9D3238D308E}"/>
              </a:ext>
            </a:extLst>
          </p:cNvPr>
          <p:cNvSpPr>
            <a:spLocks xmlns:a="http://schemas.openxmlformats.org/drawingml/2006/main" noGrp="1"/>
          </p:cNvSpPr>
          <p:nvPr/>
        </p:nvSpPr>
        <p:spPr>
          <a:xfrm xmlns:a="http://schemas.openxmlformats.org/drawingml/2006/main">
            <a:off x="4400550" y="3914775"/>
            <a:ext cx="33909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프로젝트 안내와</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찾아갈 위치</a:t>
            </a:r>
          </a:p>
        </p:txBody>
      </p:sp>
      <p:sp>
        <p:nvSpPr>
          <p:cNvPr id="15" name="">
            <a:extLst xmlns:a="http://schemas.openxmlformats.org/drawingml/2006/main">
              <a:ext uri="{FF2B5EF4-FFF2-40B4-BE49-F238E27FC236}">
                <a16:creationId xmlns:a16="http://schemas.microsoft.com/office/drawing/2014/main" id="{DD1BBCD4-C7E0-44A9-A140-D50E6084AD87}"/>
              </a:ext>
            </a:extLst>
          </p:cNvPr>
          <p:cNvSpPr>
            <a:spLocks xmlns:a="http://schemas.openxmlformats.org/drawingml/2006/main" noGrp="1"/>
          </p:cNvSpPr>
          <p:nvPr/>
        </p:nvSpPr>
        <p:spPr>
          <a:xfrm xmlns:a="http://schemas.openxmlformats.org/drawingml/2006/main">
            <a:off x="7877175" y="3381375"/>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A0C60AC5-0EFF-495E-BE9F-FCDE8E9DF457}"/>
              </a:ext>
            </a:extLst>
          </p:cNvPr>
          <p:cNvSpPr>
            <a:spLocks xmlns:a="http://schemas.openxmlformats.org/drawingml/2006/main" noGrp="1"/>
          </p:cNvSpPr>
          <p:nvPr/>
        </p:nvSpPr>
        <p:spPr>
          <a:xfrm xmlns:a="http://schemas.openxmlformats.org/drawingml/2006/main">
            <a:off x="8191500" y="2962275"/>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련 상세 정보">
            <a:extLst xmlns:a="http://schemas.openxmlformats.org/drawingml/2006/main">
              <a:ext uri="{FF2B5EF4-FFF2-40B4-BE49-F238E27FC236}">
                <a16:creationId xmlns:a16="http://schemas.microsoft.com/office/drawing/2014/main" id="{92689CE7-04BE-46C1-BF44-19CE5EB989C0}"/>
              </a:ext>
            </a:extLst>
          </p:cNvPr>
          <p:cNvSpPr>
            <a:spLocks xmlns:a="http://schemas.openxmlformats.org/drawingml/2006/main" noGrp="1"/>
          </p:cNvSpPr>
          <p:nvPr/>
        </p:nvSpPr>
        <p:spPr>
          <a:xfrm xmlns:a="http://schemas.openxmlformats.org/drawingml/2006/main">
            <a:off x="8191500" y="3152775"/>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관련 상세 정보</a:t>
            </a:r>
          </a:p>
        </p:txBody>
      </p:sp>
      <p:sp>
        <p:nvSpPr>
          <p:cNvPr id="18" name="질문에 필요한&#10;계약 · 구조 · 테스트">
            <a:extLst xmlns:a="http://schemas.openxmlformats.org/drawingml/2006/main">
              <a:ext uri="{FF2B5EF4-FFF2-40B4-BE49-F238E27FC236}">
                <a16:creationId xmlns:a16="http://schemas.microsoft.com/office/drawing/2014/main" id="{BA26FB1B-1C4A-438B-A1A3-579C9D5EF376}"/>
              </a:ext>
            </a:extLst>
          </p:cNvPr>
          <p:cNvSpPr>
            <a:spLocks xmlns:a="http://schemas.openxmlformats.org/drawingml/2006/main" noGrp="1"/>
          </p:cNvSpPr>
          <p:nvPr/>
        </p:nvSpPr>
        <p:spPr>
          <a:xfrm xmlns:a="http://schemas.openxmlformats.org/drawingml/2006/main">
            <a:off x="8191500" y="3914775"/>
            <a:ext cx="33909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질문에 필요한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계약 · 구조 · 테스트</a:t>
            </a:r>
          </a:p>
        </p:txBody>
      </p:sp>
      <p:sp>
        <p:nvSpPr>
          <p:cNvPr id="19" name="C++ 예: 공통 제약을 확인한 뒤, 해당 알고리즘의 계약으로">
            <a:extLst xmlns:a="http://schemas.openxmlformats.org/drawingml/2006/main">
              <a:ext uri="{FF2B5EF4-FFF2-40B4-BE49-F238E27FC236}">
                <a16:creationId xmlns:a16="http://schemas.microsoft.com/office/drawing/2014/main" id="{A4919247-8352-4E9F-A63A-3BD79ED4F234}"/>
              </a:ext>
            </a:extLst>
          </p:cNvPr>
          <p:cNvSpPr>
            <a:spLocks xmlns:a="http://schemas.openxmlformats.org/drawingml/2006/main" noGrp="1"/>
          </p:cNvSpPr>
          <p:nvPr/>
        </p:nvSpPr>
        <p:spPr>
          <a:xfrm xmlns:a="http://schemas.openxmlformats.org/drawingml/2006/main">
            <a:off x="609600" y="52768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C++ 예: 공통 제약을 확인한 뒤, 해당 알고리즘의 계약으로</a:t>
            </a:r>
          </a:p>
        </p:txBody>
      </p:sp>
    </p:spTree>
    <p:extLst>
      <p:ext uri="{BB962C8B-B14F-4D97-AF65-F5344CB8AC3E}">
        <p14:creationId xmlns:p14="http://schemas.microsoft.com/office/powerpoint/2010/main" val="435878554"/>
      </p:ext>
    </p:extLst>
  </p:cSld>
</p:sld>
</file>

<file path=ppt/slides/slide3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2 · 기본 안내와 상세 정보">
            <a:extLst xmlns:a="http://schemas.openxmlformats.org/drawingml/2006/main">
              <a:ext uri="{FF2B5EF4-FFF2-40B4-BE49-F238E27FC236}">
                <a16:creationId xmlns:a16="http://schemas.microsoft.com/office/drawing/2014/main" id="{9AAA4B50-8A06-4CF3-9424-F0BE55AED37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기본 안내와 상세 정보</a:t>
            </a:r>
          </a:p>
        </p:txBody>
      </p:sp>
      <p:sp>
        <p:nvSpPr>
          <p:cNvPr id="2" name="S31">
            <a:extLst xmlns:a="http://schemas.openxmlformats.org/drawingml/2006/main">
              <a:ext uri="{FF2B5EF4-FFF2-40B4-BE49-F238E27FC236}">
                <a16:creationId xmlns:a16="http://schemas.microsoft.com/office/drawing/2014/main" id="{0310AFE3-3F8B-4C56-837C-8EDEDB93E91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Core Context에서 상세 정보로 가는 길">
            <a:extLst xmlns:a="http://schemas.openxmlformats.org/drawingml/2006/main">
              <a:ext uri="{FF2B5EF4-FFF2-40B4-BE49-F238E27FC236}">
                <a16:creationId xmlns:a16="http://schemas.microsoft.com/office/drawing/2014/main" id="{8AB0249A-512E-4734-8E86-FDECD693C26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Core Context에서 상세 정보로 가는 길</a:t>
            </a:r>
          </a:p>
        </p:txBody>
      </p:sp>
      <p:sp>
        <p:nvSpPr>
          <p:cNvPr id="4" name="">
            <a:extLst xmlns:a="http://schemas.openxmlformats.org/drawingml/2006/main">
              <a:ext uri="{FF2B5EF4-FFF2-40B4-BE49-F238E27FC236}">
                <a16:creationId xmlns:a16="http://schemas.microsoft.com/office/drawing/2014/main" id="{3FECE90D-5A11-443D-A971-12CD5BF98039}"/>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정보 설계 · Root/Core는 상세 정보의 출발점">
            <a:extLst xmlns:a="http://schemas.openxmlformats.org/drawingml/2006/main">
              <a:ext uri="{FF2B5EF4-FFF2-40B4-BE49-F238E27FC236}">
                <a16:creationId xmlns:a16="http://schemas.microsoft.com/office/drawing/2014/main" id="{6D62F4F9-6D56-4334-AC8F-6CDCAD19E296}"/>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정보 설계 · Root/Core는 상세 정보의 출발점</a:t>
            </a:r>
          </a:p>
        </p:txBody>
      </p:sp>
      <p:sp>
        <p:nvSpPr>
          <p:cNvPr id="6" name="C++ 예: build/test 진입점과 기본 제약 → 알고리즘 계약·하드웨어 조건">
            <a:extLst xmlns:a="http://schemas.openxmlformats.org/drawingml/2006/main">
              <a:ext uri="{FF2B5EF4-FFF2-40B4-BE49-F238E27FC236}">
                <a16:creationId xmlns:a16="http://schemas.microsoft.com/office/drawing/2014/main" id="{A8928D9F-872C-490A-9D04-A93E173F67CA}"/>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 예: build/test 진입점과 기본 제약 → 알고리즘 계약·하드웨어 조건</a:t>
            </a:r>
          </a:p>
        </p:txBody>
      </p:sp>
      <p:sp>
        <p:nvSpPr>
          <p:cNvPr id="7" name="기본 안내에 남기는 것">
            <a:extLst xmlns:a="http://schemas.openxmlformats.org/drawingml/2006/main">
              <a:ext uri="{FF2B5EF4-FFF2-40B4-BE49-F238E27FC236}">
                <a16:creationId xmlns:a16="http://schemas.microsoft.com/office/drawing/2014/main" id="{32CC9758-DB79-4C6D-9201-E8A8EA59B530}"/>
              </a:ext>
            </a:extLst>
          </p:cNvPr>
          <p:cNvSpPr>
            <a:spLocks xmlns:a="http://schemas.openxmlformats.org/drawingml/2006/main" noGrp="1"/>
          </p:cNvSpPr>
          <p:nvPr/>
        </p:nvSpPr>
        <p:spPr>
          <a:xfrm xmlns:a="http://schemas.openxmlformats.org/drawingml/2006/main">
            <a:off x="609600" y="2219325"/>
            <a:ext cx="43624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기본 안내에 남기는 것</a:t>
            </a:r>
          </a:p>
        </p:txBody>
      </p:sp>
      <p:sp>
        <p:nvSpPr>
          <p:cNvPr id="8" name="">
            <a:extLst xmlns:a="http://schemas.openxmlformats.org/drawingml/2006/main">
              <a:ext uri="{FF2B5EF4-FFF2-40B4-BE49-F238E27FC236}">
                <a16:creationId xmlns:a16="http://schemas.microsoft.com/office/drawing/2014/main" id="{0A23E03A-94D9-43BE-8AF4-C7534D696EAC}"/>
              </a:ext>
            </a:extLst>
          </p:cNvPr>
          <p:cNvSpPr>
            <a:spLocks xmlns:a="http://schemas.openxmlformats.org/drawingml/2006/main" noGrp="1"/>
          </p:cNvSpPr>
          <p:nvPr/>
        </p:nvSpPr>
        <p:spPr>
          <a:xfrm xmlns:a="http://schemas.openxmlformats.org/drawingml/2006/main">
            <a:off x="609600" y="2828925"/>
            <a:ext cx="4362450" cy="2133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9" name="프로젝트의 목적&#10;항상 지켜야 할 제약&#10;상세 정보를 찾을 위치">
            <a:extLst xmlns:a="http://schemas.openxmlformats.org/drawingml/2006/main">
              <a:ext uri="{FF2B5EF4-FFF2-40B4-BE49-F238E27FC236}">
                <a16:creationId xmlns:a16="http://schemas.microsoft.com/office/drawing/2014/main" id="{CFEBDADF-303A-4272-8FF9-B8B03B017278}"/>
              </a:ext>
            </a:extLst>
          </p:cNvPr>
          <p:cNvSpPr>
            <a:spLocks xmlns:a="http://schemas.openxmlformats.org/drawingml/2006/main" noGrp="1"/>
          </p:cNvSpPr>
          <p:nvPr/>
        </p:nvSpPr>
        <p:spPr>
          <a:xfrm xmlns:a="http://schemas.openxmlformats.org/drawingml/2006/main">
            <a:off x="838200" y="3048000"/>
            <a:ext cx="3905250" cy="1581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프로젝트의 목적</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항상 지켜야 할 제약</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상세 정보를 찾을 위치</a:t>
            </a:r>
          </a:p>
        </p:txBody>
      </p:sp>
      <p:sp>
        <p:nvSpPr>
          <p:cNvPr id="10" name="">
            <a:extLst xmlns:a="http://schemas.openxmlformats.org/drawingml/2006/main">
              <a:ext uri="{FF2B5EF4-FFF2-40B4-BE49-F238E27FC236}">
                <a16:creationId xmlns:a16="http://schemas.microsoft.com/office/drawing/2014/main" id="{7F9F910C-6C4B-4C94-B2F1-F6DBDDFC33BB}"/>
              </a:ext>
            </a:extLst>
          </p:cNvPr>
          <p:cNvSpPr>
            <a:spLocks xmlns:a="http://schemas.openxmlformats.org/drawingml/2006/main" noGrp="1"/>
          </p:cNvSpPr>
          <p:nvPr/>
        </p:nvSpPr>
        <p:spPr>
          <a:xfrm xmlns:a="http://schemas.openxmlformats.org/drawingml/2006/main">
            <a:off x="5353050" y="3657600"/>
            <a:ext cx="542925" cy="2857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필요할 때 펼치는 것">
            <a:extLst xmlns:a="http://schemas.openxmlformats.org/drawingml/2006/main">
              <a:ext uri="{FF2B5EF4-FFF2-40B4-BE49-F238E27FC236}">
                <a16:creationId xmlns:a16="http://schemas.microsoft.com/office/drawing/2014/main" id="{37C9525A-0F48-4993-A14F-B0F6265FA6DF}"/>
              </a:ext>
            </a:extLst>
          </p:cNvPr>
          <p:cNvSpPr>
            <a:spLocks xmlns:a="http://schemas.openxmlformats.org/drawingml/2006/main" noGrp="1"/>
          </p:cNvSpPr>
          <p:nvPr/>
        </p:nvSpPr>
        <p:spPr>
          <a:xfrm xmlns:a="http://schemas.openxmlformats.org/drawingml/2006/main">
            <a:off x="6477000" y="2219325"/>
            <a:ext cx="5105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필요할 때 펼치는 것</a:t>
            </a:r>
          </a:p>
        </p:txBody>
      </p:sp>
      <p:sp>
        <p:nvSpPr>
          <p:cNvPr id="12" name="">
            <a:extLst xmlns:a="http://schemas.openxmlformats.org/drawingml/2006/main">
              <a:ext uri="{FF2B5EF4-FFF2-40B4-BE49-F238E27FC236}">
                <a16:creationId xmlns:a16="http://schemas.microsoft.com/office/drawing/2014/main" id="{EF1EB9EE-85FC-47F4-8E00-54FE72C18A36}"/>
              </a:ext>
            </a:extLst>
          </p:cNvPr>
          <p:cNvSpPr>
            <a:spLocks xmlns:a="http://schemas.openxmlformats.org/drawingml/2006/main" noGrp="1"/>
          </p:cNvSpPr>
          <p:nvPr/>
        </p:nvSpPr>
        <p:spPr>
          <a:xfrm xmlns:a="http://schemas.openxmlformats.org/drawingml/2006/main">
            <a:off x="6477000" y="2838450"/>
            <a:ext cx="5105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architecture">
            <a:extLst xmlns:a="http://schemas.openxmlformats.org/drawingml/2006/main">
              <a:ext uri="{FF2B5EF4-FFF2-40B4-BE49-F238E27FC236}">
                <a16:creationId xmlns:a16="http://schemas.microsoft.com/office/drawing/2014/main" id="{1AC9CE13-E38C-452A-88DF-EBFFF95493B1}"/>
              </a:ext>
            </a:extLst>
          </p:cNvPr>
          <p:cNvSpPr>
            <a:spLocks xmlns:a="http://schemas.openxmlformats.org/drawingml/2006/main" noGrp="1"/>
          </p:cNvSpPr>
          <p:nvPr/>
        </p:nvSpPr>
        <p:spPr>
          <a:xfrm xmlns:a="http://schemas.openxmlformats.org/drawingml/2006/main">
            <a:off x="6477000" y="2933700"/>
            <a:ext cx="2190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architecture</a:t>
            </a:r>
          </a:p>
        </p:txBody>
      </p:sp>
      <p:sp>
        <p:nvSpPr>
          <p:cNvPr id="14" name="모듈과 처리 순서">
            <a:extLst xmlns:a="http://schemas.openxmlformats.org/drawingml/2006/main">
              <a:ext uri="{FF2B5EF4-FFF2-40B4-BE49-F238E27FC236}">
                <a16:creationId xmlns:a16="http://schemas.microsoft.com/office/drawing/2014/main" id="{2BD1D068-7AE9-423E-88C1-E0C536802A20}"/>
              </a:ext>
            </a:extLst>
          </p:cNvPr>
          <p:cNvSpPr>
            <a:spLocks xmlns:a="http://schemas.openxmlformats.org/drawingml/2006/main" noGrp="1"/>
          </p:cNvSpPr>
          <p:nvPr/>
        </p:nvSpPr>
        <p:spPr>
          <a:xfrm xmlns:a="http://schemas.openxmlformats.org/drawingml/2006/main">
            <a:off x="8763000" y="2933700"/>
            <a:ext cx="2819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모듈과 처리 순서</a:t>
            </a:r>
          </a:p>
        </p:txBody>
      </p:sp>
      <p:sp>
        <p:nvSpPr>
          <p:cNvPr id="15" name="">
            <a:extLst xmlns:a="http://schemas.openxmlformats.org/drawingml/2006/main">
              <a:ext uri="{FF2B5EF4-FFF2-40B4-BE49-F238E27FC236}">
                <a16:creationId xmlns:a16="http://schemas.microsoft.com/office/drawing/2014/main" id="{E7DE59DF-0326-4B86-9C6E-A28C48B861D5}"/>
              </a:ext>
            </a:extLst>
          </p:cNvPr>
          <p:cNvSpPr>
            <a:spLocks xmlns:a="http://schemas.openxmlformats.org/drawingml/2006/main" noGrp="1"/>
          </p:cNvSpPr>
          <p:nvPr/>
        </p:nvSpPr>
        <p:spPr>
          <a:xfrm xmlns:a="http://schemas.openxmlformats.org/drawingml/2006/main">
            <a:off x="6477000" y="3581400"/>
            <a:ext cx="5105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image contracts">
            <a:extLst xmlns:a="http://schemas.openxmlformats.org/drawingml/2006/main">
              <a:ext uri="{FF2B5EF4-FFF2-40B4-BE49-F238E27FC236}">
                <a16:creationId xmlns:a16="http://schemas.microsoft.com/office/drawing/2014/main" id="{E80141DA-4C63-4866-89AC-60F703898FF8}"/>
              </a:ext>
            </a:extLst>
          </p:cNvPr>
          <p:cNvSpPr>
            <a:spLocks xmlns:a="http://schemas.openxmlformats.org/drawingml/2006/main" noGrp="1"/>
          </p:cNvSpPr>
          <p:nvPr/>
        </p:nvSpPr>
        <p:spPr>
          <a:xfrm xmlns:a="http://schemas.openxmlformats.org/drawingml/2006/main">
            <a:off x="6477000" y="3676650"/>
            <a:ext cx="2190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image contracts</a:t>
            </a:r>
          </a:p>
        </p:txBody>
      </p:sp>
      <p:sp>
        <p:nvSpPr>
          <p:cNvPr id="17" name="이미지 동작의 계약">
            <a:extLst xmlns:a="http://schemas.openxmlformats.org/drawingml/2006/main">
              <a:ext uri="{FF2B5EF4-FFF2-40B4-BE49-F238E27FC236}">
                <a16:creationId xmlns:a16="http://schemas.microsoft.com/office/drawing/2014/main" id="{AE6AB9E6-9206-479E-83FF-A7CD0AB4EA24}"/>
              </a:ext>
            </a:extLst>
          </p:cNvPr>
          <p:cNvSpPr>
            <a:spLocks xmlns:a="http://schemas.openxmlformats.org/drawingml/2006/main" noGrp="1"/>
          </p:cNvSpPr>
          <p:nvPr/>
        </p:nvSpPr>
        <p:spPr>
          <a:xfrm xmlns:a="http://schemas.openxmlformats.org/drawingml/2006/main">
            <a:off x="8763000" y="3676650"/>
            <a:ext cx="2819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이미지 동작의 계약</a:t>
            </a:r>
          </a:p>
        </p:txBody>
      </p:sp>
      <p:sp>
        <p:nvSpPr>
          <p:cNvPr id="18" name="">
            <a:extLst xmlns:a="http://schemas.openxmlformats.org/drawingml/2006/main">
              <a:ext uri="{FF2B5EF4-FFF2-40B4-BE49-F238E27FC236}">
                <a16:creationId xmlns:a16="http://schemas.microsoft.com/office/drawing/2014/main" id="{BD79DB7A-6ECD-4853-BBA9-D6A384D7E087}"/>
              </a:ext>
            </a:extLst>
          </p:cNvPr>
          <p:cNvSpPr>
            <a:spLocks xmlns:a="http://schemas.openxmlformats.org/drawingml/2006/main" noGrp="1"/>
          </p:cNvSpPr>
          <p:nvPr/>
        </p:nvSpPr>
        <p:spPr>
          <a:xfrm xmlns:a="http://schemas.openxmlformats.org/drawingml/2006/main">
            <a:off x="6477000" y="4324350"/>
            <a:ext cx="5105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testing">
            <a:extLst xmlns:a="http://schemas.openxmlformats.org/drawingml/2006/main">
              <a:ext uri="{FF2B5EF4-FFF2-40B4-BE49-F238E27FC236}">
                <a16:creationId xmlns:a16="http://schemas.microsoft.com/office/drawing/2014/main" id="{C706AF04-D597-42BE-8E70-0B5683FF0E1E}"/>
              </a:ext>
            </a:extLst>
          </p:cNvPr>
          <p:cNvSpPr>
            <a:spLocks xmlns:a="http://schemas.openxmlformats.org/drawingml/2006/main" noGrp="1"/>
          </p:cNvSpPr>
          <p:nvPr/>
        </p:nvSpPr>
        <p:spPr>
          <a:xfrm xmlns:a="http://schemas.openxmlformats.org/drawingml/2006/main">
            <a:off x="6477000" y="4419600"/>
            <a:ext cx="2190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testing</a:t>
            </a:r>
          </a:p>
        </p:txBody>
      </p:sp>
      <p:sp>
        <p:nvSpPr>
          <p:cNvPr id="20" name="테스트 위치와 범위">
            <a:extLst xmlns:a="http://schemas.openxmlformats.org/drawingml/2006/main">
              <a:ext uri="{FF2B5EF4-FFF2-40B4-BE49-F238E27FC236}">
                <a16:creationId xmlns:a16="http://schemas.microsoft.com/office/drawing/2014/main" id="{19A75635-AB23-49B0-BC76-28FA4C171FD7}"/>
              </a:ext>
            </a:extLst>
          </p:cNvPr>
          <p:cNvSpPr>
            <a:spLocks xmlns:a="http://schemas.openxmlformats.org/drawingml/2006/main" noGrp="1"/>
          </p:cNvSpPr>
          <p:nvPr/>
        </p:nvSpPr>
        <p:spPr>
          <a:xfrm xmlns:a="http://schemas.openxmlformats.org/drawingml/2006/main">
            <a:off x="8763000" y="4419600"/>
            <a:ext cx="2819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테스트 위치와 범위</a:t>
            </a:r>
          </a:p>
        </p:txBody>
      </p:sp>
      <p:sp>
        <p:nvSpPr>
          <p:cNvPr id="21" name="모든 지식을 넣기보다, 상세 정보까지 가는 길을 안내한다">
            <a:extLst xmlns:a="http://schemas.openxmlformats.org/drawingml/2006/main">
              <a:ext uri="{FF2B5EF4-FFF2-40B4-BE49-F238E27FC236}">
                <a16:creationId xmlns:a16="http://schemas.microsoft.com/office/drawing/2014/main" id="{41D9210D-A9E5-46E0-88A7-9054A0B104E9}"/>
              </a:ext>
            </a:extLst>
          </p:cNvPr>
          <p:cNvSpPr>
            <a:spLocks xmlns:a="http://schemas.openxmlformats.org/drawingml/2006/main" noGrp="1"/>
          </p:cNvSpPr>
          <p:nvPr/>
        </p:nvSpPr>
        <p:spPr>
          <a:xfrm xmlns:a="http://schemas.openxmlformats.org/drawingml/2006/main">
            <a:off x="609600" y="52482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모든 지식을 넣기보다, 상세 정보까지 가는 길을 안내한다</a:t>
            </a:r>
          </a:p>
        </p:txBody>
      </p:sp>
    </p:spTree>
    <p:extLst>
      <p:ext uri="{BB962C8B-B14F-4D97-AF65-F5344CB8AC3E}">
        <p14:creationId xmlns:p14="http://schemas.microsoft.com/office/powerpoint/2010/main" val="804341220"/>
      </p:ext>
    </p:extLst>
  </p:cSld>
</p:sld>
</file>

<file path=ppt/slides/slide3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2 · STATE-03의 문서 구조">
            <a:extLst xmlns:a="http://schemas.openxmlformats.org/drawingml/2006/main">
              <a:ext uri="{FF2B5EF4-FFF2-40B4-BE49-F238E27FC236}">
                <a16:creationId xmlns:a16="http://schemas.microsoft.com/office/drawing/2014/main" id="{BF881396-1FC5-45FE-AEDC-6855C0F760B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STATE-03의 문서 구조</a:t>
            </a:r>
          </a:p>
        </p:txBody>
      </p:sp>
      <p:sp>
        <p:nvSpPr>
          <p:cNvPr id="2" name="S32">
            <a:extLst xmlns:a="http://schemas.openxmlformats.org/drawingml/2006/main">
              <a:ext uri="{FF2B5EF4-FFF2-40B4-BE49-F238E27FC236}">
                <a16:creationId xmlns:a16="http://schemas.microsoft.com/office/drawing/2014/main" id="{19413C75-D4BC-4359-A6E1-3C664618657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정보를 지우지 않고 위치를 나누기">
            <a:extLst xmlns:a="http://schemas.openxmlformats.org/drawingml/2006/main">
              <a:ext uri="{FF2B5EF4-FFF2-40B4-BE49-F238E27FC236}">
                <a16:creationId xmlns:a16="http://schemas.microsoft.com/office/drawing/2014/main" id="{33D64B62-D666-4A92-A5E3-DF8D7E458A4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9AA2722C-2615-4A87-918A-5CAE57E340C4}"/>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파일 구조와 Routing 문구 발췌">
            <a:extLst xmlns:a="http://schemas.openxmlformats.org/drawingml/2006/main">
              <a:ext uri="{FF2B5EF4-FFF2-40B4-BE49-F238E27FC236}">
                <a16:creationId xmlns:a16="http://schemas.microsoft.com/office/drawing/2014/main" id="{9066DD4E-1AA0-41D1-BBCB-8C2872C4F88D}"/>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파일 구조와 Routing 문구 발췌</a:t>
            </a:r>
          </a:p>
        </p:txBody>
      </p:sp>
      <p:sp>
        <p:nvSpPr>
          <p:cNvPr id="6" name="내용을 Scope에 맞춰 이동 · 구조 변화 자체가 완벽한 Routing이나 성능 향상 증거는 아님">
            <a:extLst xmlns:a="http://schemas.openxmlformats.org/drawingml/2006/main">
              <a:ext uri="{FF2B5EF4-FFF2-40B4-BE49-F238E27FC236}">
                <a16:creationId xmlns:a16="http://schemas.microsoft.com/office/drawing/2014/main" id="{4B8E1BFA-EDC1-4AF5-B673-B7A730E36C97}"/>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내용을 Scope에 맞춰 이동 · 구조 변화 자체가 완벽한 Routing이나 성능 향상 증거는 아님</a:t>
            </a:r>
          </a:p>
        </p:txBody>
      </p:sp>
      <p:sp>
        <p:nvSpPr>
          <p:cNvPr id="7" name="이전: AGENTS.md 안에 세부사항까지">
            <a:extLst xmlns:a="http://schemas.openxmlformats.org/drawingml/2006/main">
              <a:ext uri="{FF2B5EF4-FFF2-40B4-BE49-F238E27FC236}">
                <a16:creationId xmlns:a16="http://schemas.microsoft.com/office/drawing/2014/main" id="{D90DA265-6ECE-472C-84EB-90D0172AAC1A}"/>
              </a:ext>
            </a:extLst>
          </p:cNvPr>
          <p:cNvSpPr>
            <a:spLocks xmlns:a="http://schemas.openxmlformats.org/drawingml/2006/main" noGrp="1"/>
          </p:cNvSpPr>
          <p:nvPr/>
        </p:nvSpPr>
        <p:spPr>
          <a:xfrm xmlns:a="http://schemas.openxmlformats.org/drawingml/2006/main">
            <a:off x="609600" y="2133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이전: AGENTS.md 안에 세부사항까지</a:t>
            </a:r>
          </a:p>
        </p:txBody>
      </p:sp>
      <p:sp>
        <p:nvSpPr>
          <p:cNvPr id="8" name="이후: 기본 안내 + 상세 문서로 가는 링크">
            <a:extLst xmlns:a="http://schemas.openxmlformats.org/drawingml/2006/main">
              <a:ext uri="{FF2B5EF4-FFF2-40B4-BE49-F238E27FC236}">
                <a16:creationId xmlns:a16="http://schemas.microsoft.com/office/drawing/2014/main" id="{5EB4823C-38C6-4418-B313-EEE2A953F4A6}"/>
              </a:ext>
            </a:extLst>
          </p:cNvPr>
          <p:cNvSpPr>
            <a:spLocks xmlns:a="http://schemas.openxmlformats.org/drawingml/2006/main" noGrp="1"/>
          </p:cNvSpPr>
          <p:nvPr/>
        </p:nvSpPr>
        <p:spPr>
          <a:xfrm xmlns:a="http://schemas.openxmlformats.org/drawingml/2006/main">
            <a:off x="609600" y="262890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이후: 기본 안내 + 상세 문서로 가는 링크</a:t>
            </a:r>
          </a:p>
        </p:txBody>
      </p:sp>
      <p:sp>
        <p:nvSpPr>
          <p:cNvPr id="9" name="">
            <a:extLst xmlns:a="http://schemas.openxmlformats.org/drawingml/2006/main">
              <a:ext uri="{FF2B5EF4-FFF2-40B4-BE49-F238E27FC236}">
                <a16:creationId xmlns:a16="http://schemas.microsoft.com/office/drawing/2014/main" id="{85C40AE6-3952-45FA-A4E1-FBBE0FD2871B}"/>
              </a:ext>
            </a:extLst>
          </p:cNvPr>
          <p:cNvSpPr>
            <a:spLocks xmlns:a="http://schemas.openxmlformats.org/drawingml/2006/main" noGrp="1"/>
          </p:cNvSpPr>
          <p:nvPr/>
        </p:nvSpPr>
        <p:spPr>
          <a:xfrm xmlns:a="http://schemas.openxmlformats.org/drawingml/2006/main">
            <a:off x="609600" y="3286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처리 순서 · 모듈 역할">
            <a:extLst xmlns:a="http://schemas.openxmlformats.org/drawingml/2006/main">
              <a:ext uri="{FF2B5EF4-FFF2-40B4-BE49-F238E27FC236}">
                <a16:creationId xmlns:a16="http://schemas.microsoft.com/office/drawing/2014/main" id="{BFA043D2-591F-4C0D-A73A-906ACCB94D87}"/>
              </a:ext>
            </a:extLst>
          </p:cNvPr>
          <p:cNvSpPr>
            <a:spLocks xmlns:a="http://schemas.openxmlformats.org/drawingml/2006/main" noGrp="1"/>
          </p:cNvSpPr>
          <p:nvPr/>
        </p:nvSpPr>
        <p:spPr>
          <a:xfrm xmlns:a="http://schemas.openxmlformats.org/drawingml/2006/main">
            <a:off x="609600" y="337185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처리 순서 · 모듈 역할</a:t>
            </a:r>
          </a:p>
        </p:txBody>
      </p:sp>
      <p:sp>
        <p:nvSpPr>
          <p:cNvPr id="11" name="">
            <a:extLst xmlns:a="http://schemas.openxmlformats.org/drawingml/2006/main">
              <a:ext uri="{FF2B5EF4-FFF2-40B4-BE49-F238E27FC236}">
                <a16:creationId xmlns:a16="http://schemas.microsoft.com/office/drawing/2014/main" id="{C7FCFD26-70B1-491F-BF21-6937858545B4}"/>
              </a:ext>
            </a:extLst>
          </p:cNvPr>
          <p:cNvSpPr>
            <a:spLocks xmlns:a="http://schemas.openxmlformats.org/drawingml/2006/main" noGrp="1"/>
          </p:cNvSpPr>
          <p:nvPr/>
        </p:nvSpPr>
        <p:spPr>
          <a:xfrm xmlns:a="http://schemas.openxmlformats.org/drawingml/2006/main">
            <a:off x="5762625" y="3476625"/>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docs/architecture.md">
            <a:extLst xmlns:a="http://schemas.openxmlformats.org/drawingml/2006/main">
              <a:ext uri="{FF2B5EF4-FFF2-40B4-BE49-F238E27FC236}">
                <a16:creationId xmlns:a16="http://schemas.microsoft.com/office/drawing/2014/main" id="{FC28205B-B090-4870-BAD2-33D46E3B7095}"/>
              </a:ext>
            </a:extLst>
          </p:cNvPr>
          <p:cNvSpPr>
            <a:spLocks xmlns:a="http://schemas.openxmlformats.org/drawingml/2006/main" noGrp="1"/>
          </p:cNvSpPr>
          <p:nvPr/>
        </p:nvSpPr>
        <p:spPr>
          <a:xfrm xmlns:a="http://schemas.openxmlformats.org/drawingml/2006/main">
            <a:off x="6705600" y="337185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397DA865-0B69-4566-9F61-9025DBC47050}"/>
              </a:ext>
            </a:extLst>
          </p:cNvPr>
          <p:cNvSpPr>
            <a:spLocks xmlns:a="http://schemas.openxmlformats.org/drawingml/2006/main" noGrp="1"/>
          </p:cNvSpPr>
          <p:nvPr/>
        </p:nvSpPr>
        <p:spPr>
          <a:xfrm xmlns:a="http://schemas.openxmlformats.org/drawingml/2006/main">
            <a:off x="609600" y="38671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이미지 형식 · crop · resize">
            <a:extLst xmlns:a="http://schemas.openxmlformats.org/drawingml/2006/main">
              <a:ext uri="{FF2B5EF4-FFF2-40B4-BE49-F238E27FC236}">
                <a16:creationId xmlns:a16="http://schemas.microsoft.com/office/drawing/2014/main" id="{E4917EE9-07D8-46BA-B8E5-39CB4F131BFE}"/>
              </a:ext>
            </a:extLst>
          </p:cNvPr>
          <p:cNvSpPr>
            <a:spLocks xmlns:a="http://schemas.openxmlformats.org/drawingml/2006/main" noGrp="1"/>
          </p:cNvSpPr>
          <p:nvPr/>
        </p:nvSpPr>
        <p:spPr>
          <a:xfrm xmlns:a="http://schemas.openxmlformats.org/drawingml/2006/main">
            <a:off x="609600" y="3952875"/>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이미지 형식 · crop · resize</a:t>
            </a:r>
          </a:p>
        </p:txBody>
      </p:sp>
      <p:sp>
        <p:nvSpPr>
          <p:cNvPr id="15" name="">
            <a:extLst xmlns:a="http://schemas.openxmlformats.org/drawingml/2006/main">
              <a:ext uri="{FF2B5EF4-FFF2-40B4-BE49-F238E27FC236}">
                <a16:creationId xmlns:a16="http://schemas.microsoft.com/office/drawing/2014/main" id="{D7DCACB1-FDBF-4826-8D23-967DAC2C25F4}"/>
              </a:ext>
            </a:extLst>
          </p:cNvPr>
          <p:cNvSpPr>
            <a:spLocks xmlns:a="http://schemas.openxmlformats.org/drawingml/2006/main" noGrp="1"/>
          </p:cNvSpPr>
          <p:nvPr/>
        </p:nvSpPr>
        <p:spPr>
          <a:xfrm xmlns:a="http://schemas.openxmlformats.org/drawingml/2006/main">
            <a:off x="5762625" y="4057650"/>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docs/image-contracts.md">
            <a:extLst xmlns:a="http://schemas.openxmlformats.org/drawingml/2006/main">
              <a:ext uri="{FF2B5EF4-FFF2-40B4-BE49-F238E27FC236}">
                <a16:creationId xmlns:a16="http://schemas.microsoft.com/office/drawing/2014/main" id="{AC0E307A-07FB-4C75-94EF-E24A850D4DE3}"/>
              </a:ext>
            </a:extLst>
          </p:cNvPr>
          <p:cNvSpPr>
            <a:spLocks xmlns:a="http://schemas.openxmlformats.org/drawingml/2006/main" noGrp="1"/>
          </p:cNvSpPr>
          <p:nvPr/>
        </p:nvSpPr>
        <p:spPr>
          <a:xfrm xmlns:a="http://schemas.openxmlformats.org/drawingml/2006/main">
            <a:off x="6705600" y="39528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docs/image-contracts.md</a:t>
            </a:r>
          </a:p>
        </p:txBody>
      </p:sp>
      <p:sp>
        <p:nvSpPr>
          <p:cNvPr id="17" name="">
            <a:extLst xmlns:a="http://schemas.openxmlformats.org/drawingml/2006/main">
              <a:ext uri="{FF2B5EF4-FFF2-40B4-BE49-F238E27FC236}">
                <a16:creationId xmlns:a16="http://schemas.microsoft.com/office/drawing/2014/main" id="{E87535F6-3A61-4CA6-9CB6-E4E0481638A9}"/>
              </a:ext>
            </a:extLst>
          </p:cNvPr>
          <p:cNvSpPr>
            <a:spLocks xmlns:a="http://schemas.openxmlformats.org/drawingml/2006/main" noGrp="1"/>
          </p:cNvSpPr>
          <p:nvPr/>
        </p:nvSpPr>
        <p:spPr>
          <a:xfrm xmlns:a="http://schemas.openxmlformats.org/drawingml/2006/main">
            <a:off x="609600" y="44481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테스트 구조 · 관련 테스트">
            <a:extLst xmlns:a="http://schemas.openxmlformats.org/drawingml/2006/main">
              <a:ext uri="{FF2B5EF4-FFF2-40B4-BE49-F238E27FC236}">
                <a16:creationId xmlns:a16="http://schemas.microsoft.com/office/drawing/2014/main" id="{FD27D9E0-3280-49C7-893A-DE502641E2A9}"/>
              </a:ext>
            </a:extLst>
          </p:cNvPr>
          <p:cNvSpPr>
            <a:spLocks xmlns:a="http://schemas.openxmlformats.org/drawingml/2006/main" noGrp="1"/>
          </p:cNvSpPr>
          <p:nvPr/>
        </p:nvSpPr>
        <p:spPr>
          <a:xfrm xmlns:a="http://schemas.openxmlformats.org/drawingml/2006/main">
            <a:off x="609600" y="453390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 구조 · 관련 테스트</a:t>
            </a:r>
          </a:p>
        </p:txBody>
      </p:sp>
      <p:sp>
        <p:nvSpPr>
          <p:cNvPr id="19" name="">
            <a:extLst xmlns:a="http://schemas.openxmlformats.org/drawingml/2006/main">
              <a:ext uri="{FF2B5EF4-FFF2-40B4-BE49-F238E27FC236}">
                <a16:creationId xmlns:a16="http://schemas.microsoft.com/office/drawing/2014/main" id="{12C64173-F8D5-4C4F-9A8B-FEFC14D99BE9}"/>
              </a:ext>
            </a:extLst>
          </p:cNvPr>
          <p:cNvSpPr>
            <a:spLocks xmlns:a="http://schemas.openxmlformats.org/drawingml/2006/main" noGrp="1"/>
          </p:cNvSpPr>
          <p:nvPr/>
        </p:nvSpPr>
        <p:spPr>
          <a:xfrm xmlns:a="http://schemas.openxmlformats.org/drawingml/2006/main">
            <a:off x="5762625" y="4638675"/>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docs/testing.md">
            <a:extLst xmlns:a="http://schemas.openxmlformats.org/drawingml/2006/main">
              <a:ext uri="{FF2B5EF4-FFF2-40B4-BE49-F238E27FC236}">
                <a16:creationId xmlns:a16="http://schemas.microsoft.com/office/drawing/2014/main" id="{AA9884B6-906C-4081-BA59-5FA4AAC9B9A0}"/>
              </a:ext>
            </a:extLst>
          </p:cNvPr>
          <p:cNvSpPr>
            <a:spLocks xmlns:a="http://schemas.openxmlformats.org/drawingml/2006/main" noGrp="1"/>
          </p:cNvSpPr>
          <p:nvPr/>
        </p:nvSpPr>
        <p:spPr>
          <a:xfrm xmlns:a="http://schemas.openxmlformats.org/drawingml/2006/main">
            <a:off x="6705600" y="45339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docs/testing.md</a:t>
            </a:r>
          </a:p>
        </p:txBody>
      </p:sp>
      <p:sp>
        <p:nvSpPr>
          <p:cNvPr id="21" name="원문: Test organization or relevant tests → docs/testing.md">
            <a:extLst xmlns:a="http://schemas.openxmlformats.org/drawingml/2006/main">
              <a:ext uri="{FF2B5EF4-FFF2-40B4-BE49-F238E27FC236}">
                <a16:creationId xmlns:a16="http://schemas.microsoft.com/office/drawing/2014/main" id="{0F666492-4853-42A1-8013-D12F3EBAF769}"/>
              </a:ext>
            </a:extLst>
          </p:cNvPr>
          <p:cNvSpPr>
            <a:spLocks xmlns:a="http://schemas.openxmlformats.org/drawingml/2006/main" noGrp="1"/>
          </p:cNvSpPr>
          <p:nvPr/>
        </p:nvSpPr>
        <p:spPr>
          <a:xfrm xmlns:a="http://schemas.openxmlformats.org/drawingml/2006/main">
            <a:off x="609600" y="52578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원문: Test organization or relevant tests → docs/testing.md</a:t>
            </a:r>
          </a:p>
        </p:txBody>
      </p:sp>
    </p:spTree>
    <p:extLst>
      <p:ext uri="{BB962C8B-B14F-4D97-AF65-F5344CB8AC3E}">
        <p14:creationId xmlns:p14="http://schemas.microsoft.com/office/powerpoint/2010/main" val="408508764"/>
      </p:ext>
    </p:extLst>
  </p:cSld>
</p:sld>
</file>

<file path=ppt/slides/slide3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2 · 관찰하기 전에 질문하기">
            <a:extLst xmlns:a="http://schemas.openxmlformats.org/drawingml/2006/main">
              <a:ext uri="{FF2B5EF4-FFF2-40B4-BE49-F238E27FC236}">
                <a16:creationId xmlns:a16="http://schemas.microsoft.com/office/drawing/2014/main" id="{AB05CA43-612D-4316-A6A3-055C0661DE0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33">
            <a:extLst xmlns:a="http://schemas.openxmlformats.org/drawingml/2006/main">
              <a:ext uri="{FF2B5EF4-FFF2-40B4-BE49-F238E27FC236}">
                <a16:creationId xmlns:a16="http://schemas.microsoft.com/office/drawing/2014/main" id="{296FCCE9-0874-41A2-88A9-7B2746A31E5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서로 다른 두 Task가 무엇을 읽을까?">
            <a:extLst xmlns:a="http://schemas.openxmlformats.org/drawingml/2006/main">
              <a:ext uri="{FF2B5EF4-FFF2-40B4-BE49-F238E27FC236}">
                <a16:creationId xmlns:a16="http://schemas.microsoft.com/office/drawing/2014/main" id="{34FD468B-CF73-4FC0-8E53-43230D5607F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BA35F4ED-3D98-4C12-A971-295C3CCE6061}"/>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읽기 전용 Task의 질문을 재구성">
            <a:extLst xmlns:a="http://schemas.openxmlformats.org/drawingml/2006/main">
              <a:ext uri="{FF2B5EF4-FFF2-40B4-BE49-F238E27FC236}">
                <a16:creationId xmlns:a16="http://schemas.microsoft.com/office/drawing/2014/main" id="{B3723379-1ECB-4B3F-922B-47971217081B}"/>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읽기 전용 Task의 질문을 재구성</a:t>
            </a:r>
          </a:p>
        </p:txBody>
      </p:sp>
      <p:sp>
        <p:nvSpPr>
          <p:cNvPr id="6" name="어떤 상세 문서를 읽을지는 실제 접근 기록으로 확인한다">
            <a:extLst xmlns:a="http://schemas.openxmlformats.org/drawingml/2006/main">
              <a:ext uri="{FF2B5EF4-FFF2-40B4-BE49-F238E27FC236}">
                <a16:creationId xmlns:a16="http://schemas.microsoft.com/office/drawing/2014/main" id="{ECB59160-9563-4F17-94B6-E9C027FA1308}"/>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어떤 상세 문서를 읽을지는 실제 접근 기록으로 확인한다</a:t>
            </a:r>
          </a:p>
        </p:txBody>
      </p:sp>
      <p:sp>
        <p:nvSpPr>
          <p:cNvPr id="7" name="Task A">
            <a:extLst xmlns:a="http://schemas.openxmlformats.org/drawingml/2006/main">
              <a:ext uri="{FF2B5EF4-FFF2-40B4-BE49-F238E27FC236}">
                <a16:creationId xmlns:a16="http://schemas.microsoft.com/office/drawing/2014/main" id="{9724642E-989B-406B-A42C-AD0B17F7172D}"/>
              </a:ext>
            </a:extLst>
          </p:cNvPr>
          <p:cNvSpPr>
            <a:spLocks xmlns:a="http://schemas.openxmlformats.org/drawingml/2006/main" noGrp="1"/>
          </p:cNvSpPr>
          <p:nvPr/>
        </p:nvSpPr>
        <p:spPr>
          <a:xfrm xmlns:a="http://schemas.openxmlformats.org/drawingml/2006/main">
            <a:off x="609600" y="2219325"/>
            <a:ext cx="4953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A</a:t>
            </a:r>
          </a:p>
        </p:txBody>
      </p:sp>
      <p:sp>
        <p:nvSpPr>
          <p:cNvPr id="8" name="Task B">
            <a:extLst xmlns:a="http://schemas.openxmlformats.org/drawingml/2006/main">
              <a:ext uri="{FF2B5EF4-FFF2-40B4-BE49-F238E27FC236}">
                <a16:creationId xmlns:a16="http://schemas.microsoft.com/office/drawing/2014/main" id="{EE48531C-DB31-40A3-8E87-39F68FA22DCE}"/>
              </a:ext>
            </a:extLst>
          </p:cNvPr>
          <p:cNvSpPr>
            <a:spLocks xmlns:a="http://schemas.openxmlformats.org/drawingml/2006/main" noGrp="1"/>
          </p:cNvSpPr>
          <p:nvPr/>
        </p:nvSpPr>
        <p:spPr>
          <a:xfrm xmlns:a="http://schemas.openxmlformats.org/drawingml/2006/main">
            <a:off x="6705600" y="2219325"/>
            <a:ext cx="4876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B</a:t>
            </a:r>
          </a:p>
        </p:txBody>
      </p:sp>
      <p:sp>
        <p:nvSpPr>
          <p:cNvPr id="9" name="">
            <a:extLst xmlns:a="http://schemas.openxmlformats.org/drawingml/2006/main">
              <a:ext uri="{FF2B5EF4-FFF2-40B4-BE49-F238E27FC236}">
                <a16:creationId xmlns:a16="http://schemas.microsoft.com/office/drawing/2014/main" id="{1671F943-0C94-4918-8700-B647CCB9D3DF}"/>
              </a:ext>
            </a:extLst>
          </p:cNvPr>
          <p:cNvSpPr>
            <a:spLocks xmlns:a="http://schemas.openxmlformats.org/drawingml/2006/main" noGrp="1"/>
          </p:cNvSpPr>
          <p:nvPr/>
        </p:nvSpPr>
        <p:spPr>
          <a:xfrm xmlns:a="http://schemas.openxmlformats.org/drawingml/2006/main">
            <a:off x="609600" y="276225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E0F7040C-B0E1-4F1C-BC6F-DCCCF967B9E8}"/>
              </a:ext>
            </a:extLst>
          </p:cNvPr>
          <p:cNvSpPr>
            <a:spLocks xmlns:a="http://schemas.openxmlformats.org/drawingml/2006/main" noGrp="1"/>
          </p:cNvSpPr>
          <p:nvPr/>
        </p:nvSpPr>
        <p:spPr>
          <a:xfrm xmlns:a="http://schemas.openxmlformats.org/drawingml/2006/main">
            <a:off x="6705600" y="27622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crop 1 3은&#10;어떤 source column을&#10;포함하는가?">
            <a:extLst xmlns:a="http://schemas.openxmlformats.org/drawingml/2006/main">
              <a:ext uri="{FF2B5EF4-FFF2-40B4-BE49-F238E27FC236}">
                <a16:creationId xmlns:a16="http://schemas.microsoft.com/office/drawing/2014/main" id="{BB5D41D4-8C7F-40B2-BE78-C04A855C53F2}"/>
              </a:ext>
            </a:extLst>
          </p:cNvPr>
          <p:cNvSpPr>
            <a:spLocks xmlns:a="http://schemas.openxmlformats.org/drawingml/2006/main" noGrp="1"/>
          </p:cNvSpPr>
          <p:nvPr/>
        </p:nvSpPr>
        <p:spPr>
          <a:xfrm xmlns:a="http://schemas.openxmlformats.org/drawingml/2006/main">
            <a:off x="609600" y="3124200"/>
            <a:ext cx="49530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crop 1 3은</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어떤 source column을</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포함하는가?</a:t>
            </a:r>
          </a:p>
        </p:txBody>
      </p:sp>
      <p:sp>
        <p:nvSpPr>
          <p:cNvPr id="12" name="이 Project에&#10;runtime dependency가&#10;있는가?">
            <a:extLst xmlns:a="http://schemas.openxmlformats.org/drawingml/2006/main">
              <a:ext uri="{FF2B5EF4-FFF2-40B4-BE49-F238E27FC236}">
                <a16:creationId xmlns:a16="http://schemas.microsoft.com/office/drawing/2014/main" id="{106035FA-B763-4AD4-A7C0-447846E52D90}"/>
              </a:ext>
            </a:extLst>
          </p:cNvPr>
          <p:cNvSpPr>
            <a:spLocks xmlns:a="http://schemas.openxmlformats.org/drawingml/2006/main" noGrp="1"/>
          </p:cNvSpPr>
          <p:nvPr/>
        </p:nvSpPr>
        <p:spPr>
          <a:xfrm xmlns:a="http://schemas.openxmlformats.org/drawingml/2006/main">
            <a:off x="6705600" y="3124200"/>
            <a:ext cx="48768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이 Project에</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runtime dependency가</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있는가?</a:t>
            </a:r>
          </a:p>
        </p:txBody>
      </p:sp>
      <p:sp>
        <p:nvSpPr>
          <p:cNvPr id="13" name="두 Task에서 같은 상세 문서를 읽을까?">
            <a:extLst xmlns:a="http://schemas.openxmlformats.org/drawingml/2006/main">
              <a:ext uri="{FF2B5EF4-FFF2-40B4-BE49-F238E27FC236}">
                <a16:creationId xmlns:a16="http://schemas.microsoft.com/office/drawing/2014/main" id="{9D8EC3F1-301C-43BA-BB40-0472B3EB69D8}"/>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두 Task에서 같은 상세 문서를 읽을까?</a:t>
            </a:r>
          </a:p>
        </p:txBody>
      </p:sp>
    </p:spTree>
    <p:extLst>
      <p:ext uri="{BB962C8B-B14F-4D97-AF65-F5344CB8AC3E}">
        <p14:creationId xmlns:p14="http://schemas.microsoft.com/office/powerpoint/2010/main" val="722678329"/>
      </p:ext>
    </p:extLst>
  </p:cSld>
</p:sld>
</file>

<file path=ppt/slides/slide3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질문과 근거를 연결하기">
            <a:extLst xmlns:a="http://schemas.openxmlformats.org/drawingml/2006/main">
              <a:ext uri="{FF2B5EF4-FFF2-40B4-BE49-F238E27FC236}">
                <a16:creationId xmlns:a16="http://schemas.microsoft.com/office/drawing/2014/main" id="{2668DCF7-F5AA-4EB5-B830-89C73E9BD51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34">
            <a:extLst xmlns:a="http://schemas.openxmlformats.org/drawingml/2006/main">
              <a:ext uri="{FF2B5EF4-FFF2-40B4-BE49-F238E27FC236}">
                <a16:creationId xmlns:a16="http://schemas.microsoft.com/office/drawing/2014/main" id="{E9C2EC8D-D129-4EA0-8AFA-A5BB8B32402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Crop Task에서 관찰한 접근">
            <a:extLst xmlns:a="http://schemas.openxmlformats.org/drawingml/2006/main">
              <a:ext uri="{FF2B5EF4-FFF2-40B4-BE49-F238E27FC236}">
                <a16:creationId xmlns:a16="http://schemas.microsoft.com/office/drawing/2014/main" id="{356FA75B-0A3A-4E51-9431-F8DCEC148E3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368EBBF3-8C24-4E55-B2DF-6AA754C5B554}"/>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 최종 실행의 접근과 답을 기록에서 재구성">
            <a:extLst xmlns:a="http://schemas.openxmlformats.org/drawingml/2006/main">
              <a:ext uri="{FF2B5EF4-FFF2-40B4-BE49-F238E27FC236}">
                <a16:creationId xmlns:a16="http://schemas.microsoft.com/office/drawing/2014/main" id="{E2CF71E1-BD83-46D5-B67C-3A4278C85A7D}"/>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 최종 실행의 접근과 답을 기록에서 재구성</a:t>
            </a:r>
          </a:p>
        </p:txBody>
      </p:sp>
      <p:sp>
        <p:nvSpPr>
          <p:cNvPr id="6" name="architecture 등 넓은 Context도 접근 · testing.md는 최종 실행에서 관찰, 반복 간">
            <a:extLst xmlns:a="http://schemas.openxmlformats.org/drawingml/2006/main">
              <a:ext uri="{FF2B5EF4-FFF2-40B4-BE49-F238E27FC236}">
                <a16:creationId xmlns:a16="http://schemas.microsoft.com/office/drawing/2014/main" id="{275F68C5-2431-413D-8D59-8FA13B505DC2}"/>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등 넓은 Context도 접근 · testing.md는 최종 실행에서 관찰, 반복 간 차이 존재</a:t>
            </a:r>
          </a:p>
        </p:txBody>
      </p:sp>
      <p:sp>
        <p:nvSpPr>
          <p:cNvPr id="7" name="접근한 계약 문서">
            <a:extLst xmlns:a="http://schemas.openxmlformats.org/drawingml/2006/main">
              <a:ext uri="{FF2B5EF4-FFF2-40B4-BE49-F238E27FC236}">
                <a16:creationId xmlns:a16="http://schemas.microsoft.com/office/drawing/2014/main" id="{DF771E6D-D9D3-40AD-A3C7-E50774FA2C96}"/>
              </a:ext>
            </a:extLst>
          </p:cNvPr>
          <p:cNvSpPr>
            <a:spLocks xmlns:a="http://schemas.openxmlformats.org/drawingml/2006/main" noGrp="1"/>
          </p:cNvSpPr>
          <p:nvPr/>
        </p:nvSpPr>
        <p:spPr>
          <a:xfrm xmlns:a="http://schemas.openxmlformats.org/drawingml/2006/main">
            <a:off x="609600" y="2171700"/>
            <a:ext cx="5715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접근한 계약 문서</a:t>
            </a:r>
          </a:p>
        </p:txBody>
      </p:sp>
      <p:sp>
        <p:nvSpPr>
          <p:cNvPr id="8" name="image-contracts.md">
            <a:extLst xmlns:a="http://schemas.openxmlformats.org/drawingml/2006/main">
              <a:ext uri="{FF2B5EF4-FFF2-40B4-BE49-F238E27FC236}">
                <a16:creationId xmlns:a16="http://schemas.microsoft.com/office/drawing/2014/main" id="{70F04071-A544-43E5-8A8C-3DD49130A29A}"/>
              </a:ext>
            </a:extLst>
          </p:cNvPr>
          <p:cNvSpPr>
            <a:spLocks xmlns:a="http://schemas.openxmlformats.org/drawingml/2006/main" noGrp="1"/>
          </p:cNvSpPr>
          <p:nvPr/>
        </p:nvSpPr>
        <p:spPr>
          <a:xfrm xmlns:a="http://schemas.openxmlformats.org/drawingml/2006/main">
            <a:off x="609600" y="2647950"/>
            <a:ext cx="628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Consolas"/>
                <a:ea typeface="Consolas"/>
                <a:cs typeface="Consolas"/>
              </a:defRPr>
            </a:defPPr>
            <a:lvl1pPr algn="l">
              <a:defRPr sz="2400" b="1">
                <a:solidFill>
                  <a:srgbClr val="17212B"/>
                </a:solidFill>
                <a:latin typeface="Consolas"/>
                <a:ea typeface="Consolas"/>
                <a:cs typeface="Consolas"/>
              </a:defRPr>
            </a:lvl1pPr>
            <a:lvl2pPr algn="l">
              <a:defRPr sz="2400" b="1">
                <a:solidFill>
                  <a:srgbClr val="17212B"/>
                </a:solidFill>
                <a:latin typeface="Consolas"/>
                <a:ea typeface="Consolas"/>
                <a:cs typeface="Consolas"/>
              </a:defRPr>
            </a:lvl2pPr>
            <a:lvl3pPr algn="l">
              <a:defRPr sz="2400" b="1">
                <a:solidFill>
                  <a:srgbClr val="17212B"/>
                </a:solidFill>
                <a:latin typeface="Consolas"/>
                <a:ea typeface="Consolas"/>
                <a:cs typeface="Consolas"/>
              </a:defRPr>
            </a:lvl3pPr>
            <a:lvl4pPr algn="l">
              <a:defRPr sz="2400" b="1">
                <a:solidFill>
                  <a:srgbClr val="17212B"/>
                </a:solidFill>
                <a:latin typeface="Consolas"/>
                <a:ea typeface="Consolas"/>
                <a:cs typeface="Consolas"/>
              </a:defRPr>
            </a:lvl4pPr>
            <a:lvl5pPr algn="l">
              <a:defRPr sz="2400" b="1">
                <a:solidFill>
                  <a:srgbClr val="17212B"/>
                </a:solidFill>
                <a:latin typeface="Consolas"/>
                <a:ea typeface="Consolas"/>
                <a:cs typeface="Consolas"/>
              </a:defRPr>
            </a:lvl5pPr>
            <a:lvl6pPr algn="l">
              <a:defRPr sz="2400" b="1">
                <a:solidFill>
                  <a:srgbClr val="17212B"/>
                </a:solidFill>
                <a:latin typeface="Consolas"/>
                <a:ea typeface="Consolas"/>
                <a:cs typeface="Consolas"/>
              </a:defRPr>
            </a:lvl6pPr>
            <a:lvl7pPr algn="l">
              <a:defRPr sz="2400" b="1">
                <a:solidFill>
                  <a:srgbClr val="17212B"/>
                </a:solidFill>
                <a:latin typeface="Consolas"/>
                <a:ea typeface="Consolas"/>
                <a:cs typeface="Consolas"/>
              </a:defRPr>
            </a:lvl7pPr>
            <a:lvl8pPr algn="l">
              <a:defRPr sz="2400" b="1">
                <a:solidFill>
                  <a:srgbClr val="17212B"/>
                </a:solidFill>
                <a:latin typeface="Consolas"/>
                <a:ea typeface="Consolas"/>
                <a:cs typeface="Consolas"/>
              </a:defRPr>
            </a:lvl8pPr>
            <a:lvl9pPr algn="l">
              <a:defRPr sz="2400" b="1">
                <a:solidFill>
                  <a:srgbClr val="17212B"/>
                </a:solidFill>
                <a:latin typeface="Consolas"/>
                <a:ea typeface="Consolas"/>
                <a:cs typeface="Consolas"/>
              </a:defRPr>
            </a:lvl9pPr>
          </a:lstStyle>
          <a:p xmlns:a="http://schemas.openxmlformats.org/drawingml/2006/main">
            <a:pPr algn="l">
              <a:defRPr sz="2400" b="1">
                <a:solidFill>
                  <a:srgbClr val="17212B"/>
                </a:solidFill>
                <a:latin typeface="Consolas"/>
                <a:ea typeface="Consolas"/>
                <a:cs typeface="Consolas"/>
              </a:defRPr>
            </a:pPr>
            <a:r>
              <a:rPr sz="2400" b="1">
                <a:solidFill>
                  <a:srgbClr val="17212B"/>
                </a:solidFill>
                <a:latin typeface="Consolas"/>
                <a:ea typeface="Consolas"/>
                <a:cs typeface="Consolas"/>
              </a:rPr>
              <a:t>image-contracts.md</a:t>
            </a:r>
          </a:p>
        </p:txBody>
      </p:sp>
      <p:sp>
        <p:nvSpPr>
          <p:cNvPr id="9" name="">
            <a:extLst xmlns:a="http://schemas.openxmlformats.org/drawingml/2006/main">
              <a:ext uri="{FF2B5EF4-FFF2-40B4-BE49-F238E27FC236}">
                <a16:creationId xmlns:a16="http://schemas.microsoft.com/office/drawing/2014/main" id="{B875EA0E-C96B-433B-8DD8-D7FC6BD7EC15}"/>
              </a:ext>
            </a:extLst>
          </p:cNvPr>
          <p:cNvSpPr>
            <a:spLocks xmlns:a="http://schemas.openxmlformats.org/drawingml/2006/main" noGrp="1"/>
          </p:cNvSpPr>
          <p:nvPr/>
        </p:nvSpPr>
        <p:spPr>
          <a:xfrm xmlns:a="http://schemas.openxmlformats.org/drawingml/2006/main">
            <a:off x="609600" y="3267075"/>
            <a:ext cx="6286500" cy="13525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x_start, x_end)">
            <a:extLst xmlns:a="http://schemas.openxmlformats.org/drawingml/2006/main">
              <a:ext uri="{FF2B5EF4-FFF2-40B4-BE49-F238E27FC236}">
                <a16:creationId xmlns:a16="http://schemas.microsoft.com/office/drawing/2014/main" id="{F08D212F-2181-470A-8BF4-35C81A94F1D1}"/>
              </a:ext>
            </a:extLst>
          </p:cNvPr>
          <p:cNvSpPr>
            <a:spLocks xmlns:a="http://schemas.openxmlformats.org/drawingml/2006/main" noGrp="1"/>
          </p:cNvSpPr>
          <p:nvPr/>
        </p:nvSpPr>
        <p:spPr>
          <a:xfrm xmlns:a="http://schemas.openxmlformats.org/drawingml/2006/main">
            <a:off x="838200" y="3400425"/>
            <a:ext cx="58293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Consolas"/>
                <a:ea typeface="Consolas"/>
                <a:cs typeface="Consolas"/>
              </a:defRPr>
            </a:defPPr>
            <a:lvl1pPr algn="l">
              <a:defRPr sz="2475" b="1">
                <a:solidFill>
                  <a:srgbClr val="17212B"/>
                </a:solidFill>
                <a:latin typeface="Consolas"/>
                <a:ea typeface="Consolas"/>
                <a:cs typeface="Consolas"/>
              </a:defRPr>
            </a:lvl1pPr>
            <a:lvl2pPr algn="l">
              <a:defRPr sz="2475" b="1">
                <a:solidFill>
                  <a:srgbClr val="17212B"/>
                </a:solidFill>
                <a:latin typeface="Consolas"/>
                <a:ea typeface="Consolas"/>
                <a:cs typeface="Consolas"/>
              </a:defRPr>
            </a:lvl2pPr>
            <a:lvl3pPr algn="l">
              <a:defRPr sz="2475" b="1">
                <a:solidFill>
                  <a:srgbClr val="17212B"/>
                </a:solidFill>
                <a:latin typeface="Consolas"/>
                <a:ea typeface="Consolas"/>
                <a:cs typeface="Consolas"/>
              </a:defRPr>
            </a:lvl3pPr>
            <a:lvl4pPr algn="l">
              <a:defRPr sz="2475" b="1">
                <a:solidFill>
                  <a:srgbClr val="17212B"/>
                </a:solidFill>
                <a:latin typeface="Consolas"/>
                <a:ea typeface="Consolas"/>
                <a:cs typeface="Consolas"/>
              </a:defRPr>
            </a:lvl4pPr>
            <a:lvl5pPr algn="l">
              <a:defRPr sz="2475" b="1">
                <a:solidFill>
                  <a:srgbClr val="17212B"/>
                </a:solidFill>
                <a:latin typeface="Consolas"/>
                <a:ea typeface="Consolas"/>
                <a:cs typeface="Consolas"/>
              </a:defRPr>
            </a:lvl5pPr>
            <a:lvl6pPr algn="l">
              <a:defRPr sz="2475" b="1">
                <a:solidFill>
                  <a:srgbClr val="17212B"/>
                </a:solidFill>
                <a:latin typeface="Consolas"/>
                <a:ea typeface="Consolas"/>
                <a:cs typeface="Consolas"/>
              </a:defRPr>
            </a:lvl6pPr>
            <a:lvl7pPr algn="l">
              <a:defRPr sz="2475" b="1">
                <a:solidFill>
                  <a:srgbClr val="17212B"/>
                </a:solidFill>
                <a:latin typeface="Consolas"/>
                <a:ea typeface="Consolas"/>
                <a:cs typeface="Consolas"/>
              </a:defRPr>
            </a:lvl7pPr>
            <a:lvl8pPr algn="l">
              <a:defRPr sz="2475" b="1">
                <a:solidFill>
                  <a:srgbClr val="17212B"/>
                </a:solidFill>
                <a:latin typeface="Consolas"/>
                <a:ea typeface="Consolas"/>
                <a:cs typeface="Consolas"/>
              </a:defRPr>
            </a:lvl8pPr>
            <a:lvl9pPr algn="l">
              <a:defRPr sz="2475" b="1">
                <a:solidFill>
                  <a:srgbClr val="17212B"/>
                </a:solidFill>
                <a:latin typeface="Consolas"/>
                <a:ea typeface="Consolas"/>
                <a:cs typeface="Consolas"/>
              </a:defRPr>
            </a:lvl9pPr>
          </a:lstStyle>
          <a:p xmlns:a="http://schemas.openxmlformats.org/drawingml/2006/main">
            <a:pPr algn="l">
              <a:defRPr sz="2475" b="1">
                <a:solidFill>
                  <a:srgbClr val="17212B"/>
                </a:solidFill>
                <a:latin typeface="Consolas"/>
                <a:ea typeface="Consolas"/>
                <a:cs typeface="Consolas"/>
              </a:defRPr>
            </a:pPr>
            <a:r>
              <a:rPr sz="2475" b="1">
                <a:solidFill>
                  <a:srgbClr val="17212B"/>
                </a:solidFill>
                <a:latin typeface="Consolas"/>
                <a:ea typeface="Consolas"/>
                <a:cs typeface="Consolas"/>
              </a:rPr>
              <a:t>[x_start, x_end)</a:t>
            </a:r>
          </a:p>
        </p:txBody>
      </p:sp>
      <p:sp>
        <p:nvSpPr>
          <p:cNvPr id="11" name="시작 열 포함 · 끝 좌표 제외">
            <a:extLst xmlns:a="http://schemas.openxmlformats.org/drawingml/2006/main">
              <a:ext uri="{FF2B5EF4-FFF2-40B4-BE49-F238E27FC236}">
                <a16:creationId xmlns:a16="http://schemas.microsoft.com/office/drawing/2014/main" id="{B511571E-249C-4F0C-9FD4-92A94BC84485}"/>
              </a:ext>
            </a:extLst>
          </p:cNvPr>
          <p:cNvSpPr>
            <a:spLocks xmlns:a="http://schemas.openxmlformats.org/drawingml/2006/main" noGrp="1"/>
          </p:cNvSpPr>
          <p:nvPr/>
        </p:nvSpPr>
        <p:spPr>
          <a:xfrm xmlns:a="http://schemas.openxmlformats.org/drawingml/2006/main">
            <a:off x="838200" y="4000500"/>
            <a:ext cx="58293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열 포함 · 끝 좌표 제외</a:t>
            </a:r>
          </a:p>
        </p:txBody>
      </p:sp>
      <p:sp>
        <p:nvSpPr>
          <p:cNvPr id="12" name="기록된 답">
            <a:extLst xmlns:a="http://schemas.openxmlformats.org/drawingml/2006/main">
              <a:ext uri="{FF2B5EF4-FFF2-40B4-BE49-F238E27FC236}">
                <a16:creationId xmlns:a16="http://schemas.microsoft.com/office/drawing/2014/main" id="{1453C023-091E-4172-B322-2A86EB0B6178}"/>
              </a:ext>
            </a:extLst>
          </p:cNvPr>
          <p:cNvSpPr>
            <a:spLocks xmlns:a="http://schemas.openxmlformats.org/drawingml/2006/main" noGrp="1"/>
          </p:cNvSpPr>
          <p:nvPr/>
        </p:nvSpPr>
        <p:spPr>
          <a:xfrm xmlns:a="http://schemas.openxmlformats.org/drawingml/2006/main">
            <a:off x="7696200" y="2171700"/>
            <a:ext cx="3886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기록된 답</a:t>
            </a:r>
          </a:p>
        </p:txBody>
      </p:sp>
      <p:sp>
        <p:nvSpPr>
          <p:cNvPr id="13" name="crop 1 3">
            <a:extLst xmlns:a="http://schemas.openxmlformats.org/drawingml/2006/main">
              <a:ext uri="{FF2B5EF4-FFF2-40B4-BE49-F238E27FC236}">
                <a16:creationId xmlns:a16="http://schemas.microsoft.com/office/drawing/2014/main" id="{D6B4398E-DA70-4C9E-8827-09918E64CDBB}"/>
              </a:ext>
            </a:extLst>
          </p:cNvPr>
          <p:cNvSpPr>
            <a:spLocks xmlns:a="http://schemas.openxmlformats.org/drawingml/2006/main" noGrp="1"/>
          </p:cNvSpPr>
          <p:nvPr/>
        </p:nvSpPr>
        <p:spPr>
          <a:xfrm xmlns:a="http://schemas.openxmlformats.org/drawingml/2006/main">
            <a:off x="7696200" y="2647950"/>
            <a:ext cx="3886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Consolas"/>
                <a:ea typeface="Consolas"/>
                <a:cs typeface="Consolas"/>
              </a:defRPr>
            </a:defPPr>
            <a:lvl1pPr algn="l">
              <a:defRPr sz="2400" b="1">
                <a:solidFill>
                  <a:srgbClr val="17212B"/>
                </a:solidFill>
                <a:latin typeface="Consolas"/>
                <a:ea typeface="Consolas"/>
                <a:cs typeface="Consolas"/>
              </a:defRPr>
            </a:lvl1pPr>
            <a:lvl2pPr algn="l">
              <a:defRPr sz="2400" b="1">
                <a:solidFill>
                  <a:srgbClr val="17212B"/>
                </a:solidFill>
                <a:latin typeface="Consolas"/>
                <a:ea typeface="Consolas"/>
                <a:cs typeface="Consolas"/>
              </a:defRPr>
            </a:lvl2pPr>
            <a:lvl3pPr algn="l">
              <a:defRPr sz="2400" b="1">
                <a:solidFill>
                  <a:srgbClr val="17212B"/>
                </a:solidFill>
                <a:latin typeface="Consolas"/>
                <a:ea typeface="Consolas"/>
                <a:cs typeface="Consolas"/>
              </a:defRPr>
            </a:lvl3pPr>
            <a:lvl4pPr algn="l">
              <a:defRPr sz="2400" b="1">
                <a:solidFill>
                  <a:srgbClr val="17212B"/>
                </a:solidFill>
                <a:latin typeface="Consolas"/>
                <a:ea typeface="Consolas"/>
                <a:cs typeface="Consolas"/>
              </a:defRPr>
            </a:lvl4pPr>
            <a:lvl5pPr algn="l">
              <a:defRPr sz="2400" b="1">
                <a:solidFill>
                  <a:srgbClr val="17212B"/>
                </a:solidFill>
                <a:latin typeface="Consolas"/>
                <a:ea typeface="Consolas"/>
                <a:cs typeface="Consolas"/>
              </a:defRPr>
            </a:lvl5pPr>
            <a:lvl6pPr algn="l">
              <a:defRPr sz="2400" b="1">
                <a:solidFill>
                  <a:srgbClr val="17212B"/>
                </a:solidFill>
                <a:latin typeface="Consolas"/>
                <a:ea typeface="Consolas"/>
                <a:cs typeface="Consolas"/>
              </a:defRPr>
            </a:lvl6pPr>
            <a:lvl7pPr algn="l">
              <a:defRPr sz="2400" b="1">
                <a:solidFill>
                  <a:srgbClr val="17212B"/>
                </a:solidFill>
                <a:latin typeface="Consolas"/>
                <a:ea typeface="Consolas"/>
                <a:cs typeface="Consolas"/>
              </a:defRPr>
            </a:lvl7pPr>
            <a:lvl8pPr algn="l">
              <a:defRPr sz="2400" b="1">
                <a:solidFill>
                  <a:srgbClr val="17212B"/>
                </a:solidFill>
                <a:latin typeface="Consolas"/>
                <a:ea typeface="Consolas"/>
                <a:cs typeface="Consolas"/>
              </a:defRPr>
            </a:lvl8pPr>
            <a:lvl9pPr algn="l">
              <a:defRPr sz="2400" b="1">
                <a:solidFill>
                  <a:srgbClr val="17212B"/>
                </a:solidFill>
                <a:latin typeface="Consolas"/>
                <a:ea typeface="Consolas"/>
                <a:cs typeface="Consolas"/>
              </a:defRPr>
            </a:lvl9pPr>
          </a:lstStyle>
          <a:p xmlns:a="http://schemas.openxmlformats.org/drawingml/2006/main">
            <a:pPr algn="l">
              <a:defRPr sz="2400" b="1">
                <a:solidFill>
                  <a:srgbClr val="17212B"/>
                </a:solidFill>
                <a:latin typeface="Consolas"/>
                <a:ea typeface="Consolas"/>
                <a:cs typeface="Consolas"/>
              </a:defRPr>
            </a:pPr>
            <a:r>
              <a:rPr sz="2400" b="1">
                <a:solidFill>
                  <a:srgbClr val="17212B"/>
                </a:solidFill>
                <a:latin typeface="Consolas"/>
                <a:ea typeface="Consolas"/>
                <a:cs typeface="Consolas"/>
              </a:rPr>
              <a:t>crop 1 3</a:t>
            </a:r>
          </a:p>
        </p:txBody>
      </p:sp>
      <p:sp>
        <p:nvSpPr>
          <p:cNvPr id="14" name="">
            <a:extLst xmlns:a="http://schemas.openxmlformats.org/drawingml/2006/main">
              <a:ext uri="{FF2B5EF4-FFF2-40B4-BE49-F238E27FC236}">
                <a16:creationId xmlns:a16="http://schemas.microsoft.com/office/drawing/2014/main" id="{FD750F32-9AA7-4849-B936-06D93A960737}"/>
              </a:ext>
            </a:extLst>
          </p:cNvPr>
          <p:cNvSpPr>
            <a:spLocks xmlns:a="http://schemas.openxmlformats.org/drawingml/2006/main" noGrp="1"/>
          </p:cNvSpPr>
          <p:nvPr/>
        </p:nvSpPr>
        <p:spPr>
          <a:xfrm xmlns:a="http://schemas.openxmlformats.org/drawingml/2006/main">
            <a:off x="7696200" y="3333750"/>
            <a:ext cx="7429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0">
            <a:extLst xmlns:a="http://schemas.openxmlformats.org/drawingml/2006/main">
              <a:ext uri="{FF2B5EF4-FFF2-40B4-BE49-F238E27FC236}">
                <a16:creationId xmlns:a16="http://schemas.microsoft.com/office/drawing/2014/main" id="{03C50B5A-D107-444D-B395-5D6D07F60A25}"/>
              </a:ext>
            </a:extLst>
          </p:cNvPr>
          <p:cNvSpPr>
            <a:spLocks xmlns:a="http://schemas.openxmlformats.org/drawingml/2006/main" noGrp="1"/>
          </p:cNvSpPr>
          <p:nvPr/>
        </p:nvSpPr>
        <p:spPr>
          <a:xfrm xmlns:a="http://schemas.openxmlformats.org/drawingml/2006/main">
            <a:off x="769620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0</a:t>
            </a:r>
          </a:p>
        </p:txBody>
      </p:sp>
      <p:sp>
        <p:nvSpPr>
          <p:cNvPr id="16" name="">
            <a:extLst xmlns:a="http://schemas.openxmlformats.org/drawingml/2006/main">
              <a:ext uri="{FF2B5EF4-FFF2-40B4-BE49-F238E27FC236}">
                <a16:creationId xmlns:a16="http://schemas.microsoft.com/office/drawing/2014/main" id="{3EBC487C-6570-40AD-B346-94649692363F}"/>
              </a:ext>
            </a:extLst>
          </p:cNvPr>
          <p:cNvSpPr>
            <a:spLocks xmlns:a="http://schemas.openxmlformats.org/drawingml/2006/main" noGrp="1"/>
          </p:cNvSpPr>
          <p:nvPr/>
        </p:nvSpPr>
        <p:spPr>
          <a:xfrm xmlns:a="http://schemas.openxmlformats.org/drawingml/2006/main">
            <a:off x="8591550" y="3333750"/>
            <a:ext cx="7429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1">
            <a:extLst xmlns:a="http://schemas.openxmlformats.org/drawingml/2006/main">
              <a:ext uri="{FF2B5EF4-FFF2-40B4-BE49-F238E27FC236}">
                <a16:creationId xmlns:a16="http://schemas.microsoft.com/office/drawing/2014/main" id="{B4D751DF-48C6-4941-95F1-4B8CE7569B2D}"/>
              </a:ext>
            </a:extLst>
          </p:cNvPr>
          <p:cNvSpPr>
            <a:spLocks xmlns:a="http://schemas.openxmlformats.org/drawingml/2006/main" noGrp="1"/>
          </p:cNvSpPr>
          <p:nvPr/>
        </p:nvSpPr>
        <p:spPr>
          <a:xfrm xmlns:a="http://schemas.openxmlformats.org/drawingml/2006/main">
            <a:off x="859155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1</a:t>
            </a:r>
          </a:p>
        </p:txBody>
      </p:sp>
      <p:sp>
        <p:nvSpPr>
          <p:cNvPr id="18" name="">
            <a:extLst xmlns:a="http://schemas.openxmlformats.org/drawingml/2006/main">
              <a:ext uri="{FF2B5EF4-FFF2-40B4-BE49-F238E27FC236}">
                <a16:creationId xmlns:a16="http://schemas.microsoft.com/office/drawing/2014/main" id="{77E697D9-8D67-49D0-9659-DAEAE4DB7D77}"/>
              </a:ext>
            </a:extLst>
          </p:cNvPr>
          <p:cNvSpPr>
            <a:spLocks xmlns:a="http://schemas.openxmlformats.org/drawingml/2006/main" noGrp="1"/>
          </p:cNvSpPr>
          <p:nvPr/>
        </p:nvSpPr>
        <p:spPr>
          <a:xfrm xmlns:a="http://schemas.openxmlformats.org/drawingml/2006/main">
            <a:off x="9486900" y="3333750"/>
            <a:ext cx="7429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9" name="2">
            <a:extLst xmlns:a="http://schemas.openxmlformats.org/drawingml/2006/main">
              <a:ext uri="{FF2B5EF4-FFF2-40B4-BE49-F238E27FC236}">
                <a16:creationId xmlns:a16="http://schemas.microsoft.com/office/drawing/2014/main" id="{C96B2C31-FBB8-4F83-BCCC-488464F98868}"/>
              </a:ext>
            </a:extLst>
          </p:cNvPr>
          <p:cNvSpPr>
            <a:spLocks xmlns:a="http://schemas.openxmlformats.org/drawingml/2006/main" noGrp="1"/>
          </p:cNvSpPr>
          <p:nvPr/>
        </p:nvSpPr>
        <p:spPr>
          <a:xfrm xmlns:a="http://schemas.openxmlformats.org/drawingml/2006/main">
            <a:off x="948690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2</a:t>
            </a:r>
          </a:p>
        </p:txBody>
      </p:sp>
      <p:sp>
        <p:nvSpPr>
          <p:cNvPr id="20" name="">
            <a:extLst xmlns:a="http://schemas.openxmlformats.org/drawingml/2006/main">
              <a:ext uri="{FF2B5EF4-FFF2-40B4-BE49-F238E27FC236}">
                <a16:creationId xmlns:a16="http://schemas.microsoft.com/office/drawing/2014/main" id="{3E0595DB-46BA-45F3-B743-8FA935599C2B}"/>
              </a:ext>
            </a:extLst>
          </p:cNvPr>
          <p:cNvSpPr>
            <a:spLocks xmlns:a="http://schemas.openxmlformats.org/drawingml/2006/main" noGrp="1"/>
          </p:cNvSpPr>
          <p:nvPr/>
        </p:nvSpPr>
        <p:spPr>
          <a:xfrm xmlns:a="http://schemas.openxmlformats.org/drawingml/2006/main">
            <a:off x="10382250" y="3333750"/>
            <a:ext cx="7429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3">
            <a:extLst xmlns:a="http://schemas.openxmlformats.org/drawingml/2006/main">
              <a:ext uri="{FF2B5EF4-FFF2-40B4-BE49-F238E27FC236}">
                <a16:creationId xmlns:a16="http://schemas.microsoft.com/office/drawing/2014/main" id="{FF18DE5F-9BC6-47A3-B80F-B1CFE1FA8FAF}"/>
              </a:ext>
            </a:extLst>
          </p:cNvPr>
          <p:cNvSpPr>
            <a:spLocks xmlns:a="http://schemas.openxmlformats.org/drawingml/2006/main" noGrp="1"/>
          </p:cNvSpPr>
          <p:nvPr/>
        </p:nvSpPr>
        <p:spPr>
          <a:xfrm xmlns:a="http://schemas.openxmlformats.org/drawingml/2006/main">
            <a:off x="1038225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3</a:t>
            </a:r>
          </a:p>
        </p:txBody>
      </p:sp>
      <p:sp>
        <p:nvSpPr>
          <p:cNvPr id="22" name="포함 열: 1, 2&#10;출력 폭: 2">
            <a:extLst xmlns:a="http://schemas.openxmlformats.org/drawingml/2006/main">
              <a:ext uri="{FF2B5EF4-FFF2-40B4-BE49-F238E27FC236}">
                <a16:creationId xmlns:a16="http://schemas.microsoft.com/office/drawing/2014/main" id="{C0F6D7D7-6EA2-43AA-AC67-4D344AFBDC70}"/>
              </a:ext>
            </a:extLst>
          </p:cNvPr>
          <p:cNvSpPr>
            <a:spLocks xmlns:a="http://schemas.openxmlformats.org/drawingml/2006/main" noGrp="1"/>
          </p:cNvSpPr>
          <p:nvPr/>
        </p:nvSpPr>
        <p:spPr>
          <a:xfrm xmlns:a="http://schemas.openxmlformats.org/drawingml/2006/main">
            <a:off x="7696200" y="4381500"/>
            <a:ext cx="38862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포함 열: 1, 2</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출력 폭: 2</a:t>
            </a:r>
          </a:p>
        </p:txBody>
      </p:sp>
      <p:sp>
        <p:nvSpPr>
          <p:cNvPr id="23" name="답을 파일의 계약과 연결해 확인했다">
            <a:extLst xmlns:a="http://schemas.openxmlformats.org/drawingml/2006/main">
              <a:ext uri="{FF2B5EF4-FFF2-40B4-BE49-F238E27FC236}">
                <a16:creationId xmlns:a16="http://schemas.microsoft.com/office/drawing/2014/main" id="{FA12685E-1D65-4F7E-9FF8-471B7CAAD6B0}"/>
              </a:ext>
            </a:extLst>
          </p:cNvPr>
          <p:cNvSpPr>
            <a:spLocks xmlns:a="http://schemas.openxmlformats.org/drawingml/2006/main" noGrp="1"/>
          </p:cNvSpPr>
          <p:nvPr/>
        </p:nvSpPr>
        <p:spPr>
          <a:xfrm xmlns:a="http://schemas.openxmlformats.org/drawingml/2006/main">
            <a:off x="609600" y="52292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답을 파일의 계약과 연결해 확인했다</a:t>
            </a:r>
          </a:p>
        </p:txBody>
      </p:sp>
    </p:spTree>
    <p:extLst>
      <p:ext uri="{BB962C8B-B14F-4D97-AF65-F5344CB8AC3E}">
        <p14:creationId xmlns:p14="http://schemas.microsoft.com/office/powerpoint/2010/main" val="266014329"/>
      </p:ext>
    </p:extLst>
  </p:cSld>
</p:sld>
</file>

<file path=ppt/slides/slide3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두 Task의 문서 접근 비교">
            <a:extLst xmlns:a="http://schemas.openxmlformats.org/drawingml/2006/main">
              <a:ext uri="{FF2B5EF4-FFF2-40B4-BE49-F238E27FC236}">
                <a16:creationId xmlns:a16="http://schemas.microsoft.com/office/drawing/2014/main" id="{C6D3746C-57A4-4943-83C9-851F8AD1DB0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Task의 문서 접근 비교</a:t>
            </a:r>
          </a:p>
        </p:txBody>
      </p:sp>
      <p:sp>
        <p:nvSpPr>
          <p:cNvPr id="2" name="S35">
            <a:extLst xmlns:a="http://schemas.openxmlformats.org/drawingml/2006/main">
              <a:ext uri="{FF2B5EF4-FFF2-40B4-BE49-F238E27FC236}">
                <a16:creationId xmlns:a16="http://schemas.microsoft.com/office/drawing/2014/main" id="{67AFC9BD-9B98-43AE-9285-602B8964B5E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Task별 접근은 달랐지만 완벽하지는 않다">
            <a:extLst xmlns:a="http://schemas.openxmlformats.org/drawingml/2006/main">
              <a:ext uri="{FF2B5EF4-FFF2-40B4-BE49-F238E27FC236}">
                <a16:creationId xmlns:a16="http://schemas.microsoft.com/office/drawing/2014/main" id="{C6B484D6-A97F-458E-B925-11916EDABF6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Task별 접근은 달랐지만 완벽하지는 않다</a:t>
            </a:r>
          </a:p>
        </p:txBody>
      </p:sp>
      <p:sp>
        <p:nvSpPr>
          <p:cNvPr id="4" name="">
            <a:extLst xmlns:a="http://schemas.openxmlformats.org/drawingml/2006/main">
              <a:ext uri="{FF2B5EF4-FFF2-40B4-BE49-F238E27FC236}">
                <a16:creationId xmlns:a16="http://schemas.microsoft.com/office/drawing/2014/main" id="{D5AB3C66-6E1B-4465-89F7-267D41A3ABF9}"/>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실제 접근 기록을 요약한 비교">
            <a:extLst xmlns:a="http://schemas.openxmlformats.org/drawingml/2006/main">
              <a:ext uri="{FF2B5EF4-FFF2-40B4-BE49-F238E27FC236}">
                <a16:creationId xmlns:a16="http://schemas.microsoft.com/office/drawing/2014/main" id="{1989DEA7-2133-4B1D-B769-819CEF7D01A4}"/>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실제 접근 기록을 요약한 비교</a:t>
            </a:r>
          </a:p>
        </p:txBody>
      </p:sp>
      <p:sp>
        <p:nvSpPr>
          <p:cNvPr id="6" name="완벽한 Routing 미입증 · 토큰 절약·성능 개선 미측정 · 실행 간 변동 존재">
            <a:extLst xmlns:a="http://schemas.openxmlformats.org/drawingml/2006/main">
              <a:ext uri="{FF2B5EF4-FFF2-40B4-BE49-F238E27FC236}">
                <a16:creationId xmlns:a16="http://schemas.microsoft.com/office/drawing/2014/main" id="{1C4D2473-0F63-48C9-8156-9AB537988783}"/>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완벽한 Routing 미입증 · 토큰 절약·성능 개선 미측정 · 실행 간 변동 존재</a:t>
            </a:r>
          </a:p>
        </p:txBody>
      </p:sp>
      <p:sp>
        <p:nvSpPr>
          <p:cNvPr id="7" name="같은 Repository에서 질문이 달랐다">
            <a:extLst xmlns:a="http://schemas.openxmlformats.org/drawingml/2006/main">
              <a:ext uri="{FF2B5EF4-FFF2-40B4-BE49-F238E27FC236}">
                <a16:creationId xmlns:a16="http://schemas.microsoft.com/office/drawing/2014/main" id="{D866886C-97B9-4538-92B3-CF7DB167C7C2}"/>
              </a:ext>
            </a:extLst>
          </p:cNvPr>
          <p:cNvSpPr>
            <a:spLocks xmlns:a="http://schemas.openxmlformats.org/drawingml/2006/main" noGrp="1"/>
          </p:cNvSpPr>
          <p:nvPr/>
        </p:nvSpPr>
        <p:spPr>
          <a:xfrm xmlns:a="http://schemas.openxmlformats.org/drawingml/2006/main">
            <a:off x="609600" y="21145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Repository에서 질문이 달랐다</a:t>
            </a:r>
          </a:p>
        </p:txBody>
      </p:sp>
      <p:sp>
        <p:nvSpPr>
          <p:cNvPr id="8" name="문서">
            <a:extLst xmlns:a="http://schemas.openxmlformats.org/drawingml/2006/main">
              <a:ext uri="{FF2B5EF4-FFF2-40B4-BE49-F238E27FC236}">
                <a16:creationId xmlns:a16="http://schemas.microsoft.com/office/drawing/2014/main" id="{37B408A0-745B-4784-B413-376E30E02D7A}"/>
              </a:ext>
            </a:extLst>
          </p:cNvPr>
          <p:cNvSpPr>
            <a:spLocks xmlns:a="http://schemas.openxmlformats.org/drawingml/2006/main" noGrp="1"/>
          </p:cNvSpPr>
          <p:nvPr/>
        </p:nvSpPr>
        <p:spPr>
          <a:xfrm xmlns:a="http://schemas.openxmlformats.org/drawingml/2006/main">
            <a:off x="609600" y="2752725"/>
            <a:ext cx="4686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문서</a:t>
            </a:r>
          </a:p>
        </p:txBody>
      </p:sp>
      <p:sp>
        <p:nvSpPr>
          <p:cNvPr id="9" name="A · crop 계약">
            <a:extLst xmlns:a="http://schemas.openxmlformats.org/drawingml/2006/main">
              <a:ext uri="{FF2B5EF4-FFF2-40B4-BE49-F238E27FC236}">
                <a16:creationId xmlns:a16="http://schemas.microsoft.com/office/drawing/2014/main" id="{CF5B28B1-35B2-455E-9BE3-FBA82FE8E84C}"/>
              </a:ext>
            </a:extLst>
          </p:cNvPr>
          <p:cNvSpPr>
            <a:spLocks xmlns:a="http://schemas.openxmlformats.org/drawingml/2006/main" noGrp="1"/>
          </p:cNvSpPr>
          <p:nvPr/>
        </p:nvSpPr>
        <p:spPr>
          <a:xfrm xmlns:a="http://schemas.openxmlformats.org/drawingml/2006/main">
            <a:off x="5581650" y="2752725"/>
            <a:ext cx="2667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 · crop 계약</a:t>
            </a:r>
          </a:p>
        </p:txBody>
      </p:sp>
      <p:sp>
        <p:nvSpPr>
          <p:cNvPr id="10" name="B · 실행 의존성">
            <a:extLst xmlns:a="http://schemas.openxmlformats.org/drawingml/2006/main">
              <a:ext uri="{FF2B5EF4-FFF2-40B4-BE49-F238E27FC236}">
                <a16:creationId xmlns:a16="http://schemas.microsoft.com/office/drawing/2014/main" id="{1DE36E57-4E92-499B-A720-0F07B64D1D6A}"/>
              </a:ext>
            </a:extLst>
          </p:cNvPr>
          <p:cNvSpPr>
            <a:spLocks xmlns:a="http://schemas.openxmlformats.org/drawingml/2006/main" noGrp="1"/>
          </p:cNvSpPr>
          <p:nvPr/>
        </p:nvSpPr>
        <p:spPr>
          <a:xfrm xmlns:a="http://schemas.openxmlformats.org/drawingml/2006/main">
            <a:off x="8743950" y="2752725"/>
            <a:ext cx="28384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B · 실행 의존성</a:t>
            </a:r>
          </a:p>
        </p:txBody>
      </p:sp>
      <p:sp>
        <p:nvSpPr>
          <p:cNvPr id="11" name="">
            <a:extLst xmlns:a="http://schemas.openxmlformats.org/drawingml/2006/main">
              <a:ext uri="{FF2B5EF4-FFF2-40B4-BE49-F238E27FC236}">
                <a16:creationId xmlns:a16="http://schemas.microsoft.com/office/drawing/2014/main" id="{A329F624-FEA7-40D4-92B7-B6993904569F}"/>
              </a:ext>
            </a:extLst>
          </p:cNvPr>
          <p:cNvSpPr>
            <a:spLocks xmlns:a="http://schemas.openxmlformats.org/drawingml/2006/main" noGrp="1"/>
          </p:cNvSpPr>
          <p:nvPr/>
        </p:nvSpPr>
        <p:spPr>
          <a:xfrm xmlns:a="http://schemas.openxmlformats.org/drawingml/2006/main">
            <a:off x="609600" y="3238500"/>
            <a:ext cx="10972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image-contracts.md">
            <a:extLst xmlns:a="http://schemas.openxmlformats.org/drawingml/2006/main">
              <a:ext uri="{FF2B5EF4-FFF2-40B4-BE49-F238E27FC236}">
                <a16:creationId xmlns:a16="http://schemas.microsoft.com/office/drawing/2014/main" id="{224B2E91-EC6F-417B-8DFD-7A7AF75AAA81}"/>
              </a:ext>
            </a:extLst>
          </p:cNvPr>
          <p:cNvSpPr>
            <a:spLocks xmlns:a="http://schemas.openxmlformats.org/drawingml/2006/main" noGrp="1"/>
          </p:cNvSpPr>
          <p:nvPr/>
        </p:nvSpPr>
        <p:spPr>
          <a:xfrm xmlns:a="http://schemas.openxmlformats.org/drawingml/2006/main">
            <a:off x="742950" y="33337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Consolas"/>
                <a:ea typeface="Consolas"/>
                <a:cs typeface="Consolas"/>
              </a:defRPr>
            </a:defPPr>
            <a:lvl1pPr algn="l">
              <a:defRPr sz="2025" b="1">
                <a:solidFill>
                  <a:srgbClr val="17212B"/>
                </a:solidFill>
                <a:latin typeface="Consolas"/>
                <a:ea typeface="Consolas"/>
                <a:cs typeface="Consolas"/>
              </a:defRPr>
            </a:lvl1pPr>
            <a:lvl2pPr algn="l">
              <a:defRPr sz="2025" b="1">
                <a:solidFill>
                  <a:srgbClr val="17212B"/>
                </a:solidFill>
                <a:latin typeface="Consolas"/>
                <a:ea typeface="Consolas"/>
                <a:cs typeface="Consolas"/>
              </a:defRPr>
            </a:lvl2pPr>
            <a:lvl3pPr algn="l">
              <a:defRPr sz="2025" b="1">
                <a:solidFill>
                  <a:srgbClr val="17212B"/>
                </a:solidFill>
                <a:latin typeface="Consolas"/>
                <a:ea typeface="Consolas"/>
                <a:cs typeface="Consolas"/>
              </a:defRPr>
            </a:lvl3pPr>
            <a:lvl4pPr algn="l">
              <a:defRPr sz="2025" b="1">
                <a:solidFill>
                  <a:srgbClr val="17212B"/>
                </a:solidFill>
                <a:latin typeface="Consolas"/>
                <a:ea typeface="Consolas"/>
                <a:cs typeface="Consolas"/>
              </a:defRPr>
            </a:lvl4pPr>
            <a:lvl5pPr algn="l">
              <a:defRPr sz="2025" b="1">
                <a:solidFill>
                  <a:srgbClr val="17212B"/>
                </a:solidFill>
                <a:latin typeface="Consolas"/>
                <a:ea typeface="Consolas"/>
                <a:cs typeface="Consolas"/>
              </a:defRPr>
            </a:lvl5pPr>
            <a:lvl6pPr algn="l">
              <a:defRPr sz="2025" b="1">
                <a:solidFill>
                  <a:srgbClr val="17212B"/>
                </a:solidFill>
                <a:latin typeface="Consolas"/>
                <a:ea typeface="Consolas"/>
                <a:cs typeface="Consolas"/>
              </a:defRPr>
            </a:lvl6pPr>
            <a:lvl7pPr algn="l">
              <a:defRPr sz="2025" b="1">
                <a:solidFill>
                  <a:srgbClr val="17212B"/>
                </a:solidFill>
                <a:latin typeface="Consolas"/>
                <a:ea typeface="Consolas"/>
                <a:cs typeface="Consolas"/>
              </a:defRPr>
            </a:lvl7pPr>
            <a:lvl8pPr algn="l">
              <a:defRPr sz="2025" b="1">
                <a:solidFill>
                  <a:srgbClr val="17212B"/>
                </a:solidFill>
                <a:latin typeface="Consolas"/>
                <a:ea typeface="Consolas"/>
                <a:cs typeface="Consolas"/>
              </a:defRPr>
            </a:lvl8pPr>
            <a:lvl9pPr algn="l">
              <a:defRPr sz="2025" b="1">
                <a:solidFill>
                  <a:srgbClr val="17212B"/>
                </a:solidFill>
                <a:latin typeface="Consolas"/>
                <a:ea typeface="Consolas"/>
                <a:cs typeface="Consolas"/>
              </a:defRPr>
            </a:lvl9pPr>
          </a:lstStyle>
          <a:p xmlns:a="http://schemas.openxmlformats.org/drawingml/2006/main">
            <a:pPr algn="l">
              <a:defRPr sz="2025" b="1">
                <a:solidFill>
                  <a:srgbClr val="17212B"/>
                </a:solidFill>
                <a:latin typeface="Consolas"/>
                <a:ea typeface="Consolas"/>
                <a:cs typeface="Consolas"/>
              </a:defRPr>
            </a:pPr>
            <a:r>
              <a:rPr sz="2025" b="1">
                <a:solidFill>
                  <a:srgbClr val="17212B"/>
                </a:solidFill>
                <a:latin typeface="Consolas"/>
                <a:ea typeface="Consolas"/>
                <a:cs typeface="Consolas"/>
              </a:rPr>
              <a:t>image-contracts.md</a:t>
            </a:r>
          </a:p>
        </p:txBody>
      </p:sp>
      <p:sp>
        <p:nvSpPr>
          <p:cNvPr id="13" name="읽음">
            <a:extLst xmlns:a="http://schemas.openxmlformats.org/drawingml/2006/main">
              <a:ext uri="{FF2B5EF4-FFF2-40B4-BE49-F238E27FC236}">
                <a16:creationId xmlns:a16="http://schemas.microsoft.com/office/drawing/2014/main" id="{712B495E-114A-439D-ADB1-BC0BA54AB3FD}"/>
              </a:ext>
            </a:extLst>
          </p:cNvPr>
          <p:cNvSpPr>
            <a:spLocks xmlns:a="http://schemas.openxmlformats.org/drawingml/2006/main" noGrp="1"/>
          </p:cNvSpPr>
          <p:nvPr/>
        </p:nvSpPr>
        <p:spPr>
          <a:xfrm xmlns:a="http://schemas.openxmlformats.org/drawingml/2006/main">
            <a:off x="5581650" y="33337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읽음</a:t>
            </a:r>
          </a:p>
        </p:txBody>
      </p:sp>
      <p:sp>
        <p:nvSpPr>
          <p:cNvPr id="14" name="읽지 않음">
            <a:extLst xmlns:a="http://schemas.openxmlformats.org/drawingml/2006/main">
              <a:ext uri="{FF2B5EF4-FFF2-40B4-BE49-F238E27FC236}">
                <a16:creationId xmlns:a16="http://schemas.microsoft.com/office/drawing/2014/main" id="{EEC76EEC-B3D9-482F-9C50-D784454AEE0F}"/>
              </a:ext>
            </a:extLst>
          </p:cNvPr>
          <p:cNvSpPr>
            <a:spLocks xmlns:a="http://schemas.openxmlformats.org/drawingml/2006/main" noGrp="1"/>
          </p:cNvSpPr>
          <p:nvPr/>
        </p:nvSpPr>
        <p:spPr>
          <a:xfrm xmlns:a="http://schemas.openxmlformats.org/drawingml/2006/main">
            <a:off x="8743950" y="33337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읽지 않음</a:t>
            </a:r>
          </a:p>
        </p:txBody>
      </p:sp>
      <p:sp>
        <p:nvSpPr>
          <p:cNvPr id="15" name="">
            <a:extLst xmlns:a="http://schemas.openxmlformats.org/drawingml/2006/main">
              <a:ext uri="{FF2B5EF4-FFF2-40B4-BE49-F238E27FC236}">
                <a16:creationId xmlns:a16="http://schemas.microsoft.com/office/drawing/2014/main" id="{DB763A06-F8E0-4E56-A278-B0F6A22B4E0B}"/>
              </a:ext>
            </a:extLst>
          </p:cNvPr>
          <p:cNvSpPr>
            <a:spLocks xmlns:a="http://schemas.openxmlformats.org/drawingml/2006/main" noGrp="1"/>
          </p:cNvSpPr>
          <p:nvPr/>
        </p:nvSpPr>
        <p:spPr>
          <a:xfrm xmlns:a="http://schemas.openxmlformats.org/drawingml/2006/main">
            <a:off x="609600" y="38671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architecture.md">
            <a:extLst xmlns:a="http://schemas.openxmlformats.org/drawingml/2006/main">
              <a:ext uri="{FF2B5EF4-FFF2-40B4-BE49-F238E27FC236}">
                <a16:creationId xmlns:a16="http://schemas.microsoft.com/office/drawing/2014/main" id="{56BBA5C3-8E19-40AA-8886-60EB2B0A28C3}"/>
              </a:ext>
            </a:extLst>
          </p:cNvPr>
          <p:cNvSpPr>
            <a:spLocks xmlns:a="http://schemas.openxmlformats.org/drawingml/2006/main" noGrp="1"/>
          </p:cNvSpPr>
          <p:nvPr/>
        </p:nvSpPr>
        <p:spPr>
          <a:xfrm xmlns:a="http://schemas.openxmlformats.org/drawingml/2006/main">
            <a:off x="742950" y="396240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architecture.md</a:t>
            </a:r>
          </a:p>
        </p:txBody>
      </p:sp>
      <p:sp>
        <p:nvSpPr>
          <p:cNvPr id="17" name="읽음">
            <a:extLst xmlns:a="http://schemas.openxmlformats.org/drawingml/2006/main">
              <a:ext uri="{FF2B5EF4-FFF2-40B4-BE49-F238E27FC236}">
                <a16:creationId xmlns:a16="http://schemas.microsoft.com/office/drawing/2014/main" id="{FDB487D6-099B-4302-98AE-C21B3B61D576}"/>
              </a:ext>
            </a:extLst>
          </p:cNvPr>
          <p:cNvSpPr>
            <a:spLocks xmlns:a="http://schemas.openxmlformats.org/drawingml/2006/main" noGrp="1"/>
          </p:cNvSpPr>
          <p:nvPr/>
        </p:nvSpPr>
        <p:spPr>
          <a:xfrm xmlns:a="http://schemas.openxmlformats.org/drawingml/2006/main">
            <a:off x="5581650" y="396240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8" name="읽음">
            <a:extLst xmlns:a="http://schemas.openxmlformats.org/drawingml/2006/main">
              <a:ext uri="{FF2B5EF4-FFF2-40B4-BE49-F238E27FC236}">
                <a16:creationId xmlns:a16="http://schemas.microsoft.com/office/drawing/2014/main" id="{EC510F60-6C01-421C-8315-EF2A6413AABB}"/>
              </a:ext>
            </a:extLst>
          </p:cNvPr>
          <p:cNvSpPr>
            <a:spLocks xmlns:a="http://schemas.openxmlformats.org/drawingml/2006/main" noGrp="1"/>
          </p:cNvSpPr>
          <p:nvPr/>
        </p:nvSpPr>
        <p:spPr>
          <a:xfrm xmlns:a="http://schemas.openxmlformats.org/drawingml/2006/main">
            <a:off x="8743950" y="396240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9" name="">
            <a:extLst xmlns:a="http://schemas.openxmlformats.org/drawingml/2006/main">
              <a:ext uri="{FF2B5EF4-FFF2-40B4-BE49-F238E27FC236}">
                <a16:creationId xmlns:a16="http://schemas.microsoft.com/office/drawing/2014/main" id="{D1B888E5-BB9F-4906-8161-FDA72B6AD501}"/>
              </a:ext>
            </a:extLst>
          </p:cNvPr>
          <p:cNvSpPr>
            <a:spLocks xmlns:a="http://schemas.openxmlformats.org/drawingml/2006/main" noGrp="1"/>
          </p:cNvSpPr>
          <p:nvPr/>
        </p:nvSpPr>
        <p:spPr>
          <a:xfrm xmlns:a="http://schemas.openxmlformats.org/drawingml/2006/main">
            <a:off x="609600" y="4495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testing.md">
            <a:extLst xmlns:a="http://schemas.openxmlformats.org/drawingml/2006/main">
              <a:ext uri="{FF2B5EF4-FFF2-40B4-BE49-F238E27FC236}">
                <a16:creationId xmlns:a16="http://schemas.microsoft.com/office/drawing/2014/main" id="{E69578D1-89A0-4F49-B5F4-EDD2059AFB66}"/>
              </a:ext>
            </a:extLst>
          </p:cNvPr>
          <p:cNvSpPr>
            <a:spLocks xmlns:a="http://schemas.openxmlformats.org/drawingml/2006/main" noGrp="1"/>
          </p:cNvSpPr>
          <p:nvPr/>
        </p:nvSpPr>
        <p:spPr>
          <a:xfrm xmlns:a="http://schemas.openxmlformats.org/drawingml/2006/main">
            <a:off x="742950" y="45910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testing.md</a:t>
            </a:r>
          </a:p>
        </p:txBody>
      </p:sp>
      <p:sp>
        <p:nvSpPr>
          <p:cNvPr id="21" name="최종 실행에서 읽음">
            <a:extLst xmlns:a="http://schemas.openxmlformats.org/drawingml/2006/main">
              <a:ext uri="{FF2B5EF4-FFF2-40B4-BE49-F238E27FC236}">
                <a16:creationId xmlns:a16="http://schemas.microsoft.com/office/drawing/2014/main" id="{E9C587B1-1A36-4277-B683-50DF8EFBFC9B}"/>
              </a:ext>
            </a:extLst>
          </p:cNvPr>
          <p:cNvSpPr>
            <a:spLocks xmlns:a="http://schemas.openxmlformats.org/drawingml/2006/main" noGrp="1"/>
          </p:cNvSpPr>
          <p:nvPr/>
        </p:nvSpPr>
        <p:spPr>
          <a:xfrm xmlns:a="http://schemas.openxmlformats.org/drawingml/2006/main">
            <a:off x="5581650" y="45910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최종 실행에서 읽음</a:t>
            </a:r>
          </a:p>
        </p:txBody>
      </p:sp>
      <p:sp>
        <p:nvSpPr>
          <p:cNvPr id="22" name="읽지 않음">
            <a:extLst xmlns:a="http://schemas.openxmlformats.org/drawingml/2006/main">
              <a:ext uri="{FF2B5EF4-FFF2-40B4-BE49-F238E27FC236}">
                <a16:creationId xmlns:a16="http://schemas.microsoft.com/office/drawing/2014/main" id="{270782EB-3859-443E-8685-1BBB6C404162}"/>
              </a:ext>
            </a:extLst>
          </p:cNvPr>
          <p:cNvSpPr>
            <a:spLocks xmlns:a="http://schemas.openxmlformats.org/drawingml/2006/main" noGrp="1"/>
          </p:cNvSpPr>
          <p:nvPr/>
        </p:nvSpPr>
        <p:spPr>
          <a:xfrm xmlns:a="http://schemas.openxmlformats.org/drawingml/2006/main">
            <a:off x="8743950" y="45910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읽지 않음</a:t>
            </a:r>
          </a:p>
        </p:txBody>
      </p:sp>
      <p:sp>
        <p:nvSpPr>
          <p:cNvPr id="23" name="A에는 더 넓은 읽기도 존재 · B는 설정·README·source도 확인">
            <a:extLst xmlns:a="http://schemas.openxmlformats.org/drawingml/2006/main">
              <a:ext uri="{FF2B5EF4-FFF2-40B4-BE49-F238E27FC236}">
                <a16:creationId xmlns:a16="http://schemas.microsoft.com/office/drawing/2014/main" id="{2054FBBA-925E-4C45-B405-20BB4B3200AE}"/>
              </a:ext>
            </a:extLst>
          </p:cNvPr>
          <p:cNvSpPr>
            <a:spLocks xmlns:a="http://schemas.openxmlformats.org/drawingml/2006/main" noGrp="1"/>
          </p:cNvSpPr>
          <p:nvPr/>
        </p:nvSpPr>
        <p:spPr>
          <a:xfrm xmlns:a="http://schemas.openxmlformats.org/drawingml/2006/main">
            <a:off x="609600" y="52959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A에는 더 넓은 읽기도 존재 · B는 설정·README·source도 확인</a:t>
            </a:r>
          </a:p>
        </p:txBody>
      </p:sp>
    </p:spTree>
    <p:extLst>
      <p:ext uri="{BB962C8B-B14F-4D97-AF65-F5344CB8AC3E}">
        <p14:creationId xmlns:p14="http://schemas.microsoft.com/office/powerpoint/2010/main" val="1446965221"/>
      </p:ext>
    </p:extLst>
  </p:cSld>
</p:sld>
</file>

<file path=ppt/slides/slide3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2 · 다음 문제로 넘어가기">
            <a:extLst xmlns:a="http://schemas.openxmlformats.org/drawingml/2006/main">
              <a:ext uri="{FF2B5EF4-FFF2-40B4-BE49-F238E27FC236}">
                <a16:creationId xmlns:a16="http://schemas.microsoft.com/office/drawing/2014/main" id="{6B976762-0707-486A-9207-3C0D1A5877C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다음 문제로 넘어가기</a:t>
            </a:r>
          </a:p>
        </p:txBody>
      </p:sp>
      <p:sp>
        <p:nvSpPr>
          <p:cNvPr id="2" name="S36">
            <a:extLst xmlns:a="http://schemas.openxmlformats.org/drawingml/2006/main">
              <a:ext uri="{FF2B5EF4-FFF2-40B4-BE49-F238E27FC236}">
                <a16:creationId xmlns:a16="http://schemas.microsoft.com/office/drawing/2014/main" id="{3E1CA495-3F72-475E-A881-C49E1882972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지식은 정리됐지만 절차는 반복된다">
            <a:extLst xmlns:a="http://schemas.openxmlformats.org/drawingml/2006/main">
              <a:ext uri="{FF2B5EF4-FFF2-40B4-BE49-F238E27FC236}">
                <a16:creationId xmlns:a16="http://schemas.microsoft.com/office/drawing/2014/main" id="{F622E084-5884-48C6-BC90-4E54D8CE8AE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113EF859-E3BC-48A1-A66F-4E988C5CCC8E}"/>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Project Context 정리 + TRIAL-006/007의 반복 절차 · 기록 요약과 교육용 해석">
            <a:extLst xmlns:a="http://schemas.openxmlformats.org/drawingml/2006/main">
              <a:ext uri="{FF2B5EF4-FFF2-40B4-BE49-F238E27FC236}">
                <a16:creationId xmlns:a16="http://schemas.microsoft.com/office/drawing/2014/main" id="{0A303D6B-82C5-4417-902D-AB9950C3711A}"/>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Project Context 정리 + TRIAL-006/007의 반복 절차 · 기록 요약과 교육용 해석</a:t>
            </a:r>
          </a:p>
        </p:txBody>
      </p:sp>
      <p:sp>
        <p:nvSpPr>
          <p:cNvPr id="6" name="절차가 반복된 원인을 Prompt만으로 분리하지 않음">
            <a:extLst xmlns:a="http://schemas.openxmlformats.org/drawingml/2006/main">
              <a:ext uri="{FF2B5EF4-FFF2-40B4-BE49-F238E27FC236}">
                <a16:creationId xmlns:a16="http://schemas.microsoft.com/office/drawing/2014/main" id="{EEB868F2-30D1-47A7-A6FE-DD2478B5D94D}"/>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절차가 반복된 원인을 Prompt만으로 분리하지 않음</a:t>
            </a:r>
          </a:p>
        </p:txBody>
      </p:sp>
      <p:sp>
        <p:nvSpPr>
          <p:cNvPr id="7" name="정리한 것">
            <a:extLst xmlns:a="http://schemas.openxmlformats.org/drawingml/2006/main">
              <a:ext uri="{FF2B5EF4-FFF2-40B4-BE49-F238E27FC236}">
                <a16:creationId xmlns:a16="http://schemas.microsoft.com/office/drawing/2014/main" id="{0F7A294B-FF03-41F0-BEFB-F3E7C6549B2F}"/>
              </a:ext>
            </a:extLst>
          </p:cNvPr>
          <p:cNvSpPr>
            <a:spLocks xmlns:a="http://schemas.openxmlformats.org/drawingml/2006/main" noGrp="1"/>
          </p:cNvSpPr>
          <p:nvPr/>
        </p:nvSpPr>
        <p:spPr>
          <a:xfrm xmlns:a="http://schemas.openxmlformats.org/drawingml/2006/main">
            <a:off x="609600" y="2209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8" name="아직 반복되는 것">
            <a:extLst xmlns:a="http://schemas.openxmlformats.org/drawingml/2006/main">
              <a:ext uri="{FF2B5EF4-FFF2-40B4-BE49-F238E27FC236}">
                <a16:creationId xmlns:a16="http://schemas.microsoft.com/office/drawing/2014/main" id="{252294B0-E67B-458F-A758-575F8B1C9994}"/>
              </a:ext>
            </a:extLst>
          </p:cNvPr>
          <p:cNvSpPr>
            <a:spLocks xmlns:a="http://schemas.openxmlformats.org/drawingml/2006/main" noGrp="1"/>
          </p:cNvSpPr>
          <p:nvPr/>
        </p:nvSpPr>
        <p:spPr>
          <a:xfrm xmlns:a="http://schemas.openxmlformats.org/drawingml/2006/main">
            <a:off x="6705600" y="2209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아직 반복되는 것</a:t>
            </a:r>
          </a:p>
        </p:txBody>
      </p:sp>
      <p:sp>
        <p:nvSpPr>
          <p:cNvPr id="9" name="">
            <a:extLst xmlns:a="http://schemas.openxmlformats.org/drawingml/2006/main">
              <a:ext uri="{FF2B5EF4-FFF2-40B4-BE49-F238E27FC236}">
                <a16:creationId xmlns:a16="http://schemas.microsoft.com/office/drawing/2014/main" id="{E0B2E149-BE8D-4DAC-A187-66CA5A98AC49}"/>
              </a:ext>
            </a:extLst>
          </p:cNvPr>
          <p:cNvSpPr>
            <a:spLocks xmlns:a="http://schemas.openxmlformats.org/drawingml/2006/main" noGrp="1"/>
          </p:cNvSpPr>
          <p:nvPr/>
        </p:nvSpPr>
        <p:spPr>
          <a:xfrm xmlns:a="http://schemas.openxmlformats.org/drawingml/2006/main">
            <a:off x="609600" y="2752725"/>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EF534F7D-9096-4924-99E8-D3FD11F909A8}"/>
              </a:ext>
            </a:extLst>
          </p:cNvPr>
          <p:cNvSpPr>
            <a:spLocks xmlns:a="http://schemas.openxmlformats.org/drawingml/2006/main" noGrp="1"/>
          </p:cNvSpPr>
          <p:nvPr/>
        </p:nvSpPr>
        <p:spPr>
          <a:xfrm xmlns:a="http://schemas.openxmlformats.org/drawingml/2006/main">
            <a:off x="6705600" y="27527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는 Prompt에&#10;공통 사실은 Project Context에&#10;상세 정보는 Routing으로">
            <a:extLst xmlns:a="http://schemas.openxmlformats.org/drawingml/2006/main">
              <a:ext uri="{FF2B5EF4-FFF2-40B4-BE49-F238E27FC236}">
                <a16:creationId xmlns:a16="http://schemas.microsoft.com/office/drawing/2014/main" id="{0F65BB89-BC55-4EB4-ABE9-CC0C30F9D7A8}"/>
              </a:ext>
            </a:extLst>
          </p:cNvPr>
          <p:cNvSpPr>
            <a:spLocks xmlns:a="http://schemas.openxmlformats.org/drawingml/2006/main" noGrp="1"/>
          </p:cNvSpPr>
          <p:nvPr/>
        </p:nvSpPr>
        <p:spPr>
          <a:xfrm xmlns:a="http://schemas.openxmlformats.org/drawingml/2006/main">
            <a:off x="609600" y="3114675"/>
            <a:ext cx="51435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현재 목표는 Prompt에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공통 사실은 Project Context에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상세 정보는 Routing으로</a:t>
            </a:r>
          </a:p>
        </p:txBody>
      </p:sp>
      <p:sp>
        <p:nvSpPr>
          <p:cNvPr id="12" name="먼저 측정하고&#10;조사한 뒤 변경하고&#10;같은 조건으로 확인해줘">
            <a:extLst xmlns:a="http://schemas.openxmlformats.org/drawingml/2006/main">
              <a:ext uri="{FF2B5EF4-FFF2-40B4-BE49-F238E27FC236}">
                <a16:creationId xmlns:a16="http://schemas.microsoft.com/office/drawing/2014/main" id="{87F4188A-AEF0-42C0-9ACB-2A6EEE6BAF08}"/>
              </a:ext>
            </a:extLst>
          </p:cNvPr>
          <p:cNvSpPr>
            <a:spLocks xmlns:a="http://schemas.openxmlformats.org/drawingml/2006/main" noGrp="1"/>
          </p:cNvSpPr>
          <p:nvPr/>
        </p:nvSpPr>
        <p:spPr>
          <a:xfrm xmlns:a="http://schemas.openxmlformats.org/drawingml/2006/main">
            <a:off x="6705600" y="3114675"/>
            <a:ext cx="48768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먼저 측정하고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조사한 뒤 변경하고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조건으로 확인해줘</a:t>
            </a:r>
          </a:p>
        </p:txBody>
      </p:sp>
      <p:sp>
        <p:nvSpPr>
          <p:cNvPr id="13" name="이 반복도 Context만의 문제일까?">
            <a:extLst xmlns:a="http://schemas.openxmlformats.org/drawingml/2006/main">
              <a:ext uri="{FF2B5EF4-FFF2-40B4-BE49-F238E27FC236}">
                <a16:creationId xmlns:a16="http://schemas.microsoft.com/office/drawing/2014/main" id="{162DAAA5-67A4-4638-A804-A9CF5FC52DDB}"/>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 반복도 Context만의 문제일까?</a:t>
            </a:r>
          </a:p>
        </p:txBody>
      </p:sp>
    </p:spTree>
    <p:extLst>
      <p:ext uri="{BB962C8B-B14F-4D97-AF65-F5344CB8AC3E}">
        <p14:creationId xmlns:p14="http://schemas.microsoft.com/office/powerpoint/2010/main" val="1443738399"/>
      </p:ext>
    </p:extLst>
  </p:cSld>
</p:sld>
</file>

<file path=ppt/slides/slide3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3 · 작업 방법도 반복된다">
            <a:extLst xmlns:a="http://schemas.openxmlformats.org/drawingml/2006/main">
              <a:ext uri="{FF2B5EF4-FFF2-40B4-BE49-F238E27FC236}">
                <a16:creationId xmlns:a16="http://schemas.microsoft.com/office/drawing/2014/main" id="{2529C3FD-5CCC-4180-B57D-FB3DACD6309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작업 방법도 반복된다</a:t>
            </a:r>
          </a:p>
        </p:txBody>
      </p:sp>
      <p:sp>
        <p:nvSpPr>
          <p:cNvPr id="2" name="S37">
            <a:extLst xmlns:a="http://schemas.openxmlformats.org/drawingml/2006/main">
              <a:ext uri="{FF2B5EF4-FFF2-40B4-BE49-F238E27FC236}">
                <a16:creationId xmlns:a16="http://schemas.microsoft.com/office/drawing/2014/main" id="{0F9B0A3C-AAA2-4501-873A-8875C5F30EE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서로 다른 Performance Task,&#10;반복되는 절차">
            <a:extLst xmlns:a="http://schemas.openxmlformats.org/drawingml/2006/main">
              <a:ext uri="{FF2B5EF4-FFF2-40B4-BE49-F238E27FC236}">
                <a16:creationId xmlns:a16="http://schemas.microsoft.com/office/drawing/2014/main" id="{AD2A5252-0474-4991-B75B-F5D67FA961E9}"/>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서로 다른 Performance Task,</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반복되는 절차</a:t>
            </a:r>
          </a:p>
        </p:txBody>
      </p:sp>
      <p:sp>
        <p:nvSpPr>
          <p:cNvPr id="4" name="">
            <a:extLst xmlns:a="http://schemas.openxmlformats.org/drawingml/2006/main">
              <a:ext uri="{FF2B5EF4-FFF2-40B4-BE49-F238E27FC236}">
                <a16:creationId xmlns:a16="http://schemas.microsoft.com/office/drawing/2014/main" id="{EA21A2EA-6E00-4F3B-9C2A-96EDE145D31E}"/>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resize_nearest / TRIAL-007 normalize · 기록한 절차의 재구성">
            <a:extLst xmlns:a="http://schemas.openxmlformats.org/drawingml/2006/main">
              <a:ext uri="{FF2B5EF4-FFF2-40B4-BE49-F238E27FC236}">
                <a16:creationId xmlns:a16="http://schemas.microsoft.com/office/drawing/2014/main" id="{480C5224-FF75-46C6-820E-BC66EDB10352}"/>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resize_nearest / TRIAL-007 normalize · 기록한 절차의 재구성</a:t>
            </a:r>
          </a:p>
        </p:txBody>
      </p:sp>
      <p:sp>
        <p:nvSpPr>
          <p:cNvPr id="6" name="반복은 관찰됐으나 global Harness 영향이 있어 Prompt만의 효과로 귀속하지 않음">
            <a:extLst xmlns:a="http://schemas.openxmlformats.org/drawingml/2006/main">
              <a:ext uri="{FF2B5EF4-FFF2-40B4-BE49-F238E27FC236}">
                <a16:creationId xmlns:a16="http://schemas.microsoft.com/office/drawing/2014/main" id="{87D14927-DAA9-4A7C-B908-8B443D6AA24A}"/>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반복은 관찰됐으나 global Harness 영향이 있어 Prompt만의 효과로 귀속하지 않음</a:t>
            </a:r>
          </a:p>
        </p:txBody>
      </p:sp>
      <p:sp>
        <p:nvSpPr>
          <p:cNvPr id="7" name="Task A · 이미지 크기 변경">
            <a:extLst xmlns:a="http://schemas.openxmlformats.org/drawingml/2006/main">
              <a:ext uri="{FF2B5EF4-FFF2-40B4-BE49-F238E27FC236}">
                <a16:creationId xmlns:a16="http://schemas.microsoft.com/office/drawing/2014/main" id="{53EB9E89-9BA8-4D87-94F8-E532290A42CE}"/>
              </a:ext>
            </a:extLst>
          </p:cNvPr>
          <p:cNvSpPr>
            <a:spLocks xmlns:a="http://schemas.openxmlformats.org/drawingml/2006/main" noGrp="1"/>
          </p:cNvSpPr>
          <p:nvPr/>
        </p:nvSpPr>
        <p:spPr>
          <a:xfrm xmlns:a="http://schemas.openxmlformats.org/drawingml/2006/main">
            <a:off x="609600" y="2276475"/>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Task A · 이미지 크기 변경</a:t>
            </a:r>
          </a:p>
        </p:txBody>
      </p:sp>
      <p:sp>
        <p:nvSpPr>
          <p:cNvPr id="8" name="Task B · 픽셀 범위 정규화">
            <a:extLst xmlns:a="http://schemas.openxmlformats.org/drawingml/2006/main">
              <a:ext uri="{FF2B5EF4-FFF2-40B4-BE49-F238E27FC236}">
                <a16:creationId xmlns:a16="http://schemas.microsoft.com/office/drawing/2014/main" id="{C388CBCE-8A3B-4D67-AF68-6560B28CE1EE}"/>
              </a:ext>
            </a:extLst>
          </p:cNvPr>
          <p:cNvSpPr>
            <a:spLocks xmlns:a="http://schemas.openxmlformats.org/drawingml/2006/main" noGrp="1"/>
          </p:cNvSpPr>
          <p:nvPr/>
        </p:nvSpPr>
        <p:spPr>
          <a:xfrm xmlns:a="http://schemas.openxmlformats.org/drawingml/2006/main">
            <a:off x="6705600" y="227647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Task B · 픽셀 범위 정규화</a:t>
            </a:r>
          </a:p>
        </p:txBody>
      </p:sp>
      <p:sp>
        <p:nvSpPr>
          <p:cNvPr id="9" name="resize_nearest">
            <a:extLst xmlns:a="http://schemas.openxmlformats.org/drawingml/2006/main">
              <a:ext uri="{FF2B5EF4-FFF2-40B4-BE49-F238E27FC236}">
                <a16:creationId xmlns:a16="http://schemas.microsoft.com/office/drawing/2014/main" id="{95F7D7B8-38D3-4723-A537-060F3F94F0F8}"/>
              </a:ext>
            </a:extLst>
          </p:cNvPr>
          <p:cNvSpPr>
            <a:spLocks xmlns:a="http://schemas.openxmlformats.org/drawingml/2006/main" noGrp="1"/>
          </p:cNvSpPr>
          <p:nvPr/>
        </p:nvSpPr>
        <p:spPr>
          <a:xfrm xmlns:a="http://schemas.openxmlformats.org/drawingml/2006/main">
            <a:off x="609600" y="2752725"/>
            <a:ext cx="5143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Consolas"/>
                <a:ea typeface="Consolas"/>
                <a:cs typeface="Consolas"/>
              </a:defRPr>
            </a:defPPr>
            <a:lvl1pPr algn="l">
              <a:defRPr sz="2100" b="0">
                <a:solidFill>
                  <a:srgbClr val="4D5A68"/>
                </a:solidFill>
                <a:latin typeface="Consolas"/>
                <a:ea typeface="Consolas"/>
                <a:cs typeface="Consolas"/>
              </a:defRPr>
            </a:lvl1pPr>
            <a:lvl2pPr algn="l">
              <a:defRPr sz="2100" b="0">
                <a:solidFill>
                  <a:srgbClr val="4D5A68"/>
                </a:solidFill>
                <a:latin typeface="Consolas"/>
                <a:ea typeface="Consolas"/>
                <a:cs typeface="Consolas"/>
              </a:defRPr>
            </a:lvl2pPr>
            <a:lvl3pPr algn="l">
              <a:defRPr sz="2100" b="0">
                <a:solidFill>
                  <a:srgbClr val="4D5A68"/>
                </a:solidFill>
                <a:latin typeface="Consolas"/>
                <a:ea typeface="Consolas"/>
                <a:cs typeface="Consolas"/>
              </a:defRPr>
            </a:lvl3pPr>
            <a:lvl4pPr algn="l">
              <a:defRPr sz="2100" b="0">
                <a:solidFill>
                  <a:srgbClr val="4D5A68"/>
                </a:solidFill>
                <a:latin typeface="Consolas"/>
                <a:ea typeface="Consolas"/>
                <a:cs typeface="Consolas"/>
              </a:defRPr>
            </a:lvl4pPr>
            <a:lvl5pPr algn="l">
              <a:defRPr sz="2100" b="0">
                <a:solidFill>
                  <a:srgbClr val="4D5A68"/>
                </a:solidFill>
                <a:latin typeface="Consolas"/>
                <a:ea typeface="Consolas"/>
                <a:cs typeface="Consolas"/>
              </a:defRPr>
            </a:lvl5pPr>
            <a:lvl6pPr algn="l">
              <a:defRPr sz="2100" b="0">
                <a:solidFill>
                  <a:srgbClr val="4D5A68"/>
                </a:solidFill>
                <a:latin typeface="Consolas"/>
                <a:ea typeface="Consolas"/>
                <a:cs typeface="Consolas"/>
              </a:defRPr>
            </a:lvl6pPr>
            <a:lvl7pPr algn="l">
              <a:defRPr sz="2100" b="0">
                <a:solidFill>
                  <a:srgbClr val="4D5A68"/>
                </a:solidFill>
                <a:latin typeface="Consolas"/>
                <a:ea typeface="Consolas"/>
                <a:cs typeface="Consolas"/>
              </a:defRPr>
            </a:lvl7pPr>
            <a:lvl8pPr algn="l">
              <a:defRPr sz="2100" b="0">
                <a:solidFill>
                  <a:srgbClr val="4D5A68"/>
                </a:solidFill>
                <a:latin typeface="Consolas"/>
                <a:ea typeface="Consolas"/>
                <a:cs typeface="Consolas"/>
              </a:defRPr>
            </a:lvl8pPr>
            <a:lvl9pPr algn="l">
              <a:defRPr sz="2100" b="0">
                <a:solidFill>
                  <a:srgbClr val="4D5A68"/>
                </a:solidFill>
                <a:latin typeface="Consolas"/>
                <a:ea typeface="Consolas"/>
                <a:cs typeface="Consolas"/>
              </a:defRPr>
            </a:lvl9pPr>
          </a:lstStyle>
          <a:p xmlns:a="http://schemas.openxmlformats.org/drawingml/2006/main">
            <a:pPr algn="l">
              <a:defRPr sz="2100" b="0">
                <a:solidFill>
                  <a:srgbClr val="4D5A68"/>
                </a:solidFill>
                <a:latin typeface="Consolas"/>
                <a:ea typeface="Consolas"/>
                <a:cs typeface="Consolas"/>
              </a:defRPr>
            </a:pPr>
            <a:r>
              <a:rPr sz="2100" b="0">
                <a:solidFill>
                  <a:srgbClr val="4D5A68"/>
                </a:solidFill>
                <a:latin typeface="Consolas"/>
                <a:ea typeface="Consolas"/>
                <a:cs typeface="Consolas"/>
              </a:rPr>
              <a:t>resize_nearest</a:t>
            </a:r>
          </a:p>
        </p:txBody>
      </p:sp>
      <p:sp>
        <p:nvSpPr>
          <p:cNvPr id="10" name="normalize">
            <a:extLst xmlns:a="http://schemas.openxmlformats.org/drawingml/2006/main">
              <a:ext uri="{FF2B5EF4-FFF2-40B4-BE49-F238E27FC236}">
                <a16:creationId xmlns:a16="http://schemas.microsoft.com/office/drawing/2014/main" id="{46E43A5E-1AAF-4A94-B90B-BEF77C0AAD4B}"/>
              </a:ext>
            </a:extLst>
          </p:cNvPr>
          <p:cNvSpPr>
            <a:spLocks xmlns:a="http://schemas.openxmlformats.org/drawingml/2006/main" noGrp="1"/>
          </p:cNvSpPr>
          <p:nvPr/>
        </p:nvSpPr>
        <p:spPr>
          <a:xfrm xmlns:a="http://schemas.openxmlformats.org/drawingml/2006/main">
            <a:off x="6705600" y="275272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Consolas"/>
                <a:ea typeface="Consolas"/>
                <a:cs typeface="Consolas"/>
              </a:defRPr>
            </a:defPPr>
            <a:lvl1pPr algn="l">
              <a:defRPr sz="2100" b="0">
                <a:solidFill>
                  <a:srgbClr val="4D5A68"/>
                </a:solidFill>
                <a:latin typeface="Consolas"/>
                <a:ea typeface="Consolas"/>
                <a:cs typeface="Consolas"/>
              </a:defRPr>
            </a:lvl1pPr>
            <a:lvl2pPr algn="l">
              <a:defRPr sz="2100" b="0">
                <a:solidFill>
                  <a:srgbClr val="4D5A68"/>
                </a:solidFill>
                <a:latin typeface="Consolas"/>
                <a:ea typeface="Consolas"/>
                <a:cs typeface="Consolas"/>
              </a:defRPr>
            </a:lvl2pPr>
            <a:lvl3pPr algn="l">
              <a:defRPr sz="2100" b="0">
                <a:solidFill>
                  <a:srgbClr val="4D5A68"/>
                </a:solidFill>
                <a:latin typeface="Consolas"/>
                <a:ea typeface="Consolas"/>
                <a:cs typeface="Consolas"/>
              </a:defRPr>
            </a:lvl3pPr>
            <a:lvl4pPr algn="l">
              <a:defRPr sz="2100" b="0">
                <a:solidFill>
                  <a:srgbClr val="4D5A68"/>
                </a:solidFill>
                <a:latin typeface="Consolas"/>
                <a:ea typeface="Consolas"/>
                <a:cs typeface="Consolas"/>
              </a:defRPr>
            </a:lvl4pPr>
            <a:lvl5pPr algn="l">
              <a:defRPr sz="2100" b="0">
                <a:solidFill>
                  <a:srgbClr val="4D5A68"/>
                </a:solidFill>
                <a:latin typeface="Consolas"/>
                <a:ea typeface="Consolas"/>
                <a:cs typeface="Consolas"/>
              </a:defRPr>
            </a:lvl5pPr>
            <a:lvl6pPr algn="l">
              <a:defRPr sz="2100" b="0">
                <a:solidFill>
                  <a:srgbClr val="4D5A68"/>
                </a:solidFill>
                <a:latin typeface="Consolas"/>
                <a:ea typeface="Consolas"/>
                <a:cs typeface="Consolas"/>
              </a:defRPr>
            </a:lvl6pPr>
            <a:lvl7pPr algn="l">
              <a:defRPr sz="2100" b="0">
                <a:solidFill>
                  <a:srgbClr val="4D5A68"/>
                </a:solidFill>
                <a:latin typeface="Consolas"/>
                <a:ea typeface="Consolas"/>
                <a:cs typeface="Consolas"/>
              </a:defRPr>
            </a:lvl7pPr>
            <a:lvl8pPr algn="l">
              <a:defRPr sz="2100" b="0">
                <a:solidFill>
                  <a:srgbClr val="4D5A68"/>
                </a:solidFill>
                <a:latin typeface="Consolas"/>
                <a:ea typeface="Consolas"/>
                <a:cs typeface="Consolas"/>
              </a:defRPr>
            </a:lvl8pPr>
            <a:lvl9pPr algn="l">
              <a:defRPr sz="2100" b="0">
                <a:solidFill>
                  <a:srgbClr val="4D5A68"/>
                </a:solidFill>
                <a:latin typeface="Consolas"/>
                <a:ea typeface="Consolas"/>
                <a:cs typeface="Consolas"/>
              </a:defRPr>
            </a:lvl9pPr>
          </a:lstStyle>
          <a:p xmlns:a="http://schemas.openxmlformats.org/drawingml/2006/main">
            <a:pPr algn="l">
              <a:defRPr sz="2100" b="0">
                <a:solidFill>
                  <a:srgbClr val="4D5A68"/>
                </a:solidFill>
                <a:latin typeface="Consolas"/>
                <a:ea typeface="Consolas"/>
                <a:cs typeface="Consolas"/>
              </a:defRPr>
            </a:pPr>
            <a:r>
              <a:rPr sz="2100" b="0">
                <a:solidFill>
                  <a:srgbClr val="4D5A68"/>
                </a:solidFill>
                <a:latin typeface="Consolas"/>
                <a:ea typeface="Consolas"/>
                <a:cs typeface="Consolas"/>
              </a:rPr>
              <a:t>normalize</a:t>
            </a:r>
          </a:p>
        </p:txBody>
      </p:sp>
      <p:sp>
        <p:nvSpPr>
          <p:cNvPr id="11" name="">
            <a:extLst xmlns:a="http://schemas.openxmlformats.org/drawingml/2006/main">
              <a:ext uri="{FF2B5EF4-FFF2-40B4-BE49-F238E27FC236}">
                <a16:creationId xmlns:a16="http://schemas.microsoft.com/office/drawing/2014/main" id="{AF3C8F07-0001-4BB6-8011-669D26991424}"/>
              </a:ext>
            </a:extLst>
          </p:cNvPr>
          <p:cNvSpPr>
            <a:spLocks xmlns:a="http://schemas.openxmlformats.org/drawingml/2006/main" noGrp="1"/>
          </p:cNvSpPr>
          <p:nvPr/>
        </p:nvSpPr>
        <p:spPr>
          <a:xfrm xmlns:a="http://schemas.openxmlformats.org/drawingml/2006/main">
            <a:off x="609600" y="3390900"/>
            <a:ext cx="4876800" cy="12858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Baseline → 조사 → 계획 → 변경&#10;Test → Benchmark → 비교 → Review">
            <a:extLst xmlns:a="http://schemas.openxmlformats.org/drawingml/2006/main">
              <a:ext uri="{FF2B5EF4-FFF2-40B4-BE49-F238E27FC236}">
                <a16:creationId xmlns:a16="http://schemas.microsoft.com/office/drawing/2014/main" id="{73EAE93F-240C-4CBA-9124-D90A3D790FA4}"/>
              </a:ext>
            </a:extLst>
          </p:cNvPr>
          <p:cNvSpPr>
            <a:spLocks xmlns:a="http://schemas.openxmlformats.org/drawingml/2006/main" noGrp="1"/>
          </p:cNvSpPr>
          <p:nvPr/>
        </p:nvSpPr>
        <p:spPr>
          <a:xfrm xmlns:a="http://schemas.openxmlformats.org/drawingml/2006/main">
            <a:off x="781050" y="3590925"/>
            <a:ext cx="45339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Baseline → 조사 → 계획 → 변경</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Test → Benchmark → 비교 → Review</a:t>
            </a:r>
          </a:p>
        </p:txBody>
      </p:sp>
      <p:sp>
        <p:nvSpPr>
          <p:cNvPr id="13" name="">
            <a:extLst xmlns:a="http://schemas.openxmlformats.org/drawingml/2006/main">
              <a:ext uri="{FF2B5EF4-FFF2-40B4-BE49-F238E27FC236}">
                <a16:creationId xmlns:a16="http://schemas.microsoft.com/office/drawing/2014/main" id="{52DFB391-DBF2-417A-88C9-303EBA619B3E}"/>
              </a:ext>
            </a:extLst>
          </p:cNvPr>
          <p:cNvSpPr>
            <a:spLocks xmlns:a="http://schemas.openxmlformats.org/drawingml/2006/main" noGrp="1"/>
          </p:cNvSpPr>
          <p:nvPr/>
        </p:nvSpPr>
        <p:spPr>
          <a:xfrm xmlns:a="http://schemas.openxmlformats.org/drawingml/2006/main">
            <a:off x="6705600" y="3390900"/>
            <a:ext cx="4876800" cy="12858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Baseline → 조사 → 계획 → 변경&#10;Test → Benchmark → 비교 → Review">
            <a:extLst xmlns:a="http://schemas.openxmlformats.org/drawingml/2006/main">
              <a:ext uri="{FF2B5EF4-FFF2-40B4-BE49-F238E27FC236}">
                <a16:creationId xmlns:a16="http://schemas.microsoft.com/office/drawing/2014/main" id="{55BE374E-87BF-4702-9ABF-CA8AB6165B71}"/>
              </a:ext>
            </a:extLst>
          </p:cNvPr>
          <p:cNvSpPr>
            <a:spLocks xmlns:a="http://schemas.openxmlformats.org/drawingml/2006/main" noGrp="1"/>
          </p:cNvSpPr>
          <p:nvPr/>
        </p:nvSpPr>
        <p:spPr>
          <a:xfrm xmlns:a="http://schemas.openxmlformats.org/drawingml/2006/main">
            <a:off x="6877050" y="3590925"/>
            <a:ext cx="45339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Baseline → 조사 → 계획 → 변경</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Test → Benchmark → 비교 → Review</a:t>
            </a:r>
          </a:p>
        </p:txBody>
      </p:sp>
      <p:sp>
        <p:nvSpPr>
          <p:cNvPr id="15" name="Task 목표가 달라도, 일하는 순서는 다시 쓰였다">
            <a:extLst xmlns:a="http://schemas.openxmlformats.org/drawingml/2006/main">
              <a:ext uri="{FF2B5EF4-FFF2-40B4-BE49-F238E27FC236}">
                <a16:creationId xmlns:a16="http://schemas.microsoft.com/office/drawing/2014/main" id="{70DBA960-FBC9-4095-8F40-EDF7B7142723}"/>
              </a:ext>
            </a:extLst>
          </p:cNvPr>
          <p:cNvSpPr>
            <a:spLocks xmlns:a="http://schemas.openxmlformats.org/drawingml/2006/main" noGrp="1"/>
          </p:cNvSpPr>
          <p:nvPr/>
        </p:nvSpPr>
        <p:spPr>
          <a:xfrm xmlns:a="http://schemas.openxmlformats.org/drawingml/2006/main">
            <a:off x="609600" y="52101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Task 목표가 달라도, 일하는 순서는 다시 쓰였다</a:t>
            </a:r>
          </a:p>
        </p:txBody>
      </p:sp>
    </p:spTree>
    <p:extLst>
      <p:ext uri="{BB962C8B-B14F-4D97-AF65-F5344CB8AC3E}">
        <p14:creationId xmlns:p14="http://schemas.microsoft.com/office/powerpoint/2010/main" val="1541163191"/>
      </p:ext>
    </p:extLst>
  </p:cSld>
</p:sld>
</file>

<file path=ppt/slides/slide3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3 · 알아야 할 것과 따라야 할 방법">
            <a:extLst xmlns:a="http://schemas.openxmlformats.org/drawingml/2006/main">
              <a:ext uri="{FF2B5EF4-FFF2-40B4-BE49-F238E27FC236}">
                <a16:creationId xmlns:a16="http://schemas.microsoft.com/office/drawing/2014/main" id="{8142A8DE-2142-4EED-9AAD-9190330F894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알아야 할 것과 따라야 할 방법</a:t>
            </a:r>
          </a:p>
        </p:txBody>
      </p:sp>
      <p:sp>
        <p:nvSpPr>
          <p:cNvPr id="2" name="S38">
            <a:extLst xmlns:a="http://schemas.openxmlformats.org/drawingml/2006/main">
              <a:ext uri="{FF2B5EF4-FFF2-40B4-BE49-F238E27FC236}">
                <a16:creationId xmlns:a16="http://schemas.microsoft.com/office/drawing/2014/main" id="{5A4B7CA4-D5AA-4C8A-ABC0-50FB73FF241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Project 사실과 작업 절차는 다르다">
            <a:extLst xmlns:a="http://schemas.openxmlformats.org/drawingml/2006/main">
              <a:ext uri="{FF2B5EF4-FFF2-40B4-BE49-F238E27FC236}">
                <a16:creationId xmlns:a16="http://schemas.microsoft.com/office/drawing/2014/main" id="{30582259-20C8-40F1-AF0A-ECE0BCF746C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 사실과 작업 절차는 다르다</a:t>
            </a:r>
          </a:p>
        </p:txBody>
      </p:sp>
      <p:sp>
        <p:nvSpPr>
          <p:cNvPr id="4" name="">
            <a:extLst xmlns:a="http://schemas.openxmlformats.org/drawingml/2006/main">
              <a:ext uri="{FF2B5EF4-FFF2-40B4-BE49-F238E27FC236}">
                <a16:creationId xmlns:a16="http://schemas.microsoft.com/office/drawing/2014/main" id="{40D0A5F7-B070-4C6E-9BA9-FD449AA5A984}"/>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TRIAL-006/007의 반복 절차에서 출발">
            <a:extLst xmlns:a="http://schemas.openxmlformats.org/drawingml/2006/main">
              <a:ext uri="{FF2B5EF4-FFF2-40B4-BE49-F238E27FC236}">
                <a16:creationId xmlns:a16="http://schemas.microsoft.com/office/drawing/2014/main" id="{58D1353E-0B46-49A2-9E99-0443FC1F769F}"/>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TRIAL-006/007의 반복 절차에서 출발</a:t>
            </a:r>
          </a:p>
        </p:txBody>
      </p:sp>
      <p:sp>
        <p:nvSpPr>
          <p:cNvPr id="6" name="Project 정보를 더 주는 것만으로 반복되는 절차의 유지 문제가 해결되지는 않는다">
            <a:extLst xmlns:a="http://schemas.openxmlformats.org/drawingml/2006/main">
              <a:ext uri="{FF2B5EF4-FFF2-40B4-BE49-F238E27FC236}">
                <a16:creationId xmlns:a16="http://schemas.microsoft.com/office/drawing/2014/main" id="{B7B4608B-33D1-4589-9BC8-091755D7A3C5}"/>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Project 정보를 더 주는 것만으로 반복되는 절차의 유지 문제가 해결되지는 않는다</a:t>
            </a:r>
          </a:p>
        </p:txBody>
      </p:sp>
      <p:sp>
        <p:nvSpPr>
          <p:cNvPr id="7" name="무엇이 참인가?">
            <a:extLst xmlns:a="http://schemas.openxmlformats.org/drawingml/2006/main">
              <a:ext uri="{FF2B5EF4-FFF2-40B4-BE49-F238E27FC236}">
                <a16:creationId xmlns:a16="http://schemas.microsoft.com/office/drawing/2014/main" id="{AA406E8E-E57A-4DD6-87D2-1D02BC5D1DF5}"/>
              </a:ext>
            </a:extLst>
          </p:cNvPr>
          <p:cNvSpPr>
            <a:spLocks xmlns:a="http://schemas.openxmlformats.org/drawingml/2006/main" noGrp="1"/>
          </p:cNvSpPr>
          <p:nvPr/>
        </p:nvSpPr>
        <p:spPr>
          <a:xfrm xmlns:a="http://schemas.openxmlformats.org/drawingml/2006/main">
            <a:off x="609600" y="2219325"/>
            <a:ext cx="4953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무엇이 참인가?</a:t>
            </a:r>
          </a:p>
        </p:txBody>
      </p:sp>
      <p:sp>
        <p:nvSpPr>
          <p:cNvPr id="8" name="어떤 순서로 일할까?">
            <a:extLst xmlns:a="http://schemas.openxmlformats.org/drawingml/2006/main">
              <a:ext uri="{FF2B5EF4-FFF2-40B4-BE49-F238E27FC236}">
                <a16:creationId xmlns:a16="http://schemas.microsoft.com/office/drawing/2014/main" id="{D71BB79E-166F-4660-94BB-7D4E9749B7F9}"/>
              </a:ext>
            </a:extLst>
          </p:cNvPr>
          <p:cNvSpPr>
            <a:spLocks xmlns:a="http://schemas.openxmlformats.org/drawingml/2006/main" noGrp="1"/>
          </p:cNvSpPr>
          <p:nvPr/>
        </p:nvSpPr>
        <p:spPr>
          <a:xfrm xmlns:a="http://schemas.openxmlformats.org/drawingml/2006/main">
            <a:off x="6705600" y="22193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어떤 순서로 일할까?</a:t>
            </a:r>
          </a:p>
        </p:txBody>
      </p:sp>
      <p:sp>
        <p:nvSpPr>
          <p:cNvPr id="9" name="">
            <a:extLst xmlns:a="http://schemas.openxmlformats.org/drawingml/2006/main">
              <a:ext uri="{FF2B5EF4-FFF2-40B4-BE49-F238E27FC236}">
                <a16:creationId xmlns:a16="http://schemas.microsoft.com/office/drawing/2014/main" id="{2CC4CDAA-77D7-467F-863B-64C64354F585}"/>
              </a:ext>
            </a:extLst>
          </p:cNvPr>
          <p:cNvSpPr>
            <a:spLocks xmlns:a="http://schemas.openxmlformats.org/drawingml/2006/main" noGrp="1"/>
          </p:cNvSpPr>
          <p:nvPr/>
        </p:nvSpPr>
        <p:spPr>
          <a:xfrm xmlns:a="http://schemas.openxmlformats.org/drawingml/2006/main">
            <a:off x="609600" y="2847975"/>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A2D27CB8-0895-4A1E-B873-0C3EC8D645C1}"/>
              </a:ext>
            </a:extLst>
          </p:cNvPr>
          <p:cNvSpPr>
            <a:spLocks xmlns:a="http://schemas.openxmlformats.org/drawingml/2006/main" noGrp="1"/>
          </p:cNvSpPr>
          <p:nvPr/>
        </p:nvSpPr>
        <p:spPr>
          <a:xfrm xmlns:a="http://schemas.openxmlformats.org/drawingml/2006/main">
            <a:off x="6705600" y="28479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crop은 끝 열을 제외한다&#10;[x_start, x_end)">
            <a:extLst xmlns:a="http://schemas.openxmlformats.org/drawingml/2006/main">
              <a:ext uri="{FF2B5EF4-FFF2-40B4-BE49-F238E27FC236}">
                <a16:creationId xmlns:a16="http://schemas.microsoft.com/office/drawing/2014/main" id="{5A79E085-8225-465B-9F01-B60F6542AE19}"/>
              </a:ext>
            </a:extLst>
          </p:cNvPr>
          <p:cNvSpPr>
            <a:spLocks xmlns:a="http://schemas.openxmlformats.org/drawingml/2006/main" noGrp="1"/>
          </p:cNvSpPr>
          <p:nvPr/>
        </p:nvSpPr>
        <p:spPr>
          <a:xfrm xmlns:a="http://schemas.openxmlformats.org/drawingml/2006/main">
            <a:off x="609600" y="3228975"/>
            <a:ext cx="4953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crop은 끝 열을 제외한다</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[x_start, x_end)</a:t>
            </a:r>
          </a:p>
        </p:txBody>
      </p:sp>
      <p:sp>
        <p:nvSpPr>
          <p:cNvPr id="12" name="변경 전에 측정한다&#10;변경 후 같은 입력으로 비교한다">
            <a:extLst xmlns:a="http://schemas.openxmlformats.org/drawingml/2006/main">
              <a:ext uri="{FF2B5EF4-FFF2-40B4-BE49-F238E27FC236}">
                <a16:creationId xmlns:a16="http://schemas.microsoft.com/office/drawing/2014/main" id="{7B3F600A-4270-429C-BCE3-9CA69629CBE8}"/>
              </a:ext>
            </a:extLst>
          </p:cNvPr>
          <p:cNvSpPr>
            <a:spLocks xmlns:a="http://schemas.openxmlformats.org/drawingml/2006/main" noGrp="1"/>
          </p:cNvSpPr>
          <p:nvPr/>
        </p:nvSpPr>
        <p:spPr>
          <a:xfrm xmlns:a="http://schemas.openxmlformats.org/drawingml/2006/main">
            <a:off x="6705600" y="3228975"/>
            <a:ext cx="4876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변경 전에 측정한다</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변경 후 같은 입력으로 비교한다</a:t>
            </a:r>
          </a:p>
        </p:txBody>
      </p:sp>
      <p:sp>
        <p:nvSpPr>
          <p:cNvPr id="13" name="Project Context">
            <a:extLst xmlns:a="http://schemas.openxmlformats.org/drawingml/2006/main">
              <a:ext uri="{FF2B5EF4-FFF2-40B4-BE49-F238E27FC236}">
                <a16:creationId xmlns:a16="http://schemas.microsoft.com/office/drawing/2014/main" id="{0FB9A27C-A5B0-4E37-9205-FC428C64DCAC}"/>
              </a:ext>
            </a:extLst>
          </p:cNvPr>
          <p:cNvSpPr>
            <a:spLocks xmlns:a="http://schemas.openxmlformats.org/drawingml/2006/main" noGrp="1"/>
          </p:cNvSpPr>
          <p:nvPr/>
        </p:nvSpPr>
        <p:spPr>
          <a:xfrm xmlns:a="http://schemas.openxmlformats.org/drawingml/2006/main">
            <a:off x="609600" y="45339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Project Context</a:t>
            </a:r>
          </a:p>
        </p:txBody>
      </p:sp>
      <p:sp>
        <p:nvSpPr>
          <p:cNvPr id="14" name="Workflow">
            <a:extLst xmlns:a="http://schemas.openxmlformats.org/drawingml/2006/main">
              <a:ext uri="{FF2B5EF4-FFF2-40B4-BE49-F238E27FC236}">
                <a16:creationId xmlns:a16="http://schemas.microsoft.com/office/drawing/2014/main" id="{267C6D84-9EAE-4C22-9382-AF63A5A4D013}"/>
              </a:ext>
            </a:extLst>
          </p:cNvPr>
          <p:cNvSpPr>
            <a:spLocks xmlns:a="http://schemas.openxmlformats.org/drawingml/2006/main" noGrp="1"/>
          </p:cNvSpPr>
          <p:nvPr/>
        </p:nvSpPr>
        <p:spPr>
          <a:xfrm xmlns:a="http://schemas.openxmlformats.org/drawingml/2006/main">
            <a:off x="6705600" y="45339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Workflow</a:t>
            </a:r>
          </a:p>
        </p:txBody>
      </p:sp>
      <p:sp>
        <p:nvSpPr>
          <p:cNvPr id="15" name="이번에 무엇을 원하는가?  →  현재 목표는 Task Prompt에">
            <a:extLst xmlns:a="http://schemas.openxmlformats.org/drawingml/2006/main">
              <a:ext uri="{FF2B5EF4-FFF2-40B4-BE49-F238E27FC236}">
                <a16:creationId xmlns:a16="http://schemas.microsoft.com/office/drawing/2014/main" id="{9035EDC5-5DC3-458A-8246-AC7CA7870430}"/>
              </a:ext>
            </a:extLst>
          </p:cNvPr>
          <p:cNvSpPr>
            <a:spLocks xmlns:a="http://schemas.openxmlformats.org/drawingml/2006/main" noGrp="1"/>
          </p:cNvSpPr>
          <p:nvPr/>
        </p:nvSpPr>
        <p:spPr>
          <a:xfrm xmlns:a="http://schemas.openxmlformats.org/drawingml/2006/main">
            <a:off x="609600" y="52673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이번에 무엇을 원하는가?  →  현재 목표는 Task Prompt에</a:t>
            </a:r>
          </a:p>
        </p:txBody>
      </p:sp>
    </p:spTree>
    <p:extLst>
      <p:ext uri="{BB962C8B-B14F-4D97-AF65-F5344CB8AC3E}">
        <p14:creationId xmlns:p14="http://schemas.microsoft.com/office/powerpoint/2010/main" val="2141088739"/>
      </p:ext>
    </p:extLst>
  </p:cSld>
</p:sld>
</file>

<file path=ppt/slides/slide3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세 가지 책임을 나누기">
            <a:extLst xmlns:a="http://schemas.openxmlformats.org/drawingml/2006/main">
              <a:ext uri="{FF2B5EF4-FFF2-40B4-BE49-F238E27FC236}">
                <a16:creationId xmlns:a16="http://schemas.microsoft.com/office/drawing/2014/main" id="{E752D06D-DDEB-4430-BC7B-355355C890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세 가지 책임을 나누기</a:t>
            </a:r>
          </a:p>
        </p:txBody>
      </p:sp>
      <p:sp>
        <p:nvSpPr>
          <p:cNvPr id="2" name="S39">
            <a:extLst xmlns:a="http://schemas.openxmlformats.org/drawingml/2006/main">
              <a:ext uri="{FF2B5EF4-FFF2-40B4-BE49-F238E27FC236}">
                <a16:creationId xmlns:a16="http://schemas.microsoft.com/office/drawing/2014/main" id="{C0A83890-547B-4163-AB89-75DCB791620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Task, Context, Workflow의 역할">
            <a:extLst xmlns:a="http://schemas.openxmlformats.org/drawingml/2006/main">
              <a:ext uri="{FF2B5EF4-FFF2-40B4-BE49-F238E27FC236}">
                <a16:creationId xmlns:a16="http://schemas.microsoft.com/office/drawing/2014/main" id="{743F9EFF-B4E0-4CF2-A14F-79D4861BBE6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Context, Workflow의 역할</a:t>
            </a:r>
          </a:p>
        </p:txBody>
      </p:sp>
      <p:sp>
        <p:nvSpPr>
          <p:cNvPr id="4" name="">
            <a:extLst xmlns:a="http://schemas.openxmlformats.org/drawingml/2006/main">
              <a:ext uri="{FF2B5EF4-FFF2-40B4-BE49-F238E27FC236}">
                <a16:creationId xmlns:a16="http://schemas.microsoft.com/office/drawing/2014/main" id="{B2C8730E-5A62-4728-907B-670E7A4C241D}"/>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책임 구분 · 현재 목표 / 프로젝트 사실 / 반복 절차">
            <a:extLst xmlns:a="http://schemas.openxmlformats.org/drawingml/2006/main">
              <a:ext uri="{FF2B5EF4-FFF2-40B4-BE49-F238E27FC236}">
                <a16:creationId xmlns:a16="http://schemas.microsoft.com/office/drawing/2014/main" id="{8E6F4F47-F895-447A-8B58-572F2E9DEBDF}"/>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책임 구분 · 현재 목표 / 프로젝트 사실 / 반복 절차</a:t>
            </a:r>
          </a:p>
        </p:txBody>
      </p:sp>
      <p:sp>
        <p:nvSpPr>
          <p:cNvPr id="6" name="Prompt 밖에 둘 수 있는 정보라도 유지해야 할 책임은 서로 다르다">
            <a:extLst xmlns:a="http://schemas.openxmlformats.org/drawingml/2006/main">
              <a:ext uri="{FF2B5EF4-FFF2-40B4-BE49-F238E27FC236}">
                <a16:creationId xmlns:a16="http://schemas.microsoft.com/office/drawing/2014/main" id="{A682F05A-FCB3-4F27-AA35-DE3E35841635}"/>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Prompt 밖에 둘 수 있는 정보라도 유지해야 할 책임은 서로 다르다</a:t>
            </a:r>
          </a:p>
        </p:txBody>
      </p:sp>
      <p:sp>
        <p:nvSpPr>
          <p:cNvPr id="7" name="">
            <a:extLst xmlns:a="http://schemas.openxmlformats.org/drawingml/2006/main">
              <a:ext uri="{FF2B5EF4-FFF2-40B4-BE49-F238E27FC236}">
                <a16:creationId xmlns:a16="http://schemas.microsoft.com/office/drawing/2014/main" id="{2E18D603-1AB2-4160-AF2C-6341F24EB9DC}"/>
              </a:ext>
            </a:extLst>
          </p:cNvPr>
          <p:cNvSpPr>
            <a:spLocks xmlns:a="http://schemas.openxmlformats.org/drawingml/2006/main" noGrp="1"/>
          </p:cNvSpPr>
          <p:nvPr/>
        </p:nvSpPr>
        <p:spPr>
          <a:xfrm xmlns:a="http://schemas.openxmlformats.org/drawingml/2006/main">
            <a:off x="609600" y="2209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Task Prompt">
            <a:extLst xmlns:a="http://schemas.openxmlformats.org/drawingml/2006/main">
              <a:ext uri="{FF2B5EF4-FFF2-40B4-BE49-F238E27FC236}">
                <a16:creationId xmlns:a16="http://schemas.microsoft.com/office/drawing/2014/main" id="{192D26A0-276B-43F2-970F-0BCF760A3142}"/>
              </a:ext>
            </a:extLst>
          </p:cNvPr>
          <p:cNvSpPr>
            <a:spLocks xmlns:a="http://schemas.openxmlformats.org/drawingml/2006/main" noGrp="1"/>
          </p:cNvSpPr>
          <p:nvPr/>
        </p:nvSpPr>
        <p:spPr>
          <a:xfrm xmlns:a="http://schemas.openxmlformats.org/drawingml/2006/main">
            <a:off x="609600" y="2352675"/>
            <a:ext cx="3086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Task Prompt</a:t>
            </a:r>
          </a:p>
        </p:txBody>
      </p:sp>
      <p:sp>
        <p:nvSpPr>
          <p:cNvPr id="9" name="지금 무엇을 바꿀까?">
            <a:extLst xmlns:a="http://schemas.openxmlformats.org/drawingml/2006/main">
              <a:ext uri="{FF2B5EF4-FFF2-40B4-BE49-F238E27FC236}">
                <a16:creationId xmlns:a16="http://schemas.microsoft.com/office/drawing/2014/main" id="{D41B8350-7E19-46ED-99F4-C518557BA8E2}"/>
              </a:ext>
            </a:extLst>
          </p:cNvPr>
          <p:cNvSpPr>
            <a:spLocks xmlns:a="http://schemas.openxmlformats.org/drawingml/2006/main" noGrp="1"/>
          </p:cNvSpPr>
          <p:nvPr/>
        </p:nvSpPr>
        <p:spPr>
          <a:xfrm xmlns:a="http://schemas.openxmlformats.org/drawingml/2006/main">
            <a:off x="4143375" y="2352675"/>
            <a:ext cx="74390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지금 무엇을 바꿀까?</a:t>
            </a:r>
          </a:p>
        </p:txBody>
      </p:sp>
      <p:sp>
        <p:nvSpPr>
          <p:cNvPr id="10" name="normalize의 성능 조사">
            <a:extLst xmlns:a="http://schemas.openxmlformats.org/drawingml/2006/main">
              <a:ext uri="{FF2B5EF4-FFF2-40B4-BE49-F238E27FC236}">
                <a16:creationId xmlns:a16="http://schemas.microsoft.com/office/drawing/2014/main" id="{0DB72906-E745-4B23-8CAE-728DE9F2A982}"/>
              </a:ext>
            </a:extLst>
          </p:cNvPr>
          <p:cNvSpPr>
            <a:spLocks xmlns:a="http://schemas.openxmlformats.org/drawingml/2006/main" noGrp="1"/>
          </p:cNvSpPr>
          <p:nvPr/>
        </p:nvSpPr>
        <p:spPr>
          <a:xfrm xmlns:a="http://schemas.openxmlformats.org/drawingml/2006/main">
            <a:off x="4143375" y="2819400"/>
            <a:ext cx="74390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normalize의 성능 조사</a:t>
            </a:r>
          </a:p>
        </p:txBody>
      </p:sp>
      <p:sp>
        <p:nvSpPr>
          <p:cNvPr id="11" name="">
            <a:extLst xmlns:a="http://schemas.openxmlformats.org/drawingml/2006/main">
              <a:ext uri="{FF2B5EF4-FFF2-40B4-BE49-F238E27FC236}">
                <a16:creationId xmlns:a16="http://schemas.microsoft.com/office/drawing/2014/main" id="{C4D1B559-EE13-4071-8012-F64B8A4E5A94}"/>
              </a:ext>
            </a:extLst>
          </p:cNvPr>
          <p:cNvSpPr>
            <a:spLocks xmlns:a="http://schemas.openxmlformats.org/drawingml/2006/main" noGrp="1"/>
          </p:cNvSpPr>
          <p:nvPr/>
        </p:nvSpPr>
        <p:spPr>
          <a:xfrm xmlns:a="http://schemas.openxmlformats.org/drawingml/2006/main">
            <a:off x="609600" y="3314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Project Context">
            <a:extLst xmlns:a="http://schemas.openxmlformats.org/drawingml/2006/main">
              <a:ext uri="{FF2B5EF4-FFF2-40B4-BE49-F238E27FC236}">
                <a16:creationId xmlns:a16="http://schemas.microsoft.com/office/drawing/2014/main" id="{1D2647F1-6B08-4144-AE35-03AAA1BC6E1F}"/>
              </a:ext>
            </a:extLst>
          </p:cNvPr>
          <p:cNvSpPr>
            <a:spLocks xmlns:a="http://schemas.openxmlformats.org/drawingml/2006/main" noGrp="1"/>
          </p:cNvSpPr>
          <p:nvPr/>
        </p:nvSpPr>
        <p:spPr>
          <a:xfrm xmlns:a="http://schemas.openxmlformats.org/drawingml/2006/main">
            <a:off x="609600" y="3457575"/>
            <a:ext cx="3086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Project Context</a:t>
            </a:r>
          </a:p>
        </p:txBody>
      </p:sp>
      <p:sp>
        <p:nvSpPr>
          <p:cNvPr id="13" name="무엇을 지켜야 할까?">
            <a:extLst xmlns:a="http://schemas.openxmlformats.org/drawingml/2006/main">
              <a:ext uri="{FF2B5EF4-FFF2-40B4-BE49-F238E27FC236}">
                <a16:creationId xmlns:a16="http://schemas.microsoft.com/office/drawing/2014/main" id="{2DFA45B4-DCF4-4618-A9B8-47B4AE670FDA}"/>
              </a:ext>
            </a:extLst>
          </p:cNvPr>
          <p:cNvSpPr>
            <a:spLocks xmlns:a="http://schemas.openxmlformats.org/drawingml/2006/main" noGrp="1"/>
          </p:cNvSpPr>
          <p:nvPr/>
        </p:nvSpPr>
        <p:spPr>
          <a:xfrm xmlns:a="http://schemas.openxmlformats.org/drawingml/2006/main">
            <a:off x="4143375" y="3457575"/>
            <a:ext cx="74390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지켜야 할까?</a:t>
            </a:r>
          </a:p>
        </p:txBody>
      </p:sp>
      <p:sp>
        <p:nvSpPr>
          <p:cNvPr id="14" name="기존 이미지 동작과 공개 계약 보존">
            <a:extLst xmlns:a="http://schemas.openxmlformats.org/drawingml/2006/main">
              <a:ext uri="{FF2B5EF4-FFF2-40B4-BE49-F238E27FC236}">
                <a16:creationId xmlns:a16="http://schemas.microsoft.com/office/drawing/2014/main" id="{A6D6F6D6-8E51-4178-9AC6-1A718D73A548}"/>
              </a:ext>
            </a:extLst>
          </p:cNvPr>
          <p:cNvSpPr>
            <a:spLocks xmlns:a="http://schemas.openxmlformats.org/drawingml/2006/main" noGrp="1"/>
          </p:cNvSpPr>
          <p:nvPr/>
        </p:nvSpPr>
        <p:spPr>
          <a:xfrm xmlns:a="http://schemas.openxmlformats.org/drawingml/2006/main">
            <a:off x="4143375" y="3924300"/>
            <a:ext cx="74390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기존 이미지 동작과 공개 계약 보존</a:t>
            </a:r>
          </a:p>
        </p:txBody>
      </p:sp>
      <p:sp>
        <p:nvSpPr>
          <p:cNvPr id="15" name="">
            <a:extLst xmlns:a="http://schemas.openxmlformats.org/drawingml/2006/main">
              <a:ext uri="{FF2B5EF4-FFF2-40B4-BE49-F238E27FC236}">
                <a16:creationId xmlns:a16="http://schemas.microsoft.com/office/drawing/2014/main" id="{78484FB3-4F66-4E16-80DF-A83FC9B2DACA}"/>
              </a:ext>
            </a:extLst>
          </p:cNvPr>
          <p:cNvSpPr>
            <a:spLocks xmlns:a="http://schemas.openxmlformats.org/drawingml/2006/main" noGrp="1"/>
          </p:cNvSpPr>
          <p:nvPr/>
        </p:nvSpPr>
        <p:spPr>
          <a:xfrm xmlns:a="http://schemas.openxmlformats.org/drawingml/2006/main">
            <a:off x="609600" y="44196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Reusable Workflow">
            <a:extLst xmlns:a="http://schemas.openxmlformats.org/drawingml/2006/main">
              <a:ext uri="{FF2B5EF4-FFF2-40B4-BE49-F238E27FC236}">
                <a16:creationId xmlns:a16="http://schemas.microsoft.com/office/drawing/2014/main" id="{813D2F9E-8EF9-4F38-A619-C86E86F63D24}"/>
              </a:ext>
            </a:extLst>
          </p:cNvPr>
          <p:cNvSpPr>
            <a:spLocks xmlns:a="http://schemas.openxmlformats.org/drawingml/2006/main" noGrp="1"/>
          </p:cNvSpPr>
          <p:nvPr/>
        </p:nvSpPr>
        <p:spPr>
          <a:xfrm xmlns:a="http://schemas.openxmlformats.org/drawingml/2006/main">
            <a:off x="609600" y="4562475"/>
            <a:ext cx="3086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Reusable Workflow</a:t>
            </a:r>
          </a:p>
        </p:txBody>
      </p:sp>
      <p:sp>
        <p:nvSpPr>
          <p:cNvPr id="17" name="어떤 순서로 확인할까?">
            <a:extLst xmlns:a="http://schemas.openxmlformats.org/drawingml/2006/main">
              <a:ext uri="{FF2B5EF4-FFF2-40B4-BE49-F238E27FC236}">
                <a16:creationId xmlns:a16="http://schemas.microsoft.com/office/drawing/2014/main" id="{D4C40150-04FA-4432-8EE3-AE60387E0E09}"/>
              </a:ext>
            </a:extLst>
          </p:cNvPr>
          <p:cNvSpPr>
            <a:spLocks xmlns:a="http://schemas.openxmlformats.org/drawingml/2006/main" noGrp="1"/>
          </p:cNvSpPr>
          <p:nvPr/>
        </p:nvSpPr>
        <p:spPr>
          <a:xfrm xmlns:a="http://schemas.openxmlformats.org/drawingml/2006/main">
            <a:off x="4143375" y="4562475"/>
            <a:ext cx="74390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어떤 순서로 확인할까?</a:t>
            </a:r>
          </a:p>
        </p:txBody>
      </p:sp>
      <p:sp>
        <p:nvSpPr>
          <p:cNvPr id="18" name="baseline → 조사 → 검증 → 비교">
            <a:extLst xmlns:a="http://schemas.openxmlformats.org/drawingml/2006/main">
              <a:ext uri="{FF2B5EF4-FFF2-40B4-BE49-F238E27FC236}">
                <a16:creationId xmlns:a16="http://schemas.microsoft.com/office/drawing/2014/main" id="{46EFAF81-6F7C-4C7F-8A6A-63B86C819797}"/>
              </a:ext>
            </a:extLst>
          </p:cNvPr>
          <p:cNvSpPr>
            <a:spLocks xmlns:a="http://schemas.openxmlformats.org/drawingml/2006/main" noGrp="1"/>
          </p:cNvSpPr>
          <p:nvPr/>
        </p:nvSpPr>
        <p:spPr>
          <a:xfrm xmlns:a="http://schemas.openxmlformats.org/drawingml/2006/main">
            <a:off x="4143375" y="5029200"/>
            <a:ext cx="74390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baseline → 조사 → 검증 → 비교</a:t>
            </a:r>
          </a:p>
        </p:txBody>
      </p:sp>
    </p:spTree>
    <p:extLst>
      <p:ext uri="{BB962C8B-B14F-4D97-AF65-F5344CB8AC3E}">
        <p14:creationId xmlns:p14="http://schemas.microsoft.com/office/powerpoint/2010/main" val="1656415629"/>
      </p:ext>
    </p:extLst>
  </p:cSld>
</p:sld>
</file>

<file path=ppt/slides/slide4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3 · 재사용할 구조를 선택하기">
            <a:extLst xmlns:a="http://schemas.openxmlformats.org/drawingml/2006/main">
              <a:ext uri="{FF2B5EF4-FFF2-40B4-BE49-F238E27FC236}">
                <a16:creationId xmlns:a16="http://schemas.microsoft.com/office/drawing/2014/main" id="{4F3FF194-90C9-4741-939A-1D625FD9DBB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구조를 선택하기</a:t>
            </a:r>
          </a:p>
        </p:txBody>
      </p:sp>
      <p:sp>
        <p:nvSpPr>
          <p:cNvPr id="2" name="S40">
            <a:extLst xmlns:a="http://schemas.openxmlformats.org/drawingml/2006/main">
              <a:ext uri="{FF2B5EF4-FFF2-40B4-BE49-F238E27FC236}">
                <a16:creationId xmlns:a16="http://schemas.microsoft.com/office/drawing/2014/main" id="{02ADAAB6-6F3A-476D-9D2C-A5720403E61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반복 절차를 Skill로 옮길 수 있을까?">
            <a:extLst xmlns:a="http://schemas.openxmlformats.org/drawingml/2006/main">
              <a:ext uri="{FF2B5EF4-FFF2-40B4-BE49-F238E27FC236}">
                <a16:creationId xmlns:a16="http://schemas.microsoft.com/office/drawing/2014/main" id="{2EC46540-3863-4977-B800-115EFD0CDF3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옮길 수 있을까?</a:t>
            </a:r>
          </a:p>
        </p:txBody>
      </p:sp>
      <p:sp>
        <p:nvSpPr>
          <p:cNvPr id="4" name="">
            <a:extLst xmlns:a="http://schemas.openxmlformats.org/drawingml/2006/main">
              <a:ext uri="{FF2B5EF4-FFF2-40B4-BE49-F238E27FC236}">
                <a16:creationId xmlns:a16="http://schemas.microsoft.com/office/drawing/2014/main" id="{7C9835EE-DFF4-4972-BF8C-FF70B9466BD3}"/>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반복 절차를 Repository Skill로 옮기는 설계 후보">
            <a:extLst xmlns:a="http://schemas.openxmlformats.org/drawingml/2006/main">
              <a:ext uri="{FF2B5EF4-FFF2-40B4-BE49-F238E27FC236}">
                <a16:creationId xmlns:a16="http://schemas.microsoft.com/office/drawing/2014/main" id="{75D8E926-B1F6-4486-822B-EE580F627460}"/>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반복 절차를 Repository Skill로 옮기는 설계 후보</a:t>
            </a:r>
          </a:p>
        </p:txBody>
      </p:sp>
      <p:sp>
        <p:nvSpPr>
          <p:cNvPr id="6" name="아직 성공 결과를 제시하는 장이 아님 · 대상 제품·계정·호출 방식은 별도 확인 필요">
            <a:extLst xmlns:a="http://schemas.openxmlformats.org/drawingml/2006/main">
              <a:ext uri="{FF2B5EF4-FFF2-40B4-BE49-F238E27FC236}">
                <a16:creationId xmlns:a16="http://schemas.microsoft.com/office/drawing/2014/main" id="{41AE0497-A9D9-4E4D-AA5F-B683654DDEFB}"/>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아직 성공 결과를 제시하는 장이 아님 · 대상 제품·계정·호출 방식은 별도 확인 필요</a:t>
            </a:r>
          </a:p>
        </p:txBody>
      </p:sp>
      <p:sp>
        <p:nvSpPr>
          <p:cNvPr id="7" name="매번 Prompt에 쓰기">
            <a:extLst xmlns:a="http://schemas.openxmlformats.org/drawingml/2006/main">
              <a:ext uri="{FF2B5EF4-FFF2-40B4-BE49-F238E27FC236}">
                <a16:creationId xmlns:a16="http://schemas.microsoft.com/office/drawing/2014/main" id="{DADAC529-F074-44DB-AE56-16FC33EE9B58}"/>
              </a:ext>
            </a:extLst>
          </p:cNvPr>
          <p:cNvSpPr>
            <a:spLocks xmlns:a="http://schemas.openxmlformats.org/drawingml/2006/main" noGrp="1"/>
          </p:cNvSpPr>
          <p:nvPr/>
        </p:nvSpPr>
        <p:spPr>
          <a:xfrm xmlns:a="http://schemas.openxmlformats.org/drawingml/2006/main">
            <a:off x="609600" y="220027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매번 Prompt에 쓰기</a:t>
            </a:r>
          </a:p>
        </p:txBody>
      </p:sp>
      <p:sp>
        <p:nvSpPr>
          <p:cNvPr id="8" name="후보: 절차는 Repository에">
            <a:extLst xmlns:a="http://schemas.openxmlformats.org/drawingml/2006/main">
              <a:ext uri="{FF2B5EF4-FFF2-40B4-BE49-F238E27FC236}">
                <a16:creationId xmlns:a16="http://schemas.microsoft.com/office/drawing/2014/main" id="{7321C003-A35F-4D43-91CF-BE8FC78F8195}"/>
              </a:ext>
            </a:extLst>
          </p:cNvPr>
          <p:cNvSpPr>
            <a:spLocks xmlns:a="http://schemas.openxmlformats.org/drawingml/2006/main" noGrp="1"/>
          </p:cNvSpPr>
          <p:nvPr/>
        </p:nvSpPr>
        <p:spPr>
          <a:xfrm xmlns:a="http://schemas.openxmlformats.org/drawingml/2006/main">
            <a:off x="6705600" y="22002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후보: 절차는 Repository에</a:t>
            </a:r>
          </a:p>
        </p:txBody>
      </p:sp>
      <p:sp>
        <p:nvSpPr>
          <p:cNvPr id="9" name="">
            <a:extLst xmlns:a="http://schemas.openxmlformats.org/drawingml/2006/main">
              <a:ext uri="{FF2B5EF4-FFF2-40B4-BE49-F238E27FC236}">
                <a16:creationId xmlns:a16="http://schemas.microsoft.com/office/drawing/2014/main" id="{3195105C-DEB3-454A-BA4D-660CFCD6CCBA}"/>
              </a:ext>
            </a:extLst>
          </p:cNvPr>
          <p:cNvSpPr>
            <a:spLocks xmlns:a="http://schemas.openxmlformats.org/drawingml/2006/main" noGrp="1"/>
          </p:cNvSpPr>
          <p:nvPr/>
        </p:nvSpPr>
        <p:spPr>
          <a:xfrm xmlns:a="http://schemas.openxmlformats.org/drawingml/2006/main">
            <a:off x="609600" y="2809875"/>
            <a:ext cx="4953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5170AD27-246A-4C96-8F6F-0DBDA9D09C0E}"/>
              </a:ext>
            </a:extLst>
          </p:cNvPr>
          <p:cNvSpPr>
            <a:spLocks xmlns:a="http://schemas.openxmlformats.org/drawingml/2006/main" noGrp="1"/>
          </p:cNvSpPr>
          <p:nvPr/>
        </p:nvSpPr>
        <p:spPr>
          <a:xfrm xmlns:a="http://schemas.openxmlformats.org/drawingml/2006/main">
            <a:off x="6705600" y="28098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 + 이번 제약">
            <a:extLst xmlns:a="http://schemas.openxmlformats.org/drawingml/2006/main">
              <a:ext uri="{FF2B5EF4-FFF2-40B4-BE49-F238E27FC236}">
                <a16:creationId xmlns:a16="http://schemas.microsoft.com/office/drawing/2014/main" id="{E692615D-671A-4946-9591-D727F7EC09A4}"/>
              </a:ext>
            </a:extLst>
          </p:cNvPr>
          <p:cNvSpPr>
            <a:spLocks xmlns:a="http://schemas.openxmlformats.org/drawingml/2006/main" noGrp="1"/>
          </p:cNvSpPr>
          <p:nvPr/>
        </p:nvSpPr>
        <p:spPr>
          <a:xfrm xmlns:a="http://schemas.openxmlformats.org/drawingml/2006/main">
            <a:off x="609600" y="30670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현재 목표 + 이번 제약</a:t>
            </a:r>
          </a:p>
        </p:txBody>
      </p:sp>
      <p:sp>
        <p:nvSpPr>
          <p:cNvPr id="12" name="">
            <a:extLst xmlns:a="http://schemas.openxmlformats.org/drawingml/2006/main">
              <a:ext uri="{FF2B5EF4-FFF2-40B4-BE49-F238E27FC236}">
                <a16:creationId xmlns:a16="http://schemas.microsoft.com/office/drawing/2014/main" id="{73D806D8-A375-497E-BEC9-8E6CC7FBCAEF}"/>
              </a:ext>
            </a:extLst>
          </p:cNvPr>
          <p:cNvSpPr>
            <a:spLocks xmlns:a="http://schemas.openxmlformats.org/drawingml/2006/main" noGrp="1"/>
          </p:cNvSpPr>
          <p:nvPr/>
        </p:nvSpPr>
        <p:spPr>
          <a:xfrm xmlns:a="http://schemas.openxmlformats.org/drawingml/2006/main">
            <a:off x="609600" y="3676650"/>
            <a:ext cx="4953000" cy="1085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baseline → 조사 → 변경&#10;테스트 → 측정 → 비교 → 검토">
            <a:extLst xmlns:a="http://schemas.openxmlformats.org/drawingml/2006/main">
              <a:ext uri="{FF2B5EF4-FFF2-40B4-BE49-F238E27FC236}">
                <a16:creationId xmlns:a16="http://schemas.microsoft.com/office/drawing/2014/main" id="{CA7960EE-4F54-41DA-9355-70783EF28680}"/>
              </a:ext>
            </a:extLst>
          </p:cNvPr>
          <p:cNvSpPr>
            <a:spLocks xmlns:a="http://schemas.openxmlformats.org/drawingml/2006/main" noGrp="1"/>
          </p:cNvSpPr>
          <p:nvPr/>
        </p:nvSpPr>
        <p:spPr>
          <a:xfrm xmlns:a="http://schemas.openxmlformats.org/drawingml/2006/main">
            <a:off x="800100" y="3810000"/>
            <a:ext cx="4572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baseline → 조사 → 변경</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 측정 → 비교 → 검토</a:t>
            </a:r>
          </a:p>
        </p:txBody>
      </p:sp>
      <p:sp>
        <p:nvSpPr>
          <p:cNvPr id="14" name="현재 목표 + 이번 제약">
            <a:extLst xmlns:a="http://schemas.openxmlformats.org/drawingml/2006/main">
              <a:ext uri="{FF2B5EF4-FFF2-40B4-BE49-F238E27FC236}">
                <a16:creationId xmlns:a16="http://schemas.microsoft.com/office/drawing/2014/main" id="{C7A36C33-F5E2-4A05-AEC2-852BD1C68E1A}"/>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현재 목표 + 이번 제약</a:t>
            </a:r>
          </a:p>
        </p:txBody>
      </p:sp>
      <p:sp>
        <p:nvSpPr>
          <p:cNvPr id="15" name="$graypipe-performance">
            <a:extLst xmlns:a="http://schemas.openxmlformats.org/drawingml/2006/main">
              <a:ext uri="{FF2B5EF4-FFF2-40B4-BE49-F238E27FC236}">
                <a16:creationId xmlns:a16="http://schemas.microsoft.com/office/drawing/2014/main" id="{4EC69802-46D0-48B4-8F98-195EC253D234}"/>
              </a:ext>
            </a:extLst>
          </p:cNvPr>
          <p:cNvSpPr>
            <a:spLocks xmlns:a="http://schemas.openxmlformats.org/drawingml/2006/main" noGrp="1"/>
          </p:cNvSpPr>
          <p:nvPr/>
        </p:nvSpPr>
        <p:spPr>
          <a:xfrm xmlns:a="http://schemas.openxmlformats.org/drawingml/2006/main">
            <a:off x="6705600" y="3771900"/>
            <a:ext cx="4876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Consolas"/>
                <a:ea typeface="Consolas"/>
                <a:cs typeface="Consolas"/>
              </a:defRPr>
            </a:defPPr>
            <a:lvl1pPr algn="l">
              <a:defRPr sz="2325" b="1">
                <a:solidFill>
                  <a:srgbClr val="0B6172"/>
                </a:solidFill>
                <a:latin typeface="Consolas"/>
                <a:ea typeface="Consolas"/>
                <a:cs typeface="Consolas"/>
              </a:defRPr>
            </a:lvl1pPr>
            <a:lvl2pPr algn="l">
              <a:defRPr sz="2325" b="1">
                <a:solidFill>
                  <a:srgbClr val="0B6172"/>
                </a:solidFill>
                <a:latin typeface="Consolas"/>
                <a:ea typeface="Consolas"/>
                <a:cs typeface="Consolas"/>
              </a:defRPr>
            </a:lvl2pPr>
            <a:lvl3pPr algn="l">
              <a:defRPr sz="2325" b="1">
                <a:solidFill>
                  <a:srgbClr val="0B6172"/>
                </a:solidFill>
                <a:latin typeface="Consolas"/>
                <a:ea typeface="Consolas"/>
                <a:cs typeface="Consolas"/>
              </a:defRPr>
            </a:lvl3pPr>
            <a:lvl4pPr algn="l">
              <a:defRPr sz="2325" b="1">
                <a:solidFill>
                  <a:srgbClr val="0B6172"/>
                </a:solidFill>
                <a:latin typeface="Consolas"/>
                <a:ea typeface="Consolas"/>
                <a:cs typeface="Consolas"/>
              </a:defRPr>
            </a:lvl4pPr>
            <a:lvl5pPr algn="l">
              <a:defRPr sz="2325" b="1">
                <a:solidFill>
                  <a:srgbClr val="0B6172"/>
                </a:solidFill>
                <a:latin typeface="Consolas"/>
                <a:ea typeface="Consolas"/>
                <a:cs typeface="Consolas"/>
              </a:defRPr>
            </a:lvl5pPr>
            <a:lvl6pPr algn="l">
              <a:defRPr sz="2325" b="1">
                <a:solidFill>
                  <a:srgbClr val="0B6172"/>
                </a:solidFill>
                <a:latin typeface="Consolas"/>
                <a:ea typeface="Consolas"/>
                <a:cs typeface="Consolas"/>
              </a:defRPr>
            </a:lvl6pPr>
            <a:lvl7pPr algn="l">
              <a:defRPr sz="2325" b="1">
                <a:solidFill>
                  <a:srgbClr val="0B6172"/>
                </a:solidFill>
                <a:latin typeface="Consolas"/>
                <a:ea typeface="Consolas"/>
                <a:cs typeface="Consolas"/>
              </a:defRPr>
            </a:lvl7pPr>
            <a:lvl8pPr algn="l">
              <a:defRPr sz="2325" b="1">
                <a:solidFill>
                  <a:srgbClr val="0B6172"/>
                </a:solidFill>
                <a:latin typeface="Consolas"/>
                <a:ea typeface="Consolas"/>
                <a:cs typeface="Consolas"/>
              </a:defRPr>
            </a:lvl8pPr>
            <a:lvl9pPr algn="l">
              <a:defRPr sz="2325" b="1">
                <a:solidFill>
                  <a:srgbClr val="0B6172"/>
                </a:solidFill>
                <a:latin typeface="Consolas"/>
                <a:ea typeface="Consolas"/>
                <a:cs typeface="Consolas"/>
              </a:defRPr>
            </a:lvl9pPr>
          </a:lstStyle>
          <a:p xmlns:a="http://schemas.openxmlformats.org/drawingml/2006/main">
            <a:pPr algn="l">
              <a:defRPr sz="2325" b="1">
                <a:solidFill>
                  <a:srgbClr val="0B6172"/>
                </a:solidFill>
                <a:latin typeface="Consolas"/>
                <a:ea typeface="Consolas"/>
                <a:cs typeface="Consolas"/>
              </a:defRPr>
            </a:pPr>
            <a:r>
              <a:rPr sz="2325" b="1">
                <a:solidFill>
                  <a:srgbClr val="0B6172"/>
                </a:solidFill>
                <a:latin typeface="Consolas"/>
                <a:ea typeface="Consolas"/>
                <a:cs typeface="Consolas"/>
              </a:rPr>
              <a:t>$graypipe-performance</a:t>
            </a:r>
          </a:p>
        </p:txBody>
      </p:sp>
      <p:sp>
        <p:nvSpPr>
          <p:cNvPr id="16" name="반복 절차는 Repository Skill에">
            <a:extLst xmlns:a="http://schemas.openxmlformats.org/drawingml/2006/main">
              <a:ext uri="{FF2B5EF4-FFF2-40B4-BE49-F238E27FC236}">
                <a16:creationId xmlns:a16="http://schemas.microsoft.com/office/drawing/2014/main" id="{C10E53AC-8906-43DA-8D7C-2093439F1591}"/>
              </a:ext>
            </a:extLst>
          </p:cNvPr>
          <p:cNvSpPr>
            <a:spLocks xmlns:a="http://schemas.openxmlformats.org/drawingml/2006/main" noGrp="1"/>
          </p:cNvSpPr>
          <p:nvPr/>
        </p:nvSpPr>
        <p:spPr>
          <a:xfrm xmlns:a="http://schemas.openxmlformats.org/drawingml/2006/main">
            <a:off x="6705600" y="43910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반복 절차는 Repository Skill에</a:t>
            </a:r>
          </a:p>
        </p:txBody>
      </p:sp>
      <p:sp>
        <p:nvSpPr>
          <p:cNvPr id="17" name="긴 절차를 빼도, 같은 작업 흐름을 유지할 수 있을까?">
            <a:extLst xmlns:a="http://schemas.openxmlformats.org/drawingml/2006/main">
              <a:ext uri="{FF2B5EF4-FFF2-40B4-BE49-F238E27FC236}">
                <a16:creationId xmlns:a16="http://schemas.microsoft.com/office/drawing/2014/main" id="{A8F72424-54D2-46A4-AB9D-33D81AB50050}"/>
              </a:ext>
            </a:extLst>
          </p:cNvPr>
          <p:cNvSpPr>
            <a:spLocks xmlns:a="http://schemas.openxmlformats.org/drawingml/2006/main" noGrp="1"/>
          </p:cNvSpPr>
          <p:nvPr/>
        </p:nvSpPr>
        <p:spPr>
          <a:xfrm xmlns:a="http://schemas.openxmlformats.org/drawingml/2006/main">
            <a:off x="609600" y="5238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긴 절차를 빼도, 같은 작업 흐름을 유지할 수 있을까?</a:t>
            </a:r>
          </a:p>
        </p:txBody>
      </p:sp>
    </p:spTree>
    <p:extLst>
      <p:ext uri="{BB962C8B-B14F-4D97-AF65-F5344CB8AC3E}">
        <p14:creationId xmlns:p14="http://schemas.microsoft.com/office/powerpoint/2010/main" val="1834600160"/>
      </p:ext>
    </p:extLst>
  </p:cSld>
</p:sld>
</file>

<file path=ppt/slides/slide4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3 · TRIAL-008에서 확인한 경로">
            <a:extLst xmlns:a="http://schemas.openxmlformats.org/drawingml/2006/main">
              <a:ext uri="{FF2B5EF4-FFF2-40B4-BE49-F238E27FC236}">
                <a16:creationId xmlns:a16="http://schemas.microsoft.com/office/drawing/2014/main" id="{76F11213-11C6-4B87-9D69-52078FEE940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TRIAL-008에서 확인한 경로</a:t>
            </a:r>
          </a:p>
        </p:txBody>
      </p:sp>
      <p:sp>
        <p:nvSpPr>
          <p:cNvPr id="2" name="S41">
            <a:extLst xmlns:a="http://schemas.openxmlformats.org/drawingml/2006/main">
              <a:ext uri="{FF2B5EF4-FFF2-40B4-BE49-F238E27FC236}">
                <a16:creationId xmlns:a16="http://schemas.microsoft.com/office/drawing/2014/main" id="{C73A7587-4EAC-4CDD-AF24-97A1C861954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Skill을 어떻게 발견하고 호출할까?">
            <a:extLst xmlns:a="http://schemas.openxmlformats.org/drawingml/2006/main">
              <a:ext uri="{FF2B5EF4-FFF2-40B4-BE49-F238E27FC236}">
                <a16:creationId xmlns:a16="http://schemas.microsoft.com/office/drawing/2014/main" id="{756E8722-44BE-42FC-8B9C-2DC0C00012A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Skill을 어떻게 발견하고 호출할까?</a:t>
            </a:r>
          </a:p>
        </p:txBody>
      </p:sp>
      <p:sp>
        <p:nvSpPr>
          <p:cNvPr id="4" name="">
            <a:extLst xmlns:a="http://schemas.openxmlformats.org/drawingml/2006/main">
              <a:ext uri="{FF2B5EF4-FFF2-40B4-BE49-F238E27FC236}">
                <a16:creationId xmlns:a16="http://schemas.microsoft.com/office/drawing/2014/main" id="{7165AAFD-06D4-45D4-8B41-CD944C7EEC67}"/>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재구성, 실제 UI 캡처 아님">
            <a:extLst xmlns:a="http://schemas.openxmlformats.org/drawingml/2006/main">
              <a:ext uri="{FF2B5EF4-FFF2-40B4-BE49-F238E27FC236}">
                <a16:creationId xmlns:a16="http://schemas.microsoft.com/office/drawing/2014/main" id="{B9D2B922-BC43-4207-A0D1-B5547CCFDB2D}"/>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재구성, 실제 UI 캡처 아님</a:t>
            </a:r>
          </a:p>
        </p:txBody>
      </p:sp>
      <p:sp>
        <p:nvSpPr>
          <p:cNvPr id="6" name="경로·본문은 실행 trace에서 확인 · 현재 Desktop·암묵적 호출·교육 계정은 미검증">
            <a:extLst xmlns:a="http://schemas.openxmlformats.org/drawingml/2006/main">
              <a:ext uri="{FF2B5EF4-FFF2-40B4-BE49-F238E27FC236}">
                <a16:creationId xmlns:a16="http://schemas.microsoft.com/office/drawing/2014/main" id="{776D20C9-9E5C-47BA-9E87-647A039B0884}"/>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경로·본문은 실행 trace에서 확인 · 현재 Desktop·암묵적 호출·교육 계정은 미검증</a:t>
            </a:r>
          </a:p>
        </p:txBody>
      </p:sp>
      <p:sp>
        <p:nvSpPr>
          <p:cNvPr id="7" name="01  목록에서 발견">
            <a:extLst xmlns:a="http://schemas.openxmlformats.org/drawingml/2006/main">
              <a:ext uri="{FF2B5EF4-FFF2-40B4-BE49-F238E27FC236}">
                <a16:creationId xmlns:a16="http://schemas.microsoft.com/office/drawing/2014/main" id="{48E53DC8-4C4C-418E-9BC4-952504926745}"/>
              </a:ext>
            </a:extLst>
          </p:cNvPr>
          <p:cNvSpPr>
            <a:spLocks xmlns:a="http://schemas.openxmlformats.org/drawingml/2006/main" noGrp="1"/>
          </p:cNvSpPr>
          <p:nvPr/>
        </p:nvSpPr>
        <p:spPr>
          <a:xfrm xmlns:a="http://schemas.openxmlformats.org/drawingml/2006/main">
            <a:off x="609600" y="2190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  목록에서 발견</a:t>
            </a:r>
          </a:p>
        </p:txBody>
      </p:sp>
      <p:sp>
        <p:nvSpPr>
          <p:cNvPr id="8" name="/skills  →  graypipe-performance">
            <a:extLst xmlns:a="http://schemas.openxmlformats.org/drawingml/2006/main">
              <a:ext uri="{FF2B5EF4-FFF2-40B4-BE49-F238E27FC236}">
                <a16:creationId xmlns:a16="http://schemas.microsoft.com/office/drawing/2014/main" id="{08B3094B-C297-4624-AEFE-C0B6E898DD32}"/>
              </a:ext>
            </a:extLst>
          </p:cNvPr>
          <p:cNvSpPr>
            <a:spLocks xmlns:a="http://schemas.openxmlformats.org/drawingml/2006/main" noGrp="1"/>
          </p:cNvSpPr>
          <p:nvPr/>
        </p:nvSpPr>
        <p:spPr>
          <a:xfrm xmlns:a="http://schemas.openxmlformats.org/drawingml/2006/main">
            <a:off x="609600" y="26479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/skills  →  graypipe-performance</a:t>
            </a:r>
          </a:p>
        </p:txBody>
      </p:sp>
      <p:sp>
        <p:nvSpPr>
          <p:cNvPr id="9" name="표시된 설명: “Investigate repository performance with reproduc…”">
            <a:extLst xmlns:a="http://schemas.openxmlformats.org/drawingml/2006/main">
              <a:ext uri="{FF2B5EF4-FFF2-40B4-BE49-F238E27FC236}">
                <a16:creationId xmlns:a16="http://schemas.microsoft.com/office/drawing/2014/main" id="{B90195A8-3643-41FE-A62B-667833457B68}"/>
              </a:ext>
            </a:extLst>
          </p:cNvPr>
          <p:cNvSpPr>
            <a:spLocks xmlns:a="http://schemas.openxmlformats.org/drawingml/2006/main" noGrp="1"/>
          </p:cNvSpPr>
          <p:nvPr/>
        </p:nvSpPr>
        <p:spPr>
          <a:xfrm xmlns:a="http://schemas.openxmlformats.org/drawingml/2006/main">
            <a:off x="609600" y="312420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표시된 설명: “Investigate repository performance with reproduc…”</a:t>
            </a:r>
          </a:p>
        </p:txBody>
      </p:sp>
      <p:sp>
        <p:nvSpPr>
          <p:cNvPr id="10" name="">
            <a:extLst xmlns:a="http://schemas.openxmlformats.org/drawingml/2006/main">
              <a:ext uri="{FF2B5EF4-FFF2-40B4-BE49-F238E27FC236}">
                <a16:creationId xmlns:a16="http://schemas.microsoft.com/office/drawing/2014/main" id="{E82043EE-63CD-4F8B-9A79-33B5F59D460D}"/>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작업 목표와 함께 명시적으로 호출">
            <a:extLst xmlns:a="http://schemas.openxmlformats.org/drawingml/2006/main">
              <a:ext uri="{FF2B5EF4-FFF2-40B4-BE49-F238E27FC236}">
                <a16:creationId xmlns:a16="http://schemas.microsoft.com/office/drawing/2014/main" id="{B8F67894-039A-4F50-A6DC-E8ADAD00B7E5}"/>
              </a:ext>
            </a:extLst>
          </p:cNvPr>
          <p:cNvSpPr>
            <a:spLocks xmlns:a="http://schemas.openxmlformats.org/drawingml/2006/main" noGrp="1"/>
          </p:cNvSpPr>
          <p:nvPr/>
        </p:nvSpPr>
        <p:spPr>
          <a:xfrm xmlns:a="http://schemas.openxmlformats.org/drawingml/2006/main">
            <a:off x="609600" y="37814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  작업 목표와 함께 명시적으로 호출</a:t>
            </a:r>
          </a:p>
        </p:txBody>
      </p:sp>
      <p:sp>
        <p:nvSpPr>
          <p:cNvPr id="12" name="$graypipe-performance">
            <a:extLst xmlns:a="http://schemas.openxmlformats.org/drawingml/2006/main">
              <a:ext uri="{FF2B5EF4-FFF2-40B4-BE49-F238E27FC236}">
                <a16:creationId xmlns:a16="http://schemas.microsoft.com/office/drawing/2014/main" id="{82A37ADE-35A3-4A41-9064-70997EA8A8E4}"/>
              </a:ext>
            </a:extLst>
          </p:cNvPr>
          <p:cNvSpPr>
            <a:spLocks xmlns:a="http://schemas.openxmlformats.org/drawingml/2006/main" noGrp="1"/>
          </p:cNvSpPr>
          <p:nvPr/>
        </p:nvSpPr>
        <p:spPr>
          <a:xfrm xmlns:a="http://schemas.openxmlformats.org/drawingml/2006/main">
            <a:off x="609600" y="4238625"/>
            <a:ext cx="5667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Consolas"/>
                <a:ea typeface="Consolas"/>
                <a:cs typeface="Consolas"/>
              </a:defRPr>
            </a:defPPr>
            <a:lvl1pPr algn="l">
              <a:defRPr sz="2475" b="1">
                <a:solidFill>
                  <a:srgbClr val="17212B"/>
                </a:solidFill>
                <a:latin typeface="Consolas"/>
                <a:ea typeface="Consolas"/>
                <a:cs typeface="Consolas"/>
              </a:defRPr>
            </a:lvl1pPr>
            <a:lvl2pPr algn="l">
              <a:defRPr sz="2475" b="1">
                <a:solidFill>
                  <a:srgbClr val="17212B"/>
                </a:solidFill>
                <a:latin typeface="Consolas"/>
                <a:ea typeface="Consolas"/>
                <a:cs typeface="Consolas"/>
              </a:defRPr>
            </a:lvl2pPr>
            <a:lvl3pPr algn="l">
              <a:defRPr sz="2475" b="1">
                <a:solidFill>
                  <a:srgbClr val="17212B"/>
                </a:solidFill>
                <a:latin typeface="Consolas"/>
                <a:ea typeface="Consolas"/>
                <a:cs typeface="Consolas"/>
              </a:defRPr>
            </a:lvl3pPr>
            <a:lvl4pPr algn="l">
              <a:defRPr sz="2475" b="1">
                <a:solidFill>
                  <a:srgbClr val="17212B"/>
                </a:solidFill>
                <a:latin typeface="Consolas"/>
                <a:ea typeface="Consolas"/>
                <a:cs typeface="Consolas"/>
              </a:defRPr>
            </a:lvl4pPr>
            <a:lvl5pPr algn="l">
              <a:defRPr sz="2475" b="1">
                <a:solidFill>
                  <a:srgbClr val="17212B"/>
                </a:solidFill>
                <a:latin typeface="Consolas"/>
                <a:ea typeface="Consolas"/>
                <a:cs typeface="Consolas"/>
              </a:defRPr>
            </a:lvl5pPr>
            <a:lvl6pPr algn="l">
              <a:defRPr sz="2475" b="1">
                <a:solidFill>
                  <a:srgbClr val="17212B"/>
                </a:solidFill>
                <a:latin typeface="Consolas"/>
                <a:ea typeface="Consolas"/>
                <a:cs typeface="Consolas"/>
              </a:defRPr>
            </a:lvl6pPr>
            <a:lvl7pPr algn="l">
              <a:defRPr sz="2475" b="1">
                <a:solidFill>
                  <a:srgbClr val="17212B"/>
                </a:solidFill>
                <a:latin typeface="Consolas"/>
                <a:ea typeface="Consolas"/>
                <a:cs typeface="Consolas"/>
              </a:defRPr>
            </a:lvl7pPr>
            <a:lvl8pPr algn="l">
              <a:defRPr sz="2475" b="1">
                <a:solidFill>
                  <a:srgbClr val="17212B"/>
                </a:solidFill>
                <a:latin typeface="Consolas"/>
                <a:ea typeface="Consolas"/>
                <a:cs typeface="Consolas"/>
              </a:defRPr>
            </a:lvl8pPr>
            <a:lvl9pPr algn="l">
              <a:defRPr sz="2475" b="1">
                <a:solidFill>
                  <a:srgbClr val="17212B"/>
                </a:solidFill>
                <a:latin typeface="Consolas"/>
                <a:ea typeface="Consolas"/>
                <a:cs typeface="Consolas"/>
              </a:defRPr>
            </a:lvl9pPr>
          </a:lstStyle>
          <a:p xmlns:a="http://schemas.openxmlformats.org/drawingml/2006/main">
            <a:pPr algn="l">
              <a:defRPr sz="2475" b="1">
                <a:solidFill>
                  <a:srgbClr val="17212B"/>
                </a:solidFill>
                <a:latin typeface="Consolas"/>
                <a:ea typeface="Consolas"/>
                <a:cs typeface="Consolas"/>
              </a:defRPr>
            </a:pPr>
            <a:r>
              <a:rPr sz="2475" b="1">
                <a:solidFill>
                  <a:srgbClr val="17212B"/>
                </a:solidFill>
                <a:latin typeface="Consolas"/>
                <a:ea typeface="Consolas"/>
                <a:cs typeface="Consolas"/>
              </a:rPr>
              <a:t>$graypipe-performance</a:t>
            </a:r>
          </a:p>
        </p:txBody>
      </p:sp>
      <p:sp>
        <p:nvSpPr>
          <p:cNvPr id="13" name="+ image_statistics 성능 조사">
            <a:extLst xmlns:a="http://schemas.openxmlformats.org/drawingml/2006/main">
              <a:ext uri="{FF2B5EF4-FFF2-40B4-BE49-F238E27FC236}">
                <a16:creationId xmlns:a16="http://schemas.microsoft.com/office/drawing/2014/main" id="{FFBFD3CA-574D-493A-9D51-5839DD61456E}"/>
              </a:ext>
            </a:extLst>
          </p:cNvPr>
          <p:cNvSpPr>
            <a:spLocks xmlns:a="http://schemas.openxmlformats.org/drawingml/2006/main" noGrp="1"/>
          </p:cNvSpPr>
          <p:nvPr/>
        </p:nvSpPr>
        <p:spPr>
          <a:xfrm xmlns:a="http://schemas.openxmlformats.org/drawingml/2006/main">
            <a:off x="6210300" y="4238625"/>
            <a:ext cx="5372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 image_statistics 성능 조사</a:t>
            </a:r>
          </a:p>
        </p:txBody>
      </p:sp>
      <p:sp>
        <p:nvSpPr>
          <p:cNvPr id="14" name="">
            <a:extLst xmlns:a="http://schemas.openxmlformats.org/drawingml/2006/main">
              <a:ext uri="{FF2B5EF4-FFF2-40B4-BE49-F238E27FC236}">
                <a16:creationId xmlns:a16="http://schemas.microsoft.com/office/drawing/2014/main" id="{3789301C-3CDC-4B15-AB5C-DC138D86D04A}"/>
              </a:ext>
            </a:extLst>
          </p:cNvPr>
          <p:cNvSpPr>
            <a:spLocks xmlns:a="http://schemas.openxmlformats.org/drawingml/2006/main" noGrp="1"/>
          </p:cNvSpPr>
          <p:nvPr/>
        </p:nvSpPr>
        <p:spPr>
          <a:xfrm xmlns:a="http://schemas.openxmlformats.org/drawingml/2006/main">
            <a:off x="609600" y="4876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실행 기록에서 Skill 본문 포함을 확인">
            <a:extLst xmlns:a="http://schemas.openxmlformats.org/drawingml/2006/main">
              <a:ext uri="{FF2B5EF4-FFF2-40B4-BE49-F238E27FC236}">
                <a16:creationId xmlns:a16="http://schemas.microsoft.com/office/drawing/2014/main" id="{65218A64-080B-4E65-B5CD-D055825C2C24}"/>
              </a:ext>
            </a:extLst>
          </p:cNvPr>
          <p:cNvSpPr>
            <a:spLocks xmlns:a="http://schemas.openxmlformats.org/drawingml/2006/main" noGrp="1"/>
          </p:cNvSpPr>
          <p:nvPr/>
        </p:nvSpPr>
        <p:spPr>
          <a:xfrm xmlns:a="http://schemas.openxmlformats.org/drawingml/2006/main">
            <a:off x="609600" y="50673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03  실행 기록에서 Skill 본문 포함을 확인</a:t>
            </a:r>
          </a:p>
        </p:txBody>
      </p:sp>
    </p:spTree>
    <p:extLst>
      <p:ext uri="{BB962C8B-B14F-4D97-AF65-F5344CB8AC3E}">
        <p14:creationId xmlns:p14="http://schemas.microsoft.com/office/powerpoint/2010/main" val="712200010"/>
      </p:ext>
    </p:extLst>
  </p:cSld>
</p:sld>
</file>

<file path=ppt/slides/slide4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3 · 두 Trial의 요청 구조 비교">
            <a:extLst xmlns:a="http://schemas.openxmlformats.org/drawingml/2006/main">
              <a:ext uri="{FF2B5EF4-FFF2-40B4-BE49-F238E27FC236}">
                <a16:creationId xmlns:a16="http://schemas.microsoft.com/office/drawing/2014/main" id="{9674E682-489A-424C-A197-58A1C5CC65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두 Trial의 요청 구조 비교</a:t>
            </a:r>
          </a:p>
        </p:txBody>
      </p:sp>
      <p:sp>
        <p:nvSpPr>
          <p:cNvPr id="2" name="S42">
            <a:extLst xmlns:a="http://schemas.openxmlformats.org/drawingml/2006/main">
              <a:ext uri="{FF2B5EF4-FFF2-40B4-BE49-F238E27FC236}">
                <a16:creationId xmlns:a16="http://schemas.microsoft.com/office/drawing/2014/main" id="{5CA574DB-E667-41C5-9A2C-5A56F3644E0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절차의 책임이 Prompt에서&#10;Repository로 이동">
            <a:extLst xmlns:a="http://schemas.openxmlformats.org/drawingml/2006/main">
              <a:ext uri="{FF2B5EF4-FFF2-40B4-BE49-F238E27FC236}">
                <a16:creationId xmlns:a16="http://schemas.microsoft.com/office/drawing/2014/main" id="{D2A85250-A1F1-4143-854B-F22551354F72}"/>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절차의 책임이 Prompt에서</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Repository로 이동</a:t>
            </a:r>
          </a:p>
        </p:txBody>
      </p:sp>
      <p:sp>
        <p:nvSpPr>
          <p:cNvPr id="4" name="">
            <a:extLst xmlns:a="http://schemas.openxmlformats.org/drawingml/2006/main">
              <a:ext uri="{FF2B5EF4-FFF2-40B4-BE49-F238E27FC236}">
                <a16:creationId xmlns:a16="http://schemas.microsoft.com/office/drawing/2014/main" id="{860DB007-9EC2-4148-8A4C-8B9E2A63EF83}"/>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7 / TRIAL-008 · 서로 다른 Task의 Prompt 구조를 요약">
            <a:extLst xmlns:a="http://schemas.openxmlformats.org/drawingml/2006/main">
              <a:ext uri="{FF2B5EF4-FFF2-40B4-BE49-F238E27FC236}">
                <a16:creationId xmlns:a16="http://schemas.microsoft.com/office/drawing/2014/main" id="{5724A325-5CD2-47DF-80F4-9DD901028FA5}"/>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 / TRIAL-008 · 서로 다른 Task의 Prompt 구조를 요약</a:t>
            </a:r>
          </a:p>
        </p:txBody>
      </p:sp>
      <p:sp>
        <p:nvSpPr>
          <p:cNvPr id="6" name="절차를 둔 위치의 변화만 관찰 · Skill 우월성·토큰 절감·속도 향상은 입증하지 않음">
            <a:extLst xmlns:a="http://schemas.openxmlformats.org/drawingml/2006/main">
              <a:ext uri="{FF2B5EF4-FFF2-40B4-BE49-F238E27FC236}">
                <a16:creationId xmlns:a16="http://schemas.microsoft.com/office/drawing/2014/main" id="{23653D8C-566E-4B43-939C-381AAA02899D}"/>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절차를 둔 위치의 변화만 관찰 · Skill 우월성·토큰 절감·속도 향상은 입증하지 않음</a:t>
            </a:r>
          </a:p>
        </p:txBody>
      </p:sp>
      <p:sp>
        <p:nvSpPr>
          <p:cNvPr id="7" name="TRIAL-007 · normalize">
            <a:extLst xmlns:a="http://schemas.openxmlformats.org/drawingml/2006/main">
              <a:ext uri="{FF2B5EF4-FFF2-40B4-BE49-F238E27FC236}">
                <a16:creationId xmlns:a16="http://schemas.microsoft.com/office/drawing/2014/main" id="{92BDFA96-6E22-45B2-BC46-F9CE0160DE97}"/>
              </a:ext>
            </a:extLst>
          </p:cNvPr>
          <p:cNvSpPr>
            <a:spLocks xmlns:a="http://schemas.openxmlformats.org/drawingml/2006/main" noGrp="1"/>
          </p:cNvSpPr>
          <p:nvPr/>
        </p:nvSpPr>
        <p:spPr>
          <a:xfrm xmlns:a="http://schemas.openxmlformats.org/drawingml/2006/main">
            <a:off x="609600" y="2209800"/>
            <a:ext cx="4953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Consolas"/>
                <a:ea typeface="Consolas"/>
                <a:cs typeface="Consolas"/>
              </a:defRPr>
            </a:defPPr>
            <a:lvl1pPr algn="l">
              <a:defRPr sz="2025" b="1">
                <a:solidFill>
                  <a:srgbClr val="4D5A68"/>
                </a:solidFill>
                <a:latin typeface="Consolas"/>
                <a:ea typeface="Consolas"/>
                <a:cs typeface="Consolas"/>
              </a:defRPr>
            </a:lvl1pPr>
            <a:lvl2pPr algn="l">
              <a:defRPr sz="2025" b="1">
                <a:solidFill>
                  <a:srgbClr val="4D5A68"/>
                </a:solidFill>
                <a:latin typeface="Consolas"/>
                <a:ea typeface="Consolas"/>
                <a:cs typeface="Consolas"/>
              </a:defRPr>
            </a:lvl2pPr>
            <a:lvl3pPr algn="l">
              <a:defRPr sz="2025" b="1">
                <a:solidFill>
                  <a:srgbClr val="4D5A68"/>
                </a:solidFill>
                <a:latin typeface="Consolas"/>
                <a:ea typeface="Consolas"/>
                <a:cs typeface="Consolas"/>
              </a:defRPr>
            </a:lvl3pPr>
            <a:lvl4pPr algn="l">
              <a:defRPr sz="2025" b="1">
                <a:solidFill>
                  <a:srgbClr val="4D5A68"/>
                </a:solidFill>
                <a:latin typeface="Consolas"/>
                <a:ea typeface="Consolas"/>
                <a:cs typeface="Consolas"/>
              </a:defRPr>
            </a:lvl4pPr>
            <a:lvl5pPr algn="l">
              <a:defRPr sz="2025" b="1">
                <a:solidFill>
                  <a:srgbClr val="4D5A68"/>
                </a:solidFill>
                <a:latin typeface="Consolas"/>
                <a:ea typeface="Consolas"/>
                <a:cs typeface="Consolas"/>
              </a:defRPr>
            </a:lvl5pPr>
            <a:lvl6pPr algn="l">
              <a:defRPr sz="2025" b="1">
                <a:solidFill>
                  <a:srgbClr val="4D5A68"/>
                </a:solidFill>
                <a:latin typeface="Consolas"/>
                <a:ea typeface="Consolas"/>
                <a:cs typeface="Consolas"/>
              </a:defRPr>
            </a:lvl6pPr>
            <a:lvl7pPr algn="l">
              <a:defRPr sz="2025" b="1">
                <a:solidFill>
                  <a:srgbClr val="4D5A68"/>
                </a:solidFill>
                <a:latin typeface="Consolas"/>
                <a:ea typeface="Consolas"/>
                <a:cs typeface="Consolas"/>
              </a:defRPr>
            </a:lvl7pPr>
            <a:lvl8pPr algn="l">
              <a:defRPr sz="2025" b="1">
                <a:solidFill>
                  <a:srgbClr val="4D5A68"/>
                </a:solidFill>
                <a:latin typeface="Consolas"/>
                <a:ea typeface="Consolas"/>
                <a:cs typeface="Consolas"/>
              </a:defRPr>
            </a:lvl8pPr>
            <a:lvl9pPr algn="l">
              <a:defRPr sz="2025" b="1">
                <a:solidFill>
                  <a:srgbClr val="4D5A68"/>
                </a:solidFill>
                <a:latin typeface="Consolas"/>
                <a:ea typeface="Consolas"/>
                <a:cs typeface="Consolas"/>
              </a:defRPr>
            </a:lvl9pPr>
          </a:lstStyle>
          <a:p xmlns:a="http://schemas.openxmlformats.org/drawingml/2006/main">
            <a:pPr algn="l">
              <a:defRPr sz="2025" b="1">
                <a:solidFill>
                  <a:srgbClr val="4D5A68"/>
                </a:solidFill>
                <a:latin typeface="Consolas"/>
                <a:ea typeface="Consolas"/>
                <a:cs typeface="Consolas"/>
              </a:defRPr>
            </a:pPr>
            <a:r>
              <a:rPr sz="2025" b="1">
                <a:solidFill>
                  <a:srgbClr val="4D5A68"/>
                </a:solidFill>
                <a:latin typeface="Consolas"/>
                <a:ea typeface="Consolas"/>
                <a:cs typeface="Consolas"/>
              </a:rPr>
              <a:t>TRIAL-007 · normalize</a:t>
            </a:r>
          </a:p>
        </p:txBody>
      </p:sp>
      <p:sp>
        <p:nvSpPr>
          <p:cNvPr id="8" name="TRIAL-008 · image_statistics">
            <a:extLst xmlns:a="http://schemas.openxmlformats.org/drawingml/2006/main">
              <a:ext uri="{FF2B5EF4-FFF2-40B4-BE49-F238E27FC236}">
                <a16:creationId xmlns:a16="http://schemas.microsoft.com/office/drawing/2014/main" id="{3FC28973-5535-4DDB-BA8A-71453C6F82D7}"/>
              </a:ext>
            </a:extLst>
          </p:cNvPr>
          <p:cNvSpPr>
            <a:spLocks xmlns:a="http://schemas.openxmlformats.org/drawingml/2006/main" noGrp="1"/>
          </p:cNvSpPr>
          <p:nvPr/>
        </p:nvSpPr>
        <p:spPr>
          <a:xfrm xmlns:a="http://schemas.openxmlformats.org/drawingml/2006/main">
            <a:off x="6705600" y="2209800"/>
            <a:ext cx="4876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TRIAL-008 · image_statistics</a:t>
            </a:r>
          </a:p>
        </p:txBody>
      </p:sp>
      <p:sp>
        <p:nvSpPr>
          <p:cNvPr id="9" name="">
            <a:extLst xmlns:a="http://schemas.openxmlformats.org/drawingml/2006/main">
              <a:ext uri="{FF2B5EF4-FFF2-40B4-BE49-F238E27FC236}">
                <a16:creationId xmlns:a16="http://schemas.microsoft.com/office/drawing/2014/main" id="{AEFA2453-D212-48D0-8FE6-6D0BB9FEEF9F}"/>
              </a:ext>
            </a:extLst>
          </p:cNvPr>
          <p:cNvSpPr>
            <a:spLocks xmlns:a="http://schemas.openxmlformats.org/drawingml/2006/main" noGrp="1"/>
          </p:cNvSpPr>
          <p:nvPr/>
        </p:nvSpPr>
        <p:spPr>
          <a:xfrm xmlns:a="http://schemas.openxmlformats.org/drawingml/2006/main">
            <a:off x="609600" y="2762250"/>
            <a:ext cx="4953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A7DF0C8D-62B6-44C3-8E7B-A11C2C5BFFB2}"/>
              </a:ext>
            </a:extLst>
          </p:cNvPr>
          <p:cNvSpPr>
            <a:spLocks xmlns:a="http://schemas.openxmlformats.org/drawingml/2006/main" noGrp="1"/>
          </p:cNvSpPr>
          <p:nvPr/>
        </p:nvSpPr>
        <p:spPr>
          <a:xfrm xmlns:a="http://schemas.openxmlformats.org/drawingml/2006/main">
            <a:off x="6705600" y="27622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목표 + 작업별 제약">
            <a:extLst xmlns:a="http://schemas.openxmlformats.org/drawingml/2006/main">
              <a:ext uri="{FF2B5EF4-FFF2-40B4-BE49-F238E27FC236}">
                <a16:creationId xmlns:a16="http://schemas.microsoft.com/office/drawing/2014/main" id="{D4F72EC5-E5B1-4DC5-BBA6-81FB08B07E3D}"/>
              </a:ext>
            </a:extLst>
          </p:cNvPr>
          <p:cNvSpPr>
            <a:spLocks xmlns:a="http://schemas.openxmlformats.org/drawingml/2006/main" noGrp="1"/>
          </p:cNvSpPr>
          <p:nvPr/>
        </p:nvSpPr>
        <p:spPr>
          <a:xfrm xmlns:a="http://schemas.openxmlformats.org/drawingml/2006/main">
            <a:off x="609600" y="2990850"/>
            <a:ext cx="4953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목표 + 작업별 제약</a:t>
            </a:r>
          </a:p>
        </p:txBody>
      </p:sp>
      <p:sp>
        <p:nvSpPr>
          <p:cNvPr id="12" name="목표 + 작업별 제약">
            <a:extLst xmlns:a="http://schemas.openxmlformats.org/drawingml/2006/main">
              <a:ext uri="{FF2B5EF4-FFF2-40B4-BE49-F238E27FC236}">
                <a16:creationId xmlns:a16="http://schemas.microsoft.com/office/drawing/2014/main" id="{80120937-35ED-41CE-B784-F3C4BD026C1E}"/>
              </a:ext>
            </a:extLst>
          </p:cNvPr>
          <p:cNvSpPr>
            <a:spLocks xmlns:a="http://schemas.openxmlformats.org/drawingml/2006/main" noGrp="1"/>
          </p:cNvSpPr>
          <p:nvPr/>
        </p:nvSpPr>
        <p:spPr>
          <a:xfrm xmlns:a="http://schemas.openxmlformats.org/drawingml/2006/main">
            <a:off x="6705600" y="29908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목표 + 작업별 제약</a:t>
            </a:r>
          </a:p>
        </p:txBody>
      </p:sp>
      <p:sp>
        <p:nvSpPr>
          <p:cNvPr id="13" name="">
            <a:extLst xmlns:a="http://schemas.openxmlformats.org/drawingml/2006/main">
              <a:ext uri="{FF2B5EF4-FFF2-40B4-BE49-F238E27FC236}">
                <a16:creationId xmlns:a16="http://schemas.microsoft.com/office/drawing/2014/main" id="{7FB5F152-F22A-47B9-8832-14CBB0DC79F0}"/>
              </a:ext>
            </a:extLst>
          </p:cNvPr>
          <p:cNvSpPr>
            <a:spLocks xmlns:a="http://schemas.openxmlformats.org/drawingml/2006/main" noGrp="1"/>
          </p:cNvSpPr>
          <p:nvPr/>
        </p:nvSpPr>
        <p:spPr>
          <a:xfrm xmlns:a="http://schemas.openxmlformats.org/drawingml/2006/main">
            <a:off x="609600" y="3648075"/>
            <a:ext cx="4953000" cy="990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긴 조사·검증 절차를&#10;Prompt에 다시 작성">
            <a:extLst xmlns:a="http://schemas.openxmlformats.org/drawingml/2006/main">
              <a:ext uri="{FF2B5EF4-FFF2-40B4-BE49-F238E27FC236}">
                <a16:creationId xmlns:a16="http://schemas.microsoft.com/office/drawing/2014/main" id="{21C59463-1E99-4421-BCA7-1FF6F861F232}"/>
              </a:ext>
            </a:extLst>
          </p:cNvPr>
          <p:cNvSpPr>
            <a:spLocks xmlns:a="http://schemas.openxmlformats.org/drawingml/2006/main" noGrp="1"/>
          </p:cNvSpPr>
          <p:nvPr/>
        </p:nvSpPr>
        <p:spPr>
          <a:xfrm xmlns:a="http://schemas.openxmlformats.org/drawingml/2006/main">
            <a:off x="819150" y="3771900"/>
            <a:ext cx="45339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긴 조사·검증 절차를</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Prompt에 다시 작성</a:t>
            </a:r>
          </a:p>
        </p:txBody>
      </p:sp>
      <p:sp>
        <p:nvSpPr>
          <p:cNvPr id="15" name="$graypipe-performance">
            <a:extLst xmlns:a="http://schemas.openxmlformats.org/drawingml/2006/main">
              <a:ext uri="{FF2B5EF4-FFF2-40B4-BE49-F238E27FC236}">
                <a16:creationId xmlns:a16="http://schemas.microsoft.com/office/drawing/2014/main" id="{E49947F7-2647-424C-A07F-2CFE493D2B54}"/>
              </a:ext>
            </a:extLst>
          </p:cNvPr>
          <p:cNvSpPr>
            <a:spLocks xmlns:a="http://schemas.openxmlformats.org/drawingml/2006/main" noGrp="1"/>
          </p:cNvSpPr>
          <p:nvPr/>
        </p:nvSpPr>
        <p:spPr>
          <a:xfrm xmlns:a="http://schemas.openxmlformats.org/drawingml/2006/main">
            <a:off x="6705600" y="3724275"/>
            <a:ext cx="4876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Consolas"/>
                <a:ea typeface="Consolas"/>
                <a:cs typeface="Consolas"/>
              </a:defRPr>
            </a:defPPr>
            <a:lvl1pPr algn="l">
              <a:defRPr sz="2325" b="1">
                <a:solidFill>
                  <a:srgbClr val="0B6172"/>
                </a:solidFill>
                <a:latin typeface="Consolas"/>
                <a:ea typeface="Consolas"/>
                <a:cs typeface="Consolas"/>
              </a:defRPr>
            </a:lvl1pPr>
            <a:lvl2pPr algn="l">
              <a:defRPr sz="2325" b="1">
                <a:solidFill>
                  <a:srgbClr val="0B6172"/>
                </a:solidFill>
                <a:latin typeface="Consolas"/>
                <a:ea typeface="Consolas"/>
                <a:cs typeface="Consolas"/>
              </a:defRPr>
            </a:lvl2pPr>
            <a:lvl3pPr algn="l">
              <a:defRPr sz="2325" b="1">
                <a:solidFill>
                  <a:srgbClr val="0B6172"/>
                </a:solidFill>
                <a:latin typeface="Consolas"/>
                <a:ea typeface="Consolas"/>
                <a:cs typeface="Consolas"/>
              </a:defRPr>
            </a:lvl3pPr>
            <a:lvl4pPr algn="l">
              <a:defRPr sz="2325" b="1">
                <a:solidFill>
                  <a:srgbClr val="0B6172"/>
                </a:solidFill>
                <a:latin typeface="Consolas"/>
                <a:ea typeface="Consolas"/>
                <a:cs typeface="Consolas"/>
              </a:defRPr>
            </a:lvl4pPr>
            <a:lvl5pPr algn="l">
              <a:defRPr sz="2325" b="1">
                <a:solidFill>
                  <a:srgbClr val="0B6172"/>
                </a:solidFill>
                <a:latin typeface="Consolas"/>
                <a:ea typeface="Consolas"/>
                <a:cs typeface="Consolas"/>
              </a:defRPr>
            </a:lvl5pPr>
            <a:lvl6pPr algn="l">
              <a:defRPr sz="2325" b="1">
                <a:solidFill>
                  <a:srgbClr val="0B6172"/>
                </a:solidFill>
                <a:latin typeface="Consolas"/>
                <a:ea typeface="Consolas"/>
                <a:cs typeface="Consolas"/>
              </a:defRPr>
            </a:lvl6pPr>
            <a:lvl7pPr algn="l">
              <a:defRPr sz="2325" b="1">
                <a:solidFill>
                  <a:srgbClr val="0B6172"/>
                </a:solidFill>
                <a:latin typeface="Consolas"/>
                <a:ea typeface="Consolas"/>
                <a:cs typeface="Consolas"/>
              </a:defRPr>
            </a:lvl7pPr>
            <a:lvl8pPr algn="l">
              <a:defRPr sz="2325" b="1">
                <a:solidFill>
                  <a:srgbClr val="0B6172"/>
                </a:solidFill>
                <a:latin typeface="Consolas"/>
                <a:ea typeface="Consolas"/>
                <a:cs typeface="Consolas"/>
              </a:defRPr>
            </a:lvl8pPr>
            <a:lvl9pPr algn="l">
              <a:defRPr sz="2325" b="1">
                <a:solidFill>
                  <a:srgbClr val="0B6172"/>
                </a:solidFill>
                <a:latin typeface="Consolas"/>
                <a:ea typeface="Consolas"/>
                <a:cs typeface="Consolas"/>
              </a:defRPr>
            </a:lvl9pPr>
          </a:lstStyle>
          <a:p xmlns:a="http://schemas.openxmlformats.org/drawingml/2006/main">
            <a:pPr algn="l">
              <a:defRPr sz="2325" b="1">
                <a:solidFill>
                  <a:srgbClr val="0B6172"/>
                </a:solidFill>
                <a:latin typeface="Consolas"/>
                <a:ea typeface="Consolas"/>
                <a:cs typeface="Consolas"/>
              </a:defRPr>
            </a:pPr>
            <a:r>
              <a:rPr sz="2325" b="1">
                <a:solidFill>
                  <a:srgbClr val="0B6172"/>
                </a:solidFill>
                <a:latin typeface="Consolas"/>
                <a:ea typeface="Consolas"/>
                <a:cs typeface="Consolas"/>
              </a:rPr>
              <a:t>$graypipe-performance</a:t>
            </a:r>
          </a:p>
        </p:txBody>
      </p:sp>
      <p:sp>
        <p:nvSpPr>
          <p:cNvPr id="16" name="절차는 Repository Skill에">
            <a:extLst xmlns:a="http://schemas.openxmlformats.org/drawingml/2006/main">
              <a:ext uri="{FF2B5EF4-FFF2-40B4-BE49-F238E27FC236}">
                <a16:creationId xmlns:a16="http://schemas.microsoft.com/office/drawing/2014/main" id="{7EFAD202-F969-4426-848F-97B9285DAE20}"/>
              </a:ext>
            </a:extLst>
          </p:cNvPr>
          <p:cNvSpPr>
            <a:spLocks xmlns:a="http://schemas.openxmlformats.org/drawingml/2006/main" noGrp="1"/>
          </p:cNvSpPr>
          <p:nvPr/>
        </p:nvSpPr>
        <p:spPr>
          <a:xfrm xmlns:a="http://schemas.openxmlformats.org/drawingml/2006/main">
            <a:off x="6705600" y="4286250"/>
            <a:ext cx="4876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절차는 Repository Skill에</a:t>
            </a:r>
          </a:p>
        </p:txBody>
      </p:sp>
      <p:sp>
        <p:nvSpPr>
          <p:cNvPr id="17" name="공통 흐름: baseline → 조사 → test / benchmark → 비교 / review">
            <a:extLst xmlns:a="http://schemas.openxmlformats.org/drawingml/2006/main">
              <a:ext uri="{FF2B5EF4-FFF2-40B4-BE49-F238E27FC236}">
                <a16:creationId xmlns:a16="http://schemas.microsoft.com/office/drawing/2014/main" id="{BEA1EE91-0E7D-4D94-816E-547ADFDE1F62}"/>
              </a:ext>
            </a:extLst>
          </p:cNvPr>
          <p:cNvSpPr>
            <a:spLocks xmlns:a="http://schemas.openxmlformats.org/drawingml/2006/main" noGrp="1"/>
          </p:cNvSpPr>
          <p:nvPr/>
        </p:nvSpPr>
        <p:spPr>
          <a:xfrm xmlns:a="http://schemas.openxmlformats.org/drawingml/2006/main">
            <a:off x="609600" y="52197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공통 흐름: baseline → 조사 → test / benchmark → 비교 / review</a:t>
            </a:r>
          </a:p>
        </p:txBody>
      </p:sp>
    </p:spTree>
    <p:extLst>
      <p:ext uri="{BB962C8B-B14F-4D97-AF65-F5344CB8AC3E}">
        <p14:creationId xmlns:p14="http://schemas.microsoft.com/office/powerpoint/2010/main" val="1277797141"/>
      </p:ext>
    </p:extLst>
  </p:cSld>
</p:sld>
</file>

<file path=ppt/slides/slide4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3 · 절차와 과제별 판단">
            <a:extLst xmlns:a="http://schemas.openxmlformats.org/drawingml/2006/main">
              <a:ext uri="{FF2B5EF4-FFF2-40B4-BE49-F238E27FC236}">
                <a16:creationId xmlns:a16="http://schemas.microsoft.com/office/drawing/2014/main" id="{6114F9B9-E036-43B7-B239-536C5DBDF67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절차와 과제별 판단</a:t>
            </a:r>
          </a:p>
        </p:txBody>
      </p:sp>
      <p:sp>
        <p:nvSpPr>
          <p:cNvPr id="2" name="S43">
            <a:extLst xmlns:a="http://schemas.openxmlformats.org/drawingml/2006/main">
              <a:ext uri="{FF2B5EF4-FFF2-40B4-BE49-F238E27FC236}">
                <a16:creationId xmlns:a16="http://schemas.microsoft.com/office/drawing/2014/main" id="{0007DE27-EAA0-43A2-9A76-3C61F498004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답을 담지 않는 Workflow">
            <a:extLst xmlns:a="http://schemas.openxmlformats.org/drawingml/2006/main">
              <a:ext uri="{FF2B5EF4-FFF2-40B4-BE49-F238E27FC236}">
                <a16:creationId xmlns:a16="http://schemas.microsoft.com/office/drawing/2014/main" id="{D269266F-9462-4929-95D0-E1423919B9A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답을 담지 않는 Workflow</a:t>
            </a:r>
          </a:p>
        </p:txBody>
      </p:sp>
      <p:sp>
        <p:nvSpPr>
          <p:cNvPr id="4" name="">
            <a:extLst xmlns:a="http://schemas.openxmlformats.org/drawingml/2006/main">
              <a:ext uri="{FF2B5EF4-FFF2-40B4-BE49-F238E27FC236}">
                <a16:creationId xmlns:a16="http://schemas.microsoft.com/office/drawing/2014/main" id="{DB9950D4-381B-49F8-805A-C02EE2313209}"/>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의 SKILL.md 원문 일부 + 교육용 책임 구분">
            <a:extLst xmlns:a="http://schemas.openxmlformats.org/drawingml/2006/main">
              <a:ext uri="{FF2B5EF4-FFF2-40B4-BE49-F238E27FC236}">
                <a16:creationId xmlns:a16="http://schemas.microsoft.com/office/drawing/2014/main" id="{4D3FCBC9-9CB3-45EC-BE18-8E104B27CB2D}"/>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STATE-04의 SKILL.md 원문 일부 + 교육용 책임 구분</a:t>
            </a:r>
          </a:p>
        </p:txBody>
      </p:sp>
      <p:sp>
        <p:nvSpPr>
          <p:cNvPr id="6" name="특정 최적화 답·알고리즘·Trial 수치를 Skill의 정답으로 넣지 않았다">
            <a:extLst xmlns:a="http://schemas.openxmlformats.org/drawingml/2006/main">
              <a:ext uri="{FF2B5EF4-FFF2-40B4-BE49-F238E27FC236}">
                <a16:creationId xmlns:a16="http://schemas.microsoft.com/office/drawing/2014/main" id="{DEA985A4-3C9F-4AFB-9C5A-0CBB63655ECD}"/>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최적화 답·알고리즘·Trial 수치를 Skill의 정답으로 넣지 않았다</a:t>
            </a:r>
          </a:p>
        </p:txBody>
      </p:sp>
      <p:sp>
        <p:nvSpPr>
          <p:cNvPr id="7" name="Skill에 실제로 담긴 지시">
            <a:extLst xmlns:a="http://schemas.openxmlformats.org/drawingml/2006/main">
              <a:ext uri="{FF2B5EF4-FFF2-40B4-BE49-F238E27FC236}">
                <a16:creationId xmlns:a16="http://schemas.microsoft.com/office/drawing/2014/main" id="{AF8AB169-FFE3-4EF2-AE9E-2B2DD2B665AC}"/>
              </a:ext>
            </a:extLst>
          </p:cNvPr>
          <p:cNvSpPr>
            <a:spLocks xmlns:a="http://schemas.openxmlformats.org/drawingml/2006/main" noGrp="1"/>
          </p:cNvSpPr>
          <p:nvPr/>
        </p:nvSpPr>
        <p:spPr>
          <a:xfrm xmlns:a="http://schemas.openxmlformats.org/drawingml/2006/main">
            <a:off x="609600" y="22193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Skill에 실제로 담긴 지시</a:t>
            </a:r>
          </a:p>
        </p:txBody>
      </p:sp>
      <p:sp>
        <p:nvSpPr>
          <p:cNvPr id="8" name="">
            <a:extLst xmlns:a="http://schemas.openxmlformats.org/drawingml/2006/main">
              <a:ext uri="{FF2B5EF4-FFF2-40B4-BE49-F238E27FC236}">
                <a16:creationId xmlns:a16="http://schemas.microsoft.com/office/drawing/2014/main" id="{48328AEA-E311-4F5B-9544-BAEF07049C0C}"/>
              </a:ext>
            </a:extLst>
          </p:cNvPr>
          <p:cNvSpPr>
            <a:spLocks xmlns:a="http://schemas.openxmlformats.org/drawingml/2006/main" noGrp="1"/>
          </p:cNvSpPr>
          <p:nvPr/>
        </p:nvSpPr>
        <p:spPr>
          <a:xfrm xmlns:a="http://schemas.openxmlformats.org/drawingml/2006/main">
            <a:off x="609600" y="2838450"/>
            <a:ext cx="10972800" cy="13811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9" name="“Establish a reproducible baseline before editing.”">
            <a:extLst xmlns:a="http://schemas.openxmlformats.org/drawingml/2006/main">
              <a:ext uri="{FF2B5EF4-FFF2-40B4-BE49-F238E27FC236}">
                <a16:creationId xmlns:a16="http://schemas.microsoft.com/office/drawing/2014/main" id="{C11889D0-E322-4C05-8533-716CB37F7ED1}"/>
              </a:ext>
            </a:extLst>
          </p:cNvPr>
          <p:cNvSpPr>
            <a:spLocks xmlns:a="http://schemas.openxmlformats.org/drawingml/2006/main" noGrp="1"/>
          </p:cNvSpPr>
          <p:nvPr/>
        </p:nvSpPr>
        <p:spPr>
          <a:xfrm xmlns:a="http://schemas.openxmlformats.org/drawingml/2006/main">
            <a:off x="838200" y="2962275"/>
            <a:ext cx="10515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“Establish a reproducible baseline before editing.”</a:t>
            </a:r>
          </a:p>
        </p:txBody>
      </p:sp>
      <p:sp>
        <p:nvSpPr>
          <p:cNvPr id="10" name="“A measured result that does not justify a change is a&#10;valid">
            <a:extLst xmlns:a="http://schemas.openxmlformats.org/drawingml/2006/main">
              <a:ext uri="{FF2B5EF4-FFF2-40B4-BE49-F238E27FC236}">
                <a16:creationId xmlns:a16="http://schemas.microsoft.com/office/drawing/2014/main" id="{7D022357-6283-4BF8-93FB-71A99B368A46}"/>
              </a:ext>
            </a:extLst>
          </p:cNvPr>
          <p:cNvSpPr>
            <a:spLocks xmlns:a="http://schemas.openxmlformats.org/drawingml/2006/main" noGrp="1"/>
          </p:cNvSpPr>
          <p:nvPr/>
        </p:nvSpPr>
        <p:spPr>
          <a:xfrm xmlns:a="http://schemas.openxmlformats.org/drawingml/2006/main">
            <a:off x="838200" y="3495675"/>
            <a:ext cx="105156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“A measured result that does not justify a change is a</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valid no-change conclusion.”</a:t>
            </a:r>
          </a:p>
        </p:txBody>
      </p:sp>
      <p:sp>
        <p:nvSpPr>
          <p:cNvPr id="11" name="작업마다 판단할 것">
            <a:extLst xmlns:a="http://schemas.openxmlformats.org/drawingml/2006/main">
              <a:ext uri="{FF2B5EF4-FFF2-40B4-BE49-F238E27FC236}">
                <a16:creationId xmlns:a16="http://schemas.microsoft.com/office/drawing/2014/main" id="{582461E5-E43B-4DE0-925C-36592FF2BA3E}"/>
              </a:ext>
            </a:extLst>
          </p:cNvPr>
          <p:cNvSpPr>
            <a:spLocks xmlns:a="http://schemas.openxmlformats.org/drawingml/2006/main" noGrp="1"/>
          </p:cNvSpPr>
          <p:nvPr/>
        </p:nvSpPr>
        <p:spPr>
          <a:xfrm xmlns:a="http://schemas.openxmlformats.org/drawingml/2006/main">
            <a:off x="609600" y="4629150"/>
            <a:ext cx="2762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작업마다 판단할 것</a:t>
            </a:r>
          </a:p>
        </p:txBody>
      </p:sp>
      <p:sp>
        <p:nvSpPr>
          <p:cNvPr id="12" name="어떤 알고리즘?   ·   실제 측정값?   ·   감수할 trade-off?">
            <a:extLst xmlns:a="http://schemas.openxmlformats.org/drawingml/2006/main">
              <a:ext uri="{FF2B5EF4-FFF2-40B4-BE49-F238E27FC236}">
                <a16:creationId xmlns:a16="http://schemas.microsoft.com/office/drawing/2014/main" id="{E405D952-800E-41B0-98BF-F5BD5F4111CC}"/>
              </a:ext>
            </a:extLst>
          </p:cNvPr>
          <p:cNvSpPr>
            <a:spLocks xmlns:a="http://schemas.openxmlformats.org/drawingml/2006/main" noGrp="1"/>
          </p:cNvSpPr>
          <p:nvPr/>
        </p:nvSpPr>
        <p:spPr>
          <a:xfrm xmlns:a="http://schemas.openxmlformats.org/drawingml/2006/main">
            <a:off x="3562350" y="4629150"/>
            <a:ext cx="802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어떤 알고리즘?   ·   실제 측정값?   ·   감수할 trade-off?</a:t>
            </a:r>
          </a:p>
        </p:txBody>
      </p:sp>
      <p:sp>
        <p:nvSpPr>
          <p:cNvPr id="13" name="절차는 재사용하고, 답은 이번 근거로 결정한다">
            <a:extLst xmlns:a="http://schemas.openxmlformats.org/drawingml/2006/main">
              <a:ext uri="{FF2B5EF4-FFF2-40B4-BE49-F238E27FC236}">
                <a16:creationId xmlns:a16="http://schemas.microsoft.com/office/drawing/2014/main" id="{E4700E07-2E0D-4F29-997E-A842761B88E3}"/>
              </a:ext>
            </a:extLst>
          </p:cNvPr>
          <p:cNvSpPr>
            <a:spLocks xmlns:a="http://schemas.openxmlformats.org/drawingml/2006/main" noGrp="1"/>
          </p:cNvSpPr>
          <p:nvPr/>
        </p:nvSpPr>
        <p:spPr>
          <a:xfrm xmlns:a="http://schemas.openxmlformats.org/drawingml/2006/main">
            <a:off x="609600" y="5238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절차는 재사용하고, 답은 이번 근거로 결정한다</a:t>
            </a:r>
          </a:p>
        </p:txBody>
      </p:sp>
    </p:spTree>
    <p:extLst>
      <p:ext uri="{BB962C8B-B14F-4D97-AF65-F5344CB8AC3E}">
        <p14:creationId xmlns:p14="http://schemas.microsoft.com/office/powerpoint/2010/main" val="2038796606"/>
      </p:ext>
    </p:extLst>
  </p:cSld>
</p:sld>
</file>

<file path=ppt/slides/slide4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시간과 메모리를 함께 비교">
            <a:extLst xmlns:a="http://schemas.openxmlformats.org/drawingml/2006/main">
              <a:ext uri="{FF2B5EF4-FFF2-40B4-BE49-F238E27FC236}">
                <a16:creationId xmlns:a16="http://schemas.microsoft.com/office/drawing/2014/main" id="{98E2A6B9-B375-4AFA-A4FB-0AD513B536B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시간과 메모리를 함께 비교</a:t>
            </a:r>
          </a:p>
        </p:txBody>
      </p:sp>
      <p:sp>
        <p:nvSpPr>
          <p:cNvPr id="2" name="S44">
            <a:extLst xmlns:a="http://schemas.openxmlformats.org/drawingml/2006/main">
              <a:ext uri="{FF2B5EF4-FFF2-40B4-BE49-F238E27FC236}">
                <a16:creationId xmlns:a16="http://schemas.microsoft.com/office/drawing/2014/main" id="{C879D4CC-055D-4C48-A1ED-488B82CC0D3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측정으로 후보를 고르다">
            <a:extLst xmlns:a="http://schemas.openxmlformats.org/drawingml/2006/main">
              <a:ext uri="{FF2B5EF4-FFF2-40B4-BE49-F238E27FC236}">
                <a16:creationId xmlns:a16="http://schemas.microsoft.com/office/drawing/2014/main" id="{40BA7AB8-DDBE-4039-8D95-DB38D061556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측정으로 후보를 고르다</a:t>
            </a:r>
          </a:p>
        </p:txBody>
      </p:sp>
      <p:sp>
        <p:nvSpPr>
          <p:cNvPr id="4" name="">
            <a:extLst xmlns:a="http://schemas.openxmlformats.org/drawingml/2006/main">
              <a:ext uri="{FF2B5EF4-FFF2-40B4-BE49-F238E27FC236}">
                <a16:creationId xmlns:a16="http://schemas.microsoft.com/office/drawing/2014/main" id="{ED63F1DC-9BF6-4165-ADCC-5F2CC2AD63E0}"/>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image_statistics 후보 비교 · 최종 STATE-04 전후 측정과는 별개">
            <a:extLst xmlns:a="http://schemas.openxmlformats.org/drawingml/2006/main">
              <a:ext uri="{FF2B5EF4-FFF2-40B4-BE49-F238E27FC236}">
                <a16:creationId xmlns:a16="http://schemas.microsoft.com/office/drawing/2014/main" id="{1A14B377-3803-4D54-9FF8-2DB18B64671F}"/>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image_statistics 후보 비교 · 최종 STATE-04 전후 측정과는 별개</a:t>
            </a:r>
          </a:p>
        </p:txBody>
      </p:sp>
      <p:sp>
        <p:nvSpPr>
          <p:cNvPr id="6" name="합성 1024×768 · CPython 3.9.6 / macOS arm64 · 같은 6개 출력값 검증 · 정">
            <a:extLst xmlns:a="http://schemas.openxmlformats.org/drawingml/2006/main">
              <a:ext uri="{FF2B5EF4-FFF2-40B4-BE49-F238E27FC236}">
                <a16:creationId xmlns:a16="http://schemas.microsoft.com/office/drawing/2014/main" id="{F63EBEF4-47AC-4247-BE15-E91B44A1E4B4}"/>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합성 1024×768 · CPython 3.9.6 / macOS arm64 · 같은 6개 출력값 검증 · 정성 비교</a:t>
            </a:r>
          </a:p>
        </p:txBody>
      </p:sp>
      <p:sp>
        <p:nvSpPr>
          <p:cNvPr id="7" name="메모리가 적다는 이유만으로 고르지 않았다">
            <a:extLst xmlns:a="http://schemas.openxmlformats.org/drawingml/2006/main">
              <a:ext uri="{FF2B5EF4-FFF2-40B4-BE49-F238E27FC236}">
                <a16:creationId xmlns:a16="http://schemas.microsoft.com/office/drawing/2014/main" id="{EF716E6E-E6CD-4244-84FE-8FDA48602E63}"/>
              </a:ext>
            </a:extLst>
          </p:cNvPr>
          <p:cNvSpPr>
            <a:spLocks xmlns:a="http://schemas.openxmlformats.org/drawingml/2006/main" noGrp="1"/>
          </p:cNvSpPr>
          <p:nvPr/>
        </p:nvSpPr>
        <p:spPr>
          <a:xfrm xmlns:a="http://schemas.openxmlformats.org/drawingml/2006/main">
            <a:off x="609600" y="21431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메모리가 적다는 이유만으로 고르지 않았다</a:t>
            </a:r>
          </a:p>
        </p:txBody>
      </p:sp>
      <p:sp>
        <p:nvSpPr>
          <p:cNvPr id="8" name="후보">
            <a:extLst xmlns:a="http://schemas.openxmlformats.org/drawingml/2006/main">
              <a:ext uri="{FF2B5EF4-FFF2-40B4-BE49-F238E27FC236}">
                <a16:creationId xmlns:a16="http://schemas.microsoft.com/office/drawing/2014/main" id="{BA1C0E7A-CC52-4089-AE75-BF669D322CBC}"/>
              </a:ext>
            </a:extLst>
          </p:cNvPr>
          <p:cNvSpPr>
            <a:spLocks xmlns:a="http://schemas.openxmlformats.org/drawingml/2006/main" noGrp="1"/>
          </p:cNvSpPr>
          <p:nvPr/>
        </p:nvSpPr>
        <p:spPr>
          <a:xfrm xmlns:a="http://schemas.openxmlformats.org/drawingml/2006/main">
            <a:off x="609600" y="2867025"/>
            <a:ext cx="45910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후보</a:t>
            </a:r>
          </a:p>
        </p:txBody>
      </p:sp>
      <p:sp>
        <p:nvSpPr>
          <p:cNvPr id="9" name="Python 할당량">
            <a:extLst xmlns:a="http://schemas.openxmlformats.org/drawingml/2006/main">
              <a:ext uri="{FF2B5EF4-FFF2-40B4-BE49-F238E27FC236}">
                <a16:creationId xmlns:a16="http://schemas.microsoft.com/office/drawing/2014/main" id="{BE9BA6BE-FA0D-4F5A-B597-3F463746C9BF}"/>
              </a:ext>
            </a:extLst>
          </p:cNvPr>
          <p:cNvSpPr>
            <a:spLocks xmlns:a="http://schemas.openxmlformats.org/drawingml/2006/main" noGrp="1"/>
          </p:cNvSpPr>
          <p:nvPr/>
        </p:nvSpPr>
        <p:spPr>
          <a:xfrm xmlns:a="http://schemas.openxmlformats.org/drawingml/2006/main">
            <a:off x="5772150" y="2867025"/>
            <a:ext cx="2647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Python 할당량</a:t>
            </a:r>
          </a:p>
        </p:txBody>
      </p:sp>
      <p:sp>
        <p:nvSpPr>
          <p:cNvPr id="10" name="실행 시간">
            <a:extLst xmlns:a="http://schemas.openxmlformats.org/drawingml/2006/main">
              <a:ext uri="{FF2B5EF4-FFF2-40B4-BE49-F238E27FC236}">
                <a16:creationId xmlns:a16="http://schemas.microsoft.com/office/drawing/2014/main" id="{65AF5463-D6CD-4D0F-9812-2A9145B18CCD}"/>
              </a:ext>
            </a:extLst>
          </p:cNvPr>
          <p:cNvSpPr>
            <a:spLocks xmlns:a="http://schemas.openxmlformats.org/drawingml/2006/main" noGrp="1"/>
          </p:cNvSpPr>
          <p:nvPr/>
        </p:nvSpPr>
        <p:spPr>
          <a:xfrm xmlns:a="http://schemas.openxmlformats.org/drawingml/2006/main">
            <a:off x="8972550" y="2867025"/>
            <a:ext cx="26098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실행 시간</a:t>
            </a:r>
          </a:p>
        </p:txBody>
      </p:sp>
      <p:sp>
        <p:nvSpPr>
          <p:cNvPr id="11" name="">
            <a:extLst xmlns:a="http://schemas.openxmlformats.org/drawingml/2006/main">
              <a:ext uri="{FF2B5EF4-FFF2-40B4-BE49-F238E27FC236}">
                <a16:creationId xmlns:a16="http://schemas.microsoft.com/office/drawing/2014/main" id="{1480A303-B650-4043-A36D-B0A8F58E135D}"/>
              </a:ext>
            </a:extLst>
          </p:cNvPr>
          <p:cNvSpPr>
            <a:spLocks xmlns:a="http://schemas.openxmlformats.org/drawingml/2006/main" noGrp="1"/>
          </p:cNvSpPr>
          <p:nvPr/>
        </p:nvSpPr>
        <p:spPr>
          <a:xfrm xmlns:a="http://schemas.openxmlformats.org/drawingml/2006/main">
            <a:off x="609600" y="3362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수동 단일 순회">
            <a:extLst xmlns:a="http://schemas.openxmlformats.org/drawingml/2006/main">
              <a:ext uri="{FF2B5EF4-FFF2-40B4-BE49-F238E27FC236}">
                <a16:creationId xmlns:a16="http://schemas.microsoft.com/office/drawing/2014/main" id="{E1BDD28D-2904-4782-9FE0-23893D7C1927}"/>
              </a:ext>
            </a:extLst>
          </p:cNvPr>
          <p:cNvSpPr>
            <a:spLocks xmlns:a="http://schemas.openxmlformats.org/drawingml/2006/main" noGrp="1"/>
          </p:cNvSpPr>
          <p:nvPr/>
        </p:nvSpPr>
        <p:spPr>
          <a:xfrm xmlns:a="http://schemas.openxmlformats.org/drawingml/2006/main">
            <a:off x="609600" y="3600450"/>
            <a:ext cx="4591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수동 단일 순회</a:t>
            </a:r>
          </a:p>
        </p:txBody>
      </p:sp>
      <p:sp>
        <p:nvSpPr>
          <p:cNvPr id="13" name="낮음">
            <a:extLst xmlns:a="http://schemas.openxmlformats.org/drawingml/2006/main">
              <a:ext uri="{FF2B5EF4-FFF2-40B4-BE49-F238E27FC236}">
                <a16:creationId xmlns:a16="http://schemas.microsoft.com/office/drawing/2014/main" id="{7D3BB408-46A8-41C2-9ED6-B868CDAF3A2E}"/>
              </a:ext>
            </a:extLst>
          </p:cNvPr>
          <p:cNvSpPr>
            <a:spLocks xmlns:a="http://schemas.openxmlformats.org/drawingml/2006/main" noGrp="1"/>
          </p:cNvSpPr>
          <p:nvPr/>
        </p:nvSpPr>
        <p:spPr>
          <a:xfrm xmlns:a="http://schemas.openxmlformats.org/drawingml/2006/main">
            <a:off x="5772150" y="3600450"/>
            <a:ext cx="2647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낮음</a:t>
            </a:r>
          </a:p>
        </p:txBody>
      </p:sp>
      <p:sp>
        <p:nvSpPr>
          <p:cNvPr id="14" name="훨씬 느림">
            <a:extLst xmlns:a="http://schemas.openxmlformats.org/drawingml/2006/main">
              <a:ext uri="{FF2B5EF4-FFF2-40B4-BE49-F238E27FC236}">
                <a16:creationId xmlns:a16="http://schemas.microsoft.com/office/drawing/2014/main" id="{7A1D9C10-EFFC-46AA-B5AC-5397BF18ADE7}"/>
              </a:ext>
            </a:extLst>
          </p:cNvPr>
          <p:cNvSpPr>
            <a:spLocks xmlns:a="http://schemas.openxmlformats.org/drawingml/2006/main" noGrp="1"/>
          </p:cNvSpPr>
          <p:nvPr/>
        </p:nvSpPr>
        <p:spPr>
          <a:xfrm xmlns:a="http://schemas.openxmlformats.org/drawingml/2006/main">
            <a:off x="8972550" y="36004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훨씬 느림</a:t>
            </a:r>
          </a:p>
        </p:txBody>
      </p:sp>
      <p:sp>
        <p:nvSpPr>
          <p:cNvPr id="15" name="">
            <a:extLst xmlns:a="http://schemas.openxmlformats.org/drawingml/2006/main">
              <a:ext uri="{FF2B5EF4-FFF2-40B4-BE49-F238E27FC236}">
                <a16:creationId xmlns:a16="http://schemas.microsoft.com/office/drawing/2014/main" id="{C9BB51DB-CE52-4E81-8154-55F81D1DA172}"/>
              </a:ext>
            </a:extLst>
          </p:cNvPr>
          <p:cNvSpPr>
            <a:spLocks xmlns:a="http://schemas.openxmlformats.org/drawingml/2006/main" noGrp="1"/>
          </p:cNvSpPr>
          <p:nvPr/>
        </p:nvSpPr>
        <p:spPr>
          <a:xfrm xmlns:a="http://schemas.openxmlformats.org/drawingml/2006/main">
            <a:off x="609600" y="4381500"/>
            <a:ext cx="109728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행 단위 built-in reduction">
            <a:extLst xmlns:a="http://schemas.openxmlformats.org/drawingml/2006/main">
              <a:ext uri="{FF2B5EF4-FFF2-40B4-BE49-F238E27FC236}">
                <a16:creationId xmlns:a16="http://schemas.microsoft.com/office/drawing/2014/main" id="{E5A9EE75-73AC-4EA1-A8ED-B8F20E5F7AC6}"/>
              </a:ext>
            </a:extLst>
          </p:cNvPr>
          <p:cNvSpPr>
            <a:spLocks xmlns:a="http://schemas.openxmlformats.org/drawingml/2006/main" noGrp="1"/>
          </p:cNvSpPr>
          <p:nvPr/>
        </p:nvSpPr>
        <p:spPr>
          <a:xfrm xmlns:a="http://schemas.openxmlformats.org/drawingml/2006/main">
            <a:off x="762000" y="4610100"/>
            <a:ext cx="47244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행 단위 built-in reduction</a:t>
            </a:r>
          </a:p>
        </p:txBody>
      </p:sp>
      <p:sp>
        <p:nvSpPr>
          <p:cNvPr id="17" name="낮게 유지">
            <a:extLst xmlns:a="http://schemas.openxmlformats.org/drawingml/2006/main">
              <a:ext uri="{FF2B5EF4-FFF2-40B4-BE49-F238E27FC236}">
                <a16:creationId xmlns:a16="http://schemas.microsoft.com/office/drawing/2014/main" id="{C0A422D7-8E80-47AE-9DAD-D2FD92AD5A3C}"/>
              </a:ext>
            </a:extLst>
          </p:cNvPr>
          <p:cNvSpPr>
            <a:spLocks xmlns:a="http://schemas.openxmlformats.org/drawingml/2006/main" noGrp="1"/>
          </p:cNvSpPr>
          <p:nvPr/>
        </p:nvSpPr>
        <p:spPr>
          <a:xfrm xmlns:a="http://schemas.openxmlformats.org/drawingml/2006/main">
            <a:off x="5772150" y="4610100"/>
            <a:ext cx="2647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낮게 유지</a:t>
            </a:r>
          </a:p>
        </p:txBody>
      </p:sp>
      <p:sp>
        <p:nvSpPr>
          <p:cNvPr id="18" name="더 나음 → 선택">
            <a:extLst xmlns:a="http://schemas.openxmlformats.org/drawingml/2006/main">
              <a:ext uri="{FF2B5EF4-FFF2-40B4-BE49-F238E27FC236}">
                <a16:creationId xmlns:a16="http://schemas.microsoft.com/office/drawing/2014/main" id="{A98AD560-B246-4B60-95FF-4B79AF3F54C0}"/>
              </a:ext>
            </a:extLst>
          </p:cNvPr>
          <p:cNvSpPr>
            <a:spLocks xmlns:a="http://schemas.openxmlformats.org/drawingml/2006/main" noGrp="1"/>
          </p:cNvSpPr>
          <p:nvPr/>
        </p:nvSpPr>
        <p:spPr>
          <a:xfrm xmlns:a="http://schemas.openxmlformats.org/drawingml/2006/main">
            <a:off x="8972550" y="4610100"/>
            <a:ext cx="2609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나음 → 선택</a:t>
            </a:r>
          </a:p>
        </p:txBody>
      </p:sp>
    </p:spTree>
    <p:extLst>
      <p:ext uri="{BB962C8B-B14F-4D97-AF65-F5344CB8AC3E}">
        <p14:creationId xmlns:p14="http://schemas.microsoft.com/office/powerpoint/2010/main" val="1349928395"/>
      </p:ext>
    </p:extLst>
  </p:cSld>
</p:sld>
</file>

<file path=ppt/slides/slide4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Harness로 조사하고 검증하기">
            <a:extLst xmlns:a="http://schemas.openxmlformats.org/drawingml/2006/main">
              <a:ext uri="{FF2B5EF4-FFF2-40B4-BE49-F238E27FC236}">
                <a16:creationId xmlns:a16="http://schemas.microsoft.com/office/drawing/2014/main" id="{6BAB9B27-DF3C-4221-B9EE-4B7E1F74441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Harness로 조사하고 검증하기</a:t>
            </a:r>
          </a:p>
        </p:txBody>
      </p:sp>
      <p:sp>
        <p:nvSpPr>
          <p:cNvPr id="2" name="S45">
            <a:extLst xmlns:a="http://schemas.openxmlformats.org/drawingml/2006/main">
              <a:ext uri="{FF2B5EF4-FFF2-40B4-BE49-F238E27FC236}">
                <a16:creationId xmlns:a16="http://schemas.microsoft.com/office/drawing/2014/main" id="{FDAECFF9-BA35-4744-A478-4427BE2BC6F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Working Harness Success">
            <a:extLst xmlns:a="http://schemas.openxmlformats.org/drawingml/2006/main">
              <a:ext uri="{FF2B5EF4-FFF2-40B4-BE49-F238E27FC236}">
                <a16:creationId xmlns:a16="http://schemas.microsoft.com/office/drawing/2014/main" id="{ECC21493-2B90-401A-A405-FD30E0887B9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Working Harness Success</a:t>
            </a:r>
          </a:p>
        </p:txBody>
      </p:sp>
      <p:sp>
        <p:nvSpPr>
          <p:cNvPr id="4" name="">
            <a:extLst xmlns:a="http://schemas.openxmlformats.org/drawingml/2006/main">
              <a:ext uri="{FF2B5EF4-FFF2-40B4-BE49-F238E27FC236}">
                <a16:creationId xmlns:a16="http://schemas.microsoft.com/office/drawing/2014/main" id="{0E877A1A-266C-4A7C-959A-713EEB7A7AC8}"/>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image_statistics · 합성 1024×768 ">
            <a:extLst xmlns:a="http://schemas.openxmlformats.org/drawingml/2006/main">
              <a:ext uri="{FF2B5EF4-FFF2-40B4-BE49-F238E27FC236}">
                <a16:creationId xmlns:a16="http://schemas.microsoft.com/office/drawing/2014/main" id="{2FFAD27A-B690-40E5-BE32-D9EA0D21333F}"/>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image_statistics · 합성 1024×768 · CPython 3.9.6 / macOS arm64</a:t>
            </a:r>
          </a:p>
        </p:txBody>
      </p:sp>
      <p:sp>
        <p:nvSpPr>
          <p:cNvPr id="6" name="동일 입력·상태별 7회 측정 · 이 환경의 코드 변경 결과이며 Harness 단독 효과는 입증하지 않음">
            <a:extLst xmlns:a="http://schemas.openxmlformats.org/drawingml/2006/main">
              <a:ext uri="{FF2B5EF4-FFF2-40B4-BE49-F238E27FC236}">
                <a16:creationId xmlns:a16="http://schemas.microsoft.com/office/drawing/2014/main" id="{EF25F365-7175-49BC-8607-9DD34BB2E725}"/>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동일 입력·상태별 7회 측정 · 이 환경의 코드 변경 결과이며 Harness 단독 효과는 입증하지 않음</a:t>
            </a:r>
          </a:p>
        </p:txBody>
      </p:sp>
      <p:sp>
        <p:nvSpPr>
          <p:cNvPr id="7" name="결과가 맞는지 확인하고, 같은 조건에서 비교했다">
            <a:extLst xmlns:a="http://schemas.openxmlformats.org/drawingml/2006/main">
              <a:ext uri="{FF2B5EF4-FFF2-40B4-BE49-F238E27FC236}">
                <a16:creationId xmlns:a16="http://schemas.microsoft.com/office/drawing/2014/main" id="{340C11B6-ED62-4537-9156-00541C8F88E6}"/>
              </a:ext>
            </a:extLst>
          </p:cNvPr>
          <p:cNvSpPr>
            <a:spLocks xmlns:a="http://schemas.openxmlformats.org/drawingml/2006/main" noGrp="1"/>
          </p:cNvSpPr>
          <p:nvPr/>
        </p:nvSpPr>
        <p:spPr>
          <a:xfrm xmlns:a="http://schemas.openxmlformats.org/drawingml/2006/main">
            <a:off x="609600" y="15716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결과가 맞는지 확인하고, 같은 조건에서 비교했다</a:t>
            </a:r>
          </a:p>
        </p:txBody>
      </p:sp>
      <p:sp>
        <p:nvSpPr>
          <p:cNvPr id="8" name="실행 시간 중앙값">
            <a:extLst xmlns:a="http://schemas.openxmlformats.org/drawingml/2006/main">
              <a:ext uri="{FF2B5EF4-FFF2-40B4-BE49-F238E27FC236}">
                <a16:creationId xmlns:a16="http://schemas.microsoft.com/office/drawing/2014/main" id="{248A5DBE-9B4A-4BD8-B616-E736CA369FD5}"/>
              </a:ext>
            </a:extLst>
          </p:cNvPr>
          <p:cNvSpPr>
            <a:spLocks xmlns:a="http://schemas.openxmlformats.org/drawingml/2006/main" noGrp="1"/>
          </p:cNvSpPr>
          <p:nvPr/>
        </p:nvSpPr>
        <p:spPr>
          <a:xfrm xmlns:a="http://schemas.openxmlformats.org/drawingml/2006/main">
            <a:off x="609600" y="2324100"/>
            <a:ext cx="566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실행 시간 중앙값</a:t>
            </a:r>
          </a:p>
        </p:txBody>
      </p:sp>
      <p:sp>
        <p:nvSpPr>
          <p:cNvPr id="9" name="ms/call · 낮을수록 짧음">
            <a:extLst xmlns:a="http://schemas.openxmlformats.org/drawingml/2006/main">
              <a:ext uri="{FF2B5EF4-FFF2-40B4-BE49-F238E27FC236}">
                <a16:creationId xmlns:a16="http://schemas.microsoft.com/office/drawing/2014/main" id="{6BF2FA95-5073-49D8-931C-1A217901EC7A}"/>
              </a:ext>
            </a:extLst>
          </p:cNvPr>
          <p:cNvSpPr>
            <a:spLocks xmlns:a="http://schemas.openxmlformats.org/drawingml/2006/main" noGrp="1"/>
          </p:cNvSpPr>
          <p:nvPr/>
        </p:nvSpPr>
        <p:spPr>
          <a:xfrm xmlns:a="http://schemas.openxmlformats.org/drawingml/2006/main">
            <a:off x="609600" y="2714625"/>
            <a:ext cx="5667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ms/call · 낮을수록 짧음</a:t>
            </a:r>
          </a:p>
        </p:txBody>
      </p:sp>
      <p:graphicFrame>
        <p:nvGraphicFramePr>
          <p:cNvPr id="10" name="Chart">
            <a:extLst xmlns:a="http://schemas.openxmlformats.org/drawingml/2006/main">
              <a:ext uri="{FF2B5EF4-FFF2-40B4-BE49-F238E27FC236}">
                <a16:creationId xmlns:a16="http://schemas.microsoft.com/office/drawing/2014/main" id="{AE590590-2C85-4E2F-BBE1-22C8F5037C89}"/>
              </a:ext>
            </a:extLst>
          </p:cNvPr>
          <p:cNvGraphicFramePr/>
          <p:nvPr/>
        </p:nvGraphicFramePr>
        <p:xfrm>
          <a:off xmlns:a="http://schemas.openxmlformats.org/drawingml/2006/main" x="609600" y="3067050"/>
          <a:ext xmlns:a="http://schemas.openxmlformats.org/drawingml/2006/main" cx="6191250" cy="2190750"/>
        </p:xfrm>
        <a:graphic xmlns:a="http://schemas.openxmlformats.org/drawingml/2006/main">
          <a:graphicData uri="http://schemas.openxmlformats.org/drawingml/2006/chart">
            <c:chart xmlns:r="http://schemas.openxmlformats.org/officeDocument/2006/relationships" xmlns:c="http://schemas.openxmlformats.org/drawingml/2006/chart" r:id="Ra5fa3699e92e4476"/>
          </a:graphicData>
        </a:graphic>
      </p:graphicFrame>
      <p:sp>
        <p:nvSpPr>
          <p:cNvPr id="11" name="">
            <a:extLst xmlns:a="http://schemas.openxmlformats.org/drawingml/2006/main">
              <a:ext uri="{FF2B5EF4-FFF2-40B4-BE49-F238E27FC236}">
                <a16:creationId xmlns:a16="http://schemas.microsoft.com/office/drawing/2014/main" id="{A9891FFD-E1D8-429F-AFCC-1542C77A188D}"/>
              </a:ext>
            </a:extLst>
          </p:cNvPr>
          <p:cNvSpPr>
            <a:spLocks xmlns:a="http://schemas.openxmlformats.org/drawingml/2006/main" noGrp="1"/>
          </p:cNvSpPr>
          <p:nvPr/>
        </p:nvSpPr>
        <p:spPr>
          <a:xfrm xmlns:a="http://schemas.openxmlformats.org/drawingml/2006/main">
            <a:off x="7124700" y="2324100"/>
            <a:ext cx="19050" cy="28194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Python 할당 피크">
            <a:extLst xmlns:a="http://schemas.openxmlformats.org/drawingml/2006/main">
              <a:ext uri="{FF2B5EF4-FFF2-40B4-BE49-F238E27FC236}">
                <a16:creationId xmlns:a16="http://schemas.microsoft.com/office/drawing/2014/main" id="{DB54923A-65F7-4D1C-B851-803F50956C8E}"/>
              </a:ext>
            </a:extLst>
          </p:cNvPr>
          <p:cNvSpPr>
            <a:spLocks xmlns:a="http://schemas.openxmlformats.org/drawingml/2006/main" noGrp="1"/>
          </p:cNvSpPr>
          <p:nvPr/>
        </p:nvSpPr>
        <p:spPr>
          <a:xfrm xmlns:a="http://schemas.openxmlformats.org/drawingml/2006/main">
            <a:off x="7600950" y="2324100"/>
            <a:ext cx="3981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Python 할당 피크</a:t>
            </a:r>
          </a:p>
        </p:txBody>
      </p:sp>
      <p:sp>
        <p:nvSpPr>
          <p:cNvPr id="13" name="tracemalloc · 프로세스 RSS 아님">
            <a:extLst xmlns:a="http://schemas.openxmlformats.org/drawingml/2006/main">
              <a:ext uri="{FF2B5EF4-FFF2-40B4-BE49-F238E27FC236}">
                <a16:creationId xmlns:a16="http://schemas.microsoft.com/office/drawing/2014/main" id="{A6F37AA4-8A68-453A-8918-6BEDF08B418C}"/>
              </a:ext>
            </a:extLst>
          </p:cNvPr>
          <p:cNvSpPr>
            <a:spLocks xmlns:a="http://schemas.openxmlformats.org/drawingml/2006/main" noGrp="1"/>
          </p:cNvSpPr>
          <p:nvPr/>
        </p:nvSpPr>
        <p:spPr>
          <a:xfrm xmlns:a="http://schemas.openxmlformats.org/drawingml/2006/main">
            <a:off x="7600950" y="2714625"/>
            <a:ext cx="3981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tracemalloc · 프로세스 RSS 아님</a:t>
            </a:r>
          </a:p>
        </p:txBody>
      </p:sp>
      <p:sp>
        <p:nvSpPr>
          <p:cNvPr id="14" name="6,675,804 B">
            <a:extLst xmlns:a="http://schemas.openxmlformats.org/drawingml/2006/main">
              <a:ext uri="{FF2B5EF4-FFF2-40B4-BE49-F238E27FC236}">
                <a16:creationId xmlns:a16="http://schemas.microsoft.com/office/drawing/2014/main" id="{42E0C7BC-AA32-413D-B74F-7720F328401C}"/>
              </a:ext>
            </a:extLst>
          </p:cNvPr>
          <p:cNvSpPr>
            <a:spLocks xmlns:a="http://schemas.openxmlformats.org/drawingml/2006/main" noGrp="1"/>
          </p:cNvSpPr>
          <p:nvPr/>
        </p:nvSpPr>
        <p:spPr>
          <a:xfrm xmlns:a="http://schemas.openxmlformats.org/drawingml/2006/main">
            <a:off x="7600950" y="3248025"/>
            <a:ext cx="3981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0">
                <a:solidFill>
                  <a:srgbClr val="4D5A68"/>
                </a:solidFill>
                <a:latin typeface="Malgun Gothic"/>
                <a:ea typeface="Malgun Gothic"/>
                <a:cs typeface="Malgun Gothic"/>
              </a:defRPr>
            </a:defPPr>
            <a:lvl1pPr algn="l">
              <a:defRPr sz="2925" b="0">
                <a:solidFill>
                  <a:srgbClr val="4D5A68"/>
                </a:solidFill>
                <a:latin typeface="Malgun Gothic"/>
                <a:ea typeface="Malgun Gothic"/>
                <a:cs typeface="Malgun Gothic"/>
              </a:defRPr>
            </a:lvl1pPr>
            <a:lvl2pPr algn="l">
              <a:defRPr sz="2925" b="0">
                <a:solidFill>
                  <a:srgbClr val="4D5A68"/>
                </a:solidFill>
                <a:latin typeface="Malgun Gothic"/>
                <a:ea typeface="Malgun Gothic"/>
                <a:cs typeface="Malgun Gothic"/>
              </a:defRPr>
            </a:lvl2pPr>
            <a:lvl3pPr algn="l">
              <a:defRPr sz="2925" b="0">
                <a:solidFill>
                  <a:srgbClr val="4D5A68"/>
                </a:solidFill>
                <a:latin typeface="Malgun Gothic"/>
                <a:ea typeface="Malgun Gothic"/>
                <a:cs typeface="Malgun Gothic"/>
              </a:defRPr>
            </a:lvl3pPr>
            <a:lvl4pPr algn="l">
              <a:defRPr sz="2925" b="0">
                <a:solidFill>
                  <a:srgbClr val="4D5A68"/>
                </a:solidFill>
                <a:latin typeface="Malgun Gothic"/>
                <a:ea typeface="Malgun Gothic"/>
                <a:cs typeface="Malgun Gothic"/>
              </a:defRPr>
            </a:lvl4pPr>
            <a:lvl5pPr algn="l">
              <a:defRPr sz="2925" b="0">
                <a:solidFill>
                  <a:srgbClr val="4D5A68"/>
                </a:solidFill>
                <a:latin typeface="Malgun Gothic"/>
                <a:ea typeface="Malgun Gothic"/>
                <a:cs typeface="Malgun Gothic"/>
              </a:defRPr>
            </a:lvl5pPr>
            <a:lvl6pPr algn="l">
              <a:defRPr sz="2925" b="0">
                <a:solidFill>
                  <a:srgbClr val="4D5A68"/>
                </a:solidFill>
                <a:latin typeface="Malgun Gothic"/>
                <a:ea typeface="Malgun Gothic"/>
                <a:cs typeface="Malgun Gothic"/>
              </a:defRPr>
            </a:lvl6pPr>
            <a:lvl7pPr algn="l">
              <a:defRPr sz="2925" b="0">
                <a:solidFill>
                  <a:srgbClr val="4D5A68"/>
                </a:solidFill>
                <a:latin typeface="Malgun Gothic"/>
                <a:ea typeface="Malgun Gothic"/>
                <a:cs typeface="Malgun Gothic"/>
              </a:defRPr>
            </a:lvl7pPr>
            <a:lvl8pPr algn="l">
              <a:defRPr sz="2925" b="0">
                <a:solidFill>
                  <a:srgbClr val="4D5A68"/>
                </a:solidFill>
                <a:latin typeface="Malgun Gothic"/>
                <a:ea typeface="Malgun Gothic"/>
                <a:cs typeface="Malgun Gothic"/>
              </a:defRPr>
            </a:lvl8pPr>
            <a:lvl9pPr algn="l">
              <a:defRPr sz="2925" b="0">
                <a:solidFill>
                  <a:srgbClr val="4D5A68"/>
                </a:solidFill>
                <a:latin typeface="Malgun Gothic"/>
                <a:ea typeface="Malgun Gothic"/>
                <a:cs typeface="Malgun Gothic"/>
              </a:defRPr>
            </a:lvl9pPr>
          </a:lstStyle>
          <a:p xmlns:a="http://schemas.openxmlformats.org/drawingml/2006/main">
            <a:pPr algn="l">
              <a:defRPr sz="2925" b="0">
                <a:solidFill>
                  <a:srgbClr val="4D5A68"/>
                </a:solidFill>
                <a:latin typeface="Malgun Gothic"/>
                <a:ea typeface="Malgun Gothic"/>
                <a:cs typeface="Malgun Gothic"/>
              </a:defRPr>
            </a:pPr>
            <a:r>
              <a:rPr sz="2925" b="0">
                <a:solidFill>
                  <a:srgbClr val="4D5A68"/>
                </a:solidFill>
                <a:latin typeface="Malgun Gothic"/>
                <a:ea typeface="Malgun Gothic"/>
                <a:cs typeface="Malgun Gothic"/>
              </a:rPr>
              <a:t>6,675,804 B</a:t>
            </a:r>
          </a:p>
        </p:txBody>
      </p:sp>
      <p:sp>
        <p:nvSpPr>
          <p:cNvPr id="15" name="↓">
            <a:extLst xmlns:a="http://schemas.openxmlformats.org/drawingml/2006/main">
              <a:ext uri="{FF2B5EF4-FFF2-40B4-BE49-F238E27FC236}">
                <a16:creationId xmlns:a16="http://schemas.microsoft.com/office/drawing/2014/main" id="{DC9B549F-6345-4583-87A4-1FD551AF032D}"/>
              </a:ext>
            </a:extLst>
          </p:cNvPr>
          <p:cNvSpPr>
            <a:spLocks xmlns:a="http://schemas.openxmlformats.org/drawingml/2006/main" noGrp="1"/>
          </p:cNvSpPr>
          <p:nvPr/>
        </p:nvSpPr>
        <p:spPr>
          <a:xfrm xmlns:a="http://schemas.openxmlformats.org/drawingml/2006/main">
            <a:off x="7600950" y="3781425"/>
            <a:ext cx="4381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0B6172"/>
                </a:solidFill>
                <a:latin typeface="Malgun Gothic"/>
                <a:ea typeface="Malgun Gothic"/>
                <a:cs typeface="Malgun Gothic"/>
              </a:defRPr>
            </a:defPPr>
            <a:lvl1pPr algn="l">
              <a:defRPr sz="2700" b="0">
                <a:solidFill>
                  <a:srgbClr val="0B6172"/>
                </a:solidFill>
                <a:latin typeface="Malgun Gothic"/>
                <a:ea typeface="Malgun Gothic"/>
                <a:cs typeface="Malgun Gothic"/>
              </a:defRPr>
            </a:lvl1pPr>
            <a:lvl2pPr algn="l">
              <a:defRPr sz="2700" b="0">
                <a:solidFill>
                  <a:srgbClr val="0B6172"/>
                </a:solidFill>
                <a:latin typeface="Malgun Gothic"/>
                <a:ea typeface="Malgun Gothic"/>
                <a:cs typeface="Malgun Gothic"/>
              </a:defRPr>
            </a:lvl2pPr>
            <a:lvl3pPr algn="l">
              <a:defRPr sz="2700" b="0">
                <a:solidFill>
                  <a:srgbClr val="0B6172"/>
                </a:solidFill>
                <a:latin typeface="Malgun Gothic"/>
                <a:ea typeface="Malgun Gothic"/>
                <a:cs typeface="Malgun Gothic"/>
              </a:defRPr>
            </a:lvl3pPr>
            <a:lvl4pPr algn="l">
              <a:defRPr sz="2700" b="0">
                <a:solidFill>
                  <a:srgbClr val="0B6172"/>
                </a:solidFill>
                <a:latin typeface="Malgun Gothic"/>
                <a:ea typeface="Malgun Gothic"/>
                <a:cs typeface="Malgun Gothic"/>
              </a:defRPr>
            </a:lvl4pPr>
            <a:lvl5pPr algn="l">
              <a:defRPr sz="2700" b="0">
                <a:solidFill>
                  <a:srgbClr val="0B6172"/>
                </a:solidFill>
                <a:latin typeface="Malgun Gothic"/>
                <a:ea typeface="Malgun Gothic"/>
                <a:cs typeface="Malgun Gothic"/>
              </a:defRPr>
            </a:lvl5pPr>
            <a:lvl6pPr algn="l">
              <a:defRPr sz="2700" b="0">
                <a:solidFill>
                  <a:srgbClr val="0B6172"/>
                </a:solidFill>
                <a:latin typeface="Malgun Gothic"/>
                <a:ea typeface="Malgun Gothic"/>
                <a:cs typeface="Malgun Gothic"/>
              </a:defRPr>
            </a:lvl6pPr>
            <a:lvl7pPr algn="l">
              <a:defRPr sz="2700" b="0">
                <a:solidFill>
                  <a:srgbClr val="0B6172"/>
                </a:solidFill>
                <a:latin typeface="Malgun Gothic"/>
                <a:ea typeface="Malgun Gothic"/>
                <a:cs typeface="Malgun Gothic"/>
              </a:defRPr>
            </a:lvl7pPr>
            <a:lvl8pPr algn="l">
              <a:defRPr sz="2700" b="0">
                <a:solidFill>
                  <a:srgbClr val="0B6172"/>
                </a:solidFill>
                <a:latin typeface="Malgun Gothic"/>
                <a:ea typeface="Malgun Gothic"/>
                <a:cs typeface="Malgun Gothic"/>
              </a:defRPr>
            </a:lvl8pPr>
            <a:lvl9pPr algn="l">
              <a:defRPr sz="2700" b="0">
                <a:solidFill>
                  <a:srgbClr val="0B6172"/>
                </a:solidFill>
                <a:latin typeface="Malgun Gothic"/>
                <a:ea typeface="Malgun Gothic"/>
                <a:cs typeface="Malgun Gothic"/>
              </a:defRPr>
            </a:lvl9pPr>
          </a:lstStyle>
          <a:p xmlns:a="http://schemas.openxmlformats.org/drawingml/2006/main">
            <a:pPr algn="l">
              <a:defRPr sz="2700" b="0">
                <a:solidFill>
                  <a:srgbClr val="0B6172"/>
                </a:solidFill>
                <a:latin typeface="Malgun Gothic"/>
                <a:ea typeface="Malgun Gothic"/>
                <a:cs typeface="Malgun Gothic"/>
              </a:defRPr>
            </a:pPr>
            <a:r>
              <a:rPr sz="2700" b="0">
                <a:solidFill>
                  <a:srgbClr val="0B6172"/>
                </a:solidFill>
                <a:latin typeface="Malgun Gothic"/>
                <a:ea typeface="Malgun Gothic"/>
                <a:cs typeface="Malgun Gothic"/>
              </a:rPr>
              <a:t>↓</a:t>
            </a:r>
          </a:p>
        </p:txBody>
      </p:sp>
      <p:sp>
        <p:nvSpPr>
          <p:cNvPr id="16" name="380 B">
            <a:extLst xmlns:a="http://schemas.openxmlformats.org/drawingml/2006/main">
              <a:ext uri="{FF2B5EF4-FFF2-40B4-BE49-F238E27FC236}">
                <a16:creationId xmlns:a16="http://schemas.microsoft.com/office/drawing/2014/main" id="{64C5DE13-50E8-4535-9023-DA88C011F605}"/>
              </a:ext>
            </a:extLst>
          </p:cNvPr>
          <p:cNvSpPr>
            <a:spLocks xmlns:a="http://schemas.openxmlformats.org/drawingml/2006/main" noGrp="1"/>
          </p:cNvSpPr>
          <p:nvPr/>
        </p:nvSpPr>
        <p:spPr>
          <a:xfrm xmlns:a="http://schemas.openxmlformats.org/drawingml/2006/main">
            <a:off x="8153400" y="378142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0B6172"/>
                </a:solidFill>
                <a:latin typeface="Malgun Gothic"/>
                <a:ea typeface="Malgun Gothic"/>
                <a:cs typeface="Malgun Gothic"/>
              </a:defRPr>
            </a:defPPr>
            <a:lvl1pPr algn="l">
              <a:defRPr sz="4200" b="1">
                <a:solidFill>
                  <a:srgbClr val="0B6172"/>
                </a:solidFill>
                <a:latin typeface="Malgun Gothic"/>
                <a:ea typeface="Malgun Gothic"/>
                <a:cs typeface="Malgun Gothic"/>
              </a:defRPr>
            </a:lvl1pPr>
            <a:lvl2pPr algn="l">
              <a:defRPr sz="4200" b="1">
                <a:solidFill>
                  <a:srgbClr val="0B6172"/>
                </a:solidFill>
                <a:latin typeface="Malgun Gothic"/>
                <a:ea typeface="Malgun Gothic"/>
                <a:cs typeface="Malgun Gothic"/>
              </a:defRPr>
            </a:lvl2pPr>
            <a:lvl3pPr algn="l">
              <a:defRPr sz="4200" b="1">
                <a:solidFill>
                  <a:srgbClr val="0B6172"/>
                </a:solidFill>
                <a:latin typeface="Malgun Gothic"/>
                <a:ea typeface="Malgun Gothic"/>
                <a:cs typeface="Malgun Gothic"/>
              </a:defRPr>
            </a:lvl3pPr>
            <a:lvl4pPr algn="l">
              <a:defRPr sz="4200" b="1">
                <a:solidFill>
                  <a:srgbClr val="0B6172"/>
                </a:solidFill>
                <a:latin typeface="Malgun Gothic"/>
                <a:ea typeface="Malgun Gothic"/>
                <a:cs typeface="Malgun Gothic"/>
              </a:defRPr>
            </a:lvl4pPr>
            <a:lvl5pPr algn="l">
              <a:defRPr sz="4200" b="1">
                <a:solidFill>
                  <a:srgbClr val="0B6172"/>
                </a:solidFill>
                <a:latin typeface="Malgun Gothic"/>
                <a:ea typeface="Malgun Gothic"/>
                <a:cs typeface="Malgun Gothic"/>
              </a:defRPr>
            </a:lvl5pPr>
            <a:lvl6pPr algn="l">
              <a:defRPr sz="4200" b="1">
                <a:solidFill>
                  <a:srgbClr val="0B6172"/>
                </a:solidFill>
                <a:latin typeface="Malgun Gothic"/>
                <a:ea typeface="Malgun Gothic"/>
                <a:cs typeface="Malgun Gothic"/>
              </a:defRPr>
            </a:lvl6pPr>
            <a:lvl7pPr algn="l">
              <a:defRPr sz="4200" b="1">
                <a:solidFill>
                  <a:srgbClr val="0B6172"/>
                </a:solidFill>
                <a:latin typeface="Malgun Gothic"/>
                <a:ea typeface="Malgun Gothic"/>
                <a:cs typeface="Malgun Gothic"/>
              </a:defRPr>
            </a:lvl7pPr>
            <a:lvl8pPr algn="l">
              <a:defRPr sz="4200" b="1">
                <a:solidFill>
                  <a:srgbClr val="0B6172"/>
                </a:solidFill>
                <a:latin typeface="Malgun Gothic"/>
                <a:ea typeface="Malgun Gothic"/>
                <a:cs typeface="Malgun Gothic"/>
              </a:defRPr>
            </a:lvl8pPr>
            <a:lvl9pPr algn="l">
              <a:defRPr sz="4200" b="1">
                <a:solidFill>
                  <a:srgbClr val="0B6172"/>
                </a:solidFill>
                <a:latin typeface="Malgun Gothic"/>
                <a:ea typeface="Malgun Gothic"/>
                <a:cs typeface="Malgun Gothic"/>
              </a:defRPr>
            </a:lvl9pPr>
          </a:lstStyle>
          <a:p xmlns:a="http://schemas.openxmlformats.org/drawingml/2006/main">
            <a:pPr algn="l">
              <a:defRPr sz="4200" b="1">
                <a:solidFill>
                  <a:srgbClr val="0B6172"/>
                </a:solidFill>
                <a:latin typeface="Malgun Gothic"/>
                <a:ea typeface="Malgun Gothic"/>
                <a:cs typeface="Malgun Gothic"/>
              </a:defRPr>
            </a:pPr>
            <a:r>
              <a:rPr sz="4200" b="1">
                <a:solidFill>
                  <a:srgbClr val="0B6172"/>
                </a:solidFill>
                <a:latin typeface="Malgun Gothic"/>
                <a:ea typeface="Malgun Gothic"/>
                <a:cs typeface="Malgun Gothic"/>
              </a:rPr>
              <a:t>380 B</a:t>
            </a:r>
          </a:p>
        </p:txBody>
      </p:sp>
      <p:sp>
        <p:nvSpPr>
          <p:cNvPr id="17" name="평탄화 임시 리스트 제거">
            <a:extLst xmlns:a="http://schemas.openxmlformats.org/drawingml/2006/main">
              <a:ext uri="{FF2B5EF4-FFF2-40B4-BE49-F238E27FC236}">
                <a16:creationId xmlns:a16="http://schemas.microsoft.com/office/drawing/2014/main" id="{3372344C-21C8-4ACC-9735-C42983F01C36}"/>
              </a:ext>
            </a:extLst>
          </p:cNvPr>
          <p:cNvSpPr>
            <a:spLocks xmlns:a="http://schemas.openxmlformats.org/drawingml/2006/main" noGrp="1"/>
          </p:cNvSpPr>
          <p:nvPr/>
        </p:nvSpPr>
        <p:spPr>
          <a:xfrm xmlns:a="http://schemas.openxmlformats.org/drawingml/2006/main">
            <a:off x="7600950" y="4648200"/>
            <a:ext cx="3981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평탄화 임시 리스트 제거</a:t>
            </a:r>
          </a:p>
        </p:txBody>
      </p:sp>
      <p:sp>
        <p:nvSpPr>
          <p:cNvPr id="18" name="검증 완료">
            <a:extLst xmlns:a="http://schemas.openxmlformats.org/drawingml/2006/main">
              <a:ext uri="{FF2B5EF4-FFF2-40B4-BE49-F238E27FC236}">
                <a16:creationId xmlns:a16="http://schemas.microsoft.com/office/drawing/2014/main" id="{B1F11D2A-ED92-4A63-8B8E-2EB7D0A9711C}"/>
              </a:ext>
            </a:extLst>
          </p:cNvPr>
          <p:cNvSpPr>
            <a:spLocks xmlns:a="http://schemas.openxmlformats.org/drawingml/2006/main" noGrp="1"/>
          </p:cNvSpPr>
          <p:nvPr/>
        </p:nvSpPr>
        <p:spPr>
          <a:xfrm xmlns:a="http://schemas.openxmlformats.org/drawingml/2006/main">
            <a:off x="609600" y="5391150"/>
            <a:ext cx="158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6B4D"/>
                </a:solidFill>
                <a:latin typeface="Malgun Gothic"/>
                <a:ea typeface="Malgun Gothic"/>
                <a:cs typeface="Malgun Gothic"/>
              </a:defRPr>
            </a:defPPr>
            <a:lvl1pPr algn="l">
              <a:defRPr sz="1800" b="1">
                <a:solidFill>
                  <a:srgbClr val="176B4D"/>
                </a:solidFill>
                <a:latin typeface="Malgun Gothic"/>
                <a:ea typeface="Malgun Gothic"/>
                <a:cs typeface="Malgun Gothic"/>
              </a:defRPr>
            </a:lvl1pPr>
            <a:lvl2pPr algn="l">
              <a:defRPr sz="1800" b="1">
                <a:solidFill>
                  <a:srgbClr val="176B4D"/>
                </a:solidFill>
                <a:latin typeface="Malgun Gothic"/>
                <a:ea typeface="Malgun Gothic"/>
                <a:cs typeface="Malgun Gothic"/>
              </a:defRPr>
            </a:lvl2pPr>
            <a:lvl3pPr algn="l">
              <a:defRPr sz="1800" b="1">
                <a:solidFill>
                  <a:srgbClr val="176B4D"/>
                </a:solidFill>
                <a:latin typeface="Malgun Gothic"/>
                <a:ea typeface="Malgun Gothic"/>
                <a:cs typeface="Malgun Gothic"/>
              </a:defRPr>
            </a:lvl3pPr>
            <a:lvl4pPr algn="l">
              <a:defRPr sz="1800" b="1">
                <a:solidFill>
                  <a:srgbClr val="176B4D"/>
                </a:solidFill>
                <a:latin typeface="Malgun Gothic"/>
                <a:ea typeface="Malgun Gothic"/>
                <a:cs typeface="Malgun Gothic"/>
              </a:defRPr>
            </a:lvl4pPr>
            <a:lvl5pPr algn="l">
              <a:defRPr sz="1800" b="1">
                <a:solidFill>
                  <a:srgbClr val="176B4D"/>
                </a:solidFill>
                <a:latin typeface="Malgun Gothic"/>
                <a:ea typeface="Malgun Gothic"/>
                <a:cs typeface="Malgun Gothic"/>
              </a:defRPr>
            </a:lvl5pPr>
            <a:lvl6pPr algn="l">
              <a:defRPr sz="1800" b="1">
                <a:solidFill>
                  <a:srgbClr val="176B4D"/>
                </a:solidFill>
                <a:latin typeface="Malgun Gothic"/>
                <a:ea typeface="Malgun Gothic"/>
                <a:cs typeface="Malgun Gothic"/>
              </a:defRPr>
            </a:lvl6pPr>
            <a:lvl7pPr algn="l">
              <a:defRPr sz="1800" b="1">
                <a:solidFill>
                  <a:srgbClr val="176B4D"/>
                </a:solidFill>
                <a:latin typeface="Malgun Gothic"/>
                <a:ea typeface="Malgun Gothic"/>
                <a:cs typeface="Malgun Gothic"/>
              </a:defRPr>
            </a:lvl7pPr>
            <a:lvl8pPr algn="l">
              <a:defRPr sz="1800" b="1">
                <a:solidFill>
                  <a:srgbClr val="176B4D"/>
                </a:solidFill>
                <a:latin typeface="Malgun Gothic"/>
                <a:ea typeface="Malgun Gothic"/>
                <a:cs typeface="Malgun Gothic"/>
              </a:defRPr>
            </a:lvl8pPr>
            <a:lvl9pPr algn="l">
              <a:defRPr sz="1800" b="1">
                <a:solidFill>
                  <a:srgbClr val="176B4D"/>
                </a:solidFill>
                <a:latin typeface="Malgun Gothic"/>
                <a:ea typeface="Malgun Gothic"/>
                <a:cs typeface="Malgun Gothic"/>
              </a:defRPr>
            </a:lvl9pPr>
          </a:lstStyle>
          <a:p xmlns:a="http://schemas.openxmlformats.org/drawingml/2006/main">
            <a:pPr algn="l">
              <a:defRPr sz="1800" b="1">
                <a:solidFill>
                  <a:srgbClr val="176B4D"/>
                </a:solidFill>
                <a:latin typeface="Malgun Gothic"/>
                <a:ea typeface="Malgun Gothic"/>
                <a:cs typeface="Malgun Gothic"/>
              </a:defRPr>
            </a:pPr>
            <a:r>
              <a:rPr sz="1800" b="1">
                <a:solidFill>
                  <a:srgbClr val="176B4D"/>
                </a:solidFill>
                <a:latin typeface="Malgun Gothic"/>
                <a:ea typeface="Malgun Gothic"/>
                <a:cs typeface="Malgun Gothic"/>
              </a:rPr>
              <a:t>검증 완료</a:t>
            </a:r>
          </a:p>
        </p:txBody>
      </p:sp>
      <p:sp>
        <p:nvSpPr>
          <p:cNvPr id="19" name="집중 테스트 1/1  ·  전체 11/11  ·  CLI  ·  입력·결과 guard">
            <a:extLst xmlns:a="http://schemas.openxmlformats.org/drawingml/2006/main">
              <a:ext uri="{FF2B5EF4-FFF2-40B4-BE49-F238E27FC236}">
                <a16:creationId xmlns:a16="http://schemas.microsoft.com/office/drawing/2014/main" id="{12315B7B-080F-4936-BF45-361BD86D3974}"/>
              </a:ext>
            </a:extLst>
          </p:cNvPr>
          <p:cNvSpPr>
            <a:spLocks xmlns:a="http://schemas.openxmlformats.org/drawingml/2006/main" noGrp="1"/>
          </p:cNvSpPr>
          <p:nvPr/>
        </p:nvSpPr>
        <p:spPr>
          <a:xfrm xmlns:a="http://schemas.openxmlformats.org/drawingml/2006/main">
            <a:off x="2266950" y="5391150"/>
            <a:ext cx="9315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집중 테스트 1/1  ·  전체 11/11  ·  CLI  ·  입력·결과 guard</a:t>
            </a:r>
          </a:p>
        </p:txBody>
      </p:sp>
    </p:spTree>
    <p:extLst>
      <p:ext uri="{BB962C8B-B14F-4D97-AF65-F5344CB8AC3E}">
        <p14:creationId xmlns:p14="http://schemas.microsoft.com/office/powerpoint/2010/main" val="2081058218"/>
      </p:ext>
    </p:extLst>
  </p:cSld>
</p:sld>
</file>

<file path=ppt/slides/slide4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3 · 현재 Task의 분리 가능성">
            <a:extLst xmlns:a="http://schemas.openxmlformats.org/drawingml/2006/main">
              <a:ext uri="{FF2B5EF4-FFF2-40B4-BE49-F238E27FC236}">
                <a16:creationId xmlns:a16="http://schemas.microsoft.com/office/drawing/2014/main" id="{B162CC88-8E81-42D5-8AAE-E02F3831719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현재 Task의 분리 가능성</a:t>
            </a:r>
          </a:p>
        </p:txBody>
      </p:sp>
      <p:sp>
        <p:nvSpPr>
          <p:cNvPr id="2" name="S46">
            <a:extLst xmlns:a="http://schemas.openxmlformats.org/drawingml/2006/main">
              <a:ext uri="{FF2B5EF4-FFF2-40B4-BE49-F238E27FC236}">
                <a16:creationId xmlns:a16="http://schemas.microsoft.com/office/drawing/2014/main" id="{0452191E-6C72-45DB-8B6A-BD6BEF6B490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이 작업에 Subagent가 필요했을까?">
            <a:extLst xmlns:a="http://schemas.openxmlformats.org/drawingml/2006/main">
              <a:ext uri="{FF2B5EF4-FFF2-40B4-BE49-F238E27FC236}">
                <a16:creationId xmlns:a16="http://schemas.microsoft.com/office/drawing/2014/main" id="{60259193-8563-49D0-94F8-B587BFC165F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 작업에 Subagent가 필요했을까?</a:t>
            </a:r>
          </a:p>
        </p:txBody>
      </p:sp>
      <p:sp>
        <p:nvSpPr>
          <p:cNvPr id="4" name="">
            <a:extLst xmlns:a="http://schemas.openxmlformats.org/drawingml/2006/main">
              <a:ext uri="{FF2B5EF4-FFF2-40B4-BE49-F238E27FC236}">
                <a16:creationId xmlns:a16="http://schemas.microsoft.com/office/drawing/2014/main" id="{4F398CC3-EF89-4E46-B194-23C5B135DCEC}"/>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현재 성능 작업에 대한 판단과 교육용 작업 구조">
            <a:extLst xmlns:a="http://schemas.openxmlformats.org/drawingml/2006/main">
              <a:ext uri="{FF2B5EF4-FFF2-40B4-BE49-F238E27FC236}">
                <a16:creationId xmlns:a16="http://schemas.microsoft.com/office/drawing/2014/main" id="{1B905AFC-CCF8-4CD9-BF10-781DB956AE8B}"/>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현재 성능 작업에 대한 판단과 교육용 작업 구조</a:t>
            </a:r>
          </a:p>
        </p:txBody>
      </p:sp>
      <p:sp>
        <p:nvSpPr>
          <p:cNvPr id="6" name="현재 사례에서 추가하지 않았다는 결과 · 일반적으로 Subagent가 불필요하다는 뜻은 아님">
            <a:extLst xmlns:a="http://schemas.openxmlformats.org/drawingml/2006/main">
              <a:ext uri="{FF2B5EF4-FFF2-40B4-BE49-F238E27FC236}">
                <a16:creationId xmlns:a16="http://schemas.microsoft.com/office/drawing/2014/main" id="{FEE59DAD-C2D1-44FD-A129-634FC912D114}"/>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사례에서 추가하지 않았다는 결과 · 일반적으로 Subagent가 불필요하다는 뜻은 아님</a:t>
            </a:r>
          </a:p>
        </p:txBody>
      </p:sp>
      <p:sp>
        <p:nvSpPr>
          <p:cNvPr id="7" name="">
            <a:extLst xmlns:a="http://schemas.openxmlformats.org/drawingml/2006/main">
              <a:ext uri="{FF2B5EF4-FFF2-40B4-BE49-F238E27FC236}">
                <a16:creationId xmlns:a16="http://schemas.microsoft.com/office/drawing/2014/main" id="{B4BDBDE6-2675-4DAA-90C9-369A7FAF0111}"/>
              </a:ext>
            </a:extLst>
          </p:cNvPr>
          <p:cNvSpPr>
            <a:spLocks xmlns:a="http://schemas.openxmlformats.org/drawingml/2006/main" noGrp="1"/>
          </p:cNvSpPr>
          <p:nvPr/>
        </p:nvSpPr>
        <p:spPr>
          <a:xfrm xmlns:a="http://schemas.openxmlformats.org/drawingml/2006/main">
            <a:off x="60960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조사">
            <a:extLst xmlns:a="http://schemas.openxmlformats.org/drawingml/2006/main">
              <a:ext uri="{FF2B5EF4-FFF2-40B4-BE49-F238E27FC236}">
                <a16:creationId xmlns:a16="http://schemas.microsoft.com/office/drawing/2014/main" id="{80F8E023-5763-4DED-8996-1EEB1C7C7084}"/>
              </a:ext>
            </a:extLst>
          </p:cNvPr>
          <p:cNvSpPr>
            <a:spLocks xmlns:a="http://schemas.openxmlformats.org/drawingml/2006/main" noGrp="1"/>
          </p:cNvSpPr>
          <p:nvPr/>
        </p:nvSpPr>
        <p:spPr>
          <a:xfrm xmlns:a="http://schemas.openxmlformats.org/drawingml/2006/main">
            <a:off x="60960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조사</a:t>
            </a:r>
          </a:p>
        </p:txBody>
      </p:sp>
      <p:sp>
        <p:nvSpPr>
          <p:cNvPr id="9" name="같은 성능 경로와&#10;계약을 확인">
            <a:extLst xmlns:a="http://schemas.openxmlformats.org/drawingml/2006/main">
              <a:ext uri="{FF2B5EF4-FFF2-40B4-BE49-F238E27FC236}">
                <a16:creationId xmlns:a16="http://schemas.microsoft.com/office/drawing/2014/main" id="{94A193B1-1E7A-4514-A94E-F9912168294D}"/>
              </a:ext>
            </a:extLst>
          </p:cNvPr>
          <p:cNvSpPr>
            <a:spLocks xmlns:a="http://schemas.openxmlformats.org/drawingml/2006/main" noGrp="1"/>
          </p:cNvSpPr>
          <p:nvPr/>
        </p:nvSpPr>
        <p:spPr>
          <a:xfrm xmlns:a="http://schemas.openxmlformats.org/drawingml/2006/main">
            <a:off x="60960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같은 성능 경로와</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계약을 확인</a:t>
            </a:r>
          </a:p>
        </p:txBody>
      </p:sp>
      <p:sp>
        <p:nvSpPr>
          <p:cNvPr id="10" name="">
            <a:extLst xmlns:a="http://schemas.openxmlformats.org/drawingml/2006/main">
              <a:ext uri="{FF2B5EF4-FFF2-40B4-BE49-F238E27FC236}">
                <a16:creationId xmlns:a16="http://schemas.microsoft.com/office/drawing/2014/main" id="{CD699644-3283-4689-9F46-864984FAEBB9}"/>
              </a:ext>
            </a:extLst>
          </p:cNvPr>
          <p:cNvSpPr>
            <a:spLocks xmlns:a="http://schemas.openxmlformats.org/drawingml/2006/main" noGrp="1"/>
          </p:cNvSpPr>
          <p:nvPr/>
        </p:nvSpPr>
        <p:spPr>
          <a:xfrm xmlns:a="http://schemas.openxmlformats.org/drawingml/2006/main">
            <a:off x="4086225" y="270510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2C6484F-8446-42A0-A0BC-FBADEFE49098}"/>
              </a:ext>
            </a:extLst>
          </p:cNvPr>
          <p:cNvSpPr>
            <a:spLocks xmlns:a="http://schemas.openxmlformats.org/drawingml/2006/main" noGrp="1"/>
          </p:cNvSpPr>
          <p:nvPr/>
        </p:nvSpPr>
        <p:spPr>
          <a:xfrm xmlns:a="http://schemas.openxmlformats.org/drawingml/2006/main">
            <a:off x="440055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변경">
            <a:extLst xmlns:a="http://schemas.openxmlformats.org/drawingml/2006/main">
              <a:ext uri="{FF2B5EF4-FFF2-40B4-BE49-F238E27FC236}">
                <a16:creationId xmlns:a16="http://schemas.microsoft.com/office/drawing/2014/main" id="{5C34EE3B-BF11-458E-9A19-465774D75687}"/>
              </a:ext>
            </a:extLst>
          </p:cNvPr>
          <p:cNvSpPr>
            <a:spLocks xmlns:a="http://schemas.openxmlformats.org/drawingml/2006/main" noGrp="1"/>
          </p:cNvSpPr>
          <p:nvPr/>
        </p:nvSpPr>
        <p:spPr>
          <a:xfrm xmlns:a="http://schemas.openxmlformats.org/drawingml/2006/main">
            <a:off x="440055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변경</a:t>
            </a:r>
          </a:p>
        </p:txBody>
      </p:sp>
      <p:sp>
        <p:nvSpPr>
          <p:cNvPr id="13" name="조사 결과를 사용">
            <a:extLst xmlns:a="http://schemas.openxmlformats.org/drawingml/2006/main">
              <a:ext uri="{FF2B5EF4-FFF2-40B4-BE49-F238E27FC236}">
                <a16:creationId xmlns:a16="http://schemas.microsoft.com/office/drawing/2014/main" id="{6598C981-8EF0-4EF5-86D8-25FAE73AEB06}"/>
              </a:ext>
            </a:extLst>
          </p:cNvPr>
          <p:cNvSpPr>
            <a:spLocks xmlns:a="http://schemas.openxmlformats.org/drawingml/2006/main" noGrp="1"/>
          </p:cNvSpPr>
          <p:nvPr/>
        </p:nvSpPr>
        <p:spPr>
          <a:xfrm xmlns:a="http://schemas.openxmlformats.org/drawingml/2006/main">
            <a:off x="440055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조사 결과를 사용</a:t>
            </a:r>
          </a:p>
        </p:txBody>
      </p:sp>
      <p:sp>
        <p:nvSpPr>
          <p:cNvPr id="14" name="">
            <a:extLst xmlns:a="http://schemas.openxmlformats.org/drawingml/2006/main">
              <a:ext uri="{FF2B5EF4-FFF2-40B4-BE49-F238E27FC236}">
                <a16:creationId xmlns:a16="http://schemas.microsoft.com/office/drawing/2014/main" id="{AB8DC18F-8775-4D1F-BDE7-B331F37398FD}"/>
              </a:ext>
            </a:extLst>
          </p:cNvPr>
          <p:cNvSpPr>
            <a:spLocks xmlns:a="http://schemas.openxmlformats.org/drawingml/2006/main" noGrp="1"/>
          </p:cNvSpPr>
          <p:nvPr/>
        </p:nvSpPr>
        <p:spPr>
          <a:xfrm xmlns:a="http://schemas.openxmlformats.org/drawingml/2006/main">
            <a:off x="7877175" y="270510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4A658214-4994-45E1-800B-272E445D9D52}"/>
              </a:ext>
            </a:extLst>
          </p:cNvPr>
          <p:cNvSpPr>
            <a:spLocks xmlns:a="http://schemas.openxmlformats.org/drawingml/2006/main" noGrp="1"/>
          </p:cNvSpPr>
          <p:nvPr/>
        </p:nvSpPr>
        <p:spPr>
          <a:xfrm xmlns:a="http://schemas.openxmlformats.org/drawingml/2006/main">
            <a:off x="819150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EA932835-C7F6-426D-86A8-4FDDA7CF9E0E}"/>
              </a:ext>
            </a:extLst>
          </p:cNvPr>
          <p:cNvSpPr>
            <a:spLocks xmlns:a="http://schemas.openxmlformats.org/drawingml/2006/main" noGrp="1"/>
          </p:cNvSpPr>
          <p:nvPr/>
        </p:nvSpPr>
        <p:spPr>
          <a:xfrm xmlns:a="http://schemas.openxmlformats.org/drawingml/2006/main">
            <a:off x="819150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검증</a:t>
            </a:r>
          </a:p>
        </p:txBody>
      </p:sp>
      <p:sp>
        <p:nvSpPr>
          <p:cNvPr id="17" name="변경 결과를 확인">
            <a:extLst xmlns:a="http://schemas.openxmlformats.org/drawingml/2006/main">
              <a:ext uri="{FF2B5EF4-FFF2-40B4-BE49-F238E27FC236}">
                <a16:creationId xmlns:a16="http://schemas.microsoft.com/office/drawing/2014/main" id="{F351FF23-23DB-47B4-8AE7-CF01659CCE7B}"/>
              </a:ext>
            </a:extLst>
          </p:cNvPr>
          <p:cNvSpPr>
            <a:spLocks xmlns:a="http://schemas.openxmlformats.org/drawingml/2006/main" noGrp="1"/>
          </p:cNvSpPr>
          <p:nvPr/>
        </p:nvSpPr>
        <p:spPr>
          <a:xfrm xmlns:a="http://schemas.openxmlformats.org/drawingml/2006/main">
            <a:off x="819150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변경 결과를 확인</a:t>
            </a:r>
          </a:p>
        </p:txBody>
      </p:sp>
      <p:sp>
        <p:nvSpPr>
          <p:cNvPr id="18" name="">
            <a:extLst xmlns:a="http://schemas.openxmlformats.org/drawingml/2006/main">
              <a:ext uri="{FF2B5EF4-FFF2-40B4-BE49-F238E27FC236}">
                <a16:creationId xmlns:a16="http://schemas.microsoft.com/office/drawing/2014/main" id="{61912029-398D-4205-A817-47BB9BC7E4F6}"/>
              </a:ext>
            </a:extLst>
          </p:cNvPr>
          <p:cNvSpPr>
            <a:spLocks xmlns:a="http://schemas.openxmlformats.org/drawingml/2006/main" noGrp="1"/>
          </p:cNvSpPr>
          <p:nvPr/>
        </p:nvSpPr>
        <p:spPr>
          <a:xfrm xmlns:a="http://schemas.openxmlformats.org/drawingml/2006/main">
            <a:off x="609600" y="42195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작업 독립성 낮음  ·  병렬 이득 제한적  ·  결과 통합 비용 존재">
            <a:extLst xmlns:a="http://schemas.openxmlformats.org/drawingml/2006/main">
              <a:ext uri="{FF2B5EF4-FFF2-40B4-BE49-F238E27FC236}">
                <a16:creationId xmlns:a16="http://schemas.microsoft.com/office/drawing/2014/main" id="{65E3560D-D1B7-4552-869F-28CCC63F075A}"/>
              </a:ext>
            </a:extLst>
          </p:cNvPr>
          <p:cNvSpPr>
            <a:spLocks xmlns:a="http://schemas.openxmlformats.org/drawingml/2006/main" noGrp="1"/>
          </p:cNvSpPr>
          <p:nvPr/>
        </p:nvSpPr>
        <p:spPr>
          <a:xfrm xmlns:a="http://schemas.openxmlformats.org/drawingml/2006/main">
            <a:off x="609600" y="44577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작업 독립성 낮음  ·  병렬 이득 제한적  ·  결과 통합 비용 존재</a:t>
            </a:r>
          </a:p>
        </p:txBody>
      </p:sp>
      <p:sp>
        <p:nvSpPr>
          <p:cNvPr id="20" name="이 Task에서는 Agent를 더 나눌 근거가 부족했다">
            <a:extLst xmlns:a="http://schemas.openxmlformats.org/drawingml/2006/main">
              <a:ext uri="{FF2B5EF4-FFF2-40B4-BE49-F238E27FC236}">
                <a16:creationId xmlns:a16="http://schemas.microsoft.com/office/drawing/2014/main" id="{E6518EC9-29CD-4466-BE4C-5E663813D341}"/>
              </a:ext>
            </a:extLst>
          </p:cNvPr>
          <p:cNvSpPr>
            <a:spLocks xmlns:a="http://schemas.openxmlformats.org/drawingml/2006/main" noGrp="1"/>
          </p:cNvSpPr>
          <p:nvPr/>
        </p:nvSpPr>
        <p:spPr>
          <a:xfrm xmlns:a="http://schemas.openxmlformats.org/drawingml/2006/main">
            <a:off x="609600" y="52197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Task에서는 Agent를 더 나눌 근거가 부족했다</a:t>
            </a:r>
          </a:p>
        </p:txBody>
      </p:sp>
    </p:spTree>
    <p:extLst>
      <p:ext uri="{BB962C8B-B14F-4D97-AF65-F5344CB8AC3E}">
        <p14:creationId xmlns:p14="http://schemas.microsoft.com/office/powerpoint/2010/main" val="823632698"/>
      </p:ext>
    </p:extLst>
  </p:cSld>
</p:sld>
</file>

<file path=ppt/slides/slide4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독립 조사와 결과 통합">
            <a:extLst xmlns:a="http://schemas.openxmlformats.org/drawingml/2006/main">
              <a:ext uri="{FF2B5EF4-FFF2-40B4-BE49-F238E27FC236}">
                <a16:creationId xmlns:a16="http://schemas.microsoft.com/office/drawing/2014/main" id="{72397C4E-BF08-4C94-AC72-1B28AB6F6E7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독립 조사와 결과 통합</a:t>
            </a:r>
          </a:p>
        </p:txBody>
      </p:sp>
      <p:sp>
        <p:nvSpPr>
          <p:cNvPr id="2" name="S47">
            <a:extLst xmlns:a="http://schemas.openxmlformats.org/drawingml/2006/main">
              <a:ext uri="{FF2B5EF4-FFF2-40B4-BE49-F238E27FC236}">
                <a16:creationId xmlns:a16="http://schemas.microsoft.com/office/drawing/2014/main" id="{1B5D773D-F0F2-4C09-85E8-DDD57879873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Subagent를 고려할 조건">
            <a:extLst xmlns:a="http://schemas.openxmlformats.org/drawingml/2006/main">
              <a:ext uri="{FF2B5EF4-FFF2-40B4-BE49-F238E27FC236}">
                <a16:creationId xmlns:a16="http://schemas.microsoft.com/office/drawing/2014/main" id="{17384826-1558-4B99-8ACC-12A448DE852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Subagent를 고려할 조건</a:t>
            </a:r>
          </a:p>
        </p:txBody>
      </p:sp>
      <p:sp>
        <p:nvSpPr>
          <p:cNvPr id="4" name="">
            <a:extLst xmlns:a="http://schemas.openxmlformats.org/drawingml/2006/main">
              <a:ext uri="{FF2B5EF4-FFF2-40B4-BE49-F238E27FC236}">
                <a16:creationId xmlns:a16="http://schemas.microsoft.com/office/drawing/2014/main" id="{49A6627E-D8B3-44DC-A50F-BDA80F7DE380}"/>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가정 · C++ Repository의 조사들이 실제로 독립적일 때">
            <a:extLst xmlns:a="http://schemas.openxmlformats.org/drawingml/2006/main">
              <a:ext uri="{FF2B5EF4-FFF2-40B4-BE49-F238E27FC236}">
                <a16:creationId xmlns:a16="http://schemas.microsoft.com/office/drawing/2014/main" id="{A32937F2-0073-4D20-BA4A-821B14F7BF4A}"/>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가정 · C++ Repository의 조사들이 실제로 독립적일 때</a:t>
            </a:r>
          </a:p>
        </p:txBody>
      </p:sp>
      <p:sp>
        <p:nvSpPr>
          <p:cNvPr id="6" name="제품 실행 사례가 아님 · 작고 연결된 작업·Context 반복·큰 조정 비용이면 보류">
            <a:extLst xmlns:a="http://schemas.openxmlformats.org/drawingml/2006/main">
              <a:ext uri="{FF2B5EF4-FFF2-40B4-BE49-F238E27FC236}">
                <a16:creationId xmlns:a16="http://schemas.microsoft.com/office/drawing/2014/main" id="{F812B87D-F14D-46D5-B171-784BF9F776DA}"/>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실행 사례가 아님 · 작고 연결된 작업·Context 반복·큰 조정 비용이면 보류</a:t>
            </a:r>
          </a:p>
        </p:txBody>
      </p:sp>
      <p:sp>
        <p:nvSpPr>
          <p:cNvPr id="7" name="독립적으로 조사할 수 있는가?">
            <a:extLst xmlns:a="http://schemas.openxmlformats.org/drawingml/2006/main">
              <a:ext uri="{FF2B5EF4-FFF2-40B4-BE49-F238E27FC236}">
                <a16:creationId xmlns:a16="http://schemas.microsoft.com/office/drawing/2014/main" id="{581782D6-5E55-4660-BA1D-67B7F9B2F422}"/>
              </a:ext>
            </a:extLst>
          </p:cNvPr>
          <p:cNvSpPr>
            <a:spLocks xmlns:a="http://schemas.openxmlformats.org/drawingml/2006/main" noGrp="1"/>
          </p:cNvSpPr>
          <p:nvPr/>
        </p:nvSpPr>
        <p:spPr>
          <a:xfrm xmlns:a="http://schemas.openxmlformats.org/drawingml/2006/main">
            <a:off x="609600" y="21812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독립적으로 조사할 수 있는가?</a:t>
            </a:r>
          </a:p>
        </p:txBody>
      </p:sp>
      <p:sp>
        <p:nvSpPr>
          <p:cNvPr id="8" name="">
            <a:extLst xmlns:a="http://schemas.openxmlformats.org/drawingml/2006/main">
              <a:ext uri="{FF2B5EF4-FFF2-40B4-BE49-F238E27FC236}">
                <a16:creationId xmlns:a16="http://schemas.microsoft.com/office/drawing/2014/main" id="{3995293A-BA69-4DC9-AE02-E2F552B45016}"/>
              </a:ext>
            </a:extLst>
          </p:cNvPr>
          <p:cNvSpPr>
            <a:spLocks xmlns:a="http://schemas.openxmlformats.org/drawingml/2006/main" noGrp="1"/>
          </p:cNvSpPr>
          <p:nvPr/>
        </p:nvSpPr>
        <p:spPr>
          <a:xfrm xmlns:a="http://schemas.openxmlformats.org/drawingml/2006/main">
            <a:off x="6096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성능 경로 조사">
            <a:extLst xmlns:a="http://schemas.openxmlformats.org/drawingml/2006/main">
              <a:ext uri="{FF2B5EF4-FFF2-40B4-BE49-F238E27FC236}">
                <a16:creationId xmlns:a16="http://schemas.microsoft.com/office/drawing/2014/main" id="{FE341938-173B-40A1-86FB-B7EE697EBF68}"/>
              </a:ext>
            </a:extLst>
          </p:cNvPr>
          <p:cNvSpPr>
            <a:spLocks xmlns:a="http://schemas.openxmlformats.org/drawingml/2006/main" noGrp="1"/>
          </p:cNvSpPr>
          <p:nvPr/>
        </p:nvSpPr>
        <p:spPr>
          <a:xfrm xmlns:a="http://schemas.openxmlformats.org/drawingml/2006/main">
            <a:off x="6096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성능 경로 조사</a:t>
            </a:r>
          </a:p>
        </p:txBody>
      </p:sp>
      <p:sp>
        <p:nvSpPr>
          <p:cNvPr id="10" name="가정: 다른 조사 결과를&#10;기다리지 않고 진행 가능">
            <a:extLst xmlns:a="http://schemas.openxmlformats.org/drawingml/2006/main">
              <a:ext uri="{FF2B5EF4-FFF2-40B4-BE49-F238E27FC236}">
                <a16:creationId xmlns:a16="http://schemas.microsoft.com/office/drawing/2014/main" id="{20D8AD57-3371-4B98-9420-6FFEC14990F4}"/>
              </a:ext>
            </a:extLst>
          </p:cNvPr>
          <p:cNvSpPr>
            <a:spLocks xmlns:a="http://schemas.openxmlformats.org/drawingml/2006/main" noGrp="1"/>
          </p:cNvSpPr>
          <p:nvPr/>
        </p:nvSpPr>
        <p:spPr>
          <a:xfrm xmlns:a="http://schemas.openxmlformats.org/drawingml/2006/main">
            <a:off x="6096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1" name="">
            <a:extLst xmlns:a="http://schemas.openxmlformats.org/drawingml/2006/main">
              <a:ext uri="{FF2B5EF4-FFF2-40B4-BE49-F238E27FC236}">
                <a16:creationId xmlns:a16="http://schemas.microsoft.com/office/drawing/2014/main" id="{F466276A-A502-45BF-B4D8-6076C872B40C}"/>
              </a:ext>
            </a:extLst>
          </p:cNvPr>
          <p:cNvSpPr>
            <a:spLocks xmlns:a="http://schemas.openxmlformats.org/drawingml/2006/main" noGrp="1"/>
          </p:cNvSpPr>
          <p:nvPr/>
        </p:nvSpPr>
        <p:spPr>
          <a:xfrm xmlns:a="http://schemas.openxmlformats.org/drawingml/2006/main">
            <a:off x="43434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빌드 환경 조사">
            <a:extLst xmlns:a="http://schemas.openxmlformats.org/drawingml/2006/main">
              <a:ext uri="{FF2B5EF4-FFF2-40B4-BE49-F238E27FC236}">
                <a16:creationId xmlns:a16="http://schemas.microsoft.com/office/drawing/2014/main" id="{1530AFBE-0D40-49F4-B3C9-A0AE5B92B52E}"/>
              </a:ext>
            </a:extLst>
          </p:cNvPr>
          <p:cNvSpPr>
            <a:spLocks xmlns:a="http://schemas.openxmlformats.org/drawingml/2006/main" noGrp="1"/>
          </p:cNvSpPr>
          <p:nvPr/>
        </p:nvSpPr>
        <p:spPr>
          <a:xfrm xmlns:a="http://schemas.openxmlformats.org/drawingml/2006/main">
            <a:off x="43434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빌드 환경 조사</a:t>
            </a:r>
          </a:p>
        </p:txBody>
      </p:sp>
      <p:sp>
        <p:nvSpPr>
          <p:cNvPr id="13" name="가정: 다른 조사 결과를&#10;기다리지 않고 진행 가능">
            <a:extLst xmlns:a="http://schemas.openxmlformats.org/drawingml/2006/main">
              <a:ext uri="{FF2B5EF4-FFF2-40B4-BE49-F238E27FC236}">
                <a16:creationId xmlns:a16="http://schemas.microsoft.com/office/drawing/2014/main" id="{A72AD1BF-019F-45E1-BBC4-32A5DEE34BFA}"/>
              </a:ext>
            </a:extLst>
          </p:cNvPr>
          <p:cNvSpPr>
            <a:spLocks xmlns:a="http://schemas.openxmlformats.org/drawingml/2006/main" noGrp="1"/>
          </p:cNvSpPr>
          <p:nvPr/>
        </p:nvSpPr>
        <p:spPr>
          <a:xfrm xmlns:a="http://schemas.openxmlformats.org/drawingml/2006/main">
            <a:off x="43434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4" name="">
            <a:extLst xmlns:a="http://schemas.openxmlformats.org/drawingml/2006/main">
              <a:ext uri="{FF2B5EF4-FFF2-40B4-BE49-F238E27FC236}">
                <a16:creationId xmlns:a16="http://schemas.microsoft.com/office/drawing/2014/main" id="{8C1A3F7C-B5E4-4659-BAC5-8406FA427C3C}"/>
              </a:ext>
            </a:extLst>
          </p:cNvPr>
          <p:cNvSpPr>
            <a:spLocks xmlns:a="http://schemas.openxmlformats.org/drawingml/2006/main" noGrp="1"/>
          </p:cNvSpPr>
          <p:nvPr/>
        </p:nvSpPr>
        <p:spPr>
          <a:xfrm xmlns:a="http://schemas.openxmlformats.org/drawingml/2006/main">
            <a:off x="80772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테스트 구조 조사">
            <a:extLst xmlns:a="http://schemas.openxmlformats.org/drawingml/2006/main">
              <a:ext uri="{FF2B5EF4-FFF2-40B4-BE49-F238E27FC236}">
                <a16:creationId xmlns:a16="http://schemas.microsoft.com/office/drawing/2014/main" id="{7C8E89A8-2626-4D67-B626-32C1657DF900}"/>
              </a:ext>
            </a:extLst>
          </p:cNvPr>
          <p:cNvSpPr>
            <a:spLocks xmlns:a="http://schemas.openxmlformats.org/drawingml/2006/main" noGrp="1"/>
          </p:cNvSpPr>
          <p:nvPr/>
        </p:nvSpPr>
        <p:spPr>
          <a:xfrm xmlns:a="http://schemas.openxmlformats.org/drawingml/2006/main">
            <a:off x="80772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구조 조사</a:t>
            </a:r>
          </a:p>
        </p:txBody>
      </p:sp>
      <p:sp>
        <p:nvSpPr>
          <p:cNvPr id="16" name="가정: 다른 조사 결과를&#10;기다리지 않고 진행 가능">
            <a:extLst xmlns:a="http://schemas.openxmlformats.org/drawingml/2006/main">
              <a:ext uri="{FF2B5EF4-FFF2-40B4-BE49-F238E27FC236}">
                <a16:creationId xmlns:a16="http://schemas.microsoft.com/office/drawing/2014/main" id="{31967B6A-7EC1-4F35-A830-1559E6924D15}"/>
              </a:ext>
            </a:extLst>
          </p:cNvPr>
          <p:cNvSpPr>
            <a:spLocks xmlns:a="http://schemas.openxmlformats.org/drawingml/2006/main" noGrp="1"/>
          </p:cNvSpPr>
          <p:nvPr/>
        </p:nvSpPr>
        <p:spPr>
          <a:xfrm xmlns:a="http://schemas.openxmlformats.org/drawingml/2006/main">
            <a:off x="80772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7" name="↓">
            <a:extLst xmlns:a="http://schemas.openxmlformats.org/drawingml/2006/main">
              <a:ext uri="{FF2B5EF4-FFF2-40B4-BE49-F238E27FC236}">
                <a16:creationId xmlns:a16="http://schemas.microsoft.com/office/drawing/2014/main" id="{5D692C22-F062-4341-ADB6-438F3BB7324B}"/>
              </a:ext>
            </a:extLst>
          </p:cNvPr>
          <p:cNvSpPr>
            <a:spLocks xmlns:a="http://schemas.openxmlformats.org/drawingml/2006/main" noGrp="1"/>
          </p:cNvSpPr>
          <p:nvPr/>
        </p:nvSpPr>
        <p:spPr>
          <a:xfrm xmlns:a="http://schemas.openxmlformats.org/drawingml/2006/main">
            <a:off x="20193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18" name="↓">
            <a:extLst xmlns:a="http://schemas.openxmlformats.org/drawingml/2006/main">
              <a:ext uri="{FF2B5EF4-FFF2-40B4-BE49-F238E27FC236}">
                <a16:creationId xmlns:a16="http://schemas.microsoft.com/office/drawing/2014/main" id="{19E94BD6-1FB8-44F5-B10D-85D79E74A259}"/>
              </a:ext>
            </a:extLst>
          </p:cNvPr>
          <p:cNvSpPr>
            <a:spLocks xmlns:a="http://schemas.openxmlformats.org/drawingml/2006/main" noGrp="1"/>
          </p:cNvSpPr>
          <p:nvPr/>
        </p:nvSpPr>
        <p:spPr>
          <a:xfrm xmlns:a="http://schemas.openxmlformats.org/drawingml/2006/main">
            <a:off x="57531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19" name="↓">
            <a:extLst xmlns:a="http://schemas.openxmlformats.org/drawingml/2006/main">
              <a:ext uri="{FF2B5EF4-FFF2-40B4-BE49-F238E27FC236}">
                <a16:creationId xmlns:a16="http://schemas.microsoft.com/office/drawing/2014/main" id="{BECCBB73-844F-4D5C-BE0D-69470B1B35B0}"/>
              </a:ext>
            </a:extLst>
          </p:cNvPr>
          <p:cNvSpPr>
            <a:spLocks xmlns:a="http://schemas.openxmlformats.org/drawingml/2006/main" noGrp="1"/>
          </p:cNvSpPr>
          <p:nvPr/>
        </p:nvSpPr>
        <p:spPr>
          <a:xfrm xmlns:a="http://schemas.openxmlformats.org/drawingml/2006/main">
            <a:off x="94869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FFAEEB33-5336-4F49-81EE-9047D10C6B2A}"/>
              </a:ext>
            </a:extLst>
          </p:cNvPr>
          <p:cNvSpPr>
            <a:spLocks xmlns:a="http://schemas.openxmlformats.org/drawingml/2006/main" noGrp="1"/>
          </p:cNvSpPr>
          <p:nvPr/>
        </p:nvSpPr>
        <p:spPr>
          <a:xfrm xmlns:a="http://schemas.openxmlformats.org/drawingml/2006/main">
            <a:off x="609600" y="5133975"/>
            <a:ext cx="10972800" cy="4857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시작 전에 정할 것: 결과 형식 · 전달 지점 · 합칠 책임">
            <a:extLst xmlns:a="http://schemas.openxmlformats.org/drawingml/2006/main">
              <a:ext uri="{FF2B5EF4-FFF2-40B4-BE49-F238E27FC236}">
                <a16:creationId xmlns:a16="http://schemas.microsoft.com/office/drawing/2014/main" id="{3FEB2591-4FCC-4BBF-8414-1AA3D9B4F8CE}"/>
              </a:ext>
            </a:extLst>
          </p:cNvPr>
          <p:cNvSpPr>
            <a:spLocks xmlns:a="http://schemas.openxmlformats.org/drawingml/2006/main" noGrp="1"/>
          </p:cNvSpPr>
          <p:nvPr/>
        </p:nvSpPr>
        <p:spPr>
          <a:xfrm xmlns:a="http://schemas.openxmlformats.org/drawingml/2006/main">
            <a:off x="819150" y="5200650"/>
            <a:ext cx="10553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시작 전에 정할 것: 결과 형식 · 전달 지점 · 합칠 책임</a:t>
            </a:r>
          </a:p>
        </p:txBody>
      </p:sp>
    </p:spTree>
    <p:extLst>
      <p:ext uri="{BB962C8B-B14F-4D97-AF65-F5344CB8AC3E}">
        <p14:creationId xmlns:p14="http://schemas.microsoft.com/office/powerpoint/2010/main" val="1628342359"/>
      </p:ext>
    </p:extLst>
  </p:cSld>
</p:sld>
</file>

<file path=ppt/slides/slide4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미 있는 기록부터 확인하기">
            <a:extLst xmlns:a="http://schemas.openxmlformats.org/drawingml/2006/main">
              <a:ext uri="{FF2B5EF4-FFF2-40B4-BE49-F238E27FC236}">
                <a16:creationId xmlns:a16="http://schemas.microsoft.com/office/drawing/2014/main" id="{FDF68E2D-0504-42A5-9B64-DBCF02FEC21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이미 있는 기록부터 확인하기</a:t>
            </a:r>
          </a:p>
        </p:txBody>
      </p:sp>
      <p:sp>
        <p:nvSpPr>
          <p:cNvPr id="2" name="S48">
            <a:extLst xmlns:a="http://schemas.openxmlformats.org/drawingml/2006/main">
              <a:ext uri="{FF2B5EF4-FFF2-40B4-BE49-F238E27FC236}">
                <a16:creationId xmlns:a16="http://schemas.microsoft.com/office/drawing/2014/main" id="{5E5A843E-8612-44C7-854F-A5264F3003D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무엇이 다시 찾기 어려운 지식인가?">
            <a:extLst xmlns:a="http://schemas.openxmlformats.org/drawingml/2006/main">
              <a:ext uri="{FF2B5EF4-FFF2-40B4-BE49-F238E27FC236}">
                <a16:creationId xmlns:a16="http://schemas.microsoft.com/office/drawing/2014/main" id="{276A211A-03D6-411E-9552-B1C4B4B22FA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무엇이 다시 찾기 어려운 지식인가?</a:t>
            </a:r>
          </a:p>
        </p:txBody>
      </p:sp>
      <p:sp>
        <p:nvSpPr>
          <p:cNvPr id="4" name="">
            <a:extLst xmlns:a="http://schemas.openxmlformats.org/drawingml/2006/main">
              <a:ext uri="{FF2B5EF4-FFF2-40B4-BE49-F238E27FC236}">
                <a16:creationId xmlns:a16="http://schemas.microsoft.com/office/drawing/2014/main" id="{F66F138B-4B61-4E0C-AA87-409FCE4E6522}"/>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현재 Demo Repository의 지식 분류와 Memory 후보 점검">
            <a:extLst xmlns:a="http://schemas.openxmlformats.org/drawingml/2006/main">
              <a:ext uri="{FF2B5EF4-FFF2-40B4-BE49-F238E27FC236}">
                <a16:creationId xmlns:a16="http://schemas.microsoft.com/office/drawing/2014/main" id="{E650CA13-5007-49DF-AC8C-E9B286F1BDBF}"/>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현재 Demo Repository의 지식 분류와 Memory 후보 점검</a:t>
            </a:r>
          </a:p>
        </p:txBody>
      </p:sp>
      <p:sp>
        <p:nvSpPr>
          <p:cNvPr id="6" name="별도 Memory로 남길 지속적 지식 후보는 찾지 못함 · 제품 Memory 동작 주장은 아님">
            <a:extLst xmlns:a="http://schemas.openxmlformats.org/drawingml/2006/main">
              <a:ext uri="{FF2B5EF4-FFF2-40B4-BE49-F238E27FC236}">
                <a16:creationId xmlns:a16="http://schemas.microsoft.com/office/drawing/2014/main" id="{52D3128F-4A96-4E27-BD53-50A4A9779B0C}"/>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Memory로 남길 지속적 지식 후보는 찾지 못함 · 제품 Memory 동작 주장은 아님</a:t>
            </a:r>
          </a:p>
        </p:txBody>
      </p:sp>
      <p:sp>
        <p:nvSpPr>
          <p:cNvPr id="7" name="">
            <a:extLst xmlns:a="http://schemas.openxmlformats.org/drawingml/2006/main">
              <a:ext uri="{FF2B5EF4-FFF2-40B4-BE49-F238E27FC236}">
                <a16:creationId xmlns:a16="http://schemas.microsoft.com/office/drawing/2014/main" id="{7DC7DB1D-B5EB-4A06-8EAC-BF0E566E7B10}"/>
              </a:ext>
            </a:extLst>
          </p:cNvPr>
          <p:cNvSpPr>
            <a:spLocks xmlns:a="http://schemas.openxmlformats.org/drawingml/2006/main" noGrp="1"/>
          </p:cNvSpPr>
          <p:nvPr/>
        </p:nvSpPr>
        <p:spPr>
          <a:xfrm xmlns:a="http://schemas.openxmlformats.org/drawingml/2006/main">
            <a:off x="609600" y="2200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crop은 끝 열을 제외한다">
            <a:extLst xmlns:a="http://schemas.openxmlformats.org/drawingml/2006/main">
              <a:ext uri="{FF2B5EF4-FFF2-40B4-BE49-F238E27FC236}">
                <a16:creationId xmlns:a16="http://schemas.microsoft.com/office/drawing/2014/main" id="{3C4DEABE-BD78-4407-82FA-CD4511B69319}"/>
              </a:ext>
            </a:extLst>
          </p:cNvPr>
          <p:cNvSpPr>
            <a:spLocks xmlns:a="http://schemas.openxmlformats.org/drawingml/2006/main" noGrp="1"/>
          </p:cNvSpPr>
          <p:nvPr/>
        </p:nvSpPr>
        <p:spPr>
          <a:xfrm xmlns:a="http://schemas.openxmlformats.org/drawingml/2006/main">
            <a:off x="609600" y="2362200"/>
            <a:ext cx="5048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crop은 끝 열을 제외한다</a:t>
            </a:r>
          </a:p>
        </p:txBody>
      </p:sp>
      <p:sp>
        <p:nvSpPr>
          <p:cNvPr id="9" name="">
            <a:extLst xmlns:a="http://schemas.openxmlformats.org/drawingml/2006/main">
              <a:ext uri="{FF2B5EF4-FFF2-40B4-BE49-F238E27FC236}">
                <a16:creationId xmlns:a16="http://schemas.microsoft.com/office/drawing/2014/main" id="{F5165A06-7F5D-4070-83EC-DD3EC68CF852}"/>
              </a:ext>
            </a:extLst>
          </p:cNvPr>
          <p:cNvSpPr>
            <a:spLocks xmlns:a="http://schemas.openxmlformats.org/drawingml/2006/main" noGrp="1"/>
          </p:cNvSpPr>
          <p:nvPr/>
        </p:nvSpPr>
        <p:spPr>
          <a:xfrm xmlns:a="http://schemas.openxmlformats.org/drawingml/2006/main">
            <a:off x="5895975" y="2486025"/>
            <a:ext cx="3333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코드 · image-contracts.md">
            <a:extLst xmlns:a="http://schemas.openxmlformats.org/drawingml/2006/main">
              <a:ext uri="{FF2B5EF4-FFF2-40B4-BE49-F238E27FC236}">
                <a16:creationId xmlns:a16="http://schemas.microsoft.com/office/drawing/2014/main" id="{A64DF732-C4AA-4098-98D0-9925319689F8}"/>
              </a:ext>
            </a:extLst>
          </p:cNvPr>
          <p:cNvSpPr>
            <a:spLocks xmlns:a="http://schemas.openxmlformats.org/drawingml/2006/main" noGrp="1"/>
          </p:cNvSpPr>
          <p:nvPr/>
        </p:nvSpPr>
        <p:spPr>
          <a:xfrm xmlns:a="http://schemas.openxmlformats.org/drawingml/2006/main">
            <a:off x="6705600" y="2362200"/>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코드 · image-contracts.md</a:t>
            </a:r>
          </a:p>
        </p:txBody>
      </p:sp>
      <p:sp>
        <p:nvSpPr>
          <p:cNvPr id="11" name="">
            <a:extLst xmlns:a="http://schemas.openxmlformats.org/drawingml/2006/main">
              <a:ext uri="{FF2B5EF4-FFF2-40B4-BE49-F238E27FC236}">
                <a16:creationId xmlns:a16="http://schemas.microsoft.com/office/drawing/2014/main" id="{53A758A1-29C6-44B8-959C-E7EC66C17AEA}"/>
              </a:ext>
            </a:extLst>
          </p:cNvPr>
          <p:cNvSpPr>
            <a:spLocks xmlns:a="http://schemas.openxmlformats.org/drawingml/2006/main" noGrp="1"/>
          </p:cNvSpPr>
          <p:nvPr/>
        </p:nvSpPr>
        <p:spPr>
          <a:xfrm xmlns:a="http://schemas.openxmlformats.org/drawingml/2006/main">
            <a:off x="609600" y="2990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모듈은 어떤 순서로 이어지나">
            <a:extLst xmlns:a="http://schemas.openxmlformats.org/drawingml/2006/main">
              <a:ext uri="{FF2B5EF4-FFF2-40B4-BE49-F238E27FC236}">
                <a16:creationId xmlns:a16="http://schemas.microsoft.com/office/drawing/2014/main" id="{CBEAA57F-0EE3-4FC4-AB4E-85F8F5CE7DAF}"/>
              </a:ext>
            </a:extLst>
          </p:cNvPr>
          <p:cNvSpPr>
            <a:spLocks xmlns:a="http://schemas.openxmlformats.org/drawingml/2006/main" noGrp="1"/>
          </p:cNvSpPr>
          <p:nvPr/>
        </p:nvSpPr>
        <p:spPr>
          <a:xfrm xmlns:a="http://schemas.openxmlformats.org/drawingml/2006/main">
            <a:off x="609600" y="3152775"/>
            <a:ext cx="5048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모듈은 어떤 순서로 이어지나</a:t>
            </a:r>
          </a:p>
        </p:txBody>
      </p:sp>
      <p:sp>
        <p:nvSpPr>
          <p:cNvPr id="13" name="">
            <a:extLst xmlns:a="http://schemas.openxmlformats.org/drawingml/2006/main">
              <a:ext uri="{FF2B5EF4-FFF2-40B4-BE49-F238E27FC236}">
                <a16:creationId xmlns:a16="http://schemas.microsoft.com/office/drawing/2014/main" id="{7A902B22-1B39-4CA2-8AEE-1DA21CD10682}"/>
              </a:ext>
            </a:extLst>
          </p:cNvPr>
          <p:cNvSpPr>
            <a:spLocks xmlns:a="http://schemas.openxmlformats.org/drawingml/2006/main" noGrp="1"/>
          </p:cNvSpPr>
          <p:nvPr/>
        </p:nvSpPr>
        <p:spPr>
          <a:xfrm xmlns:a="http://schemas.openxmlformats.org/drawingml/2006/main">
            <a:off x="5895975" y="3276600"/>
            <a:ext cx="3333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architecture.md">
            <a:extLst xmlns:a="http://schemas.openxmlformats.org/drawingml/2006/main">
              <a:ext uri="{FF2B5EF4-FFF2-40B4-BE49-F238E27FC236}">
                <a16:creationId xmlns:a16="http://schemas.microsoft.com/office/drawing/2014/main" id="{EE51E7FD-8D97-498B-8137-15F1ABFCC221}"/>
              </a:ext>
            </a:extLst>
          </p:cNvPr>
          <p:cNvSpPr>
            <a:spLocks xmlns:a="http://schemas.openxmlformats.org/drawingml/2006/main" noGrp="1"/>
          </p:cNvSpPr>
          <p:nvPr/>
        </p:nvSpPr>
        <p:spPr>
          <a:xfrm xmlns:a="http://schemas.openxmlformats.org/drawingml/2006/main">
            <a:off x="6705600" y="31527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architecture.md</a:t>
            </a:r>
          </a:p>
        </p:txBody>
      </p:sp>
      <p:sp>
        <p:nvSpPr>
          <p:cNvPr id="15" name="">
            <a:extLst xmlns:a="http://schemas.openxmlformats.org/drawingml/2006/main">
              <a:ext uri="{FF2B5EF4-FFF2-40B4-BE49-F238E27FC236}">
                <a16:creationId xmlns:a16="http://schemas.microsoft.com/office/drawing/2014/main" id="{489DDC83-C3D7-488C-99DF-66F39349418B}"/>
              </a:ext>
            </a:extLst>
          </p:cNvPr>
          <p:cNvSpPr>
            <a:spLocks xmlns:a="http://schemas.openxmlformats.org/drawingml/2006/main" noGrp="1"/>
          </p:cNvSpPr>
          <p:nvPr/>
        </p:nvSpPr>
        <p:spPr>
          <a:xfrm xmlns:a="http://schemas.openxmlformats.org/drawingml/2006/main">
            <a:off x="609600" y="37814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성능을 어떻게 조사하고 확인하나">
            <a:extLst xmlns:a="http://schemas.openxmlformats.org/drawingml/2006/main">
              <a:ext uri="{FF2B5EF4-FFF2-40B4-BE49-F238E27FC236}">
                <a16:creationId xmlns:a16="http://schemas.microsoft.com/office/drawing/2014/main" id="{8F40609F-5850-4B09-B0E8-75AEDFDE39EA}"/>
              </a:ext>
            </a:extLst>
          </p:cNvPr>
          <p:cNvSpPr>
            <a:spLocks xmlns:a="http://schemas.openxmlformats.org/drawingml/2006/main" noGrp="1"/>
          </p:cNvSpPr>
          <p:nvPr/>
        </p:nvSpPr>
        <p:spPr>
          <a:xfrm xmlns:a="http://schemas.openxmlformats.org/drawingml/2006/main">
            <a:off x="609600" y="3943350"/>
            <a:ext cx="5048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성능을 어떻게 조사하고 확인하나</a:t>
            </a:r>
          </a:p>
        </p:txBody>
      </p:sp>
      <p:sp>
        <p:nvSpPr>
          <p:cNvPr id="17" name="">
            <a:extLst xmlns:a="http://schemas.openxmlformats.org/drawingml/2006/main">
              <a:ext uri="{FF2B5EF4-FFF2-40B4-BE49-F238E27FC236}">
                <a16:creationId xmlns:a16="http://schemas.microsoft.com/office/drawing/2014/main" id="{959D8A8C-8A61-4D9D-8493-D410161BF656}"/>
              </a:ext>
            </a:extLst>
          </p:cNvPr>
          <p:cNvSpPr>
            <a:spLocks xmlns:a="http://schemas.openxmlformats.org/drawingml/2006/main" noGrp="1"/>
          </p:cNvSpPr>
          <p:nvPr/>
        </p:nvSpPr>
        <p:spPr>
          <a:xfrm xmlns:a="http://schemas.openxmlformats.org/drawingml/2006/main">
            <a:off x="5895975" y="4067175"/>
            <a:ext cx="3333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Repository Skill">
            <a:extLst xmlns:a="http://schemas.openxmlformats.org/drawingml/2006/main">
              <a:ext uri="{FF2B5EF4-FFF2-40B4-BE49-F238E27FC236}">
                <a16:creationId xmlns:a16="http://schemas.microsoft.com/office/drawing/2014/main" id="{F8DAAB2C-80E2-4EFF-A155-5C5CD77A1D21}"/>
              </a:ext>
            </a:extLst>
          </p:cNvPr>
          <p:cNvSpPr>
            <a:spLocks xmlns:a="http://schemas.openxmlformats.org/drawingml/2006/main" noGrp="1"/>
          </p:cNvSpPr>
          <p:nvPr/>
        </p:nvSpPr>
        <p:spPr>
          <a:xfrm xmlns:a="http://schemas.openxmlformats.org/drawingml/2006/main">
            <a:off x="6705600" y="3943350"/>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Repository Skill</a:t>
            </a:r>
          </a:p>
        </p:txBody>
      </p:sp>
      <p:sp>
        <p:nvSpPr>
          <p:cNvPr id="19" name="">
            <a:extLst xmlns:a="http://schemas.openxmlformats.org/drawingml/2006/main">
              <a:ext uri="{FF2B5EF4-FFF2-40B4-BE49-F238E27FC236}">
                <a16:creationId xmlns:a16="http://schemas.microsoft.com/office/drawing/2014/main" id="{C3344E31-7804-4C09-A22B-8DA158E06716}"/>
              </a:ext>
            </a:extLst>
          </p:cNvPr>
          <p:cNvSpPr>
            <a:spLocks xmlns:a="http://schemas.openxmlformats.org/drawingml/2006/main" noGrp="1"/>
          </p:cNvSpPr>
          <p:nvPr/>
        </p:nvSpPr>
        <p:spPr>
          <a:xfrm xmlns:a="http://schemas.openxmlformats.org/drawingml/2006/main">
            <a:off x="609600" y="45720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번 실행에서 무엇을 측정했나">
            <a:extLst xmlns:a="http://schemas.openxmlformats.org/drawingml/2006/main">
              <a:ext uri="{FF2B5EF4-FFF2-40B4-BE49-F238E27FC236}">
                <a16:creationId xmlns:a16="http://schemas.microsoft.com/office/drawing/2014/main" id="{D1A623A7-437B-4DF9-9E15-6B3ECBB67F1A}"/>
              </a:ext>
            </a:extLst>
          </p:cNvPr>
          <p:cNvSpPr>
            <a:spLocks xmlns:a="http://schemas.openxmlformats.org/drawingml/2006/main" noGrp="1"/>
          </p:cNvSpPr>
          <p:nvPr/>
        </p:nvSpPr>
        <p:spPr>
          <a:xfrm xmlns:a="http://schemas.openxmlformats.org/drawingml/2006/main">
            <a:off x="609600" y="4733925"/>
            <a:ext cx="5048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이번 실행에서 무엇을 측정했나</a:t>
            </a:r>
          </a:p>
        </p:txBody>
      </p:sp>
      <p:sp>
        <p:nvSpPr>
          <p:cNvPr id="21" name="">
            <a:extLst xmlns:a="http://schemas.openxmlformats.org/drawingml/2006/main">
              <a:ext uri="{FF2B5EF4-FFF2-40B4-BE49-F238E27FC236}">
                <a16:creationId xmlns:a16="http://schemas.microsoft.com/office/drawing/2014/main" id="{F454D9ED-75E5-43AA-96BE-635FF05CFCEE}"/>
              </a:ext>
            </a:extLst>
          </p:cNvPr>
          <p:cNvSpPr>
            <a:spLocks xmlns:a="http://schemas.openxmlformats.org/drawingml/2006/main" noGrp="1"/>
          </p:cNvSpPr>
          <p:nvPr/>
        </p:nvSpPr>
        <p:spPr>
          <a:xfrm xmlns:a="http://schemas.openxmlformats.org/drawingml/2006/main">
            <a:off x="5895975" y="4857750"/>
            <a:ext cx="3333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날짜가 있는 Trial 기록 · Git 이력">
            <a:extLst xmlns:a="http://schemas.openxmlformats.org/drawingml/2006/main">
              <a:ext uri="{FF2B5EF4-FFF2-40B4-BE49-F238E27FC236}">
                <a16:creationId xmlns:a16="http://schemas.microsoft.com/office/drawing/2014/main" id="{90158E76-0EAE-4A23-B715-EA4D845D5622}"/>
              </a:ext>
            </a:extLst>
          </p:cNvPr>
          <p:cNvSpPr>
            <a:spLocks xmlns:a="http://schemas.openxmlformats.org/drawingml/2006/main" noGrp="1"/>
          </p:cNvSpPr>
          <p:nvPr/>
        </p:nvSpPr>
        <p:spPr>
          <a:xfrm xmlns:a="http://schemas.openxmlformats.org/drawingml/2006/main">
            <a:off x="6705600" y="47339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날짜가 있는 Trial 기록 · Git 이력</a:t>
            </a:r>
          </a:p>
        </p:txBody>
      </p:sp>
      <p:sp>
        <p:nvSpPr>
          <p:cNvPr id="23" name="새 기록을 만들기 전에, 원래 출처를 먼저 찾는다">
            <a:extLst xmlns:a="http://schemas.openxmlformats.org/drawingml/2006/main">
              <a:ext uri="{FF2B5EF4-FFF2-40B4-BE49-F238E27FC236}">
                <a16:creationId xmlns:a16="http://schemas.microsoft.com/office/drawing/2014/main" id="{6E44FF8B-D11D-4F41-B6A4-9284854FC8C4}"/>
              </a:ext>
            </a:extLst>
          </p:cNvPr>
          <p:cNvSpPr>
            <a:spLocks xmlns:a="http://schemas.openxmlformats.org/drawingml/2006/main" noGrp="1"/>
          </p:cNvSpPr>
          <p:nvPr/>
        </p:nvSpPr>
        <p:spPr>
          <a:xfrm xmlns:a="http://schemas.openxmlformats.org/drawingml/2006/main">
            <a:off x="609600" y="54102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새 기록을 만들기 전에, 원래 출처를 먼저 찾는다</a:t>
            </a:r>
          </a:p>
        </p:txBody>
      </p:sp>
    </p:spTree>
    <p:extLst>
      <p:ext uri="{BB962C8B-B14F-4D97-AF65-F5344CB8AC3E}">
        <p14:creationId xmlns:p14="http://schemas.microsoft.com/office/powerpoint/2010/main" val="820105921"/>
      </p:ext>
    </p:extLst>
  </p:cSld>
</p:sld>
</file>

<file path=ppt/slides/slide4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무엇을 남길 가치가 있는가">
            <a:extLst xmlns:a="http://schemas.openxmlformats.org/drawingml/2006/main">
              <a:ext uri="{FF2B5EF4-FFF2-40B4-BE49-F238E27FC236}">
                <a16:creationId xmlns:a16="http://schemas.microsoft.com/office/drawing/2014/main" id="{2A1A90E3-0ED2-47B2-A4D1-77BDB3949D4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무엇을 남길 가치가 있는가</a:t>
            </a:r>
          </a:p>
        </p:txBody>
      </p:sp>
      <p:sp>
        <p:nvSpPr>
          <p:cNvPr id="2" name="S49">
            <a:extLst xmlns:a="http://schemas.openxmlformats.org/drawingml/2006/main">
              <a:ext uri="{FF2B5EF4-FFF2-40B4-BE49-F238E27FC236}">
                <a16:creationId xmlns:a16="http://schemas.microsoft.com/office/drawing/2014/main" id="{E9B65A58-6AEA-496E-8C35-5C9C5262F89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Memory는 재발견 비용으로 판단">
            <a:extLst xmlns:a="http://schemas.openxmlformats.org/drawingml/2006/main">
              <a:ext uri="{FF2B5EF4-FFF2-40B4-BE49-F238E27FC236}">
                <a16:creationId xmlns:a16="http://schemas.microsoft.com/office/drawing/2014/main" id="{5FB7D9B5-2D8C-4A22-BBBA-5232C58CEDF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Memory는 재발견 비용으로 판단</a:t>
            </a:r>
          </a:p>
        </p:txBody>
      </p:sp>
      <p:sp>
        <p:nvSpPr>
          <p:cNvPr id="4" name="">
            <a:extLst xmlns:a="http://schemas.openxmlformats.org/drawingml/2006/main">
              <a:ext uri="{FF2B5EF4-FFF2-40B4-BE49-F238E27FC236}">
                <a16:creationId xmlns:a16="http://schemas.microsoft.com/office/drawing/2014/main" id="{9C200911-8FBF-47FF-9F81-7D4217245F7B}"/>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의사결정 기준 · 별도 Memory의 필요성을 검토하는 질문">
            <a:extLst xmlns:a="http://schemas.openxmlformats.org/drawingml/2006/main">
              <a:ext uri="{FF2B5EF4-FFF2-40B4-BE49-F238E27FC236}">
                <a16:creationId xmlns:a16="http://schemas.microsoft.com/office/drawing/2014/main" id="{EC32DC6A-3686-4F00-B895-CA9DE0FB8E25}"/>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의사결정 기준 · 별도 Memory의 필요성을 검토하는 질문</a:t>
            </a:r>
          </a:p>
        </p:txBody>
      </p:sp>
      <p:sp>
        <p:nvSpPr>
          <p:cNvPr id="6" name="현재 Demo에서는 조건에 맞는 후보 없음 · Memory 사용 여부는 성숙도 점수가 아님">
            <a:extLst xmlns:a="http://schemas.openxmlformats.org/drawingml/2006/main">
              <a:ext uri="{FF2B5EF4-FFF2-40B4-BE49-F238E27FC236}">
                <a16:creationId xmlns:a16="http://schemas.microsoft.com/office/drawing/2014/main" id="{AECDFE29-37CD-4C7C-AB6D-030183B7B34F}"/>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Demo에서는 조건에 맞는 후보 없음 · Memory 사용 여부는 성숙도 점수가 아님</a:t>
            </a:r>
          </a:p>
        </p:txBody>
      </p:sp>
      <p:sp>
        <p:nvSpPr>
          <p:cNvPr id="7" name="">
            <a:extLst xmlns:a="http://schemas.openxmlformats.org/drawingml/2006/main">
              <a:ext uri="{FF2B5EF4-FFF2-40B4-BE49-F238E27FC236}">
                <a16:creationId xmlns:a16="http://schemas.microsoft.com/office/drawing/2014/main" id="{79EDB173-D182-4FE7-9900-A7B45859D8B8}"/>
              </a:ext>
            </a:extLst>
          </p:cNvPr>
          <p:cNvSpPr>
            <a:spLocks xmlns:a="http://schemas.openxmlformats.org/drawingml/2006/main" noGrp="1"/>
          </p:cNvSpPr>
          <p:nvPr/>
        </p:nvSpPr>
        <p:spPr>
          <a:xfrm xmlns:a="http://schemas.openxmlformats.org/drawingml/2006/main">
            <a:off x="609600" y="2190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01">
            <a:extLst xmlns:a="http://schemas.openxmlformats.org/drawingml/2006/main">
              <a:ext uri="{FF2B5EF4-FFF2-40B4-BE49-F238E27FC236}">
                <a16:creationId xmlns:a16="http://schemas.microsoft.com/office/drawing/2014/main" id="{FBFF25BE-2991-43B0-ADA1-A95EFF164F73}"/>
              </a:ext>
            </a:extLst>
          </p:cNvPr>
          <p:cNvSpPr>
            <a:spLocks xmlns:a="http://schemas.openxmlformats.org/drawingml/2006/main" noGrp="1"/>
          </p:cNvSpPr>
          <p:nvPr/>
        </p:nvSpPr>
        <p:spPr>
          <a:xfrm xmlns:a="http://schemas.openxmlformats.org/drawingml/2006/main">
            <a:off x="609600" y="234315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a:t>
            </a:r>
          </a:p>
        </p:txBody>
      </p:sp>
      <p:sp>
        <p:nvSpPr>
          <p:cNvPr id="9" name="다시 찾는 비용이 큰가?">
            <a:extLst xmlns:a="http://schemas.openxmlformats.org/drawingml/2006/main">
              <a:ext uri="{FF2B5EF4-FFF2-40B4-BE49-F238E27FC236}">
                <a16:creationId xmlns:a16="http://schemas.microsoft.com/office/drawing/2014/main" id="{3723D8DC-C5EA-4B6C-9CE8-F3B2C5BD18E9}"/>
              </a:ext>
            </a:extLst>
          </p:cNvPr>
          <p:cNvSpPr>
            <a:spLocks xmlns:a="http://schemas.openxmlformats.org/drawingml/2006/main" noGrp="1"/>
          </p:cNvSpPr>
          <p:nvPr/>
        </p:nvSpPr>
        <p:spPr>
          <a:xfrm xmlns:a="http://schemas.openxmlformats.org/drawingml/2006/main">
            <a:off x="1466850" y="2276475"/>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다시 찾는 비용이 큰가?</a:t>
            </a:r>
          </a:p>
        </p:txBody>
      </p:sp>
      <p:sp>
        <p:nvSpPr>
          <p:cNvPr id="10" name="이미 잘 관리되는 출처가 있다면 그곳을 참고">
            <a:extLst xmlns:a="http://schemas.openxmlformats.org/drawingml/2006/main">
              <a:ext uri="{FF2B5EF4-FFF2-40B4-BE49-F238E27FC236}">
                <a16:creationId xmlns:a16="http://schemas.microsoft.com/office/drawing/2014/main" id="{A37F0A09-31F9-4580-944F-15B701216BBE}"/>
              </a:ext>
            </a:extLst>
          </p:cNvPr>
          <p:cNvSpPr>
            <a:spLocks xmlns:a="http://schemas.openxmlformats.org/drawingml/2006/main" noGrp="1"/>
          </p:cNvSpPr>
          <p:nvPr/>
        </p:nvSpPr>
        <p:spPr>
          <a:xfrm xmlns:a="http://schemas.openxmlformats.org/drawingml/2006/main">
            <a:off x="1466850" y="2657475"/>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이미 잘 관리되는 출처가 있다면 그곳을 참고</a:t>
            </a:r>
          </a:p>
        </p:txBody>
      </p:sp>
      <p:sp>
        <p:nvSpPr>
          <p:cNvPr id="11" name="">
            <a:extLst xmlns:a="http://schemas.openxmlformats.org/drawingml/2006/main">
              <a:ext uri="{FF2B5EF4-FFF2-40B4-BE49-F238E27FC236}">
                <a16:creationId xmlns:a16="http://schemas.microsoft.com/office/drawing/2014/main" id="{12AEAE59-347C-4F96-92A7-6069AA920EAF}"/>
              </a:ext>
            </a:extLst>
          </p:cNvPr>
          <p:cNvSpPr>
            <a:spLocks xmlns:a="http://schemas.openxmlformats.org/drawingml/2006/main" noGrp="1"/>
          </p:cNvSpPr>
          <p:nvPr/>
        </p:nvSpPr>
        <p:spPr>
          <a:xfrm xmlns:a="http://schemas.openxmlformats.org/drawingml/2006/main">
            <a:off x="609600" y="3038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B82619D1-08E5-4931-B9B6-D7E01D5957F6}"/>
              </a:ext>
            </a:extLst>
          </p:cNvPr>
          <p:cNvSpPr>
            <a:spLocks xmlns:a="http://schemas.openxmlformats.org/drawingml/2006/main" noGrp="1"/>
          </p:cNvSpPr>
          <p:nvPr/>
        </p:nvSpPr>
        <p:spPr>
          <a:xfrm xmlns:a="http://schemas.openxmlformats.org/drawingml/2006/main">
            <a:off x="609600" y="319087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a:t>
            </a:r>
          </a:p>
        </p:txBody>
      </p:sp>
      <p:sp>
        <p:nvSpPr>
          <p:cNvPr id="13" name="다음 작업에도 쓸 수 있는가?">
            <a:extLst xmlns:a="http://schemas.openxmlformats.org/drawingml/2006/main">
              <a:ext uri="{FF2B5EF4-FFF2-40B4-BE49-F238E27FC236}">
                <a16:creationId xmlns:a16="http://schemas.microsoft.com/office/drawing/2014/main" id="{3699AB63-D1FE-4710-93DA-39D0E8CD3666}"/>
              </a:ext>
            </a:extLst>
          </p:cNvPr>
          <p:cNvSpPr>
            <a:spLocks xmlns:a="http://schemas.openxmlformats.org/drawingml/2006/main" noGrp="1"/>
          </p:cNvSpPr>
          <p:nvPr/>
        </p:nvSpPr>
        <p:spPr>
          <a:xfrm xmlns:a="http://schemas.openxmlformats.org/drawingml/2006/main">
            <a:off x="1466850" y="3124200"/>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작업에도 쓸 수 있는가?</a:t>
            </a:r>
          </a:p>
        </p:txBody>
      </p:sp>
      <p:sp>
        <p:nvSpPr>
          <p:cNvPr id="14" name="일회성 실행 상태와 프로젝트 지식을 구별">
            <a:extLst xmlns:a="http://schemas.openxmlformats.org/drawingml/2006/main">
              <a:ext uri="{FF2B5EF4-FFF2-40B4-BE49-F238E27FC236}">
                <a16:creationId xmlns:a16="http://schemas.microsoft.com/office/drawing/2014/main" id="{C7AC8E2A-38ED-4A79-8A52-B264E521DF81}"/>
              </a:ext>
            </a:extLst>
          </p:cNvPr>
          <p:cNvSpPr>
            <a:spLocks xmlns:a="http://schemas.openxmlformats.org/drawingml/2006/main" noGrp="1"/>
          </p:cNvSpPr>
          <p:nvPr/>
        </p:nvSpPr>
        <p:spPr>
          <a:xfrm xmlns:a="http://schemas.openxmlformats.org/drawingml/2006/main">
            <a:off x="1466850" y="3505200"/>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일회성 실행 상태와 프로젝트 지식을 구별</a:t>
            </a:r>
          </a:p>
        </p:txBody>
      </p:sp>
      <p:sp>
        <p:nvSpPr>
          <p:cNvPr id="15" name="">
            <a:extLst xmlns:a="http://schemas.openxmlformats.org/drawingml/2006/main">
              <a:ext uri="{FF2B5EF4-FFF2-40B4-BE49-F238E27FC236}">
                <a16:creationId xmlns:a16="http://schemas.microsoft.com/office/drawing/2014/main" id="{8576A291-D654-4591-A00B-6872AC16321B}"/>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3">
            <a:extLst xmlns:a="http://schemas.openxmlformats.org/drawingml/2006/main">
              <a:ext uri="{FF2B5EF4-FFF2-40B4-BE49-F238E27FC236}">
                <a16:creationId xmlns:a16="http://schemas.microsoft.com/office/drawing/2014/main" id="{75405175-2422-445D-8B67-8044E836C279}"/>
              </a:ext>
            </a:extLst>
          </p:cNvPr>
          <p:cNvSpPr>
            <a:spLocks xmlns:a="http://schemas.openxmlformats.org/drawingml/2006/main" noGrp="1"/>
          </p:cNvSpPr>
          <p:nvPr/>
        </p:nvSpPr>
        <p:spPr>
          <a:xfrm xmlns:a="http://schemas.openxmlformats.org/drawingml/2006/main">
            <a:off x="609600" y="403860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03</a:t>
            </a:r>
          </a:p>
        </p:txBody>
      </p:sp>
      <p:sp>
        <p:nvSpPr>
          <p:cNvPr id="17" name="출처와 적용 범위를 아는가?">
            <a:extLst xmlns:a="http://schemas.openxmlformats.org/drawingml/2006/main">
              <a:ext uri="{FF2B5EF4-FFF2-40B4-BE49-F238E27FC236}">
                <a16:creationId xmlns:a16="http://schemas.microsoft.com/office/drawing/2014/main" id="{53273EF0-FA6C-4BAD-AD8F-7946D8ED83EA}"/>
              </a:ext>
            </a:extLst>
          </p:cNvPr>
          <p:cNvSpPr>
            <a:spLocks xmlns:a="http://schemas.openxmlformats.org/drawingml/2006/main" noGrp="1"/>
          </p:cNvSpPr>
          <p:nvPr/>
        </p:nvSpPr>
        <p:spPr>
          <a:xfrm xmlns:a="http://schemas.openxmlformats.org/drawingml/2006/main">
            <a:off x="1466850" y="3971925"/>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출처와 적용 범위를 아는가?</a:t>
            </a:r>
          </a:p>
        </p:txBody>
      </p:sp>
      <p:sp>
        <p:nvSpPr>
          <p:cNvPr id="18" name="어떤 프로젝트·조건에서 유효한지 기록">
            <a:extLst xmlns:a="http://schemas.openxmlformats.org/drawingml/2006/main">
              <a:ext uri="{FF2B5EF4-FFF2-40B4-BE49-F238E27FC236}">
                <a16:creationId xmlns:a16="http://schemas.microsoft.com/office/drawing/2014/main" id="{D998BA2C-FCA8-4626-BEFA-62E757875747}"/>
              </a:ext>
            </a:extLst>
          </p:cNvPr>
          <p:cNvSpPr>
            <a:spLocks xmlns:a="http://schemas.openxmlformats.org/drawingml/2006/main" noGrp="1"/>
          </p:cNvSpPr>
          <p:nvPr/>
        </p:nvSpPr>
        <p:spPr>
          <a:xfrm xmlns:a="http://schemas.openxmlformats.org/drawingml/2006/main">
            <a:off x="1466850" y="4352925"/>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어떤 프로젝트·조건에서 유효한지 기록</a:t>
            </a:r>
          </a:p>
        </p:txBody>
      </p:sp>
      <p:sp>
        <p:nvSpPr>
          <p:cNvPr id="19" name="">
            <a:extLst xmlns:a="http://schemas.openxmlformats.org/drawingml/2006/main">
              <a:ext uri="{FF2B5EF4-FFF2-40B4-BE49-F238E27FC236}">
                <a16:creationId xmlns:a16="http://schemas.microsoft.com/office/drawing/2014/main" id="{8CCD50AF-A1FB-41CA-956B-C1A6454E7868}"/>
              </a:ext>
            </a:extLst>
          </p:cNvPr>
          <p:cNvSpPr>
            <a:spLocks xmlns:a="http://schemas.openxmlformats.org/drawingml/2006/main" noGrp="1"/>
          </p:cNvSpPr>
          <p:nvPr/>
        </p:nvSpPr>
        <p:spPr>
          <a:xfrm xmlns:a="http://schemas.openxmlformats.org/drawingml/2006/main">
            <a:off x="609600" y="4733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04">
            <a:extLst xmlns:a="http://schemas.openxmlformats.org/drawingml/2006/main">
              <a:ext uri="{FF2B5EF4-FFF2-40B4-BE49-F238E27FC236}">
                <a16:creationId xmlns:a16="http://schemas.microsoft.com/office/drawing/2014/main" id="{6DFB7019-1F9F-4753-B4E6-F0EAF90AD1DC}"/>
              </a:ext>
            </a:extLst>
          </p:cNvPr>
          <p:cNvSpPr>
            <a:spLocks xmlns:a="http://schemas.openxmlformats.org/drawingml/2006/main" noGrp="1"/>
          </p:cNvSpPr>
          <p:nvPr/>
        </p:nvSpPr>
        <p:spPr>
          <a:xfrm xmlns:a="http://schemas.openxmlformats.org/drawingml/2006/main">
            <a:off x="609600" y="488632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04</a:t>
            </a:r>
          </a:p>
        </p:txBody>
      </p:sp>
      <p:sp>
        <p:nvSpPr>
          <p:cNvPr id="21" name="언제 다시 확인해야 하는가?">
            <a:extLst xmlns:a="http://schemas.openxmlformats.org/drawingml/2006/main">
              <a:ext uri="{FF2B5EF4-FFF2-40B4-BE49-F238E27FC236}">
                <a16:creationId xmlns:a16="http://schemas.microsoft.com/office/drawing/2014/main" id="{C34FA947-0F09-499E-AFF3-3E83300842AF}"/>
              </a:ext>
            </a:extLst>
          </p:cNvPr>
          <p:cNvSpPr>
            <a:spLocks xmlns:a="http://schemas.openxmlformats.org/drawingml/2006/main" noGrp="1"/>
          </p:cNvSpPr>
          <p:nvPr/>
        </p:nvSpPr>
        <p:spPr>
          <a:xfrm xmlns:a="http://schemas.openxmlformats.org/drawingml/2006/main">
            <a:off x="1466850" y="4819650"/>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언제 다시 확인해야 하는가?</a:t>
            </a:r>
          </a:p>
        </p:txBody>
      </p:sp>
      <p:sp>
        <p:nvSpPr>
          <p:cNvPr id="22" name="갱신 또는 무효화할 조건을 함께 관리">
            <a:extLst xmlns:a="http://schemas.openxmlformats.org/drawingml/2006/main">
              <a:ext uri="{FF2B5EF4-FFF2-40B4-BE49-F238E27FC236}">
                <a16:creationId xmlns:a16="http://schemas.microsoft.com/office/drawing/2014/main" id="{8795547E-DCA2-49C2-9809-CAE3C6F40C4E}"/>
              </a:ext>
            </a:extLst>
          </p:cNvPr>
          <p:cNvSpPr>
            <a:spLocks xmlns:a="http://schemas.openxmlformats.org/drawingml/2006/main" noGrp="1"/>
          </p:cNvSpPr>
          <p:nvPr/>
        </p:nvSpPr>
        <p:spPr>
          <a:xfrm xmlns:a="http://schemas.openxmlformats.org/drawingml/2006/main">
            <a:off x="1466850" y="5200650"/>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갱신 또는 무효화할 조건을 함께 관리</a:t>
            </a:r>
          </a:p>
        </p:txBody>
      </p:sp>
    </p:spTree>
    <p:extLst>
      <p:ext uri="{BB962C8B-B14F-4D97-AF65-F5344CB8AC3E}">
        <p14:creationId xmlns:p14="http://schemas.microsoft.com/office/powerpoint/2010/main" val="2015830354"/>
      </p:ext>
    </p:extLst>
  </p:cSld>
</p:sld>
</file>

<file path=ppt/slides/slide5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문제에 실제로 필요했던 구조">
            <a:extLst xmlns:a="http://schemas.openxmlformats.org/drawingml/2006/main">
              <a:ext uri="{FF2B5EF4-FFF2-40B4-BE49-F238E27FC236}">
                <a16:creationId xmlns:a16="http://schemas.microsoft.com/office/drawing/2014/main" id="{33FDB308-D6E0-40F1-A6AA-3BD45B6AB3A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문제에 실제로 필요했던 구조</a:t>
            </a:r>
          </a:p>
        </p:txBody>
      </p:sp>
      <p:sp>
        <p:nvSpPr>
          <p:cNvPr id="2" name="S50">
            <a:extLst xmlns:a="http://schemas.openxmlformats.org/drawingml/2006/main">
              <a:ext uri="{FF2B5EF4-FFF2-40B4-BE49-F238E27FC236}">
                <a16:creationId xmlns:a16="http://schemas.microsoft.com/office/drawing/2014/main" id="{0F2E9496-5E82-4FCD-ACB7-F53D32D00F1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Minimum Effective Harness">
            <a:extLst xmlns:a="http://schemas.openxmlformats.org/drawingml/2006/main">
              <a:ext uri="{FF2B5EF4-FFF2-40B4-BE49-F238E27FC236}">
                <a16:creationId xmlns:a16="http://schemas.microsoft.com/office/drawing/2014/main" id="{8D3DB79D-9BE4-48BF-B646-EAE9A0978F7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Minimum Effective Harness</a:t>
            </a:r>
          </a:p>
        </p:txBody>
      </p:sp>
      <p:sp>
        <p:nvSpPr>
          <p:cNvPr id="4" name="">
            <a:extLst xmlns:a="http://schemas.openxmlformats.org/drawingml/2006/main">
              <a:ext uri="{FF2B5EF4-FFF2-40B4-BE49-F238E27FC236}">
                <a16:creationId xmlns:a16="http://schemas.microsoft.com/office/drawing/2014/main" id="{F5DC96E7-91AF-458B-95B0-9F0D8328ABD9}"/>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까지의 구성 · 현재 프로젝트 사례를 정리한 교육용 모델">
            <a:extLst xmlns:a="http://schemas.openxmlformats.org/drawingml/2006/main">
              <a:ext uri="{FF2B5EF4-FFF2-40B4-BE49-F238E27FC236}">
                <a16:creationId xmlns:a16="http://schemas.microsoft.com/office/drawing/2014/main" id="{24CDC70E-C6C5-4EE6-A4BD-77BF39B1388A}"/>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STATE-04-PERF까지의 구성 · 현재 프로젝트 사례를 정리한 교육용 모델</a:t>
            </a:r>
          </a:p>
        </p:txBody>
      </p:sp>
      <p:sp>
        <p:nvSpPr>
          <p:cNvPr id="6" name="Subagent·별도 Memory는 추가하지 않음 · 필요한 구성은 문제와 검증 요건에 따라 달라짐">
            <a:extLst xmlns:a="http://schemas.openxmlformats.org/drawingml/2006/main">
              <a:ext uri="{FF2B5EF4-FFF2-40B4-BE49-F238E27FC236}">
                <a16:creationId xmlns:a16="http://schemas.microsoft.com/office/drawing/2014/main" id="{9E38D28A-3B5B-4DAA-A346-0FCADC34066B}"/>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필요한 구성은 문제와 검증 요건에 따라 달라짐</a:t>
            </a:r>
          </a:p>
        </p:txBody>
      </p:sp>
      <p:sp>
        <p:nvSpPr>
          <p:cNvPr id="7" name="반복해서 부딪힌 문제 → 실제로 둔 구조">
            <a:extLst xmlns:a="http://schemas.openxmlformats.org/drawingml/2006/main">
              <a:ext uri="{FF2B5EF4-FFF2-40B4-BE49-F238E27FC236}">
                <a16:creationId xmlns:a16="http://schemas.microsoft.com/office/drawing/2014/main" id="{81395BF7-589E-4C98-9076-4F4D79E60B4E}"/>
              </a:ext>
            </a:extLst>
          </p:cNvPr>
          <p:cNvSpPr>
            <a:spLocks xmlns:a="http://schemas.openxmlformats.org/drawingml/2006/main" noGrp="1"/>
          </p:cNvSpPr>
          <p:nvPr/>
        </p:nvSpPr>
        <p:spPr>
          <a:xfrm xmlns:a="http://schemas.openxmlformats.org/drawingml/2006/main">
            <a:off x="609600" y="2143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부딪힌 문제 → 실제로 둔 구조</a:t>
            </a:r>
          </a:p>
        </p:txBody>
      </p:sp>
      <p:sp>
        <p:nvSpPr>
          <p:cNvPr id="8" name="">
            <a:extLst xmlns:a="http://schemas.openxmlformats.org/drawingml/2006/main">
              <a:ext uri="{FF2B5EF4-FFF2-40B4-BE49-F238E27FC236}">
                <a16:creationId xmlns:a16="http://schemas.microsoft.com/office/drawing/2014/main" id="{786DE921-7A0E-4E25-9E94-0E48FAD3B501}"/>
              </a:ext>
            </a:extLst>
          </p:cNvPr>
          <p:cNvSpPr>
            <a:spLocks xmlns:a="http://schemas.openxmlformats.org/drawingml/2006/main" noGrp="1"/>
          </p:cNvSpPr>
          <p:nvPr/>
        </p:nvSpPr>
        <p:spPr>
          <a:xfrm xmlns:a="http://schemas.openxmlformats.org/drawingml/2006/main">
            <a:off x="609600" y="2828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목표와 범위">
            <a:extLst xmlns:a="http://schemas.openxmlformats.org/drawingml/2006/main">
              <a:ext uri="{FF2B5EF4-FFF2-40B4-BE49-F238E27FC236}">
                <a16:creationId xmlns:a16="http://schemas.microsoft.com/office/drawing/2014/main" id="{9B8C0C44-B058-416D-8F59-B83827031520}"/>
              </a:ext>
            </a:extLst>
          </p:cNvPr>
          <p:cNvSpPr>
            <a:spLocks xmlns:a="http://schemas.openxmlformats.org/drawingml/2006/main" noGrp="1"/>
          </p:cNvSpPr>
          <p:nvPr/>
        </p:nvSpPr>
        <p:spPr>
          <a:xfrm xmlns:a="http://schemas.openxmlformats.org/drawingml/2006/main">
            <a:off x="609600" y="2943225"/>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이번 목표와 범위</a:t>
            </a:r>
          </a:p>
        </p:txBody>
      </p:sp>
      <p:sp>
        <p:nvSpPr>
          <p:cNvPr id="10" name="→">
            <a:extLst xmlns:a="http://schemas.openxmlformats.org/drawingml/2006/main">
              <a:ext uri="{FF2B5EF4-FFF2-40B4-BE49-F238E27FC236}">
                <a16:creationId xmlns:a16="http://schemas.microsoft.com/office/drawing/2014/main" id="{2960D7C4-3DDE-45B3-B65B-B1CC2F61B6CB}"/>
              </a:ext>
            </a:extLst>
          </p:cNvPr>
          <p:cNvSpPr>
            <a:spLocks xmlns:a="http://schemas.openxmlformats.org/drawingml/2006/main" noGrp="1"/>
          </p:cNvSpPr>
          <p:nvPr/>
        </p:nvSpPr>
        <p:spPr>
          <a:xfrm xmlns:a="http://schemas.openxmlformats.org/drawingml/2006/main">
            <a:off x="5457825" y="2943225"/>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1" name="Task Prompt">
            <a:extLst xmlns:a="http://schemas.openxmlformats.org/drawingml/2006/main">
              <a:ext uri="{FF2B5EF4-FFF2-40B4-BE49-F238E27FC236}">
                <a16:creationId xmlns:a16="http://schemas.microsoft.com/office/drawing/2014/main" id="{08D90853-0A03-46CA-90BA-50A1647A2D50}"/>
              </a:ext>
            </a:extLst>
          </p:cNvPr>
          <p:cNvSpPr>
            <a:spLocks xmlns:a="http://schemas.openxmlformats.org/drawingml/2006/main" noGrp="1"/>
          </p:cNvSpPr>
          <p:nvPr/>
        </p:nvSpPr>
        <p:spPr>
          <a:xfrm xmlns:a="http://schemas.openxmlformats.org/drawingml/2006/main">
            <a:off x="6210300" y="2943225"/>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12" name="">
            <a:extLst xmlns:a="http://schemas.openxmlformats.org/drawingml/2006/main">
              <a:ext uri="{FF2B5EF4-FFF2-40B4-BE49-F238E27FC236}">
                <a16:creationId xmlns:a16="http://schemas.microsoft.com/office/drawing/2014/main" id="{AA21EC3B-F5B2-4CF9-8D18-BD6FB49A93A1}"/>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프로젝트 사실과 상세 정보">
            <a:extLst xmlns:a="http://schemas.openxmlformats.org/drawingml/2006/main">
              <a:ext uri="{FF2B5EF4-FFF2-40B4-BE49-F238E27FC236}">
                <a16:creationId xmlns:a16="http://schemas.microsoft.com/office/drawing/2014/main" id="{A4D18A87-F22F-49C5-8481-3B4D2DB9140E}"/>
              </a:ext>
            </a:extLst>
          </p:cNvPr>
          <p:cNvSpPr>
            <a:spLocks xmlns:a="http://schemas.openxmlformats.org/drawingml/2006/main" noGrp="1"/>
          </p:cNvSpPr>
          <p:nvPr/>
        </p:nvSpPr>
        <p:spPr>
          <a:xfrm xmlns:a="http://schemas.openxmlformats.org/drawingml/2006/main">
            <a:off x="609600" y="358140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사실과 상세 정보</a:t>
            </a:r>
          </a:p>
        </p:txBody>
      </p:sp>
      <p:sp>
        <p:nvSpPr>
          <p:cNvPr id="14" name="→">
            <a:extLst xmlns:a="http://schemas.openxmlformats.org/drawingml/2006/main">
              <a:ext uri="{FF2B5EF4-FFF2-40B4-BE49-F238E27FC236}">
                <a16:creationId xmlns:a16="http://schemas.microsoft.com/office/drawing/2014/main" id="{4DFF7536-7947-433E-A793-4CA1FB69CBB0}"/>
              </a:ext>
            </a:extLst>
          </p:cNvPr>
          <p:cNvSpPr>
            <a:spLocks xmlns:a="http://schemas.openxmlformats.org/drawingml/2006/main" noGrp="1"/>
          </p:cNvSpPr>
          <p:nvPr/>
        </p:nvSpPr>
        <p:spPr>
          <a:xfrm xmlns:a="http://schemas.openxmlformats.org/drawingml/2006/main">
            <a:off x="5457825" y="3581400"/>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5" name="AGENTS.md + docs Routing">
            <a:extLst xmlns:a="http://schemas.openxmlformats.org/drawingml/2006/main">
              <a:ext uri="{FF2B5EF4-FFF2-40B4-BE49-F238E27FC236}">
                <a16:creationId xmlns:a16="http://schemas.microsoft.com/office/drawing/2014/main" id="{717B4C11-D28D-40CA-B5B9-5CAED72E7FB7}"/>
              </a:ext>
            </a:extLst>
          </p:cNvPr>
          <p:cNvSpPr>
            <a:spLocks xmlns:a="http://schemas.openxmlformats.org/drawingml/2006/main" noGrp="1"/>
          </p:cNvSpPr>
          <p:nvPr/>
        </p:nvSpPr>
        <p:spPr>
          <a:xfrm xmlns:a="http://schemas.openxmlformats.org/drawingml/2006/main">
            <a:off x="6210300" y="3581400"/>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AGENTS.md + docs Routing</a:t>
            </a:r>
          </a:p>
        </p:txBody>
      </p:sp>
      <p:sp>
        <p:nvSpPr>
          <p:cNvPr id="16" name="">
            <a:extLst xmlns:a="http://schemas.openxmlformats.org/drawingml/2006/main">
              <a:ext uri="{FF2B5EF4-FFF2-40B4-BE49-F238E27FC236}">
                <a16:creationId xmlns:a16="http://schemas.microsoft.com/office/drawing/2014/main" id="{2ADD2FB0-9D83-421F-ACB2-1441E1508C8F}"/>
              </a:ext>
            </a:extLst>
          </p:cNvPr>
          <p:cNvSpPr>
            <a:spLocks xmlns:a="http://schemas.openxmlformats.org/drawingml/2006/main" noGrp="1"/>
          </p:cNvSpPr>
          <p:nvPr/>
        </p:nvSpPr>
        <p:spPr>
          <a:xfrm xmlns:a="http://schemas.openxmlformats.org/drawingml/2006/main">
            <a:off x="609600" y="4105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같은 조사·검증 절차">
            <a:extLst xmlns:a="http://schemas.openxmlformats.org/drawingml/2006/main">
              <a:ext uri="{FF2B5EF4-FFF2-40B4-BE49-F238E27FC236}">
                <a16:creationId xmlns:a16="http://schemas.microsoft.com/office/drawing/2014/main" id="{87C5E285-5494-4AF9-AADE-30283CDDFF3D}"/>
              </a:ext>
            </a:extLst>
          </p:cNvPr>
          <p:cNvSpPr>
            <a:spLocks xmlns:a="http://schemas.openxmlformats.org/drawingml/2006/main" noGrp="1"/>
          </p:cNvSpPr>
          <p:nvPr/>
        </p:nvSpPr>
        <p:spPr>
          <a:xfrm xmlns:a="http://schemas.openxmlformats.org/drawingml/2006/main">
            <a:off x="609600" y="4219575"/>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같은 조사·검증 절차</a:t>
            </a:r>
          </a:p>
        </p:txBody>
      </p:sp>
      <p:sp>
        <p:nvSpPr>
          <p:cNvPr id="18" name="→">
            <a:extLst xmlns:a="http://schemas.openxmlformats.org/drawingml/2006/main">
              <a:ext uri="{FF2B5EF4-FFF2-40B4-BE49-F238E27FC236}">
                <a16:creationId xmlns:a16="http://schemas.microsoft.com/office/drawing/2014/main" id="{046FF16A-F2C0-42FF-B874-F71E02377AC9}"/>
              </a:ext>
            </a:extLst>
          </p:cNvPr>
          <p:cNvSpPr>
            <a:spLocks xmlns:a="http://schemas.openxmlformats.org/drawingml/2006/main" noGrp="1"/>
          </p:cNvSpPr>
          <p:nvPr/>
        </p:nvSpPr>
        <p:spPr>
          <a:xfrm xmlns:a="http://schemas.openxmlformats.org/drawingml/2006/main">
            <a:off x="5457825" y="4219575"/>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9" name="graypipe-performance Skill">
            <a:extLst xmlns:a="http://schemas.openxmlformats.org/drawingml/2006/main">
              <a:ext uri="{FF2B5EF4-FFF2-40B4-BE49-F238E27FC236}">
                <a16:creationId xmlns:a16="http://schemas.microsoft.com/office/drawing/2014/main" id="{EDA29DBE-8C13-4182-8E4B-1922BBE31EC2}"/>
              </a:ext>
            </a:extLst>
          </p:cNvPr>
          <p:cNvSpPr>
            <a:spLocks xmlns:a="http://schemas.openxmlformats.org/drawingml/2006/main" noGrp="1"/>
          </p:cNvSpPr>
          <p:nvPr/>
        </p:nvSpPr>
        <p:spPr>
          <a:xfrm xmlns:a="http://schemas.openxmlformats.org/drawingml/2006/main">
            <a:off x="6210300" y="4219575"/>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graypipe-performance Skill</a:t>
            </a:r>
          </a:p>
        </p:txBody>
      </p:sp>
      <p:sp>
        <p:nvSpPr>
          <p:cNvPr id="20" name="">
            <a:extLst xmlns:a="http://schemas.openxmlformats.org/drawingml/2006/main">
              <a:ext uri="{FF2B5EF4-FFF2-40B4-BE49-F238E27FC236}">
                <a16:creationId xmlns:a16="http://schemas.microsoft.com/office/drawing/2014/main" id="{DEEFC41A-12FF-482C-BD63-8302C0DE692D}"/>
              </a:ext>
            </a:extLst>
          </p:cNvPr>
          <p:cNvSpPr>
            <a:spLocks xmlns:a="http://schemas.openxmlformats.org/drawingml/2006/main" noGrp="1"/>
          </p:cNvSpPr>
          <p:nvPr/>
        </p:nvSpPr>
        <p:spPr>
          <a:xfrm xmlns:a="http://schemas.openxmlformats.org/drawingml/2006/main">
            <a:off x="609600" y="4743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변경을 믿을 근거">
            <a:extLst xmlns:a="http://schemas.openxmlformats.org/drawingml/2006/main">
              <a:ext uri="{FF2B5EF4-FFF2-40B4-BE49-F238E27FC236}">
                <a16:creationId xmlns:a16="http://schemas.microsoft.com/office/drawing/2014/main" id="{39BA8729-2819-4AA8-BC19-AA812C6E7184}"/>
              </a:ext>
            </a:extLst>
          </p:cNvPr>
          <p:cNvSpPr>
            <a:spLocks xmlns:a="http://schemas.openxmlformats.org/drawingml/2006/main" noGrp="1"/>
          </p:cNvSpPr>
          <p:nvPr/>
        </p:nvSpPr>
        <p:spPr>
          <a:xfrm xmlns:a="http://schemas.openxmlformats.org/drawingml/2006/main">
            <a:off x="609600" y="485775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변경을 믿을 근거</a:t>
            </a:r>
          </a:p>
        </p:txBody>
      </p:sp>
      <p:sp>
        <p:nvSpPr>
          <p:cNvPr id="22" name="→">
            <a:extLst xmlns:a="http://schemas.openxmlformats.org/drawingml/2006/main">
              <a:ext uri="{FF2B5EF4-FFF2-40B4-BE49-F238E27FC236}">
                <a16:creationId xmlns:a16="http://schemas.microsoft.com/office/drawing/2014/main" id="{A2BE7AE6-5A33-48D9-8ACD-4BB3F7D822E6}"/>
              </a:ext>
            </a:extLst>
          </p:cNvPr>
          <p:cNvSpPr>
            <a:spLocks xmlns:a="http://schemas.openxmlformats.org/drawingml/2006/main" noGrp="1"/>
          </p:cNvSpPr>
          <p:nvPr/>
        </p:nvSpPr>
        <p:spPr>
          <a:xfrm xmlns:a="http://schemas.openxmlformats.org/drawingml/2006/main">
            <a:off x="5457825" y="4857750"/>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23" name="Tests + Benchmark + Tools / Environment">
            <a:extLst xmlns:a="http://schemas.openxmlformats.org/drawingml/2006/main">
              <a:ext uri="{FF2B5EF4-FFF2-40B4-BE49-F238E27FC236}">
                <a16:creationId xmlns:a16="http://schemas.microsoft.com/office/drawing/2014/main" id="{05670CEA-6616-41CD-AB01-AEA9FBC7F104}"/>
              </a:ext>
            </a:extLst>
          </p:cNvPr>
          <p:cNvSpPr>
            <a:spLocks xmlns:a="http://schemas.openxmlformats.org/drawingml/2006/main" noGrp="1"/>
          </p:cNvSpPr>
          <p:nvPr/>
        </p:nvSpPr>
        <p:spPr>
          <a:xfrm xmlns:a="http://schemas.openxmlformats.org/drawingml/2006/main">
            <a:off x="6210300" y="4857750"/>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Tests + Benchmark + Tools / Environment</a:t>
            </a:r>
          </a:p>
        </p:txBody>
      </p:sp>
    </p:spTree>
    <p:extLst>
      <p:ext uri="{BB962C8B-B14F-4D97-AF65-F5344CB8AC3E}">
        <p14:creationId xmlns:p14="http://schemas.microsoft.com/office/powerpoint/2010/main" val="152791683"/>
      </p:ext>
    </p:extLst>
  </p:cSld>
</p:sld>
</file>

<file path=ppt/slides/slide5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3 · 개발자와 Agent가 일하는 환경">
            <a:extLst xmlns:a="http://schemas.openxmlformats.org/drawingml/2006/main">
              <a:ext uri="{FF2B5EF4-FFF2-40B4-BE49-F238E27FC236}">
                <a16:creationId xmlns:a16="http://schemas.microsoft.com/office/drawing/2014/main" id="{BAFB3E69-B4C8-466A-B2BC-B7A42B70972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개발자와 Agent가 일하는 환경</a:t>
            </a:r>
          </a:p>
        </p:txBody>
      </p:sp>
      <p:sp>
        <p:nvSpPr>
          <p:cNvPr id="2" name="S51">
            <a:extLst xmlns:a="http://schemas.openxmlformats.org/drawingml/2006/main">
              <a:ext uri="{FF2B5EF4-FFF2-40B4-BE49-F238E27FC236}">
                <a16:creationId xmlns:a16="http://schemas.microsoft.com/office/drawing/2014/main" id="{1AD02E59-8198-455B-B96A-997FE19AD17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Harness는 작업 환경 설계다">
            <a:extLst xmlns:a="http://schemas.openxmlformats.org/drawingml/2006/main">
              <a:ext uri="{FF2B5EF4-FFF2-40B4-BE49-F238E27FC236}">
                <a16:creationId xmlns:a16="http://schemas.microsoft.com/office/drawing/2014/main" id="{B291C542-9C72-4D5B-A52D-698EC99119D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Harness는 작업 환경 설계다</a:t>
            </a:r>
          </a:p>
        </p:txBody>
      </p:sp>
      <p:sp>
        <p:nvSpPr>
          <p:cNvPr id="4" name="">
            <a:extLst xmlns:a="http://schemas.openxmlformats.org/drawingml/2006/main">
              <a:ext uri="{FF2B5EF4-FFF2-40B4-BE49-F238E27FC236}">
                <a16:creationId xmlns:a16="http://schemas.microsoft.com/office/drawing/2014/main" id="{E93F8A83-F049-4561-A02D-8287A0C7EEF3}"/>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Harness: Agent가 Project에서 신뢰성 있게 일하도록 설계한 작업 환경 · 이 과정의 운영 모">
            <a:extLst xmlns:a="http://schemas.openxmlformats.org/drawingml/2006/main">
              <a:ext uri="{FF2B5EF4-FFF2-40B4-BE49-F238E27FC236}">
                <a16:creationId xmlns:a16="http://schemas.microsoft.com/office/drawing/2014/main" id="{E276F471-C36E-468B-9ADA-8FD7FE334DF6}"/>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Harness: Agent가 Project에서 신뢰성 있게 일하도록 설계한 작업 환경 · 이 과정의 운영 모델</a:t>
            </a:r>
          </a:p>
        </p:txBody>
      </p:sp>
      <p:sp>
        <p:nvSpPr>
          <p:cNvPr id="6" name="공식 제품 분류가 아님 · STATE-04-PERF 관찰 요소와 교육용 전체 모델을 구분한다">
            <a:extLst xmlns:a="http://schemas.openxmlformats.org/drawingml/2006/main">
              <a:ext uri="{FF2B5EF4-FFF2-40B4-BE49-F238E27FC236}">
                <a16:creationId xmlns:a16="http://schemas.microsoft.com/office/drawing/2014/main" id="{5965726F-F81C-4511-AE6A-A7027A658201}"/>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STATE-04-PERF 관찰 요소와 교육용 전체 모델을 구분한다</a:t>
            </a:r>
          </a:p>
        </p:txBody>
      </p:sp>
      <p:sp>
        <p:nvSpPr>
          <p:cNvPr id="7" name="">
            <a:extLst xmlns:a="http://schemas.openxmlformats.org/drawingml/2006/main">
              <a:ext uri="{FF2B5EF4-FFF2-40B4-BE49-F238E27FC236}">
                <a16:creationId xmlns:a16="http://schemas.microsoft.com/office/drawing/2014/main" id="{35956D10-626D-476F-8DE0-F93F0D85081E}"/>
              </a:ext>
            </a:extLst>
          </p:cNvPr>
          <p:cNvSpPr>
            <a:spLocks xmlns:a="http://schemas.openxmlformats.org/drawingml/2006/main" noGrp="1"/>
          </p:cNvSpPr>
          <p:nvPr/>
        </p:nvSpPr>
        <p:spPr>
          <a:xfrm xmlns:a="http://schemas.openxmlformats.org/drawingml/2006/main">
            <a:off x="609600" y="2152650"/>
            <a:ext cx="10972800" cy="26003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Project 작업 환경">
            <a:extLst xmlns:a="http://schemas.openxmlformats.org/drawingml/2006/main">
              <a:ext uri="{FF2B5EF4-FFF2-40B4-BE49-F238E27FC236}">
                <a16:creationId xmlns:a16="http://schemas.microsoft.com/office/drawing/2014/main" id="{BB871ABD-630B-4C39-8779-578A01DCCD78}"/>
              </a:ext>
            </a:extLst>
          </p:cNvPr>
          <p:cNvSpPr>
            <a:spLocks xmlns:a="http://schemas.openxmlformats.org/drawingml/2006/main" noGrp="1"/>
          </p:cNvSpPr>
          <p:nvPr/>
        </p:nvSpPr>
        <p:spPr>
          <a:xfrm xmlns:a="http://schemas.openxmlformats.org/drawingml/2006/main">
            <a:off x="838200" y="2314575"/>
            <a:ext cx="1051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Project 작업 환경</a:t>
            </a:r>
          </a:p>
        </p:txBody>
      </p:sp>
      <p:sp>
        <p:nvSpPr>
          <p:cNvPr id="9" name="개발자 + Agent">
            <a:extLst xmlns:a="http://schemas.openxmlformats.org/drawingml/2006/main">
              <a:ext uri="{FF2B5EF4-FFF2-40B4-BE49-F238E27FC236}">
                <a16:creationId xmlns:a16="http://schemas.microsoft.com/office/drawing/2014/main" id="{448AAB55-C1C3-461A-A6A5-5041274CCCA3}"/>
              </a:ext>
            </a:extLst>
          </p:cNvPr>
          <p:cNvSpPr>
            <a:spLocks xmlns:a="http://schemas.openxmlformats.org/drawingml/2006/main" noGrp="1"/>
          </p:cNvSpPr>
          <p:nvPr/>
        </p:nvSpPr>
        <p:spPr>
          <a:xfrm xmlns:a="http://schemas.openxmlformats.org/drawingml/2006/main">
            <a:off x="3714750" y="2876550"/>
            <a:ext cx="4762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225" b="1">
                <a:solidFill>
                  <a:srgbClr val="17212B"/>
                </a:solidFill>
                <a:latin typeface="Malgun Gothic"/>
                <a:ea typeface="Malgun Gothic"/>
                <a:cs typeface="Malgun Gothic"/>
              </a:defRPr>
            </a:defPPr>
            <a:lvl1pPr algn="ctr">
              <a:defRPr sz="3225" b="1">
                <a:solidFill>
                  <a:srgbClr val="17212B"/>
                </a:solidFill>
                <a:latin typeface="Malgun Gothic"/>
                <a:ea typeface="Malgun Gothic"/>
                <a:cs typeface="Malgun Gothic"/>
              </a:defRPr>
            </a:lvl1pPr>
            <a:lvl2pPr algn="ctr">
              <a:defRPr sz="3225" b="1">
                <a:solidFill>
                  <a:srgbClr val="17212B"/>
                </a:solidFill>
                <a:latin typeface="Malgun Gothic"/>
                <a:ea typeface="Malgun Gothic"/>
                <a:cs typeface="Malgun Gothic"/>
              </a:defRPr>
            </a:lvl2pPr>
            <a:lvl3pPr algn="ctr">
              <a:defRPr sz="3225" b="1">
                <a:solidFill>
                  <a:srgbClr val="17212B"/>
                </a:solidFill>
                <a:latin typeface="Malgun Gothic"/>
                <a:ea typeface="Malgun Gothic"/>
                <a:cs typeface="Malgun Gothic"/>
              </a:defRPr>
            </a:lvl3pPr>
            <a:lvl4pPr algn="ctr">
              <a:defRPr sz="3225" b="1">
                <a:solidFill>
                  <a:srgbClr val="17212B"/>
                </a:solidFill>
                <a:latin typeface="Malgun Gothic"/>
                <a:ea typeface="Malgun Gothic"/>
                <a:cs typeface="Malgun Gothic"/>
              </a:defRPr>
            </a:lvl4pPr>
            <a:lvl5pPr algn="ctr">
              <a:defRPr sz="3225" b="1">
                <a:solidFill>
                  <a:srgbClr val="17212B"/>
                </a:solidFill>
                <a:latin typeface="Malgun Gothic"/>
                <a:ea typeface="Malgun Gothic"/>
                <a:cs typeface="Malgun Gothic"/>
              </a:defRPr>
            </a:lvl5pPr>
            <a:lvl6pPr algn="ctr">
              <a:defRPr sz="3225" b="1">
                <a:solidFill>
                  <a:srgbClr val="17212B"/>
                </a:solidFill>
                <a:latin typeface="Malgun Gothic"/>
                <a:ea typeface="Malgun Gothic"/>
                <a:cs typeface="Malgun Gothic"/>
              </a:defRPr>
            </a:lvl6pPr>
            <a:lvl7pPr algn="ctr">
              <a:defRPr sz="3225" b="1">
                <a:solidFill>
                  <a:srgbClr val="17212B"/>
                </a:solidFill>
                <a:latin typeface="Malgun Gothic"/>
                <a:ea typeface="Malgun Gothic"/>
                <a:cs typeface="Malgun Gothic"/>
              </a:defRPr>
            </a:lvl7pPr>
            <a:lvl8pPr algn="ctr">
              <a:defRPr sz="3225" b="1">
                <a:solidFill>
                  <a:srgbClr val="17212B"/>
                </a:solidFill>
                <a:latin typeface="Malgun Gothic"/>
                <a:ea typeface="Malgun Gothic"/>
                <a:cs typeface="Malgun Gothic"/>
              </a:defRPr>
            </a:lvl8pPr>
            <a:lvl9pPr algn="ctr">
              <a:defRPr sz="3225" b="1">
                <a:solidFill>
                  <a:srgbClr val="17212B"/>
                </a:solidFill>
                <a:latin typeface="Malgun Gothic"/>
                <a:ea typeface="Malgun Gothic"/>
                <a:cs typeface="Malgun Gothic"/>
              </a:defRPr>
            </a:lvl9pPr>
          </a:lstStyle>
          <a:p xmlns:a="http://schemas.openxmlformats.org/drawingml/2006/main">
            <a:pPr algn="ctr">
              <a:defRPr sz="3225" b="1">
                <a:solidFill>
                  <a:srgbClr val="17212B"/>
                </a:solidFill>
                <a:latin typeface="Malgun Gothic"/>
                <a:ea typeface="Malgun Gothic"/>
                <a:cs typeface="Malgun Gothic"/>
              </a:defRPr>
            </a:pPr>
            <a:r>
              <a:rPr sz="3225" b="1">
                <a:solidFill>
                  <a:srgbClr val="17212B"/>
                </a:solidFill>
                <a:latin typeface="Malgun Gothic"/>
                <a:ea typeface="Malgun Gothic"/>
                <a:cs typeface="Malgun Gothic"/>
              </a:rPr>
              <a:t>개발자 + Agent</a:t>
            </a:r>
          </a:p>
        </p:txBody>
      </p:sp>
      <p:sp>
        <p:nvSpPr>
          <p:cNvPr id="10" name="현재 목표">
            <a:extLst xmlns:a="http://schemas.openxmlformats.org/drawingml/2006/main">
              <a:ext uri="{FF2B5EF4-FFF2-40B4-BE49-F238E27FC236}">
                <a16:creationId xmlns:a16="http://schemas.microsoft.com/office/drawing/2014/main" id="{89E982EE-F7B6-4212-893D-C920D185AC1D}"/>
              </a:ext>
            </a:extLst>
          </p:cNvPr>
          <p:cNvSpPr>
            <a:spLocks xmlns:a="http://schemas.openxmlformats.org/drawingml/2006/main" noGrp="1"/>
          </p:cNvSpPr>
          <p:nvPr/>
        </p:nvSpPr>
        <p:spPr>
          <a:xfrm xmlns:a="http://schemas.openxmlformats.org/drawingml/2006/main">
            <a:off x="838200" y="309562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현재 목표</a:t>
            </a:r>
          </a:p>
        </p:txBody>
      </p:sp>
      <p:sp>
        <p:nvSpPr>
          <p:cNvPr id="11" name="확인할 결과">
            <a:extLst xmlns:a="http://schemas.openxmlformats.org/drawingml/2006/main">
              <a:ext uri="{FF2B5EF4-FFF2-40B4-BE49-F238E27FC236}">
                <a16:creationId xmlns:a16="http://schemas.microsoft.com/office/drawing/2014/main" id="{9770FC01-55BD-4D6B-83AE-F658573ABBD5}"/>
              </a:ext>
            </a:extLst>
          </p:cNvPr>
          <p:cNvSpPr>
            <a:spLocks xmlns:a="http://schemas.openxmlformats.org/drawingml/2006/main" noGrp="1"/>
          </p:cNvSpPr>
          <p:nvPr/>
        </p:nvSpPr>
        <p:spPr>
          <a:xfrm xmlns:a="http://schemas.openxmlformats.org/drawingml/2006/main">
            <a:off x="8877300" y="309562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확인할 결과</a:t>
            </a:r>
          </a:p>
        </p:txBody>
      </p:sp>
      <p:sp>
        <p:nvSpPr>
          <p:cNvPr id="12" name="">
            <a:extLst xmlns:a="http://schemas.openxmlformats.org/drawingml/2006/main">
              <a:ext uri="{FF2B5EF4-FFF2-40B4-BE49-F238E27FC236}">
                <a16:creationId xmlns:a16="http://schemas.microsoft.com/office/drawing/2014/main" id="{4EA467C4-F6C7-40BB-89B1-C37D9BC406DD}"/>
              </a:ext>
            </a:extLst>
          </p:cNvPr>
          <p:cNvSpPr>
            <a:spLocks xmlns:a="http://schemas.openxmlformats.org/drawingml/2006/main" noGrp="1"/>
          </p:cNvSpPr>
          <p:nvPr/>
        </p:nvSpPr>
        <p:spPr>
          <a:xfrm xmlns:a="http://schemas.openxmlformats.org/drawingml/2006/main">
            <a:off x="3209925" y="3209925"/>
            <a:ext cx="3810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8454B92B-376B-4EB2-AE94-99A216868114}"/>
              </a:ext>
            </a:extLst>
          </p:cNvPr>
          <p:cNvSpPr>
            <a:spLocks xmlns:a="http://schemas.openxmlformats.org/drawingml/2006/main" noGrp="1"/>
          </p:cNvSpPr>
          <p:nvPr/>
        </p:nvSpPr>
        <p:spPr>
          <a:xfrm xmlns:a="http://schemas.openxmlformats.org/drawingml/2006/main">
            <a:off x="8591550" y="3209925"/>
            <a:ext cx="2381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7316D4D3-9A71-423D-BF63-3557E1995050}"/>
              </a:ext>
            </a:extLst>
          </p:cNvPr>
          <p:cNvSpPr>
            <a:spLocks xmlns:a="http://schemas.openxmlformats.org/drawingml/2006/main" noGrp="1"/>
          </p:cNvSpPr>
          <p:nvPr/>
        </p:nvSpPr>
        <p:spPr>
          <a:xfrm xmlns:a="http://schemas.openxmlformats.org/drawingml/2006/main">
            <a:off x="838200" y="3838575"/>
            <a:ext cx="10515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roject Context / Routing     ·     Workflow     ·     Verif">
            <a:extLst xmlns:a="http://schemas.openxmlformats.org/drawingml/2006/main">
              <a:ext uri="{FF2B5EF4-FFF2-40B4-BE49-F238E27FC236}">
                <a16:creationId xmlns:a16="http://schemas.microsoft.com/office/drawing/2014/main" id="{F15E6B7F-CCAD-49DA-9318-24433AF6C797}"/>
              </a:ext>
            </a:extLst>
          </p:cNvPr>
          <p:cNvSpPr>
            <a:spLocks xmlns:a="http://schemas.openxmlformats.org/drawingml/2006/main" noGrp="1"/>
          </p:cNvSpPr>
          <p:nvPr/>
        </p:nvSpPr>
        <p:spPr>
          <a:xfrm xmlns:a="http://schemas.openxmlformats.org/drawingml/2006/main">
            <a:off x="838200" y="4048125"/>
            <a:ext cx="10515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Project Context / Routing     ·     Workflow     ·     Verification / Tools</a:t>
            </a:r>
          </a:p>
        </p:txBody>
      </p:sp>
      <p:sp>
        <p:nvSpPr>
          <p:cNvPr id="16" name="관찰한 구성">
            <a:extLst xmlns:a="http://schemas.openxmlformats.org/drawingml/2006/main">
              <a:ext uri="{FF2B5EF4-FFF2-40B4-BE49-F238E27FC236}">
                <a16:creationId xmlns:a16="http://schemas.microsoft.com/office/drawing/2014/main" id="{6BDAFC9C-1B39-48FE-92B2-0783DFE058F2}"/>
              </a:ext>
            </a:extLst>
          </p:cNvPr>
          <p:cNvSpPr>
            <a:spLocks xmlns:a="http://schemas.openxmlformats.org/drawingml/2006/main" noGrp="1"/>
          </p:cNvSpPr>
          <p:nvPr/>
        </p:nvSpPr>
        <p:spPr>
          <a:xfrm xmlns:a="http://schemas.openxmlformats.org/drawingml/2006/main">
            <a:off x="609600" y="5133975"/>
            <a:ext cx="1962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관찰한 구성</a:t>
            </a:r>
          </a:p>
        </p:txBody>
      </p:sp>
      <p:sp>
        <p:nvSpPr>
          <p:cNvPr id="17" name="AGENTS.md · docs · Skill · Tests · Benchmark">
            <a:extLst xmlns:a="http://schemas.openxmlformats.org/drawingml/2006/main">
              <a:ext uri="{FF2B5EF4-FFF2-40B4-BE49-F238E27FC236}">
                <a16:creationId xmlns:a16="http://schemas.microsoft.com/office/drawing/2014/main" id="{140CFF22-34F5-4BD2-988A-756F87691ECA}"/>
              </a:ext>
            </a:extLst>
          </p:cNvPr>
          <p:cNvSpPr>
            <a:spLocks xmlns:a="http://schemas.openxmlformats.org/drawingml/2006/main" noGrp="1"/>
          </p:cNvSpPr>
          <p:nvPr/>
        </p:nvSpPr>
        <p:spPr>
          <a:xfrm xmlns:a="http://schemas.openxmlformats.org/drawingml/2006/main">
            <a:off x="2762250" y="5133975"/>
            <a:ext cx="8820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AGENTS.md · docs · Skill · Tests · Benchmark</a:t>
            </a:r>
          </a:p>
        </p:txBody>
      </p:sp>
    </p:spTree>
    <p:extLst>
      <p:ext uri="{BB962C8B-B14F-4D97-AF65-F5344CB8AC3E}">
        <p14:creationId xmlns:p14="http://schemas.microsoft.com/office/powerpoint/2010/main" val="1527178067"/>
      </p:ext>
    </p:extLst>
  </p:cSld>
</p:sld>
</file>

<file path=ppt/slides/slide5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실행 환경의 경계">
            <a:extLst xmlns:a="http://schemas.openxmlformats.org/drawingml/2006/main">
              <a:ext uri="{FF2B5EF4-FFF2-40B4-BE49-F238E27FC236}">
                <a16:creationId xmlns:a16="http://schemas.microsoft.com/office/drawing/2014/main" id="{D4B42159-610E-4C04-92DB-8782F6FD820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실행 환경의 경계</a:t>
            </a:r>
          </a:p>
        </p:txBody>
      </p:sp>
      <p:sp>
        <p:nvSpPr>
          <p:cNvPr id="2" name="S52">
            <a:extLst xmlns:a="http://schemas.openxmlformats.org/drawingml/2006/main">
              <a:ext uri="{FF2B5EF4-FFF2-40B4-BE49-F238E27FC236}">
                <a16:creationId xmlns:a16="http://schemas.microsoft.com/office/drawing/2014/main" id="{245E5BAB-19CB-4AE3-B81B-59F8217F00E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Repository 밖의 환경도 결과에 영향을 준다">
            <a:extLst xmlns:a="http://schemas.openxmlformats.org/drawingml/2006/main">
              <a:ext uri="{FF2B5EF4-FFF2-40B4-BE49-F238E27FC236}">
                <a16:creationId xmlns:a16="http://schemas.microsoft.com/office/drawing/2014/main" id="{87C6DECE-3A24-4386-9977-B887F7A5D0C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밖의 환경도 결과에 영향을 준다</a:t>
            </a:r>
          </a:p>
        </p:txBody>
      </p:sp>
      <p:sp>
        <p:nvSpPr>
          <p:cNvPr id="4" name="">
            <a:extLst xmlns:a="http://schemas.openxmlformats.org/drawingml/2006/main">
              <a:ext uri="{FF2B5EF4-FFF2-40B4-BE49-F238E27FC236}">
                <a16:creationId xmlns:a16="http://schemas.microsoft.com/office/drawing/2014/main" id="{CF656408-756D-487D-85A0-691B12F22B9B}"/>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3921F25C-32B2-480B-98F8-D3E79505E299}"/>
              </a:ext>
            </a:extLst>
          </p:cNvPr>
          <p:cNvSpPr>
            <a:spLocks xmlns:a="http://schemas.openxmlformats.org/drawingml/2006/main" noGrp="1"/>
          </p:cNvSpPr>
          <p:nvPr/>
        </p:nvSpPr>
        <p:spPr>
          <a:xfrm xmlns:a="http://schemas.openxmlformats.org/drawingml/2006/main">
            <a:off x="609600" y="57721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관찰된 제작 이력의 예고 · Global Skills와 hook/MCP 시작 경고의 기록 존재">
            <a:extLst xmlns:a="http://schemas.openxmlformats.org/drawingml/2006/main">
              <a:ext uri="{FF2B5EF4-FFF2-40B4-BE49-F238E27FC236}">
                <a16:creationId xmlns:a16="http://schemas.microsoft.com/office/drawing/2014/main" id="{FD902FA1-0ACF-4F78-9816-AE23CFB2CFEE}"/>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관찰된 제작 이력의 예고 · Global Skills와 hook/MCP 시작 경고의 기록 존재</a:t>
            </a:r>
          </a:p>
        </p:txBody>
      </p:sp>
      <p:sp>
        <p:nvSpPr>
          <p:cNvPr id="7" name="전체 환경 목록이나 모든 요소의 인과 효과를 확인한 것은 아님 · 상세 근거는 ACT 4에서 확인">
            <a:extLst xmlns:a="http://schemas.openxmlformats.org/drawingml/2006/main">
              <a:ext uri="{FF2B5EF4-FFF2-40B4-BE49-F238E27FC236}">
                <a16:creationId xmlns:a16="http://schemas.microsoft.com/office/drawing/2014/main" id="{4E6A9187-C780-49E5-85EE-C47A232F54B2}"/>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전체 환경 목록이나 모든 요소의 인과 효과를 확인한 것은 아님 · 상세 근거는 ACT 4에서 확인</a:t>
            </a:r>
          </a:p>
        </p:txBody>
      </p:sp>
      <p:sp>
        <p:nvSpPr>
          <p:cNvPr id="8" name="같은 Repository가 같은 실행 환경을 뜻할까?">
            <a:extLst xmlns:a="http://schemas.openxmlformats.org/drawingml/2006/main">
              <a:ext uri="{FF2B5EF4-FFF2-40B4-BE49-F238E27FC236}">
                <a16:creationId xmlns:a16="http://schemas.microsoft.com/office/drawing/2014/main" id="{751BD3C3-CA58-4932-8DD9-7ABE50BCB6EC}"/>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Repository가 같은 실행 환경을 뜻할까?</a:t>
            </a:r>
          </a:p>
        </p:txBody>
      </p:sp>
      <p:sp>
        <p:nvSpPr>
          <p:cNvPr id="9" name="">
            <a:extLst xmlns:a="http://schemas.openxmlformats.org/drawingml/2006/main">
              <a:ext uri="{FF2B5EF4-FFF2-40B4-BE49-F238E27FC236}">
                <a16:creationId xmlns:a16="http://schemas.microsoft.com/office/drawing/2014/main" id="{0FA36A80-3FC3-41A8-95AE-0C6D58EA2B7D}"/>
              </a:ext>
            </a:extLst>
          </p:cNvPr>
          <p:cNvSpPr>
            <a:spLocks xmlns:a="http://schemas.openxmlformats.org/drawingml/2006/main" noGrp="1"/>
          </p:cNvSpPr>
          <p:nvPr/>
        </p:nvSpPr>
        <p:spPr>
          <a:xfrm xmlns:a="http://schemas.openxmlformats.org/drawingml/2006/main">
            <a:off x="609600" y="2924175"/>
            <a:ext cx="4476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0" name="Project Repository">
            <a:extLst xmlns:a="http://schemas.openxmlformats.org/drawingml/2006/main">
              <a:ext uri="{FF2B5EF4-FFF2-40B4-BE49-F238E27FC236}">
                <a16:creationId xmlns:a16="http://schemas.microsoft.com/office/drawing/2014/main" id="{5643CC25-C966-4AE1-BD33-BC0F96ABDAFA}"/>
              </a:ext>
            </a:extLst>
          </p:cNvPr>
          <p:cNvSpPr>
            <a:spLocks xmlns:a="http://schemas.openxmlformats.org/drawingml/2006/main" noGrp="1"/>
          </p:cNvSpPr>
          <p:nvPr/>
        </p:nvSpPr>
        <p:spPr>
          <a:xfrm xmlns:a="http://schemas.openxmlformats.org/drawingml/2006/main">
            <a:off x="838200" y="3114675"/>
            <a:ext cx="4019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Project Repository</a:t>
            </a:r>
          </a:p>
        </p:txBody>
      </p:sp>
      <p:sp>
        <p:nvSpPr>
          <p:cNvPr id="11" name="코드 · AGENTS.md&#10;Project docs · Skill">
            <a:extLst xmlns:a="http://schemas.openxmlformats.org/drawingml/2006/main">
              <a:ext uri="{FF2B5EF4-FFF2-40B4-BE49-F238E27FC236}">
                <a16:creationId xmlns:a16="http://schemas.microsoft.com/office/drawing/2014/main" id="{E1FE3CA1-0BC0-4D0D-BD02-264BC0D47870}"/>
              </a:ext>
            </a:extLst>
          </p:cNvPr>
          <p:cNvSpPr>
            <a:spLocks xmlns:a="http://schemas.openxmlformats.org/drawingml/2006/main" noGrp="1"/>
          </p:cNvSpPr>
          <p:nvPr/>
        </p:nvSpPr>
        <p:spPr>
          <a:xfrm xmlns:a="http://schemas.openxmlformats.org/drawingml/2006/main">
            <a:off x="838200" y="3790950"/>
            <a:ext cx="40195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코드 · AGENTS.md</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Project docs · Skill</a:t>
            </a:r>
          </a:p>
        </p:txBody>
      </p:sp>
      <p:sp>
        <p:nvSpPr>
          <p:cNvPr id="12" name="바깥에서 함께 들어올 수 있는 조건">
            <a:extLst xmlns:a="http://schemas.openxmlformats.org/drawingml/2006/main">
              <a:ext uri="{FF2B5EF4-FFF2-40B4-BE49-F238E27FC236}">
                <a16:creationId xmlns:a16="http://schemas.microsoft.com/office/drawing/2014/main" id="{9CF6A16C-AD71-44C3-A425-23A4431AF441}"/>
              </a:ext>
            </a:extLst>
          </p:cNvPr>
          <p:cNvSpPr>
            <a:spLocks xmlns:a="http://schemas.openxmlformats.org/drawingml/2006/main" noGrp="1"/>
          </p:cNvSpPr>
          <p:nvPr/>
        </p:nvSpPr>
        <p:spPr>
          <a:xfrm xmlns:a="http://schemas.openxmlformats.org/drawingml/2006/main">
            <a:off x="6038850" y="2924175"/>
            <a:ext cx="5543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바깥에서 함께 들어올 수 있는 조건</a:t>
            </a:r>
          </a:p>
        </p:txBody>
      </p:sp>
      <p:sp>
        <p:nvSpPr>
          <p:cNvPr id="13" name="">
            <a:extLst xmlns:a="http://schemas.openxmlformats.org/drawingml/2006/main">
              <a:ext uri="{FF2B5EF4-FFF2-40B4-BE49-F238E27FC236}">
                <a16:creationId xmlns:a16="http://schemas.microsoft.com/office/drawing/2014/main" id="{CA9D282E-03E9-41FC-B1EF-D7A50C727F81}"/>
              </a:ext>
            </a:extLst>
          </p:cNvPr>
          <p:cNvSpPr>
            <a:spLocks xmlns:a="http://schemas.openxmlformats.org/drawingml/2006/main" noGrp="1"/>
          </p:cNvSpPr>
          <p:nvPr/>
        </p:nvSpPr>
        <p:spPr>
          <a:xfrm xmlns:a="http://schemas.openxmlformats.org/drawingml/2006/main">
            <a:off x="6038850" y="3495675"/>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지침">
            <a:extLst xmlns:a="http://schemas.openxmlformats.org/drawingml/2006/main">
              <a:ext uri="{FF2B5EF4-FFF2-40B4-BE49-F238E27FC236}">
                <a16:creationId xmlns:a16="http://schemas.microsoft.com/office/drawing/2014/main" id="{6FB9689F-DC0F-47F0-A4C1-786E63D4E907}"/>
              </a:ext>
            </a:extLst>
          </p:cNvPr>
          <p:cNvSpPr>
            <a:spLocks xmlns:a="http://schemas.openxmlformats.org/drawingml/2006/main" noGrp="1"/>
          </p:cNvSpPr>
          <p:nvPr/>
        </p:nvSpPr>
        <p:spPr>
          <a:xfrm xmlns:a="http://schemas.openxmlformats.org/drawingml/2006/main">
            <a:off x="6038850" y="359092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a:t>
            </a:r>
          </a:p>
        </p:txBody>
      </p:sp>
      <p:sp>
        <p:nvSpPr>
          <p:cNvPr id="15" name="Global instructions · Skills">
            <a:extLst xmlns:a="http://schemas.openxmlformats.org/drawingml/2006/main">
              <a:ext uri="{FF2B5EF4-FFF2-40B4-BE49-F238E27FC236}">
                <a16:creationId xmlns:a16="http://schemas.microsoft.com/office/drawing/2014/main" id="{407DED1C-5044-482F-BF5A-47F67C2FF293}"/>
              </a:ext>
            </a:extLst>
          </p:cNvPr>
          <p:cNvSpPr>
            <a:spLocks xmlns:a="http://schemas.openxmlformats.org/drawingml/2006/main" noGrp="1"/>
          </p:cNvSpPr>
          <p:nvPr/>
        </p:nvSpPr>
        <p:spPr>
          <a:xfrm xmlns:a="http://schemas.openxmlformats.org/drawingml/2006/main">
            <a:off x="7572375" y="3590925"/>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Global instructions · Skills</a:t>
            </a:r>
          </a:p>
        </p:txBody>
      </p:sp>
      <p:sp>
        <p:nvSpPr>
          <p:cNvPr id="16" name="">
            <a:extLst xmlns:a="http://schemas.openxmlformats.org/drawingml/2006/main">
              <a:ext uri="{FF2B5EF4-FFF2-40B4-BE49-F238E27FC236}">
                <a16:creationId xmlns:a16="http://schemas.microsoft.com/office/drawing/2014/main" id="{7416987B-2A41-411B-8943-8C16253E9E2D}"/>
              </a:ext>
            </a:extLst>
          </p:cNvPr>
          <p:cNvSpPr>
            <a:spLocks xmlns:a="http://schemas.openxmlformats.org/drawingml/2006/main" noGrp="1"/>
          </p:cNvSpPr>
          <p:nvPr/>
        </p:nvSpPr>
        <p:spPr>
          <a:xfrm xmlns:a="http://schemas.openxmlformats.org/drawingml/2006/main">
            <a:off x="6038850" y="4076700"/>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실행">
            <a:extLst xmlns:a="http://schemas.openxmlformats.org/drawingml/2006/main">
              <a:ext uri="{FF2B5EF4-FFF2-40B4-BE49-F238E27FC236}">
                <a16:creationId xmlns:a16="http://schemas.microsoft.com/office/drawing/2014/main" id="{AC8494F7-1BA6-4F2B-83C0-5A5D256A00A8}"/>
              </a:ext>
            </a:extLst>
          </p:cNvPr>
          <p:cNvSpPr>
            <a:spLocks xmlns:a="http://schemas.openxmlformats.org/drawingml/2006/main" noGrp="1"/>
          </p:cNvSpPr>
          <p:nvPr/>
        </p:nvSpPr>
        <p:spPr>
          <a:xfrm xmlns:a="http://schemas.openxmlformats.org/drawingml/2006/main">
            <a:off x="6038850" y="4171950"/>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실행</a:t>
            </a:r>
          </a:p>
        </p:txBody>
      </p:sp>
      <p:sp>
        <p:nvSpPr>
          <p:cNvPr id="18" name="Model/config · OS/runtime">
            <a:extLst xmlns:a="http://schemas.openxmlformats.org/drawingml/2006/main">
              <a:ext uri="{FF2B5EF4-FFF2-40B4-BE49-F238E27FC236}">
                <a16:creationId xmlns:a16="http://schemas.microsoft.com/office/drawing/2014/main" id="{4ABCA961-B1A4-49DD-B6BA-5A03F4BBDF07}"/>
              </a:ext>
            </a:extLst>
          </p:cNvPr>
          <p:cNvSpPr>
            <a:spLocks xmlns:a="http://schemas.openxmlformats.org/drawingml/2006/main" noGrp="1"/>
          </p:cNvSpPr>
          <p:nvPr/>
        </p:nvSpPr>
        <p:spPr>
          <a:xfrm xmlns:a="http://schemas.openxmlformats.org/drawingml/2006/main">
            <a:off x="7572375" y="4171950"/>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Model/config · OS/runtime</a:t>
            </a:r>
          </a:p>
        </p:txBody>
      </p:sp>
      <p:sp>
        <p:nvSpPr>
          <p:cNvPr id="19" name="">
            <a:extLst xmlns:a="http://schemas.openxmlformats.org/drawingml/2006/main">
              <a:ext uri="{FF2B5EF4-FFF2-40B4-BE49-F238E27FC236}">
                <a16:creationId xmlns:a16="http://schemas.microsoft.com/office/drawing/2014/main" id="{9F2E915A-1234-4B56-8699-DFBCF7BA0003}"/>
              </a:ext>
            </a:extLst>
          </p:cNvPr>
          <p:cNvSpPr>
            <a:spLocks xmlns:a="http://schemas.openxmlformats.org/drawingml/2006/main" noGrp="1"/>
          </p:cNvSpPr>
          <p:nvPr/>
        </p:nvSpPr>
        <p:spPr>
          <a:xfrm xmlns:a="http://schemas.openxmlformats.org/drawingml/2006/main">
            <a:off x="6038850" y="4657725"/>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도구와 권한">
            <a:extLst xmlns:a="http://schemas.openxmlformats.org/drawingml/2006/main">
              <a:ext uri="{FF2B5EF4-FFF2-40B4-BE49-F238E27FC236}">
                <a16:creationId xmlns:a16="http://schemas.microsoft.com/office/drawing/2014/main" id="{766D7745-5AAC-403E-8349-321A547E799B}"/>
              </a:ext>
            </a:extLst>
          </p:cNvPr>
          <p:cNvSpPr>
            <a:spLocks xmlns:a="http://schemas.openxmlformats.org/drawingml/2006/main" noGrp="1"/>
          </p:cNvSpPr>
          <p:nvPr/>
        </p:nvSpPr>
        <p:spPr>
          <a:xfrm xmlns:a="http://schemas.openxmlformats.org/drawingml/2006/main">
            <a:off x="6038850" y="475297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도구와 권한</a:t>
            </a:r>
          </a:p>
        </p:txBody>
      </p:sp>
      <p:sp>
        <p:nvSpPr>
          <p:cNvPr id="21" name="Hooks · MCP · Permissions">
            <a:extLst xmlns:a="http://schemas.openxmlformats.org/drawingml/2006/main">
              <a:ext uri="{FF2B5EF4-FFF2-40B4-BE49-F238E27FC236}">
                <a16:creationId xmlns:a16="http://schemas.microsoft.com/office/drawing/2014/main" id="{14A03AE3-66B9-49A7-A38B-DB5CA24FE252}"/>
              </a:ext>
            </a:extLst>
          </p:cNvPr>
          <p:cNvSpPr>
            <a:spLocks xmlns:a="http://schemas.openxmlformats.org/drawingml/2006/main" noGrp="1"/>
          </p:cNvSpPr>
          <p:nvPr/>
        </p:nvSpPr>
        <p:spPr>
          <a:xfrm xmlns:a="http://schemas.openxmlformats.org/drawingml/2006/main">
            <a:off x="7572375" y="4752975"/>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Hooks · MCP · Permissions</a:t>
            </a:r>
          </a:p>
        </p:txBody>
      </p:sp>
      <p:sp>
        <p:nvSpPr>
          <p:cNvPr id="22" name="Repository 바깥의 흔적도, 결과를 해석할 때 기록한다">
            <a:extLst xmlns:a="http://schemas.openxmlformats.org/drawingml/2006/main">
              <a:ext uri="{FF2B5EF4-FFF2-40B4-BE49-F238E27FC236}">
                <a16:creationId xmlns:a16="http://schemas.microsoft.com/office/drawing/2014/main" id="{7FED6EF3-BA6B-4B5C-B5D1-21DCBDAF8CD1}"/>
              </a:ext>
            </a:extLst>
          </p:cNvPr>
          <p:cNvSpPr>
            <a:spLocks xmlns:a="http://schemas.openxmlformats.org/drawingml/2006/main" noGrp="1"/>
          </p:cNvSpPr>
          <p:nvPr/>
        </p:nvSpPr>
        <p:spPr>
          <a:xfrm xmlns:a="http://schemas.openxmlformats.org/drawingml/2006/main">
            <a:off x="609600" y="52673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바깥의 흔적도, 결과를 해석할 때 기록한다</a:t>
            </a:r>
          </a:p>
        </p:txBody>
      </p:sp>
    </p:spTree>
    <p:extLst>
      <p:ext uri="{BB962C8B-B14F-4D97-AF65-F5344CB8AC3E}">
        <p14:creationId xmlns:p14="http://schemas.microsoft.com/office/powerpoint/2010/main" val="1091133989"/>
      </p:ext>
    </p:extLst>
  </p:cSld>
</p:sld>
</file>

<file path=ppt/slides/slide5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도구를 넘어 같은 판단을 적용하기">
            <a:extLst xmlns:a="http://schemas.openxmlformats.org/drawingml/2006/main">
              <a:ext uri="{FF2B5EF4-FFF2-40B4-BE49-F238E27FC236}">
                <a16:creationId xmlns:a16="http://schemas.microsoft.com/office/drawing/2014/main" id="{E2B25DAB-500E-41E8-9B44-DBD264D872F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도구를 넘어 같은 판단을 적용하기</a:t>
            </a:r>
          </a:p>
        </p:txBody>
      </p:sp>
      <p:sp>
        <p:nvSpPr>
          <p:cNvPr id="2" name="S53">
            <a:extLst xmlns:a="http://schemas.openxmlformats.org/drawingml/2006/main">
              <a:ext uri="{FF2B5EF4-FFF2-40B4-BE49-F238E27FC236}">
                <a16:creationId xmlns:a16="http://schemas.microsoft.com/office/drawing/2014/main" id="{EF263C31-15FF-48B4-902B-EB9F4FB234D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Engineering Pattern은 C++에도 전이된다">
            <a:extLst xmlns:a="http://schemas.openxmlformats.org/drawingml/2006/main">
              <a:ext uri="{FF2B5EF4-FFF2-40B4-BE49-F238E27FC236}">
                <a16:creationId xmlns:a16="http://schemas.microsoft.com/office/drawing/2014/main" id="{15F86CDD-FB61-451E-84E4-9280C5C8B6F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Engineering Pattern은 C++에도 전이된다</a:t>
            </a:r>
          </a:p>
        </p:txBody>
      </p:sp>
      <p:sp>
        <p:nvSpPr>
          <p:cNvPr id="4" name="">
            <a:extLst xmlns:a="http://schemas.openxmlformats.org/drawingml/2006/main">
              <a:ext uri="{FF2B5EF4-FFF2-40B4-BE49-F238E27FC236}">
                <a16:creationId xmlns:a16="http://schemas.microsoft.com/office/drawing/2014/main" id="{1278E3A2-4E6F-435D-B22B-A7B5430F4A72}"/>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 Vision 전이를 위한 교육용 예시 · 실제 C++ Demo나 팀 표준 검증 결과가 아님">
            <a:extLst xmlns:a="http://schemas.openxmlformats.org/drawingml/2006/main">
              <a:ext uri="{FF2B5EF4-FFF2-40B4-BE49-F238E27FC236}">
                <a16:creationId xmlns:a16="http://schemas.microsoft.com/office/drawing/2014/main" id="{925A5177-084B-429C-9517-69A3A7B97515}"/>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C++ Vision 전이를 위한 교육용 예시 · 실제 C++ Demo나 팀 표준 검증 결과가 아님</a:t>
            </a:r>
          </a:p>
        </p:txBody>
      </p:sp>
      <p:sp>
        <p:nvSpPr>
          <p:cNvPr id="6" name="구체적 빌드·IDE·셸·하드웨어 설정은 프로젝트별 확인 필요">
            <a:extLst xmlns:a="http://schemas.openxmlformats.org/drawingml/2006/main">
              <a:ext uri="{FF2B5EF4-FFF2-40B4-BE49-F238E27FC236}">
                <a16:creationId xmlns:a16="http://schemas.microsoft.com/office/drawing/2014/main" id="{06A0C7D1-CFB6-495A-A495-DE64B328DE05}"/>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구체적 빌드·IDE·셸·하드웨어 설정은 프로젝트별 확인 필요</a:t>
            </a:r>
          </a:p>
        </p:txBody>
      </p:sp>
      <p:sp>
        <p:nvSpPr>
          <p:cNvPr id="7" name="C++ Vision 성능 문제에서도 같은 질문을 한다">
            <a:extLst xmlns:a="http://schemas.openxmlformats.org/drawingml/2006/main">
              <a:ext uri="{FF2B5EF4-FFF2-40B4-BE49-F238E27FC236}">
                <a16:creationId xmlns:a16="http://schemas.microsoft.com/office/drawing/2014/main" id="{E8B44A8E-CC35-4321-A474-EA1BE9D4340E}"/>
              </a:ext>
            </a:extLst>
          </p:cNvPr>
          <p:cNvSpPr>
            <a:spLocks xmlns:a="http://schemas.openxmlformats.org/drawingml/2006/main" noGrp="1"/>
          </p:cNvSpPr>
          <p:nvPr/>
        </p:nvSpPr>
        <p:spPr>
          <a:xfrm xmlns:a="http://schemas.openxmlformats.org/drawingml/2006/main">
            <a:off x="609600" y="2133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C++ Vision 성능 문제에서도 같은 질문을 한다</a:t>
            </a:r>
          </a:p>
        </p:txBody>
      </p:sp>
      <p:sp>
        <p:nvSpPr>
          <p:cNvPr id="8" name="공통 질문">
            <a:extLst xmlns:a="http://schemas.openxmlformats.org/drawingml/2006/main">
              <a:ext uri="{FF2B5EF4-FFF2-40B4-BE49-F238E27FC236}">
                <a16:creationId xmlns:a16="http://schemas.microsoft.com/office/drawing/2014/main" id="{34958E92-9D0D-4BB1-95C8-B22BB15D2052}"/>
              </a:ext>
            </a:extLst>
          </p:cNvPr>
          <p:cNvSpPr>
            <a:spLocks xmlns:a="http://schemas.openxmlformats.org/drawingml/2006/main" noGrp="1"/>
          </p:cNvSpPr>
          <p:nvPr/>
        </p:nvSpPr>
        <p:spPr>
          <a:xfrm xmlns:a="http://schemas.openxmlformats.org/drawingml/2006/main">
            <a:off x="609600" y="2800350"/>
            <a:ext cx="200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공통 질문</a:t>
            </a:r>
          </a:p>
        </p:txBody>
      </p:sp>
      <p:sp>
        <p:nvSpPr>
          <p:cNvPr id="9" name="Python Demo">
            <a:extLst xmlns:a="http://schemas.openxmlformats.org/drawingml/2006/main">
              <a:ext uri="{FF2B5EF4-FFF2-40B4-BE49-F238E27FC236}">
                <a16:creationId xmlns:a16="http://schemas.microsoft.com/office/drawing/2014/main" id="{DB1AEF79-A270-457D-ABE6-EA8AD65A65E4}"/>
              </a:ext>
            </a:extLst>
          </p:cNvPr>
          <p:cNvSpPr>
            <a:spLocks xmlns:a="http://schemas.openxmlformats.org/drawingml/2006/main" noGrp="1"/>
          </p:cNvSpPr>
          <p:nvPr/>
        </p:nvSpPr>
        <p:spPr>
          <a:xfrm xmlns:a="http://schemas.openxmlformats.org/drawingml/2006/main">
            <a:off x="3181350" y="2800350"/>
            <a:ext cx="35718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Python Demo</a:t>
            </a:r>
          </a:p>
        </p:txBody>
      </p:sp>
      <p:sp>
        <p:nvSpPr>
          <p:cNvPr id="10" name="C++ Vision 적용 예">
            <a:extLst xmlns:a="http://schemas.openxmlformats.org/drawingml/2006/main">
              <a:ext uri="{FF2B5EF4-FFF2-40B4-BE49-F238E27FC236}">
                <a16:creationId xmlns:a16="http://schemas.microsoft.com/office/drawing/2014/main" id="{EFB38CFB-1AC5-4416-A417-E9819BC8FF15}"/>
              </a:ext>
            </a:extLst>
          </p:cNvPr>
          <p:cNvSpPr>
            <a:spLocks xmlns:a="http://schemas.openxmlformats.org/drawingml/2006/main" noGrp="1"/>
          </p:cNvSpPr>
          <p:nvPr/>
        </p:nvSpPr>
        <p:spPr>
          <a:xfrm xmlns:a="http://schemas.openxmlformats.org/drawingml/2006/main">
            <a:off x="7239000" y="2800350"/>
            <a:ext cx="4343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C++ Vision 적용 예</a:t>
            </a:r>
          </a:p>
        </p:txBody>
      </p:sp>
      <p:sp>
        <p:nvSpPr>
          <p:cNvPr id="11" name="">
            <a:extLst xmlns:a="http://schemas.openxmlformats.org/drawingml/2006/main">
              <a:ext uri="{FF2B5EF4-FFF2-40B4-BE49-F238E27FC236}">
                <a16:creationId xmlns:a16="http://schemas.microsoft.com/office/drawing/2014/main" id="{C2528F5F-E5AC-4917-BEA7-4D2A6B44B544}"/>
              </a:ext>
            </a:extLst>
          </p:cNvPr>
          <p:cNvSpPr>
            <a:spLocks xmlns:a="http://schemas.openxmlformats.org/drawingml/2006/main" noGrp="1"/>
          </p:cNvSpPr>
          <p:nvPr/>
        </p:nvSpPr>
        <p:spPr>
          <a:xfrm xmlns:a="http://schemas.openxmlformats.org/drawingml/2006/main">
            <a:off x="609600" y="32575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기준 조건은?">
            <a:extLst xmlns:a="http://schemas.openxmlformats.org/drawingml/2006/main">
              <a:ext uri="{FF2B5EF4-FFF2-40B4-BE49-F238E27FC236}">
                <a16:creationId xmlns:a16="http://schemas.microsoft.com/office/drawing/2014/main" id="{1FCB8DA2-D111-4351-B69D-C693D9178875}"/>
              </a:ext>
            </a:extLst>
          </p:cNvPr>
          <p:cNvSpPr>
            <a:spLocks xmlns:a="http://schemas.openxmlformats.org/drawingml/2006/main" noGrp="1"/>
          </p:cNvSpPr>
          <p:nvPr/>
        </p:nvSpPr>
        <p:spPr>
          <a:xfrm xmlns:a="http://schemas.openxmlformats.org/drawingml/2006/main">
            <a:off x="609600" y="3362325"/>
            <a:ext cx="23336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기준 조건은?</a:t>
            </a:r>
          </a:p>
        </p:txBody>
      </p:sp>
      <p:sp>
        <p:nvSpPr>
          <p:cNvPr id="13" name="입력 · Project 계약">
            <a:extLst xmlns:a="http://schemas.openxmlformats.org/drawingml/2006/main">
              <a:ext uri="{FF2B5EF4-FFF2-40B4-BE49-F238E27FC236}">
                <a16:creationId xmlns:a16="http://schemas.microsoft.com/office/drawing/2014/main" id="{AD01DDE3-CF86-41EE-AC08-07D7C9F4F687}"/>
              </a:ext>
            </a:extLst>
          </p:cNvPr>
          <p:cNvSpPr>
            <a:spLocks xmlns:a="http://schemas.openxmlformats.org/drawingml/2006/main" noGrp="1"/>
          </p:cNvSpPr>
          <p:nvPr/>
        </p:nvSpPr>
        <p:spPr>
          <a:xfrm xmlns:a="http://schemas.openxmlformats.org/drawingml/2006/main">
            <a:off x="3181350" y="3362325"/>
            <a:ext cx="38576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 Project 계약</a:t>
            </a:r>
          </a:p>
        </p:txBody>
      </p:sp>
      <p:sp>
        <p:nvSpPr>
          <p:cNvPr id="14" name="빌드 모드 · 알고리즘·하드웨어 조건">
            <a:extLst xmlns:a="http://schemas.openxmlformats.org/drawingml/2006/main">
              <a:ext uri="{FF2B5EF4-FFF2-40B4-BE49-F238E27FC236}">
                <a16:creationId xmlns:a16="http://schemas.microsoft.com/office/drawing/2014/main" id="{63E2D92A-A5B1-47F8-85C7-16DD022C5CC9}"/>
              </a:ext>
            </a:extLst>
          </p:cNvPr>
          <p:cNvSpPr>
            <a:spLocks xmlns:a="http://schemas.openxmlformats.org/drawingml/2006/main" noGrp="1"/>
          </p:cNvSpPr>
          <p:nvPr/>
        </p:nvSpPr>
        <p:spPr>
          <a:xfrm xmlns:a="http://schemas.openxmlformats.org/drawingml/2006/main">
            <a:off x="7239000" y="3362325"/>
            <a:ext cx="4343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빌드 모드 · 알고리즘·하드웨어 조건</a:t>
            </a:r>
          </a:p>
        </p:txBody>
      </p:sp>
      <p:sp>
        <p:nvSpPr>
          <p:cNvPr id="15" name="">
            <a:extLst xmlns:a="http://schemas.openxmlformats.org/drawingml/2006/main">
              <a:ext uri="{FF2B5EF4-FFF2-40B4-BE49-F238E27FC236}">
                <a16:creationId xmlns:a16="http://schemas.microsoft.com/office/drawing/2014/main" id="{CC1BFAAA-3186-4140-88F3-81B7870DAC1F}"/>
              </a:ext>
            </a:extLst>
          </p:cNvPr>
          <p:cNvSpPr>
            <a:spLocks xmlns:a="http://schemas.openxmlformats.org/drawingml/2006/main" noGrp="1"/>
          </p:cNvSpPr>
          <p:nvPr/>
        </p:nvSpPr>
        <p:spPr>
          <a:xfrm xmlns:a="http://schemas.openxmlformats.org/drawingml/2006/main">
            <a:off x="609600" y="3876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어디를 조사할까?">
            <a:extLst xmlns:a="http://schemas.openxmlformats.org/drawingml/2006/main">
              <a:ext uri="{FF2B5EF4-FFF2-40B4-BE49-F238E27FC236}">
                <a16:creationId xmlns:a16="http://schemas.microsoft.com/office/drawing/2014/main" id="{ED1A18D1-63A0-4A67-A9D1-4093388E87F1}"/>
              </a:ext>
            </a:extLst>
          </p:cNvPr>
          <p:cNvSpPr>
            <a:spLocks xmlns:a="http://schemas.openxmlformats.org/drawingml/2006/main" noGrp="1"/>
          </p:cNvSpPr>
          <p:nvPr/>
        </p:nvSpPr>
        <p:spPr>
          <a:xfrm xmlns:a="http://schemas.openxmlformats.org/drawingml/2006/main">
            <a:off x="609600" y="3981450"/>
            <a:ext cx="23336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어디를 조사할까?</a:t>
            </a:r>
          </a:p>
        </p:txBody>
      </p:sp>
      <p:sp>
        <p:nvSpPr>
          <p:cNvPr id="17" name="측정한 Python 코드 경로">
            <a:extLst xmlns:a="http://schemas.openxmlformats.org/drawingml/2006/main">
              <a:ext uri="{FF2B5EF4-FFF2-40B4-BE49-F238E27FC236}">
                <a16:creationId xmlns:a16="http://schemas.microsoft.com/office/drawing/2014/main" id="{02AC0341-B3EB-4E12-8F90-EE2E420B70F1}"/>
              </a:ext>
            </a:extLst>
          </p:cNvPr>
          <p:cNvSpPr>
            <a:spLocks xmlns:a="http://schemas.openxmlformats.org/drawingml/2006/main" noGrp="1"/>
          </p:cNvSpPr>
          <p:nvPr/>
        </p:nvSpPr>
        <p:spPr>
          <a:xfrm xmlns:a="http://schemas.openxmlformats.org/drawingml/2006/main">
            <a:off x="3181350" y="3981450"/>
            <a:ext cx="38576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Python 코드 경로</a:t>
            </a:r>
          </a:p>
        </p:txBody>
      </p:sp>
      <p:sp>
        <p:nvSpPr>
          <p:cNvPr id="18" name="해당 모듈의 profiler / benchmark">
            <a:extLst xmlns:a="http://schemas.openxmlformats.org/drawingml/2006/main">
              <a:ext uri="{FF2B5EF4-FFF2-40B4-BE49-F238E27FC236}">
                <a16:creationId xmlns:a16="http://schemas.microsoft.com/office/drawing/2014/main" id="{F5E975D7-CA63-4169-A262-7DD6E6BC4580}"/>
              </a:ext>
            </a:extLst>
          </p:cNvPr>
          <p:cNvSpPr>
            <a:spLocks xmlns:a="http://schemas.openxmlformats.org/drawingml/2006/main" noGrp="1"/>
          </p:cNvSpPr>
          <p:nvPr/>
        </p:nvSpPr>
        <p:spPr>
          <a:xfrm xmlns:a="http://schemas.openxmlformats.org/drawingml/2006/main">
            <a:off x="7239000" y="3981450"/>
            <a:ext cx="4343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해당 모듈의 profiler / benchmark</a:t>
            </a:r>
          </a:p>
        </p:txBody>
      </p:sp>
      <p:sp>
        <p:nvSpPr>
          <p:cNvPr id="19" name="">
            <a:extLst xmlns:a="http://schemas.openxmlformats.org/drawingml/2006/main">
              <a:ext uri="{FF2B5EF4-FFF2-40B4-BE49-F238E27FC236}">
                <a16:creationId xmlns:a16="http://schemas.microsoft.com/office/drawing/2014/main" id="{25D86A3B-1F7F-4394-9C7E-227DB3D998D5}"/>
              </a:ext>
            </a:extLst>
          </p:cNvPr>
          <p:cNvSpPr>
            <a:spLocks xmlns:a="http://schemas.openxmlformats.org/drawingml/2006/main" noGrp="1"/>
          </p:cNvSpPr>
          <p:nvPr/>
        </p:nvSpPr>
        <p:spPr>
          <a:xfrm xmlns:a="http://schemas.openxmlformats.org/drawingml/2006/main">
            <a:off x="609600" y="4495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무엇을 확인할까?">
            <a:extLst xmlns:a="http://schemas.openxmlformats.org/drawingml/2006/main">
              <a:ext uri="{FF2B5EF4-FFF2-40B4-BE49-F238E27FC236}">
                <a16:creationId xmlns:a16="http://schemas.microsoft.com/office/drawing/2014/main" id="{B99921FA-D072-4044-A17A-6169ABBD5304}"/>
              </a:ext>
            </a:extLst>
          </p:cNvPr>
          <p:cNvSpPr>
            <a:spLocks xmlns:a="http://schemas.openxmlformats.org/drawingml/2006/main" noGrp="1"/>
          </p:cNvSpPr>
          <p:nvPr/>
        </p:nvSpPr>
        <p:spPr>
          <a:xfrm xmlns:a="http://schemas.openxmlformats.org/drawingml/2006/main">
            <a:off x="609600" y="4600575"/>
            <a:ext cx="23336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무엇을 확인할까?</a:t>
            </a:r>
          </a:p>
        </p:txBody>
      </p:sp>
      <p:sp>
        <p:nvSpPr>
          <p:cNvPr id="21" name="동작 계약 · unittest">
            <a:extLst xmlns:a="http://schemas.openxmlformats.org/drawingml/2006/main">
              <a:ext uri="{FF2B5EF4-FFF2-40B4-BE49-F238E27FC236}">
                <a16:creationId xmlns:a16="http://schemas.microsoft.com/office/drawing/2014/main" id="{3F9BBB43-2E8F-421F-B3BE-CBAF6043FF37}"/>
              </a:ext>
            </a:extLst>
          </p:cNvPr>
          <p:cNvSpPr>
            <a:spLocks xmlns:a="http://schemas.openxmlformats.org/drawingml/2006/main" noGrp="1"/>
          </p:cNvSpPr>
          <p:nvPr/>
        </p:nvSpPr>
        <p:spPr>
          <a:xfrm xmlns:a="http://schemas.openxmlformats.org/drawingml/2006/main">
            <a:off x="3181350" y="4600575"/>
            <a:ext cx="38576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계약 · unittest</a:t>
            </a:r>
          </a:p>
        </p:txBody>
      </p:sp>
      <p:sp>
        <p:nvSpPr>
          <p:cNvPr id="22" name="모듈 계약 · 회귀/통합 테스트">
            <a:extLst xmlns:a="http://schemas.openxmlformats.org/drawingml/2006/main">
              <a:ext uri="{FF2B5EF4-FFF2-40B4-BE49-F238E27FC236}">
                <a16:creationId xmlns:a16="http://schemas.microsoft.com/office/drawing/2014/main" id="{47416E0A-BDBB-4398-972A-911EF4FDC2A5}"/>
              </a:ext>
            </a:extLst>
          </p:cNvPr>
          <p:cNvSpPr>
            <a:spLocks xmlns:a="http://schemas.openxmlformats.org/drawingml/2006/main" noGrp="1"/>
          </p:cNvSpPr>
          <p:nvPr/>
        </p:nvSpPr>
        <p:spPr>
          <a:xfrm xmlns:a="http://schemas.openxmlformats.org/drawingml/2006/main">
            <a:off x="7239000" y="4600575"/>
            <a:ext cx="4343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모듈 계약 · 회귀/통합 테스트</a:t>
            </a:r>
          </a:p>
        </p:txBody>
      </p:sp>
      <p:sp>
        <p:nvSpPr>
          <p:cNvPr id="23" name="baseline → profile → change → regression check">
            <a:extLst xmlns:a="http://schemas.openxmlformats.org/drawingml/2006/main">
              <a:ext uri="{FF2B5EF4-FFF2-40B4-BE49-F238E27FC236}">
                <a16:creationId xmlns:a16="http://schemas.microsoft.com/office/drawing/2014/main" id="{2A991F46-EDC1-461F-9CE0-F8CB468761B8}"/>
              </a:ext>
            </a:extLst>
          </p:cNvPr>
          <p:cNvSpPr>
            <a:spLocks xmlns:a="http://schemas.openxmlformats.org/drawingml/2006/main" noGrp="1"/>
          </p:cNvSpPr>
          <p:nvPr/>
        </p:nvSpPr>
        <p:spPr>
          <a:xfrm xmlns:a="http://schemas.openxmlformats.org/drawingml/2006/main">
            <a:off x="609600" y="524827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Consolas"/>
                <a:ea typeface="Consolas"/>
                <a:cs typeface="Consolas"/>
              </a:defRPr>
            </a:defPPr>
            <a:lvl1pPr algn="l">
              <a:defRPr sz="2250" b="1">
                <a:solidFill>
                  <a:srgbClr val="0B6172"/>
                </a:solidFill>
                <a:latin typeface="Consolas"/>
                <a:ea typeface="Consolas"/>
                <a:cs typeface="Consolas"/>
              </a:defRPr>
            </a:lvl1pPr>
            <a:lvl2pPr algn="l">
              <a:defRPr sz="2250" b="1">
                <a:solidFill>
                  <a:srgbClr val="0B6172"/>
                </a:solidFill>
                <a:latin typeface="Consolas"/>
                <a:ea typeface="Consolas"/>
                <a:cs typeface="Consolas"/>
              </a:defRPr>
            </a:lvl2pPr>
            <a:lvl3pPr algn="l">
              <a:defRPr sz="2250" b="1">
                <a:solidFill>
                  <a:srgbClr val="0B6172"/>
                </a:solidFill>
                <a:latin typeface="Consolas"/>
                <a:ea typeface="Consolas"/>
                <a:cs typeface="Consolas"/>
              </a:defRPr>
            </a:lvl3pPr>
            <a:lvl4pPr algn="l">
              <a:defRPr sz="2250" b="1">
                <a:solidFill>
                  <a:srgbClr val="0B6172"/>
                </a:solidFill>
                <a:latin typeface="Consolas"/>
                <a:ea typeface="Consolas"/>
                <a:cs typeface="Consolas"/>
              </a:defRPr>
            </a:lvl4pPr>
            <a:lvl5pPr algn="l">
              <a:defRPr sz="2250" b="1">
                <a:solidFill>
                  <a:srgbClr val="0B6172"/>
                </a:solidFill>
                <a:latin typeface="Consolas"/>
                <a:ea typeface="Consolas"/>
                <a:cs typeface="Consolas"/>
              </a:defRPr>
            </a:lvl5pPr>
            <a:lvl6pPr algn="l">
              <a:defRPr sz="2250" b="1">
                <a:solidFill>
                  <a:srgbClr val="0B6172"/>
                </a:solidFill>
                <a:latin typeface="Consolas"/>
                <a:ea typeface="Consolas"/>
                <a:cs typeface="Consolas"/>
              </a:defRPr>
            </a:lvl6pPr>
            <a:lvl7pPr algn="l">
              <a:defRPr sz="2250" b="1">
                <a:solidFill>
                  <a:srgbClr val="0B6172"/>
                </a:solidFill>
                <a:latin typeface="Consolas"/>
                <a:ea typeface="Consolas"/>
                <a:cs typeface="Consolas"/>
              </a:defRPr>
            </a:lvl7pPr>
            <a:lvl8pPr algn="l">
              <a:defRPr sz="2250" b="1">
                <a:solidFill>
                  <a:srgbClr val="0B6172"/>
                </a:solidFill>
                <a:latin typeface="Consolas"/>
                <a:ea typeface="Consolas"/>
                <a:cs typeface="Consolas"/>
              </a:defRPr>
            </a:lvl8pPr>
            <a:lvl9pPr algn="l">
              <a:defRPr sz="2250" b="1">
                <a:solidFill>
                  <a:srgbClr val="0B6172"/>
                </a:solidFill>
                <a:latin typeface="Consolas"/>
                <a:ea typeface="Consolas"/>
                <a:cs typeface="Consolas"/>
              </a:defRPr>
            </a:lvl9pPr>
          </a:lstStyle>
          <a:p xmlns:a="http://schemas.openxmlformats.org/drawingml/2006/main">
            <a:pPr algn="l">
              <a:defRPr sz="2250" b="1">
                <a:solidFill>
                  <a:srgbClr val="0B6172"/>
                </a:solidFill>
                <a:latin typeface="Consolas"/>
                <a:ea typeface="Consolas"/>
                <a:cs typeface="Consolas"/>
              </a:defRPr>
            </a:pPr>
            <a:r>
              <a:rPr sz="2250" b="1">
                <a:solidFill>
                  <a:srgbClr val="0B6172"/>
                </a:solidFill>
                <a:latin typeface="Consolas"/>
                <a:ea typeface="Consolas"/>
                <a:cs typeface="Consolas"/>
              </a:rPr>
              <a:t>baseline → profile → change → regression check</a:t>
            </a:r>
          </a:p>
        </p:txBody>
      </p:sp>
    </p:spTree>
    <p:extLst>
      <p:ext uri="{BB962C8B-B14F-4D97-AF65-F5344CB8AC3E}">
        <p14:creationId xmlns:p14="http://schemas.microsoft.com/office/powerpoint/2010/main" val="1232292774"/>
      </p:ext>
    </p:extLst>
  </p:cSld>
</p:sld>
</file>

<file path=ppt/slides/slide5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3 · 내 업무의 반복을 돌아보기">
            <a:extLst xmlns:a="http://schemas.openxmlformats.org/drawingml/2006/main">
              <a:ext uri="{FF2B5EF4-FFF2-40B4-BE49-F238E27FC236}">
                <a16:creationId xmlns:a16="http://schemas.microsoft.com/office/drawing/2014/main" id="{7D9A9FE0-2B6E-4895-A7F3-6890C6E750D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내 업무의 반복을 돌아보기</a:t>
            </a:r>
          </a:p>
        </p:txBody>
      </p:sp>
      <p:sp>
        <p:nvSpPr>
          <p:cNvPr id="2" name="S54">
            <a:extLst xmlns:a="http://schemas.openxmlformats.org/drawingml/2006/main">
              <a:ext uri="{FF2B5EF4-FFF2-40B4-BE49-F238E27FC236}">
                <a16:creationId xmlns:a16="http://schemas.microsoft.com/office/drawing/2014/main" id="{864272EA-710F-4ABF-8E91-914A71F145F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필요한 구조부터 질문하기">
            <a:extLst xmlns:a="http://schemas.openxmlformats.org/drawingml/2006/main">
              <a:ext uri="{FF2B5EF4-FFF2-40B4-BE49-F238E27FC236}">
                <a16:creationId xmlns:a16="http://schemas.microsoft.com/office/drawing/2014/main" id="{FF937EC3-402C-4B64-A10E-8FE7518E268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구조부터 질문하기</a:t>
            </a:r>
          </a:p>
        </p:txBody>
      </p:sp>
      <p:sp>
        <p:nvSpPr>
          <p:cNvPr id="4" name="">
            <a:extLst xmlns:a="http://schemas.openxmlformats.org/drawingml/2006/main">
              <a:ext uri="{FF2B5EF4-FFF2-40B4-BE49-F238E27FC236}">
                <a16:creationId xmlns:a16="http://schemas.microsoft.com/office/drawing/2014/main" id="{5CDFADA1-9659-49C3-969C-B2FB32732C4A}"/>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자신의 업무를 생각해보기 · 공유는 선택">
            <a:extLst xmlns:a="http://schemas.openxmlformats.org/drawingml/2006/main">
              <a:ext uri="{FF2B5EF4-FFF2-40B4-BE49-F238E27FC236}">
                <a16:creationId xmlns:a16="http://schemas.microsoft.com/office/drawing/2014/main" id="{CF12E8EF-787C-4593-895E-E50BCFE93A4F}"/>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자신의 업무를 생각해보기 · 공유는 선택</a:t>
            </a:r>
          </a:p>
        </p:txBody>
      </p:sp>
      <p:sp>
        <p:nvSpPr>
          <p:cNvPr id="6" name="STATE-04-PERF는 이 작업에서 잘 동작한 결과 · Subagent와 Memory는 조건부 선택">
            <a:extLst xmlns:a="http://schemas.openxmlformats.org/drawingml/2006/main">
              <a:ext uri="{FF2B5EF4-FFF2-40B4-BE49-F238E27FC236}">
                <a16:creationId xmlns:a16="http://schemas.microsoft.com/office/drawing/2014/main" id="{40767608-F1FA-414F-AA78-164EFF6A5AC6}"/>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STATE-04-PERF는 이 작업에서 잘 동작한 결과 · Subagent와 Memory는 조건부 선택</a:t>
            </a:r>
          </a:p>
        </p:txBody>
      </p:sp>
      <p:sp>
        <p:nvSpPr>
          <p:cNvPr id="7" name="내 업무에서 가장 자주 반복하는 설명은?">
            <a:extLst xmlns:a="http://schemas.openxmlformats.org/drawingml/2006/main">
              <a:ext uri="{FF2B5EF4-FFF2-40B4-BE49-F238E27FC236}">
                <a16:creationId xmlns:a16="http://schemas.microsoft.com/office/drawing/2014/main" id="{C0F1A0D3-9FD5-4FFD-90CD-2B799A4A5B32}"/>
              </a:ext>
            </a:extLst>
          </p:cNvPr>
          <p:cNvSpPr>
            <a:spLocks xmlns:a="http://schemas.openxmlformats.org/drawingml/2006/main" noGrp="1"/>
          </p:cNvSpPr>
          <p:nvPr/>
        </p:nvSpPr>
        <p:spPr>
          <a:xfrm xmlns:a="http://schemas.openxmlformats.org/drawingml/2006/main">
            <a:off x="609600" y="219075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내 업무에서 가장 자주 반복하는 설명은?</a:t>
            </a:r>
          </a:p>
        </p:txBody>
      </p:sp>
      <p:sp>
        <p:nvSpPr>
          <p:cNvPr id="8" name="“우리 프로젝트의 제약은…”">
            <a:extLst xmlns:a="http://schemas.openxmlformats.org/drawingml/2006/main">
              <a:ext uri="{FF2B5EF4-FFF2-40B4-BE49-F238E27FC236}">
                <a16:creationId xmlns:a16="http://schemas.microsoft.com/office/drawing/2014/main" id="{25A8C0FC-95FC-4F59-A2A7-84FF485A53FF}"/>
              </a:ext>
            </a:extLst>
          </p:cNvPr>
          <p:cNvSpPr>
            <a:spLocks xmlns:a="http://schemas.openxmlformats.org/drawingml/2006/main" noGrp="1"/>
          </p:cNvSpPr>
          <p:nvPr/>
        </p:nvSpPr>
        <p:spPr>
          <a:xfrm xmlns:a="http://schemas.openxmlformats.org/drawingml/2006/main">
            <a:off x="609600" y="3114675"/>
            <a:ext cx="5238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“우리 프로젝트의 제약은…”</a:t>
            </a:r>
          </a:p>
        </p:txBody>
      </p:sp>
      <p:sp>
        <p:nvSpPr>
          <p:cNvPr id="9" name="“먼저 측정하고, 끝나면 확인해…”">
            <a:extLst xmlns:a="http://schemas.openxmlformats.org/drawingml/2006/main">
              <a:ext uri="{FF2B5EF4-FFF2-40B4-BE49-F238E27FC236}">
                <a16:creationId xmlns:a16="http://schemas.microsoft.com/office/drawing/2014/main" id="{50979BDE-4296-430F-AA53-4D0AAAB8B400}"/>
              </a:ext>
            </a:extLst>
          </p:cNvPr>
          <p:cNvSpPr>
            <a:spLocks xmlns:a="http://schemas.openxmlformats.org/drawingml/2006/main" noGrp="1"/>
          </p:cNvSpPr>
          <p:nvPr/>
        </p:nvSpPr>
        <p:spPr>
          <a:xfrm xmlns:a="http://schemas.openxmlformats.org/drawingml/2006/main">
            <a:off x="6705600" y="3114675"/>
            <a:ext cx="4876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“먼저 측정하고, 끝나면 확인해…”</a:t>
            </a:r>
          </a:p>
        </p:txBody>
      </p:sp>
      <p:sp>
        <p:nvSpPr>
          <p:cNvPr id="10" name="반복되는 사실">
            <a:extLst xmlns:a="http://schemas.openxmlformats.org/drawingml/2006/main">
              <a:ext uri="{FF2B5EF4-FFF2-40B4-BE49-F238E27FC236}">
                <a16:creationId xmlns:a16="http://schemas.microsoft.com/office/drawing/2014/main" id="{C902CD84-9457-490C-BB2D-E94B13A077FF}"/>
              </a:ext>
            </a:extLst>
          </p:cNvPr>
          <p:cNvSpPr>
            <a:spLocks xmlns:a="http://schemas.openxmlformats.org/drawingml/2006/main" noGrp="1"/>
          </p:cNvSpPr>
          <p:nvPr/>
        </p:nvSpPr>
        <p:spPr>
          <a:xfrm xmlns:a="http://schemas.openxmlformats.org/drawingml/2006/main">
            <a:off x="609600" y="3752850"/>
            <a:ext cx="523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반복되는 사실</a:t>
            </a:r>
          </a:p>
        </p:txBody>
      </p:sp>
      <p:sp>
        <p:nvSpPr>
          <p:cNvPr id="11" name="반복되는 절차">
            <a:extLst xmlns:a="http://schemas.openxmlformats.org/drawingml/2006/main">
              <a:ext uri="{FF2B5EF4-FFF2-40B4-BE49-F238E27FC236}">
                <a16:creationId xmlns:a16="http://schemas.microsoft.com/office/drawing/2014/main" id="{1DEF8535-36D7-4762-A467-C87D4BCB9844}"/>
              </a:ext>
            </a:extLst>
          </p:cNvPr>
          <p:cNvSpPr>
            <a:spLocks xmlns:a="http://schemas.openxmlformats.org/drawingml/2006/main" noGrp="1"/>
          </p:cNvSpPr>
          <p:nvPr/>
        </p:nvSpPr>
        <p:spPr>
          <a:xfrm xmlns:a="http://schemas.openxmlformats.org/drawingml/2006/main">
            <a:off x="6705600" y="375285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반복되는 절차</a:t>
            </a:r>
          </a:p>
        </p:txBody>
      </p:sp>
      <p:sp>
        <p:nvSpPr>
          <p:cNvPr id="12" name="">
            <a:extLst xmlns:a="http://schemas.openxmlformats.org/drawingml/2006/main">
              <a:ext uri="{FF2B5EF4-FFF2-40B4-BE49-F238E27FC236}">
                <a16:creationId xmlns:a16="http://schemas.microsoft.com/office/drawing/2014/main" id="{2FD1126D-A11A-421D-911F-50569C0A5E53}"/>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지금 잘 동작한다면,&#10;Project가 바뀐 뒤에도 계속 맞을까?">
            <a:extLst xmlns:a="http://schemas.openxmlformats.org/drawingml/2006/main">
              <a:ext uri="{FF2B5EF4-FFF2-40B4-BE49-F238E27FC236}">
                <a16:creationId xmlns:a16="http://schemas.microsoft.com/office/drawing/2014/main" id="{00BE8B80-6C6B-495E-98E9-ED6006E19DEF}"/>
              </a:ext>
            </a:extLst>
          </p:cNvPr>
          <p:cNvSpPr>
            <a:spLocks xmlns:a="http://schemas.openxmlformats.org/drawingml/2006/main" noGrp="1"/>
          </p:cNvSpPr>
          <p:nvPr/>
        </p:nvSpPr>
        <p:spPr>
          <a:xfrm xmlns:a="http://schemas.openxmlformats.org/drawingml/2006/main">
            <a:off x="609600" y="4829175"/>
            <a:ext cx="109728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지금 잘 동작한다면,</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Project가 바뀐 뒤에도 계속 맞을까?</a:t>
            </a:r>
          </a:p>
        </p:txBody>
      </p:sp>
    </p:spTree>
    <p:extLst>
      <p:ext uri="{BB962C8B-B14F-4D97-AF65-F5344CB8AC3E}">
        <p14:creationId xmlns:p14="http://schemas.microsoft.com/office/powerpoint/2010/main" val="66251287"/>
      </p:ext>
    </p:extLst>
  </p:cSld>
</p:sld>
</file>

<file path=ppt/slides/slide5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확인된 제품 결과">
            <a:extLst xmlns:a="http://schemas.openxmlformats.org/drawingml/2006/main">
              <a:ext uri="{FF2B5EF4-FFF2-40B4-BE49-F238E27FC236}">
                <a16:creationId xmlns:a16="http://schemas.microsoft.com/office/drawing/2014/main" id="{475788AD-4735-4557-B199-9B7D0CDE215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확인된 제품 결과</a:t>
            </a:r>
          </a:p>
        </p:txBody>
      </p:sp>
      <p:sp>
        <p:nvSpPr>
          <p:cNvPr id="2" name="S55">
            <a:extLst xmlns:a="http://schemas.openxmlformats.org/drawingml/2006/main">
              <a:ext uri="{FF2B5EF4-FFF2-40B4-BE49-F238E27FC236}">
                <a16:creationId xmlns:a16="http://schemas.microsoft.com/office/drawing/2014/main" id="{11BAD16C-C478-442B-84B8-A9BFB94C97B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여기까지는 잘 동작했다">
            <a:extLst xmlns:a="http://schemas.openxmlformats.org/drawingml/2006/main">
              <a:ext uri="{FF2B5EF4-FFF2-40B4-BE49-F238E27FC236}">
                <a16:creationId xmlns:a16="http://schemas.microsoft.com/office/drawing/2014/main" id="{228C001C-B114-4621-AFD0-D80D01D22BC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여기까지는 잘 동작했다</a:t>
            </a:r>
          </a:p>
        </p:txBody>
      </p:sp>
      <p:sp>
        <p:nvSpPr>
          <p:cNvPr id="4" name="">
            <a:extLst xmlns:a="http://schemas.openxmlformats.org/drawingml/2006/main">
              <a:ext uri="{FF2B5EF4-FFF2-40B4-BE49-F238E27FC236}">
                <a16:creationId xmlns:a16="http://schemas.microsoft.com/office/drawing/2014/main" id="{268AC6AA-2339-45D7-B2CE-3C82086CD013}"/>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image_statistics · 실제 기록 요약">
            <a:extLst xmlns:a="http://schemas.openxmlformats.org/drawingml/2006/main">
              <a:ext uri="{FF2B5EF4-FFF2-40B4-BE49-F238E27FC236}">
                <a16:creationId xmlns:a16="http://schemas.microsoft.com/office/drawing/2014/main" id="{565F1D7D-1153-418C-A04D-D79E7D4E40D9}"/>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image_statistics · 실제 기록 요약</a:t>
            </a:r>
          </a:p>
        </p:txBody>
      </p:sp>
      <p:sp>
        <p:nvSpPr>
          <p:cNvPr id="6" name="기록된 입력·코드·환경의 결과이며, 뒤의 가상 사례와 별개다.">
            <a:extLst xmlns:a="http://schemas.openxmlformats.org/drawingml/2006/main">
              <a:ext uri="{FF2B5EF4-FFF2-40B4-BE49-F238E27FC236}">
                <a16:creationId xmlns:a16="http://schemas.microsoft.com/office/drawing/2014/main" id="{EC18097F-3D59-4223-BD14-8C5D9F6CFCD7}"/>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입력·코드·환경의 결과이며, 뒤의 가상 사례와 별개다.</a:t>
            </a:r>
          </a:p>
        </p:txBody>
      </p:sp>
      <p:sp>
        <p:nvSpPr>
          <p:cNvPr id="7" name="작업을 맡기고, 결과를 확인할 수 있었다">
            <a:extLst xmlns:a="http://schemas.openxmlformats.org/drawingml/2006/main">
              <a:ext uri="{FF2B5EF4-FFF2-40B4-BE49-F238E27FC236}">
                <a16:creationId xmlns:a16="http://schemas.microsoft.com/office/drawing/2014/main" id="{66178A80-D7B2-42BF-BF27-94FEE0A06465}"/>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작업을 맡기고, 결과를 확인할 수 있었다</a:t>
            </a:r>
          </a:p>
        </p:txBody>
      </p:sp>
      <p:sp>
        <p:nvSpPr>
          <p:cNvPr id="8" name="">
            <a:extLst xmlns:a="http://schemas.openxmlformats.org/drawingml/2006/main">
              <a:ext uri="{FF2B5EF4-FFF2-40B4-BE49-F238E27FC236}">
                <a16:creationId xmlns:a16="http://schemas.microsoft.com/office/drawing/2014/main" id="{98D6EDE7-8DD4-458A-BF60-8609E8148314}"/>
              </a:ext>
            </a:extLst>
          </p:cNvPr>
          <p:cNvSpPr>
            <a:spLocks xmlns:a="http://schemas.openxmlformats.org/drawingml/2006/main" noGrp="1"/>
          </p:cNvSpPr>
          <p:nvPr/>
        </p:nvSpPr>
        <p:spPr>
          <a:xfrm xmlns:a="http://schemas.openxmlformats.org/drawingml/2006/main">
            <a:off x="6096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동작 계약">
            <a:extLst xmlns:a="http://schemas.openxmlformats.org/drawingml/2006/main">
              <a:ext uri="{FF2B5EF4-FFF2-40B4-BE49-F238E27FC236}">
                <a16:creationId xmlns:a16="http://schemas.microsoft.com/office/drawing/2014/main" id="{1BC1186B-27A7-4DE6-886C-BF2689A5D564}"/>
              </a:ext>
            </a:extLst>
          </p:cNvPr>
          <p:cNvSpPr>
            <a:spLocks xmlns:a="http://schemas.openxmlformats.org/drawingml/2006/main" noGrp="1"/>
          </p:cNvSpPr>
          <p:nvPr/>
        </p:nvSpPr>
        <p:spPr>
          <a:xfrm xmlns:a="http://schemas.openxmlformats.org/drawingml/2006/main">
            <a:off x="6096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동작 계약</a:t>
            </a:r>
          </a:p>
        </p:txBody>
      </p:sp>
      <p:sp>
        <p:nvSpPr>
          <p:cNvPr id="10" name="">
            <a:extLst xmlns:a="http://schemas.openxmlformats.org/drawingml/2006/main">
              <a:ext uri="{FF2B5EF4-FFF2-40B4-BE49-F238E27FC236}">
                <a16:creationId xmlns:a16="http://schemas.microsoft.com/office/drawing/2014/main" id="{F1D5E282-C29D-49FB-9400-BFD22FE74423}"/>
              </a:ext>
            </a:extLst>
          </p:cNvPr>
          <p:cNvSpPr>
            <a:spLocks xmlns:a="http://schemas.openxmlformats.org/drawingml/2006/main" noGrp="1"/>
          </p:cNvSpPr>
          <p:nvPr/>
        </p:nvSpPr>
        <p:spPr>
          <a:xfrm xmlns:a="http://schemas.openxmlformats.org/drawingml/2006/main">
            <a:off x="440055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테스트">
            <a:extLst xmlns:a="http://schemas.openxmlformats.org/drawingml/2006/main">
              <a:ext uri="{FF2B5EF4-FFF2-40B4-BE49-F238E27FC236}">
                <a16:creationId xmlns:a16="http://schemas.microsoft.com/office/drawing/2014/main" id="{5C2B8BE6-8EF1-4325-A116-6EDC9ADAFF32}"/>
              </a:ext>
            </a:extLst>
          </p:cNvPr>
          <p:cNvSpPr>
            <a:spLocks xmlns:a="http://schemas.openxmlformats.org/drawingml/2006/main" noGrp="1"/>
          </p:cNvSpPr>
          <p:nvPr/>
        </p:nvSpPr>
        <p:spPr>
          <a:xfrm xmlns:a="http://schemas.openxmlformats.org/drawingml/2006/main">
            <a:off x="440055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테스트</a:t>
            </a:r>
          </a:p>
        </p:txBody>
      </p:sp>
      <p:sp>
        <p:nvSpPr>
          <p:cNvPr id="12" name="">
            <a:extLst xmlns:a="http://schemas.openxmlformats.org/drawingml/2006/main">
              <a:ext uri="{FF2B5EF4-FFF2-40B4-BE49-F238E27FC236}">
                <a16:creationId xmlns:a16="http://schemas.microsoft.com/office/drawing/2014/main" id="{38524862-A12E-4981-8638-EB72EED75719}"/>
              </a:ext>
            </a:extLst>
          </p:cNvPr>
          <p:cNvSpPr>
            <a:spLocks xmlns:a="http://schemas.openxmlformats.org/drawingml/2006/main" noGrp="1"/>
          </p:cNvSpPr>
          <p:nvPr/>
        </p:nvSpPr>
        <p:spPr>
          <a:xfrm xmlns:a="http://schemas.openxmlformats.org/drawingml/2006/main">
            <a:off x="81915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성능 측정">
            <a:extLst xmlns:a="http://schemas.openxmlformats.org/drawingml/2006/main">
              <a:ext uri="{FF2B5EF4-FFF2-40B4-BE49-F238E27FC236}">
                <a16:creationId xmlns:a16="http://schemas.microsoft.com/office/drawing/2014/main" id="{6CD6FB14-B9C6-402E-B9B4-5456E3F66BFB}"/>
              </a:ext>
            </a:extLst>
          </p:cNvPr>
          <p:cNvSpPr>
            <a:spLocks xmlns:a="http://schemas.openxmlformats.org/drawingml/2006/main" noGrp="1"/>
          </p:cNvSpPr>
          <p:nvPr/>
        </p:nvSpPr>
        <p:spPr>
          <a:xfrm xmlns:a="http://schemas.openxmlformats.org/drawingml/2006/main">
            <a:off x="81915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성능 측정</a:t>
            </a:r>
          </a:p>
        </p:txBody>
      </p:sp>
      <p:sp>
        <p:nvSpPr>
          <p:cNvPr id="14" name="입력·출력 조건 확인">
            <a:extLst xmlns:a="http://schemas.openxmlformats.org/drawingml/2006/main">
              <a:ext uri="{FF2B5EF4-FFF2-40B4-BE49-F238E27FC236}">
                <a16:creationId xmlns:a16="http://schemas.microsoft.com/office/drawing/2014/main" id="{B484239D-BE5E-44CA-BB82-96087C0A3F41}"/>
              </a:ext>
            </a:extLst>
          </p:cNvPr>
          <p:cNvSpPr>
            <a:spLocks xmlns:a="http://schemas.openxmlformats.org/drawingml/2006/main" noGrp="1"/>
          </p:cNvSpPr>
          <p:nvPr/>
        </p:nvSpPr>
        <p:spPr>
          <a:xfrm xmlns:a="http://schemas.openxmlformats.org/drawingml/2006/main">
            <a:off x="60960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입력·출력 조건 확인</a:t>
            </a:r>
          </a:p>
        </p:txBody>
      </p:sp>
      <p:sp>
        <p:nvSpPr>
          <p:cNvPr id="15" name="전체 테스트 11/11">
            <a:extLst xmlns:a="http://schemas.openxmlformats.org/drawingml/2006/main">
              <a:ext uri="{FF2B5EF4-FFF2-40B4-BE49-F238E27FC236}">
                <a16:creationId xmlns:a16="http://schemas.microsoft.com/office/drawing/2014/main" id="{5AB225DC-9A59-4211-9491-9B33883085C2}"/>
              </a:ext>
            </a:extLst>
          </p:cNvPr>
          <p:cNvSpPr>
            <a:spLocks xmlns:a="http://schemas.openxmlformats.org/drawingml/2006/main" noGrp="1"/>
          </p:cNvSpPr>
          <p:nvPr/>
        </p:nvSpPr>
        <p:spPr>
          <a:xfrm xmlns:a="http://schemas.openxmlformats.org/drawingml/2006/main">
            <a:off x="440055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전체 테스트 11/11</a:t>
            </a:r>
          </a:p>
        </p:txBody>
      </p:sp>
      <p:sp>
        <p:nvSpPr>
          <p:cNvPr id="16" name="Benchmark guard 확인">
            <a:extLst xmlns:a="http://schemas.openxmlformats.org/drawingml/2006/main">
              <a:ext uri="{FF2B5EF4-FFF2-40B4-BE49-F238E27FC236}">
                <a16:creationId xmlns:a16="http://schemas.microsoft.com/office/drawing/2014/main" id="{960FDD78-291D-47C0-9B81-76F57C0C7087}"/>
              </a:ext>
            </a:extLst>
          </p:cNvPr>
          <p:cNvSpPr>
            <a:spLocks xmlns:a="http://schemas.openxmlformats.org/drawingml/2006/main" noGrp="1"/>
          </p:cNvSpPr>
          <p:nvPr/>
        </p:nvSpPr>
        <p:spPr>
          <a:xfrm xmlns:a="http://schemas.openxmlformats.org/drawingml/2006/main">
            <a:off x="8191500" y="3771900"/>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Benchmark guard 확인</a:t>
            </a:r>
          </a:p>
        </p:txBody>
      </p:sp>
      <p:sp>
        <p:nvSpPr>
          <p:cNvPr id="17" name="그렇다면 프로젝트가 바뀐 뒤에도 맞을까?">
            <a:extLst xmlns:a="http://schemas.openxmlformats.org/drawingml/2006/main">
              <a:ext uri="{FF2B5EF4-FFF2-40B4-BE49-F238E27FC236}">
                <a16:creationId xmlns:a16="http://schemas.microsoft.com/office/drawing/2014/main" id="{A0BE6FCD-0F73-4449-96E3-8706C6887D2A}"/>
              </a:ext>
            </a:extLst>
          </p:cNvPr>
          <p:cNvSpPr>
            <a:spLocks xmlns:a="http://schemas.openxmlformats.org/drawingml/2006/main" noGrp="1"/>
          </p:cNvSpPr>
          <p:nvPr/>
        </p:nvSpPr>
        <p:spPr>
          <a:xfrm xmlns:a="http://schemas.openxmlformats.org/drawingml/2006/main">
            <a:off x="609600" y="48958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그렇다면 프로젝트가 바뀐 뒤에도 맞을까?</a:t>
            </a:r>
          </a:p>
        </p:txBody>
      </p:sp>
    </p:spTree>
    <p:extLst>
      <p:ext uri="{BB962C8B-B14F-4D97-AF65-F5344CB8AC3E}">
        <p14:creationId xmlns:p14="http://schemas.microsoft.com/office/powerpoint/2010/main" val="337036733"/>
      </p:ext>
    </p:extLst>
  </p:cSld>
</p:sld>
</file>

<file path=ppt/slides/slide5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4 · CONCEPTUAL / 가상 사례">
            <a:extLst xmlns:a="http://schemas.openxmlformats.org/drawingml/2006/main">
              <a:ext uri="{FF2B5EF4-FFF2-40B4-BE49-F238E27FC236}">
                <a16:creationId xmlns:a16="http://schemas.microsoft.com/office/drawing/2014/main" id="{4948B924-E640-4CD1-9628-4380ED71671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56">
            <a:extLst xmlns:a="http://schemas.openxmlformats.org/drawingml/2006/main">
              <a:ext uri="{FF2B5EF4-FFF2-40B4-BE49-F238E27FC236}">
                <a16:creationId xmlns:a16="http://schemas.microsoft.com/office/drawing/2014/main" id="{D934C7A3-BD76-48AE-A87B-6308BC70019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개념 사례: Project와 Workflow는 현재 맞다">
            <a:extLst xmlns:a="http://schemas.openxmlformats.org/drawingml/2006/main">
              <a:ext uri="{FF2B5EF4-FFF2-40B4-BE49-F238E27FC236}">
                <a16:creationId xmlns:a16="http://schemas.microsoft.com/office/drawing/2014/main" id="{20EC2905-D6F4-447A-87A1-B56128C4F68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개념 사례: Project와 Workflow는 현재 맞다</a:t>
            </a:r>
          </a:p>
        </p:txBody>
      </p:sp>
      <p:sp>
        <p:nvSpPr>
          <p:cNvPr id="4" name="">
            <a:extLst xmlns:a="http://schemas.openxmlformats.org/drawingml/2006/main">
              <a:ext uri="{FF2B5EF4-FFF2-40B4-BE49-F238E27FC236}">
                <a16:creationId xmlns:a16="http://schemas.microsoft.com/office/drawing/2014/main" id="{6B66A463-5396-4CF1-A48C-59985C78598E}"/>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프로젝트 변화 전의 가상 설정">
            <a:extLst xmlns:a="http://schemas.openxmlformats.org/drawingml/2006/main">
              <a:ext uri="{FF2B5EF4-FFF2-40B4-BE49-F238E27FC236}">
                <a16:creationId xmlns:a16="http://schemas.microsoft.com/office/drawing/2014/main" id="{DFC71AC6-C73B-487D-9CA7-8FA4707DEDA9}"/>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프로젝트 변화 전의 가상 설정</a:t>
            </a:r>
          </a:p>
        </p:txBody>
      </p:sp>
      <p:sp>
        <p:nvSpPr>
          <p:cNvPr id="6" name="실제 Repository 변경 이력, Agent 실행 또는 테스트 결과가 아니다.">
            <a:extLst xmlns:a="http://schemas.openxmlformats.org/drawingml/2006/main">
              <a:ext uri="{FF2B5EF4-FFF2-40B4-BE49-F238E27FC236}">
                <a16:creationId xmlns:a16="http://schemas.microsoft.com/office/drawing/2014/main" id="{D583F57B-C698-4523-BDCB-0AEE6F5D320E}"/>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Repository 변경 이력, Agent 실행 또는 테스트 결과가 아니다.</a:t>
            </a:r>
          </a:p>
        </p:txBody>
      </p:sp>
      <p:sp>
        <p:nvSpPr>
          <p:cNvPr id="7" name="처음에는 두 기준이 같았다">
            <a:extLst xmlns:a="http://schemas.openxmlformats.org/drawingml/2006/main">
              <a:ext uri="{FF2B5EF4-FFF2-40B4-BE49-F238E27FC236}">
                <a16:creationId xmlns:a16="http://schemas.microsoft.com/office/drawing/2014/main" id="{ABAB718F-BFA8-4136-AAC1-D06B34CDC32A}"/>
              </a:ext>
            </a:extLst>
          </p:cNvPr>
          <p:cNvSpPr>
            <a:spLocks xmlns:a="http://schemas.openxmlformats.org/drawingml/2006/main" noGrp="1"/>
          </p:cNvSpPr>
          <p:nvPr/>
        </p:nvSpPr>
        <p:spPr>
          <a:xfrm xmlns:a="http://schemas.openxmlformats.org/drawingml/2006/main">
            <a:off x="609600" y="20955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처음에는 두 기준이 같았다</a:t>
            </a:r>
          </a:p>
        </p:txBody>
      </p:sp>
      <p:sp>
        <p:nvSpPr>
          <p:cNvPr id="8" name="프로젝트의 검증 기준">
            <a:extLst xmlns:a="http://schemas.openxmlformats.org/drawingml/2006/main">
              <a:ext uri="{FF2B5EF4-FFF2-40B4-BE49-F238E27FC236}">
                <a16:creationId xmlns:a16="http://schemas.microsoft.com/office/drawing/2014/main" id="{0491C8A5-FA89-451B-A70E-1067DF8A4577}"/>
              </a:ext>
            </a:extLst>
          </p:cNvPr>
          <p:cNvSpPr>
            <a:spLocks xmlns:a="http://schemas.openxmlformats.org/drawingml/2006/main" noGrp="1"/>
          </p:cNvSpPr>
          <p:nvPr/>
        </p:nvSpPr>
        <p:spPr>
          <a:xfrm xmlns:a="http://schemas.openxmlformats.org/drawingml/2006/main">
            <a:off x="609600" y="29527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프로젝트의 검증 기준</a:t>
            </a:r>
          </a:p>
        </p:txBody>
      </p:sp>
      <p:sp>
        <p:nvSpPr>
          <p:cNvPr id="9" name="재사용 Workflow의 지시">
            <a:extLst xmlns:a="http://schemas.openxmlformats.org/drawingml/2006/main">
              <a:ext uri="{FF2B5EF4-FFF2-40B4-BE49-F238E27FC236}">
                <a16:creationId xmlns:a16="http://schemas.microsoft.com/office/drawing/2014/main" id="{D2F9AD24-44AE-4577-B79E-1BF113FD3AB5}"/>
              </a:ext>
            </a:extLst>
          </p:cNvPr>
          <p:cNvSpPr>
            <a:spLocks xmlns:a="http://schemas.openxmlformats.org/drawingml/2006/main" noGrp="1"/>
          </p:cNvSpPr>
          <p:nvPr/>
        </p:nvSpPr>
        <p:spPr>
          <a:xfrm xmlns:a="http://schemas.openxmlformats.org/drawingml/2006/main">
            <a:off x="6705600" y="2952750"/>
            <a:ext cx="4857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재사용 Workflow의 지시</a:t>
            </a:r>
          </a:p>
        </p:txBody>
      </p:sp>
      <p:sp>
        <p:nvSpPr>
          <p:cNvPr id="10" name="">
            <a:extLst xmlns:a="http://schemas.openxmlformats.org/drawingml/2006/main">
              <a:ext uri="{FF2B5EF4-FFF2-40B4-BE49-F238E27FC236}">
                <a16:creationId xmlns:a16="http://schemas.microsoft.com/office/drawing/2014/main" id="{742F0F3B-E87A-4102-9159-059049C84AF0}"/>
              </a:ext>
            </a:extLst>
          </p:cNvPr>
          <p:cNvSpPr>
            <a:spLocks xmlns:a="http://schemas.openxmlformats.org/drawingml/2006/main" noGrp="1"/>
          </p:cNvSpPr>
          <p:nvPr/>
        </p:nvSpPr>
        <p:spPr>
          <a:xfrm xmlns:a="http://schemas.openxmlformats.org/drawingml/2006/main">
            <a:off x="609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D9DFB89C-A42E-4AFE-BA58-A965C0390487}"/>
              </a:ext>
            </a:extLst>
          </p:cNvPr>
          <p:cNvSpPr>
            <a:spLocks xmlns:a="http://schemas.openxmlformats.org/drawingml/2006/main" noGrp="1"/>
          </p:cNvSpPr>
          <p:nvPr/>
        </p:nvSpPr>
        <p:spPr>
          <a:xfrm xmlns:a="http://schemas.openxmlformats.org/drawingml/2006/main">
            <a:off x="6705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
            <a:extLst xmlns:a="http://schemas.openxmlformats.org/drawingml/2006/main">
              <a:ext uri="{FF2B5EF4-FFF2-40B4-BE49-F238E27FC236}">
                <a16:creationId xmlns:a16="http://schemas.microsoft.com/office/drawing/2014/main" id="{D5F475A7-9E45-4F3F-9FFF-6CD95CFEBC73}"/>
              </a:ext>
            </a:extLst>
          </p:cNvPr>
          <p:cNvSpPr>
            <a:spLocks xmlns:a="http://schemas.openxmlformats.org/drawingml/2006/main" noGrp="1"/>
          </p:cNvSpPr>
          <p:nvPr/>
        </p:nvSpPr>
        <p:spPr>
          <a:xfrm xmlns:a="http://schemas.openxmlformats.org/drawingml/2006/main">
            <a:off x="609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3" name="단위 테스트">
            <a:extLst xmlns:a="http://schemas.openxmlformats.org/drawingml/2006/main">
              <a:ext uri="{FF2B5EF4-FFF2-40B4-BE49-F238E27FC236}">
                <a16:creationId xmlns:a16="http://schemas.microsoft.com/office/drawing/2014/main" id="{BECAC11F-F359-451B-92F8-C6A63D43A615}"/>
              </a:ext>
            </a:extLst>
          </p:cNvPr>
          <p:cNvSpPr>
            <a:spLocks xmlns:a="http://schemas.openxmlformats.org/drawingml/2006/main" noGrp="1"/>
          </p:cNvSpPr>
          <p:nvPr/>
        </p:nvSpPr>
        <p:spPr>
          <a:xfrm xmlns:a="http://schemas.openxmlformats.org/drawingml/2006/main">
            <a:off x="6705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4" name="=">
            <a:extLst xmlns:a="http://schemas.openxmlformats.org/drawingml/2006/main">
              <a:ext uri="{FF2B5EF4-FFF2-40B4-BE49-F238E27FC236}">
                <a16:creationId xmlns:a16="http://schemas.microsoft.com/office/drawing/2014/main" id="{18B920D3-9D82-4E7B-AF20-12B5E18C653E}"/>
              </a:ext>
            </a:extLst>
          </p:cNvPr>
          <p:cNvSpPr>
            <a:spLocks xmlns:a="http://schemas.openxmlformats.org/drawingml/2006/main" noGrp="1"/>
          </p:cNvSpPr>
          <p:nvPr/>
        </p:nvSpPr>
        <p:spPr>
          <a:xfrm xmlns:a="http://schemas.openxmlformats.org/drawingml/2006/main">
            <a:off x="5715000" y="388620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a:t>
            </a:r>
          </a:p>
        </p:txBody>
      </p:sp>
      <p:sp>
        <p:nvSpPr>
          <p:cNvPr id="15" name="현재 프로젝트에 맞춰 만들어 둔 절차">
            <a:extLst xmlns:a="http://schemas.openxmlformats.org/drawingml/2006/main">
              <a:ext uri="{FF2B5EF4-FFF2-40B4-BE49-F238E27FC236}">
                <a16:creationId xmlns:a16="http://schemas.microsoft.com/office/drawing/2014/main" id="{E46F75A0-3D81-40D4-BF05-1D3AA8FEA7F3}"/>
              </a:ext>
            </a:extLst>
          </p:cNvPr>
          <p:cNvSpPr>
            <a:spLocks xmlns:a="http://schemas.openxmlformats.org/drawingml/2006/main" noGrp="1"/>
          </p:cNvSpPr>
          <p:nvPr/>
        </p:nvSpPr>
        <p:spPr>
          <a:xfrm xmlns:a="http://schemas.openxmlformats.org/drawingml/2006/main">
            <a:off x="609600" y="49530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현재 프로젝트에 맞춰 만들어 둔 절차</a:t>
            </a:r>
          </a:p>
        </p:txBody>
      </p:sp>
    </p:spTree>
    <p:extLst>
      <p:ext uri="{BB962C8B-B14F-4D97-AF65-F5344CB8AC3E}">
        <p14:creationId xmlns:p14="http://schemas.microsoft.com/office/powerpoint/2010/main" val="1032400212"/>
      </p:ext>
    </p:extLst>
  </p:cSld>
</p:sld>
</file>

<file path=ppt/slides/slide5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가상 사례">
            <a:extLst xmlns:a="http://schemas.openxmlformats.org/drawingml/2006/main">
              <a:ext uri="{FF2B5EF4-FFF2-40B4-BE49-F238E27FC236}">
                <a16:creationId xmlns:a16="http://schemas.microsoft.com/office/drawing/2014/main" id="{B89C7D08-CE0D-4853-95AE-D56F5D04A25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57">
            <a:extLst xmlns:a="http://schemas.openxmlformats.org/drawingml/2006/main">
              <a:ext uri="{FF2B5EF4-FFF2-40B4-BE49-F238E27FC236}">
                <a16:creationId xmlns:a16="http://schemas.microsoft.com/office/drawing/2014/main" id="{18555A22-BCA8-4475-947B-D9210CDFB63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Project는 바뀌고 Workflow는 남았다">
            <a:extLst xmlns:a="http://schemas.openxmlformats.org/drawingml/2006/main">
              <a:ext uri="{FF2B5EF4-FFF2-40B4-BE49-F238E27FC236}">
                <a16:creationId xmlns:a16="http://schemas.microsoft.com/office/drawing/2014/main" id="{D2CF1BFB-1F8F-4D9F-BD5A-7FBC8F7F3C6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Project는 바뀌고 Workflow는 남았다</a:t>
            </a:r>
          </a:p>
        </p:txBody>
      </p:sp>
      <p:sp>
        <p:nvSpPr>
          <p:cNvPr id="4" name="">
            <a:extLst xmlns:a="http://schemas.openxmlformats.org/drawingml/2006/main">
              <a:ext uri="{FF2B5EF4-FFF2-40B4-BE49-F238E27FC236}">
                <a16:creationId xmlns:a16="http://schemas.microsoft.com/office/drawing/2014/main" id="{0B3AAD46-59B6-4CA1-83A9-96476B711BB1}"/>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가상 설정 · 실제 Repository 변경 이력이 아님">
            <a:extLst xmlns:a="http://schemas.openxmlformats.org/drawingml/2006/main">
              <a:ext uri="{FF2B5EF4-FFF2-40B4-BE49-F238E27FC236}">
                <a16:creationId xmlns:a16="http://schemas.microsoft.com/office/drawing/2014/main" id="{851B832F-0F40-4359-B5DC-9DB94D9EFE3F}"/>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가상 설정 · 실제 Repository 변경 이력이 아님</a:t>
            </a:r>
          </a:p>
        </p:txBody>
      </p:sp>
      <p:sp>
        <p:nvSpPr>
          <p:cNvPr id="6" name="두 지침의 범위를 비교하는 장 · Agent 실행, 테스트 누락 또는 PASS / FAIL 결과를 뜻하지 않">
            <a:extLst xmlns:a="http://schemas.openxmlformats.org/drawingml/2006/main">
              <a:ext uri="{FF2B5EF4-FFF2-40B4-BE49-F238E27FC236}">
                <a16:creationId xmlns:a16="http://schemas.microsoft.com/office/drawing/2014/main" id="{D016E649-3D17-42B5-8D6A-B18592D4BB35}"/>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두 지침의 범위를 비교하는 장 · Agent 실행, 테스트 누락 또는 PASS / FAIL 결과를 뜻하지 않음</a:t>
            </a:r>
          </a:p>
        </p:txBody>
      </p:sp>
      <p:sp>
        <p:nvSpPr>
          <p:cNvPr id="7" name="가정: 모듈 연결 동작도 검증해야 하는 프로젝트가 됐다">
            <a:extLst xmlns:a="http://schemas.openxmlformats.org/drawingml/2006/main">
              <a:ext uri="{FF2B5EF4-FFF2-40B4-BE49-F238E27FC236}">
                <a16:creationId xmlns:a16="http://schemas.microsoft.com/office/drawing/2014/main" id="{E9BA5738-F419-4986-9B87-3FFD2F8A6AF9}"/>
              </a:ext>
            </a:extLst>
          </p:cNvPr>
          <p:cNvSpPr>
            <a:spLocks xmlns:a="http://schemas.openxmlformats.org/drawingml/2006/main" noGrp="1"/>
          </p:cNvSpPr>
          <p:nvPr/>
        </p:nvSpPr>
        <p:spPr>
          <a:xfrm xmlns:a="http://schemas.openxmlformats.org/drawingml/2006/main">
            <a:off x="609600" y="1609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가정: 모듈 연결 동작도 검증해야 하는 프로젝트가 됐다</a:t>
            </a:r>
          </a:p>
        </p:txBody>
      </p:sp>
      <p:sp>
        <p:nvSpPr>
          <p:cNvPr id="8" name="현재 프로젝트의 기준">
            <a:extLst xmlns:a="http://schemas.openxmlformats.org/drawingml/2006/main">
              <a:ext uri="{FF2B5EF4-FFF2-40B4-BE49-F238E27FC236}">
                <a16:creationId xmlns:a16="http://schemas.microsoft.com/office/drawing/2014/main" id="{C16B6F04-86E3-483D-AA83-9E2DBA4DE6D1}"/>
              </a:ext>
            </a:extLst>
          </p:cNvPr>
          <p:cNvSpPr>
            <a:spLocks xmlns:a="http://schemas.openxmlformats.org/drawingml/2006/main" noGrp="1"/>
          </p:cNvSpPr>
          <p:nvPr/>
        </p:nvSpPr>
        <p:spPr>
          <a:xfrm xmlns:a="http://schemas.openxmlformats.org/drawingml/2006/main">
            <a:off x="609600" y="240982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프로젝트의 기준</a:t>
            </a:r>
          </a:p>
        </p:txBody>
      </p:sp>
      <p:sp>
        <p:nvSpPr>
          <p:cNvPr id="9" name="재사용 Workflow에 남은 지시">
            <a:extLst xmlns:a="http://schemas.openxmlformats.org/drawingml/2006/main">
              <a:ext uri="{FF2B5EF4-FFF2-40B4-BE49-F238E27FC236}">
                <a16:creationId xmlns:a16="http://schemas.microsoft.com/office/drawing/2014/main" id="{4250C5AD-D2B4-49B4-B837-A71865B49E07}"/>
              </a:ext>
            </a:extLst>
          </p:cNvPr>
          <p:cNvSpPr>
            <a:spLocks xmlns:a="http://schemas.openxmlformats.org/drawingml/2006/main" noGrp="1"/>
          </p:cNvSpPr>
          <p:nvPr/>
        </p:nvSpPr>
        <p:spPr>
          <a:xfrm xmlns:a="http://schemas.openxmlformats.org/drawingml/2006/main">
            <a:off x="6705600" y="240982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재사용 Workflow에 남은 지시</a:t>
            </a:r>
          </a:p>
        </p:txBody>
      </p:sp>
      <p:sp>
        <p:nvSpPr>
          <p:cNvPr id="10" name="">
            <a:extLst xmlns:a="http://schemas.openxmlformats.org/drawingml/2006/main">
              <a:ext uri="{FF2B5EF4-FFF2-40B4-BE49-F238E27FC236}">
                <a16:creationId xmlns:a16="http://schemas.microsoft.com/office/drawing/2014/main" id="{463D95D8-C41E-456C-A1B7-BE0F6AE97815}"/>
              </a:ext>
            </a:extLst>
          </p:cNvPr>
          <p:cNvSpPr>
            <a:spLocks xmlns:a="http://schemas.openxmlformats.org/drawingml/2006/main" noGrp="1"/>
          </p:cNvSpPr>
          <p:nvPr/>
        </p:nvSpPr>
        <p:spPr>
          <a:xfrm xmlns:a="http://schemas.openxmlformats.org/drawingml/2006/main">
            <a:off x="609600" y="299085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901CB4F7-906B-41BA-B207-51298B85FEED}"/>
              </a:ext>
            </a:extLst>
          </p:cNvPr>
          <p:cNvSpPr>
            <a:spLocks xmlns:a="http://schemas.openxmlformats.org/drawingml/2006/main" noGrp="1"/>
          </p:cNvSpPr>
          <p:nvPr/>
        </p:nvSpPr>
        <p:spPr>
          <a:xfrm xmlns:a="http://schemas.openxmlformats.org/drawingml/2006/main">
            <a:off x="6705600" y="299085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단위 테스트">
            <a:extLst xmlns:a="http://schemas.openxmlformats.org/drawingml/2006/main">
              <a:ext uri="{FF2B5EF4-FFF2-40B4-BE49-F238E27FC236}">
                <a16:creationId xmlns:a16="http://schemas.microsoft.com/office/drawing/2014/main" id="{ACD75F3D-175D-45E4-9AD9-8350254AA1F0}"/>
              </a:ext>
            </a:extLst>
          </p:cNvPr>
          <p:cNvSpPr>
            <a:spLocks xmlns:a="http://schemas.openxmlformats.org/drawingml/2006/main" noGrp="1"/>
          </p:cNvSpPr>
          <p:nvPr/>
        </p:nvSpPr>
        <p:spPr>
          <a:xfrm xmlns:a="http://schemas.openxmlformats.org/drawingml/2006/main">
            <a:off x="609600" y="3343275"/>
            <a:ext cx="4953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단위 테스트</a:t>
            </a:r>
          </a:p>
        </p:txBody>
      </p:sp>
      <p:sp>
        <p:nvSpPr>
          <p:cNvPr id="13" name="단위 테스트">
            <a:extLst xmlns:a="http://schemas.openxmlformats.org/drawingml/2006/main">
              <a:ext uri="{FF2B5EF4-FFF2-40B4-BE49-F238E27FC236}">
                <a16:creationId xmlns:a16="http://schemas.microsoft.com/office/drawing/2014/main" id="{4A78903D-C1B6-4D65-8A60-AE6F5D21FE9C}"/>
              </a:ext>
            </a:extLst>
          </p:cNvPr>
          <p:cNvSpPr>
            <a:spLocks xmlns:a="http://schemas.openxmlformats.org/drawingml/2006/main" noGrp="1"/>
          </p:cNvSpPr>
          <p:nvPr/>
        </p:nvSpPr>
        <p:spPr>
          <a:xfrm xmlns:a="http://schemas.openxmlformats.org/drawingml/2006/main">
            <a:off x="6705600" y="33432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단위 테스트</a:t>
            </a:r>
          </a:p>
        </p:txBody>
      </p:sp>
      <p:sp>
        <p:nvSpPr>
          <p:cNvPr id="14" name="">
            <a:extLst xmlns:a="http://schemas.openxmlformats.org/drawingml/2006/main">
              <a:ext uri="{FF2B5EF4-FFF2-40B4-BE49-F238E27FC236}">
                <a16:creationId xmlns:a16="http://schemas.microsoft.com/office/drawing/2014/main" id="{FBF2471C-AB36-4DB1-BAE6-BF051A865141}"/>
              </a:ext>
            </a:extLst>
          </p:cNvPr>
          <p:cNvSpPr>
            <a:spLocks xmlns:a="http://schemas.openxmlformats.org/drawingml/2006/main" noGrp="1"/>
          </p:cNvSpPr>
          <p:nvPr/>
        </p:nvSpPr>
        <p:spPr>
          <a:xfrm xmlns:a="http://schemas.openxmlformats.org/drawingml/2006/main">
            <a:off x="609600" y="4048125"/>
            <a:ext cx="4953000" cy="742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 통합 테스트">
            <a:extLst xmlns:a="http://schemas.openxmlformats.org/drawingml/2006/main">
              <a:ext uri="{FF2B5EF4-FFF2-40B4-BE49-F238E27FC236}">
                <a16:creationId xmlns:a16="http://schemas.microsoft.com/office/drawing/2014/main" id="{0067A14B-893C-41BD-871A-73B4BF1D1E2E}"/>
              </a:ext>
            </a:extLst>
          </p:cNvPr>
          <p:cNvSpPr>
            <a:spLocks xmlns:a="http://schemas.openxmlformats.org/drawingml/2006/main" noGrp="1"/>
          </p:cNvSpPr>
          <p:nvPr/>
        </p:nvSpPr>
        <p:spPr>
          <a:xfrm xmlns:a="http://schemas.openxmlformats.org/drawingml/2006/main">
            <a:off x="838200" y="420052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 통합 테스트</a:t>
            </a:r>
          </a:p>
        </p:txBody>
      </p:sp>
      <p:sp>
        <p:nvSpPr>
          <p:cNvPr id="16" name="">
            <a:extLst xmlns:a="http://schemas.openxmlformats.org/drawingml/2006/main">
              <a:ext uri="{FF2B5EF4-FFF2-40B4-BE49-F238E27FC236}">
                <a16:creationId xmlns:a16="http://schemas.microsoft.com/office/drawing/2014/main" id="{590D8D83-A1B9-4A0A-B6AF-5CFF3BEB5A67}"/>
              </a:ext>
            </a:extLst>
          </p:cNvPr>
          <p:cNvSpPr>
            <a:spLocks xmlns:a="http://schemas.openxmlformats.org/drawingml/2006/main" noGrp="1"/>
          </p:cNvSpPr>
          <p:nvPr/>
        </p:nvSpPr>
        <p:spPr>
          <a:xfrm xmlns:a="http://schemas.openxmlformats.org/drawingml/2006/main">
            <a:off x="6705600" y="4048125"/>
            <a:ext cx="4876800" cy="742950"/>
          </a:xfrm>
          <a:prstGeom xmlns:a="http://schemas.openxmlformats.org/drawingml/2006/main" prst="rect">
            <a:avLst/>
          </a:prstGeom>
          <a:noFill xmlns:a="http://schemas.openxmlformats.org/drawingml/2006/main"/>
          <a:ln xmlns:a="http://schemas.openxmlformats.org/drawingml/2006/main" w="19050">
            <a:solidFill>
              <a:srgbClr val="805400"/>
            </a:solidFill>
            <a:prstDash val="dash"/>
          </a:ln>
        </p:spPr>
      </p:sp>
      <p:sp>
        <p:nvSpPr>
          <p:cNvPr id="17" name="단위 테스트만 지시">
            <a:extLst xmlns:a="http://schemas.openxmlformats.org/drawingml/2006/main">
              <a:ext uri="{FF2B5EF4-FFF2-40B4-BE49-F238E27FC236}">
                <a16:creationId xmlns:a16="http://schemas.microsoft.com/office/drawing/2014/main" id="{4715E4A1-D304-4A5D-BD05-FD22A2E85FCA}"/>
              </a:ext>
            </a:extLst>
          </p:cNvPr>
          <p:cNvSpPr>
            <a:spLocks xmlns:a="http://schemas.openxmlformats.org/drawingml/2006/main" noGrp="1"/>
          </p:cNvSpPr>
          <p:nvPr/>
        </p:nvSpPr>
        <p:spPr>
          <a:xfrm xmlns:a="http://schemas.openxmlformats.org/drawingml/2006/main">
            <a:off x="6934200" y="4200525"/>
            <a:ext cx="4419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805400"/>
                </a:solidFill>
                <a:latin typeface="Malgun Gothic"/>
                <a:ea typeface="Malgun Gothic"/>
                <a:cs typeface="Malgun Gothic"/>
              </a:defRPr>
            </a:defPPr>
            <a:lvl1pPr algn="l">
              <a:defRPr sz="2250" b="0">
                <a:solidFill>
                  <a:srgbClr val="805400"/>
                </a:solidFill>
                <a:latin typeface="Malgun Gothic"/>
                <a:ea typeface="Malgun Gothic"/>
                <a:cs typeface="Malgun Gothic"/>
              </a:defRPr>
            </a:lvl1pPr>
            <a:lvl2pPr algn="l">
              <a:defRPr sz="2250" b="0">
                <a:solidFill>
                  <a:srgbClr val="805400"/>
                </a:solidFill>
                <a:latin typeface="Malgun Gothic"/>
                <a:ea typeface="Malgun Gothic"/>
                <a:cs typeface="Malgun Gothic"/>
              </a:defRPr>
            </a:lvl2pPr>
            <a:lvl3pPr algn="l">
              <a:defRPr sz="2250" b="0">
                <a:solidFill>
                  <a:srgbClr val="805400"/>
                </a:solidFill>
                <a:latin typeface="Malgun Gothic"/>
                <a:ea typeface="Malgun Gothic"/>
                <a:cs typeface="Malgun Gothic"/>
              </a:defRPr>
            </a:lvl3pPr>
            <a:lvl4pPr algn="l">
              <a:defRPr sz="2250" b="0">
                <a:solidFill>
                  <a:srgbClr val="805400"/>
                </a:solidFill>
                <a:latin typeface="Malgun Gothic"/>
                <a:ea typeface="Malgun Gothic"/>
                <a:cs typeface="Malgun Gothic"/>
              </a:defRPr>
            </a:lvl4pPr>
            <a:lvl5pPr algn="l">
              <a:defRPr sz="2250" b="0">
                <a:solidFill>
                  <a:srgbClr val="805400"/>
                </a:solidFill>
                <a:latin typeface="Malgun Gothic"/>
                <a:ea typeface="Malgun Gothic"/>
                <a:cs typeface="Malgun Gothic"/>
              </a:defRPr>
            </a:lvl5pPr>
            <a:lvl6pPr algn="l">
              <a:defRPr sz="2250" b="0">
                <a:solidFill>
                  <a:srgbClr val="805400"/>
                </a:solidFill>
                <a:latin typeface="Malgun Gothic"/>
                <a:ea typeface="Malgun Gothic"/>
                <a:cs typeface="Malgun Gothic"/>
              </a:defRPr>
            </a:lvl6pPr>
            <a:lvl7pPr algn="l">
              <a:defRPr sz="2250" b="0">
                <a:solidFill>
                  <a:srgbClr val="805400"/>
                </a:solidFill>
                <a:latin typeface="Malgun Gothic"/>
                <a:ea typeface="Malgun Gothic"/>
                <a:cs typeface="Malgun Gothic"/>
              </a:defRPr>
            </a:lvl7pPr>
            <a:lvl8pPr algn="l">
              <a:defRPr sz="2250" b="0">
                <a:solidFill>
                  <a:srgbClr val="805400"/>
                </a:solidFill>
                <a:latin typeface="Malgun Gothic"/>
                <a:ea typeface="Malgun Gothic"/>
                <a:cs typeface="Malgun Gothic"/>
              </a:defRPr>
            </a:lvl8pPr>
            <a:lvl9pPr algn="l">
              <a:defRPr sz="2250" b="0">
                <a:solidFill>
                  <a:srgbClr val="805400"/>
                </a:solidFill>
                <a:latin typeface="Malgun Gothic"/>
                <a:ea typeface="Malgun Gothic"/>
                <a:cs typeface="Malgun Gothic"/>
              </a:defRPr>
            </a:lvl9pPr>
          </a:lstStyle>
          <a:p xmlns:a="http://schemas.openxmlformats.org/drawingml/2006/main">
            <a:pPr algn="l">
              <a:defRPr sz="2250" b="0">
                <a:solidFill>
                  <a:srgbClr val="805400"/>
                </a:solidFill>
                <a:latin typeface="Malgun Gothic"/>
                <a:ea typeface="Malgun Gothic"/>
                <a:cs typeface="Malgun Gothic"/>
              </a:defRPr>
            </a:pPr>
            <a:r>
              <a:rPr sz="2250" b="0">
                <a:solidFill>
                  <a:srgbClr val="805400"/>
                </a:solidFill>
                <a:latin typeface="Malgun Gothic"/>
                <a:ea typeface="Malgun Gothic"/>
                <a:cs typeface="Malgun Gothic"/>
              </a:rPr>
              <a:t>단위 테스트만 지시</a:t>
            </a:r>
          </a:p>
        </p:txBody>
      </p:sp>
      <p:sp>
        <p:nvSpPr>
          <p:cNvPr id="18" name="프로젝트의 기준이 바뀌었을 때, 재사용 지침도 함께 바뀌었을까?">
            <a:extLst xmlns:a="http://schemas.openxmlformats.org/drawingml/2006/main">
              <a:ext uri="{FF2B5EF4-FFF2-40B4-BE49-F238E27FC236}">
                <a16:creationId xmlns:a16="http://schemas.microsoft.com/office/drawing/2014/main" id="{8A5F78DB-126E-4807-8A0C-E5860E2AD4E5}"/>
              </a:ext>
            </a:extLst>
          </p:cNvPr>
          <p:cNvSpPr>
            <a:spLocks xmlns:a="http://schemas.openxmlformats.org/drawingml/2006/main" noGrp="1"/>
          </p:cNvSpPr>
          <p:nvPr/>
        </p:nvSpPr>
        <p:spPr>
          <a:xfrm xmlns:a="http://schemas.openxmlformats.org/drawingml/2006/main">
            <a:off x="609600" y="5229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프로젝트의 기준이 바뀌었을 때, 재사용 지침도 함께 바뀌었을까?</a:t>
            </a:r>
          </a:p>
        </p:txBody>
      </p:sp>
    </p:spTree>
    <p:extLst>
      <p:ext uri="{BB962C8B-B14F-4D97-AF65-F5344CB8AC3E}">
        <p14:creationId xmlns:p14="http://schemas.microsoft.com/office/powerpoint/2010/main" val="1744485275"/>
      </p:ext>
    </p:extLst>
  </p:cSld>
</p:sld>
</file>

<file path=ppt/slides/slide5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가상 사례">
            <a:extLst xmlns:a="http://schemas.openxmlformats.org/drawingml/2006/main">
              <a:ext uri="{FF2B5EF4-FFF2-40B4-BE49-F238E27FC236}">
                <a16:creationId xmlns:a16="http://schemas.microsoft.com/office/drawing/2014/main" id="{A41B4B2B-4C53-4200-AD9D-BEE65D20597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58">
            <a:extLst xmlns:a="http://schemas.openxmlformats.org/drawingml/2006/main">
              <a:ext uri="{FF2B5EF4-FFF2-40B4-BE49-F238E27FC236}">
                <a16:creationId xmlns:a16="http://schemas.microsoft.com/office/drawing/2014/main" id="{AE7DA0B6-439E-4458-9493-BC63E005ACB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Task 해결과 System 문제는 다르다">
            <a:extLst xmlns:a="http://schemas.openxmlformats.org/drawingml/2006/main">
              <a:ext uri="{FF2B5EF4-FFF2-40B4-BE49-F238E27FC236}">
                <a16:creationId xmlns:a16="http://schemas.microsoft.com/office/drawing/2014/main" id="{091ECB37-86DD-4EBC-A769-ECBA6F29282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해결과 System 문제는 다르다</a:t>
            </a:r>
          </a:p>
        </p:txBody>
      </p:sp>
      <p:sp>
        <p:nvSpPr>
          <p:cNvPr id="4" name="">
            <a:extLst xmlns:a="http://schemas.openxmlformats.org/drawingml/2006/main">
              <a:ext uri="{FF2B5EF4-FFF2-40B4-BE49-F238E27FC236}">
                <a16:creationId xmlns:a16="http://schemas.microsoft.com/office/drawing/2014/main" id="{B0DD1EBF-74D1-4BB5-AD2A-FA2EC0BE36EC}"/>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이번 요청과 재사용 지침의 범위 비교">
            <a:extLst xmlns:a="http://schemas.openxmlformats.org/drawingml/2006/main">
              <a:ext uri="{FF2B5EF4-FFF2-40B4-BE49-F238E27FC236}">
                <a16:creationId xmlns:a16="http://schemas.microsoft.com/office/drawing/2014/main" id="{C62B3664-51AA-43FC-81C8-46C9DA8C9005}"/>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이번 요청과 재사용 지침의 범위 비교</a:t>
            </a:r>
          </a:p>
        </p:txBody>
      </p:sp>
      <p:sp>
        <p:nvSpPr>
          <p:cNvPr id="6" name="아래는 가능한 대응이다. 실제 실행·복구 성공·검증 누락을 관찰한 결과가 아니다.">
            <a:extLst xmlns:a="http://schemas.openxmlformats.org/drawingml/2006/main">
              <a:ext uri="{FF2B5EF4-FFF2-40B4-BE49-F238E27FC236}">
                <a16:creationId xmlns:a16="http://schemas.microsoft.com/office/drawing/2014/main" id="{5B2A4F9A-814D-4877-B5D4-C79D299AF188}"/>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가능한 대응이다. 실제 실행·복구 성공·검증 누락을 관찰한 결과가 아니다.</a:t>
            </a:r>
          </a:p>
        </p:txBody>
      </p:sp>
      <p:sp>
        <p:nvSpPr>
          <p:cNvPr id="7" name="이번 요청에 “통합 테스트도 확인해 줘”를 더한다면?">
            <a:extLst xmlns:a="http://schemas.openxmlformats.org/drawingml/2006/main">
              <a:ext uri="{FF2B5EF4-FFF2-40B4-BE49-F238E27FC236}">
                <a16:creationId xmlns:a16="http://schemas.microsoft.com/office/drawing/2014/main" id="{E3EF81E8-15E6-47BB-95D4-EF287902C383}"/>
              </a:ext>
            </a:extLst>
          </p:cNvPr>
          <p:cNvSpPr>
            <a:spLocks xmlns:a="http://schemas.openxmlformats.org/drawingml/2006/main" noGrp="1"/>
          </p:cNvSpPr>
          <p:nvPr/>
        </p:nvSpPr>
        <p:spPr>
          <a:xfrm xmlns:a="http://schemas.openxmlformats.org/drawingml/2006/main">
            <a:off x="609600" y="21336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이번 요청에 “통합 테스트도 확인해 줘”를 더한다면?</a:t>
            </a:r>
          </a:p>
        </p:txBody>
      </p:sp>
      <p:sp>
        <p:nvSpPr>
          <p:cNvPr id="8" name="이번 Task">
            <a:extLst xmlns:a="http://schemas.openxmlformats.org/drawingml/2006/main">
              <a:ext uri="{FF2B5EF4-FFF2-40B4-BE49-F238E27FC236}">
                <a16:creationId xmlns:a16="http://schemas.microsoft.com/office/drawing/2014/main" id="{E36CD7C1-634A-43EC-BC06-14553C2C0A27}"/>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이번 Task</a:t>
            </a:r>
          </a:p>
        </p:txBody>
      </p:sp>
      <p:sp>
        <p:nvSpPr>
          <p:cNvPr id="9" name="다음 Task가 읽을 Workflow">
            <a:extLst xmlns:a="http://schemas.openxmlformats.org/drawingml/2006/main">
              <a:ext uri="{FF2B5EF4-FFF2-40B4-BE49-F238E27FC236}">
                <a16:creationId xmlns:a16="http://schemas.microsoft.com/office/drawing/2014/main" id="{4970EA7C-78C7-4320-893B-5AE8680D358A}"/>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다음 Task가 읽을 Workflow</a:t>
            </a:r>
          </a:p>
        </p:txBody>
      </p:sp>
      <p:sp>
        <p:nvSpPr>
          <p:cNvPr id="10" name="">
            <a:extLst xmlns:a="http://schemas.openxmlformats.org/drawingml/2006/main">
              <a:ext uri="{FF2B5EF4-FFF2-40B4-BE49-F238E27FC236}">
                <a16:creationId xmlns:a16="http://schemas.microsoft.com/office/drawing/2014/main" id="{5BCC7359-B349-42C0-A27D-B4421B5805E8}"/>
              </a:ext>
            </a:extLst>
          </p:cNvPr>
          <p:cNvSpPr>
            <a:spLocks xmlns:a="http://schemas.openxmlformats.org/drawingml/2006/main" noGrp="1"/>
          </p:cNvSpPr>
          <p:nvPr/>
        </p:nvSpPr>
        <p:spPr>
          <a:xfrm xmlns:a="http://schemas.openxmlformats.org/drawingml/2006/main">
            <a:off x="609600" y="3619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D899B0AA-2981-499E-AC7E-166416D8F5F8}"/>
              </a:ext>
            </a:extLst>
          </p:cNvPr>
          <p:cNvSpPr>
            <a:spLocks xmlns:a="http://schemas.openxmlformats.org/drawingml/2006/main" noGrp="1"/>
          </p:cNvSpPr>
          <p:nvPr/>
        </p:nvSpPr>
        <p:spPr>
          <a:xfrm xmlns:a="http://schemas.openxmlformats.org/drawingml/2006/main">
            <a:off x="6705600" y="3619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단위 + 통합 테스트를&#10;확인하도록 요청 가능">
            <a:extLst xmlns:a="http://schemas.openxmlformats.org/drawingml/2006/main">
              <a:ext uri="{FF2B5EF4-FFF2-40B4-BE49-F238E27FC236}">
                <a16:creationId xmlns:a16="http://schemas.microsoft.com/office/drawing/2014/main" id="{4F7F6395-73C6-4ED5-B244-F948631A14BB}"/>
              </a:ext>
            </a:extLst>
          </p:cNvPr>
          <p:cNvSpPr>
            <a:spLocks xmlns:a="http://schemas.openxmlformats.org/drawingml/2006/main" noGrp="1"/>
          </p:cNvSpPr>
          <p:nvPr/>
        </p:nvSpPr>
        <p:spPr>
          <a:xfrm xmlns:a="http://schemas.openxmlformats.org/drawingml/2006/main">
            <a:off x="609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테스트를</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확인하도록 요청 가능</a:t>
            </a:r>
          </a:p>
        </p:txBody>
      </p:sp>
      <p:sp>
        <p:nvSpPr>
          <p:cNvPr id="13" name="여전히&#10;단위 테스트만 지시">
            <a:extLst xmlns:a="http://schemas.openxmlformats.org/drawingml/2006/main">
              <a:ext uri="{FF2B5EF4-FFF2-40B4-BE49-F238E27FC236}">
                <a16:creationId xmlns:a16="http://schemas.microsoft.com/office/drawing/2014/main" id="{7FBCE7CC-67C9-4476-B9D2-8167053EAF67}"/>
              </a:ext>
            </a:extLst>
          </p:cNvPr>
          <p:cNvSpPr>
            <a:spLocks xmlns:a="http://schemas.openxmlformats.org/drawingml/2006/main" noGrp="1"/>
          </p:cNvSpPr>
          <p:nvPr/>
        </p:nvSpPr>
        <p:spPr>
          <a:xfrm xmlns:a="http://schemas.openxmlformats.org/drawingml/2006/main">
            <a:off x="6705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여전히</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테스트만 지시</a:t>
            </a:r>
          </a:p>
        </p:txBody>
      </p:sp>
      <p:sp>
        <p:nvSpPr>
          <p:cNvPr id="14" name="이번 답을 보정해도, 재사용 절차는 그대로일 수 있다.">
            <a:extLst xmlns:a="http://schemas.openxmlformats.org/drawingml/2006/main">
              <a:ext uri="{FF2B5EF4-FFF2-40B4-BE49-F238E27FC236}">
                <a16:creationId xmlns:a16="http://schemas.microsoft.com/office/drawing/2014/main" id="{AFDD1F07-6E7F-457D-98BC-C5B5AC067827}"/>
              </a:ext>
            </a:extLst>
          </p:cNvPr>
          <p:cNvSpPr>
            <a:spLocks xmlns:a="http://schemas.openxmlformats.org/drawingml/2006/main" noGrp="1"/>
          </p:cNvSpPr>
          <p:nvPr/>
        </p:nvSpPr>
        <p:spPr>
          <a:xfrm xmlns:a="http://schemas.openxmlformats.org/drawingml/2006/main">
            <a:off x="609600" y="52006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답을 보정해도, 재사용 절차는 그대로일 수 있다.</a:t>
            </a:r>
          </a:p>
        </p:txBody>
      </p:sp>
    </p:spTree>
    <p:extLst>
      <p:ext uri="{BB962C8B-B14F-4D97-AF65-F5344CB8AC3E}">
        <p14:creationId xmlns:p14="http://schemas.microsoft.com/office/powerpoint/2010/main" val="1341552682"/>
      </p:ext>
    </p:extLst>
  </p:cSld>
</p:sld>
</file>

<file path=ppt/slides/slide5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CONCEPTUAL / 대응 범위 비교">
            <a:extLst xmlns:a="http://schemas.openxmlformats.org/drawingml/2006/main">
              <a:ext uri="{FF2B5EF4-FFF2-40B4-BE49-F238E27FC236}">
                <a16:creationId xmlns:a16="http://schemas.microsoft.com/office/drawing/2014/main" id="{8D9053C1-4022-4AC9-A10C-7E2FA7978FD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대응 범위 비교</a:t>
            </a:r>
          </a:p>
        </p:txBody>
      </p:sp>
      <p:sp>
        <p:nvSpPr>
          <p:cNvPr id="2" name="S59">
            <a:extLst xmlns:a="http://schemas.openxmlformats.org/drawingml/2006/main">
              <a:ext uri="{FF2B5EF4-FFF2-40B4-BE49-F238E27FC236}">
                <a16:creationId xmlns:a16="http://schemas.microsoft.com/office/drawing/2014/main" id="{F5297A3E-B456-4342-8C0B-D5D9F42E888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원인에 맞는 Layer를 고르기">
            <a:extLst xmlns:a="http://schemas.openxmlformats.org/drawingml/2006/main">
              <a:ext uri="{FF2B5EF4-FFF2-40B4-BE49-F238E27FC236}">
                <a16:creationId xmlns:a16="http://schemas.microsoft.com/office/drawing/2014/main" id="{E06A112F-829C-4250-A357-A3BB2DBBCB1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원인에 맞는 Layer를 고르기</a:t>
            </a:r>
          </a:p>
        </p:txBody>
      </p:sp>
      <p:sp>
        <p:nvSpPr>
          <p:cNvPr id="4" name="">
            <a:extLst xmlns:a="http://schemas.openxmlformats.org/drawingml/2006/main">
              <a:ext uri="{FF2B5EF4-FFF2-40B4-BE49-F238E27FC236}">
                <a16:creationId xmlns:a16="http://schemas.microsoft.com/office/drawing/2014/main" id="{3C6B6DA5-175F-43A9-8E81-3CFEE1889AA0}"/>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DEMO-11 · 가상 사례의 선택지">
            <a:extLst xmlns:a="http://schemas.openxmlformats.org/drawingml/2006/main">
              <a:ext uri="{FF2B5EF4-FFF2-40B4-BE49-F238E27FC236}">
                <a16:creationId xmlns:a16="http://schemas.microsoft.com/office/drawing/2014/main" id="{F009C208-47D1-43A3-A4B7-4ED6EFD044E6}"/>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DEMO-11 · 가상 사례의 선택지</a:t>
            </a:r>
          </a:p>
        </p:txBody>
      </p:sp>
      <p:sp>
        <p:nvSpPr>
          <p:cNvPr id="6" name="Workflow가 원인으로 확인된 경우의 판단이며, 모든 문제의 정답은 아니다.">
            <a:extLst xmlns:a="http://schemas.openxmlformats.org/drawingml/2006/main">
              <a:ext uri="{FF2B5EF4-FFF2-40B4-BE49-F238E27FC236}">
                <a16:creationId xmlns:a16="http://schemas.microsoft.com/office/drawing/2014/main" id="{A3C7E9BF-B4C7-4A24-A561-C84D975404D6}"/>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Workflow가 원인으로 확인된 경우의 판단이며, 모든 문제의 정답은 아니다.</a:t>
            </a:r>
          </a:p>
        </p:txBody>
      </p:sp>
      <p:sp>
        <p:nvSpPr>
          <p:cNvPr id="7" name="무엇을 바꾸면 다음 작업에도 반영될까?">
            <a:extLst xmlns:a="http://schemas.openxmlformats.org/drawingml/2006/main">
              <a:ext uri="{FF2B5EF4-FFF2-40B4-BE49-F238E27FC236}">
                <a16:creationId xmlns:a16="http://schemas.microsoft.com/office/drawing/2014/main" id="{B542E405-962D-404B-A369-45DB82DE67D8}"/>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무엇을 바꾸면 다음 작업에도 반영될까?</a:t>
            </a:r>
          </a:p>
        </p:txBody>
      </p:sp>
      <p:sp>
        <p:nvSpPr>
          <p:cNvPr id="8" name="">
            <a:extLst xmlns:a="http://schemas.openxmlformats.org/drawingml/2006/main">
              <a:ext uri="{FF2B5EF4-FFF2-40B4-BE49-F238E27FC236}">
                <a16:creationId xmlns:a16="http://schemas.microsoft.com/office/drawing/2014/main" id="{2E27E6E7-A77A-4EBE-BEDF-4309B9E41464}"/>
              </a:ext>
            </a:extLst>
          </p:cNvPr>
          <p:cNvSpPr>
            <a:spLocks xmlns:a="http://schemas.openxmlformats.org/drawingml/2006/main" noGrp="1"/>
          </p:cNvSpPr>
          <p:nvPr/>
        </p:nvSpPr>
        <p:spPr>
          <a:xfrm xmlns:a="http://schemas.openxmlformats.org/drawingml/2006/main">
            <a:off x="609600" y="2952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Prompt 보정">
            <a:extLst xmlns:a="http://schemas.openxmlformats.org/drawingml/2006/main">
              <a:ext uri="{FF2B5EF4-FFF2-40B4-BE49-F238E27FC236}">
                <a16:creationId xmlns:a16="http://schemas.microsoft.com/office/drawing/2014/main" id="{5DCDE5F3-FADD-4405-B257-2CF49FBC1F7A}"/>
              </a:ext>
            </a:extLst>
          </p:cNvPr>
          <p:cNvSpPr>
            <a:spLocks xmlns:a="http://schemas.openxmlformats.org/drawingml/2006/main" noGrp="1"/>
          </p:cNvSpPr>
          <p:nvPr/>
        </p:nvSpPr>
        <p:spPr>
          <a:xfrm xmlns:a="http://schemas.openxmlformats.org/drawingml/2006/main">
            <a:off x="609600" y="30670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Prompt 보정</a:t>
            </a:r>
          </a:p>
        </p:txBody>
      </p:sp>
      <p:sp>
        <p:nvSpPr>
          <p:cNvPr id="10" name="현재 Task의 요청 범위를 넓힌다">
            <a:extLst xmlns:a="http://schemas.openxmlformats.org/drawingml/2006/main">
              <a:ext uri="{FF2B5EF4-FFF2-40B4-BE49-F238E27FC236}">
                <a16:creationId xmlns:a16="http://schemas.microsoft.com/office/drawing/2014/main" id="{9856985D-CD22-45A5-9E44-0A198066A232}"/>
              </a:ext>
            </a:extLst>
          </p:cNvPr>
          <p:cNvSpPr>
            <a:spLocks xmlns:a="http://schemas.openxmlformats.org/drawingml/2006/main" noGrp="1"/>
          </p:cNvSpPr>
          <p:nvPr/>
        </p:nvSpPr>
        <p:spPr>
          <a:xfrm xmlns:a="http://schemas.openxmlformats.org/drawingml/2006/main">
            <a:off x="4038600" y="30670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현재 Task의 요청 범위를 넓힌다</a:t>
            </a:r>
          </a:p>
        </p:txBody>
      </p:sp>
      <p:sp>
        <p:nvSpPr>
          <p:cNvPr id="11" name="">
            <a:extLst xmlns:a="http://schemas.openxmlformats.org/drawingml/2006/main">
              <a:ext uri="{FF2B5EF4-FFF2-40B4-BE49-F238E27FC236}">
                <a16:creationId xmlns:a16="http://schemas.microsoft.com/office/drawing/2014/main" id="{3FD4F5B7-DEA7-444F-B42D-A721AF043B3B}"/>
              </a:ext>
            </a:extLst>
          </p:cNvPr>
          <p:cNvSpPr>
            <a:spLocks xmlns:a="http://schemas.openxmlformats.org/drawingml/2006/main" noGrp="1"/>
          </p:cNvSpPr>
          <p:nvPr/>
        </p:nvSpPr>
        <p:spPr>
          <a:xfrm xmlns:a="http://schemas.openxmlformats.org/drawingml/2006/main">
            <a:off x="609600" y="3733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전역 규칙 추가">
            <a:extLst xmlns:a="http://schemas.openxmlformats.org/drawingml/2006/main">
              <a:ext uri="{FF2B5EF4-FFF2-40B4-BE49-F238E27FC236}">
                <a16:creationId xmlns:a16="http://schemas.microsoft.com/office/drawing/2014/main" id="{22E84C22-D43B-45E9-AD7B-BA430FD91FAD}"/>
              </a:ext>
            </a:extLst>
          </p:cNvPr>
          <p:cNvSpPr>
            <a:spLocks xmlns:a="http://schemas.openxmlformats.org/drawingml/2006/main" noGrp="1"/>
          </p:cNvSpPr>
          <p:nvPr/>
        </p:nvSpPr>
        <p:spPr>
          <a:xfrm xmlns:a="http://schemas.openxmlformats.org/drawingml/2006/main">
            <a:off x="609600" y="384810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전역 규칙 추가</a:t>
            </a:r>
          </a:p>
        </p:txBody>
      </p:sp>
      <p:sp>
        <p:nvSpPr>
          <p:cNvPr id="13" name="다른 지침과 중복·충돌할 수 있다">
            <a:extLst xmlns:a="http://schemas.openxmlformats.org/drawingml/2006/main">
              <a:ext uri="{FF2B5EF4-FFF2-40B4-BE49-F238E27FC236}">
                <a16:creationId xmlns:a16="http://schemas.microsoft.com/office/drawing/2014/main" id="{31120AA3-2782-4C31-AE1E-45BB3251FB13}"/>
              </a:ext>
            </a:extLst>
          </p:cNvPr>
          <p:cNvSpPr>
            <a:spLocks xmlns:a="http://schemas.openxmlformats.org/drawingml/2006/main" noGrp="1"/>
          </p:cNvSpPr>
          <p:nvPr/>
        </p:nvSpPr>
        <p:spPr>
          <a:xfrm xmlns:a="http://schemas.openxmlformats.org/drawingml/2006/main">
            <a:off x="4038600" y="384810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다른 지침과 중복·충돌할 수 있다</a:t>
            </a:r>
          </a:p>
        </p:txBody>
      </p:sp>
      <p:sp>
        <p:nvSpPr>
          <p:cNvPr id="14" name="">
            <a:extLst xmlns:a="http://schemas.openxmlformats.org/drawingml/2006/main">
              <a:ext uri="{FF2B5EF4-FFF2-40B4-BE49-F238E27FC236}">
                <a16:creationId xmlns:a16="http://schemas.microsoft.com/office/drawing/2014/main" id="{8B8240CD-ED2C-4154-A89B-62CDFA21BF7C}"/>
              </a:ext>
            </a:extLst>
          </p:cNvPr>
          <p:cNvSpPr>
            <a:spLocks xmlns:a="http://schemas.openxmlformats.org/drawingml/2006/main" noGrp="1"/>
          </p:cNvSpPr>
          <p:nvPr/>
        </p:nvSpPr>
        <p:spPr>
          <a:xfrm xmlns:a="http://schemas.openxmlformats.org/drawingml/2006/main">
            <a:off x="609600" y="4514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원인인 Workflow 갱신">
            <a:extLst xmlns:a="http://schemas.openxmlformats.org/drawingml/2006/main">
              <a:ext uri="{FF2B5EF4-FFF2-40B4-BE49-F238E27FC236}">
                <a16:creationId xmlns:a16="http://schemas.microsoft.com/office/drawing/2014/main" id="{C124B8BC-F9DF-4DC7-909B-25F7CF1E528B}"/>
              </a:ext>
            </a:extLst>
          </p:cNvPr>
          <p:cNvSpPr>
            <a:spLocks xmlns:a="http://schemas.openxmlformats.org/drawingml/2006/main" noGrp="1"/>
          </p:cNvSpPr>
          <p:nvPr/>
        </p:nvSpPr>
        <p:spPr>
          <a:xfrm xmlns:a="http://schemas.openxmlformats.org/drawingml/2006/main">
            <a:off x="609600" y="46291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원인인 Workflow 갱신</a:t>
            </a:r>
          </a:p>
        </p:txBody>
      </p:sp>
      <p:sp>
        <p:nvSpPr>
          <p:cNvPr id="16" name="다음 Task가 재사용할 절차를 바꾼다">
            <a:extLst xmlns:a="http://schemas.openxmlformats.org/drawingml/2006/main">
              <a:ext uri="{FF2B5EF4-FFF2-40B4-BE49-F238E27FC236}">
                <a16:creationId xmlns:a16="http://schemas.microsoft.com/office/drawing/2014/main" id="{01D5D159-25D7-4D87-A3C2-CF493CD92867}"/>
              </a:ext>
            </a:extLst>
          </p:cNvPr>
          <p:cNvSpPr>
            <a:spLocks xmlns:a="http://schemas.openxmlformats.org/drawingml/2006/main" noGrp="1"/>
          </p:cNvSpPr>
          <p:nvPr/>
        </p:nvSpPr>
        <p:spPr>
          <a:xfrm xmlns:a="http://schemas.openxmlformats.org/drawingml/2006/main">
            <a:off x="4038600" y="46291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다음 Task가 재사용할 절차를 바꾼다</a:t>
            </a:r>
          </a:p>
        </p:txBody>
      </p:sp>
      <p:sp>
        <p:nvSpPr>
          <p:cNvPr id="17" name="선택 기준: 원인이 있는 곳과 변경할 곳이 맞는가?">
            <a:extLst xmlns:a="http://schemas.openxmlformats.org/drawingml/2006/main">
              <a:ext uri="{FF2B5EF4-FFF2-40B4-BE49-F238E27FC236}">
                <a16:creationId xmlns:a16="http://schemas.microsoft.com/office/drawing/2014/main" id="{C300ECA1-4349-4F1A-84DB-CDD4978E6980}"/>
              </a:ext>
            </a:extLst>
          </p:cNvPr>
          <p:cNvSpPr>
            <a:spLocks xmlns:a="http://schemas.openxmlformats.org/drawingml/2006/main" noGrp="1"/>
          </p:cNvSpPr>
          <p:nvPr/>
        </p:nvSpPr>
        <p:spPr>
          <a:xfrm xmlns:a="http://schemas.openxmlformats.org/drawingml/2006/main">
            <a:off x="609600" y="53625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 기준: 원인이 있는 곳과 변경할 곳이 맞는가?</a:t>
            </a:r>
          </a:p>
        </p:txBody>
      </p:sp>
    </p:spTree>
    <p:extLst>
      <p:ext uri="{BB962C8B-B14F-4D97-AF65-F5344CB8AC3E}">
        <p14:creationId xmlns:p14="http://schemas.microsoft.com/office/powerpoint/2010/main" val="171062340"/>
      </p:ext>
    </p:extLst>
  </p:cSld>
</p:sld>
</file>

<file path=ppt/slides/slide6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4 · CONCEPTUAL / 원인 후보">
            <a:extLst xmlns:a="http://schemas.openxmlformats.org/drawingml/2006/main">
              <a:ext uri="{FF2B5EF4-FFF2-40B4-BE49-F238E27FC236}">
                <a16:creationId xmlns:a16="http://schemas.microsoft.com/office/drawing/2014/main" id="{C0A1F70D-2454-4972-8EC6-78C7934141F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 후보</a:t>
            </a:r>
          </a:p>
        </p:txBody>
      </p:sp>
      <p:sp>
        <p:nvSpPr>
          <p:cNvPr id="2" name="S60">
            <a:extLst xmlns:a="http://schemas.openxmlformats.org/drawingml/2006/main">
              <a:ext uri="{FF2B5EF4-FFF2-40B4-BE49-F238E27FC236}">
                <a16:creationId xmlns:a16="http://schemas.microsoft.com/office/drawing/2014/main" id="{A6EA4033-023E-4BA7-A520-9A81061E3D5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실패 지점과 원인 Layer 구분하기">
            <a:extLst xmlns:a="http://schemas.openxmlformats.org/drawingml/2006/main">
              <a:ext uri="{FF2B5EF4-FFF2-40B4-BE49-F238E27FC236}">
                <a16:creationId xmlns:a16="http://schemas.microsoft.com/office/drawing/2014/main" id="{8FDBC949-DA71-41FE-B50D-D0948F39CCF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실패 지점과 원인 Layer 구분하기</a:t>
            </a:r>
          </a:p>
        </p:txBody>
      </p:sp>
      <p:sp>
        <p:nvSpPr>
          <p:cNvPr id="4" name="">
            <a:extLst xmlns:a="http://schemas.openxmlformats.org/drawingml/2006/main">
              <a:ext uri="{FF2B5EF4-FFF2-40B4-BE49-F238E27FC236}">
                <a16:creationId xmlns:a16="http://schemas.microsoft.com/office/drawing/2014/main" id="{2E5F44A3-4470-4086-8F27-6CA8FBDB54A4}"/>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1 · 원인을 찾기 위한 교육용 관점">
            <a:extLst xmlns:a="http://schemas.openxmlformats.org/drawingml/2006/main">
              <a:ext uri="{FF2B5EF4-FFF2-40B4-BE49-F238E27FC236}">
                <a16:creationId xmlns:a16="http://schemas.microsoft.com/office/drawing/2014/main" id="{FEBF9431-0C30-4CD4-A7A9-E618931ABD37}"/>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DEMO-11 · 원인을 찾기 위한 교육용 관점</a:t>
            </a:r>
          </a:p>
        </p:txBody>
      </p:sp>
      <p:sp>
        <p:nvSpPr>
          <p:cNvPr id="6" name="가능한 원인 후보이며, 증상만으로 한 원인을 확정하지 않는다.">
            <a:extLst xmlns:a="http://schemas.openxmlformats.org/drawingml/2006/main">
              <a:ext uri="{FF2B5EF4-FFF2-40B4-BE49-F238E27FC236}">
                <a16:creationId xmlns:a16="http://schemas.microsoft.com/office/drawing/2014/main" id="{2E992D7F-3BE4-49E3-BBA9-B08B71E62824}"/>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가능한 원인 후보이며, 증상만으로 한 원인을 확정하지 않는다.</a:t>
            </a:r>
          </a:p>
        </p:txBody>
      </p:sp>
      <p:sp>
        <p:nvSpPr>
          <p:cNvPr id="7" name="“요청한 검증이 충분한가?”">
            <a:extLst xmlns:a="http://schemas.openxmlformats.org/drawingml/2006/main">
              <a:ext uri="{FF2B5EF4-FFF2-40B4-BE49-F238E27FC236}">
                <a16:creationId xmlns:a16="http://schemas.microsoft.com/office/drawing/2014/main" id="{9F4F6F53-8572-4937-B7DE-D297F4E74AA1}"/>
              </a:ext>
            </a:extLst>
          </p:cNvPr>
          <p:cNvSpPr>
            <a:spLocks xmlns:a="http://schemas.openxmlformats.org/drawingml/2006/main" noGrp="1"/>
          </p:cNvSpPr>
          <p:nvPr/>
        </p:nvSpPr>
        <p:spPr>
          <a:xfrm xmlns:a="http://schemas.openxmlformats.org/drawingml/2006/main">
            <a:off x="609600" y="2266950"/>
            <a:ext cx="5334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“요청한 검증이 충분한가?”</a:t>
            </a:r>
          </a:p>
        </p:txBody>
      </p:sp>
      <p:sp>
        <p:nvSpPr>
          <p:cNvPr id="8" name="증상에서 바로 결론으로 가지 않는다">
            <a:extLst xmlns:a="http://schemas.openxmlformats.org/drawingml/2006/main">
              <a:ext uri="{FF2B5EF4-FFF2-40B4-BE49-F238E27FC236}">
                <a16:creationId xmlns:a16="http://schemas.microsoft.com/office/drawing/2014/main" id="{CB7C8F05-EAFB-4EF3-AD1B-5BE089E5D1D1}"/>
              </a:ext>
            </a:extLst>
          </p:cNvPr>
          <p:cNvSpPr>
            <a:spLocks xmlns:a="http://schemas.openxmlformats.org/drawingml/2006/main" noGrp="1"/>
          </p:cNvSpPr>
          <p:nvPr/>
        </p:nvSpPr>
        <p:spPr>
          <a:xfrm xmlns:a="http://schemas.openxmlformats.org/drawingml/2006/main">
            <a:off x="609600" y="3105150"/>
            <a:ext cx="5334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증상에서 바로 결론으로 가지 않는다</a:t>
            </a:r>
          </a:p>
        </p:txBody>
      </p:sp>
      <p:sp>
        <p:nvSpPr>
          <p:cNvPr id="9" name="">
            <a:extLst xmlns:a="http://schemas.openxmlformats.org/drawingml/2006/main">
              <a:ext uri="{FF2B5EF4-FFF2-40B4-BE49-F238E27FC236}">
                <a16:creationId xmlns:a16="http://schemas.microsoft.com/office/drawing/2014/main" id="{6D1EA735-2CD7-496B-957E-370FDAB43EF4}"/>
              </a:ext>
            </a:extLst>
          </p:cNvPr>
          <p:cNvSpPr>
            <a:spLocks xmlns:a="http://schemas.openxmlformats.org/drawingml/2006/main" noGrp="1"/>
          </p:cNvSpPr>
          <p:nvPr/>
        </p:nvSpPr>
        <p:spPr>
          <a:xfrm xmlns:a="http://schemas.openxmlformats.org/drawingml/2006/main">
            <a:off x="6705600" y="22669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0" name="Context">
            <a:extLst xmlns:a="http://schemas.openxmlformats.org/drawingml/2006/main">
              <a:ext uri="{FF2B5EF4-FFF2-40B4-BE49-F238E27FC236}">
                <a16:creationId xmlns:a16="http://schemas.microsoft.com/office/drawing/2014/main" id="{D081B23F-DF0D-4334-A8B9-3752F83638D1}"/>
              </a:ext>
            </a:extLst>
          </p:cNvPr>
          <p:cNvSpPr>
            <a:spLocks xmlns:a="http://schemas.openxmlformats.org/drawingml/2006/main" noGrp="1"/>
          </p:cNvSpPr>
          <p:nvPr/>
        </p:nvSpPr>
        <p:spPr>
          <a:xfrm xmlns:a="http://schemas.openxmlformats.org/drawingml/2006/main">
            <a:off x="6705600" y="23622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Context</a:t>
            </a:r>
          </a:p>
        </p:txBody>
      </p:sp>
      <p:sp>
        <p:nvSpPr>
          <p:cNvPr id="11" name="현재 기준이 맞는가?">
            <a:extLst xmlns:a="http://schemas.openxmlformats.org/drawingml/2006/main">
              <a:ext uri="{FF2B5EF4-FFF2-40B4-BE49-F238E27FC236}">
                <a16:creationId xmlns:a16="http://schemas.microsoft.com/office/drawing/2014/main" id="{DD639BB8-7163-42F3-B61F-BA420B0A81B6}"/>
              </a:ext>
            </a:extLst>
          </p:cNvPr>
          <p:cNvSpPr>
            <a:spLocks xmlns:a="http://schemas.openxmlformats.org/drawingml/2006/main" noGrp="1"/>
          </p:cNvSpPr>
          <p:nvPr/>
        </p:nvSpPr>
        <p:spPr>
          <a:xfrm xmlns:a="http://schemas.openxmlformats.org/drawingml/2006/main">
            <a:off x="8610600" y="23622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기준이 맞는가?</a:t>
            </a:r>
          </a:p>
        </p:txBody>
      </p:sp>
      <p:sp>
        <p:nvSpPr>
          <p:cNvPr id="12" name="">
            <a:extLst xmlns:a="http://schemas.openxmlformats.org/drawingml/2006/main">
              <a:ext uri="{FF2B5EF4-FFF2-40B4-BE49-F238E27FC236}">
                <a16:creationId xmlns:a16="http://schemas.microsoft.com/office/drawing/2014/main" id="{C2340D7D-5FE4-4436-A438-F85616087484}"/>
              </a:ext>
            </a:extLst>
          </p:cNvPr>
          <p:cNvSpPr>
            <a:spLocks xmlns:a="http://schemas.openxmlformats.org/drawingml/2006/main" noGrp="1"/>
          </p:cNvSpPr>
          <p:nvPr/>
        </p:nvSpPr>
        <p:spPr>
          <a:xfrm xmlns:a="http://schemas.openxmlformats.org/drawingml/2006/main">
            <a:off x="6705600" y="30480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3" name="Workflow">
            <a:extLst xmlns:a="http://schemas.openxmlformats.org/drawingml/2006/main">
              <a:ext uri="{FF2B5EF4-FFF2-40B4-BE49-F238E27FC236}">
                <a16:creationId xmlns:a16="http://schemas.microsoft.com/office/drawing/2014/main" id="{1BEAEF52-7018-4A44-BEE7-64B566EC76C8}"/>
              </a:ext>
            </a:extLst>
          </p:cNvPr>
          <p:cNvSpPr>
            <a:spLocks xmlns:a="http://schemas.openxmlformats.org/drawingml/2006/main" noGrp="1"/>
          </p:cNvSpPr>
          <p:nvPr/>
        </p:nvSpPr>
        <p:spPr>
          <a:xfrm xmlns:a="http://schemas.openxmlformats.org/drawingml/2006/main">
            <a:off x="6705600" y="31432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Workflow</a:t>
            </a:r>
          </a:p>
        </p:txBody>
      </p:sp>
      <p:sp>
        <p:nvSpPr>
          <p:cNvPr id="14" name="어떤 절차를 지시하는가?">
            <a:extLst xmlns:a="http://schemas.openxmlformats.org/drawingml/2006/main">
              <a:ext uri="{FF2B5EF4-FFF2-40B4-BE49-F238E27FC236}">
                <a16:creationId xmlns:a16="http://schemas.microsoft.com/office/drawing/2014/main" id="{1D7B1341-BB18-47BC-AFAA-F3EC966D89F4}"/>
              </a:ext>
            </a:extLst>
          </p:cNvPr>
          <p:cNvSpPr>
            <a:spLocks xmlns:a="http://schemas.openxmlformats.org/drawingml/2006/main" noGrp="1"/>
          </p:cNvSpPr>
          <p:nvPr/>
        </p:nvSpPr>
        <p:spPr>
          <a:xfrm xmlns:a="http://schemas.openxmlformats.org/drawingml/2006/main">
            <a:off x="8610600" y="31432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어떤 절차를 지시하는가?</a:t>
            </a:r>
          </a:p>
        </p:txBody>
      </p:sp>
      <p:sp>
        <p:nvSpPr>
          <p:cNvPr id="15" name="">
            <a:extLst xmlns:a="http://schemas.openxmlformats.org/drawingml/2006/main">
              <a:ext uri="{FF2B5EF4-FFF2-40B4-BE49-F238E27FC236}">
                <a16:creationId xmlns:a16="http://schemas.microsoft.com/office/drawing/2014/main" id="{F1FF747D-CA45-4489-924B-E4BB051188A0}"/>
              </a:ext>
            </a:extLst>
          </p:cNvPr>
          <p:cNvSpPr>
            <a:spLocks xmlns:a="http://schemas.openxmlformats.org/drawingml/2006/main" noGrp="1"/>
          </p:cNvSpPr>
          <p:nvPr/>
        </p:nvSpPr>
        <p:spPr>
          <a:xfrm xmlns:a="http://schemas.openxmlformats.org/drawingml/2006/main">
            <a:off x="6705600" y="38290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6" name="환경 · 권한">
            <a:extLst xmlns:a="http://schemas.openxmlformats.org/drawingml/2006/main">
              <a:ext uri="{FF2B5EF4-FFF2-40B4-BE49-F238E27FC236}">
                <a16:creationId xmlns:a16="http://schemas.microsoft.com/office/drawing/2014/main" id="{ACA7B925-6B71-4DFD-9FE8-CCC524397EBD}"/>
              </a:ext>
            </a:extLst>
          </p:cNvPr>
          <p:cNvSpPr>
            <a:spLocks xmlns:a="http://schemas.openxmlformats.org/drawingml/2006/main" noGrp="1"/>
          </p:cNvSpPr>
          <p:nvPr/>
        </p:nvSpPr>
        <p:spPr>
          <a:xfrm xmlns:a="http://schemas.openxmlformats.org/drawingml/2006/main">
            <a:off x="6705600" y="39243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환경 · 권한</a:t>
            </a:r>
          </a:p>
        </p:txBody>
      </p:sp>
      <p:sp>
        <p:nvSpPr>
          <p:cNvPr id="17" name="실행 조건이 맞는가?">
            <a:extLst xmlns:a="http://schemas.openxmlformats.org/drawingml/2006/main">
              <a:ext uri="{FF2B5EF4-FFF2-40B4-BE49-F238E27FC236}">
                <a16:creationId xmlns:a16="http://schemas.microsoft.com/office/drawing/2014/main" id="{244E2E0C-2CC6-47B5-A263-CB776608B1E2}"/>
              </a:ext>
            </a:extLst>
          </p:cNvPr>
          <p:cNvSpPr>
            <a:spLocks xmlns:a="http://schemas.openxmlformats.org/drawingml/2006/main" noGrp="1"/>
          </p:cNvSpPr>
          <p:nvPr/>
        </p:nvSpPr>
        <p:spPr>
          <a:xfrm xmlns:a="http://schemas.openxmlformats.org/drawingml/2006/main">
            <a:off x="8610600" y="39243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 조건이 맞는가?</a:t>
            </a:r>
          </a:p>
        </p:txBody>
      </p:sp>
      <p:sp>
        <p:nvSpPr>
          <p:cNvPr id="18" name="">
            <a:extLst xmlns:a="http://schemas.openxmlformats.org/drawingml/2006/main">
              <a:ext uri="{FF2B5EF4-FFF2-40B4-BE49-F238E27FC236}">
                <a16:creationId xmlns:a16="http://schemas.microsoft.com/office/drawing/2014/main" id="{0E15F54F-ABC3-47D1-8033-E8D9755108E9}"/>
              </a:ext>
            </a:extLst>
          </p:cNvPr>
          <p:cNvSpPr>
            <a:spLocks xmlns:a="http://schemas.openxmlformats.org/drawingml/2006/main" noGrp="1"/>
          </p:cNvSpPr>
          <p:nvPr/>
        </p:nvSpPr>
        <p:spPr>
          <a:xfrm xmlns:a="http://schemas.openxmlformats.org/drawingml/2006/main">
            <a:off x="6705600" y="46101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9" name="제품 코드">
            <a:extLst xmlns:a="http://schemas.openxmlformats.org/drawingml/2006/main">
              <a:ext uri="{FF2B5EF4-FFF2-40B4-BE49-F238E27FC236}">
                <a16:creationId xmlns:a16="http://schemas.microsoft.com/office/drawing/2014/main" id="{A30A6432-BC16-40F0-981D-62B928A6729D}"/>
              </a:ext>
            </a:extLst>
          </p:cNvPr>
          <p:cNvSpPr>
            <a:spLocks xmlns:a="http://schemas.openxmlformats.org/drawingml/2006/main" noGrp="1"/>
          </p:cNvSpPr>
          <p:nvPr/>
        </p:nvSpPr>
        <p:spPr>
          <a:xfrm xmlns:a="http://schemas.openxmlformats.org/drawingml/2006/main">
            <a:off x="6705600" y="47053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제품 코드</a:t>
            </a:r>
          </a:p>
        </p:txBody>
      </p:sp>
      <p:sp>
        <p:nvSpPr>
          <p:cNvPr id="20" name="동작 자체의 문제인가?">
            <a:extLst xmlns:a="http://schemas.openxmlformats.org/drawingml/2006/main">
              <a:ext uri="{FF2B5EF4-FFF2-40B4-BE49-F238E27FC236}">
                <a16:creationId xmlns:a16="http://schemas.microsoft.com/office/drawing/2014/main" id="{2F9DFAD3-E2A8-4EB6-872A-AA2BB59A738B}"/>
              </a:ext>
            </a:extLst>
          </p:cNvPr>
          <p:cNvSpPr>
            <a:spLocks xmlns:a="http://schemas.openxmlformats.org/drawingml/2006/main" noGrp="1"/>
          </p:cNvSpPr>
          <p:nvPr/>
        </p:nvSpPr>
        <p:spPr>
          <a:xfrm xmlns:a="http://schemas.openxmlformats.org/drawingml/2006/main">
            <a:off x="8610600" y="47053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자체의 문제인가?</a:t>
            </a:r>
          </a:p>
        </p:txBody>
      </p:sp>
      <p:sp>
        <p:nvSpPr>
          <p:cNvPr id="21" name="확인할 기록부터 찾는다">
            <a:extLst xmlns:a="http://schemas.openxmlformats.org/drawingml/2006/main">
              <a:ext uri="{FF2B5EF4-FFF2-40B4-BE49-F238E27FC236}">
                <a16:creationId xmlns:a16="http://schemas.microsoft.com/office/drawing/2014/main" id="{73B4ECEA-370C-4BA0-BAE1-A67D412F1C82}"/>
              </a:ext>
            </a:extLst>
          </p:cNvPr>
          <p:cNvSpPr>
            <a:spLocks xmlns:a="http://schemas.openxmlformats.org/drawingml/2006/main" noGrp="1"/>
          </p:cNvSpPr>
          <p:nvPr/>
        </p:nvSpPr>
        <p:spPr>
          <a:xfrm xmlns:a="http://schemas.openxmlformats.org/drawingml/2006/main">
            <a:off x="609600" y="4667250"/>
            <a:ext cx="5238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확인할 기록부터 찾는다</a:t>
            </a:r>
          </a:p>
        </p:txBody>
      </p:sp>
    </p:spTree>
    <p:extLst>
      <p:ext uri="{BB962C8B-B14F-4D97-AF65-F5344CB8AC3E}">
        <p14:creationId xmlns:p14="http://schemas.microsoft.com/office/powerpoint/2010/main" val="761088976"/>
      </p:ext>
    </p:extLst>
  </p:cSld>
</p:sld>
</file>

<file path=ppt/slides/slide6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4 · CONCEPTUAL / 가정과 추론">
            <a:extLst xmlns:a="http://schemas.openxmlformats.org/drawingml/2006/main">
              <a:ext uri="{FF2B5EF4-FFF2-40B4-BE49-F238E27FC236}">
                <a16:creationId xmlns:a16="http://schemas.microsoft.com/office/drawing/2014/main" id="{78ED91BC-96AA-44A4-8DAC-AA6A673F3E9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가정과 추론</a:t>
            </a:r>
          </a:p>
        </p:txBody>
      </p:sp>
      <p:sp>
        <p:nvSpPr>
          <p:cNvPr id="2" name="S61">
            <a:extLst xmlns:a="http://schemas.openxmlformats.org/drawingml/2006/main">
              <a:ext uri="{FF2B5EF4-FFF2-40B4-BE49-F238E27FC236}">
                <a16:creationId xmlns:a16="http://schemas.microsoft.com/office/drawing/2014/main" id="{533D863F-1A20-452F-B08A-6A08A9F3132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먼저 관찰하고, 그다음 가설을 세운다">
            <a:extLst xmlns:a="http://schemas.openxmlformats.org/drawingml/2006/main">
              <a:ext uri="{FF2B5EF4-FFF2-40B4-BE49-F238E27FC236}">
                <a16:creationId xmlns:a16="http://schemas.microsoft.com/office/drawing/2014/main" id="{80C376B6-2AF8-4E32-9F83-63551DDCB73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관찰하고, 그다음 가설을 세운다</a:t>
            </a:r>
          </a:p>
        </p:txBody>
      </p:sp>
      <p:sp>
        <p:nvSpPr>
          <p:cNvPr id="4" name="">
            <a:extLst xmlns:a="http://schemas.openxmlformats.org/drawingml/2006/main">
              <a:ext uri="{FF2B5EF4-FFF2-40B4-BE49-F238E27FC236}">
                <a16:creationId xmlns:a16="http://schemas.microsoft.com/office/drawing/2014/main" id="{68A2D2EC-10E9-4E9D-A9EF-061C5C2A68D7}"/>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구성된 사례의 전제와 원인 가설">
            <a:extLst xmlns:a="http://schemas.openxmlformats.org/drawingml/2006/main">
              <a:ext uri="{FF2B5EF4-FFF2-40B4-BE49-F238E27FC236}">
                <a16:creationId xmlns:a16="http://schemas.microsoft.com/office/drawing/2014/main" id="{E1997CAA-5B11-4FEF-8525-682B874EFFF4}"/>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구성된 사례의 전제와 원인 가설</a:t>
            </a:r>
          </a:p>
        </p:txBody>
      </p:sp>
      <p:sp>
        <p:nvSpPr>
          <p:cNvPr id="6" name="가상 설정을 실제 Trial 관찰로 표현하지 않는다. 실행 결과는 아직 없다.">
            <a:extLst xmlns:a="http://schemas.openxmlformats.org/drawingml/2006/main">
              <a:ext uri="{FF2B5EF4-FFF2-40B4-BE49-F238E27FC236}">
                <a16:creationId xmlns:a16="http://schemas.microsoft.com/office/drawing/2014/main" id="{C9D51915-D8AB-446F-87CD-C859EBC19211}"/>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설정을 실제 Trial 관찰로 표현하지 않는다. 실행 결과는 아직 없다.</a:t>
            </a:r>
          </a:p>
        </p:txBody>
      </p:sp>
      <p:sp>
        <p:nvSpPr>
          <p:cNvPr id="7" name="사례에 주어진 정보">
            <a:extLst xmlns:a="http://schemas.openxmlformats.org/drawingml/2006/main">
              <a:ext uri="{FF2B5EF4-FFF2-40B4-BE49-F238E27FC236}">
                <a16:creationId xmlns:a16="http://schemas.microsoft.com/office/drawing/2014/main" id="{8F126B73-8ED0-44A7-9D47-BBA7FF5138B2}"/>
              </a:ext>
            </a:extLst>
          </p:cNvPr>
          <p:cNvSpPr>
            <a:spLocks xmlns:a="http://schemas.openxmlformats.org/drawingml/2006/main" noGrp="1"/>
          </p:cNvSpPr>
          <p:nvPr/>
        </p:nvSpPr>
        <p:spPr>
          <a:xfrm xmlns:a="http://schemas.openxmlformats.org/drawingml/2006/main">
            <a:off x="609600" y="2228850"/>
            <a:ext cx="4953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사례에 주어진 정보</a:t>
            </a:r>
          </a:p>
        </p:txBody>
      </p:sp>
      <p:sp>
        <p:nvSpPr>
          <p:cNvPr id="8" name="확인해야 할 가설">
            <a:extLst xmlns:a="http://schemas.openxmlformats.org/drawingml/2006/main">
              <a:ext uri="{FF2B5EF4-FFF2-40B4-BE49-F238E27FC236}">
                <a16:creationId xmlns:a16="http://schemas.microsoft.com/office/drawing/2014/main" id="{A095EF2E-A7E2-449F-918B-23749D0F6C47}"/>
              </a:ext>
            </a:extLst>
          </p:cNvPr>
          <p:cNvSpPr>
            <a:spLocks xmlns:a="http://schemas.openxmlformats.org/drawingml/2006/main" noGrp="1"/>
          </p:cNvSpPr>
          <p:nvPr/>
        </p:nvSpPr>
        <p:spPr>
          <a:xfrm xmlns:a="http://schemas.openxmlformats.org/drawingml/2006/main">
            <a:off x="6705600" y="2228850"/>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확인해야 할 가설</a:t>
            </a:r>
          </a:p>
        </p:txBody>
      </p:sp>
      <p:sp>
        <p:nvSpPr>
          <p:cNvPr id="9" name="">
            <a:extLst xmlns:a="http://schemas.openxmlformats.org/drawingml/2006/main">
              <a:ext uri="{FF2B5EF4-FFF2-40B4-BE49-F238E27FC236}">
                <a16:creationId xmlns:a16="http://schemas.microsoft.com/office/drawing/2014/main" id="{63A3A136-A20B-4BA2-87C7-2D1D69E7F3B6}"/>
              </a:ext>
            </a:extLst>
          </p:cNvPr>
          <p:cNvSpPr>
            <a:spLocks xmlns:a="http://schemas.openxmlformats.org/drawingml/2006/main" noGrp="1"/>
          </p:cNvSpPr>
          <p:nvPr/>
        </p:nvSpPr>
        <p:spPr>
          <a:xfrm xmlns:a="http://schemas.openxmlformats.org/drawingml/2006/main">
            <a:off x="609600" y="2857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02A4268B-6E98-46FB-9D46-9749A180AD98}"/>
              </a:ext>
            </a:extLst>
          </p:cNvPr>
          <p:cNvSpPr>
            <a:spLocks xmlns:a="http://schemas.openxmlformats.org/drawingml/2006/main" noGrp="1"/>
          </p:cNvSpPr>
          <p:nvPr/>
        </p:nvSpPr>
        <p:spPr>
          <a:xfrm xmlns:a="http://schemas.openxmlformats.org/drawingml/2006/main">
            <a:off x="6705600" y="2857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현재 기준: 단위 + 통합&#10;재사용 지침: 단위만">
            <a:extLst xmlns:a="http://schemas.openxmlformats.org/drawingml/2006/main">
              <a:ext uri="{FF2B5EF4-FFF2-40B4-BE49-F238E27FC236}">
                <a16:creationId xmlns:a16="http://schemas.microsoft.com/office/drawing/2014/main" id="{1C05BF39-C478-49C5-BEAB-94C5FF947301}"/>
              </a:ext>
            </a:extLst>
          </p:cNvPr>
          <p:cNvSpPr>
            <a:spLocks xmlns:a="http://schemas.openxmlformats.org/drawingml/2006/main" noGrp="1"/>
          </p:cNvSpPr>
          <p:nvPr/>
        </p:nvSpPr>
        <p:spPr>
          <a:xfrm xmlns:a="http://schemas.openxmlformats.org/drawingml/2006/main">
            <a:off x="609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현재 기준: 단위 + 통합</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재사용 지침: 단위만</a:t>
            </a:r>
          </a:p>
        </p:txBody>
      </p:sp>
      <p:sp>
        <p:nvSpPr>
          <p:cNvPr id="12" name="오래된 Workflow가&#10;문제의 원인일 수 있다">
            <a:extLst xmlns:a="http://schemas.openxmlformats.org/drawingml/2006/main">
              <a:ext uri="{FF2B5EF4-FFF2-40B4-BE49-F238E27FC236}">
                <a16:creationId xmlns:a16="http://schemas.microsoft.com/office/drawing/2014/main" id="{EDCD861D-F991-41CE-9C72-98C20CC61980}"/>
              </a:ext>
            </a:extLst>
          </p:cNvPr>
          <p:cNvSpPr>
            <a:spLocks xmlns:a="http://schemas.openxmlformats.org/drawingml/2006/main" noGrp="1"/>
          </p:cNvSpPr>
          <p:nvPr/>
        </p:nvSpPr>
        <p:spPr>
          <a:xfrm xmlns:a="http://schemas.openxmlformats.org/drawingml/2006/main">
            <a:off x="6705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오래된 Workflow가</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문제의 원인일 수 있다</a:t>
            </a:r>
          </a:p>
        </p:txBody>
      </p:sp>
      <p:sp>
        <p:nvSpPr>
          <p:cNvPr id="13" name="실행 경로와 실제로 읽은 지침을 대조해야 원인을 판단할 수 있다.">
            <a:extLst xmlns:a="http://schemas.openxmlformats.org/drawingml/2006/main">
              <a:ext uri="{FF2B5EF4-FFF2-40B4-BE49-F238E27FC236}">
                <a16:creationId xmlns:a16="http://schemas.microsoft.com/office/drawing/2014/main" id="{DDFC91C1-CDF5-47D9-9A9E-579A5DCFCF72}"/>
              </a:ext>
            </a:extLst>
          </p:cNvPr>
          <p:cNvSpPr>
            <a:spLocks xmlns:a="http://schemas.openxmlformats.org/drawingml/2006/main" noGrp="1"/>
          </p:cNvSpPr>
          <p:nvPr/>
        </p:nvSpPr>
        <p:spPr>
          <a:xfrm xmlns:a="http://schemas.openxmlformats.org/drawingml/2006/main">
            <a:off x="609600" y="49149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경로와 실제로 읽은 지침을 대조해야 원인을 판단할 수 있다.</a:t>
            </a:r>
          </a:p>
        </p:txBody>
      </p:sp>
    </p:spTree>
    <p:extLst>
      <p:ext uri="{BB962C8B-B14F-4D97-AF65-F5344CB8AC3E}">
        <p14:creationId xmlns:p14="http://schemas.microsoft.com/office/powerpoint/2010/main" val="1729685888"/>
      </p:ext>
    </p:extLst>
  </p:cSld>
</p:sld>
</file>

<file path=ppt/slides/slide6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4 · CONCEPTUAL / 원인에 맞는 수정">
            <a:extLst xmlns:a="http://schemas.openxmlformats.org/drawingml/2006/main">
              <a:ext uri="{FF2B5EF4-FFF2-40B4-BE49-F238E27FC236}">
                <a16:creationId xmlns:a16="http://schemas.microsoft.com/office/drawing/2014/main" id="{72233069-53BE-489B-B95B-9C811014956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원인에 맞는 수정</a:t>
            </a:r>
          </a:p>
        </p:txBody>
      </p:sp>
      <p:sp>
        <p:nvSpPr>
          <p:cNvPr id="2" name="S62">
            <a:extLst xmlns:a="http://schemas.openxmlformats.org/drawingml/2006/main">
              <a:ext uri="{FF2B5EF4-FFF2-40B4-BE49-F238E27FC236}">
                <a16:creationId xmlns:a16="http://schemas.microsoft.com/office/drawing/2014/main" id="{DCFF303C-6DB3-4C42-9F32-C88CA0A1348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Cause가 지지하는 최소 변경">
            <a:extLst xmlns:a="http://schemas.openxmlformats.org/drawingml/2006/main">
              <a:ext uri="{FF2B5EF4-FFF2-40B4-BE49-F238E27FC236}">
                <a16:creationId xmlns:a16="http://schemas.microsoft.com/office/drawing/2014/main" id="{675360BE-4817-480E-BF0B-60CDCDD43B8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Cause가 지지하는 최소 변경</a:t>
            </a:r>
          </a:p>
        </p:txBody>
      </p:sp>
      <p:sp>
        <p:nvSpPr>
          <p:cNvPr id="4" name="">
            <a:extLst xmlns:a="http://schemas.openxmlformats.org/drawingml/2006/main">
              <a:ext uri="{FF2B5EF4-FFF2-40B4-BE49-F238E27FC236}">
                <a16:creationId xmlns:a16="http://schemas.microsoft.com/office/drawing/2014/main" id="{47FBB8C6-4B59-44CB-B439-D130FB2606D1}"/>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원인이 확인됐다고 가정한 변경 설계">
            <a:extLst xmlns:a="http://schemas.openxmlformats.org/drawingml/2006/main">
              <a:ext uri="{FF2B5EF4-FFF2-40B4-BE49-F238E27FC236}">
                <a16:creationId xmlns:a16="http://schemas.microsoft.com/office/drawing/2014/main" id="{A635F2AC-7C50-48E4-B1D8-F6F53EED3654}"/>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원인이 확인됐다고 가정한 변경 설계</a:t>
            </a:r>
          </a:p>
        </p:txBody>
      </p:sp>
      <p:sp>
        <p:nvSpPr>
          <p:cNvPr id="6" name="실제 코드·Skill 수정 또는 실행 결과가 아니다. 관련 없는 규칙은 임의로 바꾸지 않는다.">
            <a:extLst xmlns:a="http://schemas.openxmlformats.org/drawingml/2006/main">
              <a:ext uri="{FF2B5EF4-FFF2-40B4-BE49-F238E27FC236}">
                <a16:creationId xmlns:a16="http://schemas.microsoft.com/office/drawing/2014/main" id="{5A3381EE-7ED9-4F9A-8077-E3233F4C192C}"/>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코드·Skill 수정 또는 실행 결과가 아니다. 관련 없는 규칙은 임의로 바꾸지 않는다.</a:t>
            </a:r>
          </a:p>
        </p:txBody>
      </p:sp>
      <p:sp>
        <p:nvSpPr>
          <p:cNvPr id="7" name="Workflow가 원인으로 확인됐다면">
            <a:extLst xmlns:a="http://schemas.openxmlformats.org/drawingml/2006/main">
              <a:ext uri="{FF2B5EF4-FFF2-40B4-BE49-F238E27FC236}">
                <a16:creationId xmlns:a16="http://schemas.microsoft.com/office/drawing/2014/main" id="{876E1F91-0198-40BB-A22B-500E392DEDD9}"/>
              </a:ext>
            </a:extLst>
          </p:cNvPr>
          <p:cNvSpPr>
            <a:spLocks xmlns:a="http://schemas.openxmlformats.org/drawingml/2006/main" noGrp="1"/>
          </p:cNvSpPr>
          <p:nvPr/>
        </p:nvSpPr>
        <p:spPr>
          <a:xfrm xmlns:a="http://schemas.openxmlformats.org/drawingml/2006/main">
            <a:off x="609600" y="211455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Workflow가 원인으로 확인됐다면</a:t>
            </a:r>
          </a:p>
        </p:txBody>
      </p:sp>
      <p:sp>
        <p:nvSpPr>
          <p:cNvPr id="8" name="기존 재사용 지침">
            <a:extLst xmlns:a="http://schemas.openxmlformats.org/drawingml/2006/main">
              <a:ext uri="{FF2B5EF4-FFF2-40B4-BE49-F238E27FC236}">
                <a16:creationId xmlns:a16="http://schemas.microsoft.com/office/drawing/2014/main" id="{8406F9D4-9410-41B4-935C-91BB20AADC2B}"/>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기존 재사용 지침</a:t>
            </a:r>
          </a:p>
        </p:txBody>
      </p:sp>
      <p:sp>
        <p:nvSpPr>
          <p:cNvPr id="9" name="갱신할 지침">
            <a:extLst xmlns:a="http://schemas.openxmlformats.org/drawingml/2006/main">
              <a:ext uri="{FF2B5EF4-FFF2-40B4-BE49-F238E27FC236}">
                <a16:creationId xmlns:a16="http://schemas.microsoft.com/office/drawing/2014/main" id="{57D984A1-9C20-49A3-BCF5-AE4226A5E758}"/>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갱신할 지침</a:t>
            </a:r>
          </a:p>
        </p:txBody>
      </p:sp>
      <p:sp>
        <p:nvSpPr>
          <p:cNvPr id="10" name="">
            <a:extLst xmlns:a="http://schemas.openxmlformats.org/drawingml/2006/main">
              <a:ext uri="{FF2B5EF4-FFF2-40B4-BE49-F238E27FC236}">
                <a16:creationId xmlns:a16="http://schemas.microsoft.com/office/drawing/2014/main" id="{123388ED-8D8E-4A65-8B51-2A0779928547}"/>
              </a:ext>
            </a:extLst>
          </p:cNvPr>
          <p:cNvSpPr>
            <a:spLocks xmlns:a="http://schemas.openxmlformats.org/drawingml/2006/main" noGrp="1"/>
          </p:cNvSpPr>
          <p:nvPr/>
        </p:nvSpPr>
        <p:spPr>
          <a:xfrm xmlns:a="http://schemas.openxmlformats.org/drawingml/2006/main">
            <a:off x="609600" y="36099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
            <a:extLst xmlns:a="http://schemas.openxmlformats.org/drawingml/2006/main">
              <a:ext uri="{FF2B5EF4-FFF2-40B4-BE49-F238E27FC236}">
                <a16:creationId xmlns:a16="http://schemas.microsoft.com/office/drawing/2014/main" id="{D598BD57-8425-437B-85FA-BB6457CDF0C7}"/>
              </a:ext>
            </a:extLst>
          </p:cNvPr>
          <p:cNvSpPr>
            <a:spLocks xmlns:a="http://schemas.openxmlformats.org/drawingml/2006/main" noGrp="1"/>
          </p:cNvSpPr>
          <p:nvPr/>
        </p:nvSpPr>
        <p:spPr>
          <a:xfrm xmlns:a="http://schemas.openxmlformats.org/drawingml/2006/main">
            <a:off x="6705600" y="36099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를 확인">
            <a:extLst xmlns:a="http://schemas.openxmlformats.org/drawingml/2006/main">
              <a:ext uri="{FF2B5EF4-FFF2-40B4-BE49-F238E27FC236}">
                <a16:creationId xmlns:a16="http://schemas.microsoft.com/office/drawing/2014/main" id="{5162EA03-9835-4BC4-B3F1-DE14B3BD949A}"/>
              </a:ext>
            </a:extLst>
          </p:cNvPr>
          <p:cNvSpPr>
            <a:spLocks xmlns:a="http://schemas.openxmlformats.org/drawingml/2006/main" noGrp="1"/>
          </p:cNvSpPr>
          <p:nvPr/>
        </p:nvSpPr>
        <p:spPr>
          <a:xfrm xmlns:a="http://schemas.openxmlformats.org/drawingml/2006/main">
            <a:off x="609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단위 테스트를 확인</a:t>
            </a:r>
          </a:p>
        </p:txBody>
      </p:sp>
      <p:sp>
        <p:nvSpPr>
          <p:cNvPr id="13" name="">
            <a:extLst xmlns:a="http://schemas.openxmlformats.org/drawingml/2006/main">
              <a:ext uri="{FF2B5EF4-FFF2-40B4-BE49-F238E27FC236}">
                <a16:creationId xmlns:a16="http://schemas.microsoft.com/office/drawing/2014/main" id="{ED26C53A-CC89-4912-A76D-10E8A8A7514B}"/>
              </a:ext>
            </a:extLst>
          </p:cNvPr>
          <p:cNvSpPr>
            <a:spLocks xmlns:a="http://schemas.openxmlformats.org/drawingml/2006/main" noGrp="1"/>
          </p:cNvSpPr>
          <p:nvPr/>
        </p:nvSpPr>
        <p:spPr>
          <a:xfrm xmlns:a="http://schemas.openxmlformats.org/drawingml/2006/main">
            <a:off x="5715000" y="4010025"/>
            <a:ext cx="609600" cy="2476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단위 + 통합 테스트 확인">
            <a:extLst xmlns:a="http://schemas.openxmlformats.org/drawingml/2006/main">
              <a:ext uri="{FF2B5EF4-FFF2-40B4-BE49-F238E27FC236}">
                <a16:creationId xmlns:a16="http://schemas.microsoft.com/office/drawing/2014/main" id="{C5E45530-2B65-4E73-9312-7D88AA56CBDD}"/>
              </a:ext>
            </a:extLst>
          </p:cNvPr>
          <p:cNvSpPr>
            <a:spLocks xmlns:a="http://schemas.openxmlformats.org/drawingml/2006/main" noGrp="1"/>
          </p:cNvSpPr>
          <p:nvPr/>
        </p:nvSpPr>
        <p:spPr>
          <a:xfrm xmlns:a="http://schemas.openxmlformats.org/drawingml/2006/main">
            <a:off x="6705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 확인</a:t>
            </a:r>
          </a:p>
        </p:txBody>
      </p:sp>
      <p:sp>
        <p:nvSpPr>
          <p:cNvPr id="15" name="원인이 뒷받침하는 범위까지 바꾼다.">
            <a:extLst xmlns:a="http://schemas.openxmlformats.org/drawingml/2006/main">
              <a:ext uri="{FF2B5EF4-FFF2-40B4-BE49-F238E27FC236}">
                <a16:creationId xmlns:a16="http://schemas.microsoft.com/office/drawing/2014/main" id="{5E9235AF-FB2A-432F-9F1C-5C9E6B971841}"/>
              </a:ext>
            </a:extLst>
          </p:cNvPr>
          <p:cNvSpPr>
            <a:spLocks xmlns:a="http://schemas.openxmlformats.org/drawingml/2006/main" noGrp="1"/>
          </p:cNvSpPr>
          <p:nvPr/>
        </p:nvSpPr>
        <p:spPr>
          <a:xfrm xmlns:a="http://schemas.openxmlformats.org/drawingml/2006/main">
            <a:off x="609600" y="507682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원인이 뒷받침하는 범위까지 바꾼다.</a:t>
            </a:r>
          </a:p>
        </p:txBody>
      </p:sp>
    </p:spTree>
    <p:extLst>
      <p:ext uri="{BB962C8B-B14F-4D97-AF65-F5344CB8AC3E}">
        <p14:creationId xmlns:p14="http://schemas.microsoft.com/office/powerpoint/2010/main" val="1205977114"/>
      </p:ext>
    </p:extLst>
  </p:cSld>
</p:sld>
</file>

<file path=ppt/slides/slide6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4 · CONCEPTUAL / 평가 범위">
            <a:extLst xmlns:a="http://schemas.openxmlformats.org/drawingml/2006/main">
              <a:ext uri="{FF2B5EF4-FFF2-40B4-BE49-F238E27FC236}">
                <a16:creationId xmlns:a16="http://schemas.microsoft.com/office/drawing/2014/main" id="{E13D06FD-2166-4807-BE07-C1FA64DE4F2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범위</a:t>
            </a:r>
          </a:p>
        </p:txBody>
      </p:sp>
      <p:sp>
        <p:nvSpPr>
          <p:cNvPr id="2" name="S63">
            <a:extLst xmlns:a="http://schemas.openxmlformats.org/drawingml/2006/main">
              <a:ext uri="{FF2B5EF4-FFF2-40B4-BE49-F238E27FC236}">
                <a16:creationId xmlns:a16="http://schemas.microsoft.com/office/drawing/2014/main" id="{FFF02C47-9795-4C1D-B684-2F04C8A412C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같은 Task의 재실행만으로 충분할까?">
            <a:extLst xmlns:a="http://schemas.openxmlformats.org/drawingml/2006/main">
              <a:ext uri="{FF2B5EF4-FFF2-40B4-BE49-F238E27FC236}">
                <a16:creationId xmlns:a16="http://schemas.microsoft.com/office/drawing/2014/main" id="{6D6563CC-8315-46BE-8D35-1DEA47727F5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Task의 재실행만으로 충분할까?</a:t>
            </a:r>
          </a:p>
        </p:txBody>
      </p:sp>
      <p:sp>
        <p:nvSpPr>
          <p:cNvPr id="4" name="">
            <a:extLst xmlns:a="http://schemas.openxmlformats.org/drawingml/2006/main">
              <a:ext uri="{FF2B5EF4-FFF2-40B4-BE49-F238E27FC236}">
                <a16:creationId xmlns:a16="http://schemas.microsoft.com/office/drawing/2014/main" id="{7B61DD56-4953-476A-8E84-62944EADEF34}"/>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변경 후 확인할 질문을 설계한 도식">
            <a:extLst xmlns:a="http://schemas.openxmlformats.org/drawingml/2006/main">
              <a:ext uri="{FF2B5EF4-FFF2-40B4-BE49-F238E27FC236}">
                <a16:creationId xmlns:a16="http://schemas.microsoft.com/office/drawing/2014/main" id="{F35E2546-3971-4E1B-A816-F5D807CF15BB}"/>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변경 후 확인할 질문을 설계한 도식</a:t>
            </a:r>
          </a:p>
        </p:txBody>
      </p:sp>
      <p:sp>
        <p:nvSpPr>
          <p:cNvPr id="6" name="재실행·회귀 테스트 결과는 없다. 두 검증 질문을 구분하는 가상 사례다.">
            <a:extLst xmlns:a="http://schemas.openxmlformats.org/drawingml/2006/main">
              <a:ext uri="{FF2B5EF4-FFF2-40B4-BE49-F238E27FC236}">
                <a16:creationId xmlns:a16="http://schemas.microsoft.com/office/drawing/2014/main" id="{8A409F4B-3404-45AC-B601-067EB727D155}"/>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재실행·회귀 테스트 결과는 없다. 두 검증 질문을 구분하는 가상 사례다.</a:t>
            </a:r>
          </a:p>
        </p:txBody>
      </p:sp>
      <p:sp>
        <p:nvSpPr>
          <p:cNvPr id="7" name="이번 작업을 다시 확인">
            <a:extLst xmlns:a="http://schemas.openxmlformats.org/drawingml/2006/main">
              <a:ext uri="{FF2B5EF4-FFF2-40B4-BE49-F238E27FC236}">
                <a16:creationId xmlns:a16="http://schemas.microsoft.com/office/drawing/2014/main" id="{9DE459B1-F10C-415D-891A-028358D6566D}"/>
              </a:ext>
            </a:extLst>
          </p:cNvPr>
          <p:cNvSpPr>
            <a:spLocks xmlns:a="http://schemas.openxmlformats.org/drawingml/2006/main" noGrp="1"/>
          </p:cNvSpPr>
          <p:nvPr/>
        </p:nvSpPr>
        <p:spPr>
          <a:xfrm xmlns:a="http://schemas.openxmlformats.org/drawingml/2006/main">
            <a:off x="609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작업을 다시 확인</a:t>
            </a:r>
          </a:p>
        </p:txBody>
      </p:sp>
      <p:sp>
        <p:nvSpPr>
          <p:cNvPr id="8" name="다른 작업도 확인">
            <a:extLst xmlns:a="http://schemas.openxmlformats.org/drawingml/2006/main">
              <a:ext uri="{FF2B5EF4-FFF2-40B4-BE49-F238E27FC236}">
                <a16:creationId xmlns:a16="http://schemas.microsoft.com/office/drawing/2014/main" id="{7D93B559-6894-4545-AE8C-7630BDE0138B}"/>
              </a:ext>
            </a:extLst>
          </p:cNvPr>
          <p:cNvSpPr>
            <a:spLocks xmlns:a="http://schemas.openxmlformats.org/drawingml/2006/main" noGrp="1"/>
          </p:cNvSpPr>
          <p:nvPr/>
        </p:nvSpPr>
        <p:spPr>
          <a:xfrm xmlns:a="http://schemas.openxmlformats.org/drawingml/2006/main">
            <a:off x="6705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다른 작업도 확인</a:t>
            </a:r>
          </a:p>
        </p:txBody>
      </p:sp>
      <p:sp>
        <p:nvSpPr>
          <p:cNvPr id="9" name="">
            <a:extLst xmlns:a="http://schemas.openxmlformats.org/drawingml/2006/main">
              <a:ext uri="{FF2B5EF4-FFF2-40B4-BE49-F238E27FC236}">
                <a16:creationId xmlns:a16="http://schemas.microsoft.com/office/drawing/2014/main" id="{2CBB49D4-5435-4A88-8D88-4D9DCE8ADE92}"/>
              </a:ext>
            </a:extLst>
          </p:cNvPr>
          <p:cNvSpPr>
            <a:spLocks xmlns:a="http://schemas.openxmlformats.org/drawingml/2006/main" noGrp="1"/>
          </p:cNvSpPr>
          <p:nvPr/>
        </p:nvSpPr>
        <p:spPr>
          <a:xfrm xmlns:a="http://schemas.openxmlformats.org/drawingml/2006/main">
            <a:off x="609600" y="29527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86AAB260-D59A-40C1-8AEA-33AA5577D1A3}"/>
              </a:ext>
            </a:extLst>
          </p:cNvPr>
          <p:cNvSpPr>
            <a:spLocks xmlns:a="http://schemas.openxmlformats.org/drawingml/2006/main" noGrp="1"/>
          </p:cNvSpPr>
          <p:nvPr/>
        </p:nvSpPr>
        <p:spPr>
          <a:xfrm xmlns:a="http://schemas.openxmlformats.org/drawingml/2006/main">
            <a:off x="6705600" y="295275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요청했던 검증 범위를&#10;이제 다루는가?">
            <a:extLst xmlns:a="http://schemas.openxmlformats.org/drawingml/2006/main">
              <a:ext uri="{FF2B5EF4-FFF2-40B4-BE49-F238E27FC236}">
                <a16:creationId xmlns:a16="http://schemas.microsoft.com/office/drawing/2014/main" id="{3105D375-8807-4605-AA08-03A06A8206ED}"/>
              </a:ext>
            </a:extLst>
          </p:cNvPr>
          <p:cNvSpPr>
            <a:spLocks xmlns:a="http://schemas.openxmlformats.org/drawingml/2006/main" noGrp="1"/>
          </p:cNvSpPr>
          <p:nvPr/>
        </p:nvSpPr>
        <p:spPr>
          <a:xfrm xmlns:a="http://schemas.openxmlformats.org/drawingml/2006/main">
            <a:off x="609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요청했던 검증 범위를</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이제 다루는가?</a:t>
            </a:r>
          </a:p>
        </p:txBody>
      </p:sp>
      <p:sp>
        <p:nvSpPr>
          <p:cNvPr id="12" name="바뀐 지침이 다른 작업을&#10;방해하지 않는가?">
            <a:extLst xmlns:a="http://schemas.openxmlformats.org/drawingml/2006/main">
              <a:ext uri="{FF2B5EF4-FFF2-40B4-BE49-F238E27FC236}">
                <a16:creationId xmlns:a16="http://schemas.microsoft.com/office/drawing/2014/main" id="{B2236F84-DF5F-4E0B-A20D-4CEAB68C918B}"/>
              </a:ext>
            </a:extLst>
          </p:cNvPr>
          <p:cNvSpPr>
            <a:spLocks xmlns:a="http://schemas.openxmlformats.org/drawingml/2006/main" noGrp="1"/>
          </p:cNvSpPr>
          <p:nvPr/>
        </p:nvSpPr>
        <p:spPr>
          <a:xfrm xmlns:a="http://schemas.openxmlformats.org/drawingml/2006/main">
            <a:off x="6705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바뀐 지침이 다른 작업을</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방해하지 않는가?</a:t>
            </a:r>
          </a:p>
        </p:txBody>
      </p:sp>
      <p:sp>
        <p:nvSpPr>
          <p:cNvPr id="13" name="확인할 범위가 다르므로, 두 질문이 모두 필요하다.">
            <a:extLst xmlns:a="http://schemas.openxmlformats.org/drawingml/2006/main">
              <a:ext uri="{FF2B5EF4-FFF2-40B4-BE49-F238E27FC236}">
                <a16:creationId xmlns:a16="http://schemas.microsoft.com/office/drawing/2014/main" id="{58CE7E8D-C2C8-4BEF-A55E-83E75E878CCA}"/>
              </a:ext>
            </a:extLst>
          </p:cNvPr>
          <p:cNvSpPr>
            <a:spLocks xmlns:a="http://schemas.openxmlformats.org/drawingml/2006/main" noGrp="1"/>
          </p:cNvSpPr>
          <p:nvPr/>
        </p:nvSpPr>
        <p:spPr>
          <a:xfrm xmlns:a="http://schemas.openxmlformats.org/drawingml/2006/main">
            <a:off x="609600" y="51435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확인할 범위가 다르므로, 두 질문이 모두 필요하다.</a:t>
            </a:r>
          </a:p>
        </p:txBody>
      </p:sp>
    </p:spTree>
    <p:extLst>
      <p:ext uri="{BB962C8B-B14F-4D97-AF65-F5344CB8AC3E}">
        <p14:creationId xmlns:p14="http://schemas.microsoft.com/office/powerpoint/2010/main" val="1847934620"/>
      </p:ext>
    </p:extLst>
  </p:cSld>
</p:sld>
</file>

<file path=ppt/slides/slide6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4 · CONCEPTUAL / 평가 설계">
            <a:extLst xmlns:a="http://schemas.openxmlformats.org/drawingml/2006/main">
              <a:ext uri="{FF2B5EF4-FFF2-40B4-BE49-F238E27FC236}">
                <a16:creationId xmlns:a16="http://schemas.microsoft.com/office/drawing/2014/main" id="{E55489F0-7E1E-483A-A305-312EF779816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설계</a:t>
            </a:r>
          </a:p>
        </p:txBody>
      </p:sp>
      <p:sp>
        <p:nvSpPr>
          <p:cNvPr id="2" name="S64">
            <a:extLst xmlns:a="http://schemas.openxmlformats.org/drawingml/2006/main">
              <a:ext uri="{FF2B5EF4-FFF2-40B4-BE49-F238E27FC236}">
                <a16:creationId xmlns:a16="http://schemas.microsoft.com/office/drawing/2014/main" id="{82B99862-C7A8-4DC4-B8FF-A4030BA7C6D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대표 작업으로 변경 범위를 확인하기">
            <a:extLst xmlns:a="http://schemas.openxmlformats.org/drawingml/2006/main">
              <a:ext uri="{FF2B5EF4-FFF2-40B4-BE49-F238E27FC236}">
                <a16:creationId xmlns:a16="http://schemas.microsoft.com/office/drawing/2014/main" id="{D8F93D6A-84CB-459F-9035-BAE7C50628C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대표 작업으로 변경 범위를 확인하기</a:t>
            </a:r>
          </a:p>
        </p:txBody>
      </p:sp>
      <p:sp>
        <p:nvSpPr>
          <p:cNvPr id="4" name="">
            <a:extLst xmlns:a="http://schemas.openxmlformats.org/drawingml/2006/main">
              <a:ext uri="{FF2B5EF4-FFF2-40B4-BE49-F238E27FC236}">
                <a16:creationId xmlns:a16="http://schemas.microsoft.com/office/drawing/2014/main" id="{C4C28261-5260-4BBA-A3A3-CFB30325BAFA}"/>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0 · 네 작업 모두 이 Workflow 변경 후의 평가 결과는 없음">
            <a:extLst xmlns:a="http://schemas.openxmlformats.org/drawingml/2006/main">
              <a:ext uri="{FF2B5EF4-FFF2-40B4-BE49-F238E27FC236}">
                <a16:creationId xmlns:a16="http://schemas.microsoft.com/office/drawing/2014/main" id="{594F102D-5061-45FD-8A60-50BA3DB2C2CC}"/>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DEMO-10 · 네 작업 모두 이 Workflow 변경 후의 평가 결과는 없음</a:t>
            </a:r>
          </a:p>
        </p:txBody>
      </p:sp>
      <p:sp>
        <p:nvSpPr>
          <p:cNvPr id="6" name="EVAL-01/02: 별도 과거 관찰 참고 · EVAL-03/04: 설계만 있음 · 새 실행·PASS/FAI">
            <a:extLst xmlns:a="http://schemas.openxmlformats.org/drawingml/2006/main">
              <a:ext uri="{FF2B5EF4-FFF2-40B4-BE49-F238E27FC236}">
                <a16:creationId xmlns:a16="http://schemas.microsoft.com/office/drawing/2014/main" id="{C3138CE0-0560-41DF-B4DC-E6FDCCA65253}"/>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EVAL-01/02: 별도 과거 관찰 참고 · EVAL-03/04: 설계만 있음 · 새 실행·PASS/FAIL 없음</a:t>
            </a:r>
          </a:p>
        </p:txBody>
      </p:sp>
      <p:sp>
        <p:nvSpPr>
          <p:cNvPr id="7" name="작업 수보다, 서로 다른 위험을 덮는가?">
            <a:extLst xmlns:a="http://schemas.openxmlformats.org/drawingml/2006/main">
              <a:ext uri="{FF2B5EF4-FFF2-40B4-BE49-F238E27FC236}">
                <a16:creationId xmlns:a16="http://schemas.microsoft.com/office/drawing/2014/main" id="{40DC3DA7-6837-4CFE-9B24-6CCF4F6551DD}"/>
              </a:ext>
            </a:extLst>
          </p:cNvPr>
          <p:cNvSpPr>
            <a:spLocks xmlns:a="http://schemas.openxmlformats.org/drawingml/2006/main" noGrp="1"/>
          </p:cNvSpPr>
          <p:nvPr/>
        </p:nvSpPr>
        <p:spPr>
          <a:xfrm xmlns:a="http://schemas.openxmlformats.org/drawingml/2006/main">
            <a:off x="609600" y="20383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작업 수보다, 서로 다른 위험을 덮는가?</a:t>
            </a:r>
          </a:p>
        </p:txBody>
      </p:sp>
      <p:sp>
        <p:nvSpPr>
          <p:cNvPr id="8" name="">
            <a:extLst xmlns:a="http://schemas.openxmlformats.org/drawingml/2006/main">
              <a:ext uri="{FF2B5EF4-FFF2-40B4-BE49-F238E27FC236}">
                <a16:creationId xmlns:a16="http://schemas.microsoft.com/office/drawing/2014/main" id="{9DE94ABF-AA48-4A42-AD3D-86DA532D2DE1}"/>
              </a:ext>
            </a:extLst>
          </p:cNvPr>
          <p:cNvSpPr>
            <a:spLocks xmlns:a="http://schemas.openxmlformats.org/drawingml/2006/main" noGrp="1"/>
          </p:cNvSpPr>
          <p:nvPr/>
        </p:nvSpPr>
        <p:spPr>
          <a:xfrm xmlns:a="http://schemas.openxmlformats.org/drawingml/2006/main">
            <a:off x="609600" y="2714625"/>
            <a:ext cx="10972800" cy="0"/>
          </a:xfrm>
          <a:prstGeom xmlns:a="http://schemas.openxmlformats.org/drawingml/2006/main" prst="line">
            <a:avLst/>
          </a:prstGeom>
          <a:noFill xmlns:a="http://schemas.openxmlformats.org/drawingml/2006/main"/>
          <a:ln xmlns:a="http://schemas.openxmlformats.org/drawingml/2006/main" w="9525">
            <a:solidFill>
              <a:srgbClr val="176B4D"/>
            </a:solidFill>
            <a:prstDash val="solid"/>
          </a:ln>
        </p:spPr>
      </p:sp>
      <p:sp>
        <p:nvSpPr>
          <p:cNvPr id="9" name="버그 수정">
            <a:extLst xmlns:a="http://schemas.openxmlformats.org/drawingml/2006/main">
              <a:ext uri="{FF2B5EF4-FFF2-40B4-BE49-F238E27FC236}">
                <a16:creationId xmlns:a16="http://schemas.microsoft.com/office/drawing/2014/main" id="{5799B5D2-018F-4153-813B-2084766E44EC}"/>
              </a:ext>
            </a:extLst>
          </p:cNvPr>
          <p:cNvSpPr>
            <a:spLocks xmlns:a="http://schemas.openxmlformats.org/drawingml/2006/main" noGrp="1"/>
          </p:cNvSpPr>
          <p:nvPr/>
        </p:nvSpPr>
        <p:spPr>
          <a:xfrm xmlns:a="http://schemas.openxmlformats.org/drawingml/2006/main">
            <a:off x="609600" y="2790825"/>
            <a:ext cx="2286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버그 수정</a:t>
            </a:r>
          </a:p>
        </p:txBody>
      </p:sp>
      <p:sp>
        <p:nvSpPr>
          <p:cNvPr id="10" name="동작 계약을 확인하는가?">
            <a:extLst xmlns:a="http://schemas.openxmlformats.org/drawingml/2006/main">
              <a:ext uri="{FF2B5EF4-FFF2-40B4-BE49-F238E27FC236}">
                <a16:creationId xmlns:a16="http://schemas.microsoft.com/office/drawing/2014/main" id="{A974E156-0C11-4AF3-88F3-9D4692415C25}"/>
              </a:ext>
            </a:extLst>
          </p:cNvPr>
          <p:cNvSpPr>
            <a:spLocks xmlns:a="http://schemas.openxmlformats.org/drawingml/2006/main" noGrp="1"/>
          </p:cNvSpPr>
          <p:nvPr/>
        </p:nvSpPr>
        <p:spPr>
          <a:xfrm xmlns:a="http://schemas.openxmlformats.org/drawingml/2006/main">
            <a:off x="3048000" y="2790825"/>
            <a:ext cx="57626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동작 계약을 확인하는가?</a:t>
            </a:r>
          </a:p>
        </p:txBody>
      </p:sp>
      <p:sp>
        <p:nvSpPr>
          <p:cNvPr id="11" name="EVAL-01 · TRIAL-002">
            <a:extLst xmlns:a="http://schemas.openxmlformats.org/drawingml/2006/main">
              <a:ext uri="{FF2B5EF4-FFF2-40B4-BE49-F238E27FC236}">
                <a16:creationId xmlns:a16="http://schemas.microsoft.com/office/drawing/2014/main" id="{C04355F0-251F-42CF-BA2D-F0C315E8E1C6}"/>
              </a:ext>
            </a:extLst>
          </p:cNvPr>
          <p:cNvSpPr>
            <a:spLocks xmlns:a="http://schemas.openxmlformats.org/drawingml/2006/main" noGrp="1"/>
          </p:cNvSpPr>
          <p:nvPr/>
        </p:nvSpPr>
        <p:spPr>
          <a:xfrm xmlns:a="http://schemas.openxmlformats.org/drawingml/2006/main">
            <a:off x="8858250" y="2809875"/>
            <a:ext cx="27241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176B4D"/>
                </a:solidFill>
                <a:latin typeface="Malgun Gothic"/>
                <a:ea typeface="Malgun Gothic"/>
                <a:cs typeface="Malgun Gothic"/>
              </a:defRPr>
            </a:defPPr>
            <a:lvl1pPr algn="l">
              <a:defRPr sz="1425" b="1">
                <a:solidFill>
                  <a:srgbClr val="176B4D"/>
                </a:solidFill>
                <a:latin typeface="Malgun Gothic"/>
                <a:ea typeface="Malgun Gothic"/>
                <a:cs typeface="Malgun Gothic"/>
              </a:defRPr>
            </a:lvl1pPr>
            <a:lvl2pPr algn="l">
              <a:defRPr sz="1425" b="1">
                <a:solidFill>
                  <a:srgbClr val="176B4D"/>
                </a:solidFill>
                <a:latin typeface="Malgun Gothic"/>
                <a:ea typeface="Malgun Gothic"/>
                <a:cs typeface="Malgun Gothic"/>
              </a:defRPr>
            </a:lvl2pPr>
            <a:lvl3pPr algn="l">
              <a:defRPr sz="1425" b="1">
                <a:solidFill>
                  <a:srgbClr val="176B4D"/>
                </a:solidFill>
                <a:latin typeface="Malgun Gothic"/>
                <a:ea typeface="Malgun Gothic"/>
                <a:cs typeface="Malgun Gothic"/>
              </a:defRPr>
            </a:lvl3pPr>
            <a:lvl4pPr algn="l">
              <a:defRPr sz="1425" b="1">
                <a:solidFill>
                  <a:srgbClr val="176B4D"/>
                </a:solidFill>
                <a:latin typeface="Malgun Gothic"/>
                <a:ea typeface="Malgun Gothic"/>
                <a:cs typeface="Malgun Gothic"/>
              </a:defRPr>
            </a:lvl4pPr>
            <a:lvl5pPr algn="l">
              <a:defRPr sz="1425" b="1">
                <a:solidFill>
                  <a:srgbClr val="176B4D"/>
                </a:solidFill>
                <a:latin typeface="Malgun Gothic"/>
                <a:ea typeface="Malgun Gothic"/>
                <a:cs typeface="Malgun Gothic"/>
              </a:defRPr>
            </a:lvl5pPr>
            <a:lvl6pPr algn="l">
              <a:defRPr sz="1425" b="1">
                <a:solidFill>
                  <a:srgbClr val="176B4D"/>
                </a:solidFill>
                <a:latin typeface="Malgun Gothic"/>
                <a:ea typeface="Malgun Gothic"/>
                <a:cs typeface="Malgun Gothic"/>
              </a:defRPr>
            </a:lvl6pPr>
            <a:lvl7pPr algn="l">
              <a:defRPr sz="1425" b="1">
                <a:solidFill>
                  <a:srgbClr val="176B4D"/>
                </a:solidFill>
                <a:latin typeface="Malgun Gothic"/>
                <a:ea typeface="Malgun Gothic"/>
                <a:cs typeface="Malgun Gothic"/>
              </a:defRPr>
            </a:lvl7pPr>
            <a:lvl8pPr algn="l">
              <a:defRPr sz="1425" b="1">
                <a:solidFill>
                  <a:srgbClr val="176B4D"/>
                </a:solidFill>
                <a:latin typeface="Malgun Gothic"/>
                <a:ea typeface="Malgun Gothic"/>
                <a:cs typeface="Malgun Gothic"/>
              </a:defRPr>
            </a:lvl8pPr>
            <a:lvl9pPr algn="l">
              <a:defRPr sz="1425" b="1">
                <a:solidFill>
                  <a:srgbClr val="176B4D"/>
                </a:solidFill>
                <a:latin typeface="Malgun Gothic"/>
                <a:ea typeface="Malgun Gothic"/>
                <a:cs typeface="Malgun Gothic"/>
              </a:defRPr>
            </a:lvl9pPr>
          </a:lstStyle>
          <a:p xmlns:a="http://schemas.openxmlformats.org/drawingml/2006/main">
            <a:pPr algn="l">
              <a:defRPr sz="1425" b="1">
                <a:solidFill>
                  <a:srgbClr val="176B4D"/>
                </a:solidFill>
                <a:latin typeface="Malgun Gothic"/>
                <a:ea typeface="Malgun Gothic"/>
                <a:cs typeface="Malgun Gothic"/>
              </a:defRPr>
            </a:pPr>
            <a:r>
              <a:rPr sz="1425" b="1">
                <a:solidFill>
                  <a:srgbClr val="176B4D"/>
                </a:solidFill>
                <a:latin typeface="Malgun Gothic"/>
                <a:ea typeface="Malgun Gothic"/>
                <a:cs typeface="Malgun Gothic"/>
              </a:rPr>
              <a:t>EVAL-01 · TRIAL-002</a:t>
            </a:r>
          </a:p>
        </p:txBody>
      </p:sp>
      <p:sp>
        <p:nvSpPr>
          <p:cNvPr id="12" name="">
            <a:extLst xmlns:a="http://schemas.openxmlformats.org/drawingml/2006/main">
              <a:ext uri="{FF2B5EF4-FFF2-40B4-BE49-F238E27FC236}">
                <a16:creationId xmlns:a16="http://schemas.microsoft.com/office/drawing/2014/main" id="{D6872817-8884-42A8-9B02-503A9EF2F680}"/>
              </a:ext>
            </a:extLst>
          </p:cNvPr>
          <p:cNvSpPr>
            <a:spLocks xmlns:a="http://schemas.openxmlformats.org/drawingml/2006/main" noGrp="1"/>
          </p:cNvSpPr>
          <p:nvPr/>
        </p:nvSpPr>
        <p:spPr>
          <a:xfrm xmlns:a="http://schemas.openxmlformats.org/drawingml/2006/main">
            <a:off x="609600" y="3400425"/>
            <a:ext cx="10972800" cy="0"/>
          </a:xfrm>
          <a:prstGeom xmlns:a="http://schemas.openxmlformats.org/drawingml/2006/main" prst="line">
            <a:avLst/>
          </a:prstGeom>
          <a:noFill xmlns:a="http://schemas.openxmlformats.org/drawingml/2006/main"/>
          <a:ln xmlns:a="http://schemas.openxmlformats.org/drawingml/2006/main" w="9525">
            <a:solidFill>
              <a:srgbClr val="176B4D"/>
            </a:solidFill>
            <a:prstDash val="solid"/>
          </a:ln>
        </p:spPr>
      </p:sp>
      <p:sp>
        <p:nvSpPr>
          <p:cNvPr id="13" name="성능 변경">
            <a:extLst xmlns:a="http://schemas.openxmlformats.org/drawingml/2006/main">
              <a:ext uri="{FF2B5EF4-FFF2-40B4-BE49-F238E27FC236}">
                <a16:creationId xmlns:a16="http://schemas.microsoft.com/office/drawing/2014/main" id="{80F135B8-1056-49BF-A90A-3DC2AFD3C496}"/>
              </a:ext>
            </a:extLst>
          </p:cNvPr>
          <p:cNvSpPr>
            <a:spLocks xmlns:a="http://schemas.openxmlformats.org/drawingml/2006/main" noGrp="1"/>
          </p:cNvSpPr>
          <p:nvPr/>
        </p:nvSpPr>
        <p:spPr>
          <a:xfrm xmlns:a="http://schemas.openxmlformats.org/drawingml/2006/main">
            <a:off x="609600" y="3476625"/>
            <a:ext cx="2286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성능 변경</a:t>
            </a:r>
          </a:p>
        </p:txBody>
      </p:sp>
      <p:sp>
        <p:nvSpPr>
          <p:cNvPr id="14" name="측정과 검증 범위를 유지하는가?">
            <a:extLst xmlns:a="http://schemas.openxmlformats.org/drawingml/2006/main">
              <a:ext uri="{FF2B5EF4-FFF2-40B4-BE49-F238E27FC236}">
                <a16:creationId xmlns:a16="http://schemas.microsoft.com/office/drawing/2014/main" id="{CB931B63-66DE-4876-87A2-E26BC2437BB8}"/>
              </a:ext>
            </a:extLst>
          </p:cNvPr>
          <p:cNvSpPr>
            <a:spLocks xmlns:a="http://schemas.openxmlformats.org/drawingml/2006/main" noGrp="1"/>
          </p:cNvSpPr>
          <p:nvPr/>
        </p:nvSpPr>
        <p:spPr>
          <a:xfrm xmlns:a="http://schemas.openxmlformats.org/drawingml/2006/main">
            <a:off x="3048000" y="3476625"/>
            <a:ext cx="57626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측정과 검증 범위를 유지하는가?</a:t>
            </a:r>
          </a:p>
        </p:txBody>
      </p:sp>
      <p:sp>
        <p:nvSpPr>
          <p:cNvPr id="15" name="EVAL-02 · STATE-04-PERF">
            <a:extLst xmlns:a="http://schemas.openxmlformats.org/drawingml/2006/main">
              <a:ext uri="{FF2B5EF4-FFF2-40B4-BE49-F238E27FC236}">
                <a16:creationId xmlns:a16="http://schemas.microsoft.com/office/drawing/2014/main" id="{A60B12DE-C854-48B8-8B03-D5A9099C4DFE}"/>
              </a:ext>
            </a:extLst>
          </p:cNvPr>
          <p:cNvSpPr>
            <a:spLocks xmlns:a="http://schemas.openxmlformats.org/drawingml/2006/main" noGrp="1"/>
          </p:cNvSpPr>
          <p:nvPr/>
        </p:nvSpPr>
        <p:spPr>
          <a:xfrm xmlns:a="http://schemas.openxmlformats.org/drawingml/2006/main">
            <a:off x="8858250" y="3495675"/>
            <a:ext cx="27241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176B4D"/>
                </a:solidFill>
                <a:latin typeface="Malgun Gothic"/>
                <a:ea typeface="Malgun Gothic"/>
                <a:cs typeface="Malgun Gothic"/>
              </a:defRPr>
            </a:defPPr>
            <a:lvl1pPr algn="l">
              <a:defRPr sz="1425" b="1">
                <a:solidFill>
                  <a:srgbClr val="176B4D"/>
                </a:solidFill>
                <a:latin typeface="Malgun Gothic"/>
                <a:ea typeface="Malgun Gothic"/>
                <a:cs typeface="Malgun Gothic"/>
              </a:defRPr>
            </a:lvl1pPr>
            <a:lvl2pPr algn="l">
              <a:defRPr sz="1425" b="1">
                <a:solidFill>
                  <a:srgbClr val="176B4D"/>
                </a:solidFill>
                <a:latin typeface="Malgun Gothic"/>
                <a:ea typeface="Malgun Gothic"/>
                <a:cs typeface="Malgun Gothic"/>
              </a:defRPr>
            </a:lvl2pPr>
            <a:lvl3pPr algn="l">
              <a:defRPr sz="1425" b="1">
                <a:solidFill>
                  <a:srgbClr val="176B4D"/>
                </a:solidFill>
                <a:latin typeface="Malgun Gothic"/>
                <a:ea typeface="Malgun Gothic"/>
                <a:cs typeface="Malgun Gothic"/>
              </a:defRPr>
            </a:lvl3pPr>
            <a:lvl4pPr algn="l">
              <a:defRPr sz="1425" b="1">
                <a:solidFill>
                  <a:srgbClr val="176B4D"/>
                </a:solidFill>
                <a:latin typeface="Malgun Gothic"/>
                <a:ea typeface="Malgun Gothic"/>
                <a:cs typeface="Malgun Gothic"/>
              </a:defRPr>
            </a:lvl4pPr>
            <a:lvl5pPr algn="l">
              <a:defRPr sz="1425" b="1">
                <a:solidFill>
                  <a:srgbClr val="176B4D"/>
                </a:solidFill>
                <a:latin typeface="Malgun Gothic"/>
                <a:ea typeface="Malgun Gothic"/>
                <a:cs typeface="Malgun Gothic"/>
              </a:defRPr>
            </a:lvl5pPr>
            <a:lvl6pPr algn="l">
              <a:defRPr sz="1425" b="1">
                <a:solidFill>
                  <a:srgbClr val="176B4D"/>
                </a:solidFill>
                <a:latin typeface="Malgun Gothic"/>
                <a:ea typeface="Malgun Gothic"/>
                <a:cs typeface="Malgun Gothic"/>
              </a:defRPr>
            </a:lvl6pPr>
            <a:lvl7pPr algn="l">
              <a:defRPr sz="1425" b="1">
                <a:solidFill>
                  <a:srgbClr val="176B4D"/>
                </a:solidFill>
                <a:latin typeface="Malgun Gothic"/>
                <a:ea typeface="Malgun Gothic"/>
                <a:cs typeface="Malgun Gothic"/>
              </a:defRPr>
            </a:lvl7pPr>
            <a:lvl8pPr algn="l">
              <a:defRPr sz="1425" b="1">
                <a:solidFill>
                  <a:srgbClr val="176B4D"/>
                </a:solidFill>
                <a:latin typeface="Malgun Gothic"/>
                <a:ea typeface="Malgun Gothic"/>
                <a:cs typeface="Malgun Gothic"/>
              </a:defRPr>
            </a:lvl8pPr>
            <a:lvl9pPr algn="l">
              <a:defRPr sz="1425" b="1">
                <a:solidFill>
                  <a:srgbClr val="176B4D"/>
                </a:solidFill>
                <a:latin typeface="Malgun Gothic"/>
                <a:ea typeface="Malgun Gothic"/>
                <a:cs typeface="Malgun Gothic"/>
              </a:defRPr>
            </a:lvl9pPr>
          </a:lstStyle>
          <a:p xmlns:a="http://schemas.openxmlformats.org/drawingml/2006/main">
            <a:pPr algn="l">
              <a:defRPr sz="1425" b="1">
                <a:solidFill>
                  <a:srgbClr val="176B4D"/>
                </a:solidFill>
                <a:latin typeface="Malgun Gothic"/>
                <a:ea typeface="Malgun Gothic"/>
                <a:cs typeface="Malgun Gothic"/>
              </a:defRPr>
            </a:pPr>
            <a:r>
              <a:rPr sz="1425" b="1">
                <a:solidFill>
                  <a:srgbClr val="176B4D"/>
                </a:solidFill>
                <a:latin typeface="Malgun Gothic"/>
                <a:ea typeface="Malgun Gothic"/>
                <a:cs typeface="Malgun Gothic"/>
              </a:rPr>
              <a:t>EVAL-02 · STATE-04-PERF</a:t>
            </a:r>
          </a:p>
        </p:txBody>
      </p:sp>
      <p:sp>
        <p:nvSpPr>
          <p:cNvPr id="16" name="">
            <a:extLst xmlns:a="http://schemas.openxmlformats.org/drawingml/2006/main">
              <a:ext uri="{FF2B5EF4-FFF2-40B4-BE49-F238E27FC236}">
                <a16:creationId xmlns:a16="http://schemas.microsoft.com/office/drawing/2014/main" id="{E7DA8945-4A5D-42BE-A9B9-C51B8F5508B2}"/>
              </a:ext>
            </a:extLst>
          </p:cNvPr>
          <p:cNvSpPr>
            <a:spLocks xmlns:a="http://schemas.openxmlformats.org/drawingml/2006/main" noGrp="1"/>
          </p:cNvSpPr>
          <p:nvPr/>
        </p:nvSpPr>
        <p:spPr>
          <a:xfrm xmlns:a="http://schemas.openxmlformats.org/drawingml/2006/main">
            <a:off x="609600" y="4086225"/>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7" name="문서만 수정">
            <a:extLst xmlns:a="http://schemas.openxmlformats.org/drawingml/2006/main">
              <a:ext uri="{FF2B5EF4-FFF2-40B4-BE49-F238E27FC236}">
                <a16:creationId xmlns:a16="http://schemas.microsoft.com/office/drawing/2014/main" id="{7594183C-72C0-4DBC-853A-A805407ED729}"/>
              </a:ext>
            </a:extLst>
          </p:cNvPr>
          <p:cNvSpPr>
            <a:spLocks xmlns:a="http://schemas.openxmlformats.org/drawingml/2006/main" noGrp="1"/>
          </p:cNvSpPr>
          <p:nvPr/>
        </p:nvSpPr>
        <p:spPr>
          <a:xfrm xmlns:a="http://schemas.openxmlformats.org/drawingml/2006/main">
            <a:off x="609600" y="4162425"/>
            <a:ext cx="2286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문서만 수정</a:t>
            </a:r>
          </a:p>
        </p:txBody>
      </p:sp>
      <p:sp>
        <p:nvSpPr>
          <p:cNvPr id="18" name="불필요한 절차를 강요하지 않는가?">
            <a:extLst xmlns:a="http://schemas.openxmlformats.org/drawingml/2006/main">
              <a:ext uri="{FF2B5EF4-FFF2-40B4-BE49-F238E27FC236}">
                <a16:creationId xmlns:a16="http://schemas.microsoft.com/office/drawing/2014/main" id="{726CFA72-DBAD-47AD-A462-49BF884E8E13}"/>
              </a:ext>
            </a:extLst>
          </p:cNvPr>
          <p:cNvSpPr>
            <a:spLocks xmlns:a="http://schemas.openxmlformats.org/drawingml/2006/main" noGrp="1"/>
          </p:cNvSpPr>
          <p:nvPr/>
        </p:nvSpPr>
        <p:spPr>
          <a:xfrm xmlns:a="http://schemas.openxmlformats.org/drawingml/2006/main">
            <a:off x="3048000" y="4162425"/>
            <a:ext cx="57626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불필요한 절차를 강요하지 않는가?</a:t>
            </a:r>
          </a:p>
        </p:txBody>
      </p:sp>
      <p:sp>
        <p:nvSpPr>
          <p:cNvPr id="19" name="EVAL-03 · 설계 사례">
            <a:extLst xmlns:a="http://schemas.openxmlformats.org/drawingml/2006/main">
              <a:ext uri="{FF2B5EF4-FFF2-40B4-BE49-F238E27FC236}">
                <a16:creationId xmlns:a16="http://schemas.microsoft.com/office/drawing/2014/main" id="{67E2553B-730C-4D56-B106-BECA016B61E8}"/>
              </a:ext>
            </a:extLst>
          </p:cNvPr>
          <p:cNvSpPr>
            <a:spLocks xmlns:a="http://schemas.openxmlformats.org/drawingml/2006/main" noGrp="1"/>
          </p:cNvSpPr>
          <p:nvPr/>
        </p:nvSpPr>
        <p:spPr>
          <a:xfrm xmlns:a="http://schemas.openxmlformats.org/drawingml/2006/main">
            <a:off x="8858250" y="4181475"/>
            <a:ext cx="27241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EVAL-03 · 설계 사례</a:t>
            </a:r>
          </a:p>
        </p:txBody>
      </p:sp>
      <p:sp>
        <p:nvSpPr>
          <p:cNvPr id="20" name="">
            <a:extLst xmlns:a="http://schemas.openxmlformats.org/drawingml/2006/main">
              <a:ext uri="{FF2B5EF4-FFF2-40B4-BE49-F238E27FC236}">
                <a16:creationId xmlns:a16="http://schemas.microsoft.com/office/drawing/2014/main" id="{FD72AAA3-BD84-4535-B2F7-E32164D4691A}"/>
              </a:ext>
            </a:extLst>
          </p:cNvPr>
          <p:cNvSpPr>
            <a:spLocks xmlns:a="http://schemas.openxmlformats.org/drawingml/2006/main" noGrp="1"/>
          </p:cNvSpPr>
          <p:nvPr/>
        </p:nvSpPr>
        <p:spPr>
          <a:xfrm xmlns:a="http://schemas.openxmlformats.org/drawingml/2006/main">
            <a:off x="609600" y="4772025"/>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1" name="작은 리팩터링">
            <a:extLst xmlns:a="http://schemas.openxmlformats.org/drawingml/2006/main">
              <a:ext uri="{FF2B5EF4-FFF2-40B4-BE49-F238E27FC236}">
                <a16:creationId xmlns:a16="http://schemas.microsoft.com/office/drawing/2014/main" id="{14D79C19-D7EA-481B-B3E5-F194CF1B0E54}"/>
              </a:ext>
            </a:extLst>
          </p:cNvPr>
          <p:cNvSpPr>
            <a:spLocks xmlns:a="http://schemas.openxmlformats.org/drawingml/2006/main" noGrp="1"/>
          </p:cNvSpPr>
          <p:nvPr/>
        </p:nvSpPr>
        <p:spPr>
          <a:xfrm xmlns:a="http://schemas.openxmlformats.org/drawingml/2006/main">
            <a:off x="609600" y="4848225"/>
            <a:ext cx="2286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작은 리팩터링</a:t>
            </a:r>
          </a:p>
        </p:txBody>
      </p:sp>
      <p:sp>
        <p:nvSpPr>
          <p:cNvPr id="22" name="다른 유효한 작업을 방해하지 않는가?">
            <a:extLst xmlns:a="http://schemas.openxmlformats.org/drawingml/2006/main">
              <a:ext uri="{FF2B5EF4-FFF2-40B4-BE49-F238E27FC236}">
                <a16:creationId xmlns:a16="http://schemas.microsoft.com/office/drawing/2014/main" id="{A11892D2-B5A4-4C95-B882-8B3055964DCB}"/>
              </a:ext>
            </a:extLst>
          </p:cNvPr>
          <p:cNvSpPr>
            <a:spLocks xmlns:a="http://schemas.openxmlformats.org/drawingml/2006/main" noGrp="1"/>
          </p:cNvSpPr>
          <p:nvPr/>
        </p:nvSpPr>
        <p:spPr>
          <a:xfrm xmlns:a="http://schemas.openxmlformats.org/drawingml/2006/main">
            <a:off x="3048000" y="4848225"/>
            <a:ext cx="57626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다른 유효한 작업을 방해하지 않는가?</a:t>
            </a:r>
          </a:p>
        </p:txBody>
      </p:sp>
      <p:sp>
        <p:nvSpPr>
          <p:cNvPr id="23" name="EVAL-04 · 설계 사례">
            <a:extLst xmlns:a="http://schemas.openxmlformats.org/drawingml/2006/main">
              <a:ext uri="{FF2B5EF4-FFF2-40B4-BE49-F238E27FC236}">
                <a16:creationId xmlns:a16="http://schemas.microsoft.com/office/drawing/2014/main" id="{ECE52FEF-6620-4F71-BEF6-82610056ED1D}"/>
              </a:ext>
            </a:extLst>
          </p:cNvPr>
          <p:cNvSpPr>
            <a:spLocks xmlns:a="http://schemas.openxmlformats.org/drawingml/2006/main" noGrp="1"/>
          </p:cNvSpPr>
          <p:nvPr/>
        </p:nvSpPr>
        <p:spPr>
          <a:xfrm xmlns:a="http://schemas.openxmlformats.org/drawingml/2006/main">
            <a:off x="8858250" y="4867275"/>
            <a:ext cx="27241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EVAL-04 · 설계 사례</a:t>
            </a:r>
          </a:p>
        </p:txBody>
      </p:sp>
    </p:spTree>
    <p:extLst>
      <p:ext uri="{BB962C8B-B14F-4D97-AF65-F5344CB8AC3E}">
        <p14:creationId xmlns:p14="http://schemas.microsoft.com/office/powerpoint/2010/main" val="326283893"/>
      </p:ext>
    </p:extLst>
  </p:cSld>
</p:sld>
</file>

<file path=ppt/slides/slide6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CONCEPTUAL / 규칙 유지보수">
            <a:extLst xmlns:a="http://schemas.openxmlformats.org/drawingml/2006/main">
              <a:ext uri="{FF2B5EF4-FFF2-40B4-BE49-F238E27FC236}">
                <a16:creationId xmlns:a16="http://schemas.microsoft.com/office/drawing/2014/main" id="{5377F692-4974-4825-AE1A-C853CB85924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규칙 유지보수</a:t>
            </a:r>
          </a:p>
        </p:txBody>
      </p:sp>
      <p:sp>
        <p:nvSpPr>
          <p:cNvPr id="2" name="S65">
            <a:extLst xmlns:a="http://schemas.openxmlformats.org/drawingml/2006/main">
              <a:ext uri="{FF2B5EF4-FFF2-40B4-BE49-F238E27FC236}">
                <a16:creationId xmlns:a16="http://schemas.microsoft.com/office/drawing/2014/main" id="{2E68268A-8164-408D-81CC-A7F3AFE5C48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Harness도 특정 실패에 맞춰&#10;과적합될 수 있다">
            <a:extLst xmlns:a="http://schemas.openxmlformats.org/drawingml/2006/main">
              <a:ext uri="{FF2B5EF4-FFF2-40B4-BE49-F238E27FC236}">
                <a16:creationId xmlns:a16="http://schemas.microsoft.com/office/drawing/2014/main" id="{6CB10AC3-DD0A-4ADD-A049-3542215DAFED}"/>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Harness도 특정 실패에 맞춰</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과적합될 수 있다</a:t>
            </a:r>
          </a:p>
        </p:txBody>
      </p:sp>
      <p:sp>
        <p:nvSpPr>
          <p:cNvPr id="4" name="">
            <a:extLst xmlns:a="http://schemas.openxmlformats.org/drawingml/2006/main">
              <a:ext uri="{FF2B5EF4-FFF2-40B4-BE49-F238E27FC236}">
                <a16:creationId xmlns:a16="http://schemas.microsoft.com/office/drawing/2014/main" id="{FEA29314-6B57-48F1-A893-6394A32AE94C}"/>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과적합은 이 교육의 비유">
            <a:extLst xmlns:a="http://schemas.openxmlformats.org/drawingml/2006/main">
              <a:ext uri="{FF2B5EF4-FFF2-40B4-BE49-F238E27FC236}">
                <a16:creationId xmlns:a16="http://schemas.microsoft.com/office/drawing/2014/main" id="{87FD6E92-DD6B-452A-9E0F-5AFF9DDA01C0}"/>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과적합은 이 교육의 비유</a:t>
            </a:r>
          </a:p>
        </p:txBody>
      </p:sp>
      <p:sp>
        <p:nvSpPr>
          <p:cNvPr id="6" name="Machine Learning의 통계적 과적합과 같은 현상이라는 주장이 아니다.">
            <a:extLst xmlns:a="http://schemas.openxmlformats.org/drawingml/2006/main">
              <a:ext uri="{FF2B5EF4-FFF2-40B4-BE49-F238E27FC236}">
                <a16:creationId xmlns:a16="http://schemas.microsoft.com/office/drawing/2014/main" id="{1B6D83A2-38A6-47C1-8AB1-A9109F7D9D17}"/>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Machine Learning의 통계적 과적합과 같은 현상이라는 주장이 아니다.</a:t>
            </a:r>
          </a:p>
        </p:txBody>
      </p:sp>
      <p:sp>
        <p:nvSpPr>
          <p:cNvPr id="7" name="실패할 때마다 규칙을 하나씩 더하면">
            <a:extLst xmlns:a="http://schemas.openxmlformats.org/drawingml/2006/main">
              <a:ext uri="{FF2B5EF4-FFF2-40B4-BE49-F238E27FC236}">
                <a16:creationId xmlns:a16="http://schemas.microsoft.com/office/drawing/2014/main" id="{E1086D45-84EE-4A50-8BEC-41EE9FAC41B6}"/>
              </a:ext>
            </a:extLst>
          </p:cNvPr>
          <p:cNvSpPr>
            <a:spLocks xmlns:a="http://schemas.openxmlformats.org/drawingml/2006/main" noGrp="1"/>
          </p:cNvSpPr>
          <p:nvPr/>
        </p:nvSpPr>
        <p:spPr>
          <a:xfrm xmlns:a="http://schemas.openxmlformats.org/drawingml/2006/main">
            <a:off x="609600" y="21717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실패할 때마다 규칙을 하나씩 더하면</a:t>
            </a:r>
          </a:p>
        </p:txBody>
      </p:sp>
      <p:sp>
        <p:nvSpPr>
          <p:cNvPr id="8" name="">
            <a:extLst xmlns:a="http://schemas.openxmlformats.org/drawingml/2006/main">
              <a:ext uri="{FF2B5EF4-FFF2-40B4-BE49-F238E27FC236}">
                <a16:creationId xmlns:a16="http://schemas.microsoft.com/office/drawing/2014/main" id="{ED1A3932-8EC1-42AC-8FA5-6A51C4B0D59A}"/>
              </a:ext>
            </a:extLst>
          </p:cNvPr>
          <p:cNvSpPr>
            <a:spLocks xmlns:a="http://schemas.openxmlformats.org/drawingml/2006/main" noGrp="1"/>
          </p:cNvSpPr>
          <p:nvPr/>
        </p:nvSpPr>
        <p:spPr>
          <a:xfrm xmlns:a="http://schemas.openxmlformats.org/drawingml/2006/main">
            <a:off x="6096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규칙 누적">
            <a:extLst xmlns:a="http://schemas.openxmlformats.org/drawingml/2006/main">
              <a:ext uri="{FF2B5EF4-FFF2-40B4-BE49-F238E27FC236}">
                <a16:creationId xmlns:a16="http://schemas.microsoft.com/office/drawing/2014/main" id="{137E006B-CC0A-4EBA-B76C-E5D7FE78AFAD}"/>
              </a:ext>
            </a:extLst>
          </p:cNvPr>
          <p:cNvSpPr>
            <a:spLocks xmlns:a="http://schemas.openxmlformats.org/drawingml/2006/main" noGrp="1"/>
          </p:cNvSpPr>
          <p:nvPr/>
        </p:nvSpPr>
        <p:spPr>
          <a:xfrm xmlns:a="http://schemas.openxmlformats.org/drawingml/2006/main">
            <a:off x="6096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누적</a:t>
            </a:r>
          </a:p>
        </p:txBody>
      </p:sp>
      <p:sp>
        <p:nvSpPr>
          <p:cNvPr id="10" name="읽고 유지할 내용이 커짐">
            <a:extLst xmlns:a="http://schemas.openxmlformats.org/drawingml/2006/main">
              <a:ext uri="{FF2B5EF4-FFF2-40B4-BE49-F238E27FC236}">
                <a16:creationId xmlns:a16="http://schemas.microsoft.com/office/drawing/2014/main" id="{43722769-6610-474E-8718-57172914DD71}"/>
              </a:ext>
            </a:extLst>
          </p:cNvPr>
          <p:cNvSpPr>
            <a:spLocks xmlns:a="http://schemas.openxmlformats.org/drawingml/2006/main" noGrp="1"/>
          </p:cNvSpPr>
          <p:nvPr/>
        </p:nvSpPr>
        <p:spPr>
          <a:xfrm xmlns:a="http://schemas.openxmlformats.org/drawingml/2006/main">
            <a:off x="6096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읽고 유지할 내용이 커짐</a:t>
            </a:r>
          </a:p>
        </p:txBody>
      </p:sp>
      <p:sp>
        <p:nvSpPr>
          <p:cNvPr id="11" name="">
            <a:extLst xmlns:a="http://schemas.openxmlformats.org/drawingml/2006/main">
              <a:ext uri="{FF2B5EF4-FFF2-40B4-BE49-F238E27FC236}">
                <a16:creationId xmlns:a16="http://schemas.microsoft.com/office/drawing/2014/main" id="{B886464A-0785-4DE2-9BBB-527CC8ECBF16}"/>
              </a:ext>
            </a:extLst>
          </p:cNvPr>
          <p:cNvSpPr>
            <a:spLocks xmlns:a="http://schemas.openxmlformats.org/drawingml/2006/main" noGrp="1"/>
          </p:cNvSpPr>
          <p:nvPr/>
        </p:nvSpPr>
        <p:spPr>
          <a:xfrm xmlns:a="http://schemas.openxmlformats.org/drawingml/2006/main">
            <a:off x="436245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규칙 충돌">
            <a:extLst xmlns:a="http://schemas.openxmlformats.org/drawingml/2006/main">
              <a:ext uri="{FF2B5EF4-FFF2-40B4-BE49-F238E27FC236}">
                <a16:creationId xmlns:a16="http://schemas.microsoft.com/office/drawing/2014/main" id="{644BFDDB-AE8B-414C-8505-02261A9394BD}"/>
              </a:ext>
            </a:extLst>
          </p:cNvPr>
          <p:cNvSpPr>
            <a:spLocks xmlns:a="http://schemas.openxmlformats.org/drawingml/2006/main" noGrp="1"/>
          </p:cNvSpPr>
          <p:nvPr/>
        </p:nvSpPr>
        <p:spPr>
          <a:xfrm xmlns:a="http://schemas.openxmlformats.org/drawingml/2006/main">
            <a:off x="436245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충돌</a:t>
            </a:r>
          </a:p>
        </p:txBody>
      </p:sp>
      <p:sp>
        <p:nvSpPr>
          <p:cNvPr id="13" name="서로 다른 지시가 섞임">
            <a:extLst xmlns:a="http://schemas.openxmlformats.org/drawingml/2006/main">
              <a:ext uri="{FF2B5EF4-FFF2-40B4-BE49-F238E27FC236}">
                <a16:creationId xmlns:a16="http://schemas.microsoft.com/office/drawing/2014/main" id="{F3662579-2487-4B82-8675-10E696032068}"/>
              </a:ext>
            </a:extLst>
          </p:cNvPr>
          <p:cNvSpPr>
            <a:spLocks xmlns:a="http://schemas.openxmlformats.org/drawingml/2006/main" noGrp="1"/>
          </p:cNvSpPr>
          <p:nvPr/>
        </p:nvSpPr>
        <p:spPr>
          <a:xfrm xmlns:a="http://schemas.openxmlformats.org/drawingml/2006/main">
            <a:off x="436245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서로 다른 지시가 섞임</a:t>
            </a:r>
          </a:p>
        </p:txBody>
      </p:sp>
      <p:sp>
        <p:nvSpPr>
          <p:cNvPr id="14" name="">
            <a:extLst xmlns:a="http://schemas.openxmlformats.org/drawingml/2006/main">
              <a:ext uri="{FF2B5EF4-FFF2-40B4-BE49-F238E27FC236}">
                <a16:creationId xmlns:a16="http://schemas.microsoft.com/office/drawing/2014/main" id="{EEEAF6E1-A3DE-4431-8E1B-E5D9E4815116}"/>
              </a:ext>
            </a:extLst>
          </p:cNvPr>
          <p:cNvSpPr>
            <a:spLocks xmlns:a="http://schemas.openxmlformats.org/drawingml/2006/main" noGrp="1"/>
          </p:cNvSpPr>
          <p:nvPr/>
        </p:nvSpPr>
        <p:spPr>
          <a:xfrm xmlns:a="http://schemas.openxmlformats.org/drawingml/2006/main">
            <a:off x="81153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5" name="특정 작업에만 맞춤">
            <a:extLst xmlns:a="http://schemas.openxmlformats.org/drawingml/2006/main">
              <a:ext uri="{FF2B5EF4-FFF2-40B4-BE49-F238E27FC236}">
                <a16:creationId xmlns:a16="http://schemas.microsoft.com/office/drawing/2014/main" id="{2C9CFB29-C965-41AE-9BD8-4954BF180612}"/>
              </a:ext>
            </a:extLst>
          </p:cNvPr>
          <p:cNvSpPr>
            <a:spLocks xmlns:a="http://schemas.openxmlformats.org/drawingml/2006/main" noGrp="1"/>
          </p:cNvSpPr>
          <p:nvPr/>
        </p:nvSpPr>
        <p:spPr>
          <a:xfrm xmlns:a="http://schemas.openxmlformats.org/drawingml/2006/main">
            <a:off x="81153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특정 작업에만 맞춤</a:t>
            </a:r>
          </a:p>
        </p:txBody>
      </p:sp>
      <p:sp>
        <p:nvSpPr>
          <p:cNvPr id="16" name="다른 작업에서 적합성 미확인">
            <a:extLst xmlns:a="http://schemas.openxmlformats.org/drawingml/2006/main">
              <a:ext uri="{FF2B5EF4-FFF2-40B4-BE49-F238E27FC236}">
                <a16:creationId xmlns:a16="http://schemas.microsoft.com/office/drawing/2014/main" id="{4C97E818-D654-4ECC-BB1C-42D4402AA68D}"/>
              </a:ext>
            </a:extLst>
          </p:cNvPr>
          <p:cNvSpPr>
            <a:spLocks xmlns:a="http://schemas.openxmlformats.org/drawingml/2006/main" noGrp="1"/>
          </p:cNvSpPr>
          <p:nvPr/>
        </p:nvSpPr>
        <p:spPr>
          <a:xfrm xmlns:a="http://schemas.openxmlformats.org/drawingml/2006/main">
            <a:off x="81153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다른 작업에서 적합성 미확인</a:t>
            </a:r>
          </a:p>
        </p:txBody>
      </p:sp>
      <p:sp>
        <p:nvSpPr>
          <p:cNvPr id="17" name="원인을 확인하고, 대표 작업으로 평가하고, 불필요한 규칙을 정리한다.">
            <a:extLst xmlns:a="http://schemas.openxmlformats.org/drawingml/2006/main">
              <a:ext uri="{FF2B5EF4-FFF2-40B4-BE49-F238E27FC236}">
                <a16:creationId xmlns:a16="http://schemas.microsoft.com/office/drawing/2014/main" id="{7BC764FF-7803-4794-9309-3E2922027CBA}"/>
              </a:ext>
            </a:extLst>
          </p:cNvPr>
          <p:cNvSpPr>
            <a:spLocks xmlns:a="http://schemas.openxmlformats.org/drawingml/2006/main" noGrp="1"/>
          </p:cNvSpPr>
          <p:nvPr/>
        </p:nvSpPr>
        <p:spPr>
          <a:xfrm xmlns:a="http://schemas.openxmlformats.org/drawingml/2006/main">
            <a:off x="609600" y="5219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원인을 확인하고, 대표 작업으로 평가하고, 불필요한 규칙을 정리한다.</a:t>
            </a:r>
          </a:p>
        </p:txBody>
      </p:sp>
    </p:spTree>
    <p:extLst>
      <p:ext uri="{BB962C8B-B14F-4D97-AF65-F5344CB8AC3E}">
        <p14:creationId xmlns:p14="http://schemas.microsoft.com/office/powerpoint/2010/main" val="859990683"/>
      </p:ext>
    </p:extLst>
  </p:cSld>
</p:sld>
</file>

<file path=ppt/slides/slide6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4 · 이 교육의 Loop 모델">
            <a:extLst xmlns:a="http://schemas.openxmlformats.org/drawingml/2006/main">
              <a:ext uri="{FF2B5EF4-FFF2-40B4-BE49-F238E27FC236}">
                <a16:creationId xmlns:a16="http://schemas.microsoft.com/office/drawing/2014/main" id="{8D70AB01-A678-4364-BE3F-57DC2ED6B16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이 교육의 Loop 모델</a:t>
            </a:r>
          </a:p>
        </p:txBody>
      </p:sp>
      <p:sp>
        <p:nvSpPr>
          <p:cNvPr id="2" name="S66">
            <a:extLst xmlns:a="http://schemas.openxmlformats.org/drawingml/2006/main">
              <a:ext uri="{FF2B5EF4-FFF2-40B4-BE49-F238E27FC236}">
                <a16:creationId xmlns:a16="http://schemas.microsoft.com/office/drawing/2014/main" id="{0531FD0F-B93C-4963-A306-3C0E4ED9038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Feedback을 System Change와&#10;Evaluation으로 잇기">
            <a:extLst xmlns:a="http://schemas.openxmlformats.org/drawingml/2006/main">
              <a:ext uri="{FF2B5EF4-FFF2-40B4-BE49-F238E27FC236}">
                <a16:creationId xmlns:a16="http://schemas.microsoft.com/office/drawing/2014/main" id="{32BE1A30-1998-4D19-BE0F-E53931F9CA17}"/>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Feedback을 System Change와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Evaluation으로 잇기</a:t>
            </a:r>
          </a:p>
        </p:txBody>
      </p:sp>
      <p:sp>
        <p:nvSpPr>
          <p:cNvPr id="4" name="">
            <a:extLst xmlns:a="http://schemas.openxmlformats.org/drawingml/2006/main">
              <a:ext uri="{FF2B5EF4-FFF2-40B4-BE49-F238E27FC236}">
                <a16:creationId xmlns:a16="http://schemas.microsoft.com/office/drawing/2014/main" id="{3397E807-E619-4816-9BFB-EC0CF690F3DF}"/>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교육용 운영 모델">
            <a:extLst xmlns:a="http://schemas.openxmlformats.org/drawingml/2006/main">
              <a:ext uri="{FF2B5EF4-FFF2-40B4-BE49-F238E27FC236}">
                <a16:creationId xmlns:a16="http://schemas.microsoft.com/office/drawing/2014/main" id="{3C2DFADE-8C71-4B85-9A7E-6FF00876BC3F}"/>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교육용 운영 모델</a:t>
            </a:r>
          </a:p>
        </p:txBody>
      </p:sp>
      <p:sp>
        <p:nvSpPr>
          <p:cNvPr id="6" name="모델의 자동 학습이나 실제 Product Loop를 관찰했다는 뜻은 아니다.">
            <a:extLst xmlns:a="http://schemas.openxmlformats.org/drawingml/2006/main">
              <a:ext uri="{FF2B5EF4-FFF2-40B4-BE49-F238E27FC236}">
                <a16:creationId xmlns:a16="http://schemas.microsoft.com/office/drawing/2014/main" id="{38C2FA12-1F67-4D43-AF98-49B49339F283}"/>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모델의 자동 학습이나 실제 Product Loop를 관찰했다는 뜻은 아니다.</a:t>
            </a:r>
          </a:p>
        </p:txBody>
      </p:sp>
      <p:sp>
        <p:nvSpPr>
          <p:cNvPr id="7" name="">
            <a:extLst xmlns:a="http://schemas.openxmlformats.org/drawingml/2006/main">
              <a:ext uri="{FF2B5EF4-FFF2-40B4-BE49-F238E27FC236}">
                <a16:creationId xmlns:a16="http://schemas.microsoft.com/office/drawing/2014/main" id="{9E714DD7-E779-4D96-A364-82A2F032815F}"/>
              </a:ext>
            </a:extLst>
          </p:cNvPr>
          <p:cNvSpPr>
            <a:spLocks xmlns:a="http://schemas.openxmlformats.org/drawingml/2006/main" noGrp="1"/>
          </p:cNvSpPr>
          <p:nvPr/>
        </p:nvSpPr>
        <p:spPr>
          <a:xfrm xmlns:a="http://schemas.openxmlformats.org/drawingml/2006/main">
            <a:off x="609600" y="2686050"/>
            <a:ext cx="187452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실행">
            <a:extLst xmlns:a="http://schemas.openxmlformats.org/drawingml/2006/main">
              <a:ext uri="{FF2B5EF4-FFF2-40B4-BE49-F238E27FC236}">
                <a16:creationId xmlns:a16="http://schemas.microsoft.com/office/drawing/2014/main" id="{E043447E-D7C4-4A15-AB59-6670C700CBA3}"/>
              </a:ext>
            </a:extLst>
          </p:cNvPr>
          <p:cNvSpPr>
            <a:spLocks xmlns:a="http://schemas.openxmlformats.org/drawingml/2006/main" noGrp="1"/>
          </p:cNvSpPr>
          <p:nvPr/>
        </p:nvSpPr>
        <p:spPr>
          <a:xfrm xmlns:a="http://schemas.openxmlformats.org/drawingml/2006/main">
            <a:off x="609600" y="2876550"/>
            <a:ext cx="187452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실행</a:t>
            </a:r>
          </a:p>
        </p:txBody>
      </p:sp>
      <p:sp>
        <p:nvSpPr>
          <p:cNvPr id="9" name="무엇을 했나?">
            <a:extLst xmlns:a="http://schemas.openxmlformats.org/drawingml/2006/main">
              <a:ext uri="{FF2B5EF4-FFF2-40B4-BE49-F238E27FC236}">
                <a16:creationId xmlns:a16="http://schemas.microsoft.com/office/drawing/2014/main" id="{4354F79F-C68C-43AC-A0C8-881C9678F571}"/>
              </a:ext>
            </a:extLst>
          </p:cNvPr>
          <p:cNvSpPr>
            <a:spLocks xmlns:a="http://schemas.openxmlformats.org/drawingml/2006/main" noGrp="1"/>
          </p:cNvSpPr>
          <p:nvPr/>
        </p:nvSpPr>
        <p:spPr>
          <a:xfrm xmlns:a="http://schemas.openxmlformats.org/drawingml/2006/main">
            <a:off x="609600" y="3638550"/>
            <a:ext cx="187452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무엇을 했나?</a:t>
            </a:r>
          </a:p>
        </p:txBody>
      </p:sp>
      <p:sp>
        <p:nvSpPr>
          <p:cNvPr id="10" name="">
            <a:extLst xmlns:a="http://schemas.openxmlformats.org/drawingml/2006/main">
              <a:ext uri="{FF2B5EF4-FFF2-40B4-BE49-F238E27FC236}">
                <a16:creationId xmlns:a16="http://schemas.microsoft.com/office/drawing/2014/main" id="{2149F719-328F-49EC-AEB0-ADCED0C068D4}"/>
              </a:ext>
            </a:extLst>
          </p:cNvPr>
          <p:cNvSpPr>
            <a:spLocks xmlns:a="http://schemas.openxmlformats.org/drawingml/2006/main" noGrp="1"/>
          </p:cNvSpPr>
          <p:nvPr/>
        </p:nvSpPr>
        <p:spPr>
          <a:xfrm xmlns:a="http://schemas.openxmlformats.org/drawingml/2006/main">
            <a:off x="2569845" y="310515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CCFB298-19D1-4EF1-907C-404E4B228B21}"/>
              </a:ext>
            </a:extLst>
          </p:cNvPr>
          <p:cNvSpPr>
            <a:spLocks xmlns:a="http://schemas.openxmlformats.org/drawingml/2006/main" noGrp="1"/>
          </p:cNvSpPr>
          <p:nvPr/>
        </p:nvSpPr>
        <p:spPr>
          <a:xfrm xmlns:a="http://schemas.openxmlformats.org/drawingml/2006/main">
            <a:off x="2884170" y="2686050"/>
            <a:ext cx="187452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관찰">
            <a:extLst xmlns:a="http://schemas.openxmlformats.org/drawingml/2006/main">
              <a:ext uri="{FF2B5EF4-FFF2-40B4-BE49-F238E27FC236}">
                <a16:creationId xmlns:a16="http://schemas.microsoft.com/office/drawing/2014/main" id="{308E98BD-ABB2-4BD9-9034-CCFF3F85CCB0}"/>
              </a:ext>
            </a:extLst>
          </p:cNvPr>
          <p:cNvSpPr>
            <a:spLocks xmlns:a="http://schemas.openxmlformats.org/drawingml/2006/main" noGrp="1"/>
          </p:cNvSpPr>
          <p:nvPr/>
        </p:nvSpPr>
        <p:spPr>
          <a:xfrm xmlns:a="http://schemas.openxmlformats.org/drawingml/2006/main">
            <a:off x="2884170" y="2876550"/>
            <a:ext cx="187452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관찰</a:t>
            </a:r>
          </a:p>
        </p:txBody>
      </p:sp>
      <p:sp>
        <p:nvSpPr>
          <p:cNvPr id="13" name="무엇이 보였나?">
            <a:extLst xmlns:a="http://schemas.openxmlformats.org/drawingml/2006/main">
              <a:ext uri="{FF2B5EF4-FFF2-40B4-BE49-F238E27FC236}">
                <a16:creationId xmlns:a16="http://schemas.microsoft.com/office/drawing/2014/main" id="{29FE45E4-2B95-4106-8B6C-3E5C1AEB59B9}"/>
              </a:ext>
            </a:extLst>
          </p:cNvPr>
          <p:cNvSpPr>
            <a:spLocks xmlns:a="http://schemas.openxmlformats.org/drawingml/2006/main" noGrp="1"/>
          </p:cNvSpPr>
          <p:nvPr/>
        </p:nvSpPr>
        <p:spPr>
          <a:xfrm xmlns:a="http://schemas.openxmlformats.org/drawingml/2006/main">
            <a:off x="2884170" y="3638550"/>
            <a:ext cx="187452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무엇이 보였나?</a:t>
            </a:r>
          </a:p>
        </p:txBody>
      </p:sp>
      <p:sp>
        <p:nvSpPr>
          <p:cNvPr id="14" name="">
            <a:extLst xmlns:a="http://schemas.openxmlformats.org/drawingml/2006/main">
              <a:ext uri="{FF2B5EF4-FFF2-40B4-BE49-F238E27FC236}">
                <a16:creationId xmlns:a16="http://schemas.microsoft.com/office/drawing/2014/main" id="{05EBDDB1-4300-4B57-941E-EC2D533C6C16}"/>
              </a:ext>
            </a:extLst>
          </p:cNvPr>
          <p:cNvSpPr>
            <a:spLocks xmlns:a="http://schemas.openxmlformats.org/drawingml/2006/main" noGrp="1"/>
          </p:cNvSpPr>
          <p:nvPr/>
        </p:nvSpPr>
        <p:spPr>
          <a:xfrm xmlns:a="http://schemas.openxmlformats.org/drawingml/2006/main">
            <a:off x="4844415" y="310515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365CBDF1-8B41-4F19-A77C-74BABE8FC6DA}"/>
              </a:ext>
            </a:extLst>
          </p:cNvPr>
          <p:cNvSpPr>
            <a:spLocks xmlns:a="http://schemas.openxmlformats.org/drawingml/2006/main" noGrp="1"/>
          </p:cNvSpPr>
          <p:nvPr/>
        </p:nvSpPr>
        <p:spPr>
          <a:xfrm xmlns:a="http://schemas.openxmlformats.org/drawingml/2006/main">
            <a:off x="5158740" y="2686050"/>
            <a:ext cx="187452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원인 판단">
            <a:extLst xmlns:a="http://schemas.openxmlformats.org/drawingml/2006/main">
              <a:ext uri="{FF2B5EF4-FFF2-40B4-BE49-F238E27FC236}">
                <a16:creationId xmlns:a16="http://schemas.microsoft.com/office/drawing/2014/main" id="{CB87F8D5-049E-4D3C-981E-D0E957B726CE}"/>
              </a:ext>
            </a:extLst>
          </p:cNvPr>
          <p:cNvSpPr>
            <a:spLocks xmlns:a="http://schemas.openxmlformats.org/drawingml/2006/main" noGrp="1"/>
          </p:cNvSpPr>
          <p:nvPr/>
        </p:nvSpPr>
        <p:spPr>
          <a:xfrm xmlns:a="http://schemas.openxmlformats.org/drawingml/2006/main">
            <a:off x="5158740" y="2876550"/>
            <a:ext cx="187452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원인 판단</a:t>
            </a:r>
          </a:p>
        </p:txBody>
      </p:sp>
      <p:sp>
        <p:nvSpPr>
          <p:cNvPr id="17" name="왜 생겼나?">
            <a:extLst xmlns:a="http://schemas.openxmlformats.org/drawingml/2006/main">
              <a:ext uri="{FF2B5EF4-FFF2-40B4-BE49-F238E27FC236}">
                <a16:creationId xmlns:a16="http://schemas.microsoft.com/office/drawing/2014/main" id="{2E77F5D1-ECB2-4130-B25A-C468460E9910}"/>
              </a:ext>
            </a:extLst>
          </p:cNvPr>
          <p:cNvSpPr>
            <a:spLocks xmlns:a="http://schemas.openxmlformats.org/drawingml/2006/main" noGrp="1"/>
          </p:cNvSpPr>
          <p:nvPr/>
        </p:nvSpPr>
        <p:spPr>
          <a:xfrm xmlns:a="http://schemas.openxmlformats.org/drawingml/2006/main">
            <a:off x="5158740" y="3638550"/>
            <a:ext cx="187452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왜 생겼나?</a:t>
            </a:r>
          </a:p>
        </p:txBody>
      </p:sp>
      <p:sp>
        <p:nvSpPr>
          <p:cNvPr id="18" name="">
            <a:extLst xmlns:a="http://schemas.openxmlformats.org/drawingml/2006/main">
              <a:ext uri="{FF2B5EF4-FFF2-40B4-BE49-F238E27FC236}">
                <a16:creationId xmlns:a16="http://schemas.microsoft.com/office/drawing/2014/main" id="{C7888E0E-5E30-4120-811D-727F023F0BA5}"/>
              </a:ext>
            </a:extLst>
          </p:cNvPr>
          <p:cNvSpPr>
            <a:spLocks xmlns:a="http://schemas.openxmlformats.org/drawingml/2006/main" noGrp="1"/>
          </p:cNvSpPr>
          <p:nvPr/>
        </p:nvSpPr>
        <p:spPr>
          <a:xfrm xmlns:a="http://schemas.openxmlformats.org/drawingml/2006/main">
            <a:off x="7118985" y="310515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9FE2630B-D5A3-4E45-A9C6-F8277CCFE1FD}"/>
              </a:ext>
            </a:extLst>
          </p:cNvPr>
          <p:cNvSpPr>
            <a:spLocks xmlns:a="http://schemas.openxmlformats.org/drawingml/2006/main" noGrp="1"/>
          </p:cNvSpPr>
          <p:nvPr/>
        </p:nvSpPr>
        <p:spPr>
          <a:xfrm xmlns:a="http://schemas.openxmlformats.org/drawingml/2006/main">
            <a:off x="7433310" y="2686050"/>
            <a:ext cx="187452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시스템 변경">
            <a:extLst xmlns:a="http://schemas.openxmlformats.org/drawingml/2006/main">
              <a:ext uri="{FF2B5EF4-FFF2-40B4-BE49-F238E27FC236}">
                <a16:creationId xmlns:a16="http://schemas.microsoft.com/office/drawing/2014/main" id="{D616F388-5EDA-4971-8D1B-DBD742625411}"/>
              </a:ext>
            </a:extLst>
          </p:cNvPr>
          <p:cNvSpPr>
            <a:spLocks xmlns:a="http://schemas.openxmlformats.org/drawingml/2006/main" noGrp="1"/>
          </p:cNvSpPr>
          <p:nvPr/>
        </p:nvSpPr>
        <p:spPr>
          <a:xfrm xmlns:a="http://schemas.openxmlformats.org/drawingml/2006/main">
            <a:off x="7433310" y="2876550"/>
            <a:ext cx="187452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시스템 변경</a:t>
            </a:r>
          </a:p>
        </p:txBody>
      </p:sp>
      <p:sp>
        <p:nvSpPr>
          <p:cNvPr id="21" name="어디를 바꾸나?">
            <a:extLst xmlns:a="http://schemas.openxmlformats.org/drawingml/2006/main">
              <a:ext uri="{FF2B5EF4-FFF2-40B4-BE49-F238E27FC236}">
                <a16:creationId xmlns:a16="http://schemas.microsoft.com/office/drawing/2014/main" id="{E620F47E-4E02-481F-BAF7-0F2BA4770D48}"/>
              </a:ext>
            </a:extLst>
          </p:cNvPr>
          <p:cNvSpPr>
            <a:spLocks xmlns:a="http://schemas.openxmlformats.org/drawingml/2006/main" noGrp="1"/>
          </p:cNvSpPr>
          <p:nvPr/>
        </p:nvSpPr>
        <p:spPr>
          <a:xfrm xmlns:a="http://schemas.openxmlformats.org/drawingml/2006/main">
            <a:off x="7433310" y="3638550"/>
            <a:ext cx="187452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어디를 바꾸나?</a:t>
            </a:r>
          </a:p>
        </p:txBody>
      </p:sp>
      <p:sp>
        <p:nvSpPr>
          <p:cNvPr id="22" name="">
            <a:extLst xmlns:a="http://schemas.openxmlformats.org/drawingml/2006/main">
              <a:ext uri="{FF2B5EF4-FFF2-40B4-BE49-F238E27FC236}">
                <a16:creationId xmlns:a16="http://schemas.microsoft.com/office/drawing/2014/main" id="{701A32F0-705F-4F0D-A089-92D187BDB2C3}"/>
              </a:ext>
            </a:extLst>
          </p:cNvPr>
          <p:cNvSpPr>
            <a:spLocks xmlns:a="http://schemas.openxmlformats.org/drawingml/2006/main" noGrp="1"/>
          </p:cNvSpPr>
          <p:nvPr/>
        </p:nvSpPr>
        <p:spPr>
          <a:xfrm xmlns:a="http://schemas.openxmlformats.org/drawingml/2006/main">
            <a:off x="9393555" y="310515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EEB87AAF-D351-428B-9746-57A87FF83C25}"/>
              </a:ext>
            </a:extLst>
          </p:cNvPr>
          <p:cNvSpPr>
            <a:spLocks xmlns:a="http://schemas.openxmlformats.org/drawingml/2006/main" noGrp="1"/>
          </p:cNvSpPr>
          <p:nvPr/>
        </p:nvSpPr>
        <p:spPr>
          <a:xfrm xmlns:a="http://schemas.openxmlformats.org/drawingml/2006/main">
            <a:off x="9707880" y="2686050"/>
            <a:ext cx="187452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4" name="재평가">
            <a:extLst xmlns:a="http://schemas.openxmlformats.org/drawingml/2006/main">
              <a:ext uri="{FF2B5EF4-FFF2-40B4-BE49-F238E27FC236}">
                <a16:creationId xmlns:a16="http://schemas.microsoft.com/office/drawing/2014/main" id="{FF14BDE9-1806-40EA-982E-F9A18FEC895A}"/>
              </a:ext>
            </a:extLst>
          </p:cNvPr>
          <p:cNvSpPr>
            <a:spLocks xmlns:a="http://schemas.openxmlformats.org/drawingml/2006/main" noGrp="1"/>
          </p:cNvSpPr>
          <p:nvPr/>
        </p:nvSpPr>
        <p:spPr>
          <a:xfrm xmlns:a="http://schemas.openxmlformats.org/drawingml/2006/main">
            <a:off x="9707880" y="2876550"/>
            <a:ext cx="187452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재평가</a:t>
            </a:r>
          </a:p>
        </p:txBody>
      </p:sp>
      <p:sp>
        <p:nvSpPr>
          <p:cNvPr id="25" name="다른 작업도&#10;괜찮은가?">
            <a:extLst xmlns:a="http://schemas.openxmlformats.org/drawingml/2006/main">
              <a:ext uri="{FF2B5EF4-FFF2-40B4-BE49-F238E27FC236}">
                <a16:creationId xmlns:a16="http://schemas.microsoft.com/office/drawing/2014/main" id="{972B3193-4109-4598-B36E-1EEF8FD82548}"/>
              </a:ext>
            </a:extLst>
          </p:cNvPr>
          <p:cNvSpPr>
            <a:spLocks xmlns:a="http://schemas.openxmlformats.org/drawingml/2006/main" noGrp="1"/>
          </p:cNvSpPr>
          <p:nvPr/>
        </p:nvSpPr>
        <p:spPr>
          <a:xfrm xmlns:a="http://schemas.openxmlformats.org/drawingml/2006/main">
            <a:off x="9707880" y="3638550"/>
            <a:ext cx="187452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다른 작업도</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괜찮은가?</a:t>
            </a:r>
          </a:p>
        </p:txBody>
      </p:sp>
      <p:sp>
        <p:nvSpPr>
          <p:cNvPr id="26" name="다음 작업에도 영향을 주는 변경으로 연결한다.">
            <a:extLst xmlns:a="http://schemas.openxmlformats.org/drawingml/2006/main">
              <a:ext uri="{FF2B5EF4-FFF2-40B4-BE49-F238E27FC236}">
                <a16:creationId xmlns:a16="http://schemas.microsoft.com/office/drawing/2014/main" id="{15D22D0C-9F39-4C91-93D9-397C11242665}"/>
              </a:ext>
            </a:extLst>
          </p:cNvPr>
          <p:cNvSpPr>
            <a:spLocks xmlns:a="http://schemas.openxmlformats.org/drawingml/2006/main" noGrp="1"/>
          </p:cNvSpPr>
          <p:nvPr/>
        </p:nvSpPr>
        <p:spPr>
          <a:xfrm xmlns:a="http://schemas.openxmlformats.org/drawingml/2006/main">
            <a:off x="609600" y="495300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 영향을 주는 변경으로 연결한다.</a:t>
            </a:r>
          </a:p>
        </p:txBody>
      </p:sp>
    </p:spTree>
    <p:extLst>
      <p:ext uri="{BB962C8B-B14F-4D97-AF65-F5344CB8AC3E}">
        <p14:creationId xmlns:p14="http://schemas.microsoft.com/office/powerpoint/2010/main" val="565860866"/>
      </p:ext>
    </p:extLst>
  </p:cSld>
</p:sld>
</file>

<file path=ppt/slides/slide6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4 · OBSERVED META / 교육자료 제작 기록">
            <a:extLst xmlns:a="http://schemas.openxmlformats.org/drawingml/2006/main">
              <a:ext uri="{FF2B5EF4-FFF2-40B4-BE49-F238E27FC236}">
                <a16:creationId xmlns:a16="http://schemas.microsoft.com/office/drawing/2014/main" id="{EE486217-E8CA-4E2B-B430-43950DE16E3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교육자료 제작 기록</a:t>
            </a:r>
          </a:p>
        </p:txBody>
      </p:sp>
      <p:sp>
        <p:nvSpPr>
          <p:cNvPr id="2" name="S67">
            <a:extLst xmlns:a="http://schemas.openxmlformats.org/drawingml/2006/main">
              <a:ext uri="{FF2B5EF4-FFF2-40B4-BE49-F238E27FC236}">
                <a16:creationId xmlns:a16="http://schemas.microsoft.com/office/drawing/2014/main" id="{28369FCF-9650-4214-9296-0B51D72491D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실제 제작 기록: TRIAL-006">
            <a:extLst xmlns:a="http://schemas.openxmlformats.org/drawingml/2006/main">
              <a:ext uri="{FF2B5EF4-FFF2-40B4-BE49-F238E27FC236}">
                <a16:creationId xmlns:a16="http://schemas.microsoft.com/office/drawing/2014/main" id="{544F7072-EA47-4A17-A9C5-2E907D69E39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제작 기록: TRIAL-006</a:t>
            </a:r>
          </a:p>
        </p:txBody>
      </p:sp>
      <p:sp>
        <p:nvSpPr>
          <p:cNvPr id="4" name="">
            <a:extLst xmlns:a="http://schemas.openxmlformats.org/drawingml/2006/main">
              <a:ext uri="{FF2B5EF4-FFF2-40B4-BE49-F238E27FC236}">
                <a16:creationId xmlns:a16="http://schemas.microsoft.com/office/drawing/2014/main" id="{AED39E72-A334-4FDD-A748-72587508AE2E}"/>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701FBEF2-4945-4913-9E55-5756F106C516}"/>
              </a:ext>
            </a:extLst>
          </p:cNvPr>
          <p:cNvSpPr>
            <a:spLocks xmlns:a="http://schemas.openxmlformats.org/drawingml/2006/main" noGrp="1"/>
          </p:cNvSpPr>
          <p:nvPr/>
        </p:nvSpPr>
        <p:spPr>
          <a:xfrm xmlns:a="http://schemas.openxmlformats.org/drawingml/2006/main">
            <a:off x="609600" y="57721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과거 Codex CLI 조사 기록의 재구성">
            <a:extLst xmlns:a="http://schemas.openxmlformats.org/drawingml/2006/main">
              <a:ext uri="{FF2B5EF4-FFF2-40B4-BE49-F238E27FC236}">
                <a16:creationId xmlns:a16="http://schemas.microsoft.com/office/drawing/2014/main" id="{CB86DF74-AE3A-40CC-B596-3E1C1ABCD776}"/>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과거 Codex CLI 조사 기록의 재구성</a:t>
            </a:r>
          </a:p>
        </p:txBody>
      </p:sp>
      <p:sp>
        <p:nvSpPr>
          <p:cNvPr id="7" name="앞의 가상 Workflow와 별개 사건이다. 제품 코드·Demo Skill의 수정 사례가 아니다.">
            <a:extLst xmlns:a="http://schemas.openxmlformats.org/drawingml/2006/main">
              <a:ext uri="{FF2B5EF4-FFF2-40B4-BE49-F238E27FC236}">
                <a16:creationId xmlns:a16="http://schemas.microsoft.com/office/drawing/2014/main" id="{943BABD6-2BE0-47D8-B11C-8C3910779BC7}"/>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가상 Workflow와 별개 사건이다. 제품 코드·Demo Skill의 수정 사례가 아니다.</a:t>
            </a:r>
          </a:p>
        </p:txBody>
      </p:sp>
      <p:sp>
        <p:nvSpPr>
          <p:cNvPr id="8" name="성능 조사에 Prompt 밖의 환경도 함께 관여했다.">
            <a:extLst xmlns:a="http://schemas.openxmlformats.org/drawingml/2006/main">
              <a:ext uri="{FF2B5EF4-FFF2-40B4-BE49-F238E27FC236}">
                <a16:creationId xmlns:a16="http://schemas.microsoft.com/office/drawing/2014/main" id="{C94C1729-2F5F-4943-A27E-90E88BE484D6}"/>
              </a:ext>
            </a:extLst>
          </p:cNvPr>
          <p:cNvSpPr>
            <a:spLocks xmlns:a="http://schemas.openxmlformats.org/drawingml/2006/main" noGrp="1"/>
          </p:cNvSpPr>
          <p:nvPr/>
        </p:nvSpPr>
        <p:spPr>
          <a:xfrm xmlns:a="http://schemas.openxmlformats.org/drawingml/2006/main">
            <a:off x="609600" y="20955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성능 조사에 Prompt 밖의 환경도 함께 관여했다.</a:t>
            </a:r>
          </a:p>
        </p:txBody>
      </p:sp>
      <p:sp>
        <p:nvSpPr>
          <p:cNvPr id="9" name="작업 요청">
            <a:extLst xmlns:a="http://schemas.openxmlformats.org/drawingml/2006/main">
              <a:ext uri="{FF2B5EF4-FFF2-40B4-BE49-F238E27FC236}">
                <a16:creationId xmlns:a16="http://schemas.microsoft.com/office/drawing/2014/main" id="{16E85DBA-4BD2-4FEA-A4F9-A6DC2C71CD86}"/>
              </a:ext>
            </a:extLst>
          </p:cNvPr>
          <p:cNvSpPr>
            <a:spLocks xmlns:a="http://schemas.openxmlformats.org/drawingml/2006/main" noGrp="1"/>
          </p:cNvSpPr>
          <p:nvPr/>
        </p:nvSpPr>
        <p:spPr>
          <a:xfrm xmlns:a="http://schemas.openxmlformats.org/drawingml/2006/main">
            <a:off x="609600" y="309562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작업 요청</a:t>
            </a:r>
          </a:p>
        </p:txBody>
      </p:sp>
      <p:sp>
        <p:nvSpPr>
          <p:cNvPr id="10" name="실행 환경">
            <a:extLst xmlns:a="http://schemas.openxmlformats.org/drawingml/2006/main">
              <a:ext uri="{FF2B5EF4-FFF2-40B4-BE49-F238E27FC236}">
                <a16:creationId xmlns:a16="http://schemas.microsoft.com/office/drawing/2014/main" id="{FEB7D278-893B-4BA9-B737-071A94C2A2BF}"/>
              </a:ext>
            </a:extLst>
          </p:cNvPr>
          <p:cNvSpPr>
            <a:spLocks xmlns:a="http://schemas.openxmlformats.org/drawingml/2006/main" noGrp="1"/>
          </p:cNvSpPr>
          <p:nvPr/>
        </p:nvSpPr>
        <p:spPr>
          <a:xfrm xmlns:a="http://schemas.openxmlformats.org/drawingml/2006/main">
            <a:off x="4572000" y="309562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 환경</a:t>
            </a:r>
          </a:p>
        </p:txBody>
      </p:sp>
      <p:sp>
        <p:nvSpPr>
          <p:cNvPr id="11" name="결과 해석">
            <a:extLst xmlns:a="http://schemas.openxmlformats.org/drawingml/2006/main">
              <a:ext uri="{FF2B5EF4-FFF2-40B4-BE49-F238E27FC236}">
                <a16:creationId xmlns:a16="http://schemas.microsoft.com/office/drawing/2014/main" id="{B9E1D11D-9CE8-4CC0-86BA-B24CBBEF6F3D}"/>
              </a:ext>
            </a:extLst>
          </p:cNvPr>
          <p:cNvSpPr>
            <a:spLocks xmlns:a="http://schemas.openxmlformats.org/drawingml/2006/main" noGrp="1"/>
          </p:cNvSpPr>
          <p:nvPr/>
        </p:nvSpPr>
        <p:spPr>
          <a:xfrm xmlns:a="http://schemas.openxmlformats.org/drawingml/2006/main">
            <a:off x="8572500" y="3095625"/>
            <a:ext cx="300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결과 해석</a:t>
            </a:r>
          </a:p>
        </p:txBody>
      </p:sp>
      <p:sp>
        <p:nvSpPr>
          <p:cNvPr id="12" name="">
            <a:extLst xmlns:a="http://schemas.openxmlformats.org/drawingml/2006/main">
              <a:ext uri="{FF2B5EF4-FFF2-40B4-BE49-F238E27FC236}">
                <a16:creationId xmlns:a16="http://schemas.microsoft.com/office/drawing/2014/main" id="{E0EB916C-8B8B-4C40-8816-2E63FA1DF30B}"/>
              </a:ext>
            </a:extLst>
          </p:cNvPr>
          <p:cNvSpPr>
            <a:spLocks xmlns:a="http://schemas.openxmlformats.org/drawingml/2006/main" noGrp="1"/>
          </p:cNvSpPr>
          <p:nvPr/>
        </p:nvSpPr>
        <p:spPr>
          <a:xfrm xmlns:a="http://schemas.openxmlformats.org/drawingml/2006/main">
            <a:off x="609600" y="37147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
            <a:extLst xmlns:a="http://schemas.openxmlformats.org/drawingml/2006/main">
              <a:ext uri="{FF2B5EF4-FFF2-40B4-BE49-F238E27FC236}">
                <a16:creationId xmlns:a16="http://schemas.microsoft.com/office/drawing/2014/main" id="{4D5D6A21-CBF2-4A3A-8AEF-8CF5145E68A8}"/>
              </a:ext>
            </a:extLst>
          </p:cNvPr>
          <p:cNvSpPr>
            <a:spLocks xmlns:a="http://schemas.openxmlformats.org/drawingml/2006/main" noGrp="1"/>
          </p:cNvSpPr>
          <p:nvPr/>
        </p:nvSpPr>
        <p:spPr>
          <a:xfrm xmlns:a="http://schemas.openxmlformats.org/drawingml/2006/main">
            <a:off x="4572000" y="37147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
            <a:extLst xmlns:a="http://schemas.openxmlformats.org/drawingml/2006/main">
              <a:ext uri="{FF2B5EF4-FFF2-40B4-BE49-F238E27FC236}">
                <a16:creationId xmlns:a16="http://schemas.microsoft.com/office/drawing/2014/main" id="{180E5359-48B8-4CF9-8713-C87C6AF31519}"/>
              </a:ext>
            </a:extLst>
          </p:cNvPr>
          <p:cNvSpPr>
            <a:spLocks xmlns:a="http://schemas.openxmlformats.org/drawingml/2006/main" noGrp="1"/>
          </p:cNvSpPr>
          <p:nvPr/>
        </p:nvSpPr>
        <p:spPr>
          <a:xfrm xmlns:a="http://schemas.openxmlformats.org/drawingml/2006/main">
            <a:off x="8572500" y="3714750"/>
            <a:ext cx="3009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
            <a:extLst xmlns:a="http://schemas.openxmlformats.org/drawingml/2006/main">
              <a:ext uri="{FF2B5EF4-FFF2-40B4-BE49-F238E27FC236}">
                <a16:creationId xmlns:a16="http://schemas.microsoft.com/office/drawing/2014/main" id="{1F37A615-985D-4010-8230-117DA57D7621}"/>
              </a:ext>
            </a:extLst>
          </p:cNvPr>
          <p:cNvSpPr>
            <a:spLocks xmlns:a="http://schemas.openxmlformats.org/drawingml/2006/main" noGrp="1"/>
          </p:cNvSpPr>
          <p:nvPr/>
        </p:nvSpPr>
        <p:spPr>
          <a:xfrm xmlns:a="http://schemas.openxmlformats.org/drawingml/2006/main">
            <a:off x="4048125" y="3886200"/>
            <a:ext cx="3429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4D828606-FA5F-4DB1-A718-CB751ECAC0AD}"/>
              </a:ext>
            </a:extLst>
          </p:cNvPr>
          <p:cNvSpPr>
            <a:spLocks xmlns:a="http://schemas.openxmlformats.org/drawingml/2006/main" noGrp="1"/>
          </p:cNvSpPr>
          <p:nvPr/>
        </p:nvSpPr>
        <p:spPr>
          <a:xfrm xmlns:a="http://schemas.openxmlformats.org/drawingml/2006/main">
            <a:off x="8048625" y="3886200"/>
            <a:ext cx="3429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성능 개선 작업">
            <a:extLst xmlns:a="http://schemas.openxmlformats.org/drawingml/2006/main">
              <a:ext uri="{FF2B5EF4-FFF2-40B4-BE49-F238E27FC236}">
                <a16:creationId xmlns:a16="http://schemas.microsoft.com/office/drawing/2014/main" id="{F5FE17EA-3717-42FA-9539-3561301649E6}"/>
              </a:ext>
            </a:extLst>
          </p:cNvPr>
          <p:cNvSpPr>
            <a:spLocks xmlns:a="http://schemas.openxmlformats.org/drawingml/2006/main" noGrp="1"/>
          </p:cNvSpPr>
          <p:nvPr/>
        </p:nvSpPr>
        <p:spPr>
          <a:xfrm xmlns:a="http://schemas.openxmlformats.org/drawingml/2006/main">
            <a:off x="609600" y="3943350"/>
            <a:ext cx="333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성능 개선 작업</a:t>
            </a:r>
          </a:p>
        </p:txBody>
      </p:sp>
      <p:sp>
        <p:nvSpPr>
          <p:cNvPr id="18" name="Global Skill 관여&#10;시작 경고도 기록">
            <a:extLst xmlns:a="http://schemas.openxmlformats.org/drawingml/2006/main">
              <a:ext uri="{FF2B5EF4-FFF2-40B4-BE49-F238E27FC236}">
                <a16:creationId xmlns:a16="http://schemas.microsoft.com/office/drawing/2014/main" id="{10865F20-1F7B-401C-8D9F-39BF11C8BDA9}"/>
              </a:ext>
            </a:extLst>
          </p:cNvPr>
          <p:cNvSpPr>
            <a:spLocks xmlns:a="http://schemas.openxmlformats.org/drawingml/2006/main" noGrp="1"/>
          </p:cNvSpPr>
          <p:nvPr/>
        </p:nvSpPr>
        <p:spPr>
          <a:xfrm xmlns:a="http://schemas.openxmlformats.org/drawingml/2006/main">
            <a:off x="4572000" y="3943350"/>
            <a:ext cx="333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Global Skill 관여</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시작 경고도 기록</a:t>
            </a:r>
          </a:p>
        </p:txBody>
      </p:sp>
      <p:sp>
        <p:nvSpPr>
          <p:cNvPr id="19" name="Prompt만의 효과?&#10;귀속은 PARTIAL">
            <a:extLst xmlns:a="http://schemas.openxmlformats.org/drawingml/2006/main">
              <a:ext uri="{FF2B5EF4-FFF2-40B4-BE49-F238E27FC236}">
                <a16:creationId xmlns:a16="http://schemas.microsoft.com/office/drawing/2014/main" id="{95A894EE-2892-400F-B9F9-0C829096EDF1}"/>
              </a:ext>
            </a:extLst>
          </p:cNvPr>
          <p:cNvSpPr>
            <a:spLocks xmlns:a="http://schemas.openxmlformats.org/drawingml/2006/main" noGrp="1"/>
          </p:cNvSpPr>
          <p:nvPr/>
        </p:nvSpPr>
        <p:spPr>
          <a:xfrm xmlns:a="http://schemas.openxmlformats.org/drawingml/2006/main">
            <a:off x="8572500" y="3943350"/>
            <a:ext cx="30099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Prompt만의 효과?</a:t>
            </a:r>
          </a:p>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귀속은 PARTIAL</a:t>
            </a:r>
          </a:p>
        </p:txBody>
      </p:sp>
      <p:sp>
        <p:nvSpPr>
          <p:cNvPr id="20" name="좋은 결과가 있다는 것과 원인을 안다는 것은 별개다.">
            <a:extLst xmlns:a="http://schemas.openxmlformats.org/drawingml/2006/main">
              <a:ext uri="{FF2B5EF4-FFF2-40B4-BE49-F238E27FC236}">
                <a16:creationId xmlns:a16="http://schemas.microsoft.com/office/drawing/2014/main" id="{47D08A61-A54C-4259-8E46-C91539EB6889}"/>
              </a:ext>
            </a:extLst>
          </p:cNvPr>
          <p:cNvSpPr>
            <a:spLocks xmlns:a="http://schemas.openxmlformats.org/drawingml/2006/main" noGrp="1"/>
          </p:cNvSpPr>
          <p:nvPr/>
        </p:nvSpPr>
        <p:spPr>
          <a:xfrm xmlns:a="http://schemas.openxmlformats.org/drawingml/2006/main">
            <a:off x="609600" y="52197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좋은 결과가 있다는 것과 원인을 안다는 것은 별개다.</a:t>
            </a:r>
          </a:p>
        </p:txBody>
      </p:sp>
    </p:spTree>
    <p:extLst>
      <p:ext uri="{BB962C8B-B14F-4D97-AF65-F5344CB8AC3E}">
        <p14:creationId xmlns:p14="http://schemas.microsoft.com/office/powerpoint/2010/main" val="1015005788"/>
      </p:ext>
    </p:extLst>
  </p:cSld>
</p:sld>
</file>

<file path=ppt/slides/slide6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OBSERVED META / 두 가지 검증 질문">
            <a:extLst xmlns:a="http://schemas.openxmlformats.org/drawingml/2006/main">
              <a:ext uri="{FF2B5EF4-FFF2-40B4-BE49-F238E27FC236}">
                <a16:creationId xmlns:a16="http://schemas.microsoft.com/office/drawing/2014/main" id="{48EDA55B-9F9F-4E98-B507-BA581E015D4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두 가지 검증 질문</a:t>
            </a:r>
          </a:p>
        </p:txBody>
      </p:sp>
      <p:sp>
        <p:nvSpPr>
          <p:cNvPr id="2" name="S68">
            <a:extLst xmlns:a="http://schemas.openxmlformats.org/drawingml/2006/main">
              <a:ext uri="{FF2B5EF4-FFF2-40B4-BE49-F238E27FC236}">
                <a16:creationId xmlns:a16="http://schemas.microsoft.com/office/drawing/2014/main" id="{8FEA5612-98B4-4443-9FBA-0C071A0147F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결과의 타당성과 원인 귀속은 별개다">
            <a:extLst xmlns:a="http://schemas.openxmlformats.org/drawingml/2006/main">
              <a:ext uri="{FF2B5EF4-FFF2-40B4-BE49-F238E27FC236}">
                <a16:creationId xmlns:a16="http://schemas.microsoft.com/office/drawing/2014/main" id="{E4AA0F04-AA83-4499-92F9-CBECACB8CD2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결과의 타당성과 원인 귀속은 별개다</a:t>
            </a:r>
          </a:p>
        </p:txBody>
      </p:sp>
      <p:sp>
        <p:nvSpPr>
          <p:cNvPr id="4" name="">
            <a:extLst xmlns:a="http://schemas.openxmlformats.org/drawingml/2006/main">
              <a:ext uri="{FF2B5EF4-FFF2-40B4-BE49-F238E27FC236}">
                <a16:creationId xmlns:a16="http://schemas.microsoft.com/office/drawing/2014/main" id="{1508E076-7549-489F-9D24-375C201011C3}"/>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97C79914-6BF0-4318-A492-AB0613329AA5}"/>
              </a:ext>
            </a:extLst>
          </p:cNvPr>
          <p:cNvSpPr>
            <a:spLocks xmlns:a="http://schemas.openxmlformats.org/drawingml/2006/main" noGrp="1"/>
          </p:cNvSpPr>
          <p:nvPr/>
        </p:nvSpPr>
        <p:spPr>
          <a:xfrm xmlns:a="http://schemas.openxmlformats.org/drawingml/2006/main">
            <a:off x="609600" y="57721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resize_nearest · 7 one-call samples · 기록 재구성">
            <a:extLst xmlns:a="http://schemas.openxmlformats.org/drawingml/2006/main">
              <a:ext uri="{FF2B5EF4-FFF2-40B4-BE49-F238E27FC236}">
                <a16:creationId xmlns:a16="http://schemas.microsoft.com/office/drawing/2014/main" id="{3B1BEF89-1ECA-400B-9A2E-1FC864F33539}"/>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resize_nearest · 7 one-call samples · 기록 재구성</a:t>
            </a:r>
          </a:p>
        </p:txBody>
      </p:sp>
      <p:sp>
        <p:nvSpPr>
          <p:cNvPr id="7" name="기록된 합성 입력·CPython 3.9.6·macOS arm64의 결과. 현재 Desktop 또는 일반 효과">
            <a:extLst xmlns:a="http://schemas.openxmlformats.org/drawingml/2006/main">
              <a:ext uri="{FF2B5EF4-FFF2-40B4-BE49-F238E27FC236}">
                <a16:creationId xmlns:a16="http://schemas.microsoft.com/office/drawing/2014/main" id="{08AACDF9-975D-42A1-8179-06F75E56AD9A}"/>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합성 입력·CPython 3.9.6·macOS arm64의 결과. 현재 Desktop 또는 일반 효과가 아니다.</a:t>
            </a:r>
          </a:p>
        </p:txBody>
      </p:sp>
      <p:sp>
        <p:nvSpPr>
          <p:cNvPr id="8" name="측정 결과는 유효한가?">
            <a:extLst xmlns:a="http://schemas.openxmlformats.org/drawingml/2006/main">
              <a:ext uri="{FF2B5EF4-FFF2-40B4-BE49-F238E27FC236}">
                <a16:creationId xmlns:a16="http://schemas.microsoft.com/office/drawing/2014/main" id="{0F355525-9E43-47E1-B5BE-765A6C8A78A4}"/>
              </a:ext>
            </a:extLst>
          </p:cNvPr>
          <p:cNvSpPr>
            <a:spLocks xmlns:a="http://schemas.openxmlformats.org/drawingml/2006/main" noGrp="1"/>
          </p:cNvSpPr>
          <p:nvPr/>
        </p:nvSpPr>
        <p:spPr>
          <a:xfrm xmlns:a="http://schemas.openxmlformats.org/drawingml/2006/main">
            <a:off x="609600" y="2190750"/>
            <a:ext cx="4953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측정 결과는 유효한가?</a:t>
            </a:r>
          </a:p>
        </p:txBody>
      </p:sp>
      <p:sp>
        <p:nvSpPr>
          <p:cNvPr id="9" name="무엇이 결과를 만들었나?">
            <a:extLst xmlns:a="http://schemas.openxmlformats.org/drawingml/2006/main">
              <a:ext uri="{FF2B5EF4-FFF2-40B4-BE49-F238E27FC236}">
                <a16:creationId xmlns:a16="http://schemas.microsoft.com/office/drawing/2014/main" id="{6C6FEDF5-76E7-4900-91D3-CFED073F9592}"/>
              </a:ext>
            </a:extLst>
          </p:cNvPr>
          <p:cNvSpPr>
            <a:spLocks xmlns:a="http://schemas.openxmlformats.org/drawingml/2006/main" noGrp="1"/>
          </p:cNvSpPr>
          <p:nvPr/>
        </p:nvSpPr>
        <p:spPr>
          <a:xfrm xmlns:a="http://schemas.openxmlformats.org/drawingml/2006/main">
            <a:off x="6705600" y="2190750"/>
            <a:ext cx="4876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무엇이 결과를 만들었나?</a:t>
            </a:r>
          </a:p>
        </p:txBody>
      </p:sp>
      <p:sp>
        <p:nvSpPr>
          <p:cNvPr id="10" name="">
            <a:extLst xmlns:a="http://schemas.openxmlformats.org/drawingml/2006/main">
              <a:ext uri="{FF2B5EF4-FFF2-40B4-BE49-F238E27FC236}">
                <a16:creationId xmlns:a16="http://schemas.microsoft.com/office/drawing/2014/main" id="{B44D7516-973D-4AA0-9F6E-E131A4053986}"/>
              </a:ext>
            </a:extLst>
          </p:cNvPr>
          <p:cNvSpPr>
            <a:spLocks xmlns:a="http://schemas.openxmlformats.org/drawingml/2006/main" noGrp="1"/>
          </p:cNvSpPr>
          <p:nvPr/>
        </p:nvSpPr>
        <p:spPr>
          <a:xfrm xmlns:a="http://schemas.openxmlformats.org/drawingml/2006/main">
            <a:off x="609600" y="2857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28F70E8E-DBFC-4E85-86E6-B2EB32F4A12F}"/>
              </a:ext>
            </a:extLst>
          </p:cNvPr>
          <p:cNvSpPr>
            <a:spLocks xmlns:a="http://schemas.openxmlformats.org/drawingml/2006/main" noGrp="1"/>
          </p:cNvSpPr>
          <p:nvPr/>
        </p:nvSpPr>
        <p:spPr>
          <a:xfrm xmlns:a="http://schemas.openxmlformats.org/drawingml/2006/main">
            <a:off x="6705600" y="2857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2" name="입력·출력 hash 일치&#10;같은 조건의 측정 기록">
            <a:extLst xmlns:a="http://schemas.openxmlformats.org/drawingml/2006/main">
              <a:ext uri="{FF2B5EF4-FFF2-40B4-BE49-F238E27FC236}">
                <a16:creationId xmlns:a16="http://schemas.microsoft.com/office/drawing/2014/main" id="{B1935523-9BE7-45B2-AE81-F1EBA84D1C7A}"/>
              </a:ext>
            </a:extLst>
          </p:cNvPr>
          <p:cNvSpPr>
            <a:spLocks xmlns:a="http://schemas.openxmlformats.org/drawingml/2006/main" noGrp="1"/>
          </p:cNvSpPr>
          <p:nvPr/>
        </p:nvSpPr>
        <p:spPr>
          <a:xfrm xmlns:a="http://schemas.openxmlformats.org/drawingml/2006/main">
            <a:off x="609600" y="3095625"/>
            <a:ext cx="4876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입력·출력 hash 일치</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조건의 측정 기록</a:t>
            </a:r>
          </a:p>
        </p:txBody>
      </p:sp>
      <p:sp>
        <p:nvSpPr>
          <p:cNvPr id="13" name="Global Skill이 평가 절차에 관여&#10;Prompt만의 효과는 분리 못함">
            <a:extLst xmlns:a="http://schemas.openxmlformats.org/drawingml/2006/main">
              <a:ext uri="{FF2B5EF4-FFF2-40B4-BE49-F238E27FC236}">
                <a16:creationId xmlns:a16="http://schemas.microsoft.com/office/drawing/2014/main" id="{BCA9A80E-461A-4CC2-A5C2-03E0ECDECBBF}"/>
              </a:ext>
            </a:extLst>
          </p:cNvPr>
          <p:cNvSpPr>
            <a:spLocks xmlns:a="http://schemas.openxmlformats.org/drawingml/2006/main" noGrp="1"/>
          </p:cNvSpPr>
          <p:nvPr/>
        </p:nvSpPr>
        <p:spPr>
          <a:xfrm xmlns:a="http://schemas.openxmlformats.org/drawingml/2006/main">
            <a:off x="6705600" y="3095625"/>
            <a:ext cx="4876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Skill이 평가 절차에 관여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Prompt만의 효과는 분리 못함</a:t>
            </a:r>
          </a:p>
        </p:txBody>
      </p:sp>
      <p:sp>
        <p:nvSpPr>
          <p:cNvPr id="14" name="144.2 → 33.5 ms/call median">
            <a:extLst xmlns:a="http://schemas.openxmlformats.org/drawingml/2006/main">
              <a:ext uri="{FF2B5EF4-FFF2-40B4-BE49-F238E27FC236}">
                <a16:creationId xmlns:a16="http://schemas.microsoft.com/office/drawing/2014/main" id="{0B308873-D366-4284-AA0B-77E7FC3AB57A}"/>
              </a:ext>
            </a:extLst>
          </p:cNvPr>
          <p:cNvSpPr>
            <a:spLocks xmlns:a="http://schemas.openxmlformats.org/drawingml/2006/main" noGrp="1"/>
          </p:cNvSpPr>
          <p:nvPr/>
        </p:nvSpPr>
        <p:spPr>
          <a:xfrm xmlns:a="http://schemas.openxmlformats.org/drawingml/2006/main">
            <a:off x="609600" y="4343400"/>
            <a:ext cx="4876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144.2 → 33.5 ms/call median</a:t>
            </a:r>
          </a:p>
        </p:txBody>
      </p:sp>
      <p:sp>
        <p:nvSpPr>
          <p:cNvPr id="15" name="인과 해석: PARTIAL">
            <a:extLst xmlns:a="http://schemas.openxmlformats.org/drawingml/2006/main">
              <a:ext uri="{FF2B5EF4-FFF2-40B4-BE49-F238E27FC236}">
                <a16:creationId xmlns:a16="http://schemas.microsoft.com/office/drawing/2014/main" id="{5F290C2F-7A27-4538-8EF4-C4240D8E457D}"/>
              </a:ext>
            </a:extLst>
          </p:cNvPr>
          <p:cNvSpPr>
            <a:spLocks xmlns:a="http://schemas.openxmlformats.org/drawingml/2006/main" noGrp="1"/>
          </p:cNvSpPr>
          <p:nvPr/>
        </p:nvSpPr>
        <p:spPr>
          <a:xfrm xmlns:a="http://schemas.openxmlformats.org/drawingml/2006/main">
            <a:off x="6705600" y="4343400"/>
            <a:ext cx="4876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인과 해석: PARTIAL</a:t>
            </a:r>
          </a:p>
        </p:txBody>
      </p:sp>
      <p:sp>
        <p:nvSpPr>
          <p:cNvPr id="16" name="측정된 변화와, 그 변화의 원인에 대한 확신을 따로 기록한다.">
            <a:extLst xmlns:a="http://schemas.openxmlformats.org/drawingml/2006/main">
              <a:ext uri="{FF2B5EF4-FFF2-40B4-BE49-F238E27FC236}">
                <a16:creationId xmlns:a16="http://schemas.microsoft.com/office/drawing/2014/main" id="{D852F83D-D6B7-44B3-9E0E-85A5A4AC42DC}"/>
              </a:ext>
            </a:extLst>
          </p:cNvPr>
          <p:cNvSpPr>
            <a:spLocks xmlns:a="http://schemas.openxmlformats.org/drawingml/2006/main" noGrp="1"/>
          </p:cNvSpPr>
          <p:nvPr/>
        </p:nvSpPr>
        <p:spPr>
          <a:xfrm xmlns:a="http://schemas.openxmlformats.org/drawingml/2006/main">
            <a:off x="609600" y="52006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측정된 변화와, 그 변화의 원인에 대한 확신을 따로 기록한다.</a:t>
            </a:r>
          </a:p>
        </p:txBody>
      </p:sp>
    </p:spTree>
    <p:extLst>
      <p:ext uri="{BB962C8B-B14F-4D97-AF65-F5344CB8AC3E}">
        <p14:creationId xmlns:p14="http://schemas.microsoft.com/office/powerpoint/2010/main" val="1013959490"/>
      </p:ext>
    </p:extLst>
  </p:cSld>
</p:sld>
</file>

<file path=ppt/slides/slide6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4 · OBSERVED META / 실제 기록 방식 변경">
            <a:extLst xmlns:a="http://schemas.openxmlformats.org/drawingml/2006/main">
              <a:ext uri="{FF2B5EF4-FFF2-40B4-BE49-F238E27FC236}">
                <a16:creationId xmlns:a16="http://schemas.microsoft.com/office/drawing/2014/main" id="{B689C448-D523-4E7A-BF02-8A6EDC60522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실제 기록 방식 변경</a:t>
            </a:r>
          </a:p>
        </p:txBody>
      </p:sp>
      <p:sp>
        <p:nvSpPr>
          <p:cNvPr id="2" name="S69">
            <a:extLst xmlns:a="http://schemas.openxmlformats.org/drawingml/2006/main">
              <a:ext uri="{FF2B5EF4-FFF2-40B4-BE49-F238E27FC236}">
                <a16:creationId xmlns:a16="http://schemas.microsoft.com/office/drawing/2014/main" id="{14A1D3A9-501B-4FC3-AC2A-49C6A834018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평가와 보고 규칙을 Evidence에 맞추다">
            <a:extLst xmlns:a="http://schemas.openxmlformats.org/drawingml/2006/main">
              <a:ext uri="{FF2B5EF4-FFF2-40B4-BE49-F238E27FC236}">
                <a16:creationId xmlns:a16="http://schemas.microsoft.com/office/drawing/2014/main" id="{F6649FF3-EDA7-45F2-8E8D-11574108C71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평가와 보고 규칙을 Evidence에 맞추다</a:t>
            </a:r>
          </a:p>
        </p:txBody>
      </p:sp>
      <p:sp>
        <p:nvSpPr>
          <p:cNvPr id="4" name="">
            <a:extLst xmlns:a="http://schemas.openxmlformats.org/drawingml/2006/main">
              <a:ext uri="{FF2B5EF4-FFF2-40B4-BE49-F238E27FC236}">
                <a16:creationId xmlns:a16="http://schemas.microsoft.com/office/drawing/2014/main" id="{81BE3104-8FE1-4890-8246-64D9BEDF0FBA}"/>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CA1BF83B-AA8C-4FAA-B8EF-0F32FDB56609}"/>
              </a:ext>
            </a:extLst>
          </p:cNvPr>
          <p:cNvSpPr>
            <a:spLocks xmlns:a="http://schemas.openxmlformats.org/drawingml/2006/main" noGrp="1"/>
          </p:cNvSpPr>
          <p:nvPr/>
        </p:nvSpPr>
        <p:spPr>
          <a:xfrm xmlns:a="http://schemas.openxmlformats.org/drawingml/2006/main">
            <a:off x="609600" y="57721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평가·보고 기준을 요약한 도식">
            <a:extLst xmlns:a="http://schemas.openxmlformats.org/drawingml/2006/main">
              <a:ext uri="{FF2B5EF4-FFF2-40B4-BE49-F238E27FC236}">
                <a16:creationId xmlns:a16="http://schemas.microsoft.com/office/drawing/2014/main" id="{FCF8B807-5BD2-4D43-A376-C83ED7E76D58}"/>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평가·보고 기준을 요약한 도식</a:t>
            </a:r>
          </a:p>
        </p:txBody>
      </p:sp>
      <p:sp>
        <p:nvSpPr>
          <p:cNvPr id="7" name="제품 코드·Demo Skill 수정이 아니며, 격리 환경에서 Prompt 효과를 검증한 것도 아니다.">
            <a:extLst xmlns:a="http://schemas.openxmlformats.org/drawingml/2006/main">
              <a:ext uri="{FF2B5EF4-FFF2-40B4-BE49-F238E27FC236}">
                <a16:creationId xmlns:a16="http://schemas.microsoft.com/office/drawing/2014/main" id="{D6B824CC-4FB1-43B3-99F3-9A133F039929}"/>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코드·Demo Skill 수정이 아니며, 격리 환경에서 Prompt 효과를 검증한 것도 아니다.</a:t>
            </a:r>
          </a:p>
        </p:txBody>
      </p:sp>
      <p:sp>
        <p:nvSpPr>
          <p:cNvPr id="8" name="이후 Trial에는 관찰된 환경 영향도 기록한다.">
            <a:extLst xmlns:a="http://schemas.openxmlformats.org/drawingml/2006/main">
              <a:ext uri="{FF2B5EF4-FFF2-40B4-BE49-F238E27FC236}">
                <a16:creationId xmlns:a16="http://schemas.microsoft.com/office/drawing/2014/main" id="{6B816432-79F0-4E85-AA0E-83E1B0006D71}"/>
              </a:ext>
            </a:extLst>
          </p:cNvPr>
          <p:cNvSpPr>
            <a:spLocks xmlns:a="http://schemas.openxmlformats.org/drawingml/2006/main" noGrp="1"/>
          </p:cNvSpPr>
          <p:nvPr/>
        </p:nvSpPr>
        <p:spPr>
          <a:xfrm xmlns:a="http://schemas.openxmlformats.org/drawingml/2006/main">
            <a:off x="609600" y="21145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이후 Trial에는 관찰된 환경 영향도 기록한다.</a:t>
            </a:r>
          </a:p>
        </p:txBody>
      </p:sp>
      <p:sp>
        <p:nvSpPr>
          <p:cNvPr id="9" name="기존 평가의 빈틈">
            <a:extLst xmlns:a="http://schemas.openxmlformats.org/drawingml/2006/main">
              <a:ext uri="{FF2B5EF4-FFF2-40B4-BE49-F238E27FC236}">
                <a16:creationId xmlns:a16="http://schemas.microsoft.com/office/drawing/2014/main" id="{E7AAD536-8024-4A91-B862-447EC05490EA}"/>
              </a:ext>
            </a:extLst>
          </p:cNvPr>
          <p:cNvSpPr>
            <a:spLocks xmlns:a="http://schemas.openxmlformats.org/drawingml/2006/main" noGrp="1"/>
          </p:cNvSpPr>
          <p:nvPr/>
        </p:nvSpPr>
        <p:spPr>
          <a:xfrm xmlns:a="http://schemas.openxmlformats.org/drawingml/2006/main">
            <a:off x="609600" y="309562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기존 평가의 빈틈</a:t>
            </a:r>
          </a:p>
        </p:txBody>
      </p:sp>
      <p:sp>
        <p:nvSpPr>
          <p:cNvPr id="10" name="후속 기록 기준">
            <a:extLst xmlns:a="http://schemas.openxmlformats.org/drawingml/2006/main">
              <a:ext uri="{FF2B5EF4-FFF2-40B4-BE49-F238E27FC236}">
                <a16:creationId xmlns:a16="http://schemas.microsoft.com/office/drawing/2014/main" id="{5AEFF02D-DAA9-4E28-9EE0-4D69F2E61D10}"/>
              </a:ext>
            </a:extLst>
          </p:cNvPr>
          <p:cNvSpPr>
            <a:spLocks xmlns:a="http://schemas.openxmlformats.org/drawingml/2006/main" noGrp="1"/>
          </p:cNvSpPr>
          <p:nvPr/>
        </p:nvSpPr>
        <p:spPr>
          <a:xfrm xmlns:a="http://schemas.openxmlformats.org/drawingml/2006/main">
            <a:off x="6705600" y="309562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후속 기록 기준</a:t>
            </a:r>
          </a:p>
        </p:txBody>
      </p:sp>
      <p:sp>
        <p:nvSpPr>
          <p:cNvPr id="11" name="">
            <a:extLst xmlns:a="http://schemas.openxmlformats.org/drawingml/2006/main">
              <a:ext uri="{FF2B5EF4-FFF2-40B4-BE49-F238E27FC236}">
                <a16:creationId xmlns:a16="http://schemas.microsoft.com/office/drawing/2014/main" id="{DFCE855C-A5D7-4F06-B976-2D34B1995BCA}"/>
              </a:ext>
            </a:extLst>
          </p:cNvPr>
          <p:cNvSpPr>
            <a:spLocks xmlns:a="http://schemas.openxmlformats.org/drawingml/2006/main" noGrp="1"/>
          </p:cNvSpPr>
          <p:nvPr/>
        </p:nvSpPr>
        <p:spPr>
          <a:xfrm xmlns:a="http://schemas.openxmlformats.org/drawingml/2006/main">
            <a:off x="609600" y="36671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
            <a:extLst xmlns:a="http://schemas.openxmlformats.org/drawingml/2006/main">
              <a:ext uri="{FF2B5EF4-FFF2-40B4-BE49-F238E27FC236}">
                <a16:creationId xmlns:a16="http://schemas.microsoft.com/office/drawing/2014/main" id="{50F43D50-1405-4117-8DA8-A8F37896AAE8}"/>
              </a:ext>
            </a:extLst>
          </p:cNvPr>
          <p:cNvSpPr>
            <a:spLocks xmlns:a="http://schemas.openxmlformats.org/drawingml/2006/main" noGrp="1"/>
          </p:cNvSpPr>
          <p:nvPr/>
        </p:nvSpPr>
        <p:spPr>
          <a:xfrm xmlns:a="http://schemas.openxmlformats.org/drawingml/2006/main">
            <a:off x="6705600" y="36671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작업과 Repository 중심&#10;주변 Harness 영향 설명 부족">
            <a:extLst xmlns:a="http://schemas.openxmlformats.org/drawingml/2006/main">
              <a:ext uri="{FF2B5EF4-FFF2-40B4-BE49-F238E27FC236}">
                <a16:creationId xmlns:a16="http://schemas.microsoft.com/office/drawing/2014/main" id="{D25CF6B0-20E0-4C43-AEC5-E6E5821C121D}"/>
              </a:ext>
            </a:extLst>
          </p:cNvPr>
          <p:cNvSpPr>
            <a:spLocks xmlns:a="http://schemas.openxmlformats.org/drawingml/2006/main" noGrp="1"/>
          </p:cNvSpPr>
          <p:nvPr/>
        </p:nvSpPr>
        <p:spPr>
          <a:xfrm xmlns:a="http://schemas.openxmlformats.org/drawingml/2006/main">
            <a:off x="609600" y="3886200"/>
            <a:ext cx="487680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작업과 Repository 중심</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주변 Harness 영향 설명 부족</a:t>
            </a:r>
          </a:p>
        </p:txBody>
      </p:sp>
      <p:sp>
        <p:nvSpPr>
          <p:cNvPr id="14" name="관찰된 Skills · 경고 · 사용 여부&#10;결과를 설명할 수 있는 범위">
            <a:extLst xmlns:a="http://schemas.openxmlformats.org/drawingml/2006/main">
              <a:ext uri="{FF2B5EF4-FFF2-40B4-BE49-F238E27FC236}">
                <a16:creationId xmlns:a16="http://schemas.microsoft.com/office/drawing/2014/main" id="{A29A0AD7-6932-482B-92A6-38659FA22407}"/>
              </a:ext>
            </a:extLst>
          </p:cNvPr>
          <p:cNvSpPr>
            <a:spLocks xmlns:a="http://schemas.openxmlformats.org/drawingml/2006/main" noGrp="1"/>
          </p:cNvSpPr>
          <p:nvPr/>
        </p:nvSpPr>
        <p:spPr>
          <a:xfrm xmlns:a="http://schemas.openxmlformats.org/drawingml/2006/main">
            <a:off x="6705600" y="3886200"/>
            <a:ext cx="487680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관찰된 Skills · 경고 · 사용 여부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결과를 설명할 수 있는 범위</a:t>
            </a:r>
          </a:p>
        </p:txBody>
      </p:sp>
      <p:sp>
        <p:nvSpPr>
          <p:cNvPr id="15" name="기존 결과는 PARTIAL로 보존하고, 관찰된 조건을 함께 남긴다.">
            <a:extLst xmlns:a="http://schemas.openxmlformats.org/drawingml/2006/main">
              <a:ext uri="{FF2B5EF4-FFF2-40B4-BE49-F238E27FC236}">
                <a16:creationId xmlns:a16="http://schemas.microsoft.com/office/drawing/2014/main" id="{0230B7D9-E822-4530-846E-983AABFA1C73}"/>
              </a:ext>
            </a:extLst>
          </p:cNvPr>
          <p:cNvSpPr>
            <a:spLocks xmlns:a="http://schemas.openxmlformats.org/drawingml/2006/main" noGrp="1"/>
          </p:cNvSpPr>
          <p:nvPr/>
        </p:nvSpPr>
        <p:spPr>
          <a:xfrm xmlns:a="http://schemas.openxmlformats.org/drawingml/2006/main">
            <a:off x="609600" y="52768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기존 결과는 PARTIAL로 보존하고, 관찰된 조건을 함께 남긴다.</a:t>
            </a:r>
          </a:p>
        </p:txBody>
      </p:sp>
    </p:spTree>
    <p:extLst>
      <p:ext uri="{BB962C8B-B14F-4D97-AF65-F5344CB8AC3E}">
        <p14:creationId xmlns:p14="http://schemas.microsoft.com/office/powerpoint/2010/main" val="862842982"/>
      </p:ext>
    </p:extLst>
  </p:cSld>
</p:sld>
</file>

<file path=ppt/slides/slide7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OBSERVED META / 후속 기록 대조">
            <a:extLst xmlns:a="http://schemas.openxmlformats.org/drawingml/2006/main">
              <a:ext uri="{FF2B5EF4-FFF2-40B4-BE49-F238E27FC236}">
                <a16:creationId xmlns:a16="http://schemas.microsoft.com/office/drawing/2014/main" id="{31EBFF51-3A4A-4478-BC3C-03B474A02B4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후속 기록 대조</a:t>
            </a:r>
          </a:p>
        </p:txBody>
      </p:sp>
      <p:sp>
        <p:nvSpPr>
          <p:cNvPr id="2" name="S70">
            <a:extLst xmlns:a="http://schemas.openxmlformats.org/drawingml/2006/main">
              <a:ext uri="{FF2B5EF4-FFF2-40B4-BE49-F238E27FC236}">
                <a16:creationId xmlns:a16="http://schemas.microsoft.com/office/drawing/2014/main" id="{B7493401-A172-4F52-BF61-92D1819D50F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후속 기록은 개선됐지만 완전하지 않았다">
            <a:extLst xmlns:a="http://schemas.openxmlformats.org/drawingml/2006/main">
              <a:ext uri="{FF2B5EF4-FFF2-40B4-BE49-F238E27FC236}">
                <a16:creationId xmlns:a16="http://schemas.microsoft.com/office/drawing/2014/main" id="{D96DD76F-09EB-48AD-AFDC-E748D8C20F6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후속 기록은 개선됐지만 완전하지 않았다</a:t>
            </a:r>
          </a:p>
        </p:txBody>
      </p:sp>
      <p:sp>
        <p:nvSpPr>
          <p:cNvPr id="4" name="">
            <a:extLst xmlns:a="http://schemas.openxmlformats.org/drawingml/2006/main">
              <a:ext uri="{FF2B5EF4-FFF2-40B4-BE49-F238E27FC236}">
                <a16:creationId xmlns:a16="http://schemas.microsoft.com/office/drawing/2014/main" id="{2970060E-1A8A-42CF-929D-CCFF5F5D712D}"/>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A5960BD3-4E72-4606-8442-3E02876AA42E}"/>
              </a:ext>
            </a:extLst>
          </p:cNvPr>
          <p:cNvSpPr>
            <a:spLocks xmlns:a="http://schemas.openxmlformats.org/drawingml/2006/main" noGrp="1"/>
          </p:cNvSpPr>
          <p:nvPr/>
        </p:nvSpPr>
        <p:spPr>
          <a:xfrm xmlns:a="http://schemas.openxmlformats.org/drawingml/2006/main">
            <a:off x="609600" y="57721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7/008 · DEC-0016 · 원문 기록의 의미를 요약한 도식">
            <a:extLst xmlns:a="http://schemas.openxmlformats.org/drawingml/2006/main">
              <a:ext uri="{FF2B5EF4-FFF2-40B4-BE49-F238E27FC236}">
                <a16:creationId xmlns:a16="http://schemas.microsoft.com/office/drawing/2014/main" id="{CEC8E982-CA0A-4879-B536-7C28BEDB0B44}"/>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TRIAL-007/008 · DEC-0016 · 원문 기록의 의미를 요약한 도식</a:t>
            </a:r>
          </a:p>
        </p:txBody>
      </p:sp>
      <p:sp>
        <p:nvSpPr>
          <p:cNvPr id="7" name="MCP 작업 결과는 없음. 완전한 환경 목록이나 측정된 품질 향상을 뜻하지 않는다.">
            <a:extLst xmlns:a="http://schemas.openxmlformats.org/drawingml/2006/main">
              <a:ext uri="{FF2B5EF4-FFF2-40B4-BE49-F238E27FC236}">
                <a16:creationId xmlns:a16="http://schemas.microsoft.com/office/drawing/2014/main" id="{7DA4DB27-6A57-4F26-9AB2-C2DD27B28A91}"/>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MCP 작업 결과는 없음. 완전한 환경 목록이나 측정된 품질 향상을 뜻하지 않는다.</a:t>
            </a:r>
          </a:p>
        </p:txBody>
      </p:sp>
      <p:sp>
        <p:nvSpPr>
          <p:cNvPr id="8" name="TRIAL-007 · 보고와 기록의 불일치">
            <a:extLst xmlns:a="http://schemas.openxmlformats.org/drawingml/2006/main">
              <a:ext uri="{FF2B5EF4-FFF2-40B4-BE49-F238E27FC236}">
                <a16:creationId xmlns:a16="http://schemas.microsoft.com/office/drawing/2014/main" id="{FD58747F-B519-4372-8B45-BD0728D91FE3}"/>
              </a:ext>
            </a:extLst>
          </p:cNvPr>
          <p:cNvSpPr>
            <a:spLocks xmlns:a="http://schemas.openxmlformats.org/drawingml/2006/main" noGrp="1"/>
          </p:cNvSpPr>
          <p:nvPr/>
        </p:nvSpPr>
        <p:spPr>
          <a:xfrm xmlns:a="http://schemas.openxmlformats.org/drawingml/2006/main">
            <a:off x="609600" y="21526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TRIAL-007 · 보고와 기록의 불일치</a:t>
            </a:r>
          </a:p>
        </p:txBody>
      </p:sp>
      <p:sp>
        <p:nvSpPr>
          <p:cNvPr id="9" name="">
            <a:extLst xmlns:a="http://schemas.openxmlformats.org/drawingml/2006/main">
              <a:ext uri="{FF2B5EF4-FFF2-40B4-BE49-F238E27FC236}">
                <a16:creationId xmlns:a16="http://schemas.microsoft.com/office/drawing/2014/main" id="{DE3FF76C-C061-4F49-9CFD-6AD2D89CE1D0}"/>
              </a:ext>
            </a:extLst>
          </p:cNvPr>
          <p:cNvSpPr>
            <a:spLocks xmlns:a="http://schemas.openxmlformats.org/drawingml/2006/main" noGrp="1"/>
          </p:cNvSpPr>
          <p:nvPr/>
        </p:nvSpPr>
        <p:spPr>
          <a:xfrm xmlns:a="http://schemas.openxmlformats.org/drawingml/2006/main">
            <a:off x="609600" y="27432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0" name="최종 보고">
            <a:extLst xmlns:a="http://schemas.openxmlformats.org/drawingml/2006/main">
              <a:ext uri="{FF2B5EF4-FFF2-40B4-BE49-F238E27FC236}">
                <a16:creationId xmlns:a16="http://schemas.microsoft.com/office/drawing/2014/main" id="{CB78DA5B-DE88-48E9-A110-C22292069994}"/>
              </a:ext>
            </a:extLst>
          </p:cNvPr>
          <p:cNvSpPr>
            <a:spLocks xmlns:a="http://schemas.openxmlformats.org/drawingml/2006/main" noGrp="1"/>
          </p:cNvSpPr>
          <p:nvPr/>
        </p:nvSpPr>
        <p:spPr>
          <a:xfrm xmlns:a="http://schemas.openxmlformats.org/drawingml/2006/main">
            <a:off x="609600" y="3000375"/>
            <a:ext cx="2333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최종 보고</a:t>
            </a:r>
          </a:p>
        </p:txBody>
      </p:sp>
      <p:sp>
        <p:nvSpPr>
          <p:cNvPr id="11" name="MCP 경고 없음">
            <a:extLst xmlns:a="http://schemas.openxmlformats.org/drawingml/2006/main">
              <a:ext uri="{FF2B5EF4-FFF2-40B4-BE49-F238E27FC236}">
                <a16:creationId xmlns:a16="http://schemas.microsoft.com/office/drawing/2014/main" id="{C56A6DBB-4508-44D6-AFF0-78F5085D12F8}"/>
              </a:ext>
            </a:extLst>
          </p:cNvPr>
          <p:cNvSpPr>
            <a:spLocks xmlns:a="http://schemas.openxmlformats.org/drawingml/2006/main" noGrp="1"/>
          </p:cNvSpPr>
          <p:nvPr/>
        </p:nvSpPr>
        <p:spPr>
          <a:xfrm xmlns:a="http://schemas.openxmlformats.org/drawingml/2006/main">
            <a:off x="3162300" y="3000375"/>
            <a:ext cx="8420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MCP 경고 없음</a:t>
            </a:r>
          </a:p>
        </p:txBody>
      </p:sp>
      <p:sp>
        <p:nvSpPr>
          <p:cNvPr id="12" name="보존된 stderr">
            <a:extLst xmlns:a="http://schemas.openxmlformats.org/drawingml/2006/main">
              <a:ext uri="{FF2B5EF4-FFF2-40B4-BE49-F238E27FC236}">
                <a16:creationId xmlns:a16="http://schemas.microsoft.com/office/drawing/2014/main" id="{6AEE4F53-7EC1-4EBB-B9FF-872C186FA1D9}"/>
              </a:ext>
            </a:extLst>
          </p:cNvPr>
          <p:cNvSpPr>
            <a:spLocks xmlns:a="http://schemas.openxmlformats.org/drawingml/2006/main" noGrp="1"/>
          </p:cNvSpPr>
          <p:nvPr/>
        </p:nvSpPr>
        <p:spPr>
          <a:xfrm xmlns:a="http://schemas.openxmlformats.org/drawingml/2006/main">
            <a:off x="609600" y="3638550"/>
            <a:ext cx="2333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보존된 stderr</a:t>
            </a:r>
          </a:p>
        </p:txBody>
      </p:sp>
      <p:sp>
        <p:nvSpPr>
          <p:cNvPr id="13" name="Nimble AuthRequired">
            <a:extLst xmlns:a="http://schemas.openxmlformats.org/drawingml/2006/main">
              <a:ext uri="{FF2B5EF4-FFF2-40B4-BE49-F238E27FC236}">
                <a16:creationId xmlns:a16="http://schemas.microsoft.com/office/drawing/2014/main" id="{AEF09094-68CB-4C50-9239-7714536EC486}"/>
              </a:ext>
            </a:extLst>
          </p:cNvPr>
          <p:cNvSpPr>
            <a:spLocks xmlns:a="http://schemas.openxmlformats.org/drawingml/2006/main" noGrp="1"/>
          </p:cNvSpPr>
          <p:nvPr/>
        </p:nvSpPr>
        <p:spPr>
          <a:xfrm xmlns:a="http://schemas.openxmlformats.org/drawingml/2006/main">
            <a:off x="3162300" y="3638550"/>
            <a:ext cx="8420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Nimble AuthRequired</a:t>
            </a:r>
          </a:p>
        </p:txBody>
      </p:sp>
      <p:sp>
        <p:nvSpPr>
          <p:cNvPr id="14" name="">
            <a:extLst xmlns:a="http://schemas.openxmlformats.org/drawingml/2006/main">
              <a:ext uri="{FF2B5EF4-FFF2-40B4-BE49-F238E27FC236}">
                <a16:creationId xmlns:a16="http://schemas.microsoft.com/office/drawing/2014/main" id="{E338CB45-8F31-452A-8449-7D3BB7C3DCE4}"/>
              </a:ext>
            </a:extLst>
          </p:cNvPr>
          <p:cNvSpPr>
            <a:spLocks xmlns:a="http://schemas.openxmlformats.org/drawingml/2006/main" noGrp="1"/>
          </p:cNvSpPr>
          <p:nvPr/>
        </p:nvSpPr>
        <p:spPr>
          <a:xfrm xmlns:a="http://schemas.openxmlformats.org/drawingml/2006/main">
            <a:off x="609600" y="44386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TRIAL-008">
            <a:extLst xmlns:a="http://schemas.openxmlformats.org/drawingml/2006/main">
              <a:ext uri="{FF2B5EF4-FFF2-40B4-BE49-F238E27FC236}">
                <a16:creationId xmlns:a16="http://schemas.microsoft.com/office/drawing/2014/main" id="{CDF07596-51F1-4173-81C0-5773116E4BA0}"/>
              </a:ext>
            </a:extLst>
          </p:cNvPr>
          <p:cNvSpPr>
            <a:spLocks xmlns:a="http://schemas.openxmlformats.org/drawingml/2006/main" noGrp="1"/>
          </p:cNvSpPr>
          <p:nvPr/>
        </p:nvSpPr>
        <p:spPr>
          <a:xfrm xmlns:a="http://schemas.openxmlformats.org/drawingml/2006/main">
            <a:off x="609600" y="4714875"/>
            <a:ext cx="2333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TRIAL-008</a:t>
            </a:r>
          </a:p>
        </p:txBody>
      </p:sp>
      <p:sp>
        <p:nvSpPr>
          <p:cNvPr id="16" name="Repository Skill 호출과 Global influence를 별도 기록">
            <a:extLst xmlns:a="http://schemas.openxmlformats.org/drawingml/2006/main">
              <a:ext uri="{FF2B5EF4-FFF2-40B4-BE49-F238E27FC236}">
                <a16:creationId xmlns:a16="http://schemas.microsoft.com/office/drawing/2014/main" id="{730B91BA-C03B-4A21-9CB1-9FCF76FF608A}"/>
              </a:ext>
            </a:extLst>
          </p:cNvPr>
          <p:cNvSpPr>
            <a:spLocks xmlns:a="http://schemas.openxmlformats.org/drawingml/2006/main" noGrp="1"/>
          </p:cNvSpPr>
          <p:nvPr/>
        </p:nvSpPr>
        <p:spPr>
          <a:xfrm xmlns:a="http://schemas.openxmlformats.org/drawingml/2006/main">
            <a:off x="3162300" y="4714875"/>
            <a:ext cx="84201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Repository Skill 호출과 Global influence를 별도 기록</a:t>
            </a:r>
          </a:p>
        </p:txBody>
      </p:sp>
    </p:spTree>
    <p:extLst>
      <p:ext uri="{BB962C8B-B14F-4D97-AF65-F5344CB8AC3E}">
        <p14:creationId xmlns:p14="http://schemas.microsoft.com/office/powerpoint/2010/main" val="394660912"/>
      </p:ext>
    </p:extLst>
  </p:cSld>
</p:sld>
</file>

<file path=ppt/slides/slide7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OBSERVED META / 사례 회수">
            <a:extLst xmlns:a="http://schemas.openxmlformats.org/drawingml/2006/main">
              <a:ext uri="{FF2B5EF4-FFF2-40B4-BE49-F238E27FC236}">
                <a16:creationId xmlns:a16="http://schemas.microsoft.com/office/drawing/2014/main" id="{0A72EF64-4175-4058-A8A0-417E5958AD1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사례 회수</a:t>
            </a:r>
          </a:p>
        </p:txBody>
      </p:sp>
      <p:sp>
        <p:nvSpPr>
          <p:cNvPr id="2" name="S71">
            <a:extLst xmlns:a="http://schemas.openxmlformats.org/drawingml/2006/main">
              <a:ext uri="{FF2B5EF4-FFF2-40B4-BE49-F238E27FC236}">
                <a16:creationId xmlns:a16="http://schemas.microsoft.com/office/drawing/2014/main" id="{09E5820F-09E5-42DF-B61D-ADA4C310CC2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실제 Meta Loop에서 바뀐 것">
            <a:extLst xmlns:a="http://schemas.openxmlformats.org/drawingml/2006/main">
              <a:ext uri="{FF2B5EF4-FFF2-40B4-BE49-F238E27FC236}">
                <a16:creationId xmlns:a16="http://schemas.microsoft.com/office/drawing/2014/main" id="{CBD315D7-6F2D-4BD0-83DC-9E5E8B3FD66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Meta Loop에서 바뀐 것</a:t>
            </a:r>
          </a:p>
        </p:txBody>
      </p:sp>
      <p:sp>
        <p:nvSpPr>
          <p:cNvPr id="4" name="">
            <a:extLst xmlns:a="http://schemas.openxmlformats.org/drawingml/2006/main">
              <a:ext uri="{FF2B5EF4-FFF2-40B4-BE49-F238E27FC236}">
                <a16:creationId xmlns:a16="http://schemas.microsoft.com/office/drawing/2014/main" id="{D8605504-F8F5-4ED1-8CD0-03F1E7B8881F}"/>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9C01C214-768F-4EC8-9E02-19BC2EFD2CC0}"/>
              </a:ext>
            </a:extLst>
          </p:cNvPr>
          <p:cNvSpPr>
            <a:spLocks xmlns:a="http://schemas.openxmlformats.org/drawingml/2006/main" noGrp="1"/>
          </p:cNvSpPr>
          <p:nvPr/>
        </p:nvSpPr>
        <p:spPr>
          <a:xfrm xmlns:a="http://schemas.openxmlformats.org/drawingml/2006/main">
            <a:off x="609600" y="57721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TRIAL-007/008 · 실제 제작 기록">
            <a:extLst xmlns:a="http://schemas.openxmlformats.org/drawingml/2006/main">
              <a:ext uri="{FF2B5EF4-FFF2-40B4-BE49-F238E27FC236}">
                <a16:creationId xmlns:a16="http://schemas.microsoft.com/office/drawing/2014/main" id="{54257ABE-A781-4E29-87A2-8FF573D35451}"/>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TRIAL-007/008 · 실제 제작 기록</a:t>
            </a:r>
          </a:p>
        </p:txBody>
      </p:sp>
      <p:sp>
        <p:nvSpPr>
          <p:cNvPr id="7" name="제품 코드의 개선이나 가상 stale Workflow의 복구 이력이 아니다.">
            <a:extLst xmlns:a="http://schemas.openxmlformats.org/drawingml/2006/main">
              <a:ext uri="{FF2B5EF4-FFF2-40B4-BE49-F238E27FC236}">
                <a16:creationId xmlns:a16="http://schemas.microsoft.com/office/drawing/2014/main" id="{A8440DE6-7867-4E45-8993-BA32B769A6B0}"/>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코드의 개선이나 가상 stale Workflow의 복구 이력이 아니다.</a:t>
            </a:r>
          </a:p>
        </p:txBody>
      </p:sp>
      <p:sp>
        <p:nvSpPr>
          <p:cNvPr id="8" name="실제로 바뀐 것">
            <a:extLst xmlns:a="http://schemas.openxmlformats.org/drawingml/2006/main">
              <a:ext uri="{FF2B5EF4-FFF2-40B4-BE49-F238E27FC236}">
                <a16:creationId xmlns:a16="http://schemas.microsoft.com/office/drawing/2014/main" id="{E1B423F2-3A0C-404D-B204-4728D3FB2BAF}"/>
              </a:ext>
            </a:extLst>
          </p:cNvPr>
          <p:cNvSpPr>
            <a:spLocks xmlns:a="http://schemas.openxmlformats.org/drawingml/2006/main" noGrp="1"/>
          </p:cNvSpPr>
          <p:nvPr/>
        </p:nvSpPr>
        <p:spPr>
          <a:xfrm xmlns:a="http://schemas.openxmlformats.org/drawingml/2006/main">
            <a:off x="609600" y="2286000"/>
            <a:ext cx="4876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실제로 바뀐 것</a:t>
            </a:r>
          </a:p>
        </p:txBody>
      </p:sp>
      <p:sp>
        <p:nvSpPr>
          <p:cNvPr id="9" name="아직 확인하지 못한 것">
            <a:extLst xmlns:a="http://schemas.openxmlformats.org/drawingml/2006/main">
              <a:ext uri="{FF2B5EF4-FFF2-40B4-BE49-F238E27FC236}">
                <a16:creationId xmlns:a16="http://schemas.microsoft.com/office/drawing/2014/main" id="{9E60D74A-B9B5-447B-BDE8-89A2FF5363E4}"/>
              </a:ext>
            </a:extLst>
          </p:cNvPr>
          <p:cNvSpPr>
            <a:spLocks xmlns:a="http://schemas.openxmlformats.org/drawingml/2006/main" noGrp="1"/>
          </p:cNvSpPr>
          <p:nvPr/>
        </p:nvSpPr>
        <p:spPr>
          <a:xfrm xmlns:a="http://schemas.openxmlformats.org/drawingml/2006/main">
            <a:off x="6705600" y="2286000"/>
            <a:ext cx="4876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아직 확인하지 못한 것</a:t>
            </a:r>
          </a:p>
        </p:txBody>
      </p:sp>
      <p:sp>
        <p:nvSpPr>
          <p:cNvPr id="10" name="">
            <a:extLst xmlns:a="http://schemas.openxmlformats.org/drawingml/2006/main">
              <a:ext uri="{FF2B5EF4-FFF2-40B4-BE49-F238E27FC236}">
                <a16:creationId xmlns:a16="http://schemas.microsoft.com/office/drawing/2014/main" id="{81C6E423-ACA1-4AC9-8210-89325DA95230}"/>
              </a:ext>
            </a:extLst>
          </p:cNvPr>
          <p:cNvSpPr>
            <a:spLocks xmlns:a="http://schemas.openxmlformats.org/drawingml/2006/main" noGrp="1"/>
          </p:cNvSpPr>
          <p:nvPr/>
        </p:nvSpPr>
        <p:spPr>
          <a:xfrm xmlns:a="http://schemas.openxmlformats.org/drawingml/2006/main">
            <a:off x="609600" y="29527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94F7A634-7F6A-4397-AA50-24C2A8EF3077}"/>
              </a:ext>
            </a:extLst>
          </p:cNvPr>
          <p:cNvSpPr>
            <a:spLocks xmlns:a="http://schemas.openxmlformats.org/drawingml/2006/main" noGrp="1"/>
          </p:cNvSpPr>
          <p:nvPr/>
        </p:nvSpPr>
        <p:spPr>
          <a:xfrm xmlns:a="http://schemas.openxmlformats.org/drawingml/2006/main">
            <a:off x="6705600" y="295275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2" name="Trial을 평가하고&#10;보고하는 기준">
            <a:extLst xmlns:a="http://schemas.openxmlformats.org/drawingml/2006/main">
              <a:ext uri="{FF2B5EF4-FFF2-40B4-BE49-F238E27FC236}">
                <a16:creationId xmlns:a16="http://schemas.microsoft.com/office/drawing/2014/main" id="{A2BD4DCA-D4AA-446E-8CFB-A27FCA7D4E1F}"/>
              </a:ext>
            </a:extLst>
          </p:cNvPr>
          <p:cNvSpPr>
            <a:spLocks xmlns:a="http://schemas.openxmlformats.org/drawingml/2006/main" noGrp="1"/>
          </p:cNvSpPr>
          <p:nvPr/>
        </p:nvSpPr>
        <p:spPr>
          <a:xfrm xmlns:a="http://schemas.openxmlformats.org/drawingml/2006/main">
            <a:off x="609600" y="333375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1">
                <a:solidFill>
                  <a:srgbClr val="17212B"/>
                </a:solidFill>
                <a:latin typeface="Malgun Gothic"/>
                <a:ea typeface="Malgun Gothic"/>
                <a:cs typeface="Malgun Gothic"/>
              </a:defRPr>
            </a:defPPr>
            <a:lvl1pPr algn="l">
              <a:defRPr sz="2925" b="1">
                <a:solidFill>
                  <a:srgbClr val="17212B"/>
                </a:solidFill>
                <a:latin typeface="Malgun Gothic"/>
                <a:ea typeface="Malgun Gothic"/>
                <a:cs typeface="Malgun Gothic"/>
              </a:defRPr>
            </a:lvl1pPr>
            <a:lvl2pPr algn="l">
              <a:defRPr sz="2925" b="1">
                <a:solidFill>
                  <a:srgbClr val="17212B"/>
                </a:solidFill>
                <a:latin typeface="Malgun Gothic"/>
                <a:ea typeface="Malgun Gothic"/>
                <a:cs typeface="Malgun Gothic"/>
              </a:defRPr>
            </a:lvl2pPr>
            <a:lvl3pPr algn="l">
              <a:defRPr sz="2925" b="1">
                <a:solidFill>
                  <a:srgbClr val="17212B"/>
                </a:solidFill>
                <a:latin typeface="Malgun Gothic"/>
                <a:ea typeface="Malgun Gothic"/>
                <a:cs typeface="Malgun Gothic"/>
              </a:defRPr>
            </a:lvl3pPr>
            <a:lvl4pPr algn="l">
              <a:defRPr sz="2925" b="1">
                <a:solidFill>
                  <a:srgbClr val="17212B"/>
                </a:solidFill>
                <a:latin typeface="Malgun Gothic"/>
                <a:ea typeface="Malgun Gothic"/>
                <a:cs typeface="Malgun Gothic"/>
              </a:defRPr>
            </a:lvl4pPr>
            <a:lvl5pPr algn="l">
              <a:defRPr sz="2925" b="1">
                <a:solidFill>
                  <a:srgbClr val="17212B"/>
                </a:solidFill>
                <a:latin typeface="Malgun Gothic"/>
                <a:ea typeface="Malgun Gothic"/>
                <a:cs typeface="Malgun Gothic"/>
              </a:defRPr>
            </a:lvl5pPr>
            <a:lvl6pPr algn="l">
              <a:defRPr sz="2925" b="1">
                <a:solidFill>
                  <a:srgbClr val="17212B"/>
                </a:solidFill>
                <a:latin typeface="Malgun Gothic"/>
                <a:ea typeface="Malgun Gothic"/>
                <a:cs typeface="Malgun Gothic"/>
              </a:defRPr>
            </a:lvl6pPr>
            <a:lvl7pPr algn="l">
              <a:defRPr sz="2925" b="1">
                <a:solidFill>
                  <a:srgbClr val="17212B"/>
                </a:solidFill>
                <a:latin typeface="Malgun Gothic"/>
                <a:ea typeface="Malgun Gothic"/>
                <a:cs typeface="Malgun Gothic"/>
              </a:defRPr>
            </a:lvl7pPr>
            <a:lvl8pPr algn="l">
              <a:defRPr sz="2925" b="1">
                <a:solidFill>
                  <a:srgbClr val="17212B"/>
                </a:solidFill>
                <a:latin typeface="Malgun Gothic"/>
                <a:ea typeface="Malgun Gothic"/>
                <a:cs typeface="Malgun Gothic"/>
              </a:defRPr>
            </a:lvl8pPr>
            <a:lvl9pPr algn="l">
              <a:defRPr sz="2925" b="1">
                <a:solidFill>
                  <a:srgbClr val="17212B"/>
                </a:solidFill>
                <a:latin typeface="Malgun Gothic"/>
                <a:ea typeface="Malgun Gothic"/>
                <a:cs typeface="Malgun Gothic"/>
              </a:defRPr>
            </a:lvl9pPr>
          </a:lstStyle>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Trial을 평가하고</a:t>
            </a:r>
          </a:p>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보고하는 기준</a:t>
            </a:r>
          </a:p>
        </p:txBody>
      </p:sp>
      <p:sp>
        <p:nvSpPr>
          <p:cNvPr id="13" name="원인별 효과&#10;환경 목록의 완전성&#10;Trial 품질의 향상">
            <a:extLst xmlns:a="http://schemas.openxmlformats.org/drawingml/2006/main">
              <a:ext uri="{FF2B5EF4-FFF2-40B4-BE49-F238E27FC236}">
                <a16:creationId xmlns:a16="http://schemas.microsoft.com/office/drawing/2014/main" id="{2BD37B8A-0D15-4CA8-B276-533537E427AA}"/>
              </a:ext>
            </a:extLst>
          </p:cNvPr>
          <p:cNvSpPr>
            <a:spLocks xmlns:a="http://schemas.openxmlformats.org/drawingml/2006/main" noGrp="1"/>
          </p:cNvSpPr>
          <p:nvPr/>
        </p:nvSpPr>
        <p:spPr>
          <a:xfrm xmlns:a="http://schemas.openxmlformats.org/drawingml/2006/main">
            <a:off x="6705600" y="3257550"/>
            <a:ext cx="48768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원인별 효과</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환경 목록의 완전성</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Trial 품질의 향상</a:t>
            </a:r>
          </a:p>
        </p:txBody>
      </p:sp>
      <p:sp>
        <p:nvSpPr>
          <p:cNvPr id="14" name="Feedback은 평가 체계도 바꿀 수 있다. 변경 뒤의 결과는 다시 확인한다.">
            <a:extLst xmlns:a="http://schemas.openxmlformats.org/drawingml/2006/main">
              <a:ext uri="{FF2B5EF4-FFF2-40B4-BE49-F238E27FC236}">
                <a16:creationId xmlns:a16="http://schemas.microsoft.com/office/drawing/2014/main" id="{F3168CBA-5B95-4A15-8CED-27531C7418CA}"/>
              </a:ext>
            </a:extLst>
          </p:cNvPr>
          <p:cNvSpPr>
            <a:spLocks xmlns:a="http://schemas.openxmlformats.org/drawingml/2006/main" noGrp="1"/>
          </p:cNvSpPr>
          <p:nvPr/>
        </p:nvSpPr>
        <p:spPr>
          <a:xfrm xmlns:a="http://schemas.openxmlformats.org/drawingml/2006/main">
            <a:off x="609600" y="5219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Feedback은 평가 체계도 바꿀 수 있다. 변경 뒤의 결과는 다시 확인한다.</a:t>
            </a:r>
          </a:p>
        </p:txBody>
      </p:sp>
    </p:spTree>
    <p:extLst>
      <p:ext uri="{BB962C8B-B14F-4D97-AF65-F5344CB8AC3E}">
        <p14:creationId xmlns:p14="http://schemas.microsoft.com/office/powerpoint/2010/main" val="2076667837"/>
      </p:ext>
    </p:extLst>
  </p:cSld>
</p:sld>
</file>

<file path=ppt/slides/slide7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C++ VISION / 적용을 위한 가상 질문">
            <a:extLst xmlns:a="http://schemas.openxmlformats.org/drawingml/2006/main">
              <a:ext uri="{FF2B5EF4-FFF2-40B4-BE49-F238E27FC236}">
                <a16:creationId xmlns:a16="http://schemas.microsoft.com/office/drawing/2014/main" id="{A345BE74-E9A2-4B70-865B-856AD56E158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 VISION / 적용을 위한 가상 질문</a:t>
            </a:r>
          </a:p>
        </p:txBody>
      </p:sp>
      <p:sp>
        <p:nvSpPr>
          <p:cNvPr id="2" name="S72">
            <a:extLst xmlns:a="http://schemas.openxmlformats.org/drawingml/2006/main">
              <a:ext uri="{FF2B5EF4-FFF2-40B4-BE49-F238E27FC236}">
                <a16:creationId xmlns:a16="http://schemas.microsoft.com/office/drawing/2014/main" id="{2FC1FB2A-A3E3-4A13-958C-58C741E1D79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Project와 환경이 바뀌면&#10;검증도 다시 본다">
            <a:extLst xmlns:a="http://schemas.openxmlformats.org/drawingml/2006/main">
              <a:ext uri="{FF2B5EF4-FFF2-40B4-BE49-F238E27FC236}">
                <a16:creationId xmlns:a16="http://schemas.microsoft.com/office/drawing/2014/main" id="{91ACD748-F9B3-4A91-BE50-A138D3E3D7E0}"/>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Project와 환경이 바뀌면</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검증도 다시 본다</a:t>
            </a:r>
          </a:p>
        </p:txBody>
      </p:sp>
      <p:sp>
        <p:nvSpPr>
          <p:cNvPr id="4" name="">
            <a:extLst xmlns:a="http://schemas.openxmlformats.org/drawingml/2006/main">
              <a:ext uri="{FF2B5EF4-FFF2-40B4-BE49-F238E27FC236}">
                <a16:creationId xmlns:a16="http://schemas.microsoft.com/office/drawing/2014/main" id="{AF3DE3CB-ED88-4534-B5C9-1DA9C20BF31A}"/>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BEAT-059 · TRANS-012 · 교육용 전이 모델">
            <a:extLst xmlns:a="http://schemas.openxmlformats.org/drawingml/2006/main">
              <a:ext uri="{FF2B5EF4-FFF2-40B4-BE49-F238E27FC236}">
                <a16:creationId xmlns:a16="http://schemas.microsoft.com/office/drawing/2014/main" id="{33E70AFF-4AF0-42B9-8AA1-BCFA97AB23DA}"/>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BEAT-059 · TRANS-012 · 교육용 전이 모델</a:t>
            </a:r>
          </a:p>
        </p:txBody>
      </p:sp>
      <p:sp>
        <p:nvSpPr>
          <p:cNvPr id="6" name="실제 C++ 사건·성능 결과·특정 도구 사용법을 검증한 사례가 아니다.">
            <a:extLst xmlns:a="http://schemas.openxmlformats.org/drawingml/2006/main">
              <a:ext uri="{FF2B5EF4-FFF2-40B4-BE49-F238E27FC236}">
                <a16:creationId xmlns:a16="http://schemas.microsoft.com/office/drawing/2014/main" id="{A122A677-5BEC-4802-80D7-B2FA34067CEC}"/>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사건·성능 결과·특정 도구 사용법을 검증한 사례가 아니다.</a:t>
            </a:r>
          </a:p>
        </p:txBody>
      </p:sp>
      <p:sp>
        <p:nvSpPr>
          <p:cNvPr id="7" name="GPU · 빌드 · 측정 조건이 달라졌다면?">
            <a:extLst xmlns:a="http://schemas.openxmlformats.org/drawingml/2006/main">
              <a:ext uri="{FF2B5EF4-FFF2-40B4-BE49-F238E27FC236}">
                <a16:creationId xmlns:a16="http://schemas.microsoft.com/office/drawing/2014/main" id="{0F9B1F98-7F5F-4A4B-BB2C-DF7F081F135B}"/>
              </a:ext>
            </a:extLst>
          </p:cNvPr>
          <p:cNvSpPr>
            <a:spLocks xmlns:a="http://schemas.openxmlformats.org/drawingml/2006/main" noGrp="1"/>
          </p:cNvSpPr>
          <p:nvPr/>
        </p:nvSpPr>
        <p:spPr>
          <a:xfrm xmlns:a="http://schemas.openxmlformats.org/drawingml/2006/main">
            <a:off x="609600" y="21336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GPU · 빌드 · 측정 조건이 달라졌다면?</a:t>
            </a:r>
          </a:p>
        </p:txBody>
      </p:sp>
      <p:sp>
        <p:nvSpPr>
          <p:cNvPr id="8" name="">
            <a:extLst xmlns:a="http://schemas.openxmlformats.org/drawingml/2006/main">
              <a:ext uri="{FF2B5EF4-FFF2-40B4-BE49-F238E27FC236}">
                <a16:creationId xmlns:a16="http://schemas.microsoft.com/office/drawing/2014/main" id="{5CD09FBD-9752-4014-A2D7-2CB52403B2C0}"/>
              </a:ext>
            </a:extLst>
          </p:cNvPr>
          <p:cNvSpPr>
            <a:spLocks xmlns:a="http://schemas.openxmlformats.org/drawingml/2006/main" noGrp="1"/>
          </p:cNvSpPr>
          <p:nvPr/>
        </p:nvSpPr>
        <p:spPr>
          <a:xfrm xmlns:a="http://schemas.openxmlformats.org/drawingml/2006/main">
            <a:off x="609600" y="2952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기존 가정">
            <a:extLst xmlns:a="http://schemas.openxmlformats.org/drawingml/2006/main">
              <a:ext uri="{FF2B5EF4-FFF2-40B4-BE49-F238E27FC236}">
                <a16:creationId xmlns:a16="http://schemas.microsoft.com/office/drawing/2014/main" id="{2BE09A10-9BEE-4191-A80A-3771E7D14C57}"/>
              </a:ext>
            </a:extLst>
          </p:cNvPr>
          <p:cNvSpPr>
            <a:spLocks xmlns:a="http://schemas.openxmlformats.org/drawingml/2006/main" noGrp="1"/>
          </p:cNvSpPr>
          <p:nvPr/>
        </p:nvSpPr>
        <p:spPr>
          <a:xfrm xmlns:a="http://schemas.openxmlformats.org/drawingml/2006/main">
            <a:off x="609600" y="3067050"/>
            <a:ext cx="24193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기존 가정</a:t>
            </a:r>
          </a:p>
        </p:txBody>
      </p:sp>
      <p:sp>
        <p:nvSpPr>
          <p:cNvPr id="10" name="어떤 조건에서 맞던 판단인가?">
            <a:extLst xmlns:a="http://schemas.openxmlformats.org/drawingml/2006/main">
              <a:ext uri="{FF2B5EF4-FFF2-40B4-BE49-F238E27FC236}">
                <a16:creationId xmlns:a16="http://schemas.microsoft.com/office/drawing/2014/main" id="{98B8D2F4-85D0-43E6-97C7-CDF1928333EC}"/>
              </a:ext>
            </a:extLst>
          </p:cNvPr>
          <p:cNvSpPr>
            <a:spLocks xmlns:a="http://schemas.openxmlformats.org/drawingml/2006/main" noGrp="1"/>
          </p:cNvSpPr>
          <p:nvPr/>
        </p:nvSpPr>
        <p:spPr>
          <a:xfrm xmlns:a="http://schemas.openxmlformats.org/drawingml/2006/main">
            <a:off x="3257550" y="3067050"/>
            <a:ext cx="83248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어떤 조건에서 맞던 판단인가?</a:t>
            </a:r>
          </a:p>
        </p:txBody>
      </p:sp>
      <p:sp>
        <p:nvSpPr>
          <p:cNvPr id="11" name="">
            <a:extLst xmlns:a="http://schemas.openxmlformats.org/drawingml/2006/main">
              <a:ext uri="{FF2B5EF4-FFF2-40B4-BE49-F238E27FC236}">
                <a16:creationId xmlns:a16="http://schemas.microsoft.com/office/drawing/2014/main" id="{60633C4C-CC05-4C99-BB69-11F2CEA3C34E}"/>
              </a:ext>
            </a:extLst>
          </p:cNvPr>
          <p:cNvSpPr>
            <a:spLocks xmlns:a="http://schemas.openxmlformats.org/drawingml/2006/main" noGrp="1"/>
          </p:cNvSpPr>
          <p:nvPr/>
        </p:nvSpPr>
        <p:spPr>
          <a:xfrm xmlns:a="http://schemas.openxmlformats.org/drawingml/2006/main">
            <a:off x="609600" y="3648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측정 조건">
            <a:extLst xmlns:a="http://schemas.openxmlformats.org/drawingml/2006/main">
              <a:ext uri="{FF2B5EF4-FFF2-40B4-BE49-F238E27FC236}">
                <a16:creationId xmlns:a16="http://schemas.microsoft.com/office/drawing/2014/main" id="{36E4A8DD-83F9-4869-9858-DDAE89CDDC31}"/>
              </a:ext>
            </a:extLst>
          </p:cNvPr>
          <p:cNvSpPr>
            <a:spLocks xmlns:a="http://schemas.openxmlformats.org/drawingml/2006/main" noGrp="1"/>
          </p:cNvSpPr>
          <p:nvPr/>
        </p:nvSpPr>
        <p:spPr>
          <a:xfrm xmlns:a="http://schemas.openxmlformats.org/drawingml/2006/main">
            <a:off x="609600" y="3762375"/>
            <a:ext cx="24193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측정 조건</a:t>
            </a:r>
          </a:p>
        </p:txBody>
      </p:sp>
      <p:sp>
        <p:nvSpPr>
          <p:cNvPr id="13" name="입력과 실행 조건은 비교 가능한가?">
            <a:extLst xmlns:a="http://schemas.openxmlformats.org/drawingml/2006/main">
              <a:ext uri="{FF2B5EF4-FFF2-40B4-BE49-F238E27FC236}">
                <a16:creationId xmlns:a16="http://schemas.microsoft.com/office/drawing/2014/main" id="{D216F3A9-FB75-44EE-8A71-D7D8C49950DD}"/>
              </a:ext>
            </a:extLst>
          </p:cNvPr>
          <p:cNvSpPr>
            <a:spLocks xmlns:a="http://schemas.openxmlformats.org/drawingml/2006/main" noGrp="1"/>
          </p:cNvSpPr>
          <p:nvPr/>
        </p:nvSpPr>
        <p:spPr>
          <a:xfrm xmlns:a="http://schemas.openxmlformats.org/drawingml/2006/main">
            <a:off x="3257550" y="3762375"/>
            <a:ext cx="83248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입력과 실행 조건은 비교 가능한가?</a:t>
            </a:r>
          </a:p>
        </p:txBody>
      </p:sp>
      <p:sp>
        <p:nvSpPr>
          <p:cNvPr id="14" name="">
            <a:extLst xmlns:a="http://schemas.openxmlformats.org/drawingml/2006/main">
              <a:ext uri="{FF2B5EF4-FFF2-40B4-BE49-F238E27FC236}">
                <a16:creationId xmlns:a16="http://schemas.microsoft.com/office/drawing/2014/main" id="{E2295A7E-005B-4300-8FEE-F1244E1A5E39}"/>
              </a:ext>
            </a:extLst>
          </p:cNvPr>
          <p:cNvSpPr>
            <a:spLocks xmlns:a="http://schemas.openxmlformats.org/drawingml/2006/main" noGrp="1"/>
          </p:cNvSpPr>
          <p:nvPr/>
        </p:nvSpPr>
        <p:spPr>
          <a:xfrm xmlns:a="http://schemas.openxmlformats.org/drawingml/2006/main">
            <a:off x="609600" y="43434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기능 계약">
            <a:extLst xmlns:a="http://schemas.openxmlformats.org/drawingml/2006/main">
              <a:ext uri="{FF2B5EF4-FFF2-40B4-BE49-F238E27FC236}">
                <a16:creationId xmlns:a16="http://schemas.microsoft.com/office/drawing/2014/main" id="{CD185443-88AF-4874-AEE7-475E46B78044}"/>
              </a:ext>
            </a:extLst>
          </p:cNvPr>
          <p:cNvSpPr>
            <a:spLocks xmlns:a="http://schemas.openxmlformats.org/drawingml/2006/main" noGrp="1"/>
          </p:cNvSpPr>
          <p:nvPr/>
        </p:nvSpPr>
        <p:spPr>
          <a:xfrm xmlns:a="http://schemas.openxmlformats.org/drawingml/2006/main">
            <a:off x="609600" y="4457700"/>
            <a:ext cx="24193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기능 계약</a:t>
            </a:r>
          </a:p>
        </p:txBody>
      </p:sp>
      <p:sp>
        <p:nvSpPr>
          <p:cNvPr id="16" name="성능 변화와 함께 다시 확인할 동작은?">
            <a:extLst xmlns:a="http://schemas.openxmlformats.org/drawingml/2006/main">
              <a:ext uri="{FF2B5EF4-FFF2-40B4-BE49-F238E27FC236}">
                <a16:creationId xmlns:a16="http://schemas.microsoft.com/office/drawing/2014/main" id="{71A80EB5-6DEB-4B63-912A-415262BA2618}"/>
              </a:ext>
            </a:extLst>
          </p:cNvPr>
          <p:cNvSpPr>
            <a:spLocks xmlns:a="http://schemas.openxmlformats.org/drawingml/2006/main" noGrp="1"/>
          </p:cNvSpPr>
          <p:nvPr/>
        </p:nvSpPr>
        <p:spPr>
          <a:xfrm xmlns:a="http://schemas.openxmlformats.org/drawingml/2006/main">
            <a:off x="3257550" y="4457700"/>
            <a:ext cx="83248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성능 변화와 함께 다시 확인할 동작은?</a:t>
            </a:r>
          </a:p>
        </p:txBody>
      </p:sp>
      <p:sp>
        <p:nvSpPr>
          <p:cNvPr id="17" name="같은 문제가 반복될 때, 어느 Layer를 먼저 살펴볼까?">
            <a:extLst xmlns:a="http://schemas.openxmlformats.org/drawingml/2006/main">
              <a:ext uri="{FF2B5EF4-FFF2-40B4-BE49-F238E27FC236}">
                <a16:creationId xmlns:a16="http://schemas.microsoft.com/office/drawing/2014/main" id="{FA7E6DD5-8E7E-4A4A-9352-A27F029A3A48}"/>
              </a:ext>
            </a:extLst>
          </p:cNvPr>
          <p:cNvSpPr>
            <a:spLocks xmlns:a="http://schemas.openxmlformats.org/drawingml/2006/main" noGrp="1"/>
          </p:cNvSpPr>
          <p:nvPr/>
        </p:nvSpPr>
        <p:spPr>
          <a:xfrm xmlns:a="http://schemas.openxmlformats.org/drawingml/2006/main">
            <a:off x="609600" y="5238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같은 문제가 반복될 때, 어느 Layer를 먼저 살펴볼까?</a:t>
            </a:r>
          </a:p>
        </p:txBody>
      </p:sp>
    </p:spTree>
    <p:extLst>
      <p:ext uri="{BB962C8B-B14F-4D97-AF65-F5344CB8AC3E}">
        <p14:creationId xmlns:p14="http://schemas.microsoft.com/office/powerpoint/2010/main" val="1845675267"/>
      </p:ext>
    </p:extLst>
  </p:cSld>
</p:sld>
</file>

<file path=ppt/slides/slide7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5 · 전체 여정 회수">
            <a:extLst xmlns:a="http://schemas.openxmlformats.org/drawingml/2006/main">
              <a:ext uri="{FF2B5EF4-FFF2-40B4-BE49-F238E27FC236}">
                <a16:creationId xmlns:a16="http://schemas.microsoft.com/office/drawing/2014/main" id="{1F0902E2-EDC7-44CE-9220-80740843DDA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 회수</a:t>
            </a:r>
          </a:p>
        </p:txBody>
      </p:sp>
      <p:sp>
        <p:nvSpPr>
          <p:cNvPr id="2" name="S73">
            <a:extLst xmlns:a="http://schemas.openxmlformats.org/drawingml/2006/main">
              <a:ext uri="{FF2B5EF4-FFF2-40B4-BE49-F238E27FC236}">
                <a16:creationId xmlns:a16="http://schemas.microsoft.com/office/drawing/2014/main" id="{4EE0566B-546B-4DD1-AC8B-46EAE8E838C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여섯 시간의 Story를 한 장으로">
            <a:extLst xmlns:a="http://schemas.openxmlformats.org/drawingml/2006/main">
              <a:ext uri="{FF2B5EF4-FFF2-40B4-BE49-F238E27FC236}">
                <a16:creationId xmlns:a16="http://schemas.microsoft.com/office/drawing/2014/main" id="{B051B19B-D4B2-4BDC-ABE8-D684F2492C6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여섯 시간의 Story를 한 장으로</a:t>
            </a:r>
          </a:p>
        </p:txBody>
      </p:sp>
      <p:sp>
        <p:nvSpPr>
          <p:cNvPr id="4" name="">
            <a:extLst xmlns:a="http://schemas.openxmlformats.org/drawingml/2006/main">
              <a:ext uri="{FF2B5EF4-FFF2-40B4-BE49-F238E27FC236}">
                <a16:creationId xmlns:a16="http://schemas.microsoft.com/office/drawing/2014/main" id="{6C85A95A-6C91-4C7A-904B-F7EDB3FCB6D6}"/>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0 · 이 교육의 문제 중심 진화 모델">
            <a:extLst xmlns:a="http://schemas.openxmlformats.org/drawingml/2006/main">
              <a:ext uri="{FF2B5EF4-FFF2-40B4-BE49-F238E27FC236}">
                <a16:creationId xmlns:a16="http://schemas.microsoft.com/office/drawing/2014/main" id="{2C9E744B-F106-4CDB-BD9B-224A8C2E5B2C}"/>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BEAT-060 · 이 교육의 문제 중심 진화 모델</a:t>
            </a:r>
          </a:p>
        </p:txBody>
      </p:sp>
      <p:sp>
        <p:nvSpPr>
          <p:cNvPr id="6" name="앞의 방식을 버리거나, 모든 프로젝트가 같은 순서로 발전해야 한다는 뜻은 아니다.">
            <a:extLst xmlns:a="http://schemas.openxmlformats.org/drawingml/2006/main">
              <a:ext uri="{FF2B5EF4-FFF2-40B4-BE49-F238E27FC236}">
                <a16:creationId xmlns:a16="http://schemas.microsoft.com/office/drawing/2014/main" id="{B30BF51F-F9DD-4E96-9BA5-C5B65FC00AEC}"/>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방식을 버리거나, 모든 프로젝트가 같은 순서로 발전해야 한다는 뜻은 아니다.</a:t>
            </a:r>
          </a:p>
        </p:txBody>
      </p:sp>
      <p:sp>
        <p:nvSpPr>
          <p:cNvPr id="7" name="">
            <a:extLst xmlns:a="http://schemas.openxmlformats.org/drawingml/2006/main">
              <a:ext uri="{FF2B5EF4-FFF2-40B4-BE49-F238E27FC236}">
                <a16:creationId xmlns:a16="http://schemas.microsoft.com/office/drawing/2014/main" id="{BB776E2A-8C9E-444F-B56E-64628AD36BBC}"/>
              </a:ext>
            </a:extLst>
          </p:cNvPr>
          <p:cNvSpPr>
            <a:spLocks xmlns:a="http://schemas.openxmlformats.org/drawingml/2006/main" noGrp="1"/>
          </p:cNvSpPr>
          <p:nvPr/>
        </p:nvSpPr>
        <p:spPr>
          <a:xfrm xmlns:a="http://schemas.openxmlformats.org/drawingml/2006/main">
            <a:off x="609600" y="20955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Chatbot">
            <a:extLst xmlns:a="http://schemas.openxmlformats.org/drawingml/2006/main">
              <a:ext uri="{FF2B5EF4-FFF2-40B4-BE49-F238E27FC236}">
                <a16:creationId xmlns:a16="http://schemas.microsoft.com/office/drawing/2014/main" id="{5EAF56CD-9042-4571-B10B-45BE4CE50238}"/>
              </a:ext>
            </a:extLst>
          </p:cNvPr>
          <p:cNvSpPr>
            <a:spLocks xmlns:a="http://schemas.openxmlformats.org/drawingml/2006/main" noGrp="1"/>
          </p:cNvSpPr>
          <p:nvPr/>
        </p:nvSpPr>
        <p:spPr>
          <a:xfrm xmlns:a="http://schemas.openxmlformats.org/drawingml/2006/main">
            <a:off x="609600" y="2190750"/>
            <a:ext cx="2476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Chatbot</a:t>
            </a:r>
          </a:p>
        </p:txBody>
      </p:sp>
      <p:sp>
        <p:nvSpPr>
          <p:cNvPr id="9" name="답을 구한다">
            <a:extLst xmlns:a="http://schemas.openxmlformats.org/drawingml/2006/main">
              <a:ext uri="{FF2B5EF4-FFF2-40B4-BE49-F238E27FC236}">
                <a16:creationId xmlns:a16="http://schemas.microsoft.com/office/drawing/2014/main" id="{05A0FB28-104B-4C49-AC4C-37DF386F5B21}"/>
              </a:ext>
            </a:extLst>
          </p:cNvPr>
          <p:cNvSpPr>
            <a:spLocks xmlns:a="http://schemas.openxmlformats.org/drawingml/2006/main" noGrp="1"/>
          </p:cNvSpPr>
          <p:nvPr/>
        </p:nvSpPr>
        <p:spPr>
          <a:xfrm xmlns:a="http://schemas.openxmlformats.org/drawingml/2006/main">
            <a:off x="3619500" y="2190750"/>
            <a:ext cx="7962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답을 구한다</a:t>
            </a:r>
          </a:p>
        </p:txBody>
      </p:sp>
      <p:sp>
        <p:nvSpPr>
          <p:cNvPr id="10" name="">
            <a:extLst xmlns:a="http://schemas.openxmlformats.org/drawingml/2006/main">
              <a:ext uri="{FF2B5EF4-FFF2-40B4-BE49-F238E27FC236}">
                <a16:creationId xmlns:a16="http://schemas.microsoft.com/office/drawing/2014/main" id="{0AE314D5-E956-495D-80EB-92F98A7080CF}"/>
              </a:ext>
            </a:extLst>
          </p:cNvPr>
          <p:cNvSpPr>
            <a:spLocks xmlns:a="http://schemas.openxmlformats.org/drawingml/2006/main" noGrp="1"/>
          </p:cNvSpPr>
          <p:nvPr/>
        </p:nvSpPr>
        <p:spPr>
          <a:xfrm xmlns:a="http://schemas.openxmlformats.org/drawingml/2006/main">
            <a:off x="609600" y="27146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Prompt">
            <a:extLst xmlns:a="http://schemas.openxmlformats.org/drawingml/2006/main">
              <a:ext uri="{FF2B5EF4-FFF2-40B4-BE49-F238E27FC236}">
                <a16:creationId xmlns:a16="http://schemas.microsoft.com/office/drawing/2014/main" id="{01FC0C1E-37B2-4E2E-84E1-DEA736305D42}"/>
              </a:ext>
            </a:extLst>
          </p:cNvPr>
          <p:cNvSpPr>
            <a:spLocks xmlns:a="http://schemas.openxmlformats.org/drawingml/2006/main" noGrp="1"/>
          </p:cNvSpPr>
          <p:nvPr/>
        </p:nvSpPr>
        <p:spPr>
          <a:xfrm xmlns:a="http://schemas.openxmlformats.org/drawingml/2006/main">
            <a:off x="609600" y="2809875"/>
            <a:ext cx="2476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Prompt</a:t>
            </a:r>
          </a:p>
        </p:txBody>
      </p:sp>
      <p:sp>
        <p:nvSpPr>
          <p:cNvPr id="12" name="이번 작업을 구체화한다">
            <a:extLst xmlns:a="http://schemas.openxmlformats.org/drawingml/2006/main">
              <a:ext uri="{FF2B5EF4-FFF2-40B4-BE49-F238E27FC236}">
                <a16:creationId xmlns:a16="http://schemas.microsoft.com/office/drawing/2014/main" id="{4C316624-A1DE-4503-B373-4B9B055A4D01}"/>
              </a:ext>
            </a:extLst>
          </p:cNvPr>
          <p:cNvSpPr>
            <a:spLocks xmlns:a="http://schemas.openxmlformats.org/drawingml/2006/main" noGrp="1"/>
          </p:cNvSpPr>
          <p:nvPr/>
        </p:nvSpPr>
        <p:spPr>
          <a:xfrm xmlns:a="http://schemas.openxmlformats.org/drawingml/2006/main">
            <a:off x="3619500" y="2809875"/>
            <a:ext cx="7962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이번 작업을 구체화한다</a:t>
            </a:r>
          </a:p>
        </p:txBody>
      </p:sp>
      <p:sp>
        <p:nvSpPr>
          <p:cNvPr id="13" name="">
            <a:extLst xmlns:a="http://schemas.openxmlformats.org/drawingml/2006/main">
              <a:ext uri="{FF2B5EF4-FFF2-40B4-BE49-F238E27FC236}">
                <a16:creationId xmlns:a16="http://schemas.microsoft.com/office/drawing/2014/main" id="{10C58A46-5A3F-44C4-9D85-A6EA4ACF19CF}"/>
              </a:ext>
            </a:extLst>
          </p:cNvPr>
          <p:cNvSpPr>
            <a:spLocks xmlns:a="http://schemas.openxmlformats.org/drawingml/2006/main" noGrp="1"/>
          </p:cNvSpPr>
          <p:nvPr/>
        </p:nvSpPr>
        <p:spPr>
          <a:xfrm xmlns:a="http://schemas.openxmlformats.org/drawingml/2006/main">
            <a:off x="609600" y="3333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Context">
            <a:extLst xmlns:a="http://schemas.openxmlformats.org/drawingml/2006/main">
              <a:ext uri="{FF2B5EF4-FFF2-40B4-BE49-F238E27FC236}">
                <a16:creationId xmlns:a16="http://schemas.microsoft.com/office/drawing/2014/main" id="{AF5DB6D2-38AD-460D-9BD9-52E82181029E}"/>
              </a:ext>
            </a:extLst>
          </p:cNvPr>
          <p:cNvSpPr>
            <a:spLocks xmlns:a="http://schemas.openxmlformats.org/drawingml/2006/main" noGrp="1"/>
          </p:cNvSpPr>
          <p:nvPr/>
        </p:nvSpPr>
        <p:spPr>
          <a:xfrm xmlns:a="http://schemas.openxmlformats.org/drawingml/2006/main">
            <a:off x="609600" y="3429000"/>
            <a:ext cx="2476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Context</a:t>
            </a:r>
          </a:p>
        </p:txBody>
      </p:sp>
      <p:sp>
        <p:nvSpPr>
          <p:cNvPr id="15" name="프로젝트 지식을 제공한다">
            <a:extLst xmlns:a="http://schemas.openxmlformats.org/drawingml/2006/main">
              <a:ext uri="{FF2B5EF4-FFF2-40B4-BE49-F238E27FC236}">
                <a16:creationId xmlns:a16="http://schemas.microsoft.com/office/drawing/2014/main" id="{005A53DE-E8AF-44F7-8710-AF9EFEC3057B}"/>
              </a:ext>
            </a:extLst>
          </p:cNvPr>
          <p:cNvSpPr>
            <a:spLocks xmlns:a="http://schemas.openxmlformats.org/drawingml/2006/main" noGrp="1"/>
          </p:cNvSpPr>
          <p:nvPr/>
        </p:nvSpPr>
        <p:spPr>
          <a:xfrm xmlns:a="http://schemas.openxmlformats.org/drawingml/2006/main">
            <a:off x="3619500" y="3429000"/>
            <a:ext cx="7962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프로젝트 지식을 제공한다</a:t>
            </a:r>
          </a:p>
        </p:txBody>
      </p:sp>
      <p:sp>
        <p:nvSpPr>
          <p:cNvPr id="16" name="">
            <a:extLst xmlns:a="http://schemas.openxmlformats.org/drawingml/2006/main">
              <a:ext uri="{FF2B5EF4-FFF2-40B4-BE49-F238E27FC236}">
                <a16:creationId xmlns:a16="http://schemas.microsoft.com/office/drawing/2014/main" id="{450DF3BB-6DEA-4EC4-850F-AE886C5D7559}"/>
              </a:ext>
            </a:extLst>
          </p:cNvPr>
          <p:cNvSpPr>
            <a:spLocks xmlns:a="http://schemas.openxmlformats.org/drawingml/2006/main" noGrp="1"/>
          </p:cNvSpPr>
          <p:nvPr/>
        </p:nvSpPr>
        <p:spPr>
          <a:xfrm xmlns:a="http://schemas.openxmlformats.org/drawingml/2006/main">
            <a:off x="609600" y="39528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Harness">
            <a:extLst xmlns:a="http://schemas.openxmlformats.org/drawingml/2006/main">
              <a:ext uri="{FF2B5EF4-FFF2-40B4-BE49-F238E27FC236}">
                <a16:creationId xmlns:a16="http://schemas.microsoft.com/office/drawing/2014/main" id="{51E0C322-3315-415B-9488-4DE1AF2C1625}"/>
              </a:ext>
            </a:extLst>
          </p:cNvPr>
          <p:cNvSpPr>
            <a:spLocks xmlns:a="http://schemas.openxmlformats.org/drawingml/2006/main" noGrp="1"/>
          </p:cNvSpPr>
          <p:nvPr/>
        </p:nvSpPr>
        <p:spPr>
          <a:xfrm xmlns:a="http://schemas.openxmlformats.org/drawingml/2006/main">
            <a:off x="609600" y="4048125"/>
            <a:ext cx="2476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Harness</a:t>
            </a:r>
          </a:p>
        </p:txBody>
      </p:sp>
      <p:sp>
        <p:nvSpPr>
          <p:cNvPr id="18" name="일하는 환경을 설계한다">
            <a:extLst xmlns:a="http://schemas.openxmlformats.org/drawingml/2006/main">
              <a:ext uri="{FF2B5EF4-FFF2-40B4-BE49-F238E27FC236}">
                <a16:creationId xmlns:a16="http://schemas.microsoft.com/office/drawing/2014/main" id="{C566ED93-BA88-495B-89F4-C8D8318092CF}"/>
              </a:ext>
            </a:extLst>
          </p:cNvPr>
          <p:cNvSpPr>
            <a:spLocks xmlns:a="http://schemas.openxmlformats.org/drawingml/2006/main" noGrp="1"/>
          </p:cNvSpPr>
          <p:nvPr/>
        </p:nvSpPr>
        <p:spPr>
          <a:xfrm xmlns:a="http://schemas.openxmlformats.org/drawingml/2006/main">
            <a:off x="3619500" y="4048125"/>
            <a:ext cx="7962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일하는 환경을 설계한다</a:t>
            </a:r>
          </a:p>
        </p:txBody>
      </p:sp>
      <p:sp>
        <p:nvSpPr>
          <p:cNvPr id="19" name="">
            <a:extLst xmlns:a="http://schemas.openxmlformats.org/drawingml/2006/main">
              <a:ext uri="{FF2B5EF4-FFF2-40B4-BE49-F238E27FC236}">
                <a16:creationId xmlns:a16="http://schemas.microsoft.com/office/drawing/2014/main" id="{CE2DE239-A0F7-4CB1-80B1-9434513A9ABF}"/>
              </a:ext>
            </a:extLst>
          </p:cNvPr>
          <p:cNvSpPr>
            <a:spLocks xmlns:a="http://schemas.openxmlformats.org/drawingml/2006/main" noGrp="1"/>
          </p:cNvSpPr>
          <p:nvPr/>
        </p:nvSpPr>
        <p:spPr>
          <a:xfrm xmlns:a="http://schemas.openxmlformats.org/drawingml/2006/main">
            <a:off x="609600" y="45720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Loop">
            <a:extLst xmlns:a="http://schemas.openxmlformats.org/drawingml/2006/main">
              <a:ext uri="{FF2B5EF4-FFF2-40B4-BE49-F238E27FC236}">
                <a16:creationId xmlns:a16="http://schemas.microsoft.com/office/drawing/2014/main" id="{F6D92DA1-51BB-4A06-99B0-1BB70924912A}"/>
              </a:ext>
            </a:extLst>
          </p:cNvPr>
          <p:cNvSpPr>
            <a:spLocks xmlns:a="http://schemas.openxmlformats.org/drawingml/2006/main" noGrp="1"/>
          </p:cNvSpPr>
          <p:nvPr/>
        </p:nvSpPr>
        <p:spPr>
          <a:xfrm xmlns:a="http://schemas.openxmlformats.org/drawingml/2006/main">
            <a:off x="609600" y="4667250"/>
            <a:ext cx="2476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Loop</a:t>
            </a:r>
          </a:p>
        </p:txBody>
      </p:sp>
      <p:sp>
        <p:nvSpPr>
          <p:cNvPr id="21" name="피드백으로 시스템을 고친다">
            <a:extLst xmlns:a="http://schemas.openxmlformats.org/drawingml/2006/main">
              <a:ext uri="{FF2B5EF4-FFF2-40B4-BE49-F238E27FC236}">
                <a16:creationId xmlns:a16="http://schemas.microsoft.com/office/drawing/2014/main" id="{7668FD6C-66C0-4951-BB87-3106A8450524}"/>
              </a:ext>
            </a:extLst>
          </p:cNvPr>
          <p:cNvSpPr>
            <a:spLocks xmlns:a="http://schemas.openxmlformats.org/drawingml/2006/main" noGrp="1"/>
          </p:cNvSpPr>
          <p:nvPr/>
        </p:nvSpPr>
        <p:spPr>
          <a:xfrm xmlns:a="http://schemas.openxmlformats.org/drawingml/2006/main">
            <a:off x="3619500" y="4667250"/>
            <a:ext cx="7962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피드백으로 시스템을 고친다</a:t>
            </a:r>
          </a:p>
        </p:txBody>
      </p:sp>
      <p:sp>
        <p:nvSpPr>
          <p:cNvPr id="22" name="문제가 넓어질수록, 필요한 대응이 더해졌다.">
            <a:extLst xmlns:a="http://schemas.openxmlformats.org/drawingml/2006/main">
              <a:ext uri="{FF2B5EF4-FFF2-40B4-BE49-F238E27FC236}">
                <a16:creationId xmlns:a16="http://schemas.microsoft.com/office/drawing/2014/main" id="{CDA0D2E0-8373-4DD0-B0D2-20D8A47A9033}"/>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문제가 넓어질수록, 필요한 대응이 더해졌다.</a:t>
            </a:r>
          </a:p>
        </p:txBody>
      </p:sp>
    </p:spTree>
    <p:extLst>
      <p:ext uri="{BB962C8B-B14F-4D97-AF65-F5344CB8AC3E}">
        <p14:creationId xmlns:p14="http://schemas.microsoft.com/office/powerpoint/2010/main" val="59013420"/>
      </p:ext>
    </p:extLst>
  </p:cSld>
</p:sld>
</file>

<file path=ppt/slides/slide7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5 · 확인된 제품 변화">
            <a:extLst xmlns:a="http://schemas.openxmlformats.org/drawingml/2006/main">
              <a:ext uri="{FF2B5EF4-FFF2-40B4-BE49-F238E27FC236}">
                <a16:creationId xmlns:a16="http://schemas.microsoft.com/office/drawing/2014/main" id="{E6FF3990-907C-413D-8B82-1F6EFF79E38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확인된 제품 변화</a:t>
            </a:r>
          </a:p>
        </p:txBody>
      </p:sp>
      <p:sp>
        <p:nvSpPr>
          <p:cNvPr id="2" name="S74">
            <a:extLst xmlns:a="http://schemas.openxmlformats.org/drawingml/2006/main">
              <a:ext uri="{FF2B5EF4-FFF2-40B4-BE49-F238E27FC236}">
                <a16:creationId xmlns:a16="http://schemas.microsoft.com/office/drawing/2014/main" id="{1A4C9098-707C-4028-9C28-6D91AE338AB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하나의 Repository가 문제에 대응해 진화했다">
            <a:extLst xmlns:a="http://schemas.openxmlformats.org/drawingml/2006/main">
              <a:ext uri="{FF2B5EF4-FFF2-40B4-BE49-F238E27FC236}">
                <a16:creationId xmlns:a16="http://schemas.microsoft.com/office/drawing/2014/main" id="{143BBB8D-C059-43E5-94C8-E3E01B88781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하나의 Repository가 문제에 대응해 진화했다</a:t>
            </a:r>
          </a:p>
        </p:txBody>
      </p:sp>
      <p:sp>
        <p:nvSpPr>
          <p:cNvPr id="4" name="">
            <a:extLst xmlns:a="http://schemas.openxmlformats.org/drawingml/2006/main">
              <a:ext uri="{FF2B5EF4-FFF2-40B4-BE49-F238E27FC236}">
                <a16:creationId xmlns:a16="http://schemas.microsoft.com/office/drawing/2014/main" id="{172F91AC-45DC-4D35-86FB-C7C409C8A037}"/>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MO-12 · STATE-00 → STATE-04-PERF · 실제 Git State 기록">
            <a:extLst xmlns:a="http://schemas.openxmlformats.org/drawingml/2006/main">
              <a:ext uri="{FF2B5EF4-FFF2-40B4-BE49-F238E27FC236}">
                <a16:creationId xmlns:a16="http://schemas.microsoft.com/office/drawing/2014/main" id="{4423BB9A-0681-46AA-84D4-B4DDA2761B91}"/>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DEMO-12 · STATE-00 → STATE-04-PERF · 실제 Git State 기록</a:t>
            </a:r>
          </a:p>
        </p:txBody>
      </p:sp>
      <p:sp>
        <p:nvSpPr>
          <p:cNvPr id="6" name="상태는 변화 이력이다. 기능 성숙도 등급이나 Product Loop를 뜻하지 않는다.">
            <a:extLst xmlns:a="http://schemas.openxmlformats.org/drawingml/2006/main">
              <a:ext uri="{FF2B5EF4-FFF2-40B4-BE49-F238E27FC236}">
                <a16:creationId xmlns:a16="http://schemas.microsoft.com/office/drawing/2014/main" id="{7F4D6DB3-F758-4D5E-868D-D1FC32239287}"/>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상태는 변화 이력이다. 기능 성숙도 등급이나 Product Loop를 뜻하지 않는다.</a:t>
            </a:r>
          </a:p>
        </p:txBody>
      </p:sp>
      <p:sp>
        <p:nvSpPr>
          <p:cNvPr id="7" name="">
            <a:extLst xmlns:a="http://schemas.openxmlformats.org/drawingml/2006/main">
              <a:ext uri="{FF2B5EF4-FFF2-40B4-BE49-F238E27FC236}">
                <a16:creationId xmlns:a16="http://schemas.microsoft.com/office/drawing/2014/main" id="{CB48753B-EE61-483F-816D-98E40EB91D5A}"/>
              </a:ext>
            </a:extLst>
          </p:cNvPr>
          <p:cNvSpPr>
            <a:spLocks xmlns:a="http://schemas.openxmlformats.org/drawingml/2006/main" noGrp="1"/>
          </p:cNvSpPr>
          <p:nvPr/>
        </p:nvSpPr>
        <p:spPr>
          <a:xfrm xmlns:a="http://schemas.openxmlformats.org/drawingml/2006/main">
            <a:off x="609600" y="2257425"/>
            <a:ext cx="2514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STATE-00">
            <a:extLst xmlns:a="http://schemas.openxmlformats.org/drawingml/2006/main">
              <a:ext uri="{FF2B5EF4-FFF2-40B4-BE49-F238E27FC236}">
                <a16:creationId xmlns:a16="http://schemas.microsoft.com/office/drawing/2014/main" id="{26EF18CA-CA64-4DF5-A370-D9CC77DF3D90}"/>
              </a:ext>
            </a:extLst>
          </p:cNvPr>
          <p:cNvSpPr>
            <a:spLocks xmlns:a="http://schemas.openxmlformats.org/drawingml/2006/main" noGrp="1"/>
          </p:cNvSpPr>
          <p:nvPr/>
        </p:nvSpPr>
        <p:spPr>
          <a:xfrm xmlns:a="http://schemas.openxmlformats.org/drawingml/2006/main">
            <a:off x="609600" y="2381250"/>
            <a:ext cx="2514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STATE-00</a:t>
            </a:r>
          </a:p>
        </p:txBody>
      </p:sp>
      <p:sp>
        <p:nvSpPr>
          <p:cNvPr id="9" name="crop 경계 문제">
            <a:extLst xmlns:a="http://schemas.openxmlformats.org/drawingml/2006/main">
              <a:ext uri="{FF2B5EF4-FFF2-40B4-BE49-F238E27FC236}">
                <a16:creationId xmlns:a16="http://schemas.microsoft.com/office/drawing/2014/main" id="{176F16D0-3E3D-4C39-9AEE-0E04EFB928BD}"/>
              </a:ext>
            </a:extLst>
          </p:cNvPr>
          <p:cNvSpPr>
            <a:spLocks xmlns:a="http://schemas.openxmlformats.org/drawingml/2006/main" noGrp="1"/>
          </p:cNvSpPr>
          <p:nvPr/>
        </p:nvSpPr>
        <p:spPr>
          <a:xfrm xmlns:a="http://schemas.openxmlformats.org/drawingml/2006/main">
            <a:off x="609600" y="2828925"/>
            <a:ext cx="2514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경계 문제</a:t>
            </a:r>
          </a:p>
        </p:txBody>
      </p:sp>
      <p:sp>
        <p:nvSpPr>
          <p:cNvPr id="10" name="">
            <a:extLst xmlns:a="http://schemas.openxmlformats.org/drawingml/2006/main">
              <a:ext uri="{FF2B5EF4-FFF2-40B4-BE49-F238E27FC236}">
                <a16:creationId xmlns:a16="http://schemas.microsoft.com/office/drawing/2014/main" id="{BB531181-886E-4714-AD81-79825D19BCB2}"/>
              </a:ext>
            </a:extLst>
          </p:cNvPr>
          <p:cNvSpPr>
            <a:spLocks xmlns:a="http://schemas.openxmlformats.org/drawingml/2006/main" noGrp="1"/>
          </p:cNvSpPr>
          <p:nvPr/>
        </p:nvSpPr>
        <p:spPr>
          <a:xfrm xmlns:a="http://schemas.openxmlformats.org/drawingml/2006/main">
            <a:off x="3409950" y="2257425"/>
            <a:ext cx="2514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STATE-00-FIXED">
            <a:extLst xmlns:a="http://schemas.openxmlformats.org/drawingml/2006/main">
              <a:ext uri="{FF2B5EF4-FFF2-40B4-BE49-F238E27FC236}">
                <a16:creationId xmlns:a16="http://schemas.microsoft.com/office/drawing/2014/main" id="{5CE812C1-77D7-49B6-A0F5-B73CAB87C4BF}"/>
              </a:ext>
            </a:extLst>
          </p:cNvPr>
          <p:cNvSpPr>
            <a:spLocks xmlns:a="http://schemas.openxmlformats.org/drawingml/2006/main" noGrp="1"/>
          </p:cNvSpPr>
          <p:nvPr/>
        </p:nvSpPr>
        <p:spPr>
          <a:xfrm xmlns:a="http://schemas.openxmlformats.org/drawingml/2006/main">
            <a:off x="3409950" y="2381250"/>
            <a:ext cx="2514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STATE-00-FIXED</a:t>
            </a:r>
          </a:p>
        </p:txBody>
      </p:sp>
      <p:sp>
        <p:nvSpPr>
          <p:cNvPr id="12" name="계약에 맞게 수정">
            <a:extLst xmlns:a="http://schemas.openxmlformats.org/drawingml/2006/main">
              <a:ext uri="{FF2B5EF4-FFF2-40B4-BE49-F238E27FC236}">
                <a16:creationId xmlns:a16="http://schemas.microsoft.com/office/drawing/2014/main" id="{73761692-0F42-427C-9E82-CF12CA38048D}"/>
              </a:ext>
            </a:extLst>
          </p:cNvPr>
          <p:cNvSpPr>
            <a:spLocks xmlns:a="http://schemas.openxmlformats.org/drawingml/2006/main" noGrp="1"/>
          </p:cNvSpPr>
          <p:nvPr/>
        </p:nvSpPr>
        <p:spPr>
          <a:xfrm xmlns:a="http://schemas.openxmlformats.org/drawingml/2006/main">
            <a:off x="3409950" y="2828925"/>
            <a:ext cx="2514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계약에 맞게 수정</a:t>
            </a:r>
          </a:p>
        </p:txBody>
      </p:sp>
      <p:sp>
        <p:nvSpPr>
          <p:cNvPr id="13" name="">
            <a:extLst xmlns:a="http://schemas.openxmlformats.org/drawingml/2006/main">
              <a:ext uri="{FF2B5EF4-FFF2-40B4-BE49-F238E27FC236}">
                <a16:creationId xmlns:a16="http://schemas.microsoft.com/office/drawing/2014/main" id="{E51AC8FE-99BB-4971-AB80-1ED9E02FBB15}"/>
              </a:ext>
            </a:extLst>
          </p:cNvPr>
          <p:cNvSpPr>
            <a:spLocks xmlns:a="http://schemas.openxmlformats.org/drawingml/2006/main" noGrp="1"/>
          </p:cNvSpPr>
          <p:nvPr/>
        </p:nvSpPr>
        <p:spPr>
          <a:xfrm xmlns:a="http://schemas.openxmlformats.org/drawingml/2006/main">
            <a:off x="6210300" y="2257425"/>
            <a:ext cx="2514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STATE-01">
            <a:extLst xmlns:a="http://schemas.openxmlformats.org/drawingml/2006/main">
              <a:ext uri="{FF2B5EF4-FFF2-40B4-BE49-F238E27FC236}">
                <a16:creationId xmlns:a16="http://schemas.microsoft.com/office/drawing/2014/main" id="{D6D13015-DFB9-4595-BF6E-5B5162748F4E}"/>
              </a:ext>
            </a:extLst>
          </p:cNvPr>
          <p:cNvSpPr>
            <a:spLocks xmlns:a="http://schemas.openxmlformats.org/drawingml/2006/main" noGrp="1"/>
          </p:cNvSpPr>
          <p:nvPr/>
        </p:nvSpPr>
        <p:spPr>
          <a:xfrm xmlns:a="http://schemas.openxmlformats.org/drawingml/2006/main">
            <a:off x="6210300" y="2381250"/>
            <a:ext cx="2514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STATE-01</a:t>
            </a:r>
          </a:p>
        </p:txBody>
      </p:sp>
      <p:sp>
        <p:nvSpPr>
          <p:cNvPr id="15" name="프로젝트 지침">
            <a:extLst xmlns:a="http://schemas.openxmlformats.org/drawingml/2006/main">
              <a:ext uri="{FF2B5EF4-FFF2-40B4-BE49-F238E27FC236}">
                <a16:creationId xmlns:a16="http://schemas.microsoft.com/office/drawing/2014/main" id="{990D21C4-5784-4C0C-8269-DAC789288B95}"/>
              </a:ext>
            </a:extLst>
          </p:cNvPr>
          <p:cNvSpPr>
            <a:spLocks xmlns:a="http://schemas.openxmlformats.org/drawingml/2006/main" noGrp="1"/>
          </p:cNvSpPr>
          <p:nvPr/>
        </p:nvSpPr>
        <p:spPr>
          <a:xfrm xmlns:a="http://schemas.openxmlformats.org/drawingml/2006/main">
            <a:off x="6210300" y="2828925"/>
            <a:ext cx="2514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지침</a:t>
            </a:r>
          </a:p>
        </p:txBody>
      </p:sp>
      <p:sp>
        <p:nvSpPr>
          <p:cNvPr id="16" name="">
            <a:extLst xmlns:a="http://schemas.openxmlformats.org/drawingml/2006/main">
              <a:ext uri="{FF2B5EF4-FFF2-40B4-BE49-F238E27FC236}">
                <a16:creationId xmlns:a16="http://schemas.microsoft.com/office/drawing/2014/main" id="{C129F09D-D40E-43CF-97AB-99CE4B2D11B6}"/>
              </a:ext>
            </a:extLst>
          </p:cNvPr>
          <p:cNvSpPr>
            <a:spLocks xmlns:a="http://schemas.openxmlformats.org/drawingml/2006/main" noGrp="1"/>
          </p:cNvSpPr>
          <p:nvPr/>
        </p:nvSpPr>
        <p:spPr>
          <a:xfrm xmlns:a="http://schemas.openxmlformats.org/drawingml/2006/main">
            <a:off x="9010650" y="2257425"/>
            <a:ext cx="2514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STATE-02">
            <a:extLst xmlns:a="http://schemas.openxmlformats.org/drawingml/2006/main">
              <a:ext uri="{FF2B5EF4-FFF2-40B4-BE49-F238E27FC236}">
                <a16:creationId xmlns:a16="http://schemas.microsoft.com/office/drawing/2014/main" id="{7F744209-B05C-4AF7-A385-4EF0C2F34666}"/>
              </a:ext>
            </a:extLst>
          </p:cNvPr>
          <p:cNvSpPr>
            <a:spLocks xmlns:a="http://schemas.openxmlformats.org/drawingml/2006/main" noGrp="1"/>
          </p:cNvSpPr>
          <p:nvPr/>
        </p:nvSpPr>
        <p:spPr>
          <a:xfrm xmlns:a="http://schemas.openxmlformats.org/drawingml/2006/main">
            <a:off x="9010650" y="2381250"/>
            <a:ext cx="2514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STATE-02</a:t>
            </a:r>
          </a:p>
        </p:txBody>
      </p:sp>
      <p:sp>
        <p:nvSpPr>
          <p:cNvPr id="18" name="Context 증가">
            <a:extLst xmlns:a="http://schemas.openxmlformats.org/drawingml/2006/main">
              <a:ext uri="{FF2B5EF4-FFF2-40B4-BE49-F238E27FC236}">
                <a16:creationId xmlns:a16="http://schemas.microsoft.com/office/drawing/2014/main" id="{43DF6B9B-1990-4DC0-9298-C567B8DE7A04}"/>
              </a:ext>
            </a:extLst>
          </p:cNvPr>
          <p:cNvSpPr>
            <a:spLocks xmlns:a="http://schemas.openxmlformats.org/drawingml/2006/main" noGrp="1"/>
          </p:cNvSpPr>
          <p:nvPr/>
        </p:nvSpPr>
        <p:spPr>
          <a:xfrm xmlns:a="http://schemas.openxmlformats.org/drawingml/2006/main">
            <a:off x="9010650" y="2828925"/>
            <a:ext cx="2514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Context 증가</a:t>
            </a:r>
          </a:p>
        </p:txBody>
      </p:sp>
      <p:sp>
        <p:nvSpPr>
          <p:cNvPr id="19" name="">
            <a:extLst xmlns:a="http://schemas.openxmlformats.org/drawingml/2006/main">
              <a:ext uri="{FF2B5EF4-FFF2-40B4-BE49-F238E27FC236}">
                <a16:creationId xmlns:a16="http://schemas.microsoft.com/office/drawing/2014/main" id="{6249B960-16FA-462B-8740-DEE04A21CC70}"/>
              </a:ext>
            </a:extLst>
          </p:cNvPr>
          <p:cNvSpPr>
            <a:spLocks xmlns:a="http://schemas.openxmlformats.org/drawingml/2006/main" noGrp="1"/>
          </p:cNvSpPr>
          <p:nvPr/>
        </p:nvSpPr>
        <p:spPr>
          <a:xfrm xmlns:a="http://schemas.openxmlformats.org/drawingml/2006/main">
            <a:off x="609600" y="3724275"/>
            <a:ext cx="2514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STATE-03">
            <a:extLst xmlns:a="http://schemas.openxmlformats.org/drawingml/2006/main">
              <a:ext uri="{FF2B5EF4-FFF2-40B4-BE49-F238E27FC236}">
                <a16:creationId xmlns:a16="http://schemas.microsoft.com/office/drawing/2014/main" id="{5C57B288-F82A-4208-B3E9-56F0DB2DD905}"/>
              </a:ext>
            </a:extLst>
          </p:cNvPr>
          <p:cNvSpPr>
            <a:spLocks xmlns:a="http://schemas.openxmlformats.org/drawingml/2006/main" noGrp="1"/>
          </p:cNvSpPr>
          <p:nvPr/>
        </p:nvSpPr>
        <p:spPr>
          <a:xfrm xmlns:a="http://schemas.openxmlformats.org/drawingml/2006/main">
            <a:off x="609600" y="3848100"/>
            <a:ext cx="2514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STATE-03</a:t>
            </a:r>
          </a:p>
        </p:txBody>
      </p:sp>
      <p:sp>
        <p:nvSpPr>
          <p:cNvPr id="21" name="상세 정보로 연결">
            <a:extLst xmlns:a="http://schemas.openxmlformats.org/drawingml/2006/main">
              <a:ext uri="{FF2B5EF4-FFF2-40B4-BE49-F238E27FC236}">
                <a16:creationId xmlns:a16="http://schemas.microsoft.com/office/drawing/2014/main" id="{365DB31A-6241-4791-B292-64DC0FE1825E}"/>
              </a:ext>
            </a:extLst>
          </p:cNvPr>
          <p:cNvSpPr>
            <a:spLocks xmlns:a="http://schemas.openxmlformats.org/drawingml/2006/main" noGrp="1"/>
          </p:cNvSpPr>
          <p:nvPr/>
        </p:nvSpPr>
        <p:spPr>
          <a:xfrm xmlns:a="http://schemas.openxmlformats.org/drawingml/2006/main">
            <a:off x="609600" y="4295775"/>
            <a:ext cx="2514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정보로 연결</a:t>
            </a:r>
          </a:p>
        </p:txBody>
      </p:sp>
      <p:sp>
        <p:nvSpPr>
          <p:cNvPr id="22" name="">
            <a:extLst xmlns:a="http://schemas.openxmlformats.org/drawingml/2006/main">
              <a:ext uri="{FF2B5EF4-FFF2-40B4-BE49-F238E27FC236}">
                <a16:creationId xmlns:a16="http://schemas.microsoft.com/office/drawing/2014/main" id="{5F05ECC0-F3E3-4465-ADA6-0205CA7FFA08}"/>
              </a:ext>
            </a:extLst>
          </p:cNvPr>
          <p:cNvSpPr>
            <a:spLocks xmlns:a="http://schemas.openxmlformats.org/drawingml/2006/main" noGrp="1"/>
          </p:cNvSpPr>
          <p:nvPr/>
        </p:nvSpPr>
        <p:spPr>
          <a:xfrm xmlns:a="http://schemas.openxmlformats.org/drawingml/2006/main">
            <a:off x="3409950" y="3724275"/>
            <a:ext cx="2514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3" name="STATE-04">
            <a:extLst xmlns:a="http://schemas.openxmlformats.org/drawingml/2006/main">
              <a:ext uri="{FF2B5EF4-FFF2-40B4-BE49-F238E27FC236}">
                <a16:creationId xmlns:a16="http://schemas.microsoft.com/office/drawing/2014/main" id="{E35234EE-9499-41CA-9F6F-C3AD18794432}"/>
              </a:ext>
            </a:extLst>
          </p:cNvPr>
          <p:cNvSpPr>
            <a:spLocks xmlns:a="http://schemas.openxmlformats.org/drawingml/2006/main" noGrp="1"/>
          </p:cNvSpPr>
          <p:nvPr/>
        </p:nvSpPr>
        <p:spPr>
          <a:xfrm xmlns:a="http://schemas.openxmlformats.org/drawingml/2006/main">
            <a:off x="3409950" y="3848100"/>
            <a:ext cx="2514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STATE-04</a:t>
            </a:r>
          </a:p>
        </p:txBody>
      </p:sp>
      <p:sp>
        <p:nvSpPr>
          <p:cNvPr id="24" name="재사용 Workflow">
            <a:extLst xmlns:a="http://schemas.openxmlformats.org/drawingml/2006/main">
              <a:ext uri="{FF2B5EF4-FFF2-40B4-BE49-F238E27FC236}">
                <a16:creationId xmlns:a16="http://schemas.microsoft.com/office/drawing/2014/main" id="{C9E1E26A-F2C0-47F4-9428-B1C77C911251}"/>
              </a:ext>
            </a:extLst>
          </p:cNvPr>
          <p:cNvSpPr>
            <a:spLocks xmlns:a="http://schemas.openxmlformats.org/drawingml/2006/main" noGrp="1"/>
          </p:cNvSpPr>
          <p:nvPr/>
        </p:nvSpPr>
        <p:spPr>
          <a:xfrm xmlns:a="http://schemas.openxmlformats.org/drawingml/2006/main">
            <a:off x="3409950" y="4295775"/>
            <a:ext cx="2514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재사용 Workflow</a:t>
            </a:r>
          </a:p>
        </p:txBody>
      </p:sp>
      <p:sp>
        <p:nvSpPr>
          <p:cNvPr id="25" name="">
            <a:extLst xmlns:a="http://schemas.openxmlformats.org/drawingml/2006/main">
              <a:ext uri="{FF2B5EF4-FFF2-40B4-BE49-F238E27FC236}">
                <a16:creationId xmlns:a16="http://schemas.microsoft.com/office/drawing/2014/main" id="{BB30C3E3-4F6C-4110-9005-733E70FCF360}"/>
              </a:ext>
            </a:extLst>
          </p:cNvPr>
          <p:cNvSpPr>
            <a:spLocks xmlns:a="http://schemas.openxmlformats.org/drawingml/2006/main" noGrp="1"/>
          </p:cNvSpPr>
          <p:nvPr/>
        </p:nvSpPr>
        <p:spPr>
          <a:xfrm xmlns:a="http://schemas.openxmlformats.org/drawingml/2006/main">
            <a:off x="6210300" y="3724275"/>
            <a:ext cx="2514600" cy="0"/>
          </a:xfrm>
          <a:prstGeom xmlns:a="http://schemas.openxmlformats.org/drawingml/2006/main" prst="line">
            <a:avLst/>
          </a:prstGeom>
          <a:noFill xmlns:a="http://schemas.openxmlformats.org/drawingml/2006/main"/>
          <a:ln xmlns:a="http://schemas.openxmlformats.org/drawingml/2006/main" w="28575">
            <a:solidFill>
              <a:srgbClr val="176B4D"/>
            </a:solidFill>
            <a:prstDash val="solid"/>
          </a:ln>
        </p:spPr>
      </p:sp>
      <p:sp>
        <p:nvSpPr>
          <p:cNvPr id="26" name="STATE-04-PERF">
            <a:extLst xmlns:a="http://schemas.openxmlformats.org/drawingml/2006/main">
              <a:ext uri="{FF2B5EF4-FFF2-40B4-BE49-F238E27FC236}">
                <a16:creationId xmlns:a16="http://schemas.microsoft.com/office/drawing/2014/main" id="{C3A25259-6B45-402E-9074-CA2575AEA072}"/>
              </a:ext>
            </a:extLst>
          </p:cNvPr>
          <p:cNvSpPr>
            <a:spLocks xmlns:a="http://schemas.openxmlformats.org/drawingml/2006/main" noGrp="1"/>
          </p:cNvSpPr>
          <p:nvPr/>
        </p:nvSpPr>
        <p:spPr>
          <a:xfrm xmlns:a="http://schemas.openxmlformats.org/drawingml/2006/main">
            <a:off x="6210300" y="3848100"/>
            <a:ext cx="2514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6B4D"/>
                </a:solidFill>
                <a:latin typeface="Malgun Gothic"/>
                <a:ea typeface="Malgun Gothic"/>
                <a:cs typeface="Malgun Gothic"/>
              </a:defRPr>
            </a:defPPr>
            <a:lvl1pPr algn="l">
              <a:defRPr sz="1650" b="1">
                <a:solidFill>
                  <a:srgbClr val="176B4D"/>
                </a:solidFill>
                <a:latin typeface="Malgun Gothic"/>
                <a:ea typeface="Malgun Gothic"/>
                <a:cs typeface="Malgun Gothic"/>
              </a:defRPr>
            </a:lvl1pPr>
            <a:lvl2pPr algn="l">
              <a:defRPr sz="1650" b="1">
                <a:solidFill>
                  <a:srgbClr val="176B4D"/>
                </a:solidFill>
                <a:latin typeface="Malgun Gothic"/>
                <a:ea typeface="Malgun Gothic"/>
                <a:cs typeface="Malgun Gothic"/>
              </a:defRPr>
            </a:lvl2pPr>
            <a:lvl3pPr algn="l">
              <a:defRPr sz="1650" b="1">
                <a:solidFill>
                  <a:srgbClr val="176B4D"/>
                </a:solidFill>
                <a:latin typeface="Malgun Gothic"/>
                <a:ea typeface="Malgun Gothic"/>
                <a:cs typeface="Malgun Gothic"/>
              </a:defRPr>
            </a:lvl3pPr>
            <a:lvl4pPr algn="l">
              <a:defRPr sz="1650" b="1">
                <a:solidFill>
                  <a:srgbClr val="176B4D"/>
                </a:solidFill>
                <a:latin typeface="Malgun Gothic"/>
                <a:ea typeface="Malgun Gothic"/>
                <a:cs typeface="Malgun Gothic"/>
              </a:defRPr>
            </a:lvl4pPr>
            <a:lvl5pPr algn="l">
              <a:defRPr sz="1650" b="1">
                <a:solidFill>
                  <a:srgbClr val="176B4D"/>
                </a:solidFill>
                <a:latin typeface="Malgun Gothic"/>
                <a:ea typeface="Malgun Gothic"/>
                <a:cs typeface="Malgun Gothic"/>
              </a:defRPr>
            </a:lvl5pPr>
            <a:lvl6pPr algn="l">
              <a:defRPr sz="1650" b="1">
                <a:solidFill>
                  <a:srgbClr val="176B4D"/>
                </a:solidFill>
                <a:latin typeface="Malgun Gothic"/>
                <a:ea typeface="Malgun Gothic"/>
                <a:cs typeface="Malgun Gothic"/>
              </a:defRPr>
            </a:lvl6pPr>
            <a:lvl7pPr algn="l">
              <a:defRPr sz="1650" b="1">
                <a:solidFill>
                  <a:srgbClr val="176B4D"/>
                </a:solidFill>
                <a:latin typeface="Malgun Gothic"/>
                <a:ea typeface="Malgun Gothic"/>
                <a:cs typeface="Malgun Gothic"/>
              </a:defRPr>
            </a:lvl7pPr>
            <a:lvl8pPr algn="l">
              <a:defRPr sz="1650" b="1">
                <a:solidFill>
                  <a:srgbClr val="176B4D"/>
                </a:solidFill>
                <a:latin typeface="Malgun Gothic"/>
                <a:ea typeface="Malgun Gothic"/>
                <a:cs typeface="Malgun Gothic"/>
              </a:defRPr>
            </a:lvl8pPr>
            <a:lvl9pPr algn="l">
              <a:defRPr sz="1650" b="1">
                <a:solidFill>
                  <a:srgbClr val="176B4D"/>
                </a:solidFill>
                <a:latin typeface="Malgun Gothic"/>
                <a:ea typeface="Malgun Gothic"/>
                <a:cs typeface="Malgun Gothic"/>
              </a:defRPr>
            </a:lvl9pPr>
          </a:lstStyle>
          <a:p xmlns:a="http://schemas.openxmlformats.org/drawingml/2006/main">
            <a:pPr algn="l">
              <a:defRPr sz="1650" b="1">
                <a:solidFill>
                  <a:srgbClr val="176B4D"/>
                </a:solidFill>
                <a:latin typeface="Malgun Gothic"/>
                <a:ea typeface="Malgun Gothic"/>
                <a:cs typeface="Malgun Gothic"/>
              </a:defRPr>
            </a:pPr>
            <a:r>
              <a:rPr sz="1650" b="1">
                <a:solidFill>
                  <a:srgbClr val="176B4D"/>
                </a:solidFill>
                <a:latin typeface="Malgun Gothic"/>
                <a:ea typeface="Malgun Gothic"/>
                <a:cs typeface="Malgun Gothic"/>
              </a:rPr>
              <a:t>STATE-04-PERF</a:t>
            </a:r>
          </a:p>
        </p:txBody>
      </p:sp>
      <p:sp>
        <p:nvSpPr>
          <p:cNvPr id="27" name="검증된 제품 변경">
            <a:extLst xmlns:a="http://schemas.openxmlformats.org/drawingml/2006/main">
              <a:ext uri="{FF2B5EF4-FFF2-40B4-BE49-F238E27FC236}">
                <a16:creationId xmlns:a16="http://schemas.microsoft.com/office/drawing/2014/main" id="{CF1B267F-A880-488D-BF3B-61AD499EC559}"/>
              </a:ext>
            </a:extLst>
          </p:cNvPr>
          <p:cNvSpPr>
            <a:spLocks xmlns:a="http://schemas.openxmlformats.org/drawingml/2006/main" noGrp="1"/>
          </p:cNvSpPr>
          <p:nvPr/>
        </p:nvSpPr>
        <p:spPr>
          <a:xfrm xmlns:a="http://schemas.openxmlformats.org/drawingml/2006/main">
            <a:off x="6210300" y="4295775"/>
            <a:ext cx="2514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검증된 제품 변경</a:t>
            </a:r>
          </a:p>
        </p:txBody>
      </p:sp>
      <p:sp>
        <p:nvSpPr>
          <p:cNvPr id="28" name="각 변화의 출발점은, 그때 마주친 문제였다.">
            <a:extLst xmlns:a="http://schemas.openxmlformats.org/drawingml/2006/main">
              <a:ext uri="{FF2B5EF4-FFF2-40B4-BE49-F238E27FC236}">
                <a16:creationId xmlns:a16="http://schemas.microsoft.com/office/drawing/2014/main" id="{BFEAB8D5-4445-4293-BA7C-AF85A876D6E7}"/>
              </a:ext>
            </a:extLst>
          </p:cNvPr>
          <p:cNvSpPr>
            <a:spLocks xmlns:a="http://schemas.openxmlformats.org/drawingml/2006/main" noGrp="1"/>
          </p:cNvSpPr>
          <p:nvPr/>
        </p:nvSpPr>
        <p:spPr>
          <a:xfrm xmlns:a="http://schemas.openxmlformats.org/drawingml/2006/main">
            <a:off x="609600" y="53054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각 변화의 출발점은, 그때 마주친 문제였다.</a:t>
            </a:r>
          </a:p>
        </p:txBody>
      </p:sp>
    </p:spTree>
    <p:extLst>
      <p:ext uri="{BB962C8B-B14F-4D97-AF65-F5344CB8AC3E}">
        <p14:creationId xmlns:p14="http://schemas.microsoft.com/office/powerpoint/2010/main" val="331478780"/>
      </p:ext>
    </p:extLst>
  </p:cSld>
</p:sld>
</file>

<file path=ppt/slides/slide7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5 · 이번 Demo의 선택 기준">
            <a:extLst xmlns:a="http://schemas.openxmlformats.org/drawingml/2006/main">
              <a:ext uri="{FF2B5EF4-FFF2-40B4-BE49-F238E27FC236}">
                <a16:creationId xmlns:a16="http://schemas.microsoft.com/office/drawing/2014/main" id="{8BB9A574-D980-49B5-A4C8-34A0C3271A2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이번 Demo의 선택 기준</a:t>
            </a:r>
          </a:p>
        </p:txBody>
      </p:sp>
      <p:sp>
        <p:nvSpPr>
          <p:cNvPr id="2" name="S75">
            <a:extLst xmlns:a="http://schemas.openxmlformats.org/drawingml/2006/main">
              <a:ext uri="{FF2B5EF4-FFF2-40B4-BE49-F238E27FC236}">
                <a16:creationId xmlns:a16="http://schemas.microsoft.com/office/drawing/2014/main" id="{C1106EAC-5DDA-4916-BC52-2EA8B958593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필요성이 입증되지 않은 것은 보류했다">
            <a:extLst xmlns:a="http://schemas.openxmlformats.org/drawingml/2006/main">
              <a:ext uri="{FF2B5EF4-FFF2-40B4-BE49-F238E27FC236}">
                <a16:creationId xmlns:a16="http://schemas.microsoft.com/office/drawing/2014/main" id="{E08A5369-6367-45B2-8CE0-CA9DEBA1F16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필요성이 입증되지 않은 것은 보류했다</a:t>
            </a:r>
          </a:p>
        </p:txBody>
      </p:sp>
      <p:sp>
        <p:nvSpPr>
          <p:cNvPr id="4" name="">
            <a:extLst xmlns:a="http://schemas.openxmlformats.org/drawingml/2006/main">
              <a:ext uri="{FF2B5EF4-FFF2-40B4-BE49-F238E27FC236}">
                <a16:creationId xmlns:a16="http://schemas.microsoft.com/office/drawing/2014/main" id="{FE78F2F0-60B8-4B75-8132-54302B20998F}"/>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DEC-0018 · 이번 작업의 선택을 회고">
            <a:extLst xmlns:a="http://schemas.openxmlformats.org/drawingml/2006/main">
              <a:ext uri="{FF2B5EF4-FFF2-40B4-BE49-F238E27FC236}">
                <a16:creationId xmlns:a16="http://schemas.microsoft.com/office/drawing/2014/main" id="{7FC49C81-96BF-4CAC-8C79-133636544ABA}"/>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DEC-0018 · 이번 작업의 선택을 회고</a:t>
            </a:r>
          </a:p>
        </p:txBody>
      </p:sp>
      <p:sp>
        <p:nvSpPr>
          <p:cNvPr id="6" name="모든 프로젝트에서 Subagent·Memory가 불필요하거나 적을수록 좋다는 뜻은 아니다.">
            <a:extLst xmlns:a="http://schemas.openxmlformats.org/drawingml/2006/main">
              <a:ext uri="{FF2B5EF4-FFF2-40B4-BE49-F238E27FC236}">
                <a16:creationId xmlns:a16="http://schemas.microsoft.com/office/drawing/2014/main" id="{40D9BAC1-6F89-4499-9CB3-0B942B5B486C}"/>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프로젝트에서 Subagent·Memory가 불필요하거나 적을수록 좋다는 뜻은 아니다.</a:t>
            </a:r>
          </a:p>
        </p:txBody>
      </p:sp>
      <p:sp>
        <p:nvSpPr>
          <p:cNvPr id="7" name="이번 문제에 필요했던 것">
            <a:extLst xmlns:a="http://schemas.openxmlformats.org/drawingml/2006/main">
              <a:ext uri="{FF2B5EF4-FFF2-40B4-BE49-F238E27FC236}">
                <a16:creationId xmlns:a16="http://schemas.microsoft.com/office/drawing/2014/main" id="{FB774D0D-370D-48A4-B2E4-BDDC23113BC7}"/>
              </a:ext>
            </a:extLst>
          </p:cNvPr>
          <p:cNvSpPr>
            <a:spLocks xmlns:a="http://schemas.openxmlformats.org/drawingml/2006/main" noGrp="1"/>
          </p:cNvSpPr>
          <p:nvPr/>
        </p:nvSpPr>
        <p:spPr>
          <a:xfrm xmlns:a="http://schemas.openxmlformats.org/drawingml/2006/main">
            <a:off x="609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이번 문제에 필요했던 것</a:t>
            </a:r>
          </a:p>
        </p:txBody>
      </p:sp>
      <p:sp>
        <p:nvSpPr>
          <p:cNvPr id="8" name="이번에는 정당화하지 못한 것">
            <a:extLst xmlns:a="http://schemas.openxmlformats.org/drawingml/2006/main">
              <a:ext uri="{FF2B5EF4-FFF2-40B4-BE49-F238E27FC236}">
                <a16:creationId xmlns:a16="http://schemas.microsoft.com/office/drawing/2014/main" id="{AFAFA2D8-7DE6-4E1C-B81A-9D0574E6AB2A}"/>
              </a:ext>
            </a:extLst>
          </p:cNvPr>
          <p:cNvSpPr>
            <a:spLocks xmlns:a="http://schemas.openxmlformats.org/drawingml/2006/main" noGrp="1"/>
          </p:cNvSpPr>
          <p:nvPr/>
        </p:nvSpPr>
        <p:spPr>
          <a:xfrm xmlns:a="http://schemas.openxmlformats.org/drawingml/2006/main">
            <a:off x="6705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이번에는 정당화하지 못한 것</a:t>
            </a:r>
          </a:p>
        </p:txBody>
      </p:sp>
      <p:sp>
        <p:nvSpPr>
          <p:cNvPr id="9" name="">
            <a:extLst xmlns:a="http://schemas.openxmlformats.org/drawingml/2006/main">
              <a:ext uri="{FF2B5EF4-FFF2-40B4-BE49-F238E27FC236}">
                <a16:creationId xmlns:a16="http://schemas.microsoft.com/office/drawing/2014/main" id="{24192B06-A193-45AF-8E97-9C31F6F66D1F}"/>
              </a:ext>
            </a:extLst>
          </p:cNvPr>
          <p:cNvSpPr>
            <a:spLocks xmlns:a="http://schemas.openxmlformats.org/drawingml/2006/main" noGrp="1"/>
          </p:cNvSpPr>
          <p:nvPr/>
        </p:nvSpPr>
        <p:spPr>
          <a:xfrm xmlns:a="http://schemas.openxmlformats.org/drawingml/2006/main">
            <a:off x="609600" y="29527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109909EE-4526-44D2-8EC1-E52B067DBBE4}"/>
              </a:ext>
            </a:extLst>
          </p:cNvPr>
          <p:cNvSpPr>
            <a:spLocks xmlns:a="http://schemas.openxmlformats.org/drawingml/2006/main" noGrp="1"/>
          </p:cNvSpPr>
          <p:nvPr/>
        </p:nvSpPr>
        <p:spPr>
          <a:xfrm xmlns:a="http://schemas.openxmlformats.org/drawingml/2006/main">
            <a:off x="6705600" y="2952750"/>
            <a:ext cx="4876800" cy="0"/>
          </a:xfrm>
          <a:prstGeom xmlns:a="http://schemas.openxmlformats.org/drawingml/2006/main" prst="line">
            <a:avLst/>
          </a:prstGeom>
          <a:noFill xmlns:a="http://schemas.openxmlformats.org/drawingml/2006/main"/>
          <a:ln xmlns:a="http://schemas.openxmlformats.org/drawingml/2006/main" w="19050">
            <a:solidFill>
              <a:srgbClr val="805400"/>
            </a:solidFill>
            <a:prstDash val="solid"/>
          </a:ln>
        </p:spPr>
      </p:sp>
      <p:sp>
        <p:nvSpPr>
          <p:cNvPr id="11" name="Task Prompt&#10;Context와 Routing&#10;재사용 Workflow&#10;Tests와 Benchmark">
            <a:extLst xmlns:a="http://schemas.openxmlformats.org/drawingml/2006/main">
              <a:ext uri="{FF2B5EF4-FFF2-40B4-BE49-F238E27FC236}">
                <a16:creationId xmlns:a16="http://schemas.microsoft.com/office/drawing/2014/main" id="{4D62FDD5-3CE0-4278-86B6-5ECD6EC418C2}"/>
              </a:ext>
            </a:extLst>
          </p:cNvPr>
          <p:cNvSpPr>
            <a:spLocks xmlns:a="http://schemas.openxmlformats.org/drawingml/2006/main" noGrp="1"/>
          </p:cNvSpPr>
          <p:nvPr/>
        </p:nvSpPr>
        <p:spPr>
          <a:xfrm xmlns:a="http://schemas.openxmlformats.org/drawingml/2006/main">
            <a:off x="609600" y="3162300"/>
            <a:ext cx="4876800" cy="1704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 Prompt</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Context와 Routing</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재사용 Workflow</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Tests와 Benchmark</a:t>
            </a:r>
          </a:p>
        </p:txBody>
      </p:sp>
      <p:sp>
        <p:nvSpPr>
          <p:cNvPr id="12" name="Subagent&#10;Memory">
            <a:extLst xmlns:a="http://schemas.openxmlformats.org/drawingml/2006/main">
              <a:ext uri="{FF2B5EF4-FFF2-40B4-BE49-F238E27FC236}">
                <a16:creationId xmlns:a16="http://schemas.microsoft.com/office/drawing/2014/main" id="{F0B08FA9-6A39-4C15-8D71-59B94785B2B9}"/>
              </a:ext>
            </a:extLst>
          </p:cNvPr>
          <p:cNvSpPr>
            <a:spLocks xmlns:a="http://schemas.openxmlformats.org/drawingml/2006/main" noGrp="1"/>
          </p:cNvSpPr>
          <p:nvPr/>
        </p:nvSpPr>
        <p:spPr>
          <a:xfrm xmlns:a="http://schemas.openxmlformats.org/drawingml/2006/main">
            <a:off x="6705600" y="3314700"/>
            <a:ext cx="4876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1">
                <a:solidFill>
                  <a:srgbClr val="17212B"/>
                </a:solidFill>
                <a:latin typeface="Malgun Gothic"/>
                <a:ea typeface="Malgun Gothic"/>
                <a:cs typeface="Malgun Gothic"/>
              </a:defRPr>
            </a:defPPr>
            <a:lvl1pPr algn="l">
              <a:defRPr sz="2925" b="1">
                <a:solidFill>
                  <a:srgbClr val="17212B"/>
                </a:solidFill>
                <a:latin typeface="Malgun Gothic"/>
                <a:ea typeface="Malgun Gothic"/>
                <a:cs typeface="Malgun Gothic"/>
              </a:defRPr>
            </a:lvl1pPr>
            <a:lvl2pPr algn="l">
              <a:defRPr sz="2925" b="1">
                <a:solidFill>
                  <a:srgbClr val="17212B"/>
                </a:solidFill>
                <a:latin typeface="Malgun Gothic"/>
                <a:ea typeface="Malgun Gothic"/>
                <a:cs typeface="Malgun Gothic"/>
              </a:defRPr>
            </a:lvl2pPr>
            <a:lvl3pPr algn="l">
              <a:defRPr sz="2925" b="1">
                <a:solidFill>
                  <a:srgbClr val="17212B"/>
                </a:solidFill>
                <a:latin typeface="Malgun Gothic"/>
                <a:ea typeface="Malgun Gothic"/>
                <a:cs typeface="Malgun Gothic"/>
              </a:defRPr>
            </a:lvl3pPr>
            <a:lvl4pPr algn="l">
              <a:defRPr sz="2925" b="1">
                <a:solidFill>
                  <a:srgbClr val="17212B"/>
                </a:solidFill>
                <a:latin typeface="Malgun Gothic"/>
                <a:ea typeface="Malgun Gothic"/>
                <a:cs typeface="Malgun Gothic"/>
              </a:defRPr>
            </a:lvl4pPr>
            <a:lvl5pPr algn="l">
              <a:defRPr sz="2925" b="1">
                <a:solidFill>
                  <a:srgbClr val="17212B"/>
                </a:solidFill>
                <a:latin typeface="Malgun Gothic"/>
                <a:ea typeface="Malgun Gothic"/>
                <a:cs typeface="Malgun Gothic"/>
              </a:defRPr>
            </a:lvl5pPr>
            <a:lvl6pPr algn="l">
              <a:defRPr sz="2925" b="1">
                <a:solidFill>
                  <a:srgbClr val="17212B"/>
                </a:solidFill>
                <a:latin typeface="Malgun Gothic"/>
                <a:ea typeface="Malgun Gothic"/>
                <a:cs typeface="Malgun Gothic"/>
              </a:defRPr>
            </a:lvl6pPr>
            <a:lvl7pPr algn="l">
              <a:defRPr sz="2925" b="1">
                <a:solidFill>
                  <a:srgbClr val="17212B"/>
                </a:solidFill>
                <a:latin typeface="Malgun Gothic"/>
                <a:ea typeface="Malgun Gothic"/>
                <a:cs typeface="Malgun Gothic"/>
              </a:defRPr>
            </a:lvl7pPr>
            <a:lvl8pPr algn="l">
              <a:defRPr sz="2925" b="1">
                <a:solidFill>
                  <a:srgbClr val="17212B"/>
                </a:solidFill>
                <a:latin typeface="Malgun Gothic"/>
                <a:ea typeface="Malgun Gothic"/>
                <a:cs typeface="Malgun Gothic"/>
              </a:defRPr>
            </a:lvl8pPr>
            <a:lvl9pPr algn="l">
              <a:defRPr sz="2925" b="1">
                <a:solidFill>
                  <a:srgbClr val="17212B"/>
                </a:solidFill>
                <a:latin typeface="Malgun Gothic"/>
                <a:ea typeface="Malgun Gothic"/>
                <a:cs typeface="Malgun Gothic"/>
              </a:defRPr>
            </a:lvl9pPr>
          </a:lstStyle>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Subagent</a:t>
            </a:r>
          </a:p>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Memory</a:t>
            </a:r>
          </a:p>
        </p:txBody>
      </p:sp>
      <p:sp>
        <p:nvSpPr>
          <p:cNvPr id="13" name="현재 문제가 필요로 하는 만큼 설계한다.">
            <a:extLst xmlns:a="http://schemas.openxmlformats.org/drawingml/2006/main">
              <a:ext uri="{FF2B5EF4-FFF2-40B4-BE49-F238E27FC236}">
                <a16:creationId xmlns:a16="http://schemas.microsoft.com/office/drawing/2014/main" id="{328AA116-C365-454E-A42F-EA0E6FAB198A}"/>
              </a:ext>
            </a:extLst>
          </p:cNvPr>
          <p:cNvSpPr>
            <a:spLocks xmlns:a="http://schemas.openxmlformats.org/drawingml/2006/main" noGrp="1"/>
          </p:cNvSpPr>
          <p:nvPr/>
        </p:nvSpPr>
        <p:spPr>
          <a:xfrm xmlns:a="http://schemas.openxmlformats.org/drawingml/2006/main">
            <a:off x="609600" y="521970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현재 문제가 필요로 하는 만큼 설계한다.</a:t>
            </a:r>
          </a:p>
        </p:txBody>
      </p:sp>
    </p:spTree>
    <p:extLst>
      <p:ext uri="{BB962C8B-B14F-4D97-AF65-F5344CB8AC3E}">
        <p14:creationId xmlns:p14="http://schemas.microsoft.com/office/powerpoint/2010/main" val="2136605149"/>
      </p:ext>
    </p:extLst>
  </p:cSld>
</p:sld>
</file>

<file path=ppt/slides/slide7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5 · 개발자의 판단">
            <a:extLst xmlns:a="http://schemas.openxmlformats.org/drawingml/2006/main">
              <a:ext uri="{FF2B5EF4-FFF2-40B4-BE49-F238E27FC236}">
                <a16:creationId xmlns:a16="http://schemas.microsoft.com/office/drawing/2014/main" id="{F0548D90-6479-4228-90CD-E933C17F059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개발자의 판단</a:t>
            </a:r>
          </a:p>
        </p:txBody>
      </p:sp>
      <p:sp>
        <p:nvSpPr>
          <p:cNvPr id="2" name="S76">
            <a:extLst xmlns:a="http://schemas.openxmlformats.org/drawingml/2006/main">
              <a:ext uri="{FF2B5EF4-FFF2-40B4-BE49-F238E27FC236}">
                <a16:creationId xmlns:a16="http://schemas.microsoft.com/office/drawing/2014/main" id="{12618801-1B00-49F5-9C35-11BDA9A9828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위임이 늘어도 개발자 책임은 남는다">
            <a:extLst xmlns:a="http://schemas.openxmlformats.org/drawingml/2006/main">
              <a:ext uri="{FF2B5EF4-FFF2-40B4-BE49-F238E27FC236}">
                <a16:creationId xmlns:a16="http://schemas.microsoft.com/office/drawing/2014/main" id="{2CF88763-C293-48B7-8ADA-D4DA39B21A2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위임이 늘어도 개발자 책임은 남는다</a:t>
            </a:r>
          </a:p>
        </p:txBody>
      </p:sp>
      <p:sp>
        <p:nvSpPr>
          <p:cNvPr id="4" name="">
            <a:extLst xmlns:a="http://schemas.openxmlformats.org/drawingml/2006/main">
              <a:ext uri="{FF2B5EF4-FFF2-40B4-BE49-F238E27FC236}">
                <a16:creationId xmlns:a16="http://schemas.microsoft.com/office/drawing/2014/main" id="{E8C2527B-E8F6-4BFA-88E9-FC43265B7241}"/>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1–062 · 이 교육의 책임 원칙">
            <a:extLst xmlns:a="http://schemas.openxmlformats.org/drawingml/2006/main">
              <a:ext uri="{FF2B5EF4-FFF2-40B4-BE49-F238E27FC236}">
                <a16:creationId xmlns:a16="http://schemas.microsoft.com/office/drawing/2014/main" id="{FB0822FD-262D-4719-8ECD-8E10E79F3E8D}"/>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BEAT-061–062 · 이 교육의 책임 원칙</a:t>
            </a:r>
          </a:p>
        </p:txBody>
      </p:sp>
      <p:sp>
        <p:nvSpPr>
          <p:cNvPr id="6" name="Agent와 개발자의 역할을 고정된 분업표로 제시하는 것은 아니다.">
            <a:extLst xmlns:a="http://schemas.openxmlformats.org/drawingml/2006/main">
              <a:ext uri="{FF2B5EF4-FFF2-40B4-BE49-F238E27FC236}">
                <a16:creationId xmlns:a16="http://schemas.microsoft.com/office/drawing/2014/main" id="{350AADF8-411B-4E35-A82E-3EDB359A4F2C}"/>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Agent와 개발자의 역할을 고정된 분업표로 제시하는 것은 아니다.</a:t>
            </a:r>
          </a:p>
        </p:txBody>
      </p:sp>
      <p:sp>
        <p:nvSpPr>
          <p:cNvPr id="7" name="AI가 조사·생성·변경·실행·비교를 도와도">
            <a:extLst xmlns:a="http://schemas.openxmlformats.org/drawingml/2006/main">
              <a:ext uri="{FF2B5EF4-FFF2-40B4-BE49-F238E27FC236}">
                <a16:creationId xmlns:a16="http://schemas.microsoft.com/office/drawing/2014/main" id="{86D825C3-F2F3-4936-BF9D-767B61652038}"/>
              </a:ext>
            </a:extLst>
          </p:cNvPr>
          <p:cNvSpPr>
            <a:spLocks xmlns:a="http://schemas.openxmlformats.org/drawingml/2006/main" noGrp="1"/>
          </p:cNvSpPr>
          <p:nvPr/>
        </p:nvSpPr>
        <p:spPr>
          <a:xfrm xmlns:a="http://schemas.openxmlformats.org/drawingml/2006/main">
            <a:off x="609600" y="20955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0">
                <a:solidFill>
                  <a:srgbClr val="4D5A68"/>
                </a:solidFill>
                <a:latin typeface="Malgun Gothic"/>
                <a:ea typeface="Malgun Gothic"/>
                <a:cs typeface="Malgun Gothic"/>
              </a:defRPr>
            </a:defPPr>
            <a:lvl1pPr algn="l">
              <a:defRPr sz="2475" b="0">
                <a:solidFill>
                  <a:srgbClr val="4D5A68"/>
                </a:solidFill>
                <a:latin typeface="Malgun Gothic"/>
                <a:ea typeface="Malgun Gothic"/>
                <a:cs typeface="Malgun Gothic"/>
              </a:defRPr>
            </a:lvl1pPr>
            <a:lvl2pPr algn="l">
              <a:defRPr sz="2475" b="0">
                <a:solidFill>
                  <a:srgbClr val="4D5A68"/>
                </a:solidFill>
                <a:latin typeface="Malgun Gothic"/>
                <a:ea typeface="Malgun Gothic"/>
                <a:cs typeface="Malgun Gothic"/>
              </a:defRPr>
            </a:lvl2pPr>
            <a:lvl3pPr algn="l">
              <a:defRPr sz="2475" b="0">
                <a:solidFill>
                  <a:srgbClr val="4D5A68"/>
                </a:solidFill>
                <a:latin typeface="Malgun Gothic"/>
                <a:ea typeface="Malgun Gothic"/>
                <a:cs typeface="Malgun Gothic"/>
              </a:defRPr>
            </a:lvl3pPr>
            <a:lvl4pPr algn="l">
              <a:defRPr sz="2475" b="0">
                <a:solidFill>
                  <a:srgbClr val="4D5A68"/>
                </a:solidFill>
                <a:latin typeface="Malgun Gothic"/>
                <a:ea typeface="Malgun Gothic"/>
                <a:cs typeface="Malgun Gothic"/>
              </a:defRPr>
            </a:lvl4pPr>
            <a:lvl5pPr algn="l">
              <a:defRPr sz="2475" b="0">
                <a:solidFill>
                  <a:srgbClr val="4D5A68"/>
                </a:solidFill>
                <a:latin typeface="Malgun Gothic"/>
                <a:ea typeface="Malgun Gothic"/>
                <a:cs typeface="Malgun Gothic"/>
              </a:defRPr>
            </a:lvl5pPr>
            <a:lvl6pPr algn="l">
              <a:defRPr sz="2475" b="0">
                <a:solidFill>
                  <a:srgbClr val="4D5A68"/>
                </a:solidFill>
                <a:latin typeface="Malgun Gothic"/>
                <a:ea typeface="Malgun Gothic"/>
                <a:cs typeface="Malgun Gothic"/>
              </a:defRPr>
            </a:lvl6pPr>
            <a:lvl7pPr algn="l">
              <a:defRPr sz="2475" b="0">
                <a:solidFill>
                  <a:srgbClr val="4D5A68"/>
                </a:solidFill>
                <a:latin typeface="Malgun Gothic"/>
                <a:ea typeface="Malgun Gothic"/>
                <a:cs typeface="Malgun Gothic"/>
              </a:defRPr>
            </a:lvl7pPr>
            <a:lvl8pPr algn="l">
              <a:defRPr sz="2475" b="0">
                <a:solidFill>
                  <a:srgbClr val="4D5A68"/>
                </a:solidFill>
                <a:latin typeface="Malgun Gothic"/>
                <a:ea typeface="Malgun Gothic"/>
                <a:cs typeface="Malgun Gothic"/>
              </a:defRPr>
            </a:lvl8pPr>
            <a:lvl9pPr algn="l">
              <a:defRPr sz="2475" b="0">
                <a:solidFill>
                  <a:srgbClr val="4D5A68"/>
                </a:solidFill>
                <a:latin typeface="Malgun Gothic"/>
                <a:ea typeface="Malgun Gothic"/>
                <a:cs typeface="Malgun Gothic"/>
              </a:defRPr>
            </a:lvl9pPr>
          </a:lstStyle>
          <a:p xmlns:a="http://schemas.openxmlformats.org/drawingml/2006/main">
            <a:pPr algn="l">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AI가 조사·생성·변경·실행·비교를 도와도</a:t>
            </a:r>
          </a:p>
        </p:txBody>
      </p:sp>
      <p:sp>
        <p:nvSpPr>
          <p:cNvPr id="8" name="">
            <a:extLst xmlns:a="http://schemas.openxmlformats.org/drawingml/2006/main">
              <a:ext uri="{FF2B5EF4-FFF2-40B4-BE49-F238E27FC236}">
                <a16:creationId xmlns:a16="http://schemas.microsoft.com/office/drawing/2014/main" id="{AEE9B2DD-D509-4A2B-8DAE-D24B706DBE2A}"/>
              </a:ext>
            </a:extLst>
          </p:cNvPr>
          <p:cNvSpPr>
            <a:spLocks xmlns:a="http://schemas.openxmlformats.org/drawingml/2006/main" noGrp="1"/>
          </p:cNvSpPr>
          <p:nvPr/>
        </p:nvSpPr>
        <p:spPr>
          <a:xfrm xmlns:a="http://schemas.openxmlformats.org/drawingml/2006/main">
            <a:off x="609600" y="31623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목표">
            <a:extLst xmlns:a="http://schemas.openxmlformats.org/drawingml/2006/main">
              <a:ext uri="{FF2B5EF4-FFF2-40B4-BE49-F238E27FC236}">
                <a16:creationId xmlns:a16="http://schemas.microsoft.com/office/drawing/2014/main" id="{FF12BBC3-8173-447F-8CA8-8D576E61F5E6}"/>
              </a:ext>
            </a:extLst>
          </p:cNvPr>
          <p:cNvSpPr>
            <a:spLocks xmlns:a="http://schemas.openxmlformats.org/drawingml/2006/main" noGrp="1"/>
          </p:cNvSpPr>
          <p:nvPr/>
        </p:nvSpPr>
        <p:spPr>
          <a:xfrm xmlns:a="http://schemas.openxmlformats.org/drawingml/2006/main">
            <a:off x="609600" y="3371850"/>
            <a:ext cx="24955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목표</a:t>
            </a:r>
          </a:p>
        </p:txBody>
      </p:sp>
      <p:sp>
        <p:nvSpPr>
          <p:cNvPr id="10" name="무엇을 해결할까?">
            <a:extLst xmlns:a="http://schemas.openxmlformats.org/drawingml/2006/main">
              <a:ext uri="{FF2B5EF4-FFF2-40B4-BE49-F238E27FC236}">
                <a16:creationId xmlns:a16="http://schemas.microsoft.com/office/drawing/2014/main" id="{ED52A150-5223-4F91-9769-5EBFB69876FA}"/>
              </a:ext>
            </a:extLst>
          </p:cNvPr>
          <p:cNvSpPr>
            <a:spLocks xmlns:a="http://schemas.openxmlformats.org/drawingml/2006/main" noGrp="1"/>
          </p:cNvSpPr>
          <p:nvPr/>
        </p:nvSpPr>
        <p:spPr>
          <a:xfrm xmlns:a="http://schemas.openxmlformats.org/drawingml/2006/main">
            <a:off x="609600" y="4219575"/>
            <a:ext cx="24955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무엇을 해결할까?</a:t>
            </a:r>
          </a:p>
        </p:txBody>
      </p:sp>
      <p:sp>
        <p:nvSpPr>
          <p:cNvPr id="11" name="">
            <a:extLst xmlns:a="http://schemas.openxmlformats.org/drawingml/2006/main">
              <a:ext uri="{FF2B5EF4-FFF2-40B4-BE49-F238E27FC236}">
                <a16:creationId xmlns:a16="http://schemas.microsoft.com/office/drawing/2014/main" id="{E1F07190-7240-47CE-B280-FDA5C4C5243C}"/>
              </a:ext>
            </a:extLst>
          </p:cNvPr>
          <p:cNvSpPr>
            <a:spLocks xmlns:a="http://schemas.openxmlformats.org/drawingml/2006/main" noGrp="1"/>
          </p:cNvSpPr>
          <p:nvPr/>
        </p:nvSpPr>
        <p:spPr>
          <a:xfrm xmlns:a="http://schemas.openxmlformats.org/drawingml/2006/main">
            <a:off x="3409950" y="31623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판단">
            <a:extLst xmlns:a="http://schemas.openxmlformats.org/drawingml/2006/main">
              <a:ext uri="{FF2B5EF4-FFF2-40B4-BE49-F238E27FC236}">
                <a16:creationId xmlns:a16="http://schemas.microsoft.com/office/drawing/2014/main" id="{92DE96FA-EAD4-484A-944E-E111BF6377D2}"/>
              </a:ext>
            </a:extLst>
          </p:cNvPr>
          <p:cNvSpPr>
            <a:spLocks xmlns:a="http://schemas.openxmlformats.org/drawingml/2006/main" noGrp="1"/>
          </p:cNvSpPr>
          <p:nvPr/>
        </p:nvSpPr>
        <p:spPr>
          <a:xfrm xmlns:a="http://schemas.openxmlformats.org/drawingml/2006/main">
            <a:off x="3409950" y="3371850"/>
            <a:ext cx="24955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판단</a:t>
            </a:r>
          </a:p>
        </p:txBody>
      </p:sp>
      <p:sp>
        <p:nvSpPr>
          <p:cNvPr id="13" name="어떤 선택이 적절할까?">
            <a:extLst xmlns:a="http://schemas.openxmlformats.org/drawingml/2006/main">
              <a:ext uri="{FF2B5EF4-FFF2-40B4-BE49-F238E27FC236}">
                <a16:creationId xmlns:a16="http://schemas.microsoft.com/office/drawing/2014/main" id="{2EFA74F3-1CDE-4973-81B6-A607558BB2E7}"/>
              </a:ext>
            </a:extLst>
          </p:cNvPr>
          <p:cNvSpPr>
            <a:spLocks xmlns:a="http://schemas.openxmlformats.org/drawingml/2006/main" noGrp="1"/>
          </p:cNvSpPr>
          <p:nvPr/>
        </p:nvSpPr>
        <p:spPr>
          <a:xfrm xmlns:a="http://schemas.openxmlformats.org/drawingml/2006/main">
            <a:off x="3409950" y="4219575"/>
            <a:ext cx="24955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어떤 선택이 적절할까?</a:t>
            </a:r>
          </a:p>
        </p:txBody>
      </p:sp>
      <p:sp>
        <p:nvSpPr>
          <p:cNvPr id="14" name="">
            <a:extLst xmlns:a="http://schemas.openxmlformats.org/drawingml/2006/main">
              <a:ext uri="{FF2B5EF4-FFF2-40B4-BE49-F238E27FC236}">
                <a16:creationId xmlns:a16="http://schemas.microsoft.com/office/drawing/2014/main" id="{432F06E3-AB22-477B-B716-8C05DF53D651}"/>
              </a:ext>
            </a:extLst>
          </p:cNvPr>
          <p:cNvSpPr>
            <a:spLocks xmlns:a="http://schemas.openxmlformats.org/drawingml/2006/main" noGrp="1"/>
          </p:cNvSpPr>
          <p:nvPr/>
        </p:nvSpPr>
        <p:spPr>
          <a:xfrm xmlns:a="http://schemas.openxmlformats.org/drawingml/2006/main">
            <a:off x="6210300" y="31623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검증">
            <a:extLst xmlns:a="http://schemas.openxmlformats.org/drawingml/2006/main">
              <a:ext uri="{FF2B5EF4-FFF2-40B4-BE49-F238E27FC236}">
                <a16:creationId xmlns:a16="http://schemas.microsoft.com/office/drawing/2014/main" id="{95DC5179-08E9-4FBA-AAEE-ABD8106CFBFA}"/>
              </a:ext>
            </a:extLst>
          </p:cNvPr>
          <p:cNvSpPr>
            <a:spLocks xmlns:a="http://schemas.openxmlformats.org/drawingml/2006/main" noGrp="1"/>
          </p:cNvSpPr>
          <p:nvPr/>
        </p:nvSpPr>
        <p:spPr>
          <a:xfrm xmlns:a="http://schemas.openxmlformats.org/drawingml/2006/main">
            <a:off x="6210300" y="3371850"/>
            <a:ext cx="24955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검증</a:t>
            </a:r>
          </a:p>
        </p:txBody>
      </p:sp>
      <p:sp>
        <p:nvSpPr>
          <p:cNvPr id="16" name="무엇으로 확인할까?">
            <a:extLst xmlns:a="http://schemas.openxmlformats.org/drawingml/2006/main">
              <a:ext uri="{FF2B5EF4-FFF2-40B4-BE49-F238E27FC236}">
                <a16:creationId xmlns:a16="http://schemas.microsoft.com/office/drawing/2014/main" id="{6AB795BC-D6A7-4694-B969-2B3C42CDFD71}"/>
              </a:ext>
            </a:extLst>
          </p:cNvPr>
          <p:cNvSpPr>
            <a:spLocks xmlns:a="http://schemas.openxmlformats.org/drawingml/2006/main" noGrp="1"/>
          </p:cNvSpPr>
          <p:nvPr/>
        </p:nvSpPr>
        <p:spPr>
          <a:xfrm xmlns:a="http://schemas.openxmlformats.org/drawingml/2006/main">
            <a:off x="6210300" y="4219575"/>
            <a:ext cx="24955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무엇으로 확인할까?</a:t>
            </a:r>
          </a:p>
        </p:txBody>
      </p:sp>
      <p:sp>
        <p:nvSpPr>
          <p:cNvPr id="17" name="">
            <a:extLst xmlns:a="http://schemas.openxmlformats.org/drawingml/2006/main">
              <a:ext uri="{FF2B5EF4-FFF2-40B4-BE49-F238E27FC236}">
                <a16:creationId xmlns:a16="http://schemas.microsoft.com/office/drawing/2014/main" id="{A427C0AB-1CA8-441B-9BB4-8FCC93B6235E}"/>
              </a:ext>
            </a:extLst>
          </p:cNvPr>
          <p:cNvSpPr>
            <a:spLocks xmlns:a="http://schemas.openxmlformats.org/drawingml/2006/main" noGrp="1"/>
          </p:cNvSpPr>
          <p:nvPr/>
        </p:nvSpPr>
        <p:spPr>
          <a:xfrm xmlns:a="http://schemas.openxmlformats.org/drawingml/2006/main">
            <a:off x="9010650" y="31623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8" name="책임">
            <a:extLst xmlns:a="http://schemas.openxmlformats.org/drawingml/2006/main">
              <a:ext uri="{FF2B5EF4-FFF2-40B4-BE49-F238E27FC236}">
                <a16:creationId xmlns:a16="http://schemas.microsoft.com/office/drawing/2014/main" id="{B9F034A3-4598-4621-8616-3A38232A81BF}"/>
              </a:ext>
            </a:extLst>
          </p:cNvPr>
          <p:cNvSpPr>
            <a:spLocks xmlns:a="http://schemas.openxmlformats.org/drawingml/2006/main" noGrp="1"/>
          </p:cNvSpPr>
          <p:nvPr/>
        </p:nvSpPr>
        <p:spPr>
          <a:xfrm xmlns:a="http://schemas.openxmlformats.org/drawingml/2006/main">
            <a:off x="9010650" y="3371850"/>
            <a:ext cx="24955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책임</a:t>
            </a:r>
          </a:p>
        </p:txBody>
      </p:sp>
      <p:sp>
        <p:nvSpPr>
          <p:cNvPr id="19" name="완료를 수용해도 될까?">
            <a:extLst xmlns:a="http://schemas.openxmlformats.org/drawingml/2006/main">
              <a:ext uri="{FF2B5EF4-FFF2-40B4-BE49-F238E27FC236}">
                <a16:creationId xmlns:a16="http://schemas.microsoft.com/office/drawing/2014/main" id="{D6C68396-E446-4101-B449-8CBDF27589EE}"/>
              </a:ext>
            </a:extLst>
          </p:cNvPr>
          <p:cNvSpPr>
            <a:spLocks xmlns:a="http://schemas.openxmlformats.org/drawingml/2006/main" noGrp="1"/>
          </p:cNvSpPr>
          <p:nvPr/>
        </p:nvSpPr>
        <p:spPr>
          <a:xfrm xmlns:a="http://schemas.openxmlformats.org/drawingml/2006/main">
            <a:off x="9010650" y="4219575"/>
            <a:ext cx="24955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완료를 수용해도 될까?</a:t>
            </a:r>
          </a:p>
        </p:txBody>
      </p:sp>
      <p:sp>
        <p:nvSpPr>
          <p:cNvPr id="20" name="결과를 받는 일에는, 결과를 판단하는 책임이 함께 남는다.">
            <a:extLst xmlns:a="http://schemas.openxmlformats.org/drawingml/2006/main">
              <a:ext uri="{FF2B5EF4-FFF2-40B4-BE49-F238E27FC236}">
                <a16:creationId xmlns:a16="http://schemas.microsoft.com/office/drawing/2014/main" id="{50A7F861-F71A-4A91-9B5B-8B05E32BD9DC}"/>
              </a:ext>
            </a:extLst>
          </p:cNvPr>
          <p:cNvSpPr>
            <a:spLocks xmlns:a="http://schemas.openxmlformats.org/drawingml/2006/main" noGrp="1"/>
          </p:cNvSpPr>
          <p:nvPr/>
        </p:nvSpPr>
        <p:spPr>
          <a:xfrm xmlns:a="http://schemas.openxmlformats.org/drawingml/2006/main">
            <a:off x="609600" y="52768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결과를 받는 일에는, 결과를 판단하는 책임이 함께 남는다.</a:t>
            </a:r>
          </a:p>
        </p:txBody>
      </p:sp>
    </p:spTree>
    <p:extLst>
      <p:ext uri="{BB962C8B-B14F-4D97-AF65-F5344CB8AC3E}">
        <p14:creationId xmlns:p14="http://schemas.microsoft.com/office/powerpoint/2010/main" val="1180018517"/>
      </p:ext>
    </p:extLst>
  </p:cSld>
</p:sld>
</file>

<file path=ppt/slides/slide7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5 · 일하는 환경을 설계한다">
            <a:extLst xmlns:a="http://schemas.openxmlformats.org/drawingml/2006/main">
              <a:ext uri="{FF2B5EF4-FFF2-40B4-BE49-F238E27FC236}">
                <a16:creationId xmlns:a16="http://schemas.microsoft.com/office/drawing/2014/main" id="{4B10AD3A-6114-4613-AD30-70D05383177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일하는 환경을 설계한다</a:t>
            </a:r>
          </a:p>
        </p:txBody>
      </p:sp>
      <p:sp>
        <p:nvSpPr>
          <p:cNvPr id="2" name="S77">
            <a:extLst xmlns:a="http://schemas.openxmlformats.org/drawingml/2006/main">
              <a:ext uri="{FF2B5EF4-FFF2-40B4-BE49-F238E27FC236}">
                <a16:creationId xmlns:a16="http://schemas.microsoft.com/office/drawing/2014/main" id="{C827C9E0-E104-4F0B-BBDD-3EC5209D0ED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AI-Native Development는&#10;이 교육의 운영 모델">
            <a:extLst xmlns:a="http://schemas.openxmlformats.org/drawingml/2006/main">
              <a:ext uri="{FF2B5EF4-FFF2-40B4-BE49-F238E27FC236}">
                <a16:creationId xmlns:a16="http://schemas.microsoft.com/office/drawing/2014/main" id="{D5C439C3-0A59-4FD9-BA49-3585F99BA462}"/>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AI-Native Development는</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 교육의 운영 모델</a:t>
            </a:r>
          </a:p>
        </p:txBody>
      </p:sp>
      <p:sp>
        <p:nvSpPr>
          <p:cNvPr id="4" name="">
            <a:extLst xmlns:a="http://schemas.openxmlformats.org/drawingml/2006/main">
              <a:ext uri="{FF2B5EF4-FFF2-40B4-BE49-F238E27FC236}">
                <a16:creationId xmlns:a16="http://schemas.microsoft.com/office/drawing/2014/main" id="{69C5EE51-D4B7-41EF-A8F0-A29F31C8F7BB}"/>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과정에서 사용하는 운영 모델">
            <a:extLst xmlns:a="http://schemas.openxmlformats.org/drawingml/2006/main">
              <a:ext uri="{FF2B5EF4-FFF2-40B4-BE49-F238E27FC236}">
                <a16:creationId xmlns:a16="http://schemas.microsoft.com/office/drawing/2014/main" id="{0DADF6B8-AE8D-4220-B293-043D3BDB6CDC}"/>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과정에서 사용하는 운영 모델</a:t>
            </a:r>
          </a:p>
        </p:txBody>
      </p:sp>
      <p:sp>
        <p:nvSpPr>
          <p:cNvPr id="6" name="공식·보편 정의가 아니며, 모든 Task에 모든 구성요소를 넣으라는 뜻은 아니다.">
            <a:extLst xmlns:a="http://schemas.openxmlformats.org/drawingml/2006/main">
              <a:ext uri="{FF2B5EF4-FFF2-40B4-BE49-F238E27FC236}">
                <a16:creationId xmlns:a16="http://schemas.microsoft.com/office/drawing/2014/main" id="{A3B49E27-5659-42E3-B05A-AE364CF1B0D4}"/>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공식·보편 정의가 아니며, 모든 Task에 모든 구성요소를 넣으라는 뜻은 아니다.</a:t>
            </a:r>
          </a:p>
        </p:txBody>
      </p:sp>
      <p:sp>
        <p:nvSpPr>
          <p:cNvPr id="7" name="AI가 일할 조건과, 결과를 확인할 경로를 설계한다.">
            <a:extLst xmlns:a="http://schemas.openxmlformats.org/drawingml/2006/main">
              <a:ext uri="{FF2B5EF4-FFF2-40B4-BE49-F238E27FC236}">
                <a16:creationId xmlns:a16="http://schemas.microsoft.com/office/drawing/2014/main" id="{3F7119AD-6C86-4A17-9CCD-8C10318FD013}"/>
              </a:ext>
            </a:extLst>
          </p:cNvPr>
          <p:cNvSpPr>
            <a:spLocks xmlns:a="http://schemas.openxmlformats.org/drawingml/2006/main" noGrp="1"/>
          </p:cNvSpPr>
          <p:nvPr/>
        </p:nvSpPr>
        <p:spPr>
          <a:xfrm xmlns:a="http://schemas.openxmlformats.org/drawingml/2006/main">
            <a:off x="609600" y="21621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AI가 일할 조건과, 결과를 확인할 경로를 설계한다.</a:t>
            </a:r>
          </a:p>
        </p:txBody>
      </p:sp>
      <p:sp>
        <p:nvSpPr>
          <p:cNvPr id="8" name="">
            <a:extLst xmlns:a="http://schemas.openxmlformats.org/drawingml/2006/main">
              <a:ext uri="{FF2B5EF4-FFF2-40B4-BE49-F238E27FC236}">
                <a16:creationId xmlns:a16="http://schemas.microsoft.com/office/drawing/2014/main" id="{A742CA1C-F836-43C7-95DC-539ED08D8A6A}"/>
              </a:ext>
            </a:extLst>
          </p:cNvPr>
          <p:cNvSpPr>
            <a:spLocks xmlns:a="http://schemas.openxmlformats.org/drawingml/2006/main" noGrp="1"/>
          </p:cNvSpPr>
          <p:nvPr/>
        </p:nvSpPr>
        <p:spPr>
          <a:xfrm xmlns:a="http://schemas.openxmlformats.org/drawingml/2006/main">
            <a:off x="609600" y="30670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작업 경계">
            <a:extLst xmlns:a="http://schemas.openxmlformats.org/drawingml/2006/main">
              <a:ext uri="{FF2B5EF4-FFF2-40B4-BE49-F238E27FC236}">
                <a16:creationId xmlns:a16="http://schemas.microsoft.com/office/drawing/2014/main" id="{40483E9A-889D-4408-9CA4-95851CA2547F}"/>
              </a:ext>
            </a:extLst>
          </p:cNvPr>
          <p:cNvSpPr>
            <a:spLocks xmlns:a="http://schemas.openxmlformats.org/drawingml/2006/main" noGrp="1"/>
          </p:cNvSpPr>
          <p:nvPr/>
        </p:nvSpPr>
        <p:spPr>
          <a:xfrm xmlns:a="http://schemas.openxmlformats.org/drawingml/2006/main">
            <a:off x="609600" y="3181350"/>
            <a:ext cx="305752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작업 경계</a:t>
            </a:r>
          </a:p>
        </p:txBody>
      </p:sp>
      <p:sp>
        <p:nvSpPr>
          <p:cNvPr id="10" name="무엇을 맡기고 어디까지 바꿀까?">
            <a:extLst xmlns:a="http://schemas.openxmlformats.org/drawingml/2006/main">
              <a:ext uri="{FF2B5EF4-FFF2-40B4-BE49-F238E27FC236}">
                <a16:creationId xmlns:a16="http://schemas.microsoft.com/office/drawing/2014/main" id="{E74ACB46-1267-4671-BC9D-12FB0D11D38F}"/>
              </a:ext>
            </a:extLst>
          </p:cNvPr>
          <p:cNvSpPr>
            <a:spLocks xmlns:a="http://schemas.openxmlformats.org/drawingml/2006/main" noGrp="1"/>
          </p:cNvSpPr>
          <p:nvPr/>
        </p:nvSpPr>
        <p:spPr>
          <a:xfrm xmlns:a="http://schemas.openxmlformats.org/drawingml/2006/main">
            <a:off x="3895725" y="3181350"/>
            <a:ext cx="76866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무엇을 맡기고 어디까지 바꿀까?</a:t>
            </a:r>
          </a:p>
        </p:txBody>
      </p:sp>
      <p:sp>
        <p:nvSpPr>
          <p:cNvPr id="11" name="">
            <a:extLst xmlns:a="http://schemas.openxmlformats.org/drawingml/2006/main">
              <a:ext uri="{FF2B5EF4-FFF2-40B4-BE49-F238E27FC236}">
                <a16:creationId xmlns:a16="http://schemas.microsoft.com/office/drawing/2014/main" id="{8BF9FA7F-A90F-4946-84C8-81544D265CC3}"/>
              </a:ext>
            </a:extLst>
          </p:cNvPr>
          <p:cNvSpPr>
            <a:spLocks xmlns:a="http://schemas.openxmlformats.org/drawingml/2006/main" noGrp="1"/>
          </p:cNvSpPr>
          <p:nvPr/>
        </p:nvSpPr>
        <p:spPr>
          <a:xfrm xmlns:a="http://schemas.openxmlformats.org/drawingml/2006/main">
            <a:off x="609600" y="38100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지식 · 절차">
            <a:extLst xmlns:a="http://schemas.openxmlformats.org/drawingml/2006/main">
              <a:ext uri="{FF2B5EF4-FFF2-40B4-BE49-F238E27FC236}">
                <a16:creationId xmlns:a16="http://schemas.microsoft.com/office/drawing/2014/main" id="{9FC6473D-C570-47D4-8867-9A5D4E96A409}"/>
              </a:ext>
            </a:extLst>
          </p:cNvPr>
          <p:cNvSpPr>
            <a:spLocks xmlns:a="http://schemas.openxmlformats.org/drawingml/2006/main" noGrp="1"/>
          </p:cNvSpPr>
          <p:nvPr/>
        </p:nvSpPr>
        <p:spPr>
          <a:xfrm xmlns:a="http://schemas.openxmlformats.org/drawingml/2006/main">
            <a:off x="609600" y="3924300"/>
            <a:ext cx="305752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지식 · 절차</a:t>
            </a:r>
          </a:p>
        </p:txBody>
      </p:sp>
      <p:sp>
        <p:nvSpPr>
          <p:cNvPr id="13" name="무엇을 알고, 어떤 방식으로 일할까?">
            <a:extLst xmlns:a="http://schemas.openxmlformats.org/drawingml/2006/main">
              <a:ext uri="{FF2B5EF4-FFF2-40B4-BE49-F238E27FC236}">
                <a16:creationId xmlns:a16="http://schemas.microsoft.com/office/drawing/2014/main" id="{7D3EB229-90D3-4B38-99EB-2F4C7E4F6E5E}"/>
              </a:ext>
            </a:extLst>
          </p:cNvPr>
          <p:cNvSpPr>
            <a:spLocks xmlns:a="http://schemas.openxmlformats.org/drawingml/2006/main" noGrp="1"/>
          </p:cNvSpPr>
          <p:nvPr/>
        </p:nvSpPr>
        <p:spPr>
          <a:xfrm xmlns:a="http://schemas.openxmlformats.org/drawingml/2006/main">
            <a:off x="3895725" y="3924300"/>
            <a:ext cx="76866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무엇을 알고, 어떤 방식으로 일할까?</a:t>
            </a:r>
          </a:p>
        </p:txBody>
      </p:sp>
      <p:sp>
        <p:nvSpPr>
          <p:cNvPr id="14" name="">
            <a:extLst xmlns:a="http://schemas.openxmlformats.org/drawingml/2006/main">
              <a:ext uri="{FF2B5EF4-FFF2-40B4-BE49-F238E27FC236}">
                <a16:creationId xmlns:a16="http://schemas.microsoft.com/office/drawing/2014/main" id="{5B6D6BF4-80EB-412E-819F-DAEAED190235}"/>
              </a:ext>
            </a:extLst>
          </p:cNvPr>
          <p:cNvSpPr>
            <a:spLocks xmlns:a="http://schemas.openxmlformats.org/drawingml/2006/main" noGrp="1"/>
          </p:cNvSpPr>
          <p:nvPr/>
        </p:nvSpPr>
        <p:spPr>
          <a:xfrm xmlns:a="http://schemas.openxmlformats.org/drawingml/2006/main">
            <a:off x="609600" y="4552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검증 · 피드백">
            <a:extLst xmlns:a="http://schemas.openxmlformats.org/drawingml/2006/main">
              <a:ext uri="{FF2B5EF4-FFF2-40B4-BE49-F238E27FC236}">
                <a16:creationId xmlns:a16="http://schemas.microsoft.com/office/drawing/2014/main" id="{C0D4287A-012B-4D34-9050-C7F120EC9554}"/>
              </a:ext>
            </a:extLst>
          </p:cNvPr>
          <p:cNvSpPr>
            <a:spLocks xmlns:a="http://schemas.openxmlformats.org/drawingml/2006/main" noGrp="1"/>
          </p:cNvSpPr>
          <p:nvPr/>
        </p:nvSpPr>
        <p:spPr>
          <a:xfrm xmlns:a="http://schemas.openxmlformats.org/drawingml/2006/main">
            <a:off x="609600" y="4667250"/>
            <a:ext cx="305752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검증 · 피드백</a:t>
            </a:r>
          </a:p>
        </p:txBody>
      </p:sp>
      <p:sp>
        <p:nvSpPr>
          <p:cNvPr id="16" name="어떻게 확인하고 다음 작업을 바꿀까?">
            <a:extLst xmlns:a="http://schemas.openxmlformats.org/drawingml/2006/main">
              <a:ext uri="{FF2B5EF4-FFF2-40B4-BE49-F238E27FC236}">
                <a16:creationId xmlns:a16="http://schemas.microsoft.com/office/drawing/2014/main" id="{60D26D53-F3F5-4BC1-BB6C-4D7974715195}"/>
              </a:ext>
            </a:extLst>
          </p:cNvPr>
          <p:cNvSpPr>
            <a:spLocks xmlns:a="http://schemas.openxmlformats.org/drawingml/2006/main" noGrp="1"/>
          </p:cNvSpPr>
          <p:nvPr/>
        </p:nvSpPr>
        <p:spPr>
          <a:xfrm xmlns:a="http://schemas.openxmlformats.org/drawingml/2006/main">
            <a:off x="3895725" y="4667250"/>
            <a:ext cx="76866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어떻게 확인하고 다음 작업을 바꿀까?</a:t>
            </a:r>
          </a:p>
        </p:txBody>
      </p:sp>
    </p:spTree>
    <p:extLst>
      <p:ext uri="{BB962C8B-B14F-4D97-AF65-F5344CB8AC3E}">
        <p14:creationId xmlns:p14="http://schemas.microsoft.com/office/powerpoint/2010/main" val="2035951999"/>
      </p:ext>
    </p:extLst>
  </p:cSld>
</p:sld>
</file>

<file path=ppt/slides/slide7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5 · C++ VISION / 내 업무로 연결">
            <a:extLst xmlns:a="http://schemas.openxmlformats.org/drawingml/2006/main">
              <a:ext uri="{FF2B5EF4-FFF2-40B4-BE49-F238E27FC236}">
                <a16:creationId xmlns:a16="http://schemas.microsoft.com/office/drawing/2014/main" id="{746748E1-6B75-4060-A5FA-B96A2BE8DB9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내 업무로 연결</a:t>
            </a:r>
          </a:p>
        </p:txBody>
      </p:sp>
      <p:sp>
        <p:nvSpPr>
          <p:cNvPr id="2" name="S78">
            <a:extLst xmlns:a="http://schemas.openxmlformats.org/drawingml/2006/main">
              <a:ext uri="{FF2B5EF4-FFF2-40B4-BE49-F238E27FC236}">
                <a16:creationId xmlns:a16="http://schemas.microsoft.com/office/drawing/2014/main" id="{0590FC32-0948-4805-9655-5D5D5ED63E8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어느 Layer에서 마찰이 반복되는가?">
            <a:extLst xmlns:a="http://schemas.openxmlformats.org/drawingml/2006/main">
              <a:ext uri="{FF2B5EF4-FFF2-40B4-BE49-F238E27FC236}">
                <a16:creationId xmlns:a16="http://schemas.microsoft.com/office/drawing/2014/main" id="{1FDFAF5F-15F9-456B-952A-6FDD99C50B2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어느 Layer에서 마찰이 반복되는가?</a:t>
            </a:r>
          </a:p>
        </p:txBody>
      </p:sp>
      <p:sp>
        <p:nvSpPr>
          <p:cNvPr id="4" name="">
            <a:extLst xmlns:a="http://schemas.openxmlformats.org/drawingml/2006/main">
              <a:ext uri="{FF2B5EF4-FFF2-40B4-BE49-F238E27FC236}">
                <a16:creationId xmlns:a16="http://schemas.microsoft.com/office/drawing/2014/main" id="{CD338EFA-AC67-4A2F-B112-81C4BA4AD800}"/>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2CF0B50C-B558-4668-BF47-E1BCE3485C32}"/>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같은 수준의 선택지다. 특정 C++ 프로젝트에서 검증된 절차나 필수 도입 순서가 아니다.">
            <a:extLst xmlns:a="http://schemas.openxmlformats.org/drawingml/2006/main">
              <a:ext uri="{FF2B5EF4-FFF2-40B4-BE49-F238E27FC236}">
                <a16:creationId xmlns:a16="http://schemas.microsoft.com/office/drawing/2014/main" id="{4407018B-BCFC-4864-9F10-255B176CA405}"/>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같은 수준의 선택지다. 특정 C++ 프로젝트에서 검증된 절차나 필수 도입 순서가 아니다.</a:t>
            </a:r>
          </a:p>
        </p:txBody>
      </p:sp>
      <p:sp>
        <p:nvSpPr>
          <p:cNvPr id="7" name="">
            <a:extLst xmlns:a="http://schemas.openxmlformats.org/drawingml/2006/main">
              <a:ext uri="{FF2B5EF4-FFF2-40B4-BE49-F238E27FC236}">
                <a16:creationId xmlns:a16="http://schemas.microsoft.com/office/drawing/2014/main" id="{27675E65-E971-4F5A-9F39-366C250DC4D8}"/>
              </a:ext>
            </a:extLst>
          </p:cNvPr>
          <p:cNvSpPr>
            <a:spLocks xmlns:a="http://schemas.openxmlformats.org/drawingml/2006/main" noGrp="1"/>
          </p:cNvSpPr>
          <p:nvPr/>
        </p:nvSpPr>
        <p:spPr>
          <a:xfrm xmlns:a="http://schemas.openxmlformats.org/drawingml/2006/main">
            <a:off x="609600" y="21621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Task">
            <a:extLst xmlns:a="http://schemas.openxmlformats.org/drawingml/2006/main">
              <a:ext uri="{FF2B5EF4-FFF2-40B4-BE49-F238E27FC236}">
                <a16:creationId xmlns:a16="http://schemas.microsoft.com/office/drawing/2014/main" id="{22D25F23-5A48-4E30-BA32-FDADB90FED60}"/>
              </a:ext>
            </a:extLst>
          </p:cNvPr>
          <p:cNvSpPr>
            <a:spLocks xmlns:a="http://schemas.openxmlformats.org/drawingml/2006/main" noGrp="1"/>
          </p:cNvSpPr>
          <p:nvPr/>
        </p:nvSpPr>
        <p:spPr>
          <a:xfrm xmlns:a="http://schemas.openxmlformats.org/drawingml/2006/main">
            <a:off x="609600" y="2238375"/>
            <a:ext cx="28575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a:t>
            </a:r>
          </a:p>
        </p:txBody>
      </p:sp>
      <p:sp>
        <p:nvSpPr>
          <p:cNvPr id="9" name="조사할 성능 병목의 범위가 흐리다">
            <a:extLst xmlns:a="http://schemas.openxmlformats.org/drawingml/2006/main">
              <a:ext uri="{FF2B5EF4-FFF2-40B4-BE49-F238E27FC236}">
                <a16:creationId xmlns:a16="http://schemas.microsoft.com/office/drawing/2014/main" id="{C90FD6EF-A753-42F6-8289-7A750F1C0F95}"/>
              </a:ext>
            </a:extLst>
          </p:cNvPr>
          <p:cNvSpPr>
            <a:spLocks xmlns:a="http://schemas.openxmlformats.org/drawingml/2006/main" noGrp="1"/>
          </p:cNvSpPr>
          <p:nvPr/>
        </p:nvSpPr>
        <p:spPr>
          <a:xfrm xmlns:a="http://schemas.openxmlformats.org/drawingml/2006/main">
            <a:off x="3619500" y="2238375"/>
            <a:ext cx="79629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조사할 성능 병목의 범위가 흐리다</a:t>
            </a:r>
          </a:p>
        </p:txBody>
      </p:sp>
      <p:sp>
        <p:nvSpPr>
          <p:cNvPr id="10" name="">
            <a:extLst xmlns:a="http://schemas.openxmlformats.org/drawingml/2006/main">
              <a:ext uri="{FF2B5EF4-FFF2-40B4-BE49-F238E27FC236}">
                <a16:creationId xmlns:a16="http://schemas.microsoft.com/office/drawing/2014/main" id="{BFF19B1C-77BF-4181-9703-94ACF8C24BE0}"/>
              </a:ext>
            </a:extLst>
          </p:cNvPr>
          <p:cNvSpPr>
            <a:spLocks xmlns:a="http://schemas.openxmlformats.org/drawingml/2006/main" noGrp="1"/>
          </p:cNvSpPr>
          <p:nvPr/>
        </p:nvSpPr>
        <p:spPr>
          <a:xfrm xmlns:a="http://schemas.openxmlformats.org/drawingml/2006/main">
            <a:off x="609600" y="28003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ontext">
            <a:extLst xmlns:a="http://schemas.openxmlformats.org/drawingml/2006/main">
              <a:ext uri="{FF2B5EF4-FFF2-40B4-BE49-F238E27FC236}">
                <a16:creationId xmlns:a16="http://schemas.microsoft.com/office/drawing/2014/main" id="{D33852F2-2B9B-45C6-BE40-96C785809DDE}"/>
              </a:ext>
            </a:extLst>
          </p:cNvPr>
          <p:cNvSpPr>
            <a:spLocks xmlns:a="http://schemas.openxmlformats.org/drawingml/2006/main" noGrp="1"/>
          </p:cNvSpPr>
          <p:nvPr/>
        </p:nvSpPr>
        <p:spPr>
          <a:xfrm xmlns:a="http://schemas.openxmlformats.org/drawingml/2006/main">
            <a:off x="609600" y="2876550"/>
            <a:ext cx="28575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Context</a:t>
            </a:r>
          </a:p>
        </p:txBody>
      </p:sp>
      <p:sp>
        <p:nvSpPr>
          <p:cNvPr id="12" name="빌드 조건·계약·하드웨어 가정을 반복 설명한다">
            <a:extLst xmlns:a="http://schemas.openxmlformats.org/drawingml/2006/main">
              <a:ext uri="{FF2B5EF4-FFF2-40B4-BE49-F238E27FC236}">
                <a16:creationId xmlns:a16="http://schemas.microsoft.com/office/drawing/2014/main" id="{C72A5B37-5C4E-4094-9DB0-74473AD1F89F}"/>
              </a:ext>
            </a:extLst>
          </p:cNvPr>
          <p:cNvSpPr>
            <a:spLocks xmlns:a="http://schemas.openxmlformats.org/drawingml/2006/main" noGrp="1"/>
          </p:cNvSpPr>
          <p:nvPr/>
        </p:nvSpPr>
        <p:spPr>
          <a:xfrm xmlns:a="http://schemas.openxmlformats.org/drawingml/2006/main">
            <a:off x="3619500" y="2876550"/>
            <a:ext cx="79629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빌드 조건·계약·하드웨어 가정을 반복 설명한다</a:t>
            </a:r>
          </a:p>
        </p:txBody>
      </p:sp>
      <p:sp>
        <p:nvSpPr>
          <p:cNvPr id="13" name="">
            <a:extLst xmlns:a="http://schemas.openxmlformats.org/drawingml/2006/main">
              <a:ext uri="{FF2B5EF4-FFF2-40B4-BE49-F238E27FC236}">
                <a16:creationId xmlns:a16="http://schemas.microsoft.com/office/drawing/2014/main" id="{B0C650E0-3872-4F29-814B-698D9E75D41A}"/>
              </a:ext>
            </a:extLst>
          </p:cNvPr>
          <p:cNvSpPr>
            <a:spLocks xmlns:a="http://schemas.openxmlformats.org/drawingml/2006/main" noGrp="1"/>
          </p:cNvSpPr>
          <p:nvPr/>
        </p:nvSpPr>
        <p:spPr>
          <a:xfrm xmlns:a="http://schemas.openxmlformats.org/drawingml/2006/main">
            <a:off x="609600" y="3438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Workflow">
            <a:extLst xmlns:a="http://schemas.openxmlformats.org/drawingml/2006/main">
              <a:ext uri="{FF2B5EF4-FFF2-40B4-BE49-F238E27FC236}">
                <a16:creationId xmlns:a16="http://schemas.microsoft.com/office/drawing/2014/main" id="{0CBA16B4-AB77-4ECA-9118-104CFBE13254}"/>
              </a:ext>
            </a:extLst>
          </p:cNvPr>
          <p:cNvSpPr>
            <a:spLocks xmlns:a="http://schemas.openxmlformats.org/drawingml/2006/main" noGrp="1"/>
          </p:cNvSpPr>
          <p:nvPr/>
        </p:nvSpPr>
        <p:spPr>
          <a:xfrm xmlns:a="http://schemas.openxmlformats.org/drawingml/2006/main">
            <a:off x="609600" y="3514725"/>
            <a:ext cx="28575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Workflow</a:t>
            </a:r>
          </a:p>
        </p:txBody>
      </p:sp>
      <p:sp>
        <p:nvSpPr>
          <p:cNvPr id="15" name="분석 → 변경 → 측정 → 회귀 확인을 매번 적는다">
            <a:extLst xmlns:a="http://schemas.openxmlformats.org/drawingml/2006/main">
              <a:ext uri="{FF2B5EF4-FFF2-40B4-BE49-F238E27FC236}">
                <a16:creationId xmlns:a16="http://schemas.microsoft.com/office/drawing/2014/main" id="{34096C85-6C41-45EA-97EE-33669B3E57BE}"/>
              </a:ext>
            </a:extLst>
          </p:cNvPr>
          <p:cNvSpPr>
            <a:spLocks xmlns:a="http://schemas.openxmlformats.org/drawingml/2006/main" noGrp="1"/>
          </p:cNvSpPr>
          <p:nvPr/>
        </p:nvSpPr>
        <p:spPr>
          <a:xfrm xmlns:a="http://schemas.openxmlformats.org/drawingml/2006/main">
            <a:off x="3619500" y="3514725"/>
            <a:ext cx="79629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분석 → 변경 → 측정 → 회귀 확인을 매번 적는다</a:t>
            </a:r>
          </a:p>
        </p:txBody>
      </p:sp>
      <p:sp>
        <p:nvSpPr>
          <p:cNvPr id="16" name="">
            <a:extLst xmlns:a="http://schemas.openxmlformats.org/drawingml/2006/main">
              <a:ext uri="{FF2B5EF4-FFF2-40B4-BE49-F238E27FC236}">
                <a16:creationId xmlns:a16="http://schemas.microsoft.com/office/drawing/2014/main" id="{6D7A0F94-0C52-41B3-A7A1-E3ACA6383A4F}"/>
              </a:ext>
            </a:extLst>
          </p:cNvPr>
          <p:cNvSpPr>
            <a:spLocks xmlns:a="http://schemas.openxmlformats.org/drawingml/2006/main" noGrp="1"/>
          </p:cNvSpPr>
          <p:nvPr/>
        </p:nvSpPr>
        <p:spPr>
          <a:xfrm xmlns:a="http://schemas.openxmlformats.org/drawingml/2006/main">
            <a:off x="609600" y="4076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Verification">
            <a:extLst xmlns:a="http://schemas.openxmlformats.org/drawingml/2006/main">
              <a:ext uri="{FF2B5EF4-FFF2-40B4-BE49-F238E27FC236}">
                <a16:creationId xmlns:a16="http://schemas.microsoft.com/office/drawing/2014/main" id="{3654A1E8-62BA-481D-9E57-219E3DC029BC}"/>
              </a:ext>
            </a:extLst>
          </p:cNvPr>
          <p:cNvSpPr>
            <a:spLocks xmlns:a="http://schemas.openxmlformats.org/drawingml/2006/main" noGrp="1"/>
          </p:cNvSpPr>
          <p:nvPr/>
        </p:nvSpPr>
        <p:spPr>
          <a:xfrm xmlns:a="http://schemas.openxmlformats.org/drawingml/2006/main">
            <a:off x="609600" y="4152900"/>
            <a:ext cx="28575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Verification</a:t>
            </a:r>
          </a:p>
        </p:txBody>
      </p:sp>
      <p:sp>
        <p:nvSpPr>
          <p:cNvPr id="18" name="테스트와 Benchmark의 확인 기준이 모호하다">
            <a:extLst xmlns:a="http://schemas.openxmlformats.org/drawingml/2006/main">
              <a:ext uri="{FF2B5EF4-FFF2-40B4-BE49-F238E27FC236}">
                <a16:creationId xmlns:a16="http://schemas.microsoft.com/office/drawing/2014/main" id="{74E00208-C351-48BB-8E18-22A989CF5007}"/>
              </a:ext>
            </a:extLst>
          </p:cNvPr>
          <p:cNvSpPr>
            <a:spLocks xmlns:a="http://schemas.openxmlformats.org/drawingml/2006/main" noGrp="1"/>
          </p:cNvSpPr>
          <p:nvPr/>
        </p:nvSpPr>
        <p:spPr>
          <a:xfrm xmlns:a="http://schemas.openxmlformats.org/drawingml/2006/main">
            <a:off x="3619500" y="4152900"/>
            <a:ext cx="79629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테스트와 Benchmark의 확인 기준이 모호하다</a:t>
            </a:r>
          </a:p>
        </p:txBody>
      </p:sp>
      <p:sp>
        <p:nvSpPr>
          <p:cNvPr id="19" name="">
            <a:extLst xmlns:a="http://schemas.openxmlformats.org/drawingml/2006/main">
              <a:ext uri="{FF2B5EF4-FFF2-40B4-BE49-F238E27FC236}">
                <a16:creationId xmlns:a16="http://schemas.microsoft.com/office/drawing/2014/main" id="{FD8B2979-D0D2-41A4-83F0-F6722E443653}"/>
              </a:ext>
            </a:extLst>
          </p:cNvPr>
          <p:cNvSpPr>
            <a:spLocks xmlns:a="http://schemas.openxmlformats.org/drawingml/2006/main" noGrp="1"/>
          </p:cNvSpPr>
          <p:nvPr/>
        </p:nvSpPr>
        <p:spPr>
          <a:xfrm xmlns:a="http://schemas.openxmlformats.org/drawingml/2006/main">
            <a:off x="609600" y="47148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Feedback Loop">
            <a:extLst xmlns:a="http://schemas.openxmlformats.org/drawingml/2006/main">
              <a:ext uri="{FF2B5EF4-FFF2-40B4-BE49-F238E27FC236}">
                <a16:creationId xmlns:a16="http://schemas.microsoft.com/office/drawing/2014/main" id="{E6032234-A16E-4FE3-AC20-2697FB0554D5}"/>
              </a:ext>
            </a:extLst>
          </p:cNvPr>
          <p:cNvSpPr>
            <a:spLocks xmlns:a="http://schemas.openxmlformats.org/drawingml/2006/main" noGrp="1"/>
          </p:cNvSpPr>
          <p:nvPr/>
        </p:nvSpPr>
        <p:spPr>
          <a:xfrm xmlns:a="http://schemas.openxmlformats.org/drawingml/2006/main">
            <a:off x="609600" y="4791075"/>
            <a:ext cx="28575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Feedback Loop</a:t>
            </a:r>
          </a:p>
        </p:txBody>
      </p:sp>
      <p:sp>
        <p:nvSpPr>
          <p:cNvPr id="21" name="같은 문제가 다시 생겨도 관련 시스템을 안 바꾼다">
            <a:extLst xmlns:a="http://schemas.openxmlformats.org/drawingml/2006/main">
              <a:ext uri="{FF2B5EF4-FFF2-40B4-BE49-F238E27FC236}">
                <a16:creationId xmlns:a16="http://schemas.microsoft.com/office/drawing/2014/main" id="{293DB872-3AA3-4E61-B106-A532DAFB6901}"/>
              </a:ext>
            </a:extLst>
          </p:cNvPr>
          <p:cNvSpPr>
            <a:spLocks xmlns:a="http://schemas.openxmlformats.org/drawingml/2006/main" noGrp="1"/>
          </p:cNvSpPr>
          <p:nvPr/>
        </p:nvSpPr>
        <p:spPr>
          <a:xfrm xmlns:a="http://schemas.openxmlformats.org/drawingml/2006/main">
            <a:off x="3619500" y="4791075"/>
            <a:ext cx="79629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같은 문제가 다시 생겨도 관련 시스템을 안 바꾼다</a:t>
            </a:r>
          </a:p>
        </p:txBody>
      </p:sp>
      <p:sp>
        <p:nvSpPr>
          <p:cNvPr id="22" name="지금 내 업무와 가장 가까운 한 곳을 떠올려 본다.">
            <a:extLst xmlns:a="http://schemas.openxmlformats.org/drawingml/2006/main">
              <a:ext uri="{FF2B5EF4-FFF2-40B4-BE49-F238E27FC236}">
                <a16:creationId xmlns:a16="http://schemas.microsoft.com/office/drawing/2014/main" id="{7A7E8425-BEBF-4B85-A7B9-1A1E0C8EA038}"/>
              </a:ext>
            </a:extLst>
          </p:cNvPr>
          <p:cNvSpPr>
            <a:spLocks xmlns:a="http://schemas.openxmlformats.org/drawingml/2006/main" noGrp="1"/>
          </p:cNvSpPr>
          <p:nvPr/>
        </p:nvSpPr>
        <p:spPr>
          <a:xfrm xmlns:a="http://schemas.openxmlformats.org/drawingml/2006/main">
            <a:off x="609600" y="54102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지금 내 업무와 가장 가까운 한 곳을 떠올려 본다.</a:t>
            </a:r>
          </a:p>
        </p:txBody>
      </p:sp>
    </p:spTree>
    <p:extLst>
      <p:ext uri="{BB962C8B-B14F-4D97-AF65-F5344CB8AC3E}">
        <p14:creationId xmlns:p14="http://schemas.microsoft.com/office/powerpoint/2010/main" val="1212478190"/>
      </p:ext>
    </p:extLst>
  </p:cSld>
</p:sld>
</file>

<file path=ppt/slides/slide7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5 · 잠시 생각해 보기">
            <a:extLst xmlns:a="http://schemas.openxmlformats.org/drawingml/2006/main">
              <a:ext uri="{FF2B5EF4-FFF2-40B4-BE49-F238E27FC236}">
                <a16:creationId xmlns:a16="http://schemas.microsoft.com/office/drawing/2014/main" id="{75FA9B70-C96D-4942-B94A-A9314EF1CFA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잠시 생각해 보기</a:t>
            </a:r>
          </a:p>
        </p:txBody>
      </p:sp>
      <p:sp>
        <p:nvSpPr>
          <p:cNvPr id="2" name="S79">
            <a:extLst xmlns:a="http://schemas.openxmlformats.org/drawingml/2006/main">
              <a:ext uri="{FF2B5EF4-FFF2-40B4-BE49-F238E27FC236}">
                <a16:creationId xmlns:a16="http://schemas.microsoft.com/office/drawing/2014/main" id="{A11464D7-2218-46C1-8847-01C20FDC756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다음 작은 행동을 개인적으로 고른다">
            <a:extLst xmlns:a="http://schemas.openxmlformats.org/drawingml/2006/main">
              <a:ext uri="{FF2B5EF4-FFF2-40B4-BE49-F238E27FC236}">
                <a16:creationId xmlns:a16="http://schemas.microsoft.com/office/drawing/2014/main" id="{D2A19501-51AA-45C7-8182-877FACB5ABE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작은 행동을 개인적으로 고른다</a:t>
            </a:r>
          </a:p>
        </p:txBody>
      </p:sp>
      <p:sp>
        <p:nvSpPr>
          <p:cNvPr id="4" name="">
            <a:extLst xmlns:a="http://schemas.openxmlformats.org/drawingml/2006/main">
              <a:ext uri="{FF2B5EF4-FFF2-40B4-BE49-F238E27FC236}">
                <a16:creationId xmlns:a16="http://schemas.microsoft.com/office/drawing/2014/main" id="{A4A7145F-103A-4BEA-8F9F-50B09E501095}"/>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개인 성찰">
            <a:extLst xmlns:a="http://schemas.openxmlformats.org/drawingml/2006/main">
              <a:ext uri="{FF2B5EF4-FFF2-40B4-BE49-F238E27FC236}">
                <a16:creationId xmlns:a16="http://schemas.microsoft.com/office/drawing/2014/main" id="{1A837ACC-ED17-470D-A0E0-34E2F4C008D0}"/>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개인 성찰</a:t>
            </a:r>
          </a:p>
        </p:txBody>
      </p:sp>
      <p:sp>
        <p:nvSpPr>
          <p:cNvPr id="6" name="마음속으로 떠올리는 시간이다. 기록·발표·제출은 요구하지 않는다.">
            <a:extLst xmlns:a="http://schemas.openxmlformats.org/drawingml/2006/main">
              <a:ext uri="{FF2B5EF4-FFF2-40B4-BE49-F238E27FC236}">
                <a16:creationId xmlns:a16="http://schemas.microsoft.com/office/drawing/2014/main" id="{2E01E630-23CE-4344-829A-DAAC06D52E4E}"/>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시간이다. 기록·발표·제출은 요구하지 않는다.</a:t>
            </a:r>
          </a:p>
        </p:txBody>
      </p:sp>
      <p:sp>
        <p:nvSpPr>
          <p:cNvPr id="7" name="">
            <a:extLst xmlns:a="http://schemas.openxmlformats.org/drawingml/2006/main">
              <a:ext uri="{FF2B5EF4-FFF2-40B4-BE49-F238E27FC236}">
                <a16:creationId xmlns:a16="http://schemas.microsoft.com/office/drawing/2014/main" id="{CD2BB25B-607D-4CA1-B55A-052E32C5E064}"/>
              </a:ext>
            </a:extLst>
          </p:cNvPr>
          <p:cNvSpPr>
            <a:spLocks xmlns:a="http://schemas.openxmlformats.org/drawingml/2006/main" noGrp="1"/>
          </p:cNvSpPr>
          <p:nvPr/>
        </p:nvSpPr>
        <p:spPr>
          <a:xfrm xmlns:a="http://schemas.openxmlformats.org/drawingml/2006/main">
            <a:off x="609600" y="2381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내가 반복해서 적는 설명은 무엇인가?">
            <a:extLst xmlns:a="http://schemas.openxmlformats.org/drawingml/2006/main">
              <a:ext uri="{FF2B5EF4-FFF2-40B4-BE49-F238E27FC236}">
                <a16:creationId xmlns:a16="http://schemas.microsoft.com/office/drawing/2014/main" id="{3F3ED493-AF20-4E82-8A7E-A2157F077418}"/>
              </a:ext>
            </a:extLst>
          </p:cNvPr>
          <p:cNvSpPr>
            <a:spLocks xmlns:a="http://schemas.openxmlformats.org/drawingml/2006/main" noGrp="1"/>
          </p:cNvSpPr>
          <p:nvPr/>
        </p:nvSpPr>
        <p:spPr>
          <a:xfrm xmlns:a="http://schemas.openxmlformats.org/drawingml/2006/main">
            <a:off x="609600" y="25527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내가 반복해서 적는 설명은 무엇인가?</a:t>
            </a:r>
          </a:p>
        </p:txBody>
      </p:sp>
      <p:sp>
        <p:nvSpPr>
          <p:cNvPr id="9" name="">
            <a:extLst xmlns:a="http://schemas.openxmlformats.org/drawingml/2006/main">
              <a:ext uri="{FF2B5EF4-FFF2-40B4-BE49-F238E27FC236}">
                <a16:creationId xmlns:a16="http://schemas.microsoft.com/office/drawing/2014/main" id="{FAA7F690-D49B-44C1-8B0E-B8D31B151B5A}"/>
              </a:ext>
            </a:extLst>
          </p:cNvPr>
          <p:cNvSpPr>
            <a:spLocks xmlns:a="http://schemas.openxmlformats.org/drawingml/2006/main" noGrp="1"/>
          </p:cNvSpPr>
          <p:nvPr/>
        </p:nvSpPr>
        <p:spPr>
          <a:xfrm xmlns:a="http://schemas.openxmlformats.org/drawingml/2006/main">
            <a:off x="609600" y="3352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AI가 반복해서 다시 찾는 프로젝트 사실은 무엇인가?">
            <a:extLst xmlns:a="http://schemas.openxmlformats.org/drawingml/2006/main">
              <a:ext uri="{FF2B5EF4-FFF2-40B4-BE49-F238E27FC236}">
                <a16:creationId xmlns:a16="http://schemas.microsoft.com/office/drawing/2014/main" id="{AAD3B32E-9792-45E4-A213-B93C7E8AF6E1}"/>
              </a:ext>
            </a:extLst>
          </p:cNvPr>
          <p:cNvSpPr>
            <a:spLocks xmlns:a="http://schemas.openxmlformats.org/drawingml/2006/main" noGrp="1"/>
          </p:cNvSpPr>
          <p:nvPr/>
        </p:nvSpPr>
        <p:spPr>
          <a:xfrm xmlns:a="http://schemas.openxmlformats.org/drawingml/2006/main">
            <a:off x="609600" y="35242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AI가 반복해서 다시 찾는 프로젝트 사실은 무엇인가?</a:t>
            </a:r>
          </a:p>
        </p:txBody>
      </p:sp>
      <p:sp>
        <p:nvSpPr>
          <p:cNvPr id="11" name="">
            <a:extLst xmlns:a="http://schemas.openxmlformats.org/drawingml/2006/main">
              <a:ext uri="{FF2B5EF4-FFF2-40B4-BE49-F238E27FC236}">
                <a16:creationId xmlns:a16="http://schemas.microsoft.com/office/drawing/2014/main" id="{E354B416-2F21-4267-B9B9-D03BE25E55C1}"/>
              </a:ext>
            </a:extLst>
          </p:cNvPr>
          <p:cNvSpPr>
            <a:spLocks xmlns:a="http://schemas.openxmlformats.org/drawingml/2006/main" noGrp="1"/>
          </p:cNvSpPr>
          <p:nvPr/>
        </p:nvSpPr>
        <p:spPr>
          <a:xfrm xmlns:a="http://schemas.openxmlformats.org/drawingml/2006/main">
            <a:off x="609600" y="43243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같은 실패가 또 생긴다면 어디를 고칠 것인가?">
            <a:extLst xmlns:a="http://schemas.openxmlformats.org/drawingml/2006/main">
              <a:ext uri="{FF2B5EF4-FFF2-40B4-BE49-F238E27FC236}">
                <a16:creationId xmlns:a16="http://schemas.microsoft.com/office/drawing/2014/main" id="{66699A5E-EA09-4A0A-877E-1F8E65624C7D}"/>
              </a:ext>
            </a:extLst>
          </p:cNvPr>
          <p:cNvSpPr>
            <a:spLocks xmlns:a="http://schemas.openxmlformats.org/drawingml/2006/main" noGrp="1"/>
          </p:cNvSpPr>
          <p:nvPr/>
        </p:nvSpPr>
        <p:spPr>
          <a:xfrm xmlns:a="http://schemas.openxmlformats.org/drawingml/2006/main">
            <a:off x="609600" y="44958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같은 실패가 또 생긴다면 어디를 고칠 것인가?</a:t>
            </a:r>
          </a:p>
        </p:txBody>
      </p:sp>
    </p:spTree>
    <p:extLst>
      <p:ext uri="{BB962C8B-B14F-4D97-AF65-F5344CB8AC3E}">
        <p14:creationId xmlns:p14="http://schemas.microsoft.com/office/powerpoint/2010/main" val="273305922"/>
      </p:ext>
    </p:extLst>
  </p:cSld>
</p:sld>
</file>

<file path=ppt/slides/slide8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1" name="ACT 5 · 마지막 질문">
            <a:extLst xmlns:a="http://schemas.openxmlformats.org/drawingml/2006/main">
              <a:ext uri="{FF2B5EF4-FFF2-40B4-BE49-F238E27FC236}">
                <a16:creationId xmlns:a16="http://schemas.microsoft.com/office/drawing/2014/main" id="{4F6B7846-E89F-4D33-B0E1-795BEA5561F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마지막 질문</a:t>
            </a:r>
          </a:p>
        </p:txBody>
      </p:sp>
      <p:sp>
        <p:nvSpPr>
          <p:cNvPr id="2" name="S80">
            <a:extLst xmlns:a="http://schemas.openxmlformats.org/drawingml/2006/main">
              <a:ext uri="{FF2B5EF4-FFF2-40B4-BE49-F238E27FC236}">
                <a16:creationId xmlns:a16="http://schemas.microsoft.com/office/drawing/2014/main" id="{4EA3F9F5-FFE3-410E-B6D4-3AFF445AD8D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Q&amp;A와 교육 마무리">
            <a:extLst xmlns:a="http://schemas.openxmlformats.org/drawingml/2006/main">
              <a:ext uri="{FF2B5EF4-FFF2-40B4-BE49-F238E27FC236}">
                <a16:creationId xmlns:a16="http://schemas.microsoft.com/office/drawing/2014/main" id="{4FB38E26-4BF6-4963-8383-C59F5E6C26C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36342CC4-EF43-4A68-9318-7F8921816125}"/>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55AB9904-6ABF-49C1-97D7-6CA925CC50C0}"/>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F636B764-EEFC-4015-885A-614C6C8C0549}"/>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내 업무에서 무엇부터 바꿀까요?">
            <a:extLst xmlns:a="http://schemas.openxmlformats.org/drawingml/2006/main">
              <a:ext uri="{FF2B5EF4-FFF2-40B4-BE49-F238E27FC236}">
                <a16:creationId xmlns:a16="http://schemas.microsoft.com/office/drawing/2014/main" id="{F0A00284-A4EA-40DF-9365-834FF5A62867}"/>
              </a:ext>
            </a:extLst>
          </p:cNvPr>
          <p:cNvSpPr>
            <a:spLocks xmlns:a="http://schemas.openxmlformats.org/drawingml/2006/main" noGrp="1"/>
          </p:cNvSpPr>
          <p:nvPr/>
        </p:nvSpPr>
        <p:spPr>
          <a:xfrm xmlns:a="http://schemas.openxmlformats.org/drawingml/2006/main">
            <a:off x="609600" y="21907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내 업무에서 무엇부터 바꿀까요?</a:t>
            </a:r>
          </a:p>
        </p:txBody>
      </p:sp>
      <p:sp>
        <p:nvSpPr>
          <p:cNvPr id="8" name="">
            <a:extLst xmlns:a="http://schemas.openxmlformats.org/drawingml/2006/main">
              <a:ext uri="{FF2B5EF4-FFF2-40B4-BE49-F238E27FC236}">
                <a16:creationId xmlns:a16="http://schemas.microsoft.com/office/drawing/2014/main" id="{AC22617B-08F2-434A-A28F-953A7F15EDF9}"/>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43C3625D-C8AE-4EDA-BD23-70D4D5E3B5FD}"/>
              </a:ext>
            </a:extLst>
          </p:cNvPr>
          <p:cNvSpPr>
            <a:spLocks xmlns:a="http://schemas.openxmlformats.org/drawingml/2006/main" noGrp="1"/>
          </p:cNvSpPr>
          <p:nvPr/>
        </p:nvSpPr>
        <p:spPr>
          <a:xfrm xmlns:a="http://schemas.openxmlformats.org/drawingml/2006/main">
            <a:off x="609600" y="3724275"/>
            <a:ext cx="1097280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Question  →  Task  →  Context  →  System  →  Feedback Loop">
            <a:extLst xmlns:a="http://schemas.openxmlformats.org/drawingml/2006/main">
              <a:ext uri="{FF2B5EF4-FFF2-40B4-BE49-F238E27FC236}">
                <a16:creationId xmlns:a16="http://schemas.microsoft.com/office/drawing/2014/main" id="{C3588745-CD2E-4574-8F52-0195BE64F59C}"/>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Question  →  Task  →  Context  →  System  →  Feedback Loop</a:t>
            </a:r>
          </a:p>
        </p:txBody>
      </p:sp>
    </p:spTree>
    <p:extLst>
      <p:ext uri="{BB962C8B-B14F-4D97-AF65-F5344CB8AC3E}">
        <p14:creationId xmlns:p14="http://schemas.microsoft.com/office/powerpoint/2010/main" val="112339106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2026-10-18T13:42:54.9690000Z</dcterms:created>
  <dcterms:modified xsi:type="dcterms:W3CDTF">2026-10-18T13:42:54.9690000Z</dcterms:modified>
</coreProperties>
</file>