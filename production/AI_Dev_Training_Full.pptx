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slides/charts/chart1.xml" ContentType="application/vnd.openxmlformats-officedocument.drawingml.chart+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slides/charts/chart2.xml" ContentType="application/vnd.openxmlformats-officedocument.drawingml.chart+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6.xml" Id="R72ff6461cb0746fc"/><Relationship Type="http://schemas.openxmlformats.org/officeDocument/2006/relationships/slide" Target="/ppt/slides/slide57.xml" Id="R87f28cc747584435"/><Relationship Type="http://schemas.openxmlformats.org/officeDocument/2006/relationships/slide" Target="/ppt/slides/slide58.xml" Id="R0e388af578a5444a"/><Relationship Type="http://schemas.openxmlformats.org/officeDocument/2006/relationships/slide" Target="/ppt/slides/slide59.xml" Id="R4e80fc39125a409a"/><Relationship Type="http://schemas.openxmlformats.org/officeDocument/2006/relationships/slide" Target="/ppt/slides/slide60.xml" Id="Rb7fc36f3748e4e7e"/><Relationship Type="http://schemas.openxmlformats.org/officeDocument/2006/relationships/slide" Target="/ppt/slides/slide61.xml" Id="Rb594a747736746eb"/><Relationship Type="http://schemas.openxmlformats.org/officeDocument/2006/relationships/slide" Target="/ppt/slides/slide62.xml" Id="Rf904dae589414f4f"/><Relationship Type="http://schemas.openxmlformats.org/officeDocument/2006/relationships/slide" Target="/ppt/slides/slide63.xml" Id="R895eb660f69e4832"/><Relationship Type="http://schemas.openxmlformats.org/officeDocument/2006/relationships/slide" Target="/ppt/slides/slide64.xml" Id="R367ed24082b94b6a"/><Relationship Type="http://schemas.openxmlformats.org/officeDocument/2006/relationships/slide" Target="/ppt/slides/slide65.xml" Id="R78b603dd886a4965"/><Relationship Type="http://schemas.openxmlformats.org/officeDocument/2006/relationships/slide" Target="/ppt/slides/slide66.xml" Id="R7ded63a3ac80466c"/><Relationship Type="http://schemas.openxmlformats.org/officeDocument/2006/relationships/slide" Target="/ppt/slides/slide67.xml" Id="Ra7181b8897284bc1"/><Relationship Type="http://schemas.openxmlformats.org/officeDocument/2006/relationships/slide" Target="/ppt/slides/slide68.xml" Id="R0fd1a67510f34c5f"/><Relationship Type="http://schemas.openxmlformats.org/officeDocument/2006/relationships/slide" Target="/ppt/slides/slide69.xml" Id="R9f16bb685f974f5e"/><Relationship Type="http://schemas.openxmlformats.org/officeDocument/2006/relationships/slide" Target="/ppt/slides/slide70.xml" Id="R5eeb4ae768104820"/><Relationship Type="http://schemas.openxmlformats.org/officeDocument/2006/relationships/slide" Target="/ppt/slides/slide71.xml" Id="Ref8225c5602949ad"/><Relationship Type="http://schemas.openxmlformats.org/officeDocument/2006/relationships/slide" Target="/ppt/slides/slide72.xml" Id="R7597ca53a04c459b"/><Relationship Type="http://schemas.openxmlformats.org/officeDocument/2006/relationships/slide" Target="/ppt/slides/slide73.xml" Id="Rc773ae6f18264ef1"/><Relationship Type="http://schemas.openxmlformats.org/officeDocument/2006/relationships/slide" Target="/ppt/slides/slide74.xml" Id="R7b53866a56f3425e"/><Relationship Type="http://schemas.openxmlformats.org/officeDocument/2006/relationships/slide" Target="/ppt/slides/slide75.xml" Id="R2153275503b2476a"/><Relationship Type="http://schemas.openxmlformats.org/officeDocument/2006/relationships/slide" Target="/ppt/slides/slide76.xml" Id="R608ce4adbdcf4ccb"/><Relationship Type="http://schemas.openxmlformats.org/officeDocument/2006/relationships/slide" Target="/ppt/slides/slide77.xml" Id="R4678d8fca4c642b9"/><Relationship Type="http://schemas.openxmlformats.org/officeDocument/2006/relationships/slide" Target="/ppt/slides/slide78.xml" Id="Re835f6281a3e439f"/><Relationship Type="http://schemas.openxmlformats.org/officeDocument/2006/relationships/slide" Target="/ppt/slides/slide79.xml" Id="Rcacc6d5c4ad749f0"/><Relationship Type="http://schemas.openxmlformats.org/officeDocument/2006/relationships/slide" Target="/ppt/slides/slide80.xml" Id="R016396d127394e1a"/><Relationship Type="http://schemas.openxmlformats.org/officeDocument/2006/relationships/slide" Target="/ppt/slides/slide81.xml" Id="R5f303c360e3a43f7"/><Relationship Type="http://schemas.openxmlformats.org/officeDocument/2006/relationships/slide" Target="/ppt/slides/slide82.xml" Id="R70a347417a0e4436"/><Relationship Type="http://schemas.openxmlformats.org/officeDocument/2006/relationships/slide" Target="/ppt/slides/slide83.xml" Id="R427f8faf69084bf2"/><Relationship Type="http://schemas.openxmlformats.org/officeDocument/2006/relationships/slide" Target="/ppt/slides/slide84.xml" Id="R7b1929d697764fed"/><Relationship Type="http://schemas.openxmlformats.org/officeDocument/2006/relationships/slide" Target="/ppt/slides/slide85.xml" Id="R7b8f7c435d8b461f"/><Relationship Type="http://schemas.openxmlformats.org/officeDocument/2006/relationships/slide" Target="/ppt/slides/slide86.xml" Id="R507d9a6a7b414991"/><Relationship Type="http://schemas.openxmlformats.org/officeDocument/2006/relationships/slide" Target="/ppt/slides/slide87.xml" Id="Rae9abd65533e4896"/><Relationship Type="http://schemas.openxmlformats.org/officeDocument/2006/relationships/slide" Target="/ppt/slides/slide88.xml" Id="R972055e3d0974d3d"/><Relationship Type="http://schemas.openxmlformats.org/officeDocument/2006/relationships/slide" Target="/ppt/slides/slide89.xml" Id="Rfab2baeaf6c2489e"/><Relationship Type="http://schemas.openxmlformats.org/officeDocument/2006/relationships/slide" Target="/ppt/slides/slide90.xml" Id="R1a08854b15af4bcd"/><Relationship Type="http://schemas.openxmlformats.org/officeDocument/2006/relationships/slide" Target="/ppt/slides/slide91.xml" Id="R78079090e17c4a8c"/><Relationship Type="http://schemas.openxmlformats.org/officeDocument/2006/relationships/slide" Target="/ppt/slides/slide92.xml" Id="R5b1111aade374262"/><Relationship Type="http://schemas.openxmlformats.org/officeDocument/2006/relationships/slide" Target="/ppt/slides/slide93.xml" Id="Rf817ae0da26b49b8"/><Relationship Type="http://schemas.openxmlformats.org/officeDocument/2006/relationships/slide" Target="/ppt/slides/slide94.xml" Id="R5cc79f0d8ad94df8"/><Relationship Type="http://schemas.openxmlformats.org/officeDocument/2006/relationships/slide" Target="/ppt/slides/slide95.xml" Id="R7e79aaa9bff346fa"/><Relationship Type="http://schemas.openxmlformats.org/officeDocument/2006/relationships/slide" Target="/ppt/slides/slide96.xml" Id="R0063c448f38e4336"/><Relationship Type="http://schemas.openxmlformats.org/officeDocument/2006/relationships/slide" Target="/ppt/slides/slide97.xml" Id="Rb0627c4a99df4d4f"/><Relationship Type="http://schemas.openxmlformats.org/officeDocument/2006/relationships/slide" Target="/ppt/slides/slide98.xml" Id="Ra10a0e13a2184135"/><Relationship Type="http://schemas.openxmlformats.org/officeDocument/2006/relationships/slide" Target="/ppt/slides/slide99.xml" Id="R9b60d9b4a2e44dd3"/><Relationship Type="http://schemas.openxmlformats.org/officeDocument/2006/relationships/slide" Target="/ppt/slides/slide100.xml" Id="Rc17d36dd79264453"/><Relationship Type="http://schemas.openxmlformats.org/officeDocument/2006/relationships/slide" Target="/ppt/slides/slide101.xml" Id="R603e33c25b484f54"/><Relationship Type="http://schemas.openxmlformats.org/officeDocument/2006/relationships/slide" Target="/ppt/slides/slide102.xml" Id="R6fd503a3177f4d06"/><Relationship Type="http://schemas.openxmlformats.org/officeDocument/2006/relationships/slide" Target="/ppt/slides/slide103.xml" Id="Rd07a9a0a0d094a1f"/><Relationship Type="http://schemas.openxmlformats.org/officeDocument/2006/relationships/slide" Target="/ppt/slides/slide104.xml" Id="R718f7d508df64340"/><Relationship Type="http://schemas.openxmlformats.org/officeDocument/2006/relationships/slide" Target="/ppt/slides/slide105.xml" Id="Rb2144a6581f3498a"/><Relationship Type="http://schemas.openxmlformats.org/officeDocument/2006/relationships/slide" Target="/ppt/slides/slide106.xml" Id="R7e193bf32174419f"/><Relationship Type="http://schemas.openxmlformats.org/officeDocument/2006/relationships/slide" Target="/ppt/slides/slide107.xml" Id="R3b2b3b2837f345d7"/><Relationship Type="http://schemas.openxmlformats.org/officeDocument/2006/relationships/slide" Target="/ppt/slides/slide108.xml" Id="Rc8d64c078fdb4e93"/><Relationship Type="http://schemas.openxmlformats.org/officeDocument/2006/relationships/slide" Target="/ppt/slides/slide109.xml" Id="R14761046fa0449ad"/><Relationship Type="http://schemas.openxmlformats.org/officeDocument/2006/relationships/slide" Target="/ppt/slides/slide110.xml" Id="R308e5dcf86374f7a"/><Relationship Type="http://schemas.openxmlformats.org/officeDocument/2006/relationships/slide" Target="/ppt/slides/slide111.xml" Id="Rb70d6e328be74d60"/><Relationship Type="http://schemas.openxmlformats.org/officeDocument/2006/relationships/slide" Target="/ppt/slides/slide112.xml" Id="Re9f94e65c1024047"/><Relationship Type="http://schemas.openxmlformats.org/officeDocument/2006/relationships/slide" Target="/ppt/slides/slide113.xml" Id="R44280ecc75ac417f"/><Relationship Type="http://schemas.openxmlformats.org/officeDocument/2006/relationships/slide" Target="/ppt/slides/slide114.xml" Id="R350e5087273b43f8"/><Relationship Type="http://schemas.openxmlformats.org/officeDocument/2006/relationships/slide" Target="/ppt/slides/slide115.xml" Id="R99aa14256c364cca"/><Relationship Type="http://schemas.openxmlformats.org/officeDocument/2006/relationships/slide" Target="/ppt/slides/slide116.xml" Id="Re7befaa2280e40d8"/><Relationship Type="http://schemas.openxmlformats.org/officeDocument/2006/relationships/slide" Target="/ppt/slides/slide117.xml" Id="Rb72241cc12ab4b73"/><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34c2dfb647954740" /><Relationship Type="http://schemas.openxmlformats.org/officeDocument/2006/relationships/notesMaster" Target="/ppt/notesMasters/notesMaster1.xml" Id="R772b29c6f08a48a9" /></Relationships>
</file>

<file path=ppt/notesSlides/_rels/notesSlide57.xml.rels><?xml version="1.0" encoding="utf-8"?><Relationships xmlns="http://schemas.openxmlformats.org/package/2006/relationships"><Relationship Type="http://schemas.openxmlformats.org/officeDocument/2006/relationships/slide" Target="/ppt/slides/slide57.xml" Id="R34d6c63d743b4d95" /><Relationship Type="http://schemas.openxmlformats.org/officeDocument/2006/relationships/notesMaster" Target="/ppt/notesMasters/notesMaster1.xml" Id="Rc9843874f9a745f4" /></Relationships>
</file>

<file path=ppt/notesSlides/_rels/notesSlide58.xml.rels><?xml version="1.0" encoding="utf-8"?><Relationships xmlns="http://schemas.openxmlformats.org/package/2006/relationships"><Relationship Type="http://schemas.openxmlformats.org/officeDocument/2006/relationships/slide" Target="/ppt/slides/slide58.xml" Id="Rb66f601fa32245e6" /><Relationship Type="http://schemas.openxmlformats.org/officeDocument/2006/relationships/notesMaster" Target="/ppt/notesMasters/notesMaster1.xml" Id="R14cd720d54274fa1" /></Relationships>
</file>

<file path=ppt/notesSlides/_rels/notesSlide59.xml.rels><?xml version="1.0" encoding="utf-8"?><Relationships xmlns="http://schemas.openxmlformats.org/package/2006/relationships"><Relationship Type="http://schemas.openxmlformats.org/officeDocument/2006/relationships/slide" Target="/ppt/slides/slide59.xml" Id="R25ede0acb2394a3e" /><Relationship Type="http://schemas.openxmlformats.org/officeDocument/2006/relationships/notesMaster" Target="/ppt/notesMasters/notesMaster1.xml" Id="R733e545b2c744b6f" /></Relationships>
</file>

<file path=ppt/notesSlides/_rels/notesSlide60.xml.rels><?xml version="1.0" encoding="utf-8"?><Relationships xmlns="http://schemas.openxmlformats.org/package/2006/relationships"><Relationship Type="http://schemas.openxmlformats.org/officeDocument/2006/relationships/slide" Target="/ppt/slides/slide60.xml" Id="Rf7349916333445a4" /><Relationship Type="http://schemas.openxmlformats.org/officeDocument/2006/relationships/notesMaster" Target="/ppt/notesMasters/notesMaster1.xml" Id="R592735f8936f47da" /></Relationships>
</file>

<file path=ppt/notesSlides/_rels/notesSlide61.xml.rels><?xml version="1.0" encoding="utf-8"?><Relationships xmlns="http://schemas.openxmlformats.org/package/2006/relationships"><Relationship Type="http://schemas.openxmlformats.org/officeDocument/2006/relationships/slide" Target="/ppt/slides/slide61.xml" Id="R17b760d51b6e468a" /><Relationship Type="http://schemas.openxmlformats.org/officeDocument/2006/relationships/notesMaster" Target="/ppt/notesMasters/notesMaster1.xml" Id="R8adb15f9dad74c78" /></Relationships>
</file>

<file path=ppt/notesSlides/_rels/notesSlide62.xml.rels><?xml version="1.0" encoding="utf-8"?><Relationships xmlns="http://schemas.openxmlformats.org/package/2006/relationships"><Relationship Type="http://schemas.openxmlformats.org/officeDocument/2006/relationships/slide" Target="/ppt/slides/slide62.xml" Id="Rf6ecd46fd4544049" /><Relationship Type="http://schemas.openxmlformats.org/officeDocument/2006/relationships/notesMaster" Target="/ppt/notesMasters/notesMaster1.xml" Id="Rf406a0ad792440e8" /></Relationships>
</file>

<file path=ppt/notesSlides/_rels/notesSlide63.xml.rels><?xml version="1.0" encoding="utf-8"?><Relationships xmlns="http://schemas.openxmlformats.org/package/2006/relationships"><Relationship Type="http://schemas.openxmlformats.org/officeDocument/2006/relationships/slide" Target="/ppt/slides/slide63.xml" Id="Re0bd13ceb21948cb" /><Relationship Type="http://schemas.openxmlformats.org/officeDocument/2006/relationships/notesMaster" Target="/ppt/notesMasters/notesMaster1.xml" Id="Rfe8ae5366316458c" /></Relationships>
</file>

<file path=ppt/notesSlides/_rels/notesSlide64.xml.rels><?xml version="1.0" encoding="utf-8"?><Relationships xmlns="http://schemas.openxmlformats.org/package/2006/relationships"><Relationship Type="http://schemas.openxmlformats.org/officeDocument/2006/relationships/slide" Target="/ppt/slides/slide64.xml" Id="R4f047f8673e04507" /><Relationship Type="http://schemas.openxmlformats.org/officeDocument/2006/relationships/notesMaster" Target="/ppt/notesMasters/notesMaster1.xml" Id="R733d4ec229824b70" /></Relationships>
</file>

<file path=ppt/notesSlides/_rels/notesSlide65.xml.rels><?xml version="1.0" encoding="utf-8"?><Relationships xmlns="http://schemas.openxmlformats.org/package/2006/relationships"><Relationship Type="http://schemas.openxmlformats.org/officeDocument/2006/relationships/slide" Target="/ppt/slides/slide65.xml" Id="R62d2e02935a7486a" /><Relationship Type="http://schemas.openxmlformats.org/officeDocument/2006/relationships/notesMaster" Target="/ppt/notesMasters/notesMaster1.xml" Id="R150fc5a78fd140b6" /></Relationships>
</file>

<file path=ppt/notesSlides/_rels/notesSlide66.xml.rels><?xml version="1.0" encoding="utf-8"?><Relationships xmlns="http://schemas.openxmlformats.org/package/2006/relationships"><Relationship Type="http://schemas.openxmlformats.org/officeDocument/2006/relationships/slide" Target="/ppt/slides/slide66.xml" Id="Rcad2e2ecdc5646dd" /><Relationship Type="http://schemas.openxmlformats.org/officeDocument/2006/relationships/notesMaster" Target="/ppt/notesMasters/notesMaster1.xml" Id="R886e991404294ab7" /></Relationships>
</file>

<file path=ppt/notesSlides/_rels/notesSlide67.xml.rels><?xml version="1.0" encoding="utf-8"?><Relationships xmlns="http://schemas.openxmlformats.org/package/2006/relationships"><Relationship Type="http://schemas.openxmlformats.org/officeDocument/2006/relationships/slide" Target="/ppt/slides/slide67.xml" Id="R4673147063e34b11" /><Relationship Type="http://schemas.openxmlformats.org/officeDocument/2006/relationships/notesMaster" Target="/ppt/notesMasters/notesMaster1.xml" Id="R63d921fc331b4280" /></Relationships>
</file>

<file path=ppt/notesSlides/_rels/notesSlide68.xml.rels><?xml version="1.0" encoding="utf-8"?><Relationships xmlns="http://schemas.openxmlformats.org/package/2006/relationships"><Relationship Type="http://schemas.openxmlformats.org/officeDocument/2006/relationships/slide" Target="/ppt/slides/slide68.xml" Id="R1e80c3c74e264b95" /><Relationship Type="http://schemas.openxmlformats.org/officeDocument/2006/relationships/notesMaster" Target="/ppt/notesMasters/notesMaster1.xml" Id="R318b408e272c4369" /></Relationships>
</file>

<file path=ppt/notesSlides/_rels/notesSlide69.xml.rels><?xml version="1.0" encoding="utf-8"?><Relationships xmlns="http://schemas.openxmlformats.org/package/2006/relationships"><Relationship Type="http://schemas.openxmlformats.org/officeDocument/2006/relationships/slide" Target="/ppt/slides/slide69.xml" Id="Rd42e793e8c8f4085" /><Relationship Type="http://schemas.openxmlformats.org/officeDocument/2006/relationships/notesMaster" Target="/ppt/notesMasters/notesMaster1.xml" Id="Raa78ffb4470f4114" /></Relationships>
</file>

<file path=ppt/notesSlides/_rels/notesSlide70.xml.rels><?xml version="1.0" encoding="utf-8"?><Relationships xmlns="http://schemas.openxmlformats.org/package/2006/relationships"><Relationship Type="http://schemas.openxmlformats.org/officeDocument/2006/relationships/slide" Target="/ppt/slides/slide70.xml" Id="R9061ea39fbf8475e" /><Relationship Type="http://schemas.openxmlformats.org/officeDocument/2006/relationships/notesMaster" Target="/ppt/notesMasters/notesMaster1.xml" Id="Re69af64665704edd" /></Relationships>
</file>

<file path=ppt/notesSlides/_rels/notesSlide71.xml.rels><?xml version="1.0" encoding="utf-8"?><Relationships xmlns="http://schemas.openxmlformats.org/package/2006/relationships"><Relationship Type="http://schemas.openxmlformats.org/officeDocument/2006/relationships/slide" Target="/ppt/slides/slide71.xml" Id="R27bfc235a3304140" /><Relationship Type="http://schemas.openxmlformats.org/officeDocument/2006/relationships/notesMaster" Target="/ppt/notesMasters/notesMaster1.xml" Id="Rae8aa6d06c57427d" /></Relationships>
</file>

<file path=ppt/notesSlides/_rels/notesSlide72.xml.rels><?xml version="1.0" encoding="utf-8"?><Relationships xmlns="http://schemas.openxmlformats.org/package/2006/relationships"><Relationship Type="http://schemas.openxmlformats.org/officeDocument/2006/relationships/slide" Target="/ppt/slides/slide72.xml" Id="Re5ea548712ec48dd" /><Relationship Type="http://schemas.openxmlformats.org/officeDocument/2006/relationships/notesMaster" Target="/ppt/notesMasters/notesMaster1.xml" Id="R2e5242e14e0a4391" /></Relationships>
</file>

<file path=ppt/notesSlides/_rels/notesSlide73.xml.rels><?xml version="1.0" encoding="utf-8"?><Relationships xmlns="http://schemas.openxmlformats.org/package/2006/relationships"><Relationship Type="http://schemas.openxmlformats.org/officeDocument/2006/relationships/slide" Target="/ppt/slides/slide73.xml" Id="R9547e52616064d1f" /><Relationship Type="http://schemas.openxmlformats.org/officeDocument/2006/relationships/notesMaster" Target="/ppt/notesMasters/notesMaster1.xml" Id="Rbfbf5fb2658247a4" /></Relationships>
</file>

<file path=ppt/notesSlides/_rels/notesSlide74.xml.rels><?xml version="1.0" encoding="utf-8"?><Relationships xmlns="http://schemas.openxmlformats.org/package/2006/relationships"><Relationship Type="http://schemas.openxmlformats.org/officeDocument/2006/relationships/slide" Target="/ppt/slides/slide74.xml" Id="R0b3e933c4e3345fb" /><Relationship Type="http://schemas.openxmlformats.org/officeDocument/2006/relationships/notesMaster" Target="/ppt/notesMasters/notesMaster1.xml" Id="R881e018f7d3a4212" /></Relationships>
</file>

<file path=ppt/notesSlides/_rels/notesSlide75.xml.rels><?xml version="1.0" encoding="utf-8"?><Relationships xmlns="http://schemas.openxmlformats.org/package/2006/relationships"><Relationship Type="http://schemas.openxmlformats.org/officeDocument/2006/relationships/slide" Target="/ppt/slides/slide75.xml" Id="R6163cd5fdb3a40c7" /><Relationship Type="http://schemas.openxmlformats.org/officeDocument/2006/relationships/notesMaster" Target="/ppt/notesMasters/notesMaster1.xml" Id="R74aabc30838745da" /></Relationships>
</file>

<file path=ppt/notesSlides/_rels/notesSlide76.xml.rels><?xml version="1.0" encoding="utf-8"?><Relationships xmlns="http://schemas.openxmlformats.org/package/2006/relationships"><Relationship Type="http://schemas.openxmlformats.org/officeDocument/2006/relationships/slide" Target="/ppt/slides/slide76.xml" Id="R2d64f837e3af43c0" /><Relationship Type="http://schemas.openxmlformats.org/officeDocument/2006/relationships/notesMaster" Target="/ppt/notesMasters/notesMaster1.xml" Id="R98c0d1f05ec04ed7" /></Relationships>
</file>

<file path=ppt/notesSlides/_rels/notesSlide77.xml.rels><?xml version="1.0" encoding="utf-8"?><Relationships xmlns="http://schemas.openxmlformats.org/package/2006/relationships"><Relationship Type="http://schemas.openxmlformats.org/officeDocument/2006/relationships/slide" Target="/ppt/slides/slide77.xml" Id="Race410cb1044427e" /><Relationship Type="http://schemas.openxmlformats.org/officeDocument/2006/relationships/notesMaster" Target="/ppt/notesMasters/notesMaster1.xml" Id="Rda5d90d4963145f2" /></Relationships>
</file>

<file path=ppt/notesSlides/_rels/notesSlide78.xml.rels><?xml version="1.0" encoding="utf-8"?><Relationships xmlns="http://schemas.openxmlformats.org/package/2006/relationships"><Relationship Type="http://schemas.openxmlformats.org/officeDocument/2006/relationships/slide" Target="/ppt/slides/slide78.xml" Id="R21c7f53710cc4461" /><Relationship Type="http://schemas.openxmlformats.org/officeDocument/2006/relationships/notesMaster" Target="/ppt/notesMasters/notesMaster1.xml" Id="R7955f82dd04b405c" /></Relationships>
</file>

<file path=ppt/notesSlides/_rels/notesSlide79.xml.rels><?xml version="1.0" encoding="utf-8"?><Relationships xmlns="http://schemas.openxmlformats.org/package/2006/relationships"><Relationship Type="http://schemas.openxmlformats.org/officeDocument/2006/relationships/slide" Target="/ppt/slides/slide79.xml" Id="R79b12de649d04f9e" /><Relationship Type="http://schemas.openxmlformats.org/officeDocument/2006/relationships/notesMaster" Target="/ppt/notesMasters/notesMaster1.xml" Id="Rf3b67b75301c4e34" /></Relationships>
</file>

<file path=ppt/notesSlides/_rels/notesSlide80.xml.rels><?xml version="1.0" encoding="utf-8"?><Relationships xmlns="http://schemas.openxmlformats.org/package/2006/relationships"><Relationship Type="http://schemas.openxmlformats.org/officeDocument/2006/relationships/slide" Target="/ppt/slides/slide80.xml" Id="R1926d21be99e477c" /><Relationship Type="http://schemas.openxmlformats.org/officeDocument/2006/relationships/notesMaster" Target="/ppt/notesMasters/notesMaster1.xml" Id="R28d9e3e5c7be4691" /></Relationships>
</file>

<file path=ppt/notesSlides/_rels/notesSlide81.xml.rels><?xml version="1.0" encoding="utf-8"?><Relationships xmlns="http://schemas.openxmlformats.org/package/2006/relationships"><Relationship Type="http://schemas.openxmlformats.org/officeDocument/2006/relationships/slide" Target="/ppt/slides/slide81.xml" Id="R84d7346d013f4f98" /><Relationship Type="http://schemas.openxmlformats.org/officeDocument/2006/relationships/notesMaster" Target="/ppt/notesMasters/notesMaster1.xml" Id="R9b6a1a62bcff403c" /></Relationships>
</file>

<file path=ppt/notesSlides/_rels/notesSlide82.xml.rels><?xml version="1.0" encoding="utf-8"?><Relationships xmlns="http://schemas.openxmlformats.org/package/2006/relationships"><Relationship Type="http://schemas.openxmlformats.org/officeDocument/2006/relationships/slide" Target="/ppt/slides/slide82.xml" Id="R7f388a0b87bc41a4" /><Relationship Type="http://schemas.openxmlformats.org/officeDocument/2006/relationships/notesMaster" Target="/ppt/notesMasters/notesMaster1.xml" Id="Raf8067029d9042b1" /></Relationships>
</file>

<file path=ppt/notesSlides/_rels/notesSlide83.xml.rels><?xml version="1.0" encoding="utf-8"?><Relationships xmlns="http://schemas.openxmlformats.org/package/2006/relationships"><Relationship Type="http://schemas.openxmlformats.org/officeDocument/2006/relationships/slide" Target="/ppt/slides/slide83.xml" Id="R7bff9e49879f4dc3" /><Relationship Type="http://schemas.openxmlformats.org/officeDocument/2006/relationships/notesMaster" Target="/ppt/notesMasters/notesMaster1.xml" Id="R2d73c16ab9a64e3a" /></Relationships>
</file>

<file path=ppt/notesSlides/_rels/notesSlide84.xml.rels><?xml version="1.0" encoding="utf-8"?><Relationships xmlns="http://schemas.openxmlformats.org/package/2006/relationships"><Relationship Type="http://schemas.openxmlformats.org/officeDocument/2006/relationships/slide" Target="/ppt/slides/slide84.xml" Id="Rbc671a57a8154956" /><Relationship Type="http://schemas.openxmlformats.org/officeDocument/2006/relationships/notesMaster" Target="/ppt/notesMasters/notesMaster1.xml" Id="Reee7ba3618f64ddd" /></Relationships>
</file>

<file path=ppt/notesSlides/_rels/notesSlide85.xml.rels><?xml version="1.0" encoding="utf-8"?><Relationships xmlns="http://schemas.openxmlformats.org/package/2006/relationships"><Relationship Type="http://schemas.openxmlformats.org/officeDocument/2006/relationships/slide" Target="/ppt/slides/slide85.xml" Id="R7aca11c5c68a4641" /><Relationship Type="http://schemas.openxmlformats.org/officeDocument/2006/relationships/notesMaster" Target="/ppt/notesMasters/notesMaster1.xml" Id="Rc9bcb6b574a24d5c" /></Relationships>
</file>

<file path=ppt/notesSlides/_rels/notesSlide86.xml.rels><?xml version="1.0" encoding="utf-8"?><Relationships xmlns="http://schemas.openxmlformats.org/package/2006/relationships"><Relationship Type="http://schemas.openxmlformats.org/officeDocument/2006/relationships/slide" Target="/ppt/slides/slide86.xml" Id="Redeb9fcbb3244743" /><Relationship Type="http://schemas.openxmlformats.org/officeDocument/2006/relationships/notesMaster" Target="/ppt/notesMasters/notesMaster1.xml" Id="R8b690a0caba34ba7" /></Relationships>
</file>

<file path=ppt/notesSlides/_rels/notesSlide87.xml.rels><?xml version="1.0" encoding="utf-8"?><Relationships xmlns="http://schemas.openxmlformats.org/package/2006/relationships"><Relationship Type="http://schemas.openxmlformats.org/officeDocument/2006/relationships/slide" Target="/ppt/slides/slide87.xml" Id="R3de799a0b79b4526" /><Relationship Type="http://schemas.openxmlformats.org/officeDocument/2006/relationships/notesMaster" Target="/ppt/notesMasters/notesMaster1.xml" Id="Rb8ac526fdffe42d6" /></Relationships>
</file>

<file path=ppt/notesSlides/_rels/notesSlide88.xml.rels><?xml version="1.0" encoding="utf-8"?><Relationships xmlns="http://schemas.openxmlformats.org/package/2006/relationships"><Relationship Type="http://schemas.openxmlformats.org/officeDocument/2006/relationships/slide" Target="/ppt/slides/slide88.xml" Id="R4659f865bd5d4fdb" /><Relationship Type="http://schemas.openxmlformats.org/officeDocument/2006/relationships/notesMaster" Target="/ppt/notesMasters/notesMaster1.xml" Id="R57b5507cc7b3492b" /></Relationships>
</file>

<file path=ppt/notesSlides/_rels/notesSlide89.xml.rels><?xml version="1.0" encoding="utf-8"?><Relationships xmlns="http://schemas.openxmlformats.org/package/2006/relationships"><Relationship Type="http://schemas.openxmlformats.org/officeDocument/2006/relationships/slide" Target="/ppt/slides/slide89.xml" Id="R211db036e4e840df" /><Relationship Type="http://schemas.openxmlformats.org/officeDocument/2006/relationships/notesMaster" Target="/ppt/notesMasters/notesMaster1.xml" Id="R27be2f8e114f43a0" /></Relationships>
</file>

<file path=ppt/notesSlides/_rels/notesSlide90.xml.rels><?xml version="1.0" encoding="utf-8"?><Relationships xmlns="http://schemas.openxmlformats.org/package/2006/relationships"><Relationship Type="http://schemas.openxmlformats.org/officeDocument/2006/relationships/slide" Target="/ppt/slides/slide90.xml" Id="Rb4c0a11d27d9406b" /><Relationship Type="http://schemas.openxmlformats.org/officeDocument/2006/relationships/notesMaster" Target="/ppt/notesMasters/notesMaster1.xml" Id="Rd151ca23e93d4eaf" /></Relationships>
</file>

<file path=ppt/notesSlides/_rels/notesSlide91.xml.rels><?xml version="1.0" encoding="utf-8"?><Relationships xmlns="http://schemas.openxmlformats.org/package/2006/relationships"><Relationship Type="http://schemas.openxmlformats.org/officeDocument/2006/relationships/slide" Target="/ppt/slides/slide91.xml" Id="R691b5c445fe543d4" /><Relationship Type="http://schemas.openxmlformats.org/officeDocument/2006/relationships/notesMaster" Target="/ppt/notesMasters/notesMaster1.xml" Id="R7e6a7ed19e3a40cb" /></Relationships>
</file>

<file path=ppt/notesSlides/_rels/notesSlide92.xml.rels><?xml version="1.0" encoding="utf-8"?><Relationships xmlns="http://schemas.openxmlformats.org/package/2006/relationships"><Relationship Type="http://schemas.openxmlformats.org/officeDocument/2006/relationships/slide" Target="/ppt/slides/slide92.xml" Id="R9d98e90578e745c7" /><Relationship Type="http://schemas.openxmlformats.org/officeDocument/2006/relationships/notesMaster" Target="/ppt/notesMasters/notesMaster1.xml" Id="R7a670bf595fa4529" /></Relationships>
</file>

<file path=ppt/notesSlides/_rels/notesSlide93.xml.rels><?xml version="1.0" encoding="utf-8"?><Relationships xmlns="http://schemas.openxmlformats.org/package/2006/relationships"><Relationship Type="http://schemas.openxmlformats.org/officeDocument/2006/relationships/slide" Target="/ppt/slides/slide93.xml" Id="R5b141234bd884dcf" /><Relationship Type="http://schemas.openxmlformats.org/officeDocument/2006/relationships/notesMaster" Target="/ppt/notesMasters/notesMaster1.xml" Id="R04c69684547247e2" /></Relationships>
</file>

<file path=ppt/notesSlides/_rels/notesSlide94.xml.rels><?xml version="1.0" encoding="utf-8"?><Relationships xmlns="http://schemas.openxmlformats.org/package/2006/relationships"><Relationship Type="http://schemas.openxmlformats.org/officeDocument/2006/relationships/slide" Target="/ppt/slides/slide94.xml" Id="R0127c760534f42a4" /><Relationship Type="http://schemas.openxmlformats.org/officeDocument/2006/relationships/notesMaster" Target="/ppt/notesMasters/notesMaster1.xml" Id="R7ace7c5f8e04458f" /></Relationships>
</file>

<file path=ppt/notesSlides/_rels/notesSlide95.xml.rels><?xml version="1.0" encoding="utf-8"?><Relationships xmlns="http://schemas.openxmlformats.org/package/2006/relationships"><Relationship Type="http://schemas.openxmlformats.org/officeDocument/2006/relationships/slide" Target="/ppt/slides/slide95.xml" Id="R45271ed003694ba9" /><Relationship Type="http://schemas.openxmlformats.org/officeDocument/2006/relationships/notesMaster" Target="/ppt/notesMasters/notesMaster1.xml" Id="R7d1404e76a174da2" /></Relationships>
</file>

<file path=ppt/notesSlides/_rels/notesSlide96.xml.rels><?xml version="1.0" encoding="utf-8"?><Relationships xmlns="http://schemas.openxmlformats.org/package/2006/relationships"><Relationship Type="http://schemas.openxmlformats.org/officeDocument/2006/relationships/slide" Target="/ppt/slides/slide96.xml" Id="R8a7c9e37e6e14582" /><Relationship Type="http://schemas.openxmlformats.org/officeDocument/2006/relationships/notesMaster" Target="/ppt/notesMasters/notesMaster1.xml" Id="R89005aee29154fdf" /></Relationships>
</file>

<file path=ppt/notesSlides/_rels/notesSlide97.xml.rels><?xml version="1.0" encoding="utf-8"?><Relationships xmlns="http://schemas.openxmlformats.org/package/2006/relationships"><Relationship Type="http://schemas.openxmlformats.org/officeDocument/2006/relationships/slide" Target="/ppt/slides/slide97.xml" Id="R0063070daffd43e4" /><Relationship Type="http://schemas.openxmlformats.org/officeDocument/2006/relationships/notesMaster" Target="/ppt/notesMasters/notesMaster1.xml" Id="R7b112601c2a64208" /></Relationships>
</file>

<file path=ppt/notesSlides/_rels/notesSlide98.xml.rels><?xml version="1.0" encoding="utf-8"?><Relationships xmlns="http://schemas.openxmlformats.org/package/2006/relationships"><Relationship Type="http://schemas.openxmlformats.org/officeDocument/2006/relationships/slide" Target="/ppt/slides/slide98.xml" Id="R560a355944224827" /><Relationship Type="http://schemas.openxmlformats.org/officeDocument/2006/relationships/notesMaster" Target="/ppt/notesMasters/notesMaster1.xml" Id="R2956a2047df44dcc" /></Relationships>
</file>

<file path=ppt/notesSlides/_rels/notesSlide99.xml.rels><?xml version="1.0" encoding="utf-8"?><Relationships xmlns="http://schemas.openxmlformats.org/package/2006/relationships"><Relationship Type="http://schemas.openxmlformats.org/officeDocument/2006/relationships/slide" Target="/ppt/slides/slide99.xml" Id="R4df44b7c0ec54bcb" /><Relationship Type="http://schemas.openxmlformats.org/officeDocument/2006/relationships/notesMaster" Target="/ppt/notesMasters/notesMaster1.xml" Id="R8078dc63f9ad408a" /></Relationships>
</file>

<file path=ppt/notesSlides/_rels/notesSlide100.xml.rels><?xml version="1.0" encoding="utf-8"?><Relationships xmlns="http://schemas.openxmlformats.org/package/2006/relationships"><Relationship Type="http://schemas.openxmlformats.org/officeDocument/2006/relationships/slide" Target="/ppt/slides/slide100.xml" Id="R9ec1be889abf4747" /><Relationship Type="http://schemas.openxmlformats.org/officeDocument/2006/relationships/notesMaster" Target="/ppt/notesMasters/notesMaster1.xml" Id="Ra4cbf48a85004011" /></Relationships>
</file>

<file path=ppt/notesSlides/_rels/notesSlide101.xml.rels><?xml version="1.0" encoding="utf-8"?><Relationships xmlns="http://schemas.openxmlformats.org/package/2006/relationships"><Relationship Type="http://schemas.openxmlformats.org/officeDocument/2006/relationships/slide" Target="/ppt/slides/slide101.xml" Id="R4118d3e401d44e6c" /><Relationship Type="http://schemas.openxmlformats.org/officeDocument/2006/relationships/notesMaster" Target="/ppt/notesMasters/notesMaster1.xml" Id="R59b9d3aca398484b" /></Relationships>
</file>

<file path=ppt/notesSlides/_rels/notesSlide102.xml.rels><?xml version="1.0" encoding="utf-8"?><Relationships xmlns="http://schemas.openxmlformats.org/package/2006/relationships"><Relationship Type="http://schemas.openxmlformats.org/officeDocument/2006/relationships/slide" Target="/ppt/slides/slide102.xml" Id="R28d3a752c1654d93" /><Relationship Type="http://schemas.openxmlformats.org/officeDocument/2006/relationships/notesMaster" Target="/ppt/notesMasters/notesMaster1.xml" Id="Ra809662fe7414499" /></Relationships>
</file>

<file path=ppt/notesSlides/_rels/notesSlide103.xml.rels><?xml version="1.0" encoding="utf-8"?><Relationships xmlns="http://schemas.openxmlformats.org/package/2006/relationships"><Relationship Type="http://schemas.openxmlformats.org/officeDocument/2006/relationships/slide" Target="/ppt/slides/slide103.xml" Id="R30e45e9a0633454a" /><Relationship Type="http://schemas.openxmlformats.org/officeDocument/2006/relationships/notesMaster" Target="/ppt/notesMasters/notesMaster1.xml" Id="R789f04a5ee1340b9" /></Relationships>
</file>

<file path=ppt/notesSlides/_rels/notesSlide104.xml.rels><?xml version="1.0" encoding="utf-8"?><Relationships xmlns="http://schemas.openxmlformats.org/package/2006/relationships"><Relationship Type="http://schemas.openxmlformats.org/officeDocument/2006/relationships/slide" Target="/ppt/slides/slide104.xml" Id="R6d958c84c0a24bdb" /><Relationship Type="http://schemas.openxmlformats.org/officeDocument/2006/relationships/notesMaster" Target="/ppt/notesMasters/notesMaster1.xml" Id="R498467402c07474b" /></Relationships>
</file>

<file path=ppt/notesSlides/_rels/notesSlide105.xml.rels><?xml version="1.0" encoding="utf-8"?><Relationships xmlns="http://schemas.openxmlformats.org/package/2006/relationships"><Relationship Type="http://schemas.openxmlformats.org/officeDocument/2006/relationships/slide" Target="/ppt/slides/slide105.xml" Id="R339477906d8e4199" /><Relationship Type="http://schemas.openxmlformats.org/officeDocument/2006/relationships/notesMaster" Target="/ppt/notesMasters/notesMaster1.xml" Id="Rd231d4a707e548bc" /></Relationships>
</file>

<file path=ppt/notesSlides/_rels/notesSlide106.xml.rels><?xml version="1.0" encoding="utf-8"?><Relationships xmlns="http://schemas.openxmlformats.org/package/2006/relationships"><Relationship Type="http://schemas.openxmlformats.org/officeDocument/2006/relationships/slide" Target="/ppt/slides/slide106.xml" Id="R7135a359516b4f01" /><Relationship Type="http://schemas.openxmlformats.org/officeDocument/2006/relationships/notesMaster" Target="/ppt/notesMasters/notesMaster1.xml" Id="R49e2134f87444dec" /></Relationships>
</file>

<file path=ppt/notesSlides/_rels/notesSlide107.xml.rels><?xml version="1.0" encoding="utf-8"?><Relationships xmlns="http://schemas.openxmlformats.org/package/2006/relationships"><Relationship Type="http://schemas.openxmlformats.org/officeDocument/2006/relationships/slide" Target="/ppt/slides/slide107.xml" Id="R73e62c672b6149a9" /><Relationship Type="http://schemas.openxmlformats.org/officeDocument/2006/relationships/notesMaster" Target="/ppt/notesMasters/notesMaster1.xml" Id="Rcf79b18562284a12" /></Relationships>
</file>

<file path=ppt/notesSlides/_rels/notesSlide108.xml.rels><?xml version="1.0" encoding="utf-8"?><Relationships xmlns="http://schemas.openxmlformats.org/package/2006/relationships"><Relationship Type="http://schemas.openxmlformats.org/officeDocument/2006/relationships/slide" Target="/ppt/slides/slide108.xml" Id="Rcbbf893184ea4b4f" /><Relationship Type="http://schemas.openxmlformats.org/officeDocument/2006/relationships/notesMaster" Target="/ppt/notesMasters/notesMaster1.xml" Id="Re73de6cf821b4c89" /></Relationships>
</file>

<file path=ppt/notesSlides/_rels/notesSlide109.xml.rels><?xml version="1.0" encoding="utf-8"?><Relationships xmlns="http://schemas.openxmlformats.org/package/2006/relationships"><Relationship Type="http://schemas.openxmlformats.org/officeDocument/2006/relationships/slide" Target="/ppt/slides/slide109.xml" Id="R7702ee77e1344abd" /><Relationship Type="http://schemas.openxmlformats.org/officeDocument/2006/relationships/notesMaster" Target="/ppt/notesMasters/notesMaster1.xml" Id="R9ce33fbf1e97475c" /></Relationships>
</file>

<file path=ppt/notesSlides/_rels/notesSlide110.xml.rels><?xml version="1.0" encoding="utf-8"?><Relationships xmlns="http://schemas.openxmlformats.org/package/2006/relationships"><Relationship Type="http://schemas.openxmlformats.org/officeDocument/2006/relationships/slide" Target="/ppt/slides/slide110.xml" Id="R7d0b24138dea41be" /><Relationship Type="http://schemas.openxmlformats.org/officeDocument/2006/relationships/notesMaster" Target="/ppt/notesMasters/notesMaster1.xml" Id="Rd6d4f46725ed4448" /></Relationships>
</file>

<file path=ppt/notesSlides/_rels/notesSlide111.xml.rels><?xml version="1.0" encoding="utf-8"?><Relationships xmlns="http://schemas.openxmlformats.org/package/2006/relationships"><Relationship Type="http://schemas.openxmlformats.org/officeDocument/2006/relationships/slide" Target="/ppt/slides/slide111.xml" Id="R45e579cfd1b74751" /><Relationship Type="http://schemas.openxmlformats.org/officeDocument/2006/relationships/notesMaster" Target="/ppt/notesMasters/notesMaster1.xml" Id="Rc6bf7d350d8f400a" /></Relationships>
</file>

<file path=ppt/notesSlides/_rels/notesSlide112.xml.rels><?xml version="1.0" encoding="utf-8"?><Relationships xmlns="http://schemas.openxmlformats.org/package/2006/relationships"><Relationship Type="http://schemas.openxmlformats.org/officeDocument/2006/relationships/slide" Target="/ppt/slides/slide112.xml" Id="Rae043a76808647db" /><Relationship Type="http://schemas.openxmlformats.org/officeDocument/2006/relationships/notesMaster" Target="/ppt/notesMasters/notesMaster1.xml" Id="R67ed9e5ab2d544b5" /></Relationships>
</file>

<file path=ppt/notesSlides/_rels/notesSlide113.xml.rels><?xml version="1.0" encoding="utf-8"?><Relationships xmlns="http://schemas.openxmlformats.org/package/2006/relationships"><Relationship Type="http://schemas.openxmlformats.org/officeDocument/2006/relationships/slide" Target="/ppt/slides/slide113.xml" Id="Redcec79e7d494b53" /><Relationship Type="http://schemas.openxmlformats.org/officeDocument/2006/relationships/notesMaster" Target="/ppt/notesMasters/notesMaster1.xml" Id="R44c72230652f43f5" /></Relationships>
</file>

<file path=ppt/notesSlides/_rels/notesSlide114.xml.rels><?xml version="1.0" encoding="utf-8"?><Relationships xmlns="http://schemas.openxmlformats.org/package/2006/relationships"><Relationship Type="http://schemas.openxmlformats.org/officeDocument/2006/relationships/slide" Target="/ppt/slides/slide114.xml" Id="R0ca111fa729041b5" /><Relationship Type="http://schemas.openxmlformats.org/officeDocument/2006/relationships/notesMaster" Target="/ppt/notesMasters/notesMaster1.xml" Id="R3f94e1fedc9249c3" /></Relationships>
</file>

<file path=ppt/notesSlides/_rels/notesSlide115.xml.rels><?xml version="1.0" encoding="utf-8"?><Relationships xmlns="http://schemas.openxmlformats.org/package/2006/relationships"><Relationship Type="http://schemas.openxmlformats.org/officeDocument/2006/relationships/slide" Target="/ppt/slides/slide115.xml" Id="Rb745a901479e4157" /><Relationship Type="http://schemas.openxmlformats.org/officeDocument/2006/relationships/notesMaster" Target="/ppt/notesMasters/notesMaster1.xml" Id="R9b2585fdc2c843bb" /></Relationships>
</file>

<file path=ppt/notesSlides/_rels/notesSlide116.xml.rels><?xml version="1.0" encoding="utf-8"?><Relationships xmlns="http://schemas.openxmlformats.org/package/2006/relationships"><Relationship Type="http://schemas.openxmlformats.org/officeDocument/2006/relationships/slide" Target="/ppt/slides/slide116.xml" Id="Re9189c18ad9a47e6" /><Relationship Type="http://schemas.openxmlformats.org/officeDocument/2006/relationships/notesMaster" Target="/ppt/notesMasters/notesMaster1.xml" Id="Rf35708420cc741cc" /></Relationships>
</file>

<file path=ppt/notesSlides/_rels/notesSlide117.xml.rels><?xml version="1.0" encoding="utf-8"?><Relationships xmlns="http://schemas.openxmlformats.org/package/2006/relationships"><Relationship Type="http://schemas.openxmlformats.org/officeDocument/2006/relationships/slide" Target="/ppt/slides/slide117.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S05으로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S05에서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코드 질문은 VS Code의 Copilot Chat에서</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코드 질문은 VS Code의 Copilot Chat에서</a:t>
            </a:r>
          </a:p>
          <a:p xmlns:a="http://schemas.openxmlformats.org/drawingml/2006/main">
            <a:r>
              <a:t/>
            </a:r>
          </a:p>
          <a:p xmlns:a="http://schemas.openxmlformats.org/drawingml/2006/main">
            <a:r>
              <a:t>**ACT / Section:**</a:t>
            </a:r>
          </a:p>
          <a:p xmlns:a="http://schemas.openxmlformats.org/drawingml/2006/main">
            <a:r>
              <a:t>ACT 0 / 0B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질문할 코드를 선택해 Copilot Chat의 Context로 첨부하고, 코드 설명을 요청한 뒤 답을 확인한다.</a:t>
            </a:r>
          </a:p>
          <a:p xmlns:a="http://schemas.openxmlformats.org/drawingml/2006/main">
            <a:r>
              <a:t/>
            </a:r>
          </a:p>
          <a:p xmlns:a="http://schemas.openxmlformats.org/drawingml/2006/main">
            <a:r>
              <a:t>**Opening Question:**</a:t>
            </a:r>
          </a:p>
          <a:p xmlns:a="http://schemas.openxmlformats.org/drawingml/2006/main">
            <a:r>
              <a:t>“앞의 C++ 질문을 회사에서 사용하는 IDE 안에서 어떻게 물어볼까?”</a:t>
            </a:r>
          </a:p>
          <a:p xmlns:a="http://schemas.openxmlformats.org/drawingml/2006/main">
            <a:r>
              <a:t/>
            </a:r>
          </a:p>
          <a:p xmlns:a="http://schemas.openxmlformats.org/drawingml/2006/main">
            <a:r>
              <a:t>**Speaker Flow:**</a:t>
            </a:r>
          </a:p>
          <a:p xmlns:a="http://schemas.openxmlformats.org/drawingml/2006/main">
            <a:r>
              <a:t>1. (0:00–0:25 / Lecture) S03과 같은 두 vector 초기화 코드를 가리킨다. 회사에서 사용하는 GitHub Copilot과 VS Code 조합으로 이 작은 질문을 이어갈 수 있다.</a:t>
            </a:r>
          </a:p>
          <a:p xmlns:a="http://schemas.openxmlformats.org/drawingml/2006/main">
            <a:r>
              <a:t>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xmlns:a="http://schemas.openxmlformats.org/drawingml/2006/main">
            <a:r>
              <a:t>3. (1:15–2:00 / Lecture) 답을 코드 의미와 대조해 확인한다. IDE에 열려 있다는 사실과 필요한 정보가 전달됐다는 사실은 구분한다. 다음 장에서 질문이 커질 때 필요한 자료 범주를 살펴본다.</a:t>
            </a:r>
          </a:p>
          <a:p xmlns:a="http://schemas.openxmlformats.org/drawingml/2006/main">
            <a:r>
              <a:t/>
            </a:r>
          </a:p>
          <a:p xmlns:a="http://schemas.openxmlformats.org/drawingml/2006/main">
            <a:r>
              <a:t>**Evidence / Source:**</a:t>
            </a:r>
          </a:p>
          <a:p xmlns:a="http://schemas.openxmlformats.org/drawingml/2006/main">
            <a:r>
              <a:t>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xmlns:a="http://schemas.openxmlformats.org/drawingml/2006/main">
            <a:r>
              <a:t/>
            </a:r>
          </a:p>
          <a:p xmlns:a="http://schemas.openxmlformats.org/drawingml/2006/main">
            <a:r>
              <a:t>**Claim Boundary:**</a:t>
            </a:r>
          </a:p>
          <a:p xmlns:a="http://schemas.openxmlformats.org/drawingml/2006/main">
            <a:r>
              <a:t>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xmlns:a="http://schemas.openxmlformats.org/drawingml/2006/main">
            <a:r>
              <a:t/>
            </a:r>
          </a:p>
          <a:p xmlns:a="http://schemas.openxmlformats.org/drawingml/2006/main">
            <a:r>
              <a:t>**Beginner Explanation:**</a:t>
            </a:r>
          </a:p>
          <a:p xmlns:a="http://schemas.openxmlformats.org/drawingml/2006/main">
            <a:r>
              <a:t>회사에서 사용하는 VS Code에서 관련 코드를 골라 Copilot Chat에 설명을 요청할 수 있다.</a:t>
            </a:r>
          </a:p>
          <a:p xmlns:a="http://schemas.openxmlformats.org/drawingml/2006/main">
            <a:r>
              <a:t/>
            </a:r>
          </a:p>
          <a:p xmlns:a="http://schemas.openxmlformats.org/drawingml/2006/main">
            <a:r>
              <a:t>**Advanced Insight:**</a:t>
            </a:r>
          </a:p>
          <a:p xmlns:a="http://schemas.openxmlformats.org/drawingml/2006/main">
            <a:r>
              <a:t>IDE 통합과 실제 전달 Context를 구분하고 필요한 코드 첨부 및 응답 확인 책임을 유지한다.</a:t>
            </a:r>
          </a:p>
          <a:p xmlns:a="http://schemas.openxmlformats.org/drawingml/2006/main">
            <a:r>
              <a:t/>
            </a:r>
          </a:p>
          <a:p xmlns:a="http://schemas.openxmlformats.org/drawingml/2006/main">
            <a:r>
              <a:t>**C++ Vision Bridge:**</a:t>
            </a:r>
          </a:p>
          <a:p xmlns:a="http://schemas.openxmlformats.org/drawingml/2006/main">
            <a:r>
              <a:t>S03의 std::vector 초기화 예제를 그대로 사용한다. 실제 컴파일·실행·C++ 검사 파이프라인 검증은 추가하지 않는다.</a:t>
            </a:r>
          </a:p>
          <a:p xmlns:a="http://schemas.openxmlformats.org/drawingml/2006/main">
            <a:r>
              <a:t/>
            </a:r>
          </a:p>
          <a:p xmlns:a="http://schemas.openxmlformats.org/drawingml/2006/main">
            <a:r>
              <a:t>**Demo Operation:**</a:t>
            </a:r>
          </a:p>
          <a:p xmlns:a="http://schemas.openxmlformats.org/drawingml/2006/main">
            <a:r>
              <a:t>N/A — 정적 교육용 UI 도식. 회사 계정에 로그인하거나 Copilot을 호출·실행하지 않는다. 설치나 조직 정책 변경도 하지 않는다.</a:t>
            </a:r>
          </a:p>
          <a:p xmlns:a="http://schemas.openxmlformats.org/drawingml/2006/main">
            <a:r>
              <a:t/>
            </a:r>
          </a:p>
          <a:p xmlns:a="http://schemas.openxmlformats.org/drawingml/2006/main">
            <a:r>
              <a:t>**Audience Interaction:**</a:t>
            </a:r>
          </a:p>
          <a:p xmlns:a="http://schemas.openxmlformats.org/drawingml/2006/main">
            <a:r>
              <a:t>화면의3단계를 짧게 짚는다. 청중에게 설치·로그인·직접 실습이나 공개 답변을 요구하지 않는다.</a:t>
            </a:r>
          </a:p>
          <a:p xmlns:a="http://schemas.openxmlformats.org/drawingml/2006/main">
            <a:r>
              <a:t/>
            </a:r>
          </a:p>
          <a:p xmlns:a="http://schemas.openxmlformats.org/drawingml/2006/main">
            <a:r>
              <a:t>**Transition:**</a:t>
            </a:r>
          </a:p>
          <a:p xmlns:a="http://schemas.openxmlformats.org/drawingml/2006/main">
            <a:r>
              <a:t>“선택한 코드만으로 설명하기 어려운 문제라면, 어떤 자료가 더 필요할까요?” S05의 기존 Context 수집 문제로 이어간다.</a:t>
            </a:r>
          </a:p>
          <a:p xmlns:a="http://schemas.openxmlformats.org/drawingml/2006/main">
            <a:r>
              <a:t/>
            </a:r>
          </a:p>
          <a:p xmlns:a="http://schemas.openxmlformats.org/drawingml/2006/main">
            <a:r>
              <a:t>**Time Management:**</a:t>
            </a:r>
          </a:p>
          <a:p xmlns:a="http://schemas.openxmlformats.org/drawingml/2006/main">
            <a:r>
              <a:t>0:00–0:25 같은 예제,0:25–1:15 코드 선택/첨부/Ask 질문,1:15–2:00 답 확인과 다음 Context 질문.2분에 넘긴다. 설정·요금·모델 비교는 이 장의 범위가 아니다. 실제 리허설 UNVERIFIED.</a:t>
            </a:r>
          </a:p>
          <a:p xmlns:a="http://schemas.openxmlformats.org/drawingml/2006/main">
            <a:r>
              <a:t/>
            </a:r>
          </a:p>
          <a:p xmlns:a="http://schemas.openxmlformats.org/drawingml/2006/main">
            <a:r>
              <a:t>**Fallback:**</a:t>
            </a:r>
          </a:p>
          <a:p xmlns:a="http://schemas.openxmlformats.org/drawingml/2006/main">
            <a:r>
              <a:t>PLANNED until the new local PPT/PNG is rendered and inspected. Default is the reconstructed diagram in production/ACT_0.pptx S04 and production/preview/full/S04.png; no live switch is required.</a:t>
            </a:r>
          </a:p>
          <a:p xmlns:a="http://schemas.openxmlformats.org/drawingml/2006/main">
            <a:r>
              <a:t/>
            </a:r>
          </a:p>
          <a:p xmlns:a="http://schemas.openxmlformats.org/drawingml/2006/main">
            <a:r>
              <a:t>**Validation Status:**</a:t>
            </a:r>
          </a:p>
          <a:p xmlns:a="http://schemas.openxmlformats.org/drawingml/2006/main">
            <a:r>
              <a:t>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질문이 커지면 Context를 모으는 일이 생긴다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S06의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S06의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S06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파일명을 주지 않으면 Agent는 어디부터 볼까?</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S07–S08로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S07–S08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Crop은 기대한 폭보다 한 열을 더 포함했다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S08에서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테스트·명세·구현을 연결해 원인을 설명했다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S07의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S09로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S11로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Chatbot에 이 자료를 직접 전달한다면?</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S10의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S12에서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Agent가 자료를 직접 찾아 연결했다</a:t>
            </a:r>
          </a:p>
          <a:p xmlns:a="http://schemas.openxmlformats.org/drawingml/2006/main">
            <a:r>
              <a:t/>
            </a:r>
          </a:p>
          <a:p xmlns:a="http://schemas.openxmlformats.org/drawingml/2006/main">
            <a:r>
              <a:t>**Slide ID:**</a:t>
            </a:r>
          </a:p>
          <a:p xmlns:a="http://schemas.openxmlformats.org/drawingml/2006/main">
            <a:r>
              <a:t>S12</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S11의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S13의 기존 Codex 진입 안내를 연다. Task 의도와 접근의 차이는 S14에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production/preview/full/S12.png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작업은 Codex에서 시작한다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S06의 조사 태도를 회수한다. “들어가는 곳을 알았으니, 무엇을 볼 수 있고 누가 최종 결정할지 나눠 보겠습니다”라며 S14로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S14에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요청·S14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 접근과 Task 의도는 별개다</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S13은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S15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S15의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정리·S15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Repository를 보면 내가 원하는 것까지 알까?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S14에서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S17의 모호한 요청에 연결한다.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S16를 거쳐 S17의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Prompt를 작업 명세로 만들기</a:t>
            </a:r>
          </a:p>
          <a:p xmlns:a="http://schemas.openxmlformats.org/drawingml/2006/main">
            <a:r>
              <a:t/>
            </a:r>
          </a:p>
          <a:p xmlns:a="http://schemas.openxmlformats.org/drawingml/2006/main">
            <a:r>
              <a:t>**Slide ID:**</a:t>
            </a:r>
          </a:p>
          <a:p xmlns:a="http://schemas.openxmlformats.org/drawingml/2006/main">
            <a:r>
              <a:t>S16</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S17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production/preview/full/S16.png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Task에는 무엇이 아직 정해지지 않았을까?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S18로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요청만으로는 의도가 보이지 않는다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S19의 교육용 구체화 예시로 이동한다.</a:t>
            </a:r>
          </a:p>
          <a:p xmlns:a="http://schemas.openxmlformats.org/drawingml/2006/main">
            <a:r>
              <a:t/>
            </a:r>
          </a:p>
          <a:p xmlns:a="http://schemas.openxmlformats.org/drawingml/2006/main">
            <a:r>
              <a:t>Time Management: 원래 Case 4분을 S18 Case 2분 + 새 S19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원하는 작업 경로를 Prompt에 담는다</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S20로 연결한다.</a:t>
            </a:r>
          </a:p>
          <a:p xmlns:a="http://schemas.openxmlformats.org/drawingml/2006/main">
            <a:r>
              <a:t/>
            </a:r>
          </a:p>
          <a:p xmlns:a="http://schemas.openxmlformats.org/drawingml/2006/main">
            <a:r>
              <a:t>Time Management: Case 2분. 다섯 줄 요청 45초, 목표 경로와 검증 경계 45초, 다음 질문 연결 30초. S18와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개발자가 정해야 하는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S21로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Task Specification의 다섯 책임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S20의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S22의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더 긴 Prompt보다 분명한 경계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S23의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요청한 과정은 기록에도 남았을까?</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S24로 이동한다. 05 확인·보고 결과는 S25에서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xmlns:a="http://schemas.openxmlformats.org/drawingml/2006/main">
            <a:r>
              <a:t/>
            </a:r>
          </a:p>
          <a:p xmlns:a="http://schemas.openxmlformats.org/drawingml/2006/main">
            <a:r>
              <a:t>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조사에서 한 줄 변경까지</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S07–S08의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S23의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S25로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변경 결과와 확인 증거</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S22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S26으로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S26으로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Generated ≠ Done</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S27의 승인된 ON-SCREEN SUPPORTING vector·GoogleTest 도식으로 완료 조건과 검사 범위를 연결한다. 주요 C++ 패턴 전이는 S73에서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S27의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Check마다 확인하는 범위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S28로 이동한다. 기존 반복 Context 질문은 새8장 뒤의 S36–S37에서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지시와 참고 자료의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입력과 기대 결과의 작은 예시</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바로 검토할 수 있는 결과 형식</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근거가 있는 설명과 미확인의 구분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결과를 바꾸는 결정에서 확인 질문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큰 작업을 검토할 결과물로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기준을 지정한 코드 리뷰 요청</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구체적인 근거로 수정 방향 피드백</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S28–S29의 반복 Context 질문으로 연결한다. 현재 기존 두 장은 S36–S37이다.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S28–S29의 반복 Context 질문으로 연결한다. 현재 기존 두 장은 S36–S37이다.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S35 또는 production/preview/act1/S35.png.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이번 Task인가, 계속 유지할 Project 정보인가?</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S37에서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S37으로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반복하는 설명을 두 범주로 나누기</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S39의 반복 Project Context 문제로 연결한다.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필요한 정보를 찾아 쓰게 하기</a:t>
            </a:r>
          </a:p>
          <a:p xmlns:a="http://schemas.openxmlformats.org/drawingml/2006/main">
            <a:r>
              <a:t/>
            </a:r>
          </a:p>
          <a:p xmlns:a="http://schemas.openxmlformats.org/drawingml/2006/main">
            <a:r>
              <a:t>**Slide ID:**</a:t>
            </a:r>
          </a:p>
          <a:p xmlns:a="http://schemas.openxmlformats.org/drawingml/2006/main">
            <a:r>
              <a:t>S38</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S39의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S39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S39로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production/preview/full/S38.png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다른 Task에 같은 설명이 반복된다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작은 Project Context의 첫 기록</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S41로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S40 및 `production/preview/act2/S40.png`에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S41 handoff. 명령어 옵션별 설명은 생략한다.</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AGENTS.md의 지침대로 검증했다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S42 연결. Demo4분·기존 Mode는 유지하며 실측 리허설은 UNVERIFIED다.</a:t>
            </a:r>
          </a:p>
          <a:p xmlns:a="http://schemas.openxmlformats.org/drawingml/2006/main">
            <a:r>
              <a:t/>
            </a:r>
          </a:p>
          <a:p xmlns:a="http://schemas.openxmlformats.org/drawingml/2006/main">
            <a:r>
              <a:t>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Task Prompt와 Project Context</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S39–S37.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정확한 정보도 계속 늘어난다</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S44의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정확하지만 이번 작업에는 불필요한 정보</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정보의 범위와 제공 시점</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S44 회수30초, 공통 안내1분, 요청별 상세1분, 재사용 절차1분, 경계·S46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많이 담아도 같은 근거를 똑같이 쓰는가?</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S47으로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AI가 필요한 코드를 찾았다는 것을 무엇으로 확인할까?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S46에서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S48의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S48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필요한 상세 정보로 가는 길</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AGENTS.md에는 무엇을 남길까?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S50, 문서 접근의 관찰과 한계는 S52–S54에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정보를 지우지 않고 위치를 나누기</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서로 다른 두 Task가 무엇을 읽을까?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S52–S54의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Crop Task에서 관찰한 접근</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의존성 질문은 설정과 소스로 답했다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S51의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Task별 접근은 달랐지만 완벽하지는 않다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Context 정리에서 확인한 네 가지</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S55; production/preview/act2/S55.png.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지식은 정리됐지만 절차는 반복된다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S58으로 넘긴다.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S58에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S58에서 기록의 반복 구조를 확인한다.</a:t>
            </a:r>
          </a:p>
          <a:p xmlns:a="http://schemas.openxmlformats.org/drawingml/2006/main">
            <a:r>
              <a:t/>
            </a:r>
          </a:p>
          <a:p xmlns:a="http://schemas.openxmlformats.org/drawingml/2006/main">
            <a:r>
              <a:t>Audience Interaction: Q&amp;A6分은 팀에서 반복하는 작업 방법을 묻는다. S54의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S58으로 handoff한다.</a:t>
            </a:r>
          </a:p>
          <a:p xmlns:a="http://schemas.openxmlformats.org/drawingml/2006/main">
            <a:r>
              <a:t/>
            </a:r>
          </a:p>
          <a:p xmlns:a="http://schemas.openxmlformats.org/drawingml/2006/main">
            <a:r>
              <a:t>Fallback: LOCAL STATIC ARTIFACT — production/ACT_2.pptx의 S56 또는 production/preview/act2/S56.png를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AI가 일할 방법과 환경 설계하기</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S58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production/preview/full/S57.png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두 실제 요청에 같은 절차가 반복됐다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S56의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테스트 명령을 언제 쓰고 무엇을 판단할까?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S58의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S60의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S60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목표·기준·방법을 한 작업에 적용한다</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S59에서 명령의 사용 시점·판단 기준까지 정한 방법을 봤음을 한 문장으로 회수한다. 상단 이번 목표 ‘normalize 성능을 조사해줘’를 읽고, 아래 작업 영역으로 들어가는 연결을 짚는다. S59의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S61에서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S59 회수·목표1, 기준·한 작업1.5, 방법 적용1.5, S61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반복 절차를 Skill로 모으는 이유</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S60의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S59에서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S62의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S62에서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S60 회수0.75, 요청/기준 구분1, 공통 Skill과 관리 이유1.25, 선택 범위/S58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S61, production/preview/act3/S61.png 및 production/preview/full/S61.png.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발견·호출·본문 포함의 근거</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S61의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S63에서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S63로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S61 회수·업무 목적0.75, 목록1, 요청1, trace1.5, 범위·S63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S62, production/preview/act3/S62.png 및 production/preview/full/S62.png.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Skill 지침과 실제 작업 기록의 대응</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S62의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S65에서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S62의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S66–S67로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S64 팁 뒤 S65에서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범위·S65 연결1.5). 지연 시 명령과 테스트 이름을 낭독하지 않고 행별 대응을 짚는다. 조건부 계획, 입력/수행 구분, 단독 효과 미입증은 생략하지 않는다. 6분에 S65으로 이동한다.</a:t>
            </a:r>
          </a:p>
          <a:p xmlns:a="http://schemas.openxmlformats.org/drawingml/2006/main">
            <a:r>
              <a:t/>
            </a:r>
          </a:p>
          <a:p xmlns:a="http://schemas.openxmlformats.org/drawingml/2006/main">
            <a:r>
              <a:t>Fallback: LOCAL STATIC ARTIFACT — production/ACT_3.pptx의 S63, production/preview/act3/S63.png 및 production/preview/full/S63.png.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대화로 재사용할 Skill 만들기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S63에서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S65의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S64이 이동한 S65로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S64 / production/preview/full/S64.png.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절차는 재사용하고, 답은 근거로 정한다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S64에서 대화로 Skill 초안을 만들 수 있음을 봤다. 이제 그 지침 안에서 다음 작업에도 유지할 수행 절차와 이번 Task의 근거로 결정할 답을 나눈다. 앞의 S63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S66에서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S66/S62보다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S63 회수0.5, 재사용 방법0.75, 이번 근거·답1, 채택/보류와 S66 연결0.75. 지연 시 지침 원문과 세 질문을 전부 낭독하지 않는다. 허용된 보류와 실제 결과의 구분은 생략하지 않고3분에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계산의 성능 개선 후보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S67은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S66에는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S67의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선택한 변경의 시간·메모리·동작 확인</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S66에서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S67, production/preview/act3/S67.png 및 production/preview/full/S67.png.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한 Agent 조사와 Subagent 역할 분리</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S67의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S70의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S70에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S69 제작 팁을 거친 뒤 S70의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S70으로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대화로 조사 Agent 만들기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S68의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S70의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S68이 이동한 S70에서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S69 / production/preview/full/S69.png.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작업을 나누지 않은 이유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“S68의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S68에서는 성능·빌드·테스트 조사가 서로 기다리지 않아도 된다고 가정했다. 이제 S66/S62의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S66에서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S67에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S68의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S68의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Lecture1분(S68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Context와 다시 쓸 지식</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S70에서는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S72에서는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S70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S72로 이동한다.</a:t>
            </a:r>
          </a:p>
          <a:p xmlns:a="http://schemas.openxmlformats.org/drawingml/2006/main">
            <a:r>
              <a:t/>
            </a:r>
          </a:p>
          <a:p xmlns:a="http://schemas.openxmlformats.org/drawingml/2006/main">
            <a:r>
              <a:t>Fallback: LOCAL STATIC ARTIFACT — production/ACT_3.pptx의 S71, production/preview/act3/S71.png 및 production/preview/full/S71.png.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Demo 지식의 원래 출처</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S73으로 이동한다.</a:t>
            </a:r>
          </a:p>
          <a:p xmlns:a="http://schemas.openxmlformats.org/drawingml/2006/main">
            <a:r>
              <a:t/>
            </a:r>
          </a:p>
          <a:p xmlns:a="http://schemas.openxmlformats.org/drawingml/2006/main">
            <a:r>
              <a:t>Fallback: LOCAL STATIC ARTIFACT — production/ACT_3.pptx의 S72, production/preview/act3/S72.png 및 production/preview/full/S72.png.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 작업에 쓰인 구성의 역할</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S62/S59에서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S67처럼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S62–S67의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함께 작동하는 작업 환경, Harness</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S75–S76를 연다. 제품이나 새 명령을 실행하지 않는다.</a:t>
            </a:r>
          </a:p>
          <a:p xmlns:a="http://schemas.openxmlformats.org/drawingml/2006/main">
            <a:r>
              <a:t>마지막 연결은 다음 프로젝트에서도 사용할 기반의 가치다. 실행 조건의 세부는 S77–S81에서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S75–S76은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S73/STATE-04-PERF의 AGENTS.md·docs·Skill·tests·benchmark와 기록된 입력/실행 조건을 같은 도식에 대응하는 CAPTURED 정적 요약이다. 실제 실행 캡처가 아니며 제품·Agent·benchmark·Demo repository를 실행하거나 새 Trial을 만들지 않는다. S73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만든 Harness를 다음 프로젝트의 기반으로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S74의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공통 기반에 프로젝트 기준을 연결한다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S77의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S76의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S09과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S78을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첫 결과 뒤에도, 확인할 일이 남는다면?</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남은 문제를 다음 수정으로 이어주는 사람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S80로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S80로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같은 목표의 수정과 검토가 끊기지 않게</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S81에서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S81에서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수정에 넘길 기록</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S82에서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S82에서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내가 매번 이어 주는 다음 단계는 무엇일까?</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S83의 목표 기반 실행·검토 시스템 제목을 거쳐 S84의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S83의 목표 기반 실행·검토 시스템 제목을 거쳐 S84의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S82; production/preview/act3/S82.png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목표를 이룰 때까지 수정하고 검토하기</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목표를 이룰 때까지 수정하고 검토하기</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1 minutes</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**Opening Question:**</a:t>
            </a:r>
          </a:p>
          <a:p xmlns:a="http://schemas.openxmlformats.org/drawingml/2006/main">
            <a:r>
              <a:t>다음 수정과 검토까지 작업 시스템이 이어가려면 무엇이 필요할까?</a:t>
            </a:r>
          </a:p>
          <a:p xmlns:a="http://schemas.openxmlformats.org/drawingml/2006/main">
            <a:r>
              <a:t/>
            </a:r>
          </a:p>
          <a:p xmlns:a="http://schemas.openxmlformats.org/drawingml/2006/main">
            <a:r>
              <a:t>**Speaker Flow:**</a:t>
            </a:r>
          </a:p>
          <a:p xmlns:a="http://schemas.openxmlformats.org/drawingml/2006/main">
            <a:r>
              <a:t>1. (0:00–1:00 / Transition) ACT3의 마지막 질문을 받아 제목과 부제만 안내한다. 목표·완료 기준이 반복을 이끈다는 관점을 예고하고 S84으로 넘긴다.</a:t>
            </a:r>
          </a:p>
          <a:p xmlns:a="http://schemas.openxmlformats.org/drawingml/2006/main">
            <a:r>
              <a:t/>
            </a:r>
          </a:p>
          <a:p xmlns:a="http://schemas.openxmlformats.org/drawingml/2006/main">
            <a:r>
              <a:t>**Evidence / Source:**</a:t>
            </a:r>
          </a:p>
          <a:p xmlns:a="http://schemas.openxmlformats.org/drawingml/2006/main">
            <a:r>
              <a:t>DEC-0097; BEAT-072;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Loop Engineering은 같은 목표의 구현·검토·수정을 피드백으로 연결하는 시스템 설계다.</a:t>
            </a:r>
          </a:p>
          <a:p xmlns:a="http://schemas.openxmlformats.org/drawingml/2006/main">
            <a:r>
              <a:t/>
            </a:r>
          </a:p>
          <a:p xmlns:a="http://schemas.openxmlformats.org/drawingml/2006/main">
            <a:r>
              <a:t>**Advanced Insight:**</a:t>
            </a:r>
          </a:p>
          <a:p xmlns:a="http://schemas.openxmlformats.org/drawingml/2006/main">
            <a:r>
              <a:t>이번 교육의 운영 정의다. 특정 제품의 기능명이나 보편 표준 분류로 주장하지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N/A — ACT 제목 안내.</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다음 수정도 사람이 매번 이어줘야 할까?의 질문으로 이어간다.</a:t>
            </a:r>
          </a:p>
          <a:p xmlns:a="http://schemas.openxmlformats.org/drawingml/2006/main">
            <a:r>
              <a:t/>
            </a:r>
          </a:p>
          <a:p xmlns:a="http://schemas.openxmlformats.org/drawingml/2006/main">
            <a:r>
              <a:t>**Time Management:**</a:t>
            </a:r>
          </a:p>
          <a:p xmlns:a="http://schemas.openxmlformats.org/drawingml/2006/main">
            <a:r>
              <a:t>Transition 1분 = 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S83; production/preview/act4/S83.png 및 production/preview/full/S83.png.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다음 수정도 사람이 매번 이어줘야 할까?</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다음 수정도 사람이 매번 이어줘야 할까?</a:t>
            </a:r>
          </a:p>
          <a:p xmlns:a="http://schemas.openxmlformats.org/drawingml/2006/main">
            <a:r>
              <a:t/>
            </a:r>
          </a:p>
          <a:p xmlns:a="http://schemas.openxmlformats.org/drawingml/2006/main">
            <a:r>
              <a:t>**ACT / Section:**</a:t>
            </a:r>
          </a:p>
          <a:p xmlns:a="http://schemas.openxmlformats.org/drawingml/2006/main">
            <a:r>
              <a:t>ACT 4 / 4R1 Goal-loop entry</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**Opening Question:**</a:t>
            </a:r>
          </a:p>
          <a:p xmlns:a="http://schemas.openxmlformats.org/drawingml/2006/main">
            <a:r>
              <a:t>작업 방법이 있어도 다음 단계는 매번 사람이 다시 요청해야 할까?</a:t>
            </a:r>
          </a:p>
          <a:p xmlns:a="http://schemas.openxmlformats.org/drawingml/2006/main">
            <a:r>
              <a:t/>
            </a:r>
          </a:p>
          <a:p xmlns:a="http://schemas.openxmlformats.org/drawingml/2006/main">
            <a:r>
              <a:t>**Speaker Flow:**</a:t>
            </a:r>
          </a:p>
          <a:p xmlns:a="http://schemas.openxmlformats.org/drawingml/2006/main">
            <a:r>
              <a:t>1. (0:00–2:00 / Lecture) S82의 질문을 회수한다. 앞 ACT의 Harness는 수행 방법과 도구를 제공한다. 이 장의 세 요청은 실제 Trial이 아닌 가상 상황이며 같은 목표 안의 연속 단계라고 설명한다.</a:t>
            </a:r>
          </a:p>
          <a:p xmlns:a="http://schemas.openxmlformats.org/drawingml/2006/main">
            <a:r>
              <a:t>2. (2:00–4:00 / Case) ACT3의 세 요청을 다시 나열하지 않고, 사람이 모아 전달하던 검토 의견이 다음 수정의 입력으로 들어가는 두 영역을 짚는다. 목표는 유지하고 남은 문제를 시스템 안에서 넘길 수 있겠다는 질문으로 S85의 완료 기준을 연다.</a:t>
            </a:r>
          </a:p>
          <a:p xmlns:a="http://schemas.openxmlformats.org/drawingml/2006/main">
            <a:r>
              <a:t/>
            </a:r>
          </a:p>
          <a:p xmlns:a="http://schemas.openxmlformats.org/drawingml/2006/main">
            <a:r>
              <a:t>**Evidence / Source:**</a:t>
            </a:r>
          </a:p>
          <a:p xmlns:a="http://schemas.openxmlformats.org/drawingml/2006/main">
            <a:r>
              <a:t>DEC-0097; BEAT-073;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한 목표를 마치는 동안 사람이 검토·수정·재확인의 다음 요청을 계속 연결하는 문제를 드러낸다.</a:t>
            </a:r>
          </a:p>
          <a:p xmlns:a="http://schemas.openxmlformats.org/drawingml/2006/main">
            <a:r>
              <a:t/>
            </a:r>
          </a:p>
          <a:p xmlns:a="http://schemas.openxmlformats.org/drawingml/2006/main">
            <a:r>
              <a:t>**Advanced Insight:**</a:t>
            </a:r>
          </a:p>
          <a:p xmlns:a="http://schemas.openxmlformats.org/drawingml/2006/main">
            <a:r>
              <a:t>Harness와 Loop를 배타적인 제품 단계로 구분하지 않는다. 여기서는 반복의 상태·피드백·다음 행동 제어라는 추가 설계 책임을 드러낸다.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먼저, 무엇이 되면 완료인지 정한다의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S84; production/preview/act4/S84.png 및 production/preview/full/S84.png.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먼저, 무엇이 되면 완료인지 정한다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먼저, 무엇이 되면 완료인지 정한다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**Opening Question:**</a:t>
            </a:r>
          </a:p>
          <a:p xmlns:a="http://schemas.openxmlformats.org/drawingml/2006/main">
            <a:r>
              <a:t>이 최적화 작업은 무엇을 확인하면 완료라고 할 수 있을까?</a:t>
            </a:r>
          </a:p>
          <a:p xmlns:a="http://schemas.openxmlformats.org/drawingml/2006/main">
            <a:r>
              <a:t/>
            </a:r>
          </a:p>
          <a:p xmlns:a="http://schemas.openxmlformats.org/drawingml/2006/main">
            <a:r>
              <a:t>**Speaker Flow:**</a:t>
            </a:r>
          </a:p>
          <a:p xmlns:a="http://schemas.openxmlformats.org/drawingml/2006/main">
            <a:r>
              <a:t>1. (0:00–2:00 / Lecture) 별도 교육용 최적화 상황임을 먼저 밝힌다. 실제 명세의 여섯 출력은 width, height, pixel_count, minimum, maximum, mean이다. 기능 보존과 자원 조건을 함께 제시한다.</a:t>
            </a:r>
          </a:p>
          <a:p xmlns:a="http://schemas.openxmlformats.org/drawingml/2006/main">
            <a:r>
              <a:t>2. (2:00–4:00 / Case) 반복할 때에도 같은 입력·환경·측정 기준을 사용한다. 수치·대표 입력은 실행 전에 확정해야 하며 현재 TBD다. 과거 측정값을 새 완료 기준이나 새 결과로 가져오지 않는다.</a:t>
            </a:r>
          </a:p>
          <a:p xmlns:a="http://schemas.openxmlformats.org/drawingml/2006/main">
            <a:r>
              <a:t/>
            </a:r>
          </a:p>
          <a:p xmlns:a="http://schemas.openxmlformats.org/drawingml/2006/main">
            <a:r>
              <a:t>**Evidence / Source:**</a:t>
            </a:r>
          </a:p>
          <a:p xmlns:a="http://schemas.openxmlformats.org/drawingml/2006/main">
            <a:r>
              <a:t>DEC-0097; BEAT-074; CASE-LOOP-01; existing six-field specification in DEMO_MATRIX.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밝기 통계의 출력·동작, 임시 할당, 실행시간 조건을 처음부터 완료 기준으로 두고 반복 중 유지한다.</a:t>
            </a:r>
          </a:p>
          <a:p xmlns:a="http://schemas.openxmlformats.org/drawingml/2006/main">
            <a:r>
              <a:t/>
            </a:r>
          </a:p>
          <a:p xmlns:a="http://schemas.openxmlformats.org/drawingml/2006/main">
            <a:r>
              <a:t>**Advanced Insight:**</a:t>
            </a:r>
          </a:p>
          <a:p xmlns:a="http://schemas.openxmlformats.org/drawingml/2006/main">
            <a:r>
              <a:t>모델의 판단에 따라 목표나 테스트 기대값을 낮추지 않는다. 요구 변경이 필요하면 사람이 명시적으로 승인한다.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A가 첫 변경 후보를 만든다의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S85; production/preview/act4/S85.png 및 production/preview/full/S85.png.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모델 A가 첫 변경 후보를 만든다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모델 A가 첫 변경 후보를 만든다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**Opening Question:**</a:t>
            </a:r>
          </a:p>
          <a:p xmlns:a="http://schemas.openxmlformats.org/drawingml/2006/main">
            <a:r>
              <a:t>코드 초안이 나왔다는 사실만으로 할당량 목표를 이뤘다고 할 수 있을까?</a:t>
            </a:r>
          </a:p>
          <a:p xmlns:a="http://schemas.openxmlformats.org/drawingml/2006/main">
            <a:r>
              <a:t/>
            </a:r>
          </a:p>
          <a:p xmlns:a="http://schemas.openxmlformats.org/drawingml/2006/main">
            <a:r>
              <a:t>**Speaker Flow:**</a:t>
            </a:r>
          </a:p>
          <a:p xmlns:a="http://schemas.openxmlformats.org/drawingml/2006/main">
            <a:r>
              <a:t>1. (0:00–1:00 / Case) 고정된 목표 띠를 다시 짚고 모델 A가 첫 후보를 만드는 단계임을 보인다. 실제 STATE-04-PERF 이후의 회귀나 새 코드 실행이 아니다.</a:t>
            </a:r>
          </a:p>
          <a:p xmlns:a="http://schemas.openxmlformats.org/drawingml/2006/main">
            <a:r>
              <a:t>2. (1:00–3:00 / Case) 가정한 v1의 전체 값 복사를 짚는다. 통계 결과가 맞아 보이는 것과 임시 할당 감소를 확인하는 것은 별개다. 실제 메모리·시간 수치를 표시하지 않는다.</a:t>
            </a:r>
          </a:p>
          <a:p xmlns:a="http://schemas.openxmlformats.org/drawingml/2006/main">
            <a:r>
              <a:t>3. (3:00–4:00 / Case) 후보가 나온 시점에서 확인할 자료가 필요하다고 닫는다. 다음 장은 검사할 항목이며 실제 PASS/FAIL을 보여주는 장이 아니다.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첫 구현은 검토할 후보이며 완료가 아니다. 가상 v1은 전체 값 복사가 남아 있는 계산 방식이다.</a:t>
            </a:r>
          </a:p>
          <a:p xmlns:a="http://schemas.openxmlformats.org/drawingml/2006/main">
            <a:r>
              <a:t/>
            </a:r>
          </a:p>
          <a:p xmlns:a="http://schemas.openxmlformats.org/drawingml/2006/main">
            <a:r>
              <a:t>**Advanced Insight:**</a:t>
            </a:r>
          </a:p>
          <a:p xmlns:a="http://schemas.openxmlformats.org/drawingml/2006/main">
            <a:r>
              <a:t>후보 생성·실제 동작·자원 측정을 서로 다른 사건으로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실제 동작과 비용은 도구로 확인한다의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S86; production/preview/act4/S86.png 및 production/preview/full/S86.png.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동작과 비용은 도구로 확인한다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동작과 비용은 도구로 확인한다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2분 + Case 3분</a:t>
            </a:r>
          </a:p>
          <a:p xmlns:a="http://schemas.openxmlformats.org/drawingml/2006/main">
            <a:r>
              <a:t/>
            </a:r>
          </a:p>
          <a:p xmlns:a="http://schemas.openxmlformats.org/drawingml/2006/main">
            <a:r>
              <a:t>**Primary Message:**</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**Opening Question:**</a:t>
            </a:r>
          </a:p>
          <a:p xmlns:a="http://schemas.openxmlformats.org/drawingml/2006/main">
            <a:r>
              <a:t>완료 기준의 각 항목을 어떤 자료로 확인해야 할까?</a:t>
            </a:r>
          </a:p>
          <a:p xmlns:a="http://schemas.openxmlformats.org/drawingml/2006/main">
            <a:r>
              <a:t/>
            </a:r>
          </a:p>
          <a:p xmlns:a="http://schemas.openxmlformats.org/drawingml/2006/main">
            <a:r>
              <a:t>**Speaker Flow:**</a:t>
            </a:r>
          </a:p>
          <a:p xmlns:a="http://schemas.openxmlformats.org/drawingml/2006/main">
            <a:r>
              <a:t>1. (0:00–2:00 / Lecture) 출력과 동작은 명세를 확인하는 테스트, 할당량은 대표 입력의 측정, 시간은 같은 환경에서의 반복 측정으로 확인한다고 연결한다.</a:t>
            </a:r>
          </a:p>
          <a:p xmlns:a="http://schemas.openxmlformats.org/drawingml/2006/main">
            <a:r>
              <a:t>2. (2:00–5:00 / Case) 검사를 계획했다는 것과 실행 결과를 얻었다는 것을 구분한다. 이 장에는 실행 결과가 없다. 실제 운영에서는 입력·환경·명령·결과·미확인을 검토 모델에게 함께 넘긴다.</a:t>
            </a:r>
          </a:p>
          <a:p xmlns:a="http://schemas.openxmlformats.org/drawingml/2006/main">
            <a:r>
              <a:t/>
            </a:r>
          </a:p>
          <a:p xmlns:a="http://schemas.openxmlformats.org/drawingml/2006/main">
            <a:r>
              <a:t>**Evidence / Source:**</a:t>
            </a:r>
          </a:p>
          <a:p xmlns:a="http://schemas.openxmlformats.org/drawingml/2006/main">
            <a:r>
              <a:t>DEC-0097; BEAT-075;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모델의 설명을 실제 검사·측정 기록으로 대조하도록 검증을 설계한다.</a:t>
            </a:r>
          </a:p>
          <a:p xmlns:a="http://schemas.openxmlformats.org/drawingml/2006/main">
            <a:r>
              <a:t/>
            </a:r>
          </a:p>
          <a:p xmlns:a="http://schemas.openxmlformats.org/drawingml/2006/main">
            <a:r>
              <a:t>**Advanced Insight:**</a:t>
            </a:r>
          </a:p>
          <a:p xmlns:a="http://schemas.openxmlformats.org/drawingml/2006/main">
            <a:r>
              <a:t>테스트 통과도 확인한 범위의 근거다. 모든 결함 부재나 숨은 요구 충족을 보장하지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모델 B는 무엇을 근거로 검토할까?의 질문으로 이어간다.</a:t>
            </a:r>
          </a:p>
          <a:p xmlns:a="http://schemas.openxmlformats.org/drawingml/2006/main">
            <a:r>
              <a:t/>
            </a:r>
          </a:p>
          <a:p xmlns:a="http://schemas.openxmlformats.org/drawingml/2006/main">
            <a:r>
              <a:t>**Time Management:**</a:t>
            </a:r>
          </a:p>
          <a:p xmlns:a="http://schemas.openxmlformats.org/drawingml/2006/main">
            <a:r>
              <a:t>Lecture 2분 + Case 3분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S87; production/preview/act4/S87.png 및 production/preview/full/S87.png.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모델 B는 무엇을 근거로 검토할까?</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모델 B는 무엇을 근거로 검토할까?</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5분</a:t>
            </a:r>
          </a:p>
          <a:p xmlns:a="http://schemas.openxmlformats.org/drawingml/2006/main">
            <a:r>
              <a:t/>
            </a:r>
          </a:p>
          <a:p xmlns:a="http://schemas.openxmlformats.org/drawingml/2006/main">
            <a:r>
              <a:t>**Primary Message:**</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**Opening Question:**</a:t>
            </a:r>
          </a:p>
          <a:p xmlns:a="http://schemas.openxmlformats.org/drawingml/2006/main">
            <a:r>
              <a:t>잘 검토해 달라는 말에 무엇을 함께 전달해야 할까?</a:t>
            </a:r>
          </a:p>
          <a:p xmlns:a="http://schemas.openxmlformats.org/drawingml/2006/main">
            <a:r>
              <a:t/>
            </a:r>
          </a:p>
          <a:p xmlns:a="http://schemas.openxmlformats.org/drawingml/2006/main">
            <a:r>
              <a:t>**Speaker Flow:**</a:t>
            </a:r>
          </a:p>
          <a:p xmlns:a="http://schemas.openxmlformats.org/drawingml/2006/main">
            <a:r>
              <a:t>1. (0:00–2:00 / Case) 왼쪽의 명세·완료 기준, 후보 변경, 검사 기록을 짚는다. 모델 A가 잘 됐다고 요약한 말만 넘기는 대신 검토 가능한 원자료를 제공한다.</a:t>
            </a:r>
          </a:p>
          <a:p xmlns:a="http://schemas.openxmlformats.org/drawingml/2006/main">
            <a:r>
              <a:t>2. (2:00–4:00 / Case) 가상 v1에서 임시 목록이 남았다는 지적과 대표 입력의 확인 자료가 없다는 지적을 구분한다. 두 번째는 동작 실패가 관찰됐다는 뜻이 아니다.</a:t>
            </a:r>
          </a:p>
          <a:p xmlns:a="http://schemas.openxmlformats.org/drawingml/2006/main">
            <a:r>
              <a:t>3. (4:00–5:00 / Case) 검토 결과에는 파일·위치, 위반 기준, 근거와 다음에 확인할 것을 담는다. 모델 B는 다른 모델 역할의 설계이며 실제 조합이나 실행 기록은 아직 없다.</a:t>
            </a:r>
          </a:p>
          <a:p xmlns:a="http://schemas.openxmlformats.org/drawingml/2006/main">
            <a:r>
              <a:t/>
            </a:r>
          </a:p>
          <a:p xmlns:a="http://schemas.openxmlformats.org/drawingml/2006/main">
            <a:r>
              <a:t>**Evidence / Source:**</a:t>
            </a:r>
          </a:p>
          <a:p xmlns:a="http://schemas.openxmlformats.org/drawingml/2006/main">
            <a:r>
              <a:t>DEC-0097; BEAT-076;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다른 모델 B는 목표·명세·diff·검사 기록을 근거로 구체적인 검토 지적을 만든다.</a:t>
            </a:r>
          </a:p>
          <a:p xmlns:a="http://schemas.openxmlformats.org/drawingml/2006/main">
            <a:r>
              <a:t/>
            </a:r>
          </a:p>
          <a:p xmlns:a="http://schemas.openxmlformats.org/drawingml/2006/main">
            <a:r>
              <a:t>**Advanced Insight:**</a:t>
            </a:r>
          </a:p>
          <a:p xmlns:a="http://schemas.openxmlformats.org/drawingml/2006/main">
            <a:r>
              <a:t>검토자는 구현 모델의 결론을 반복하는 대신 명세와 변경·검사 기록을 독립적으로 대조하도록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지적이 다음 수정으로 이어진다의 질문으로 이어간다.</a:t>
            </a:r>
          </a:p>
          <a:p xmlns:a="http://schemas.openxmlformats.org/drawingml/2006/main">
            <a:r>
              <a:t/>
            </a:r>
          </a:p>
          <a:p xmlns:a="http://schemas.openxmlformats.org/drawingml/2006/main">
            <a:r>
              <a:t>**Time Management:**</a:t>
            </a:r>
          </a:p>
          <a:p xmlns:a="http://schemas.openxmlformats.org/drawingml/2006/main">
            <a:r>
              <a:t>Case 5분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S88; production/preview/act4/S88.png 및 production/preview/full/S88.png.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지적이 다음 수정으로 이어진다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지적이 다음 수정으로 이어진다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**Opening Question:**</a:t>
            </a:r>
          </a:p>
          <a:p xmlns:a="http://schemas.openxmlformats.org/drawingml/2006/main">
            <a:r>
              <a:t>검토에서 찾은 문제는 다음 변경의 어느 부분으로 이어졌을까?</a:t>
            </a:r>
          </a:p>
          <a:p xmlns:a="http://schemas.openxmlformats.org/drawingml/2006/main">
            <a:r>
              <a:t/>
            </a:r>
          </a:p>
          <a:p xmlns:a="http://schemas.openxmlformats.org/drawingml/2006/main">
            <a:r>
              <a:t>**Speaker Flow:**</a:t>
            </a:r>
          </a:p>
          <a:p xmlns:a="http://schemas.openxmlformats.org/drawingml/2006/main">
            <a:r>
              <a:t>1. (0:00–1:00 / Case) 앞 장의 지적 ①과 ②를 같은 번호로 이어 받는다. 새 목표를 추가하는 장이 아니다.</a:t>
            </a:r>
          </a:p>
          <a:p xmlns:a="http://schemas.openxmlformats.org/drawingml/2006/main">
            <a:r>
              <a:t>2. (1:00–3:00 / Case) ① 전체 값 복사 제거, ② 같은 결과 검사 추가라는 후보 변경을 각각 연결한다. 실행하지 않은 수정·테스트를 실제 이력으로 말하지 않는다.</a:t>
            </a:r>
          </a:p>
          <a:p xmlns:a="http://schemas.openxmlformats.org/drawingml/2006/main">
            <a:r>
              <a:t>3. (3:00–4:00 / Case) 지적은 검증 후 수용·기각할 수 있다. 지금 그림은 지적이 타당하다고 가정한 설계이며 수정 후에는 같은 기준으로 다시 확인해야 한다고 넘긴다.</a:t>
            </a:r>
          </a:p>
          <a:p xmlns:a="http://schemas.openxmlformats.org/drawingml/2006/main">
            <a:r>
              <a:t/>
            </a:r>
          </a:p>
          <a:p xmlns:a="http://schemas.openxmlformats.org/drawingml/2006/main">
            <a:r>
              <a:t>**Evidence / Source:**</a:t>
            </a:r>
          </a:p>
          <a:p xmlns:a="http://schemas.openxmlformats.org/drawingml/2006/main">
            <a:r>
              <a:t>DEC-0097; BEAT-077;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지적의 번호를 유지해 다음 변경 후보가 무엇을 고치는지 연결한다.</a:t>
            </a:r>
          </a:p>
          <a:p xmlns:a="http://schemas.openxmlformats.org/drawingml/2006/main">
            <a:r>
              <a:t/>
            </a:r>
          </a:p>
          <a:p xmlns:a="http://schemas.openxmlformats.org/drawingml/2006/main">
            <a:r>
              <a:t>**Advanced Insight:**</a:t>
            </a:r>
          </a:p>
          <a:p xmlns:a="http://schemas.openxmlformats.org/drawingml/2006/main">
            <a:r>
              <a:t>각 변경의 이유와 검토 항목을 연결하면 다음 검토자가 해결·미해결 여부를 추적할 수 있다.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고쳤다면, 같은 기준으로 다시 본다의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S89; production/preview/act4/S89.png 및 production/preview/full/S89.png.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고쳤다면, 같은 기준으로 다시 본다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고쳤다면, 같은 기준으로 다시 본다</a:t>
            </a:r>
          </a:p>
          <a:p xmlns:a="http://schemas.openxmlformats.org/drawingml/2006/main">
            <a:r>
              <a:t/>
            </a:r>
          </a:p>
          <a:p xmlns:a="http://schemas.openxmlformats.org/drawingml/2006/main">
            <a:r>
              <a:t>**ACT / Section:**</a:t>
            </a:r>
          </a:p>
          <a:p xmlns:a="http://schemas.openxmlformats.org/drawingml/2006/main">
            <a:r>
              <a:t>ACT 4 / 4R2 One-goal walkthrough</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Case 4분</a:t>
            </a:r>
          </a:p>
          <a:p xmlns:a="http://schemas.openxmlformats.org/drawingml/2006/main">
            <a:r>
              <a:t/>
            </a:r>
          </a:p>
          <a:p xmlns:a="http://schemas.openxmlformats.org/drawingml/2006/main">
            <a:r>
              <a:t>**Primary Message:**</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**Opening Question:**</a:t>
            </a:r>
          </a:p>
          <a:p xmlns:a="http://schemas.openxmlformats.org/drawingml/2006/main">
            <a:r>
              <a:t>지적한 부분을 고쳤다면 바로 끝내도 될까?</a:t>
            </a:r>
          </a:p>
          <a:p xmlns:a="http://schemas.openxmlformats.org/drawingml/2006/main">
            <a:r>
              <a:t/>
            </a:r>
          </a:p>
          <a:p xmlns:a="http://schemas.openxmlformats.org/drawingml/2006/main">
            <a:r>
              <a:t>**Speaker Flow:**</a:t>
            </a:r>
          </a:p>
          <a:p xmlns:a="http://schemas.openxmlformats.org/drawingml/2006/main">
            <a:r>
              <a:t>1. (0:00–2:00 / Case) 후보 v2와 갱신된 기록을 같은 목표 띠 아래에서 보여준다. 출력·할당량·시간 조건을 다시 대조하며 기존 동작의 회귀도 확인한다.</a:t>
            </a:r>
          </a:p>
          <a:p xmlns:a="http://schemas.openxmlformats.org/drawingml/2006/main">
            <a:r>
              <a:t>2. (2:00–3:00 / Case) 조건을 충족했다는 근거가 있으면 완료 판단으로, 남은 문제가 있으면 다음 후보로 이어지는 분기를 짚는다. 실제 v2 성공·v3 실행은 관찰하지 않았다.</a:t>
            </a:r>
          </a:p>
          <a:p xmlns:a="http://schemas.openxmlformats.org/drawingml/2006/main">
            <a:r>
              <a:t>3. (3:00–4:00 / Case) 완료 기준을 낮춰서 끝내지 않는다고 회수한다. 지금까지 단계별로 본 연결을 다음 장에서 하나의 루프로 묶는다.</a:t>
            </a:r>
          </a:p>
          <a:p xmlns:a="http://schemas.openxmlformats.org/drawingml/2006/main">
            <a:r>
              <a:t/>
            </a:r>
          </a:p>
          <a:p xmlns:a="http://schemas.openxmlformats.org/drawingml/2006/main">
            <a:r>
              <a:t>**Evidence / Source:**</a:t>
            </a:r>
          </a:p>
          <a:p xmlns:a="http://schemas.openxmlformats.org/drawingml/2006/main">
            <a:r>
              <a:t>DEC-0097; BEAT-078;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후보 v2를 같은 기준으로 재검증·재검토하고 남은 지적은 다음 수정으로 되돌린다.</a:t>
            </a:r>
          </a:p>
          <a:p xmlns:a="http://schemas.openxmlformats.org/drawingml/2006/main">
            <a:r>
              <a:t/>
            </a:r>
          </a:p>
          <a:p xmlns:a="http://schemas.openxmlformats.org/drawingml/2006/main">
            <a:r>
              <a:t>**Advanced Insight:**</a:t>
            </a:r>
          </a:p>
          <a:p xmlns:a="http://schemas.openxmlformats.org/drawingml/2006/main">
            <a:r>
              <a:t>새 수정이 이전의 유효한 동작을 깨뜨릴 수 있다. 확인된 후보와 시도 이력을 남겨 되돌릴 수 있도록 설계한다.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같은 목표의 구현·검토 루프의 질문으로 이어간다.</a:t>
            </a:r>
          </a:p>
          <a:p xmlns:a="http://schemas.openxmlformats.org/drawingml/2006/main">
            <a:r>
              <a:t/>
            </a:r>
          </a:p>
          <a:p xmlns:a="http://schemas.openxmlformats.org/drawingml/2006/main">
            <a:r>
              <a:t>**Time Management:**</a:t>
            </a:r>
          </a:p>
          <a:p xmlns:a="http://schemas.openxmlformats.org/drawingml/2006/main">
            <a:r>
              <a:t>Case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S90; production/preview/act4/S90.png 및 production/preview/full/S90.png.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같은 목표의 구현·검토 루프</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같은 목표의 구현·검토 루프</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**Opening Question:**</a:t>
            </a:r>
          </a:p>
          <a:p xmlns:a="http://schemas.openxmlformats.org/drawingml/2006/main">
            <a:r>
              <a:t>지금 본 여러 단계가 어떻게 하나의 시스템으로 연결될까?</a:t>
            </a:r>
          </a:p>
          <a:p xmlns:a="http://schemas.openxmlformats.org/drawingml/2006/main">
            <a:r>
              <a:t/>
            </a:r>
          </a:p>
          <a:p xmlns:a="http://schemas.openxmlformats.org/drawingml/2006/main">
            <a:r>
              <a:t>**Speaker Flow:**</a:t>
            </a:r>
          </a:p>
          <a:p xmlns:a="http://schemas.openxmlformats.org/drawingml/2006/main">
            <a:r>
              <a:t>1. (0:00–3:00 / Lecture) 위쪽의 구현·검사·검토를 따라간 뒤 아래쪽의 판단·피드백을 통해 같은 목표의 구현으로 돌아간다. Loop는 Harness의 방법·도구를 활용하며 가중치를 학습한다는 뜻이 아니다.</a:t>
            </a:r>
          </a:p>
          <a:p xmlns:a="http://schemas.openxmlformats.org/drawingml/2006/main">
            <a:r>
              <a:t>2. (3:00–5:00 / Case) 앞의 지적 ①을 한 번만 전체 경로에 대응시킨다. 도구와 모델 검토의 선후·병렬 여부는 작업 의존관계에 따라 정하며 이 그림은 성능·병렬 실행의 실측 기록이 아니다.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목표·완료 기준 아래 구현, 도구 근거, 다른 모델의 검토와 다음 수정 판단을 하나의 닫힌 경로로 설계한다.</a:t>
            </a:r>
          </a:p>
          <a:p xmlns:a="http://schemas.openxmlformats.org/drawingml/2006/main">
            <a:r>
              <a:t/>
            </a:r>
          </a:p>
          <a:p xmlns:a="http://schemas.openxmlformats.org/drawingml/2006/main">
            <a:r>
              <a:t>**Advanced Insight:**</a:t>
            </a:r>
          </a:p>
          <a:p xmlns:a="http://schemas.openxmlformats.org/drawingml/2006/main">
            <a:r>
              <a:t>반복의 제어는 반드시 별도 모델이 맡아야 하는 것은 아니다. 목표·상태·피드백 전달·다음 행동을 정하는 운영 로직이 핵심이다.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언제 계속하고, 언제 끝낼까?의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S91; production/preview/act4/S91.png 및 production/preview/full/S91.png.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언제 계속하고, 언제 끝낼까?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언제 계속하고, 언제 끝낼까?</a:t>
            </a:r>
          </a:p>
          <a:p xmlns:a="http://schemas.openxmlformats.org/drawingml/2006/main">
            <a:r>
              <a:t/>
            </a:r>
          </a:p>
          <a:p xmlns:a="http://schemas.openxmlformats.org/drawingml/2006/main">
            <a:r>
              <a:t>**ACT / Section:**</a:t>
            </a:r>
          </a:p>
          <a:p xmlns:a="http://schemas.openxmlformats.org/drawingml/2006/main">
            <a:r>
              <a:t>ACT 4 / 4R3 Feedback and control</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Reflection 2분</a:t>
            </a:r>
          </a:p>
          <a:p xmlns:a="http://schemas.openxmlformats.org/drawingml/2006/main">
            <a:r>
              <a:t/>
            </a:r>
          </a:p>
          <a:p xmlns:a="http://schemas.openxmlformats.org/drawingml/2006/main">
            <a:r>
              <a:t>**Primary Message:**</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**Opening Question:**</a:t>
            </a:r>
          </a:p>
          <a:p xmlns:a="http://schemas.openxmlformats.org/drawingml/2006/main">
            <a:r>
              <a:t>계속 돌리고 있다는 사실과 목표를 달성했다는 사실은 어떻게 구분할까?</a:t>
            </a:r>
          </a:p>
          <a:p xmlns:a="http://schemas.openxmlformats.org/drawingml/2006/main">
            <a:r>
              <a:t/>
            </a:r>
          </a:p>
          <a:p xmlns:a="http://schemas.openxmlformats.org/drawingml/2006/main">
            <a:r>
              <a:t>**Speaker Flow:**</a:t>
            </a:r>
          </a:p>
          <a:p xmlns:a="http://schemas.openxmlformats.org/drawingml/2006/main">
            <a:r>
              <a:t>1. (0:00–3:00 / Lecture) 세 갈래를 조건부터 읽는다. 기준 충족은 확인 범위를 보고하고 완료한다. 수정 가능하면 남은 문제를 전달한다. 근거 부족·정체·한도 도달은 미완료 상태를 보존해 사람에게 묻는다.</a:t>
            </a:r>
          </a:p>
          <a:p xmlns:a="http://schemas.openxmlformats.org/drawingml/2006/main">
            <a:r>
              <a:t>2. (3:00–5:00 / Reflection) 우리 작업의 완료 근거와 중단 뒤 사람에게 넘길 질문 하나를 마음속으로 생각하게 한다. 공유·실습은 요구하지 않으며 숫자 한도는 실행 환경에 맞춰 정한다고 닫는다.</a:t>
            </a:r>
          </a:p>
          <a:p xmlns:a="http://schemas.openxmlformats.org/drawingml/2006/main">
            <a:r>
              <a:t/>
            </a:r>
          </a:p>
          <a:p xmlns:a="http://schemas.openxmlformats.org/drawingml/2006/main">
            <a:r>
              <a:t>**Evidence / Source:**</a:t>
            </a:r>
          </a:p>
          <a:p xmlns:a="http://schemas.openxmlformats.org/drawingml/2006/main">
            <a:r>
              <a:t>DEC-0097; BEAT-079;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근거에 따라 완료, 다음 수정, 미완료 중단·사람 확인을 구분한다.</a:t>
            </a:r>
          </a:p>
          <a:p xmlns:a="http://schemas.openxmlformats.org/drawingml/2006/main">
            <a:r>
              <a:t/>
            </a:r>
          </a:p>
          <a:p xmlns:a="http://schemas.openxmlformats.org/drawingml/2006/main">
            <a:r>
              <a:t>**Advanced Insight:**</a:t>
            </a:r>
          </a:p>
          <a:p xmlns:a="http://schemas.openxmlformats.org/drawingml/2006/main">
            <a:r>
              <a:t>회수 제한이나 예산 소진은 성공 판정이 아니다. 검토 항목의 해결 여부와 명세·검사 결과를 함께 확인한다.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계속 돌리고 있다는 사실과 목표를 달성했다는 사실은 어떻게 구분할까? 공유·기록·실습은 요구하지 않는다.</a:t>
            </a:r>
          </a:p>
          <a:p xmlns:a="http://schemas.openxmlformats.org/drawingml/2006/main">
            <a:r>
              <a:t/>
            </a:r>
          </a:p>
          <a:p xmlns:a="http://schemas.openxmlformats.org/drawingml/2006/main">
            <a:r>
              <a:t>**Transition:**</a:t>
            </a:r>
          </a:p>
          <a:p xmlns:a="http://schemas.openxmlformats.org/drawingml/2006/main">
            <a:r>
              <a:t>다음은 구현한 모델에게 다시 물으면 충분할까?의 질문으로 이어간다.</a:t>
            </a:r>
          </a:p>
          <a:p xmlns:a="http://schemas.openxmlformats.org/drawingml/2006/main">
            <a:r>
              <a:t/>
            </a:r>
          </a:p>
          <a:p xmlns:a="http://schemas.openxmlformats.org/drawingml/2006/main">
            <a:r>
              <a:t>**Time Management:**</a:t>
            </a:r>
          </a:p>
          <a:p xmlns:a="http://schemas.openxmlformats.org/drawingml/2006/main">
            <a:r>
              <a:t>Lecture 3분 + Reflection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S92; production/preview/act4/S92.png 및 production/preview/full/S92.png.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구현한 모델에게 다시 물으면 충분할까?</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구현한 모델에게 다시 물으면 충분할까?</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**Opening Question:**</a:t>
            </a:r>
          </a:p>
          <a:p xmlns:a="http://schemas.openxmlformats.org/drawingml/2006/main">
            <a:r>
              <a:t>같은 모델에게 다시 생각해 달라고 하면 언제나 좋아질까?</a:t>
            </a:r>
          </a:p>
          <a:p xmlns:a="http://schemas.openxmlformats.org/drawingml/2006/main">
            <a:r>
              <a:t/>
            </a:r>
          </a:p>
          <a:p xmlns:a="http://schemas.openxmlformats.org/drawingml/2006/main">
            <a:r>
              <a:t>**Speaker Flow:**</a:t>
            </a:r>
          </a:p>
          <a:p xmlns:a="http://schemas.openxmlformats.org/drawingml/2006/main">
            <a:r>
              <a:t>1. (0:00–2:00 / Lecture) Self-Refine은 같은 LLM이 생성·피드백·수정을 반복하고 여러 과제에서 개선을 보고했다. 다중 모델 비교 연구가 아니라는 점을 명시한다.</a:t>
            </a:r>
          </a:p>
          <a:p xmlns:a="http://schemas.openxmlformats.org/drawingml/2006/main">
            <a:r>
              <a:t>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xmlns:a="http://schemas.openxmlformats.org/drawingml/2006/main">
            <a:r>
              <a:t/>
            </a:r>
          </a:p>
          <a:p xmlns:a="http://schemas.openxmlformats.org/drawingml/2006/main">
            <a:r>
              <a:t>**Evidence / Source:**</a:t>
            </a:r>
          </a:p>
          <a:p xmlns:a="http://schemas.openxmlformats.org/drawingml/2006/main">
            <a:r>
              <a:t>DEC-0097; BEAT-080; SRC-0223; SRC-0239; CLM-0045. Primary sources checked 2026-10-25: https://arxiv.org/abs/2303.17651; https://arxiv.org/abs/2310.01798</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자기 피드백으로 개선된 연구와 외부 근거 없는 자기 교정의 한계 연구를 조건과 함께 설명한다.</a:t>
            </a:r>
          </a:p>
          <a:p xmlns:a="http://schemas.openxmlformats.org/drawingml/2006/main">
            <a:r>
              <a:t/>
            </a:r>
          </a:p>
          <a:p xmlns:a="http://schemas.openxmlformats.org/drawingml/2006/main">
            <a:r>
              <a:t>**Advanced Insight:**</a:t>
            </a:r>
          </a:p>
          <a:p xmlns:a="http://schemas.openxmlformats.org/drawingml/2006/main">
            <a:r>
              <a:t>2023–2024년의 특정 모델·과제·방법에 관한 결과다. 현재 모든 모델이 자기 교정에 실패한다는 일반화는 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다른 모델의 관점이 도움이 된 실험의 질문으로 이어간다.</a:t>
            </a:r>
          </a:p>
          <a:p xmlns:a="http://schemas.openxmlformats.org/drawingml/2006/main">
            <a:r>
              <a:t/>
            </a:r>
          </a:p>
          <a:p xmlns:a="http://schemas.openxmlformats.org/drawingml/2006/main">
            <a:r>
              <a:t>**Time Management:**</a:t>
            </a:r>
          </a:p>
          <a:p xmlns:a="http://schemas.openxmlformats.org/drawingml/2006/main">
            <a:r>
              <a:t>Lecture 4분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S93; production/preview/act4/S93.png 및 production/preview/full/S93.png.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다른 모델의 관점이 도움이 된 실험</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다른 모델의 관점이 도움이 된 실험</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Lecture 3분 + Case 2분</a:t>
            </a:r>
          </a:p>
          <a:p xmlns:a="http://schemas.openxmlformats.org/drawingml/2006/main">
            <a:r>
              <a:t/>
            </a:r>
          </a:p>
          <a:p xmlns:a="http://schemas.openxmlformats.org/drawingml/2006/main">
            <a:r>
              <a:t>**Primary Message:**</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**Opening Question:**</a:t>
            </a:r>
          </a:p>
          <a:p xmlns:a="http://schemas.openxmlformats.org/drawingml/2006/main">
            <a:r>
              <a:t>같은 모델을 여러 번 쓰는 것과 다른 모델을 조합하는 것은 같을까?</a:t>
            </a:r>
          </a:p>
          <a:p xmlns:a="http://schemas.openxmlformats.org/drawingml/2006/main">
            <a:r>
              <a:t/>
            </a:r>
          </a:p>
          <a:p xmlns:a="http://schemas.openxmlformats.org/drawingml/2006/main">
            <a:r>
              <a:t>**Speaker Flow:**</a:t>
            </a:r>
          </a:p>
          <a:p xmlns:a="http://schemas.openxmlformats.org/drawingml/2006/main">
            <a:r>
              <a:t>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xmlns:a="http://schemas.openxmlformats.org/drawingml/2006/main">
            <a:r>
              <a:t>2. (3:00–5:00 / Case) 차이는 6.8 percentage points다. 모델 구성 변경에는 모델별 능력 차이도 포함된다. 코딩 반복 작업이나 현재 Codex에서 같은 향상·비용 절감이 입증됐다고 말하지 않는다.</a:t>
            </a:r>
          </a:p>
          <a:p xmlns:a="http://schemas.openxmlformats.org/drawingml/2006/main">
            <a:r>
              <a:t/>
            </a:r>
          </a:p>
          <a:p xmlns:a="http://schemas.openxmlformats.org/drawingml/2006/main">
            <a:r>
              <a:t>**Evidence / Source:**</a:t>
            </a:r>
          </a:p>
          <a:p xmlns:a="http://schemas.openxmlformats.org/drawingml/2006/main">
            <a:r>
              <a:t>DEC-0097; BEAT-081; SRC-0237; CLM-0043; ReConcile Table 7. Primary sources checked 2026-10-25: https://aclanthology.org/2024.acl-long.381.pdf (Table 7)</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ReConcile의 StrategyQA 실험에서 여러 모델 조합과 같은 ChatGPT 세 Agent 구성을 비교한 결과를 설명한다.</a:t>
            </a:r>
          </a:p>
          <a:p xmlns:a="http://schemas.openxmlformats.org/drawingml/2006/main">
            <a:r>
              <a:t/>
            </a:r>
          </a:p>
          <a:p xmlns:a="http://schemas.openxmlformats.org/drawingml/2006/main">
            <a:r>
              <a:t>**Advanced Insight:**</a:t>
            </a:r>
          </a:p>
          <a:p xmlns:a="http://schemas.openxmlformats.org/drawingml/2006/main">
            <a:r>
              <a:t>모델 다양성의 가능성을 보여주는 제한된 근거다. 토론·합의 프로토콜 전체와 모델 조합의 영향을 구분한다.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잘 만드는 능력과 잘 검토하는 능력의 질문으로 이어간다.</a:t>
            </a:r>
          </a:p>
          <a:p xmlns:a="http://schemas.openxmlformats.org/drawingml/2006/main">
            <a:r>
              <a:t/>
            </a:r>
          </a:p>
          <a:p xmlns:a="http://schemas.openxmlformats.org/drawingml/2006/main">
            <a:r>
              <a:t>**Time Management:**</a:t>
            </a:r>
          </a:p>
          <a:p xmlns:a="http://schemas.openxmlformats.org/drawingml/2006/main">
            <a:r>
              <a:t>Lecture 3분 + Case 2분 = 5분.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S94; production/preview/act4/S94.png 및 production/preview/full/S94.png.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잘 만드는 능력과 잘 검토하는 능력</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잘 만드는 능력과 잘 검토하는 능력</a:t>
            </a:r>
          </a:p>
          <a:p xmlns:a="http://schemas.openxmlformats.org/drawingml/2006/main">
            <a:r>
              <a:t/>
            </a:r>
          </a:p>
          <a:p xmlns:a="http://schemas.openxmlformats.org/drawingml/2006/main">
            <a:r>
              <a:t>**ACT / Section:**</a:t>
            </a:r>
          </a:p>
          <a:p xmlns:a="http://schemas.openxmlformats.org/drawingml/2006/main">
            <a:r>
              <a:t>ACT 4 / 4R4 Research and model choice</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Case 1분</a:t>
            </a:r>
          </a:p>
          <a:p xmlns:a="http://schemas.openxmlformats.org/drawingml/2006/main">
            <a:r>
              <a:t/>
            </a:r>
          </a:p>
          <a:p xmlns:a="http://schemas.openxmlformats.org/drawingml/2006/main">
            <a:r>
              <a:t>**Primary Message:**</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**Opening Question:**</a:t>
            </a:r>
          </a:p>
          <a:p xmlns:a="http://schemas.openxmlformats.org/drawingml/2006/main">
            <a:r>
              <a:t>코드를 잘 생성하는 모델이 그 결과의 가장 좋은 검토자일까?</a:t>
            </a:r>
          </a:p>
          <a:p xmlns:a="http://schemas.openxmlformats.org/drawingml/2006/main">
            <a:r>
              <a:t/>
            </a:r>
          </a:p>
          <a:p xmlns:a="http://schemas.openxmlformats.org/drawingml/2006/main">
            <a:r>
              <a:t>**Speaker Flow:**</a:t>
            </a:r>
          </a:p>
          <a:p xmlns:a="http://schemas.openxmlformats.org/drawingml/2006/main">
            <a:r>
              <a:t>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xmlns:a="http://schemas.openxmlformats.org/drawingml/2006/main">
            <a:r>
              <a:t>2. (3:00–4:00 / Case) 약한 모델이 언제나 더 좋은 검토자라는 뜻은 아니다. 이 결과로 검토자 역할을 따로 평가할 이유를 설명하고 다음 장의 모델 배치 설계로 연결한다.</a:t>
            </a:r>
          </a:p>
          <a:p xmlns:a="http://schemas.openxmlformats.org/drawingml/2006/main">
            <a:r>
              <a:t/>
            </a:r>
          </a:p>
          <a:p xmlns:a="http://schemas.openxmlformats.org/drawingml/2006/main">
            <a:r>
              <a:t>**Evidence / Source:**</a:t>
            </a:r>
          </a:p>
          <a:p xmlns:a="http://schemas.openxmlformats.org/drawingml/2006/main">
            <a:r>
              <a:t>DEC-0097; BEAT-081; SRC-0238; CLM-0044; CriticBench section 4.2.5. Primary sources checked 2026-10-25: https://aclanthology.org/2024.findings-acl.91.pdf (section 4.2.5)</a:t>
            </a:r>
          </a:p>
          <a:p xmlns:a="http://schemas.openxmlformats.org/drawingml/2006/main">
            <a:r>
              <a:t/>
            </a:r>
          </a:p>
          <a:p xmlns:a="http://schemas.openxmlformats.org/drawingml/2006/main">
            <a:r>
              <a:t>**Claim Boundary:**</a:t>
            </a:r>
          </a:p>
          <a:p xmlns:a="http://schemas.openxmlformats.org/drawingml/2006/main">
            <a:r>
              <a:t>FROZEN WITH SCOPE — 해당 연구의 모델·과제·방법과 조건에 한정. 현재 Codex의 일반 성능·비용이나 새 코드 루프 성과로 확장하지 않는다.</a:t>
            </a:r>
          </a:p>
          <a:p xmlns:a="http://schemas.openxmlformats.org/drawingml/2006/main">
            <a:r>
              <a:t/>
            </a:r>
          </a:p>
          <a:p xmlns:a="http://schemas.openxmlformats.org/drawingml/2006/main">
            <a:r>
              <a:t>**Beginner Explanation:**</a:t>
            </a:r>
          </a:p>
          <a:p xmlns:a="http://schemas.openxmlformats.org/drawingml/2006/main">
            <a:r>
              <a:t>CriticBench의 생성·검토·수정 능력과 교차 모델 검토 결과를 근거로 검토자 선택을 따로 평가할 이유를 설명한다.</a:t>
            </a:r>
          </a:p>
          <a:p xmlns:a="http://schemas.openxmlformats.org/drawingml/2006/main">
            <a:r>
              <a:t/>
            </a:r>
          </a:p>
          <a:p xmlns:a="http://schemas.openxmlformats.org/drawingml/2006/main">
            <a:r>
              <a:t>**Advanced Insight:**</a:t>
            </a:r>
          </a:p>
          <a:p xmlns:a="http://schemas.openxmlformats.org/drawingml/2006/main">
            <a:r>
              <a:t>검토 정확도와 전체 개발 루프의 완료율·코스트는 다른 평가다. 이 교육의 모델 조합을 검증한 수치로 쓰지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구현과 검토에 모델을 어떻게 나눌까?의 질문으로 이어간다.</a:t>
            </a:r>
          </a:p>
          <a:p xmlns:a="http://schemas.openxmlformats.org/drawingml/2006/main">
            <a:r>
              <a:t/>
            </a:r>
          </a:p>
          <a:p xmlns:a="http://schemas.openxmlformats.org/drawingml/2006/main">
            <a:r>
              <a:t>**Time Management:**</a:t>
            </a:r>
          </a:p>
          <a:p xmlns:a="http://schemas.openxmlformats.org/drawingml/2006/main">
            <a:r>
              <a:t>Lecture 3분 + Case 1분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S95; production/preview/act4/S95.png 및 production/preview/full/S95.png.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구현과 검토에 모델을 어떻게 나눌까?</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구현과 검토에 모델을 어떻게 나눌까?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**Opening Question:**</a:t>
            </a:r>
          </a:p>
          <a:p xmlns:a="http://schemas.openxmlformats.org/drawingml/2006/main">
            <a:r>
              <a:t>역할을 두 개 만들면 서로 다른 모델을 사용하는 셈일까?</a:t>
            </a:r>
          </a:p>
          <a:p xmlns:a="http://schemas.openxmlformats.org/drawingml/2006/main">
            <a:r>
              <a:t/>
            </a:r>
          </a:p>
          <a:p xmlns:a="http://schemas.openxmlformats.org/drawingml/2006/main">
            <a:r>
              <a:t>**Speaker Flow:**</a:t>
            </a:r>
          </a:p>
          <a:p xmlns:a="http://schemas.openxmlformats.org/drawingml/2006/main">
            <a:r>
              <a:t>1. (0:00–2:00 / Lecture) 같은 모델의 두 세션·Agent에 다른 역할을 주는 것과 서로 다른 모델을 선택하는 것은 다르다. 오른쪽 A/B 구성이 이번 교육에서 검토하는 다중 모델 설계라고 설명한다.</a:t>
            </a:r>
          </a:p>
          <a:p xmlns:a="http://schemas.openxmlformats.org/drawingml/2006/main">
            <a:r>
              <a:t>2. (2:00–4:00 / Case) 실제로는 역할별 오류 탐지, 최종 동작, 지연·비용을 확인해야 한다. 모델·계정·실행 표면은 TBD이며 자동 연결 기능이나 성능 향상을 이미 확인한 것처럼 말하지 않는다.</a:t>
            </a:r>
          </a:p>
          <a:p xmlns:a="http://schemas.openxmlformats.org/drawingml/2006/main">
            <a:r>
              <a:t/>
            </a:r>
          </a:p>
          <a:p xmlns:a="http://schemas.openxmlformats.org/drawingml/2006/main">
            <a:r>
              <a:t>**Evidence / Source:**</a:t>
            </a:r>
          </a:p>
          <a:p xmlns:a="http://schemas.openxmlformats.org/drawingml/2006/main">
            <a:r>
              <a:t>DEC-0097; BEAT-082; CLM-0043; CLM-0044; CASE-LOOP-01.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같은 모델의 역할 분리와 다른 모델의 구현·검토 조합을 구분하고 실제 작업에서 효과를 평가한다.</a:t>
            </a:r>
          </a:p>
          <a:p xmlns:a="http://schemas.openxmlformats.org/drawingml/2006/main">
            <a:r>
              <a:t/>
            </a:r>
          </a:p>
          <a:p xmlns:a="http://schemas.openxmlformats.org/drawingml/2006/main">
            <a:r>
              <a:t>**Advanced Insight:**</a:t>
            </a:r>
          </a:p>
          <a:p xmlns:a="http://schemas.openxmlformats.org/drawingml/2006/main">
            <a:r>
              <a:t>Reviewer에게 구현 모델의 자신감만 전달하지 않고 독립적으로 대조할 명세·diff·원래 검사 기록을 제공한다.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검토 모델의 말도 확인해야 한다의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S96; production/preview/act4/S96.png 및 production/preview/full/S96.png.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검토 모델의 말도 확인해야 한다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검토 모델의 말도 확인해야 한다</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**Opening Question:**</a:t>
            </a:r>
          </a:p>
          <a:p xmlns:a="http://schemas.openxmlformats.org/drawingml/2006/main">
            <a:r>
              <a:t>검토 모델이 고치라고 하면 무조건 따라야 할까?</a:t>
            </a:r>
          </a:p>
          <a:p xmlns:a="http://schemas.openxmlformats.org/drawingml/2006/main">
            <a:r>
              <a:t/>
            </a:r>
          </a:p>
          <a:p xmlns:a="http://schemas.openxmlformats.org/drawingml/2006/main">
            <a:r>
              <a:t>**Speaker Flow:**</a:t>
            </a:r>
          </a:p>
          <a:p xmlns:a="http://schemas.openxmlformats.org/drawingml/2006/main">
            <a:r>
              <a:t>1. (0:00–2:00 / Lecture) 검토 모델도 틀릴 수 있다. 지적의 위치·위반 기준·근거가 실제 변경과 맞는지 대조하고, 동의만으로 완료하지 않는다고 설명한다.</a:t>
            </a:r>
          </a:p>
          <a:p xmlns:a="http://schemas.openxmlformats.org/drawingml/2006/main">
            <a:r>
              <a:t>2. (2:00–4:00 / Case) 지적이 타당하면 수정, 틀리면 기각 이유를 남긴다. 명세가 모호하거나 검증이 불가능하면 사람에게 판단을 요청한다. 모델 다수결을 객관적 정답으로 대체하지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검토 모델의 지적도 명세와 검사 근거로 대조해 수용·기각·추가 확인을 결정한다.</a:t>
            </a:r>
          </a:p>
          <a:p xmlns:a="http://schemas.openxmlformats.org/drawingml/2006/main">
            <a:r>
              <a:t/>
            </a:r>
          </a:p>
          <a:p xmlns:a="http://schemas.openxmlformats.org/drawingml/2006/main">
            <a:r>
              <a:t>**Advanced Insight:**</a:t>
            </a:r>
          </a:p>
          <a:p xmlns:a="http://schemas.openxmlformats.org/drawingml/2006/main">
            <a:r>
              <a:t>잘못된 지적을 반복 반영해 정상 동작을 깨뜨리는 회귀와 무한 수정을 막는 제어도 Loop 설계의 일부다.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반복하려면 무엇을 이어받아야 할까?의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S97; production/preview/act4/S97.png 및 production/preview/full/S97.png.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반복하려면 무엇을 이어받아야 할까?</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반복하려면 무엇을 이어받아야 할까?</a:t>
            </a:r>
          </a:p>
          <a:p xmlns:a="http://schemas.openxmlformats.org/drawingml/2006/main">
            <a:r>
              <a:t/>
            </a:r>
          </a:p>
          <a:p xmlns:a="http://schemas.openxmlformats.org/drawingml/2006/main">
            <a:r>
              <a:t>**ACT / Section:**</a:t>
            </a:r>
          </a:p>
          <a:p xmlns:a="http://schemas.openxmlformats.org/drawingml/2006/main">
            <a:r>
              <a:t>ACT 4 / 4R5 Engineering the loop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**Opening Question:**</a:t>
            </a:r>
          </a:p>
          <a:p xmlns:a="http://schemas.openxmlformats.org/drawingml/2006/main">
            <a:r>
              <a:t>다음 시도가 처음부터 다시 시작하지 않게 하려면 무엇을 남길까?</a:t>
            </a:r>
          </a:p>
          <a:p xmlns:a="http://schemas.openxmlformats.org/drawingml/2006/main">
            <a:r>
              <a:t/>
            </a:r>
          </a:p>
          <a:p xmlns:a="http://schemas.openxmlformats.org/drawingml/2006/main">
            <a:r>
              <a:t>**Speaker Flow:**</a:t>
            </a:r>
          </a:p>
          <a:p xmlns:a="http://schemas.openxmlformats.org/drawingml/2006/main">
            <a:r>
              <a:t>1. (0:00–2:00 / Lecture) 목표·완료 기준은 고정하고 후보 버전·지적·검사 결과를 갱신한다. 검토 항목의 수용·기각, 현재 남은 문제와 시도 기록을 보존한다.</a:t>
            </a:r>
          </a:p>
          <a:p xmlns:a="http://schemas.openxmlformats.org/drawingml/2006/main">
            <a:r>
              <a:t>2. (2:00–4:00 / Case) 반복·시간·비용 한도, 같은 실패의 정체, 회귀를 만나면 어떻게 멈추고 재개할지 정한다. 별도 Memory·프레임워크가 필수라는 주장이나 숫자 기본값을 만들지 않는다.</a:t>
            </a:r>
          </a:p>
          <a:p xmlns:a="http://schemas.openxmlformats.org/drawingml/2006/main">
            <a:r>
              <a:t/>
            </a:r>
          </a:p>
          <a:p xmlns:a="http://schemas.openxmlformats.org/drawingml/2006/main">
            <a:r>
              <a:t>**Evidence / Source:**</a:t>
            </a:r>
          </a:p>
          <a:p xmlns:a="http://schemas.openxmlformats.org/drawingml/2006/main">
            <a:r>
              <a:t>DEC-0097; BEAT-082;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고정 목표, 현재 후보·검토·검사, 남은 문제와 한도를 다음 시도가 이어받도록 설계한다.</a:t>
            </a:r>
          </a:p>
          <a:p xmlns:a="http://schemas.openxmlformats.org/drawingml/2006/main">
            <a:r>
              <a:t/>
            </a:r>
          </a:p>
          <a:p xmlns:a="http://schemas.openxmlformats.org/drawingml/2006/main">
            <a:r>
              <a:t>**Advanced Insight:**</a:t>
            </a:r>
          </a:p>
          <a:p xmlns:a="http://schemas.openxmlformats.org/drawingml/2006/main">
            <a:r>
              <a:t>목표의 상태와 실행의 상태를 분리한다. 실행이 중단됐다는 이유로 목표가 완료된 것으로 기록하지 않는다.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다음은 확인한 근거와 아직 실행하지 않은 설계의 질문으로 이어간다.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S98; production/preview/act4/S98.png 및 production/preview/full/S98.png.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확인한 근거와 아직 실행하지 않은 설계</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확인한 근거와 아직 실행하지 않은 설계</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Case 2분</a:t>
            </a:r>
          </a:p>
          <a:p xmlns:a="http://schemas.openxmlformats.org/drawingml/2006/main">
            <a:r>
              <a:t/>
            </a:r>
          </a:p>
          <a:p xmlns:a="http://schemas.openxmlformats.org/drawingml/2006/main">
            <a:r>
              <a:t>**Primary Message:**</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**Opening Question:**</a:t>
            </a:r>
          </a:p>
          <a:p xmlns:a="http://schemas.openxmlformats.org/drawingml/2006/main">
            <a:r>
              <a:t>우리가 실제로 확인한 것은 어디까지일까?</a:t>
            </a:r>
          </a:p>
          <a:p xmlns:a="http://schemas.openxmlformats.org/drawingml/2006/main">
            <a:r>
              <a:t/>
            </a:r>
          </a:p>
          <a:p xmlns:a="http://schemas.openxmlformats.org/drawingml/2006/main">
            <a:r>
              <a:t>**Speaker Flow:**</a:t>
            </a:r>
          </a:p>
          <a:p xmlns:a="http://schemas.openxmlformats.org/drawingml/2006/main">
            <a:r>
              <a:t>1. (0:00–2:00 / Lecture) 실제 밝기 통계의 변경·출력·측정 근거는 기존 코드·입력·환경에 한정한다. 논문은 연구된 모델·과제·방법의 결과다.</a:t>
            </a:r>
          </a:p>
          <a:p xmlns:a="http://schemas.openxmlformats.org/drawingml/2006/main">
            <a:r>
              <a:t>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xmlns:a="http://schemas.openxmlformats.org/drawingml/2006/main">
            <a:r>
              <a:t/>
            </a:r>
          </a:p>
          <a:p xmlns:a="http://schemas.openxmlformats.org/drawingml/2006/main">
            <a:r>
              <a:t>**Evidence / Source:**</a:t>
            </a:r>
          </a:p>
          <a:p xmlns:a="http://schemas.openxmlformats.org/drawingml/2006/main">
            <a:r>
              <a:t>DEC-0097; BEAT-083; STATE-04-PERF; TRIAL-008; SRC-0237; SRC-0238; CASE-LOOP-01. Primary sources checked 2026-10-25: https://aclanthology.org/2024.acl-long.381.pdf (Table 7); https://aclanthology.org/2024.findings-acl.91.pdf (section 4.2.5)</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기존 제품 Trial, 인용 연구, 이번 루프 설계의 세 근거 범위를 구분한다.</a:t>
            </a:r>
          </a:p>
          <a:p xmlns:a="http://schemas.openxmlformats.org/drawingml/2006/main">
            <a:r>
              <a:t/>
            </a:r>
          </a:p>
          <a:p xmlns:a="http://schemas.openxmlformats.org/drawingml/2006/main">
            <a:r>
              <a:t>**Advanced Insight:**</a:t>
            </a:r>
          </a:p>
          <a:p xmlns:a="http://schemas.openxmlformats.org/drawingml/2006/main">
            <a:r>
              <a:t>설계의 타당성, 실행의 존재, 결과의 품질, 비교 효과를 서로 다른 근거 단계로 평가한다.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설계·논문·실제 기록을 구분했습니다. 이어서 목표를 유지하며 작업을 계속하는 공식 Goal 기능을 실무 팁으로 살펴봅니다.</a:t>
            </a:r>
          </a:p>
          <a:p xmlns:a="http://schemas.openxmlformats.org/drawingml/2006/main">
            <a:r>
              <a:t/>
            </a:r>
          </a:p>
          <a:p xmlns:a="http://schemas.openxmlformats.org/drawingml/2006/main">
            <a:r>
              <a:t>**Time Management:**</a:t>
            </a:r>
          </a:p>
          <a:p xmlns:a="http://schemas.openxmlformats.org/drawingml/2006/main">
            <a:r>
              <a:t>Lecture 2분 + Case 2분 = 4분.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S99; production/preview/act4/S99.png 및 production/preview/full/S99.png.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Goal이 목표와 다음 작업을 이어준다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Goal이 목표와 다음 작업을 이어준다</a:t>
            </a:r>
          </a:p>
          <a:p xmlns:a="http://schemas.openxmlformats.org/drawingml/2006/main">
            <a:r>
              <a:t/>
            </a:r>
          </a:p>
          <a:p xmlns:a="http://schemas.openxmlformats.org/drawingml/2006/main">
            <a:r>
              <a:t>**ACT / Section:**</a:t>
            </a:r>
          </a:p>
          <a:p xmlns:a="http://schemas.openxmlformats.org/drawingml/2006/main">
            <a:r>
              <a:t>ACT 4 / 4T1 Goal continuation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**Opening Question:**</a:t>
            </a:r>
          </a:p>
          <a:p xmlns:a="http://schemas.openxmlformats.org/drawingml/2006/main">
            <a:r>
              <a:t>매번 계속하라고 요청하지 않고, 같은 목표를 이어갈 수 있을까?</a:t>
            </a:r>
          </a:p>
          <a:p xmlns:a="http://schemas.openxmlformats.org/drawingml/2006/main">
            <a:r>
              <a:t/>
            </a:r>
          </a:p>
          <a:p xmlns:a="http://schemas.openxmlformats.org/drawingml/2006/main">
            <a:r>
              <a:t>**Speaker Flow:**</a:t>
            </a:r>
          </a:p>
          <a:p xmlns:a="http://schemas.openxmlformats.org/drawingml/2006/main">
            <a:r>
              <a:t>1. (0:00–0:35 / Lecture) ChatGPT 데스크톱의 /goal 입력 경로를 짚는다. 현재 화면은 사용법을 설명하는 도식이고 실행 캡처가 아님을 확인한다.</a:t>
            </a:r>
          </a:p>
          <a:p xmlns:a="http://schemas.openxmlformats.org/drawingml/2006/main">
            <a:r>
              <a:t>2. (0:35–1:20 / Lecture) 목표가 턴을 넘어 유지되고 작업 뒤 근거를 보아 계속/완료를 판단하는 경로를 읽는다. 실제 제어는 앱의 안전한 작업 경계에서 이루어지며 무한 실행·목표 달성 보장을 뜻하지 않는다.</a:t>
            </a:r>
          </a:p>
          <a:p xmlns:a="http://schemas.openxmlformats.org/drawingml/2006/main">
            <a:r>
              <a:t>3. (1:20–2:00 / Lecture) Goal의 계속 수행 기능과 별도 검증·다른 모델 검토 역할을 구분한다. 교육 계정의 기능 노출과 실행 환경은 후속 확인 대상으로 남긴다.</a:t>
            </a:r>
          </a:p>
          <a:p xmlns:a="http://schemas.openxmlformats.org/drawingml/2006/main">
            <a:r>
              <a:t/>
            </a:r>
          </a:p>
          <a:p xmlns:a="http://schemas.openxmlformats.org/drawingml/2006/main">
            <a:r>
              <a:t>**Evidence / Source:**</a:t>
            </a:r>
          </a:p>
          <a:p xmlns:a="http://schemas.openxmlformats.org/drawingml/2006/main">
            <a:r>
              <a:t>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문서로 확인한 기능·안내와 교육용 도식. 사내 계정/버전/설정의 사용 가능 여부는 REQUIRES PRODUCT CHECK. 자동 다중 모델 배정·완료 보장·시간/비용 절감을 주장하지 않는다.</a:t>
            </a:r>
          </a:p>
          <a:p xmlns:a="http://schemas.openxmlformats.org/drawingml/2006/main">
            <a:r>
              <a:t/>
            </a:r>
          </a:p>
          <a:p xmlns:a="http://schemas.openxmlformats.org/drawingml/2006/main">
            <a:r>
              <a:t>**Beginner Explanation:**</a:t>
            </a:r>
          </a:p>
          <a:p xmlns:a="http://schemas.openxmlformats.org/drawingml/2006/main">
            <a:r>
              <a:t>Goal은 턴을 넘어 목표·상태를 유지하고 근거 확인 뒤 계속 수행을 연결한다. 완료 기준과 검증·검토 역할은 작업에 맞게 설계한다.</a:t>
            </a:r>
          </a:p>
          <a:p xmlns:a="http://schemas.openxmlformats.org/drawingml/2006/main">
            <a:r>
              <a:t/>
            </a:r>
          </a:p>
          <a:p xmlns:a="http://schemas.openxmlformats.org/drawingml/2006/main">
            <a:r>
              <a:t>**Advanced Insight:**</a:t>
            </a:r>
          </a:p>
          <a:p xmlns:a="http://schemas.openxmlformats.org/drawingml/2006/main">
            <a:r>
              <a:t>Goal은 대화 범위의 목표·상태와 계속 수행 제어다. 권한을 확대하지 않으며 다른 모델의 코드 검토자를 자동 배정한다는 근거로 쓰지 않는다. 일반 요청 안에서도 수정·테스트가 반복될 수 있다.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기능이 계속 수행을 연결하더라도, 무엇이 완료인지 요청에 적어야 합니다. 다음은 Goal 작성 예시입니다.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S100, production/preview/full/S100.png.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Goal에는 완료 근거와 멈출 조건을 담는다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Goal에는 완료 근거와 멈출 조건을 담는다</a:t>
            </a:r>
          </a:p>
          <a:p xmlns:a="http://schemas.openxmlformats.org/drawingml/2006/main">
            <a:r>
              <a:t/>
            </a:r>
          </a:p>
          <a:p xmlns:a="http://schemas.openxmlformats.org/drawingml/2006/main">
            <a:r>
              <a:t>**ACT / Section:**</a:t>
            </a:r>
          </a:p>
          <a:p xmlns:a="http://schemas.openxmlformats.org/drawingml/2006/main">
            <a:r>
              <a:t>ACT 4 / 4T2 Goal request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**Opening Question:**</a:t>
            </a:r>
          </a:p>
          <a:p xmlns:a="http://schemas.openxmlformats.org/drawingml/2006/main">
            <a:r>
              <a:t>언제 끝내고 언제 미완료를 보고할지, Goal에 무엇을 적을까?</a:t>
            </a:r>
          </a:p>
          <a:p xmlns:a="http://schemas.openxmlformats.org/drawingml/2006/main">
            <a:r>
              <a:t/>
            </a:r>
          </a:p>
          <a:p xmlns:a="http://schemas.openxmlformats.org/drawingml/2006/main">
            <a:r>
              <a:t>**Speaker Flow:**</a:t>
            </a:r>
          </a:p>
          <a:p xmlns:a="http://schemas.openxmlformats.org/drawingml/2006/main">
            <a:r>
              <a:t>1. (0:00–0:25 / Lecture) 막연한 성능 개선 Goal에는 완료 근거가 없음을 짚는다.</a:t>
            </a:r>
          </a:p>
          <a:p xmlns:a="http://schemas.openxmlformats.org/drawingml/2006/main">
            <a:r>
              <a:t>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xmlns:a="http://schemas.openxmlformats.org/drawingml/2006/main">
            <a:r>
              <a:t>3. (1:30–2:00 / Lecture) 검증 불가·반복 실패는 미완료 사유와 필요한 판단을 보고하도록 요청한다. 다른 모델 검토가 필요한지는 별도로 설계하며 이 예시를 실행하지 않는다.</a:t>
            </a:r>
          </a:p>
          <a:p xmlns:a="http://schemas.openxmlformats.org/drawingml/2006/main">
            <a:r>
              <a:t/>
            </a:r>
          </a:p>
          <a:p xmlns:a="http://schemas.openxmlformats.org/drawingml/2006/main">
            <a:r>
              <a:t>**Evidence / Source:**</a:t>
            </a:r>
          </a:p>
          <a:p xmlns:a="http://schemas.openxmlformats.org/drawingml/2006/main">
            <a:r>
              <a:t>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xmlns:a="http://schemas.openxmlformats.org/drawingml/2006/main">
            <a:r>
              <a:t/>
            </a:r>
          </a:p>
          <a:p xmlns:a="http://schemas.openxmlformats.org/drawingml/2006/main">
            <a:r>
              <a:t>**Claim Boundary:**</a:t>
            </a:r>
          </a:p>
          <a:p xmlns:a="http://schemas.openxmlformats.org/drawingml/2006/main">
            <a:r>
              <a:t>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xmlns:a="http://schemas.openxmlformats.org/drawingml/2006/main">
            <a:r>
              <a:t/>
            </a:r>
          </a:p>
          <a:p xmlns:a="http://schemas.openxmlformats.org/drawingml/2006/main">
            <a:r>
              <a:t>**Beginner Explanation:**</a:t>
            </a:r>
          </a:p>
          <a:p xmlns:a="http://schemas.openxmlformats.org/drawingml/2006/main">
            <a:r>
              <a:t>Goal 요청에는 원하는 변화, 보존 조건, 완료를 확인할 근거와 막혔을 때 보고할 조건을 담는다. 같은 기준으로 진행을 판단한다.</a:t>
            </a:r>
          </a:p>
          <a:p xmlns:a="http://schemas.openxmlformats.org/drawingml/2006/main">
            <a:r>
              <a:t/>
            </a:r>
          </a:p>
          <a:p xmlns:a="http://schemas.openxmlformats.org/drawingml/2006/main">
            <a:r>
              <a:t>**Advanced Insight:**</a:t>
            </a:r>
          </a:p>
          <a:p xmlns:a="http://schemas.openxmlformats.org/drawingml/2006/main">
            <a:r>
              <a:t>측정값 자체보다 어떤 기준판·대표 입력·환경·측정 방법을 고정할지가 중요하다. 검토 모델의 동의나 Goal의 완료 표시가 도구 근거와 최종 수용을 대신하지 않는다.</a:t>
            </a:r>
          </a:p>
          <a:p xmlns:a="http://schemas.openxmlformats.org/drawingml/2006/main">
            <a:r>
              <a:t/>
            </a:r>
          </a:p>
          <a:p xmlns:a="http://schemas.openxmlformats.org/drawingml/2006/main">
            <a:r>
              <a:t>**C++ Vision Bridge:**</a:t>
            </a:r>
          </a:p>
          <a:p xmlns:a="http://schemas.openxmlformats.org/drawingml/2006/main">
            <a:r>
              <a:t>N/A — C++ 명령·새 사례를 추가하지 않는다.</a:t>
            </a:r>
          </a:p>
          <a:p xmlns:a="http://schemas.openxmlformats.org/drawingml/2006/main">
            <a:r>
              <a:t/>
            </a:r>
          </a:p>
          <a:p xmlns:a="http://schemas.openxmlformats.org/drawingml/2006/main">
            <a:r>
              <a:t>**Demo Operation:**</a:t>
            </a:r>
          </a:p>
          <a:p xmlns:a="http://schemas.openxmlformats.org/drawingml/2006/main">
            <a:r>
              <a:t>N/A — 정적 제품 안내 도식. 명령을 입력하거나 Goal을 활성화하지 않는다. 사내 환경의 기능 노출·계정·권한·실행 상태는 후속 확인 대상이다.</a:t>
            </a:r>
          </a:p>
          <a:p xmlns:a="http://schemas.openxmlformats.org/drawingml/2006/main">
            <a:r>
              <a:t/>
            </a:r>
          </a:p>
          <a:p xmlns:a="http://schemas.openxmlformats.org/drawingml/2006/main">
            <a:r>
              <a:t>**Audience Interaction:**</a:t>
            </a:r>
          </a:p>
          <a:p xmlns:a="http://schemas.openxmlformats.org/drawingml/2006/main">
            <a:r>
              <a:t>필수 응답·실습 없음. 예시에서 완료 근거와 미완료 보고 조건을 눈으로 확인하게 한다.</a:t>
            </a:r>
          </a:p>
          <a:p xmlns:a="http://schemas.openxmlformats.org/drawingml/2006/main">
            <a:r>
              <a:t/>
            </a:r>
          </a:p>
          <a:p xmlns:a="http://schemas.openxmlformats.org/drawingml/2006/main">
            <a:r>
              <a:t>**Transition:**</a:t>
            </a:r>
          </a:p>
          <a:p xmlns:a="http://schemas.openxmlformats.org/drawingml/2006/main">
            <a:r>
              <a:t>이 기능을 활용하더라도 우리 작업의 목표·검증·검토 판단은 남습니다. S102에서 필요한 루프를 정리한 뒤 ACT5의 조합과 덜어내기로 넘어갑니다.</a:t>
            </a:r>
          </a:p>
          <a:p xmlns:a="http://schemas.openxmlformats.org/drawingml/2006/main">
            <a:r>
              <a:t/>
            </a:r>
          </a:p>
          <a:p xmlns:a="http://schemas.openxmlformats.org/drawingml/2006/main">
            <a:r>
              <a:t>**Time Management:**</a:t>
            </a:r>
          </a:p>
          <a:p xmlns:a="http://schemas.openxmlformats.org/drawingml/2006/main">
            <a:r>
              <a:t>Lecture2분. 제품 설정 강의나 실제 실행으로 확장하지 않는다. 초과 시 부가 설명을 줄이고 기능/검증의 구분과 다음 전환을 유지한다.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production/ACT_4.pptx의 S101, production/preview/full/S101.png. 설명용 도식이며 원본 제품 캡처로 표현하지 않는다. 실제 발표 PC 재생은 UNVERIFIED.</a:t>
            </a:r>
          </a:p>
          <a:p xmlns:a="http://schemas.openxmlformats.org/drawingml/2006/main">
            <a:r>
              <a:t/>
            </a:r>
          </a:p>
          <a:p xmlns:a="http://schemas.openxmlformats.org/drawingml/2006/main">
            <a:r>
              <a:t>**Validation Status:**</a:t>
            </a:r>
          </a:p>
          <a:p xmlns:a="http://schemas.openxmlformats.org/drawingml/2006/main">
            <a:r>
              <a:t>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우리 작업에는 어떤 루프가 필요할까?</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우리 작업에는 어떤 루프가 필요할까?</a:t>
            </a:r>
          </a:p>
          <a:p xmlns:a="http://schemas.openxmlformats.org/drawingml/2006/main">
            <a:r>
              <a:t/>
            </a:r>
          </a:p>
          <a:p xmlns:a="http://schemas.openxmlformats.org/drawingml/2006/main">
            <a:r>
              <a:t>**ACT / Section:**</a:t>
            </a:r>
          </a:p>
          <a:p xmlns:a="http://schemas.openxmlformats.org/drawingml/2006/main">
            <a:r>
              <a:t>ACT 4 / 4R6 Evidence and transfer</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Reflection 2분 + Q&amp;A 7분 + Transition 2분</a:t>
            </a:r>
          </a:p>
          <a:p xmlns:a="http://schemas.openxmlformats.org/drawingml/2006/main">
            <a:r>
              <a:t/>
            </a:r>
          </a:p>
          <a:p xmlns:a="http://schemas.openxmlformats.org/drawingml/2006/main">
            <a:r>
              <a:t>**Primary Message:**</a:t>
            </a:r>
          </a:p>
          <a:p xmlns:a="http://schemas.openxmlformats.org/drawingml/2006/main">
            <a:r>
              <a:t>Goal의 계속 수행 기능을 활용하되 내 업무에 필요한 목표·근거·검토 역할을 정리하고 ACT5의 조합·통합·제거로 이어간다.</a:t>
            </a:r>
          </a:p>
          <a:p xmlns:a="http://schemas.openxmlformats.org/drawingml/2006/main">
            <a:r>
              <a:t/>
            </a:r>
          </a:p>
          <a:p xmlns:a="http://schemas.openxmlformats.org/drawingml/2006/main">
            <a:r>
              <a:t>**Opening Question:**</a:t>
            </a:r>
          </a:p>
          <a:p xmlns:a="http://schemas.openxmlformats.org/drawingml/2006/main">
            <a:r>
              <a:t>내 작업에서 검토 결과가 다음 수정으로 돌아가려면 무엇이 필요할까?</a:t>
            </a:r>
          </a:p>
          <a:p xmlns:a="http://schemas.openxmlformats.org/drawingml/2006/main">
            <a:r>
              <a:t/>
            </a:r>
          </a:p>
          <a:p xmlns:a="http://schemas.openxmlformats.org/drawingml/2006/main">
            <a:r>
              <a:t>**Speaker Flow:**</a:t>
            </a:r>
          </a:p>
          <a:p xmlns:a="http://schemas.openxmlformats.org/drawingml/2006/main">
            <a:r>
              <a:t>1. (0:00–2:00 / Reflection) Goal이 맡는 계속 수행과, 내 업무에서 여전히 정할 목표·검증·검토를 구분해 생각하게 한다. 기존 목표·피드백·운영의 세 질문을 한 번씩 가리킨다.</a:t>
            </a:r>
          </a:p>
          <a:p xmlns:a="http://schemas.openxmlformats.org/drawingml/2006/main">
            <a:r>
              <a:t>2. (2:00–9:00 / Q&amp;A) 질문을 받는다. 무질문이면 두 모델의 동의와 테스트 실패가 충돌할 때의 판단 또는 Goal이 완료를 보고했지만 측정이 빠진 상황을 묻는다. 새 기능 실행이나 정답 발표는 요구하지 않는다.</a:t>
            </a:r>
          </a:p>
          <a:p xmlns:a="http://schemas.openxmlformats.org/drawingml/2006/main">
            <a:r>
              <a:t>3. (9:00–11:00 / Transition) 플랫폼 기능을 활용하되 필요한 기준과 검토를 조합한다는 문장으로 회수한다. S103의 ACT5 제목을 거쳐 S104의 대응 선택으로 넘긴다.</a:t>
            </a:r>
          </a:p>
          <a:p xmlns:a="http://schemas.openxmlformats.org/drawingml/2006/main">
            <a:r>
              <a:t/>
            </a:r>
          </a:p>
          <a:p xmlns:a="http://schemas.openxmlformats.org/drawingml/2006/main">
            <a:r>
              <a:t>**Evidence / Source:**</a:t>
            </a:r>
          </a:p>
          <a:p xmlns:a="http://schemas.openxmlformats.org/drawingml/2006/main">
            <a:r>
              <a:t>DEC-0097; BEAT-083; CASE-LOOP-01; CLM-0021.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교육용 설계이며 실제 구현·검토·재실행·측정·완료 결과가 없다. 기존 Product/Meta Trial을 이 루프의 실행 증거로 바꾸지 않는다.</a:t>
            </a:r>
          </a:p>
          <a:p xmlns:a="http://schemas.openxmlformats.org/drawingml/2006/main">
            <a:r>
              <a:t/>
            </a:r>
          </a:p>
          <a:p xmlns:a="http://schemas.openxmlformats.org/drawingml/2006/main">
            <a:r>
              <a:t>**Beginner Explanation:**</a:t>
            </a:r>
          </a:p>
          <a:p xmlns:a="http://schemas.openxmlformats.org/drawingml/2006/main">
            <a:r>
              <a:t>내 업무의 목표·피드백·운영 판단을 떠올리고 ACT5의 조합·통합·제거로 이어간다.</a:t>
            </a:r>
          </a:p>
          <a:p xmlns:a="http://schemas.openxmlformats.org/drawingml/2006/main">
            <a:r>
              <a:t/>
            </a:r>
          </a:p>
          <a:p xmlns:a="http://schemas.openxmlformats.org/drawingml/2006/main">
            <a:r>
              <a:t>**Advanced Insight:**</a:t>
            </a:r>
          </a:p>
          <a:p xmlns:a="http://schemas.openxmlformats.org/drawingml/2006/main">
            <a:r>
              <a:t>ACT5에서 현재 문제와 비용·효과를 보고 필요한 구성을 유지·통합·제거할 수 있게 한다.</a:t>
            </a:r>
          </a:p>
          <a:p xmlns:a="http://schemas.openxmlformats.org/drawingml/2006/main">
            <a:r>
              <a:t/>
            </a:r>
          </a:p>
          <a:p xmlns:a="http://schemas.openxmlformats.org/drawingml/2006/main">
            <a:r>
              <a:t>**C++ Vision Bridge:**</a:t>
            </a:r>
          </a:p>
          <a:p xmlns:a="http://schemas.openxmlformats.org/drawingml/2006/main">
            <a:r>
              <a:t>N/A — 같은 명세·검사·검토 원리를 적용할 수 있으나 별도 GPU 사례나 미실행 C++ 코드를 추가하지 않는다.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Reflection2분→Q&amp;A7분→Transition2분. 무질문이면 “Goal은 완료라고 했는데 측정 근거가 없다면?”을 사용한다. 9분에 전환으로 들어가고 11분에 마친다.</a:t>
            </a:r>
          </a:p>
          <a:p xmlns:a="http://schemas.openxmlformats.org/drawingml/2006/main">
            <a:r>
              <a:t/>
            </a:r>
          </a:p>
          <a:p xmlns:a="http://schemas.openxmlformats.org/drawingml/2006/main">
            <a:r>
              <a:t>**Transition:**</a:t>
            </a:r>
          </a:p>
          <a:p xmlns:a="http://schemas.openxmlformats.org/drawingml/2006/main">
            <a:r>
              <a:t>Goal의 계속 수행을 활용해도 검증과 역할을 모두 직접 구현할 필요는 없습니다. S103의 ACT5 제목을 거쳐 S104에서 필요한 대응의 조합을 생각합니다.</a:t>
            </a:r>
          </a:p>
          <a:p xmlns:a="http://schemas.openxmlformats.org/drawingml/2006/main">
            <a:r>
              <a:t/>
            </a:r>
          </a:p>
          <a:p xmlns:a="http://schemas.openxmlformats.org/drawingml/2006/main">
            <a:r>
              <a:t>**Time Management:**</a:t>
            </a:r>
          </a:p>
          <a:p xmlns:a="http://schemas.openxmlformats.org/drawingml/2006/main">
            <a:r>
              <a:t>Reflection 2분 + Q&amp;A 7분 + Transition 2분 = 11분.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production/ACT_4.pptx의 S102; production/preview/act4/S102.png 및 production/preview/full/S102.png.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무엇을 남기고, 무엇을 덜어낼까?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덜어낸 뒤에도 필요한 일을 하는가?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S110에서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내 업무에서는 무엇이 반복해서 막힐까?</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S113에서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고른 문제에서, 다음 행동 하나로</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S112에서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S114–S116의 찾아보기에서 팁 위치만 짚고 S117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S114의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작업 환경과 기준</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S59, S64, S69, S71, S81, S100다.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S59 테스트 명령을 언제 쓰고 무엇을 판단할까? / S64 대화로 재사용할 Skill 만들기 / S69 대화로 조사 Agent 만들기 / S71 이번 Context와 다시 쓸 지식 / S81 반복 보정을 개선으로 잇는 기록. 새 S64/S69을 포함해 제목·위치만 짚고 본문을 다시 강의하지 않는다.</a:t>
            </a:r>
          </a:p>
          <a:p xmlns:a="http://schemas.openxmlformats.org/drawingml/2006/main">
            <a:r>
              <a:t>3. (0:45–1:00 / Lecture) 요청 작성 팁 목록 S115으로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S64/S69은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S115으로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요청 작성</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S28, S29, S30, S31, S32, S33, S34, S35다.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S116로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실무 적용 팁 · 검증과 개선</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S88, S92, S101, S110, S111이다.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S88 원인을 고르기 전에 확인할 기록 / S92 지침을 고친 뒤, 무엇을 다시 확인할까? / S110 무엇을 남기고, 무엇을 덜어낼까? / S111 덜어낸 뒤에도 필요한 일을 하는가?. 제목·위치만 짚고 본문을 다시 강의하지 않는다.</a:t>
            </a:r>
          </a:p>
          <a:p xmlns:a="http://schemas.openxmlformats.org/drawingml/2006/main">
            <a:r>
              <a:t>3. (0:45–1:00 / Lecture) S117로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Q&amp;A와 교육 마무리</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S117와 production/preview/act5/S117.png를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6.xml" Id="Raa20956d6d1b4479" /></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57.xml" Id="R54ba7668537b43fe" /></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58.xml" Id="Rf4394eb0efae4bc2" /></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59.xml" Id="Rf2667cbaf12645c5"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0.xml" Id="Rd8f3f37e8c0e4855"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1.xml" Id="R85a14c9750344ec0"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2.xml" Id="Raf1d5a7b0c524dfa"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3.xml" Id="Rad52161ddcca407b"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4.xml" Id="R16825de3fab740bf"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5.xml" Id="R8b0233aae6a140ac"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6.xml" Id="R3d7c7a685cac4014"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67.xml" Id="Raff3ca3ec59a4149"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68.xml" Id="R1cbda8e4c54b4dd1"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69.xml" Id="Rc8ffa309e5c34afa"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0.xml" Id="Rf159e342b5e341d6"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1.xml" Id="R63b536d641b84715"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2.xml" Id="R32d6c074a7e4497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3.xml" Id="Rc54545c27dea4caf"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4.xml" Id="R7f78e7867aa5421f"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5.xml" Id="R089a47929ed34abd"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6.xml" Id="R3b61134a2a454803"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77.xml" Id="R9e690c9a8b01411e"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78.xml" Id="Rcaebcb7911fd42e4"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79.xml" Id="R6bc44724aebe46dd"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0.xml" Id="R3aedd29c6ea7436c"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1.xml" Id="Rae1cfc68b74141de"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2.xml" Id="R30e64919739f4c81"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3.xml" Id="R7da67322bac34beb"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4.xml" Id="R983ef1b4941f47df"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5.xml" Id="R2bb221648fd04a50"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6.xml" Id="R87b72ed4cafc40d3"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87.xml" Id="Re6d646379adb4da1"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88.xml" Id="Rc4e6ef3588d54767"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89.xml" Id="R3bb29d806ae04c5c"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0.xml" Id="R4191341ed86e4215"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1.xml" Id="R36180a95ed3c43fa"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2.xml" Id="R5ef00a4c4bb04823"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3.xml" Id="R1e275696a25b470a"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4.xml" Id="Reafb085964c34056"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5.xml" Id="R7ea86b7511cd4629"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6.xml" Id="Rd241e076ae0c4c89"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97.xml" Id="R9fd9b4d481214a08"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98.xml" Id="R212a1ecf528b465a"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99.xml" Id="R7c714979becd470e"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0.xml" Id="R068559301c394576"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1.xml" Id="R24afd0dfb79d41f0"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2.xml" Id="R908895dc2cd64f82"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3.xml" Id="R9030d1fdb5114f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4.xml" Id="R311f6d7d4b354399"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5.xml" Id="R5248189ceda34d20"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6.xml" Id="Rb075385bb68b49a3"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07.xml" Id="Rfca130f2343a4cf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08.xml" Id="R0a5721e8688f465f"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09.xml" Id="Ree3d1ac02cbb4442"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0.xml" Id="Rd75f8c7cfc1e4c42"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1.xml" Id="R2fbfac11f8a04b0a"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2.xml" Id="Rfb9c411f0bc743b8"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3.xml" Id="R690e88ea3d1c4b3f"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304c459a9edb492d" /><Relationship Type="http://schemas.openxmlformats.org/officeDocument/2006/relationships/notesSlide" Target="/ppt/notesSlides/notesSlide114.xml" Id="R699ca2ac9d1c44a7"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5.xml" Id="Ra6812a34cdf44996"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6.xml" Id="R619b15d573e54123"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17.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AAEAA886-8965-433E-8D04-D6B0BECD4F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C9A6D92-98DF-4A34-90C2-FF7636D722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8319162-49E2-491D-BBED-2FCC825E1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947C3D6-229D-46E0-85B5-AF4CE4507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GitHub Docs · VS Code Docs | 사용 방법을 재구성한 교육용 UI 도식">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GitHub Docs · VS Code Docs | 사용 방법을 재구성한 교육용 UI 도식</a:t>
            </a:r>
          </a:p>
        </p:txBody>
      </p:sp>
      <p:sp>
        <p:nvSpPr>
          <p:cNvPr id="6" name="실제 회사 화면·응답 아님 · 전달할 코드를 확인하고, 답을 다시 확인한다.">
            <a:extLst xmlns:a="http://schemas.openxmlformats.org/drawingml/2006/main">
              <a:ext uri="{FF2B5EF4-FFF2-40B4-BE49-F238E27FC236}">
                <a16:creationId xmlns:a16="http://schemas.microsoft.com/office/drawing/2014/main" id="{E02921F6-848D-439B-90FC-3052957A79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회사 화면·응답 아님 · 전달할 코드를 확인하고, 답을 다시 확인한다.</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5643DDA-1677-4C62-99AF-3D0A654D6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78042E3-6478-4B42-A38A-7A53428355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71B348CF-1AA7-4634-A80B-0BDB4EA05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EDD15FC-F0A2-4420-AE48-5D2B03A642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783655DC-D97D-419D-B788-5C7499660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3AD98456-8502-4A70-BDBE-C9A9C64AA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A2FF09EA-92D9-4485-BD7C-B71B743B87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ADDD67C0-E565-4F55-BCED-C18157459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D704116A-6463-4CEB-B51C-BB12CD89C3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0BCEA090-9A3D-4B21-9860-1F236E236B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D35B9484-3817-401F-8718-15E9D216A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C97FAAC-5ABA-48C8-BEAF-CF3834DC59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390E4F0-0AE7-492C-9D3B-1AAED46DB1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BDF8BBD-43C3-46EA-8FD7-C46DD56B5D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1670C0E-AAF1-4DA7-9508-88F1A4BBA7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B8559C3-266E-489D-A7E7-B5C960A13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A40BD1E-BC6B-4538-A910-E572EE949A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416B626-F343-4202-8C58-CCC44B10A8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4E5F0B8-7D24-4145-95BB-5649ED4824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9F1DAF6-0CF3-49D2-9BE4-1F8B0356F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4CA8F2A-6070-4EC0-871E-F9C7DC17E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5FB33CDC-5D7C-4D1A-83DF-491DB5B993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S22</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9A5C4C4-281B-4EA6-A655-90DC166739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395128F-1D35-4698-8AB2-E436F46874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FAA42CD-CD96-4477-AC98-1C85A5FDC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F7EE6F6-2A39-4497-B1BA-F68D1405F7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E826D22-8D13-40E4-9B1C-0B3835A0F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F9D2B070-1314-4B49-8F4C-A1ED569D5B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6739461-DF16-41F5-8E94-9DC54E5BFA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AC99647-596D-4283-B3CC-2BE488DE0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79F2EFB-C208-43B7-9D84-7B14342AA5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4D38DDE-8140-4ABC-9C01-74DC49E9F2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C1E812E-0719-4132-B17B-69FB899A9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0453A48-BA79-40FE-9845-799FDA9240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1DE1005-2E3D-4852-8529-AB5432394E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D3554C5-F154-4534-9C45-88A924C470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2DF69D2-B965-416E-BAD3-8248D97FF4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59ED9ED-2887-4809-99D6-1EDC1FBA79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95FFDCA-5E2B-473E-847A-A755978841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62A8965-3BC3-4A50-8723-EB2044916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81C8F41-065B-4F10-9F6F-C592E2778D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BF47129-8FEC-438B-8111-6BFC9A80A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2B44A9A-308E-49DB-ABA3-EBEBCAFBE5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CA91F50-5DE8-4B7F-AF3C-9032B6CE7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B15F1ECE-6BBA-487A-9CDA-F5AAB5460D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546E08C-82E7-45FF-9F3F-DB006C478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8EA5D2F-95EF-49D8-A9A6-AFC9E756D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F61F13B-101A-451F-9B79-573A130C8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B6D306B2-63B1-420C-B7C9-BDCD825478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5B50607-C50E-4381-8174-65B936990AC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BF1768C-5161-4D68-A9FC-D0409EB3622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D67FC78-829B-483B-852E-6E7F159D5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C12B7899-6294-48A7-9C32-DE006CC62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25D8B9-A226-464F-BA7A-9BFDAAC55C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4EC106D-580A-4F71-9042-396DF84D2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E3B5CB-8A9F-4EC1-9765-5893CCD52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0BB0AC2-8EC1-4838-B79E-4BE66812F0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24B0B5C4-5B2A-49CB-941A-F55EE4A1F6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F37D913-0C59-4DD5-89A6-BCAD5F88D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C2B3B2B9-6ED3-4B98-A52F-CB9907A40A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D9B9273-8544-482A-BBD0-507368FA6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9BCAEAC-0578-4DDC-8845-E5C833944A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E678CFB-E093-4254-9F00-B2ECCAEFB1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2D8B679-0901-4B27-ACF5-C60F4D0791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7F9F9E8-98A8-4B95-A001-C9248556C2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57DD826-83DC-425E-9AB3-2C23A0356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A44DCFA-A6FF-48FF-8D8A-23CD7C02C3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5980767-CC68-4A1D-9775-71A804C23F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803DBF22-B660-48B3-8AC1-0E630B83F8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4F77C913-5340-4393-9487-DBB50A192B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77A5FD40-92B0-40E3-8581-5E45240C16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DAC38864-2641-4408-B6CF-1EE952436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B8EF545-85F0-45CE-911A-AB1E5FAF0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403F041-8A76-4239-A22F-D3B7162EA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F47A12B-6ABF-4EB5-848D-BD4008EF7D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A2A0A56-DCD8-4BC9-AF4B-4BCA94D9E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09A56703-0E34-4D6E-9E77-675B6A03D5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7357D1B6-78BD-45B6-80DE-A0783E6EDE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11F4C77-961C-4DC2-BEAD-78254DD7D2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B539ED81-5359-4006-8AB8-C3EA3D8C2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7A994E64-3F8F-40D7-9207-8875442069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DC7E1BFF-1E17-43F4-9502-85FD98C4C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4009FB11-1A36-4876-AB98-4729CEDA1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C58508E8-2F99-48CC-A307-81A53B3AF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701FA87E-6824-4F04-A31F-ABBD1581A1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BFEC700A-F0AD-4A5D-BDAC-74B866DBC2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84407816-99F6-4754-832F-016988610F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72647E5-D3E4-4B21-92B3-B55C7A6F0A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할당량 목표·실행시간 상한·대표 입력은 실행 전에 확정 · 현재 수치는 TBD">
            <a:extLst xmlns:a="http://schemas.openxmlformats.org/drawingml/2006/main">
              <a:ext uri="{FF2B5EF4-FFF2-40B4-BE49-F238E27FC236}">
                <a16:creationId xmlns:a16="http://schemas.microsoft.com/office/drawing/2014/main" id="{216D4033-571E-4B32-8E45-EFBFC2F1BA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할당량 목표·실행시간 상한·대표 입력은 실행 전에 확정 · 현재 수치는 TBD</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0C9E1947-D371-4CD7-8DDD-09BCF38CA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검사할 항목의 설계 · 실제 명령 실행·측정값·통과 결과를 제시하는 장이 아님">
            <a:extLst xmlns:a="http://schemas.openxmlformats.org/drawingml/2006/main">
              <a:ext uri="{FF2B5EF4-FFF2-40B4-BE49-F238E27FC236}">
                <a16:creationId xmlns:a16="http://schemas.microsoft.com/office/drawing/2014/main" id="{EF25A3C9-A60C-45CC-80D8-5EFAD68514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검사할 항목의 설계 · 실제 명령 실행·측정값·통과 결과를 제시하는 장이 아님</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AA1E0937-CAA9-4E16-B200-6CB612514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후보·지적·수정은 설명용 설계 · 실제 실행·측정·PASS/FAIL 결과 없음">
            <a:extLst xmlns:a="http://schemas.openxmlformats.org/drawingml/2006/main">
              <a:ext uri="{FF2B5EF4-FFF2-40B4-BE49-F238E27FC236}">
                <a16:creationId xmlns:a16="http://schemas.microsoft.com/office/drawing/2014/main" id="{6084F942-A321-4983-83CF-0DA321ADA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후보·지적·수정은 설명용 설계 · 실제 실행·측정·PASS/FAIL 결과 없음</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밝기 통계 최적화의 가상 진행 예 · 실제 Trial 또는 실행 캡처 아님">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밝기 통계 최적화의 가상 진행 예 · 실제 Trial 또는 실행 캡처 아님</a:t>
            </a:r>
          </a:p>
        </p:txBody>
      </p:sp>
      <p:sp>
        <p:nvSpPr>
          <p:cNvPr id="6" name="재검증·재검토의 운영 설계 · 후보 v2가 성공했다는 실제 결과는 없음">
            <a:extLst xmlns:a="http://schemas.openxmlformats.org/drawingml/2006/main">
              <a:ext uri="{FF2B5EF4-FFF2-40B4-BE49-F238E27FC236}">
                <a16:creationId xmlns:a16="http://schemas.microsoft.com/office/drawing/2014/main" id="{D8ABE38B-F20B-42D8-B9E6-C36F76528D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재검증·재검토의 운영 설계 · 후보 v2가 성공했다는 실제 결과는 없음</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목표와 근거를 다음 수정에 연결하는 시스템">
            <a:extLst xmlns:a="http://schemas.openxmlformats.org/drawingml/2006/main">
              <a:ext uri="{FF2B5EF4-FFF2-40B4-BE49-F238E27FC236}">
                <a16:creationId xmlns:a16="http://schemas.microsoft.com/office/drawing/2014/main" id="{BE393652-9FB8-4AC3-9B79-831A234EA2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목표와 근거를 다음 수정에 연결하는 시스템</a:t>
            </a:r>
          </a:p>
        </p:txBody>
      </p:sp>
      <p:sp>
        <p:nvSpPr>
          <p:cNvPr id="6" name="구체적 제품 기능·자동 실행 이력·모델 학습·완료 성과를 관찰한 결과가 아님">
            <a:extLst xmlns:a="http://schemas.openxmlformats.org/drawingml/2006/main">
              <a:ext uri="{FF2B5EF4-FFF2-40B4-BE49-F238E27FC236}">
                <a16:creationId xmlns:a16="http://schemas.microsoft.com/office/drawing/2014/main" id="{6CE83FF4-E5F5-4AEE-9737-CB11EB23B4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제품 기능·자동 실행 이력·모델 학습·완료 성과를 관찰한 결과가 아님</a:t>
            </a:r>
          </a:p>
        </p:txBody>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반복의 종료와 다음 행동을 정하는 기준">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반복의 종료와 다음 행동을 정하는 기준</a:t>
            </a:r>
          </a:p>
        </p:txBody>
      </p:sp>
      <p:sp>
        <p:nvSpPr>
          <p:cNvPr id="6" name="미완료 중단은 목표 달성과 다름 · 반복·시간·비용 한도 수치는 실행 전에 정함">
            <a:extLst xmlns:a="http://schemas.openxmlformats.org/drawingml/2006/main">
              <a:ext uri="{FF2B5EF4-FFF2-40B4-BE49-F238E27FC236}">
                <a16:creationId xmlns:a16="http://schemas.microsoft.com/office/drawing/2014/main" id="{C0068578-76AC-4C79-9BAD-CB9B2E81B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미완료 중단은 목표 달성과 다름 · 반복·시간·비용 한도 수치는 실행 전에 정함</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elf-Refine (2023) / Huang et al., ICLR 2024 · 서로 다른 실험 조건의 ">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Self-Refine (2023) / Huang et al., ICLR 2024 · 서로 다른 실험 조건의 연구</a:t>
            </a:r>
          </a:p>
        </p:txBody>
      </p:sp>
      <p:sp>
        <p:nvSpPr>
          <p:cNvPr id="6" name="과거 연구 대상의 결과 · 현재 모든 모델의 자기 검토 능력이나 다중 모델 우월성을 뜻하지 않음">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연구 대상의 결과 · 현재 모든 모델의 자기 검토 능력이나 다중 모델 우월성을 뜻하지 않음</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Concile · ACL 2024 · Table 7 · StrategyQA의 토론·합의 실험">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ReConcile · ACL 2024 · Table 7 · StrategyQA의 토론·합의 실험</a:t>
            </a:r>
          </a:p>
        </p:txBody>
      </p:sp>
      <p:sp>
        <p:nvSpPr>
          <p:cNvPr id="6" name="코드 수정 실험이 아님 · 현재 모델의 일반 성능·비용 개선으로 확대하지 않음">
            <a:extLst xmlns:a="http://schemas.openxmlformats.org/drawingml/2006/main">
              <a:ext uri="{FF2B5EF4-FFF2-40B4-BE49-F238E27FC236}">
                <a16:creationId xmlns:a16="http://schemas.microsoft.com/office/drawing/2014/main" id="{915542E5-F837-4734-8C29-0F9174B673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코드 수정 실험이 아님 · 현재 모델의 일반 성능·비용 개선으로 확대하지 않음</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riticBench · Findings of ACL 2024 · 17개 모델 / §4.2.5 교차 모델 검">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CriticBench · Findings of ACL 2024 · 17개 모델 / §4.2.5 교차 모델 검토</a:t>
            </a:r>
          </a:p>
        </p:txBody>
      </p:sp>
      <p:sp>
        <p:nvSpPr>
          <p:cNvPr id="6" name="일부 모델·과제에서의 결과 · 이 교육의 코드 루프 완료율·비용 개선을 측정한 연구가 아님">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일부 모델·과제에서의 결과 · 이 교육의 코드 루프 완료율·비용 개선을 측정한 연구가 아님</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연구를 참고한 개발 작업의 역할 배치 제안 · 현재 제품의 자동 배치 기능 설명 아님">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연구를 참고한 개발 작업의 역할 배치 제안 · 현재 제품의 자동 배치 기능 설명 아님</a:t>
            </a:r>
          </a:p>
        </p:txBody>
      </p:sp>
      <p:sp>
        <p:nvSpPr>
          <p:cNvPr id="6" name="같은 모델의 역할 분리와 서로 다른 모델 조합을 구분 · 실제 조합의 효과는 별도 평가">
            <a:extLst xmlns:a="http://schemas.openxmlformats.org/drawingml/2006/main">
              <a:ext uri="{FF2B5EF4-FFF2-40B4-BE49-F238E27FC236}">
                <a16:creationId xmlns:a16="http://schemas.microsoft.com/office/drawing/2014/main" id="{398526F0-2E0B-4C67-AF7C-8E3CD27D40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모델의 역할 분리와 서로 다른 모델 조합을 구분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검토 지적의 수용·기각과 추가 확인">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검토 지적의 수용·기각과 추가 확인</a:t>
            </a:r>
          </a:p>
        </p:txBody>
      </p:sp>
      <p:sp>
        <p:nvSpPr>
          <p:cNvPr id="6" name="모델 동의·다수결만으로 완료하지 않음 · 검토 모델도 틀릴 수 있음">
            <a:extLst xmlns:a="http://schemas.openxmlformats.org/drawingml/2006/main">
              <a:ext uri="{FF2B5EF4-FFF2-40B4-BE49-F238E27FC236}">
                <a16:creationId xmlns:a16="http://schemas.microsoft.com/office/drawing/2014/main" id="{D1D352C9-B1AF-4B05-9AD5-0CA6E0D5C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 동의·다수결만으로 완료하지 않음 · 검토 모델도 틀릴 수 있음</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같은 목표의 다음 시도를 위한 최소 기록">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같은 목표의 다음 시도를 위한 최소 기록</a:t>
            </a:r>
          </a:p>
        </p:txBody>
      </p:sp>
      <p:sp>
        <p:nvSpPr>
          <p:cNvPr id="6" name="새 Memory·프레임워크가 필수인 것은 아님 · 한도와 중단 후 재개는 별도 운영 기준">
            <a:extLst xmlns:a="http://schemas.openxmlformats.org/drawingml/2006/main">
              <a:ext uri="{FF2B5EF4-FFF2-40B4-BE49-F238E27FC236}">
                <a16:creationId xmlns:a16="http://schemas.microsoft.com/office/drawing/2014/main" id="{BC59B5E9-E1AE-482D-848F-43C225CC8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Memory·프레임워크가 필수인 것은 아님 · 한도와 중단 후 재개는 별도 운영 기준</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Product Trial / 인용한 연구 / CASE-LOOP-01 설계의 근거 경계">
            <a:extLst xmlns:a="http://schemas.openxmlformats.org/drawingml/2006/main">
              <a:ext uri="{FF2B5EF4-FFF2-40B4-BE49-F238E27FC236}">
                <a16:creationId xmlns:a16="http://schemas.microsoft.com/office/drawing/2014/main" id="{FB97291B-3F03-4627-A6A0-9CD564349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Product Trial / 인용한 연구 / CASE-LOOP-01 설계의 근거 경계</a:t>
            </a:r>
          </a:p>
        </p:txBody>
      </p:sp>
      <p:sp>
        <p:nvSpPr>
          <p:cNvPr id="6" name="기존 Trial을 다중 모델 루프의 실행 증거로 사용하지 않음 · 새 모델 조합·완료 성과 미검증">
            <a:extLst xmlns:a="http://schemas.openxmlformats.org/drawingml/2006/main">
              <a:ext uri="{FF2B5EF4-FFF2-40B4-BE49-F238E27FC236}">
                <a16:creationId xmlns:a16="http://schemas.microsoft.com/office/drawing/2014/main" id="{AC317E10-B66F-416F-AE74-B59591FEB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Trial을 다중 모델 루프의 실행 증거로 사용하지 않음 · 새 모델 조합·완료 성과 미검증</a:t>
            </a:r>
          </a:p>
        </p:txBody>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공식 Goal 안내 · 2026-10-25 확인 · 사용법을 설명하는 도식">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공식 Goal 안내 · 2026-10-25 확인 · 사용법을 설명하는 도식</a:t>
            </a:r>
          </a:p>
        </p:txBody>
      </p:sp>
      <p:sp>
        <p:nvSpPr>
          <p:cNvPr id="6" name="실제 화면·실행 결과 아님 · 다른 모델 검토자는 별도 설계 · 사내 환경에서 사용 가능 여부 확인">
            <a:extLst xmlns:a="http://schemas.openxmlformats.org/drawingml/2006/main">
              <a:ext uri="{FF2B5EF4-FFF2-40B4-BE49-F238E27FC236}">
                <a16:creationId xmlns:a16="http://schemas.microsoft.com/office/drawing/2014/main" id="{52907D77-73B0-4736-B74A-A14752A503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화면·실행 결과 아님 · 다른 모델 검토자는 별도 설계 · 사내 환경에서 사용 가능 여부 확인</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Goals 작성 안내를 밝기 통계 작업으로 각색 · 실제 실행 요청·결과 아님">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Goals 작성 안내를 밝기 통계 작업으로 각색 · 실제 실행 요청·결과 아님</a:t>
            </a:r>
          </a:p>
        </p:txBody>
      </p:sp>
      <p:sp>
        <p:nvSpPr>
          <p:cNvPr id="6" name="기준판·대표 입력·측정 방법을 먼저 확정 · 완료 보장 없음 · 다중 모델 검토를 자동 구성한다는 뜻 아님">
            <a:extLst xmlns:a="http://schemas.openxmlformats.org/drawingml/2006/main">
              <a:ext uri="{FF2B5EF4-FFF2-40B4-BE49-F238E27FC236}">
                <a16:creationId xmlns:a16="http://schemas.microsoft.com/office/drawing/2014/main" id="{9AD1755F-BE96-40B9-BB67-CED599C2B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기준판·대표 입력·측정 방법을 먼저 확정 · 완료 보장 없음 · 다중 모델 검토를 자동 구성한다는 뜻 아님</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과 Q&amp;A · 실습·제출·구현 요구 없음">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성찰과 Q&amp;A · 실습·제출·구현 요구 없음</a:t>
            </a:r>
          </a:p>
        </p:txBody>
      </p:sp>
      <p:sp>
        <p:nvSpPr>
          <p:cNvPr id="6" name="목표·판단·검증·책임은 유지 · 다음 ACT에서 조합·통합·제거를 검토">
            <a:extLst xmlns:a="http://schemas.openxmlformats.org/drawingml/2006/main">
              <a:ext uri="{FF2B5EF4-FFF2-40B4-BE49-F238E27FC236}">
                <a16:creationId xmlns:a16="http://schemas.microsoft.com/office/drawing/2014/main" id="{873D9772-4563-4937-B87A-2156A3260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목표·판단·검증·책임은 유지 · 다음 ACT에서 조합·통합·제거를 검토</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6075CB1-F919-4BD4-9B52-62DFE98C5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BBE801-EB25-4788-976D-9F1114D6D3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2B4F4CF0-67A2-4C4B-ABA4-3652EF958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CDEE2C0F-FCF3-4089-8739-03F867C3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36BC607-85D5-4025-9FAA-A6ED4B13E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8CD4AE2-B470-40D6-9E7A-7588468D23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DFE2CFF-02AF-4A4D-A2B8-28A3AD709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CFE56CF-EC04-43E2-9191-6BA7946F7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6695EA7-E543-46AE-A299-4766BA0A5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7553AA-482E-4059-8570-E666723F6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48B75E4B-FC57-48F5-8D5C-C56A9DD196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4CFFF58-3364-4855-A3A9-39B219406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28A883A5-7366-44BE-AED8-D1FFCE053C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83D9D6F-A47C-4EC8-A0E3-129A1A568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5039FFC-6026-4253-B90F-25712E947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7BEDA88F-7BCE-4342-8D7A-1D4A80C2C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CFFE18FB-4AF0-4B64-85A3-A5B7B84AB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2BE5FA7F-90C8-4F4C-B6B3-76FB402FB4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작업 환경과 기준">
            <a:extLst xmlns:a="http://schemas.openxmlformats.org/drawingml/2006/main">
              <a:ext uri="{FF2B5EF4-FFF2-40B4-BE49-F238E27FC236}">
                <a16:creationId xmlns:a16="http://schemas.microsoft.com/office/drawing/2014/main" id="{69100CF2-29B5-4D03-A126-104860AEC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8A4F26E0-2CC8-45B9-95A9-09624806E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130AB79-6641-4204-B146-D14B71AAE8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27061BB-620D-41C5-A681-5BD623A1C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170E0B0E-39DC-40A0-969A-AF413ADEA15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8ED2A3E-91A1-4B99-BF05-2A53B2B9B5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AA239AF-E963-44B1-8EE5-220C041AFADD}"/>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E08EDB0-2731-4211-B61C-32F64AC2FD4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5949374-624C-46FC-9FDD-77AEB4946E7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3CBB3616-0AB3-46D9-99B3-ADB2020E746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3" name="Repository 작업은 Codex에서 시작한다">
            <a:extLst xmlns:a="http://schemas.openxmlformats.org/drawingml/2006/main">
              <a:ext uri="{FF2B5EF4-FFF2-40B4-BE49-F238E27FC236}">
                <a16:creationId xmlns:a16="http://schemas.microsoft.com/office/drawing/2014/main" id="{F48FEF7A-4904-4EA1-A8E4-567F97AA0BC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FE76D5B8-2063-4CBD-9544-F99B3610D8DA}"/>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EB272E-3397-4536-9409-64096E4CCD32}"/>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DE54784-4951-4390-A597-DAFAA8E609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7" name="AGENTS.md에는 무엇을 남길까?">
            <a:extLst xmlns:a="http://schemas.openxmlformats.org/drawingml/2006/main">
              <a:ext uri="{FF2B5EF4-FFF2-40B4-BE49-F238E27FC236}">
                <a16:creationId xmlns:a16="http://schemas.microsoft.com/office/drawing/2014/main" id="{8365903B-C3E6-4B9A-8933-E0949F89914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03E4FF56-B67E-400C-A073-7BEAFE63AEC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99F6E2C-E187-4237-BF85-E10DED2D520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F5884156-3364-4CDE-853D-C54BDB7D7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S59</a:t>
            </a:r>
          </a:p>
        </p:txBody>
      </p:sp>
      <p:sp>
        <p:nvSpPr>
          <p:cNvPr id="21" name="테스트 명령을 언제 쓰고 무엇을 판단할까?">
            <a:extLst xmlns:a="http://schemas.openxmlformats.org/drawingml/2006/main">
              <a:ext uri="{FF2B5EF4-FFF2-40B4-BE49-F238E27FC236}">
                <a16:creationId xmlns:a16="http://schemas.microsoft.com/office/drawing/2014/main" id="{C6C529BC-DFF3-4E88-8539-24273E7070B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4CC3833A-579C-4A33-98C2-ECA3714BDDF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11D472F-C47A-40F1-8177-662F77A4986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6DC5FF0-4971-4220-B5FD-49577095320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대화로 재사용할 Skill 만들기">
            <a:extLst xmlns:a="http://schemas.openxmlformats.org/drawingml/2006/main">
              <a:ext uri="{FF2B5EF4-FFF2-40B4-BE49-F238E27FC236}">
                <a16:creationId xmlns:a16="http://schemas.microsoft.com/office/drawing/2014/main" id="{21F3CD3F-F992-47D3-AB5B-5EF6E835DD1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635FE38-ED1A-4457-AFF2-2B3D584856E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9751437-0F97-45B0-BE2A-668C6340A54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285C6AE9-D595-4EE9-8B4F-5DE81C82B9D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대화로 조사 Agent 만들기">
            <a:extLst xmlns:a="http://schemas.openxmlformats.org/drawingml/2006/main">
              <a:ext uri="{FF2B5EF4-FFF2-40B4-BE49-F238E27FC236}">
                <a16:creationId xmlns:a16="http://schemas.microsoft.com/office/drawing/2014/main" id="{B8DA420E-A08F-4E16-9B87-593D46254CD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41CA49B6-0AC2-4684-99A4-848E5B4A7D5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E9B91AC-349B-4125-AF91-4913B2834317}"/>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9DB6DE8-A645-421F-8B1C-1E382EA316F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3" name="이번 Context와 다시 쓸 지식">
            <a:extLst xmlns:a="http://schemas.openxmlformats.org/drawingml/2006/main">
              <a:ext uri="{FF2B5EF4-FFF2-40B4-BE49-F238E27FC236}">
                <a16:creationId xmlns:a16="http://schemas.microsoft.com/office/drawing/2014/main" id="{FE507201-8EA5-4921-A811-388D506F5560}"/>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4CA028E-E712-49AA-B4C4-BF0CD5803C5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76BADA6-78CD-40F4-8617-B78D9E43915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4D3E478D-8EDA-4764-B4D6-6DB59F0D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S81</a:t>
            </a:r>
          </a:p>
        </p:txBody>
      </p:sp>
      <p:sp>
        <p:nvSpPr>
          <p:cNvPr id="37" name="다음 수정에 넘길 기록">
            <a:extLst xmlns:a="http://schemas.openxmlformats.org/drawingml/2006/main">
              <a:ext uri="{FF2B5EF4-FFF2-40B4-BE49-F238E27FC236}">
                <a16:creationId xmlns:a16="http://schemas.microsoft.com/office/drawing/2014/main" id="{F7EE26C4-7A02-4C68-A29A-E17535B50C0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3EA75C66-40E3-4132-B9A3-CCE80D66027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5C5D43B8-B27A-420A-B6A6-B7299E54281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8B56F5C8-DBD8-4524-910E-D9ED6AAE215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41" name="Goal이 목표와 다음 작업을 이어준다">
            <a:extLst xmlns:a="http://schemas.openxmlformats.org/drawingml/2006/main">
              <a:ext uri="{FF2B5EF4-FFF2-40B4-BE49-F238E27FC236}">
                <a16:creationId xmlns:a16="http://schemas.microsoft.com/office/drawing/2014/main" id="{934C672F-F1CA-428E-96D3-E6F0ACDC0C7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79838995-8506-4A60-A60F-DB95166748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065356"/>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7B92CE0-8B2A-4358-8546-D44C752EA6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A7244E08-0BDD-4634-B095-9E9DD0B3D3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DEB14CF-8E81-47A7-82D4-B14B0A4BE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A4DC708-A7B9-491F-9B93-452C1BFA0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S88</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S111</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04CF3E1-6D40-4EB8-8CB8-D3FD33393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117</ap:Slides>
  <ap:Notes>117</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