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 /><Relationship Type="http://schemas.openxmlformats.org/officeDocument/2006/relationships/notesMaster" Target="/ppt/notesMasters/notesMaster1.xml" Id="R772b29c6f08a48a9" /></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 /><Relationship Type="http://schemas.openxmlformats.org/officeDocument/2006/relationships/notesMaster" Target="/ppt/notesMasters/notesMaster1.xml" Id="Rc9843874f9a745f4" /></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 /><Relationship Type="http://schemas.openxmlformats.org/officeDocument/2006/relationships/notesMaster" Target="/ppt/notesMasters/notesMaster1.xml" Id="R14cd720d54274fa1" /></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 /><Relationship Type="http://schemas.openxmlformats.org/officeDocument/2006/relationships/notesMaster" Target="/ppt/notesMasters/notesMaster1.xml" Id="R733e545b2c744b6f" /></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 /><Relationship Type="http://schemas.openxmlformats.org/officeDocument/2006/relationships/notesMaster" Target="/ppt/notesMasters/notesMaster1.xml" Id="R592735f8936f47da" /></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 /><Relationship Type="http://schemas.openxmlformats.org/officeDocument/2006/relationships/notesMaster" Target="/ppt/notesMasters/notesMaster1.xml" Id="R8adb15f9dad74c78" /></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 /><Relationship Type="http://schemas.openxmlformats.org/officeDocument/2006/relationships/notesMaster" Target="/ppt/notesMasters/notesMaster1.xml" Id="Rf406a0ad792440e8" /></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 /><Relationship Type="http://schemas.openxmlformats.org/officeDocument/2006/relationships/notesMaster" Target="/ppt/notesMasters/notesMaster1.xml" Id="Rfe8ae5366316458c" /></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 /><Relationship Type="http://schemas.openxmlformats.org/officeDocument/2006/relationships/notesMaster" Target="/ppt/notesMasters/notesMaster1.xml" Id="R733d4ec229824b70" /></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 /><Relationship Type="http://schemas.openxmlformats.org/officeDocument/2006/relationships/notesMaster" Target="/ppt/notesMasters/notesMaster1.xml" Id="R150fc5a78fd140b6" /></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 /><Relationship Type="http://schemas.openxmlformats.org/officeDocument/2006/relationships/notesMaster" Target="/ppt/notesMasters/notesMaster1.xml" Id="R886e991404294ab7" /></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 /><Relationship Type="http://schemas.openxmlformats.org/officeDocument/2006/relationships/notesMaster" Target="/ppt/notesMasters/notesMaster1.xml" Id="R63d921fc331b4280" /></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 /><Relationship Type="http://schemas.openxmlformats.org/officeDocument/2006/relationships/notesMaster" Target="/ppt/notesMasters/notesMaster1.xml" Id="R318b408e272c4369" /></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 /><Relationship Type="http://schemas.openxmlformats.org/officeDocument/2006/relationships/notesMaster" Target="/ppt/notesMasters/notesMaster1.xml" Id="Raa78ffb4470f4114" /></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 /><Relationship Type="http://schemas.openxmlformats.org/officeDocument/2006/relationships/notesMaster" Target="/ppt/notesMasters/notesMaster1.xml" Id="Re69af64665704edd" /></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 /><Relationship Type="http://schemas.openxmlformats.org/officeDocument/2006/relationships/notesMaster" Target="/ppt/notesMasters/notesMaster1.xml" Id="Rae8aa6d06c57427d" /></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 /><Relationship Type="http://schemas.openxmlformats.org/officeDocument/2006/relationships/notesMaster" Target="/ppt/notesMasters/notesMaster1.xml" Id="R2e5242e14e0a4391" /></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 /><Relationship Type="http://schemas.openxmlformats.org/officeDocument/2006/relationships/notesMaster" Target="/ppt/notesMasters/notesMaster1.xml" Id="Rbfbf5fb2658247a4" /></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 /><Relationship Type="http://schemas.openxmlformats.org/officeDocument/2006/relationships/notesMaster" Target="/ppt/notesMasters/notesMaster1.xml" Id="R881e018f7d3a4212" /></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 /><Relationship Type="http://schemas.openxmlformats.org/officeDocument/2006/relationships/notesMaster" Target="/ppt/notesMasters/notesMaster1.xml" Id="R74aabc30838745da" /></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 /><Relationship Type="http://schemas.openxmlformats.org/officeDocument/2006/relationships/notesMaster" Target="/ppt/notesMasters/notesMaster1.xml" Id="R98c0d1f05ec04ed7" /></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 /><Relationship Type="http://schemas.openxmlformats.org/officeDocument/2006/relationships/notesMaster" Target="/ppt/notesMasters/notesMaster1.xml" Id="Rda5d90d4963145f2" /></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 /><Relationship Type="http://schemas.openxmlformats.org/officeDocument/2006/relationships/notesMaster" Target="/ppt/notesMasters/notesMaster1.xml" Id="R7955f82dd04b405c" /></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 /><Relationship Type="http://schemas.openxmlformats.org/officeDocument/2006/relationships/notesMaster" Target="/ppt/notesMasters/notesMaster1.xml" Id="Rf3b67b75301c4e34" /></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 /><Relationship Type="http://schemas.openxmlformats.org/officeDocument/2006/relationships/notesMaster" Target="/ppt/notesMasters/notesMaster1.xml" Id="R28d9e3e5c7be4691" /></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 /><Relationship Type="http://schemas.openxmlformats.org/officeDocument/2006/relationships/notesMaster" Target="/ppt/notesMasters/notesMaster1.xml" Id="R9b6a1a62bcff403c" /></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 /><Relationship Type="http://schemas.openxmlformats.org/officeDocument/2006/relationships/notesMaster" Target="/ppt/notesMasters/notesMaster1.xml" Id="Raf8067029d9042b1" /></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 /><Relationship Type="http://schemas.openxmlformats.org/officeDocument/2006/relationships/notesMaster" Target="/ppt/notesMasters/notesMaster1.xml" Id="R2d73c16ab9a64e3a" /></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 /><Relationship Type="http://schemas.openxmlformats.org/officeDocument/2006/relationships/notesMaster" Target="/ppt/notesMasters/notesMaster1.xml" Id="Reee7ba3618f64ddd" /></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 /><Relationship Type="http://schemas.openxmlformats.org/officeDocument/2006/relationships/notesMaster" Target="/ppt/notesMasters/notesMaster1.xml" Id="Rc9bcb6b574a24d5c" /></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 /><Relationship Type="http://schemas.openxmlformats.org/officeDocument/2006/relationships/notesMaster" Target="/ppt/notesMasters/notesMaster1.xml" Id="R8b690a0caba34ba7" /></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 /><Relationship Type="http://schemas.openxmlformats.org/officeDocument/2006/relationships/notesMaster" Target="/ppt/notesMasters/notesMaster1.xml" Id="Rb8ac526fdffe42d6" /></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 /><Relationship Type="http://schemas.openxmlformats.org/officeDocument/2006/relationships/notesMaster" Target="/ppt/notesMasters/notesMaster1.xml" Id="R57b5507cc7b3492b" /></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 /><Relationship Type="http://schemas.openxmlformats.org/officeDocument/2006/relationships/notesMaster" Target="/ppt/notesMasters/notesMaster1.xml" Id="R27be2f8e114f43a0" /></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 /><Relationship Type="http://schemas.openxmlformats.org/officeDocument/2006/relationships/notesMaster" Target="/ppt/notesMasters/notesMaster1.xml" Id="Rd151ca23e93d4eaf" /></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 /><Relationship Type="http://schemas.openxmlformats.org/officeDocument/2006/relationships/notesMaster" Target="/ppt/notesMasters/notesMaster1.xml" Id="R7e6a7ed19e3a40cb" /></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 /><Relationship Type="http://schemas.openxmlformats.org/officeDocument/2006/relationships/notesMaster" Target="/ppt/notesMasters/notesMaster1.xml" Id="R7a670bf595fa4529" /></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 /><Relationship Type="http://schemas.openxmlformats.org/officeDocument/2006/relationships/notesMaster" Target="/ppt/notesMasters/notesMaster1.xml" Id="R04c69684547247e2" /></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 /><Relationship Type="http://schemas.openxmlformats.org/officeDocument/2006/relationships/notesMaster" Target="/ppt/notesMasters/notesMaster1.xml" Id="R7ace7c5f8e04458f" /></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 /><Relationship Type="http://schemas.openxmlformats.org/officeDocument/2006/relationships/notesMaster" Target="/ppt/notesMasters/notesMaster1.xml" Id="R7d1404e76a174da2" /></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 /><Relationship Type="http://schemas.openxmlformats.org/officeDocument/2006/relationships/notesMaster" Target="/ppt/notesMasters/notesMaster1.xml" Id="R89005aee29154fdf" /></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 /><Relationship Type="http://schemas.openxmlformats.org/officeDocument/2006/relationships/notesMaster" Target="/ppt/notesMasters/notesMaster1.xml" Id="R7b112601c2a64208" /></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 /><Relationship Type="http://schemas.openxmlformats.org/officeDocument/2006/relationships/notesMaster" Target="/ppt/notesMasters/notesMaster1.xml" Id="R2956a2047df44dcc" /></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 /><Relationship Type="http://schemas.openxmlformats.org/officeDocument/2006/relationships/notesMaster" Target="/ppt/notesMasters/notesMaster1.xml" Id="R8078dc63f9ad408a" /></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 /><Relationship Type="http://schemas.openxmlformats.org/officeDocument/2006/relationships/notesMaster" Target="/ppt/notesMasters/notesMaster1.xml" Id="Ra4cbf48a85004011" /></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 /><Relationship Type="http://schemas.openxmlformats.org/officeDocument/2006/relationships/notesMaster" Target="/ppt/notesMasters/notesMaster1.xml" Id="R59b9d3aca398484b" /></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 /><Relationship Type="http://schemas.openxmlformats.org/officeDocument/2006/relationships/notesMaster" Target="/ppt/notesMasters/notesMaster1.xml" Id="Ra809662fe7414499" /></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 /><Relationship Type="http://schemas.openxmlformats.org/officeDocument/2006/relationships/notesMaster" Target="/ppt/notesMasters/notesMaster1.xml" Id="R789f04a5ee1340b9" /></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 /><Relationship Type="http://schemas.openxmlformats.org/officeDocument/2006/relationships/notesMaster" Target="/ppt/notesMasters/notesMaster1.xml" Id="R498467402c07474b" /></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 /><Relationship Type="http://schemas.openxmlformats.org/officeDocument/2006/relationships/notesMaster" Target="/ppt/notesMasters/notesMaster1.xml" Id="Rd231d4a707e548bc" /></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 /><Relationship Type="http://schemas.openxmlformats.org/officeDocument/2006/relationships/notesMaster" Target="/ppt/notesMasters/notesMaster1.xml" Id="R49e2134f87444dec" /></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 /><Relationship Type="http://schemas.openxmlformats.org/officeDocument/2006/relationships/notesMaster" Target="/ppt/notesMasters/notesMaster1.xml" Id="Rcf79b18562284a12" /></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 /><Relationship Type="http://schemas.openxmlformats.org/officeDocument/2006/relationships/notesMaster" Target="/ppt/notesMasters/notesMaster1.xml" Id="Re73de6cf821b4c89" /></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 /><Relationship Type="http://schemas.openxmlformats.org/officeDocument/2006/relationships/notesMaster" Target="/ppt/notesMasters/notesMaster1.xml" Id="R9ce33fbf1e97475c" /></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 /><Relationship Type="http://schemas.openxmlformats.org/officeDocument/2006/relationships/notesMaster" Target="/ppt/notesMasters/notesMaster1.xml" Id="Rd6d4f46725ed4448" /></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 /><Relationship Type="http://schemas.openxmlformats.org/officeDocument/2006/relationships/notesMaster" Target="/ppt/notesMasters/notesMaster1.xml" Id="Rc6bf7d350d8f400a" /></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 /><Relationship Type="http://schemas.openxmlformats.org/officeDocument/2006/relationships/notesMaster" Target="/ppt/notesMasters/notesMaster1.xml" Id="R67ed9e5ab2d544b5" /></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 /><Relationship Type="http://schemas.openxmlformats.org/officeDocument/2006/relationships/notesMaster" Target="/ppt/notesMasters/notesMaster1.xml" Id="R44c72230652f43f5" /></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 /><Relationship Type="http://schemas.openxmlformats.org/officeDocument/2006/relationships/notesMaster" Target="/ppt/notesMasters/notesMaster1.xml" Id="R9b2585fdc2c843bb" /></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 /><Relationship Type="http://schemas.openxmlformats.org/officeDocument/2006/relationships/notesMaster" Target="/ppt/notesMasters/notesMaster1.xml" Id="Rf35708420cc741cc" /></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AI를 Repository로 데려가기</a:t>
            </a:r>
          </a:p>
          <a:p>
            <a:r>
              <a:t xml:space="preserve"/>
            </a:r>
          </a:p>
          <a:p>
            <a:r>
              <a:t xml:space="preserve">**Slide ID:**</a:t>
            </a:r>
          </a:p>
          <a:p>
            <a:r>
              <a:t xml:space="preserve">S01</a:t>
            </a:r>
          </a:p>
          <a:p>
            <a:r>
              <a:t xml:space="preserve"/>
            </a:r>
          </a:p>
          <a:p>
            <a:r>
              <a:t xml:space="preserve">**Working Title:**</a:t>
            </a:r>
          </a:p>
          <a:p>
            <a:r>
              <a:t xml:space="preserve">AI를 Repository로 데려가기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AI를 Repository로 데려가기 — Chatbot → Repository Agent</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0의 제목 “AI를 Repository로 데려가기”을 가리키며 구간을 연다.</a:t>
            </a:r>
          </a:p>
          <a:p>
            <a:r>
              <a:t xml:space="preserve">2. (0:20–0:40 / Transition) 부제 “Chatbot → Repository Agent”는 이번 구간의 관점만 안내한다. 구체적 기능·해결 방법·결과는 앞서 설명하지 않는다.</a:t>
            </a:r>
          </a:p>
          <a:p>
            <a:r>
              <a:t xml:space="preserve">3. (0:40–1:00 / Transition) S02의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 Repository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Repository의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Repository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Repository 접근과 실제 도구/실행 권한은 별개다. 조직의 실제 허용·금지 목록이나 제품 보안 보장을 새로 확정하지 않는다.</a:t>
            </a:r>
          </a:p>
          <a:p>
            <a:r>
              <a:t xml:space="preserve">4. (1:50–2:00 / Lecture) “이 교육에서는 어디에서 Repository를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Repository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Repository를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Repository 작업은 Codex에서 시작한다</a:t>
            </a:r>
          </a:p>
          <a:p>
            <a:r>
              <a:t xml:space="preserve"/>
            </a:r>
          </a:p>
          <a:p>
            <a:r>
              <a:t xml:space="preserve">Slide ID: S13</a:t>
            </a:r>
          </a:p>
          <a:p>
            <a:r>
              <a:t xml:space="preserve"/>
            </a:r>
          </a:p>
          <a:p>
            <a:r>
              <a:t xml:space="preserve">Working Title: Repository 작업은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 이 교육에서 Repository를 조사하는 개발 작업은 ChatGPT 데스크톱 앱의 ChatGPT 메뉴에서 Codex를 선택해 시작한다.</a:t>
            </a:r>
          </a:p>
          <a:p>
            <a:r>
              <a:t xml:space="preserve"/>
            </a:r>
          </a:p>
          <a:p>
            <a:r>
              <a:t xml:space="preserve">Opening Question: “Repository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**REPOSITORY (0:30–0:45):** 허용된 Repository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 작은 코드 질문을 하던 대화에서 Repository 조사로 옮길 때, 이 교육에서는 Codex를 선택하는 진입점을 사용한다.</a:t>
            </a:r>
          </a:p>
          <a:p>
            <a:r>
              <a:t xml:space="preserve"/>
            </a:r>
          </a:p>
          <a:p>
            <a:r>
              <a:t xml:space="preserve">Advanced Insight: 제품 표면의 선택, Repository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 “Repository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 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Repository 접근과 Task 의도는 별개다</a:t>
            </a:r>
          </a:p>
          <a:p>
            <a:r>
              <a:t xml:space="preserve"/>
            </a:r>
          </a:p>
          <a:p>
            <a:r>
              <a:t xml:space="preserve">Slide ID: S14</a:t>
            </a:r>
          </a:p>
          <a:p>
            <a:r>
              <a:t xml:space="preserve"/>
            </a:r>
          </a:p>
          <a:p>
            <a:r>
              <a:t xml:space="preserve">Working Title: Repository 접근과 Task 의도는 별개다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 Repository 탐색은 Context 수집에 도움을 줄 수 있지만, Task의 목표와 완료 조건까지 대신 정하지 않는다.</a:t>
            </a:r>
          </a:p>
          <a:p>
            <a:r>
              <a:t xml:space="preserve"/>
            </a:r>
          </a:p>
          <a:p>
            <a:r>
              <a:t xml:space="preserve">Opening Question: “Repository를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Repository를 보면 내가 원하는 것까지 알까?</a:t>
            </a:r>
          </a:p>
          <a:p>
            <a:r>
              <a:t xml:space="preserve"/>
            </a:r>
          </a:p>
          <a:p>
            <a:r>
              <a:t xml:space="preserve">Slide ID: S15</a:t>
            </a:r>
          </a:p>
          <a:p>
            <a:r>
              <a:t xml:space="preserve"/>
            </a:r>
          </a:p>
          <a:p>
            <a:r>
              <a:t xml:space="preserve">Working Title: Repository를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 Repository를 볼 수 있다는 사실만으로 Task의 의도가 정해지지는 않는다.</a:t>
            </a:r>
          </a:p>
          <a:p>
            <a:r>
              <a:t xml:space="preserve"/>
            </a:r>
          </a:p>
          <a:p>
            <a:r>
              <a:t xml:space="preserve">Opening Question: “지금 이 저장소에 어떤 일을 맡기고 싶으신가요?” 제조 라인 검사장비로 확장한다는 가정 아래 원하는 검사 작업을 떠올리게 한다.</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Repository를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Prompt를 작업 명세로 만들기</a:t>
            </a:r>
          </a:p>
          <a:p>
            <a:r>
              <a:t xml:space="preserve"/>
            </a:r>
          </a:p>
          <a:p>
            <a:r>
              <a:t xml:space="preserve">**Slide ID:**</a:t>
            </a:r>
          </a:p>
          <a:p>
            <a:r>
              <a:t xml:space="preserve">S16</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S17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S17로 넘긴다. 실측 리허설 UNVERIFIED.</a:t>
            </a:r>
          </a:p>
          <a:p>
            <a:r>
              <a:t xml:space="preserve"/>
            </a:r>
          </a:p>
          <a:p>
            <a:r>
              <a:t xml:space="preserve">**Fallback:**</a:t>
            </a:r>
          </a:p>
          <a:p>
            <a:r>
              <a:t xml:space="preserve">LOCAL STATIC ARTIFACT — production/preview/full/S16.png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Task에는 무엇이 아직 정해지지 않았을까?</a:t>
            </a:r>
          </a:p>
          <a:p>
            <a:r>
              <a:t xml:space="preserve"/>
            </a:r>
          </a:p>
          <a:p>
            <a:r>
              <a:t xml:space="preserve">Slide ID: S17</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
            </a:r>
          </a:p>
          <a:p>
            <a:r>
              <a:t xml:space="preserve">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 “성능 요청에서 남은 결정을, 앞서 본 crop 사례로 좁혀 보겠습니다. 같은 모호함을 구체적으로 보기 위한 예시 전환입니다.”라고 S18로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요청만으로는 의도가 보이지 않는다</a:t>
            </a:r>
          </a:p>
          <a:p>
            <a:r>
              <a:t xml:space="preserve"/>
            </a:r>
          </a:p>
          <a:p>
            <a:r>
              <a:t xml:space="preserve">Slide ID: S18</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 “이 미정 정보를 요청에 담으면, 어떤 작업 경로를 원한다는 뜻인지 더 분명해질까요?”라고 S19의 교육용 구체화 예시로 이동한다.</a:t>
            </a:r>
          </a:p>
          <a:p>
            <a:r>
              <a:t xml:space="preserve"/>
            </a:r>
          </a:p>
          <a:p>
            <a:r>
              <a:t xml:space="preserve">Time Management: 원래 Case 4분을 S18 Case 2분 + 새 S19 Case 2분으로 나눈다. 여기서는 요청 30초, 가능 경로 50초, 미정 정보 40초만 다루고 세 경로의 세부 알고리즘을 강의하지 않는다.</a:t>
            </a:r>
          </a:p>
          <a:p>
            <a:r>
              <a:t xml:space="preserve"/>
            </a:r>
          </a:p>
          <a:p>
            <a:r>
              <a:t xml:space="preserve">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원하는 작업 경로를 Prompt에 담는다</a:t>
            </a:r>
          </a:p>
          <a:p>
            <a:r>
              <a:t xml:space="preserve"/>
            </a:r>
          </a:p>
          <a:p>
            <a:r>
              <a:t xml:space="preserve">Slide ID: S19</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 “이제 답을 다시 읽기보다, 다른 요청에서도 개발자가 먼저 결정할 질문을 정리해 보겠습니다.”라고 S20로 연결한다.</a:t>
            </a:r>
          </a:p>
          <a:p>
            <a:r>
              <a:t xml:space="preserve"/>
            </a:r>
          </a:p>
          <a:p>
            <a:r>
              <a:t xml:space="preserve">Time Management: Case 2분. 다섯 줄 요청 45초, 목표 경로와 검증 경계 45초, 다음 질문 연결 30초. S18와 합쳐 원래 Case 4분, Section 1B 전체420분을 유지한다. 실제 발화 시간은 UNVERIFIED다.</a:t>
            </a:r>
          </a:p>
          <a:p>
            <a:r>
              <a:t xml:space="preserve"/>
            </a:r>
          </a:p>
          <a:p>
            <a:r>
              <a:t xml:space="preserve">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개발자가 정해야 하는 경계</a:t>
            </a:r>
          </a:p>
          <a:p>
            <a:r>
              <a:t xml:space="preserve"/>
            </a:r>
          </a:p>
          <a:p>
            <a:r>
              <a:t xml:space="preserve">Slide ID: S20</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 “사람이 정할 답과 저장소에서 조사할 사실을 구분해, 다섯 항목의 작업 요청으로 정리해 보겠습니다.”라고 S21로 이동한다.</a:t>
            </a:r>
          </a:p>
          <a:p>
            <a:r>
              <a:t xml:space="preserve"/>
            </a:r>
          </a:p>
          <a:p>
            <a:r>
              <a:t xml:space="preserve">Time Management: Case 3분 후 Reflection 1분을 분리한다. 답을 제공하거나 공개 응답을 받지 않는다.</a:t>
            </a:r>
          </a:p>
          <a:p>
            <a:r>
              <a:t xml:space="preserve"/>
            </a:r>
          </a:p>
          <a:p>
            <a:r>
              <a:t xml:space="preserve">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Task Specification의 다섯 책임</a:t>
            </a:r>
          </a:p>
          <a:p>
            <a:r>
              <a:t xml:space="preserve"/>
            </a:r>
          </a:p>
          <a:p>
            <a:r>
              <a:t xml:space="preserve">Slide ID: S21</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
            </a:r>
          </a:p>
          <a:p>
            <a:r>
              <a:t xml:space="preserve">1. (0:00–0:40) S20의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 “이 다섯 항목이 실제 요청 문장의 어디에 들어가는지 보겠습니다.”라고 S22의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더 긴 Prompt보다 분명한 경계</a:t>
            </a:r>
          </a:p>
          <a:p>
            <a:r>
              <a:t xml:space="preserve"/>
            </a:r>
          </a:p>
          <a:p>
            <a:r>
              <a:t xml:space="preserve">Slide ID: S22</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 “여기까지는 교육용 요청 예시였습니다. 이제 실제 기록에서는 어떤 지시를 전달했고, 그 지시와 작업 과정이 어떻게 연결됐는지 보겠습니다.”라고 S23의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요청한 과정은 기록에도 남았을까?</a:t>
            </a:r>
          </a:p>
          <a:p>
            <a:r>
              <a:t xml:space="preserve"/>
            </a:r>
          </a:p>
          <a:p>
            <a:r>
              <a:t xml:space="preserve">Slide ID: S23</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
            </a:r>
          </a:p>
          <a:p>
            <a:r>
              <a:t xml:space="preserve">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 “요청한 과정이 기록에 남은 것을 확인했습니다. 이 조사와 계획 뒤 실제로 무엇을 바꿨는지 04 최소 수정 내용을 보겠습니다.”라고 S24로 이동한다. 05 확인·보고 결과는 S25에서 확인한다.</a:t>
            </a:r>
          </a:p>
          <a:p>
            <a:r>
              <a:t xml:space="preserve"/>
            </a:r>
          </a:p>
          <a:p>
            <a:r>
              <a:t xml:space="preserve">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a:r>
              <a:t xml:space="preserve"/>
            </a:r>
          </a:p>
          <a:p>
            <a:r>
              <a:t xml:space="preserve">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a:r>
              <a:t xml:space="preserve"/>
            </a:r>
          </a:p>
          <a:p>
            <a:r>
              <a:t xml:space="preserve">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조사에서 한 줄 변경까지</a:t>
            </a:r>
          </a:p>
          <a:p>
            <a:r>
              <a:t xml:space="preserve"/>
            </a:r>
          </a:p>
          <a:p>
            <a:r>
              <a:t xml:space="preserve">Slide ID: S24</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
            </a:r>
          </a:p>
          <a:p>
            <a:r>
              <a:t xml:space="preserve">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 실패한 Test와 기대 명세를 먼저 맞춘 뒤 꼭 필요한 한 줄만 바꿨다. S23의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 “요청한 최소 수정까지 확인했습니다. 이제 요청에 적은 05 확인·보고가 어떤 기록으로 남았는지 보겠습니다.”라고 S25로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변경 결과와 확인 증거</a:t>
            </a:r>
          </a:p>
          <a:p>
            <a:r>
              <a:t xml:space="preserve"/>
            </a:r>
          </a:p>
          <a:p>
            <a:r>
              <a:t xml:space="preserve">Slide ID: S25</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
            </a:r>
          </a:p>
          <a:p>
            <a:r>
              <a:t xml:space="preserve">1. (0:00–0:45) “05에서 무엇을 확인·보고해 달라고 요청했는가?”를 회수한다. 단일 TRIAL-002의 실제 기록이며 S22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S26으로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 “이 확인 결과와 아직 모르는 점을 받아야 사람이 완료 여부를 판단할 수 있습니다. 무엇을 보고해 달라고 요청해야 할까요?”라고 S26으로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Generated ≠ Done</a:t>
            </a:r>
          </a:p>
          <a:p>
            <a:r>
              <a:t xml:space="preserve"/>
            </a:r>
          </a:p>
          <a:p>
            <a:r>
              <a:t xml:space="preserve">Slide ID: S26</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 이 장에서는 새 C++ 예시를 추가하지 않는다. S27의 승인된 ON-SCREEN SUPPORTING vector·GoogleTest 도식으로 완료 조건과 검사 범위를 연결한다.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 “완료를 판단할 근거를 요청할 때, 어떤 검사와 기대값까지 명시해야 할까요?”라고 S27의 명세 기반 완료 조건으로 이동한다.</a:t>
            </a:r>
          </a:p>
          <a:p>
            <a:r>
              <a:t xml:space="preserve"/>
            </a:r>
          </a:p>
          <a:p>
            <a:r>
              <a:t xml:space="preserve">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a:r>
              <a:t xml:space="preserve"/>
            </a:r>
          </a:p>
          <a:p>
            <a:r>
              <a:t xml:space="preserve">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Check마다 확인하는 범위</a:t>
            </a:r>
          </a:p>
          <a:p>
            <a:r>
              <a:t xml:space="preserve"/>
            </a:r>
          </a:p>
          <a:p>
            <a:r>
              <a:t xml:space="preserve">Slide ID: S27</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
            </a:r>
          </a:p>
          <a:p>
            <a:r>
              <a:t xml:space="preserve">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S76에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 “요청에 담을 내용은 정했습니다. 이제 상황에 맞게 전달하는 문장 도구를 보겠습니다.”라고 신규 S28로 이동한다. 기존 반복 Context 질문은 새8장 뒤의 S36–S37에서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 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 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 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 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 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 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 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 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S28–S29의 반복 Context 질문으로 연결한다. 현재 기존 두 장은 S36–S37이다.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S28–S29의 반복 Context 질문으로 연결한다. 현재 기존 두 장은 S36–S37이다.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이번 Task인가, 계속 유지할 Project 정보인가?</a:t>
            </a:r>
          </a:p>
          <a:p>
            <a:r>
              <a:t xml:space="preserve"/>
            </a:r>
          </a:p>
          <a:p>
            <a:r>
              <a:t xml:space="preserve">Slide ID: S36</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
            </a:r>
          </a:p>
          <a:p>
            <a:r>
              <a:t xml:space="preserve">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S37에서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 “방금 떠올린 반복 문장을 이번 Task 정보와 계속 참고할 Project 정보의 후보로 나눠 보겠습니다.”라고 S37으로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반복하는 설명을 두 범주로 나누기</a:t>
            </a:r>
          </a:p>
          <a:p>
            <a:r>
              <a:t xml:space="preserve"/>
            </a:r>
          </a:p>
          <a:p>
            <a:r>
              <a:t xml:space="preserve">Slide ID: S37</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S38를 거쳐 S39의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S39의 반복 Project Context 문제로 연결한다.</a:t>
            </a:r>
          </a:p>
          <a:p>
            <a:r>
              <a:t xml:space="preserve">기존 연결 질문을 유지한 채 ACT 2 제목 S38를 거쳐 S39의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 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 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 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 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 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 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 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 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 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 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 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 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 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 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 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 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 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 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 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 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 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 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 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 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 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 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 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 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 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 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 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 “S71의 독립 조사 기준을 이 밝기 통계 작업에도 적용할 수 있었을까요?”</a:t>
            </a:r>
          </a:p>
          <a:p>
            <a:r>
              <a:t xml:space="preserve"/>
            </a:r>
          </a:p>
          <a:p>
            <a:r>
              <a:t xml:space="preserve">Speaker Flow:</a:t>
            </a:r>
          </a:p>
          <a:p>
            <a:r>
              <a:t xml:space="preserve"/>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 S71의 C++ 독립 조사 가정과 이 Python 밝기 통계 작업을 같은 관찰로 섞지 않는다. 이번 화면은 실제 작업 판단만 보여준다.</a:t>
            </a:r>
          </a:p>
          <a:p>
            <a:r>
              <a:t xml:space="preserve"/>
            </a:r>
          </a:p>
          <a:p>
            <a:r>
              <a:t xml:space="preserve">Demo Operation: 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 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 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 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 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 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 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 “S74의 보존 기준으로 실제 Demo를 보면, 새로 남길 지식은 어디에 있었을까요?”</a:t>
            </a:r>
          </a:p>
          <a:p>
            <a:r>
              <a:t xml:space="preserve"/>
            </a:r>
          </a:p>
          <a:p>
            <a:r>
              <a:t xml:space="preserve">Speaker Flow:</a:t>
            </a:r>
          </a:p>
          <a:p>
            <a:r>
              <a:t xml:space="preserve"/>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 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 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 “S75에서 본 자료들이 실제 밝기 통계 작업에서는 각각 무엇을 맡았을까요?”</a:t>
            </a:r>
          </a:p>
          <a:p>
            <a:r>
              <a:t xml:space="preserve"/>
            </a:r>
          </a:p>
          <a:p>
            <a:r>
              <a:t xml:space="preserve">Speaker Flow:</a:t>
            </a:r>
          </a:p>
          <a:p>
            <a:r>
              <a:t xml:space="preserve"/>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 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 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 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 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 “S76의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 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 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실무 적용 팁 · 작업 환경과 기준</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S56–S58, S62, S67, S72, S74, S84, S103다.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새 S56–S58은 “AGENTS.md의 위치와 적용 범위” 한 항목으로 묶어 위치만 짚는다. 전체 팁을 다시 설명하지 않고 기존1분을 유지한다.</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xmlns:a="http://schemas.openxmlformats.org/drawingml/2006/main">
            <a:r>
              <a:t>3. (0:45–1:00 / Lecture) 요청 작성 팁 목록 S118으로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S67/S72은 SRC-0111/0112와 CLM-0041/0042의 공식 안내 각색이며 모든 팁의 실제 관찰/연구/가상 경계는 해당 장을 따른다.</a:t>
            </a:r>
          </a:p>
          <a:p xmlns:a="http://schemas.openxmlformats.org/drawingml/2006/main">
            <a:r>
              <a:t/>
            </a:r>
          </a:p>
          <a:p xmlns:a="http://schemas.openxmlformats.org/drawingml/2006/main">
            <a:r>
              <a:t>보존된 상세 출처: 기존 팁의 제목·Slide ID를 모은 찾아보기 · DEC-0088</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보존된 상세 범위: 배지는 활용 목적 표시 · 각 팁의 실제 관찰·교육용 예시·제품 확인 범위는 해당 장을 따른다.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S118으로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production/preview/full/S117.png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9.xml" Id="Raa20956d6d1b4479"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60.xml" Id="R54ba7668537b43fe"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61.xml" Id="Rf4394eb0efae4bc2"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62.xml" Id="Rf2667cbaf12645c5"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3.xml" Id="Rd8f3f37e8c0e4855"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4.xml" Id="R85a14c9750344ec0"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5.xml" Id="Raf1d5a7b0c524dfa"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6.xml" Id="Rad52161ddcca407b"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7.xml" Id="R16825de3fab740bf"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8.xml" Id="R8b0233aae6a140ac"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9.xml" Id="R3d7c7a685cac4014"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70.xml" Id="Raff3ca3ec59a4149"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71.xml" Id="R1cbda8e4c54b4dd1"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72.xml" Id="Rc8ffa309e5c34af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3.xml" Id="Rf159e342b5e341d6"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4.xml" Id="R63b536d641b84715"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5.xml" Id="R32d6c074a7e4497a"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6.xml" Id="Rc54545c27dea4caf"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7.xml" Id="R7f78e7867aa5421f"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8.xml" Id="R089a47929ed34abd"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9.xml" Id="R3b61134a2a454803"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80.xml" Id="R9e690c9a8b01411e"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81.xml" Id="Rcaebcb7911fd42e4"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82.xml" Id="R6bc44724aebe46dd"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3.xml" Id="R3aedd29c6ea7436c"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4.xml" Id="Rae1cfc68b74141de"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5.xml" Id="R30e64919739f4c81"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6.xml" Id="R7da67322bac34beb"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7.xml" Id="R983ef1b4941f47df"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8.xml" Id="R2bb221648fd04a50"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9.xml" Id="R87b72ed4cafc40d3"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90.xml" Id="Re6d646379adb4da1"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91.xml" Id="Rc4e6ef3588d54767"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92.xml" Id="R3bb29d806ae04c5c"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3.xml" Id="R4191341ed86e4215"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4.xml" Id="R36180a95ed3c43fa"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5.xml" Id="R5ef00a4c4bb04823"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6.xml" Id="R1e275696a25b470a"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7.xml" Id="Reafb085964c34056"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8.xml" Id="R7ea86b7511cd4629"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9.xml" Id="Rd241e076ae0c4c89"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100.xml" Id="R9fd9b4d481214a08"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101.xml" Id="R212a1ecf528b465a"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102.xml" Id="R7c714979becd470e"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3.xml" Id="R068559301c3945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4.xml" Id="R24afd0dfb79d41f0"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5.xml" Id="R908895dc2cd64f82"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6.xml" Id="R9030d1fdb5114f76"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7.xml" Id="R311f6d7d4b35439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8.xml" Id="R5248189ceda34d20"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9.xml" Id="Rb075385bb68b49a3"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10.xml" Id="Rfca130f2343a4cf9"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11.xml" Id="R0a5721e8688f465f"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12.xml" Id="Ree3d1ac02cbb4442"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3.xml" Id="Rd75f8c7cfc1e4c42"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4.xml" Id="R2fbfac11f8a04b0a"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5.xml" Id="Rfb9c411f0bc743b8"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6.xml" Id="R690e88ea3d1c4b3f"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8.xml" Id="Ra6812a34cdf44996" /></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9.xml" Id="R619b15d573e54123" /></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20.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Repository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작업은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 접근과 Task 의도는 별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Repository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Repository 작업은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Repository 작업은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