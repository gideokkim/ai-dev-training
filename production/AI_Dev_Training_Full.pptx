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id="376" r:id="R562e068ad94c4fc2"/>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 Type="http://schemas.openxmlformats.org/officeDocument/2006/relationships/slide" Target="/ppt/slides/slide27.xml" Id="R562e068ad94c4fc2"/></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Relationship Type="http://schemas.openxmlformats.org/officeDocument/2006/relationships/notesMaster" Target="/ppt/notesMasters/notesMaster1.xml" Id="Rda8a433128fa4b16"/></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Relationship Type="http://schemas.openxmlformats.org/officeDocument/2006/relationships/notesMaster" Target="/ppt/notesMasters/notesMaster1.xml" Id="R92f313188ba24d0c"/></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Relationship Type="http://schemas.openxmlformats.org/officeDocument/2006/relationships/notesMaster" Target="/ppt/notesMasters/notesMaster1.xml" Id="R1059aaca941e4630"/></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Relationship Type="http://schemas.openxmlformats.org/officeDocument/2006/relationships/notesMaster" Target="/ppt/notesMasters/notesMaster1.xml" Id="R153d5f827a8646a6"/></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Relationship Type="http://schemas.openxmlformats.org/officeDocument/2006/relationships/notesMaster" Target="/ppt/notesMasters/notesMaster1.xml" Id="R6fc6def0efcb4d94"/></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Relationship Type="http://schemas.openxmlformats.org/officeDocument/2006/relationships/notesMaster" Target="/ppt/notesMasters/notesMaster1.xml" Id="R5d345cc6a40b4ef8"/></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Relationship Type="http://schemas.openxmlformats.org/officeDocument/2006/relationships/notesMaster" Target="/ppt/notesMasters/notesMaster1.xml" Id="R6e020c48cfce4997"/></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Relationship Type="http://schemas.openxmlformats.org/officeDocument/2006/relationships/notesMaster" Target="/ppt/notesMasters/notesMaster1.xml" Id="R75de794708ea41ad"/></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Relationship Type="http://schemas.openxmlformats.org/officeDocument/2006/relationships/notesMaster" Target="/ppt/notesMasters/notesMaster1.xml" Id="R6e1a705c247c45d5"/></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Relationship Type="http://schemas.openxmlformats.org/officeDocument/2006/relationships/notesMaster" Target="/ppt/notesMasters/notesMaster1.xml" Id="R3c74c6a455244d15"/></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Relationship Type="http://schemas.openxmlformats.org/officeDocument/2006/relationships/notesMaster" Target="/ppt/notesMasters/notesMaster1.xml" Id="Reee8baa74f6e44fc"/></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Relationship Type="http://schemas.openxmlformats.org/officeDocument/2006/relationships/notesMaster" Target="/ppt/notesMasters/notesMaster1.xml" Id="R0a067a864a764a6e"/></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Relationship Type="http://schemas.openxmlformats.org/officeDocument/2006/relationships/notesMaster" Target="/ppt/notesMasters/notesMaster1.xml" Id="R690345a37f2240d5"/></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Relationship Type="http://schemas.openxmlformats.org/officeDocument/2006/relationships/notesMaster" Target="/ppt/notesMasters/notesMaster1.xml" Id="R9a1b31d13d1e488c"/></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Relationship Type="http://schemas.openxmlformats.org/officeDocument/2006/relationships/notesMaster" Target="/ppt/notesMasters/notesMaster1.xml" Id="Rb3c5eb7838514888"/></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Relationship Type="http://schemas.openxmlformats.org/officeDocument/2006/relationships/notesMaster" Target="/ppt/notesMasters/notesMaster1.xml" Id="R1a9e99f102ab47bb"/></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Relationship Type="http://schemas.openxmlformats.org/officeDocument/2006/relationships/notesMaster" Target="/ppt/notesMasters/notesMaster1.xml" Id="R4932c0f27fd44bfe"/></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Relationship Type="http://schemas.openxmlformats.org/officeDocument/2006/relationships/notesMaster" Target="/ppt/notesMasters/notesMaster1.xml" Id="Rc3d8815449fa4306"/></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Relationship Type="http://schemas.openxmlformats.org/officeDocument/2006/relationships/notesMaster" Target="/ppt/notesMasters/notesMaster1.xml" Id="Rfed2bd914ede4447"/></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Relationship Type="http://schemas.openxmlformats.org/officeDocument/2006/relationships/notesMaster" Target="/ppt/notesMasters/notesMaster1.xml" Id="R38c9e617f9274904"/></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Relationship Type="http://schemas.openxmlformats.org/officeDocument/2006/relationships/notesMaster" Target="/ppt/notesMasters/notesMaster1.xml" Id="R998ca9207282418a"/></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Relationship Type="http://schemas.openxmlformats.org/officeDocument/2006/relationships/notesMaster" Target="/ppt/notesMasters/notesMaster1.xml" Id="Rd38075829c4a4204"/></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Relationship Type="http://schemas.openxmlformats.org/officeDocument/2006/relationships/notesMaster" Target="/ppt/notesMasters/notesMaster1.xml" Id="Ra035fd65003543d4"/></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Relationship Type="http://schemas.openxmlformats.org/officeDocument/2006/relationships/notesMaster" Target="/ppt/notesMasters/notesMaster1.xml" Id="Rff4917388cae47d6"/></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Relationship Type="http://schemas.openxmlformats.org/officeDocument/2006/relationships/notesMaster" Target="/ppt/notesMasters/notesMaster1.xml" Id="Rb201c12cec194cc2"/></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Relationship Type="http://schemas.openxmlformats.org/officeDocument/2006/relationships/notesMaster" Target="/ppt/notesMasters/notesMaster1.xml" Id="R98b78708a46841a7"/></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Relationship Type="http://schemas.openxmlformats.org/officeDocument/2006/relationships/notesMaster" Target="/ppt/notesMasters/notesMaster1.xml" Id="R5d4d024401be4f35"/></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Relationship Type="http://schemas.openxmlformats.org/officeDocument/2006/relationships/notesMaster" Target="/ppt/notesMasters/notesMaster1.xml" Id="R2beee451bb4f417e"/></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Relationship Type="http://schemas.openxmlformats.org/officeDocument/2006/relationships/notesMaster" Target="/ppt/notesMasters/notesMaster1.xml" Id="Rec895c04a376450f"/></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Relationship Type="http://schemas.openxmlformats.org/officeDocument/2006/relationships/notesMaster" Target="/ppt/notesMasters/notesMaster1.xml" Id="R772b29c6f08a48a9"/></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Relationship Type="http://schemas.openxmlformats.org/officeDocument/2006/relationships/notesMaster" Target="/ppt/notesMasters/notesMaster1.xml" Id="Rc9843874f9a745f4"/></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Relationship Type="http://schemas.openxmlformats.org/officeDocument/2006/relationships/notesMaster" Target="/ppt/notesMasters/notesMaster1.xml" Id="R14cd720d54274fa1"/></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Relationship Type="http://schemas.openxmlformats.org/officeDocument/2006/relationships/notesMaster" Target="/ppt/notesMasters/notesMaster1.xml" Id="R733e545b2c744b6f"/></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Relationship Type="http://schemas.openxmlformats.org/officeDocument/2006/relationships/notesMaster" Target="/ppt/notesMasters/notesMaster1.xml" Id="R592735f8936f47da"/></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Relationship Type="http://schemas.openxmlformats.org/officeDocument/2006/relationships/notesMaster" Target="/ppt/notesMasters/notesMaster1.xml" Id="R8adb15f9dad74c78"/></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Relationship Type="http://schemas.openxmlformats.org/officeDocument/2006/relationships/notesMaster" Target="/ppt/notesMasters/notesMaster1.xml" Id="Rf406a0ad792440e8"/></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Relationship Type="http://schemas.openxmlformats.org/officeDocument/2006/relationships/notesMaster" Target="/ppt/notesMasters/notesMaster1.xml" Id="Rfe8ae5366316458c"/></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Relationship Type="http://schemas.openxmlformats.org/officeDocument/2006/relationships/notesMaster" Target="/ppt/notesMasters/notesMaster1.xml" Id="R733d4ec229824b70"/></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Relationship Type="http://schemas.openxmlformats.org/officeDocument/2006/relationships/notesMaster" Target="/ppt/notesMasters/notesMaster1.xml" Id="R150fc5a78fd140b6"/></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Relationship Type="http://schemas.openxmlformats.org/officeDocument/2006/relationships/notesMaster" Target="/ppt/notesMasters/notesMaster1.xml" Id="R886e991404294ab7"/></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Relationship Type="http://schemas.openxmlformats.org/officeDocument/2006/relationships/notesMaster" Target="/ppt/notesMasters/notesMaster1.xml" Id="R63d921fc331b4280"/></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Relationship Type="http://schemas.openxmlformats.org/officeDocument/2006/relationships/notesMaster" Target="/ppt/notesMasters/notesMaster1.xml" Id="R318b408e272c4369"/></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Relationship Type="http://schemas.openxmlformats.org/officeDocument/2006/relationships/notesMaster" Target="/ppt/notesMasters/notesMaster1.xml" Id="Raa78ffb4470f4114"/></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Relationship Type="http://schemas.openxmlformats.org/officeDocument/2006/relationships/notesMaster" Target="/ppt/notesMasters/notesMaster1.xml" Id="Re69af64665704edd"/></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Relationship Type="http://schemas.openxmlformats.org/officeDocument/2006/relationships/notesMaster" Target="/ppt/notesMasters/notesMaster1.xml" Id="Rae8aa6d06c57427d"/></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Relationship Type="http://schemas.openxmlformats.org/officeDocument/2006/relationships/notesMaster" Target="/ppt/notesMasters/notesMaster1.xml" Id="R2e5242e14e0a4391"/></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Relationship Type="http://schemas.openxmlformats.org/officeDocument/2006/relationships/notesMaster" Target="/ppt/notesMasters/notesMaster1.xml" Id="Rbfbf5fb2658247a4"/></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Relationship Type="http://schemas.openxmlformats.org/officeDocument/2006/relationships/notesMaster" Target="/ppt/notesMasters/notesMaster1.xml" Id="R881e018f7d3a4212"/></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Relationship Type="http://schemas.openxmlformats.org/officeDocument/2006/relationships/notesMaster" Target="/ppt/notesMasters/notesMaster1.xml" Id="R74aabc30838745da"/></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Relationship Type="http://schemas.openxmlformats.org/officeDocument/2006/relationships/notesMaster" Target="/ppt/notesMasters/notesMaster1.xml" Id="R98c0d1f05ec04ed7"/></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Relationship Type="http://schemas.openxmlformats.org/officeDocument/2006/relationships/notesMaster" Target="/ppt/notesMasters/notesMaster1.xml" Id="Rda5d90d4963145f2"/></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Relationship Type="http://schemas.openxmlformats.org/officeDocument/2006/relationships/notesMaster" Target="/ppt/notesMasters/notesMaster1.xml" Id="R7955f82dd04b405c"/></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Relationship Type="http://schemas.openxmlformats.org/officeDocument/2006/relationships/notesMaster" Target="/ppt/notesMasters/notesMaster1.xml" Id="Rf3b67b75301c4e34"/></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Relationship Type="http://schemas.openxmlformats.org/officeDocument/2006/relationships/notesMaster" Target="/ppt/notesMasters/notesMaster1.xml" Id="R28d9e3e5c7be4691"/></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Relationship Type="http://schemas.openxmlformats.org/officeDocument/2006/relationships/notesMaster" Target="/ppt/notesMasters/notesMaster1.xml" Id="R9b6a1a62bcff403c"/></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Relationship Type="http://schemas.openxmlformats.org/officeDocument/2006/relationships/notesMaster" Target="/ppt/notesMasters/notesMaster1.xml" Id="Raf8067029d9042b1"/></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Relationship Type="http://schemas.openxmlformats.org/officeDocument/2006/relationships/notesMaster" Target="/ppt/notesMasters/notesMaster1.xml" Id="R2d73c16ab9a64e3a"/></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Relationship Type="http://schemas.openxmlformats.org/officeDocument/2006/relationships/notesMaster" Target="/ppt/notesMasters/notesMaster1.xml" Id="Reee7ba3618f64ddd"/></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Relationship Type="http://schemas.openxmlformats.org/officeDocument/2006/relationships/notesMaster" Target="/ppt/notesMasters/notesMaster1.xml" Id="Rc9bcb6b574a24d5c"/></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Relationship Type="http://schemas.openxmlformats.org/officeDocument/2006/relationships/notesMaster" Target="/ppt/notesMasters/notesMaster1.xml" Id="R8b690a0caba34ba7"/></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Relationship Type="http://schemas.openxmlformats.org/officeDocument/2006/relationships/notesMaster" Target="/ppt/notesMasters/notesMaster1.xml" Id="Rb8ac526fdffe42d6"/></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Relationship Type="http://schemas.openxmlformats.org/officeDocument/2006/relationships/notesMaster" Target="/ppt/notesMasters/notesMaster1.xml" Id="R57b5507cc7b3492b"/></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Relationship Type="http://schemas.openxmlformats.org/officeDocument/2006/relationships/notesMaster" Target="/ppt/notesMasters/notesMaster1.xml" Id="R27be2f8e114f43a0"/></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Relationship Type="http://schemas.openxmlformats.org/officeDocument/2006/relationships/notesMaster" Target="/ppt/notesMasters/notesMaster1.xml" Id="Rd151ca23e93d4eaf"/></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Relationship Type="http://schemas.openxmlformats.org/officeDocument/2006/relationships/notesMaster" Target="/ppt/notesMasters/notesMaster1.xml" Id="R7e6a7ed19e3a40cb"/></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Relationship Type="http://schemas.openxmlformats.org/officeDocument/2006/relationships/notesMaster" Target="/ppt/notesMasters/notesMaster1.xml" Id="R7a670bf595fa4529"/></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Relationship Type="http://schemas.openxmlformats.org/officeDocument/2006/relationships/notesMaster" Target="/ppt/notesMasters/notesMaster1.xml" Id="R04c69684547247e2"/></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Relationship Type="http://schemas.openxmlformats.org/officeDocument/2006/relationships/notesMaster" Target="/ppt/notesMasters/notesMaster1.xml" Id="R7ace7c5f8e04458f"/></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Relationship Type="http://schemas.openxmlformats.org/officeDocument/2006/relationships/notesMaster" Target="/ppt/notesMasters/notesMaster1.xml" Id="R7d1404e76a174da2"/></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Relationship Type="http://schemas.openxmlformats.org/officeDocument/2006/relationships/notesMaster" Target="/ppt/notesMasters/notesMaster1.xml" Id="R89005aee29154fdf"/></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Relationship Type="http://schemas.openxmlformats.org/officeDocument/2006/relationships/notesMaster" Target="/ppt/notesMasters/notesMaster1.xml" Id="R7b112601c2a64208"/></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Relationship Type="http://schemas.openxmlformats.org/officeDocument/2006/relationships/notesMaster" Target="/ppt/notesMasters/notesMaster1.xml" Id="R2956a2047df44dcc"/></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Relationship Type="http://schemas.openxmlformats.org/officeDocument/2006/relationships/notesMaster" Target="/ppt/notesMasters/notesMaster1.xml" Id="R8078dc63f9ad408a"/></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Relationship Type="http://schemas.openxmlformats.org/officeDocument/2006/relationships/notesMaster" Target="/ppt/notesMasters/notesMaster1.xml" Id="Ra4cbf48a85004011"/></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Relationship Type="http://schemas.openxmlformats.org/officeDocument/2006/relationships/notesMaster" Target="/ppt/notesMasters/notesMaster1.xml" Id="R59b9d3aca398484b"/></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Relationship Type="http://schemas.openxmlformats.org/officeDocument/2006/relationships/notesMaster" Target="/ppt/notesMasters/notesMaster1.xml" Id="Ra809662fe7414499"/></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Relationship Type="http://schemas.openxmlformats.org/officeDocument/2006/relationships/notesMaster" Target="/ppt/notesMasters/notesMaster1.xml" Id="R789f04a5ee1340b9"/></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Relationship Type="http://schemas.openxmlformats.org/officeDocument/2006/relationships/notesMaster" Target="/ppt/notesMasters/notesMaster1.xml" Id="R498467402c07474b"/></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Relationship Type="http://schemas.openxmlformats.org/officeDocument/2006/relationships/notesMaster" Target="/ppt/notesMasters/notesMaster1.xml" Id="Rd231d4a707e548bc"/></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Relationship Type="http://schemas.openxmlformats.org/officeDocument/2006/relationships/notesMaster" Target="/ppt/notesMasters/notesMaster1.xml" Id="R49e2134f87444dec"/></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Relationship Type="http://schemas.openxmlformats.org/officeDocument/2006/relationships/notesMaster" Target="/ppt/notesMasters/notesMaster1.xml" Id="Rcf79b18562284a12"/></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Relationship Type="http://schemas.openxmlformats.org/officeDocument/2006/relationships/notesMaster" Target="/ppt/notesMasters/notesMaster1.xml" Id="Re73de6cf821b4c89"/></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Relationship Type="http://schemas.openxmlformats.org/officeDocument/2006/relationships/notesMaster" Target="/ppt/notesMasters/notesMaster1.xml" Id="R9ce33fbf1e97475c"/></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Relationship Type="http://schemas.openxmlformats.org/officeDocument/2006/relationships/notesMaster" Target="/ppt/notesMasters/notesMaster1.xml" Id="Rd6d4f46725ed4448"/></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Relationship Type="http://schemas.openxmlformats.org/officeDocument/2006/relationships/notesMaster" Target="/ppt/notesMasters/notesMaster1.xml" Id="Rc6bf7d350d8f400a"/></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Relationship Type="http://schemas.openxmlformats.org/officeDocument/2006/relationships/notesMaster" Target="/ppt/notesMasters/notesMaster1.xml" Id="R67ed9e5ab2d544b5"/></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Relationship Type="http://schemas.openxmlformats.org/officeDocument/2006/relationships/notesMaster" Target="/ppt/notesMasters/notesMaster1.xml" Id="R44c72230652f43f5"/></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Relationship Type="http://schemas.openxmlformats.org/officeDocument/2006/relationships/notesMaster" Target="/ppt/notesMasters/notesMaster1.xml" Id="R9b2585fdc2c843bb"/></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Relationship Type="http://schemas.openxmlformats.org/officeDocument/2006/relationships/notesMaster" Target="/ppt/notesMasters/notesMaster1.xml" Id="Rf35708420cc741cc"/></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의도·명세·조건이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의도·명세·조건이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의도·명세·조건이나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conflicting specifications or unclear task conditions.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완료를 판단하려는 결과에 맞춰 어떤 확인을 요청할지 다음 장에서 고른다고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방법 선택 뒤 S27의 같은 crop 목표별 검증 요청으로 연결한다. vector·GoogleTest 반례는 S27의 선택 참고 Notes에만 둔다.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판단하려는 결과에 맞춰 어떤 확인을 요청해야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원하는 결과에 맞춰 확인 방법을 고른다</a:t>
            </a:r>
          </a:p>
          <a:p>
            <a:r>
              <a:t xml:space="preserve"/>
            </a:r>
          </a:p>
          <a:p>
            <a:r>
              <a:t xml:space="preserve">Slide ID:</a:t>
            </a:r>
          </a:p>
          <a:p>
            <a:r>
              <a:t xml:space="preserve">S26</a:t>
            </a:r>
          </a:p>
          <a:p>
            <a:r>
              <a:t xml:space="preserve"/>
            </a:r>
          </a:p>
          <a:p>
            <a:r>
              <a:t xml:space="preserve">Working Title:</a:t>
            </a:r>
          </a:p>
          <a:p>
            <a:r>
              <a:t xml:space="preserve">원하는 결과에 맞춰 확인 방법을 고른다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명세 준수·기존 테스트 범위의 동작·CLI 샘플 경로·변경 범위·실행시간은 서로 다른 확인을 필요로 한다. 확인한 입력과 범위 안에서 판단한다.</a:t>
            </a:r>
          </a:p>
          <a:p>
            <a:r>
              <a:t xml:space="preserve"/>
            </a:r>
          </a:p>
          <a:p>
            <a:r>
              <a:t xml:space="preserve">Opening Question:</a:t>
            </a:r>
          </a:p>
          <a:p>
            <a:r>
              <a:t xml:space="preserve">“원하는 결과를 무엇으로 확인해 달라고 요청할까?”</a:t>
            </a:r>
          </a:p>
          <a:p>
            <a:r>
              <a:t xml:space="preserve"/>
            </a:r>
          </a:p>
          <a:p>
            <a:r>
              <a:t xml:space="preserve">Speaker Flow:</a:t>
            </a:r>
          </a:p>
          <a:p>
            <a:r>
              <a:t xml:space="preserve">1. (0:00–0:20 / Lecture) S25는 근거를 받아 사람이 완료를 판단한다는 원칙이었다. 이제 그 판단을 위해 어떤 확인을 요청할지 고른다.</a:t>
            </a:r>
          </a:p>
          <a:p>
            <a:r>
              <a:t xml:space="preserve">2. (0:20–1:35 / Lecture) 왼쪽 질문에서 오른쪽 확인으로 읽는다. 명세 준수는 관련 동작 테스트, 기존 테스트가 다루는 동작은 전체 테스트, CLI는 해당 샘플 경로, diff는 변경 범위를 확인한다. 기존 관련3건에는 resize도 있어 crop만의3건이라 하지 않는다.</a:t>
            </a:r>
          </a:p>
          <a:p>
            <a:r>
              <a:t xml:space="preserve">3. (1:35–1:50 / Lecture) 시간 단축을 주장하려면 같은 입력·환경의 전후 측정이 필요하다. 당시 TRIAL-002에서 성능은 측정하지 않았고, 테스트 통과만으로 시간 단축을 말하지 않는다.</a:t>
            </a:r>
          </a:p>
          <a:p>
            <a:r>
              <a:t xml:space="preserve">4. (1:50–2:00 / Lecture) 같은 crop이어도 목표가 오류 수정인지 시간 단축인지에 따라 검증 요청이 어떻게 달라지는지 S27로 연결한다.</a:t>
            </a:r>
          </a:p>
          <a:p>
            <a:r>
              <a:t xml:space="preserve"/>
            </a:r>
          </a:p>
          <a:p>
            <a:r>
              <a:t xml:space="preserve">Evidence / Source:</a:t>
            </a:r>
          </a:p>
          <a:p>
            <a:r>
              <a:t xml:space="preserve">OBSERVED_PRODUCT / TEACHING_MODEL. plan/DEMO_MATRIX.md TRIAL-002의 기존 Python 검증 기록. 검사와 판단 범위의 대응은 교육 모델이다. 성능 미측정. DEC-0114.</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현재 CLI/제품 재현·Prompt 우월성·비용 절감·성능 향상을 새로 주장하지 않는다. 검사가 다룬 입력·범위 안에서 판단한다.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a:t>
            </a:r>
          </a:p>
          <a:p>
            <a:r>
              <a:t xml:space="preserve"/>
            </a:r>
          </a:p>
          <a:p>
            <a:r>
              <a:t xml:space="preserve">C++ Vision Bridge:</a:t>
            </a:r>
          </a:p>
          <a:p>
            <a:r>
              <a:t xml:space="preserve">화면에는 C++ 코드나 vector 예시를 넣지 않는다. 선택적 assertion 반례와 Release/API/ABI·측정 조건 대응은 S27 Notes에만 보존한다.</a:t>
            </a:r>
          </a:p>
          <a:p>
            <a:r>
              <a:t xml:space="preserve"/>
            </a:r>
          </a:p>
          <a:p>
            <a:r>
              <a:t xml:space="preserve">Demo Operation:</a:t>
            </a:r>
          </a:p>
          <a:p>
            <a:r>
              <a:t xml:space="preserve">실제 TRIAL-002 확인 기록을 회수하되 새로운 Demo 시간·실행·비교를 추가하지 않는다. 정적 Lecture/Reflection이며 별도 Demo 배정·Live 실행을 추가하지 않는다.</a:t>
            </a:r>
          </a:p>
          <a:p>
            <a:r>
              <a:t xml:space="preserve"/>
            </a:r>
          </a:p>
          <a:p>
            <a:r>
              <a:t xml:space="preserve">Audience Interaction:</a:t>
            </a:r>
          </a:p>
          <a:p>
            <a:r>
              <a:t xml:space="preserve">질문은 기존 ACT1 Q&amp;A로 회수한다. 별도 실습·답변 시간을 추가하지 않는다.</a:t>
            </a:r>
          </a:p>
          <a:p>
            <a:r>
              <a:t xml:space="preserve"/>
            </a:r>
          </a:p>
          <a:p>
            <a:r>
              <a:t xml:space="preserve">Transition:</a:t>
            </a:r>
          </a:p>
          <a:p>
            <a:r>
              <a:t xml:space="preserve">“같은 crop 작업이라도 목표가 달라지면 확인 요청도 달라질까요?”라고 S27의 교육용 요청 비교로 연결한다.</a:t>
            </a:r>
          </a:p>
          <a:p>
            <a:r>
              <a:t xml:space="preserve"/>
            </a:r>
          </a:p>
          <a:p>
            <a:r>
              <a:t xml:space="preserve">Time Management:</a:t>
            </a:r>
          </a:p>
          <a:p>
            <a:r>
              <a:t xml:space="preserve">Lecture2분. 다섯 확인을 읽되 테스트 문법·crop 수치 예시를 다시 강의하지 않는다.</a:t>
            </a:r>
          </a:p>
          <a:p>
            <a:r>
              <a:t xml:space="preserve"/>
            </a:r>
          </a:p>
          <a:p>
            <a:r>
              <a:t xml:space="preserve">Fallback:</a:t>
            </a:r>
          </a:p>
          <a:p>
            <a:r>
              <a:t xml:space="preserve">production/ACT_1.pptx S26 또는 production/preview/act1/S26.png의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목표가 달라지면 검증 요청도 달라진다</a:t>
            </a:r>
          </a:p>
          <a:p>
            <a:r>
              <a:t xml:space="preserve"/>
            </a:r>
          </a:p>
          <a:p>
            <a:r>
              <a:t xml:space="preserve">Slide ID:</a:t>
            </a:r>
          </a:p>
          <a:p>
            <a:r>
              <a:t xml:space="preserve">S27</a:t>
            </a:r>
          </a:p>
          <a:p>
            <a:r>
              <a:t xml:space="preserve"/>
            </a:r>
          </a:p>
          <a:p>
            <a:r>
              <a:t xml:space="preserve">Working Title:</a:t>
            </a:r>
          </a:p>
          <a:p>
            <a:r>
              <a:t xml:space="preserve">목표가 달라지면 검증 요청도 달라진다</a:t>
            </a:r>
          </a:p>
          <a:p>
            <a:r>
              <a:t xml:space="preserve"/>
            </a:r>
          </a:p>
          <a:p>
            <a:r>
              <a:t xml:space="preserve">ACT / Section:</a:t>
            </a:r>
          </a:p>
          <a:p>
            <a:r>
              <a:t xml:space="preserve">ACT 1 / 1E + 1F</a:t>
            </a:r>
          </a:p>
          <a:p>
            <a:r>
              <a:t xml:space="preserve"/>
            </a:r>
          </a:p>
          <a:p>
            <a:r>
              <a:t xml:space="preserve">Allocated Time:</a:t>
            </a:r>
          </a:p>
          <a:p>
            <a:r>
              <a:t xml:space="preserve">3 minutes</a:t>
            </a:r>
          </a:p>
          <a:p>
            <a:r>
              <a:t xml:space="preserve"/>
            </a:r>
          </a:p>
          <a:p>
            <a:r>
              <a:t xml:space="preserve">Mode Split:</a:t>
            </a:r>
          </a:p>
          <a:p>
            <a:r>
              <a:t xml:space="preserve">Lecture 2 minutes + Reflection 1 minute</a:t>
            </a:r>
          </a:p>
          <a:p>
            <a:r>
              <a:t xml:space="preserve"/>
            </a:r>
          </a:p>
          <a:p>
            <a:r>
              <a:t xml:space="preserve">Primary Message:</a:t>
            </a:r>
          </a:p>
          <a:p>
            <a:r>
              <a:t xml:space="preserve">오류 수정은 명세와 관련·전체 테스트, CLI 샘플과 변경 범위를 확인한다. 시간 단축은 기존 동작 확인에 같은 입력·환경의 변경 전후 시간 측정을 더 요청한다. 결과와 미확인 사항도 받는다.</a:t>
            </a:r>
          </a:p>
          <a:p>
            <a:r>
              <a:t xml:space="preserve"/>
            </a:r>
          </a:p>
          <a:p>
            <a:r>
              <a:t xml:space="preserve">Opening Question:</a:t>
            </a:r>
          </a:p>
          <a:p>
            <a:r>
              <a:t xml:space="preserve">“오류 수정과 시간 단축에서 무엇을 확인·보고해 달라고 요청할까?”</a:t>
            </a:r>
          </a:p>
          <a:p>
            <a:r>
              <a:t xml:space="preserve"/>
            </a:r>
          </a:p>
          <a:p>
            <a:r>
              <a:t xml:space="preserve">Speaker Flow:</a:t>
            </a:r>
          </a:p>
          <a:p>
            <a:r>
              <a:t xml:space="preserve">1. (0:00–0:20 / Lecture) 두 문장은 검증 부분의 교육용 작성 예시이며 실제 Trial 원문이 아님을 분명히 한다. 같은 crop의 두 목표를 읽는다.</a:t>
            </a:r>
          </a:p>
          <a:p>
            <a:r>
              <a:t xml:space="preserve">2. (0:20–1:05 / Lecture) 왼쪽은 경계 오류 수정이다. 저장소의 기존 crop 명세를 참조하고 관련·전체 테스트, CLI 샘플, 최종 diff와 결과·미확인 보고를 요청한다. 명세의 기대 수치나 assertion을 다시 강의하지 않는다.</a:t>
            </a:r>
          </a:p>
          <a:p>
            <a:r>
              <a:t xml:space="preserve">3. (1:05–1:45 / Lecture) 오른쪽은 실행시간 단축을 맡기는 가정이다. 기존 동작을 확인하면서 같은 입력·환경의 변경 전후 시간을 측정하고 조건·결과·미확인을 보고하도록 요청한다. 측정하지 않은 결과를 성과로 말하지 않는다.</a:t>
            </a:r>
          </a:p>
          <a:p>
            <a:r>
              <a:t xml:space="preserve">4. (1:45–2:00 / Lecture) 차이는 원하는 변화에 맞는 근거를 요청한다는 점이다. 모든 작업에 모든 검사를 넣거나 명세의 모든 값을 복사하도록 가르치지 않는다.</a:t>
            </a:r>
          </a:p>
          <a:p>
            <a:r>
              <a:t xml:space="preserve">5. (2:00–3:00 / Reflection) 다음에 맡길 작업 하나와 완료를 판단할 근거 하나를 조용히 떠올리게 한다. 작성·발표·실습을 요구하지 않는다.3분에 S28 문장 도구로 이동한다.</a:t>
            </a:r>
          </a:p>
          <a:p>
            <a:r>
              <a:t xml:space="preserve"/>
            </a:r>
          </a:p>
          <a:p>
            <a:r>
              <a:t xml:space="preserve">Evidence / Source:</a:t>
            </a:r>
          </a:p>
          <a:p>
            <a:r>
              <a:t xml:space="preserve">TEACHING_MODEL. DEC-0114의 두 교육용 검증 요청이다. 실제 S21 원문 발췌·S22 행동·S23 수정·S24 검증 기록과 분리하며 새 실행·측정이 없다.</a:t>
            </a:r>
          </a:p>
          <a:p>
            <a:r>
              <a:t xml:space="preserve"/>
            </a:r>
          </a:p>
          <a:p>
            <a:r>
              <a:t xml:space="preserve">Claim Boundary:</a:t>
            </a:r>
          </a:p>
          <a:p>
            <a:r>
              <a:t xml:space="preserve">TEACHING MODEL — 두 요청은 검증 부분의 교육용 작성 예시다. 실제 TRIAL-002 요청의 인용·새 실행·측정 결과·Prompt 우월성·성능 개선 성과가 아니다. 당시 crop Trial의 성능은 미측정이다. 현재 CLI/제품 재현·Prompt 우월성·비용 절감·성능 향상을 새로 주장하지 않는다. 검사가 다룬 입력·범위 안에서 판단한다.</a:t>
            </a:r>
          </a:p>
          <a:p>
            <a:r>
              <a:t xml:space="preserve"/>
            </a:r>
          </a:p>
          <a:p>
            <a:r>
              <a:t xml:space="preserve">Beginner Explanation:</a:t>
            </a:r>
          </a:p>
          <a:p>
            <a:r>
              <a:t xml:space="preserve">원하는 변화에 맞춰 무엇을 확인하고 보고할지 요청 문장으로 쓸 수 있다.</a:t>
            </a:r>
          </a:p>
          <a:p>
            <a:r>
              <a:t xml:space="preserve"/>
            </a:r>
          </a:p>
          <a:p>
            <a:r>
              <a:t xml:space="preserve">Advanced Insight:</a:t>
            </a:r>
          </a:p>
          <a:p>
            <a:r>
              <a:t xml:space="preserve">동작 검증과 성능 검증의 근거 범위를 구분한다. 이미 저장소에 있는 명세를 참조하며 모든 기대값을 매번 복사하도록 요구하지 않는다.</a:t>
            </a:r>
          </a:p>
          <a:p>
            <a:r>
              <a:t xml:space="preserve"/>
            </a:r>
          </a:p>
          <a:p>
            <a:r>
              <a:t xml:space="preserve">C++ Vision Bridge:</a:t>
            </a:r>
          </a:p>
          <a:p>
            <a:r>
              <a:t xml:space="preserve">선택 참고 — ACT0에서 본 명세를 다시 설명하는 기본 발표 내용은 아니다. 기존 DEC-0041/DEC-0112의 C++ 교육용 반례를 보존한다.</a:t>
            </a:r>
          </a:p>
          <a:p>
            <a:r>
              <a:t xml:space="preserve">입력 {1,2,3,4}의 반열림 crop [1,3)에서 기대는 {2,3}, 명세를 어긴 예는 {2,3,4}다. 두 vector는 모두 비어 있지 않아 EXPECT_FALSE(actual.empty());만으로는 이 차이를 구별하지 못한다.</a:t>
            </a:r>
          </a:p>
          <a:p>
            <a:r>
              <a:t xml:space="preserve">```cpp</a:t>
            </a:r>
          </a:p>
          <a:p>
            <a:r>
              <a:t xml:space="preserve">std::vector&lt;int&gt; expected{2, 3};</a:t>
            </a:r>
          </a:p>
          <a:p>
            <a:r>
              <a:t xml:space="preserve">EXPECT_EQ(actual, expected);</a:t>
            </a:r>
          </a:p>
          <a:p>
            <a:r>
              <a:t xml:space="preserve">```</a:t>
            </a:r>
          </a:p>
          <a:p>
            <a:r>
              <a:t xml:space="preserve">vector 동등 비교는 길이·순서별 값을 비교한다. EXPECT_EQ(actual.size(), 2u);는 폭 조건을 따로 드러내지만 위 동등 비교와 중복된다. 하나의 입력이 모든 입력의 정확성을 입증하지 않는다. 이 반례·코드·가상 요청은 실제 Python TRIAL-002 assertion, 잘못된 결과의 PASS 기록, 새 컴파일·GoogleTest 실행이 아니다.</a:t>
            </a:r>
          </a:p>
          <a:p>
            <a:r>
              <a:t xml:space="preserve">기술 의미 출처: [GoogleTest Primer](https://google.github.io/googletest/primer.html), [Microsoft vector operators](https://learn.microsoft.com/en-us/cpp/standard-library/vector-operators?view=msvc-170). 기존 확인2026-10-27의 의미만 보존한다. Release/API/ABI 등 프로젝트별 조건은 해당 프로젝트에서 정하고 확인한다.</a:t>
            </a:r>
          </a:p>
          <a:p>
            <a:r>
              <a:t xml:space="preserve"/>
            </a:r>
          </a:p>
          <a:p>
            <a:r>
              <a:t xml:space="preserve">Demo Operation:</a:t>
            </a:r>
          </a:p>
          <a:p>
            <a:r>
              <a:t xml:space="preserve">기존 crop을 유지한 두 목표의 교육용 요청 비교다. S21–S24 실제 요청·행동·수정·검증 기록과 구분한다. 새 Trial·Demo 시간·benchmark 결과를 추가하지 않는다. 정적 Lecture/Reflection이며 별도 Demo 배정·Live 실행을 추가하지 않는다.</a:t>
            </a:r>
          </a:p>
          <a:p>
            <a:r>
              <a:t xml:space="preserve"/>
            </a:r>
          </a:p>
          <a:p>
            <a:r>
              <a:t xml:space="preserve">Audience Interaction:</a:t>
            </a:r>
          </a:p>
          <a:p>
            <a:r>
              <a:t xml:space="preserve">마지막1분은 자신이 맡길 작업과 완료를 판단할 근거 하나를 조용히 떠올린다. 작성·공유·실습을 요구하지 않는다.</a:t>
            </a:r>
          </a:p>
          <a:p>
            <a:r>
              <a:t xml:space="preserve"/>
            </a:r>
          </a:p>
          <a:p>
            <a:r>
              <a:t xml:space="preserve">Transition:</a:t>
            </a:r>
          </a:p>
          <a:p>
            <a:r>
              <a:t xml:space="preserve">“요청에 담을 확인 기준을 정했습니다. 이제 이를 명확하게 전달하는 문장 도구를 보겠습니다.”라고 S28의 실무 적용 팁으로 연결한다.</a:t>
            </a:r>
          </a:p>
          <a:p>
            <a:r>
              <a:t xml:space="preserve"/>
            </a:r>
          </a:p>
          <a:p>
            <a:r>
              <a:t xml:space="preserve">Time Management:</a:t>
            </a:r>
          </a:p>
          <a:p>
            <a:r>
              <a:t xml:space="preserve">Lecture2분+Reflection1분=3분. S26/S27 합계5분=Lecture4+Reflection1이다.2분에 설명을 마치고 조용히 생각할1분을 보장한다.3분에 S28로 이동한다. 실제 시간 적합성은 리허설 전까지 UNVERIFIED.</a:t>
            </a:r>
          </a:p>
          <a:p>
            <a:r>
              <a:t xml:space="preserve"/>
            </a:r>
          </a:p>
          <a:p>
            <a:r>
              <a:t xml:space="preserve">Fallback:</a:t>
            </a:r>
          </a:p>
          <a:p>
            <a:r>
              <a:t xml:space="preserve">production/ACT_1.pptx S27 또는 production/preview/act1/S27.png의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a:t>
            </a:r>
          </a:p>
          <a:p>
            <a:r>
              <a:t xml:space="preserve">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a:t>
            </a:r>
          </a:p>
          <a:p>
            <a:r>
              <a:t xml:space="preserve">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a:t>
            </a:r>
          </a:p>
          <a:p>
            <a:r>
              <a:t xml:space="preserve">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a:t>
            </a:r>
          </a:p>
          <a:p>
            <a:r>
              <a:t xml:space="preserve">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a:t>
            </a:r>
          </a:p>
          <a:p>
            <a:r>
              <a:t xml:space="preserve">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a:t>
            </a:r>
          </a:p>
          <a:p>
            <a:r>
              <a:t xml:space="preserve">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a:t>
            </a:r>
          </a:p>
          <a:p>
            <a:r>
              <a:t xml:space="preserve">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a:t>
            </a:r>
          </a:p>
          <a:p>
            <a:r>
              <a:t xml:space="preserve">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“요청을 구체화해도 다음 작업에 다시 적게 될 문장이 있습니다. 같은 crop 요청에서 찾아볼까요?”라고 S36로 연결한다.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“요청을 구체화해도 다음 작업에 다시 적게 될 문장이 있습니다. 같은 crop 요청에서 찾아볼까요?”라고 S36로 연결한다.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다음 작업에도 이 내용을 다시 적어야 할까?</a:t>
            </a:r>
          </a:p>
          <a:p>
            <a:r>
              <a:t xml:space="preserve"/>
            </a:r>
          </a:p>
          <a:p>
            <a:r>
              <a:t xml:space="preserve">Slide ID:</a:t>
            </a:r>
          </a:p>
          <a:p>
            <a:r>
              <a:t xml:space="preserve">S36</a:t>
            </a:r>
          </a:p>
          <a:p>
            <a:r>
              <a:t xml:space="preserve"/>
            </a:r>
          </a:p>
          <a:p>
            <a:r>
              <a:t xml:space="preserve">Working Title:</a:t>
            </a:r>
          </a:p>
          <a:p>
            <a:r>
              <a:t xml:space="preserve">다음 작업에도 이 내용을 다시 적어야 할까?</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a:t>
            </a:r>
          </a:p>
          <a:p>
            <a:r>
              <a:t xml:space="preserve">잘 작성한 요청에도 이번 목표와 여러 작업에서 다시 참고할 기준이 함께 들어갈 수 있다. 먼저 반복할 내용을 생각하고 다음 장에서 범위를 구분한다.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S35에서 제안의 어긋난 부분을 고치고 유지할 조건을 적었다는 점을 회수한다. 화면의 짧은 요청은 같은 crop 사례를 되돌아보는 교육용 예시이며 실제 TRIAL-002 발췌가 아님을 밝힌다. 세 문장의 범주나 정답을 먼저 설명하지 않는다.</a:t>
            </a:r>
          </a:p>
          <a:p>
            <a:r>
              <a:t xml:space="preserve">2. (0:15–1:00 / Reflection) “작업이 바뀌어도 다시 말하게 될 문장은?”을 보고 조용히 생각할 시간을 둔다. 빈 Bucket이나 분류표 대신 요청 문장을 그대로 관찰하게 한다. 작성·공유·응답을 요구하지 않는다.</a:t>
            </a:r>
          </a:p>
          <a:p>
            <a:r>
              <a:t xml:space="preserve">3. (1:00–3:00 / Q&amp;A) 자발적인 질문을 받는다. 질문이 없으면 “이번 목표와 다음 작업에도 지킬 조건이 같은 수명일까요?”를 한 번 짚고 침묵을 허용한다. 이 시간에 AGENTS.md나 공통 지침의 정답을 먼저 강의하지 않는다.</a:t>
            </a:r>
          </a:p>
          <a:p>
            <a:r>
              <a:t xml:space="preserve">4. (3:00) 같은 세 문장을 유지한 S37로 이동한다.</a:t>
            </a:r>
          </a:p>
          <a:p>
            <a:r>
              <a:t xml:space="preserve"/>
            </a:r>
          </a:p>
          <a:p>
            <a:r>
              <a:t xml:space="preserve">Evidence / Source:</a:t>
            </a:r>
          </a:p>
          <a:p>
            <a:r>
              <a:t xml:space="preserve">TEACHING_MODEL. BEAT-007 → BEAT-008, CLM-0029, CLM-0027, CLM-0003, CLM-0005, DEC-0042, DEC-0113. S35의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요청을 잘 작성해도 이번 목표와 여러 작업에서 다시 참고할 조건이 함께 들어갈 수 있다. 같은 짧은 요청에서 다음에도 다시 말할 문장을 생각한다.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 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“방금 본 같은 요청에서 이번 목표와 계속 쓰기로 한 기준을 나눠 보겠습니다.”라고 S37로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S36 또는 production/preview/act1/S36.png의 정적 요청을 사용한다. 질문이 없으면 요청의 세 문장을 읽어 보게 하고3분에 같은 문장을 분리한 S37로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작업마다 바뀌는 목표, 계속 쓰는 기준</a:t>
            </a:r>
          </a:p>
          <a:p>
            <a:r>
              <a:t xml:space="preserve"/>
            </a:r>
          </a:p>
          <a:p>
            <a:r>
              <a:t xml:space="preserve">Slide ID:</a:t>
            </a:r>
          </a:p>
          <a:p>
            <a:r>
              <a:t xml:space="preserve">S37</a:t>
            </a:r>
          </a:p>
          <a:p>
            <a:r>
              <a:t xml:space="preserve"/>
            </a:r>
          </a:p>
          <a:p>
            <a:r>
              <a:t xml:space="preserve">Working Title:</a:t>
            </a:r>
          </a:p>
          <a:p>
            <a:r>
              <a:t xml:space="preserve">작업마다 바뀌는 목표, 계속 쓰는 기준</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a:t>
            </a:r>
          </a:p>
          <a:p>
            <a:r>
              <a:t xml:space="preserve">crop 수정 목표는 작업마다 달라지고, 프로젝트에서 합의해 계속 적용할 API·테스트 기준은 여러 작업에서 다시 참고할 수 있다. 적용 범위를 먼저 확인하고 저장 위치는 다음 ACT에서 다룬다.</a:t>
            </a:r>
          </a:p>
          <a:p>
            <a:r>
              <a:t xml:space="preserve"/>
            </a:r>
          </a:p>
          <a:p>
            <a:r>
              <a:t xml:space="preserve">Opening Question:</a:t>
            </a:r>
          </a:p>
          <a:p>
            <a:r>
              <a:t xml:space="preserve">“이 공통 기준을 어디에 두고 다시 참고할까요?”</a:t>
            </a:r>
          </a:p>
          <a:p>
            <a:r>
              <a:t xml:space="preserve"/>
            </a:r>
          </a:p>
          <a:p>
            <a:r>
              <a:t xml:space="preserve">**Speaker Flow:**</a:t>
            </a:r>
          </a:p>
          <a:p>
            <a:r>
              <a:t xml:space="preserve">1. (0:00–1:00 / Reflection) S36과 문장이 하나도 바뀌지 않았음을 확인하게 한다. 각자 업무에서 어떤 조건을 여러 작업에 계속 적용하기로 합의했는지 조용히 생각한다. 앞 장의 문장 찾기를 반복 시험하거나 공개 분류를 요구하지 않는다.</a:t>
            </a:r>
          </a:p>
          <a:p>
            <a:r>
              <a:t xml:space="preserve">2. (1:00–2:00 / Transition) 위 한 줄의 crop 수정은 이번 작업 목표이고 작업이 달라지면 바뀐다는 점을 가리킨다. 새로운 README Task나 성능 사례를 여기서 추가하지 않는다.</a:t>
            </a:r>
          </a:p>
          <a:p>
            <a:r>
              <a:t xml:space="preserve">3. (2:00–3:00 / Transition) 아래 두 줄의 공개 API 유지·정해진 테스트 명령은 이 프로젝트에서 계속 적용하기로 합의한 경우 여러 작업에서 참고할 기준이다. 반복된다고 무조건 전역 지침이 되는 것은 아니다. 어떤 테스트를 언제 돌릴지는 프로젝트의 실제 기준과 작업 조건을 확인한다. 여러 단계의 작업 절차를 여기서 Skill/Workflow로 분류하지 않는다.</a:t>
            </a:r>
          </a:p>
          <a:p>
            <a:r>
              <a:t xml:space="preserve">4. (3:00–4:00 / Transition) 요청에는 목표·조건·완료 근거를 담는다는 ACT1 원칙을 유지한다. 공통 기준을 매번 복사하는 문제와 어디에 두고 참고할지라는 질문만 남긴다. AGENTS.md·자동 수집·효과를 답으로 제시하지 않는다. 세 가지 다른 Task에 같은 설명이 반복되는 장면은 ACT2 S39에서 확대한다.</a:t>
            </a:r>
          </a:p>
          <a:p>
            <a:r>
              <a:t xml:space="preserve">5. (4:00–6:00 / Q&amp;A) 자발적인 질문을 받는다. 질문이 없으면 “다음 요청에도 같은 기준이 필요하면, 어디에 두고 다시 참고할까요?”를 설명용 질문으로 회수하고6분에 S38로 넘긴다. S38 제목의 Transition1분과 시간을 중복 계산하지 않는다.</a:t>
            </a:r>
          </a:p>
          <a:p>
            <a:r>
              <a:t xml:space="preserve"/>
            </a:r>
          </a:p>
          <a:p>
            <a:r>
              <a:t xml:space="preserve">Evidence / Source:</a:t>
            </a:r>
          </a:p>
          <a:p>
            <a:r>
              <a:t xml:space="preserve">TEACHING_MODEL / CONCEPTUAL. BEAT-007, BEAT-008, TRANS-003, CLM-0029, CLM-0027, CLM-0003, CLM-0005, DEC-0042, DEC-0113. S36과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위의 목표는 작업이 바뀌면 달라지고 아래의 합의된 기준은 여러 작업에서 다시 참고할 수 있다. 같은 요청 문장에서 역할을 나누므로 새 예시를 다시 해석할 필요가 없다.</a:t>
            </a:r>
          </a:p>
          <a:p>
            <a:r>
              <a:t xml:space="preserve"/>
            </a:r>
          </a:p>
          <a:p>
            <a:r>
              <a:t xml:space="preserve">Advanced Insight:</a:t>
            </a:r>
          </a:p>
          <a:p>
            <a:r>
              <a:t xml:space="preserve">Scope and lifetime require project agreement. Check whether an API-preservation condition or test entry applies to future tasks; do not promote every repeated sentence into universal policy. 기존 화면의 의존성 예시는 Notes의 선택 참고로 보존한다. 실제 STATE-01은 작업상 정당한 근거가 있을 때 추가할 수 있다는 조건이며 무조건 금지로 바꾸지 않는다. README는 다음 ACT의 작업 예로 남기고 여기서 새 사례를 추가하지 않는다.</a:t>
            </a:r>
          </a:p>
          <a:p>
            <a:r>
              <a:t xml:space="preserve"/>
            </a:r>
          </a:p>
          <a:p>
            <a:r>
              <a:t xml:space="preserve">C++ Vision Bridge: N/A.</a:t>
            </a:r>
          </a:p>
          <a:p>
            <a:r>
              <a:t xml:space="preserve"/>
            </a:r>
          </a:p>
          <a:p>
            <a:r>
              <a:t xml:space="preserve">Demo Operation:</a:t>
            </a:r>
          </a:p>
          <a:p>
            <a:r>
              <a:t xml:space="preserve">N/A — S36의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Reflection1분은 어떤 기준을 공통으로 합의할지 생각한다. Transition3분 뒤 자발적 Q&amp;A2분이다. 정답 분류·업무 공개·실습을 요구하지 않는다. 질문이 없으면 마지막 위치 질문을 회수하고6분에 다음 ACT로 넘어간다.</a:t>
            </a:r>
          </a:p>
          <a:p>
            <a:r>
              <a:t xml:space="preserve"/>
            </a:r>
          </a:p>
          <a:p>
            <a:r>
              <a:t xml:space="preserve">**Transition:**</a:t>
            </a:r>
          </a:p>
          <a:p>
            <a:r>
              <a:t xml:space="preserve">“공통 기준이 다음 요청에도 필요하다면 어디에 두고 다시 참고할까요? 다음 구간에서는 서로 다른 작업에도 같은 설명이 반복되는 장면부터 보겠습니다.”라고 ACT2 제목 S38를 거쳐 S39으로 이어간다.</a:t>
            </a:r>
          </a:p>
          <a:p>
            <a:r>
              <a:t xml:space="preserve"/>
            </a:r>
          </a:p>
          <a:p>
            <a:r>
              <a:t xml:space="preserve">Time Management:</a:t>
            </a:r>
          </a:p>
          <a:p>
            <a:r>
              <a:t xml:space="preserve">0–1분 Reflection,1–4분 Transition,4–6분 Q&amp;A를 유지한다. S38 ACT2 제목의1분은 별도다. 두 장 합계9분과 Reflection2/Transition3/Q&amp;A4를 보존한다. 실측 시간 적합성은 UNVERIFIED다.</a:t>
            </a:r>
          </a:p>
          <a:p>
            <a:r>
              <a:t xml:space="preserve"/>
            </a:r>
          </a:p>
          <a:p>
            <a:r>
              <a:t xml:space="preserve">Fallback:</a:t>
            </a:r>
          </a:p>
          <a:p>
            <a:r>
              <a:t xml:space="preserve">production/ACT_1.pptx S37 또는 production/preview/act1/S37.png의 정적 분리 도식을 사용한다. 프로젝트 합의·조건 범위를 밝히고 S38 제목→S39의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a:t>
            </a:r>
          </a:p>
          <a:p>
            <a:r>
              <a:t xml:space="preserve">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a:t>
            </a:r>
          </a:p>
          <a:p>
            <a:r>
              <a:t xml:space="preserve">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S41 handoff. 명령어 옵션별 설명은 생략한다.</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a:t>
            </a:r>
          </a:p>
          <a:p>
            <a:r>
              <a:t xml:space="preserve">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S42 연결. Demo4분·기존 Mode는 유지하며 실측 리허설은 UNVERIFIED다.</a:t>
            </a:r>
          </a:p>
          <a:p>
            <a:r>
              <a:t xml:space="preserve"/>
            </a:r>
          </a:p>
          <a:p>
            <a:r>
              <a:t xml:space="preserve">Fallback:</a:t>
            </a:r>
          </a:p>
          <a:p>
            <a:r>
              <a:t xml:space="preserve">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a:t>
            </a:r>
          </a:p>
          <a:p>
            <a:r>
              <a:t xml:space="preserve">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S40–S38.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a:t>
            </a:r>
          </a:p>
          <a:p>
            <a:r>
              <a:t xml:space="preserve">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a:t>
            </a:r>
          </a:p>
          <a:p>
            <a:r>
              <a:t xml:space="preserve">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a:t>
            </a:r>
          </a:p>
          <a:p>
            <a:r>
              <a:t xml:space="preserve">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S45/TRIAL-004의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S44 회수30초, 공통 안내1분, 요청별 상세1분, 재사용 절차1분, 경계·S46 연결30초로 Lecture4분을 유지한다. 제품 기능이나 Skill 호출 설명으로 확장하지 않는다.</a:t>
            </a:r>
          </a:p>
          <a:p>
            <a:r>
              <a:t xml:space="preserve"/>
            </a:r>
          </a:p>
          <a:p>
            <a:r>
              <a:t xml:space="preserve">Fallback:</a:t>
            </a:r>
          </a:p>
          <a:p>
            <a:r>
              <a:t xml:space="preserve">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a:t>
            </a:r>
          </a:p>
          <a:p>
            <a:r>
              <a:t xml:space="preserve">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a:t>
            </a:r>
          </a:p>
          <a:p>
            <a:r>
              <a:t xml:space="preserve">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a:t>
            </a:r>
          </a:p>
          <a:p>
            <a:r>
              <a:t xml:space="preserve">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a:t>
            </a:r>
          </a:p>
          <a:p>
            <a:r>
              <a:t xml:space="preserve">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S51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a:t>
            </a:r>
          </a:p>
          <a:p>
            <a:r>
              <a:t xml:space="preserve">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a:t>
            </a:r>
          </a:p>
          <a:p>
            <a:r>
              <a:t xml:space="preserve">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S53–S54.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a:t>
            </a:r>
          </a:p>
          <a:p>
            <a:r>
              <a:t xml:space="preserve">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a:t>
            </a:r>
          </a:p>
          <a:p>
            <a:r>
              <a:t xml:space="preserve">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a:t>
            </a:r>
          </a:p>
          <a:p>
            <a:r>
              <a:t xml:space="preserve">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a:t>
            </a:r>
          </a:p>
          <a:p>
            <a:r>
              <a:t xml:space="preserve">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AGENTS.md는 어디에 둘까?</a:t>
            </a:r>
          </a:p>
          <a:p>
            <a:r>
              <a:t xml:space="preserve"/>
            </a:r>
          </a:p>
          <a:p>
            <a:r>
              <a:t xml:space="preserve">**Slide ID:**</a:t>
            </a:r>
          </a:p>
          <a:p>
            <a:r>
              <a:t xml:space="preserve">S56</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S55는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공통 지침에 모듈 지침을 더한다</a:t>
            </a:r>
          </a:p>
          <a:p>
            <a:r>
              <a:t xml:space="preserve"/>
            </a:r>
          </a:p>
          <a:p>
            <a:r>
              <a:t xml:space="preserve">**Slide ID:**</a:t>
            </a:r>
          </a:p>
          <a:p>
            <a:r>
              <a:t xml:space="preserve">S57</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적용할 지침을 실제로 읽었을까?</a:t>
            </a:r>
          </a:p>
          <a:p>
            <a:r>
              <a:t xml:space="preserve"/>
            </a:r>
          </a:p>
          <a:p>
            <a:r>
              <a:t xml:space="preserve">**Slide ID:**</a:t>
            </a:r>
          </a:p>
          <a:p>
            <a:r>
              <a:t xml:space="preserve">S58</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S59의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a:t>
            </a:r>
          </a:p>
          <a:p>
            <a:r>
              <a:t xml:space="preserve">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a:t>
            </a:r>
          </a:p>
          <a:p>
            <a:r>
              <a:t xml:space="preserve">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S61으로 handoff한다.</a:t>
            </a:r>
          </a:p>
          <a:p>
            <a:r>
              <a:t xml:space="preserve"/>
            </a:r>
          </a:p>
          <a:p>
            <a:r>
              <a:t xml:space="preserve">Fallback:</a:t>
            </a:r>
          </a:p>
          <a:p>
            <a:r>
              <a:t xml:space="preserve">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a:t>
            </a:r>
          </a:p>
          <a:p>
            <a:r>
              <a:t xml:space="preserve">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a:t>
            </a:r>
          </a:p>
          <a:p>
            <a:r>
              <a:t xml:space="preserve">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a:t>
            </a:r>
          </a:p>
          <a:p>
            <a:r>
              <a:t xml:space="preserve">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a:t>
            </a:r>
          </a:p>
          <a:p>
            <a:r>
              <a:t xml:space="preserve">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S66에서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a:t>
            </a:r>
          </a:p>
          <a:p>
            <a:r>
              <a:t xml:space="preserve">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a:t>
            </a:r>
          </a:p>
          <a:p>
            <a:r>
              <a:t xml:space="preserve">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a:t>
            </a:r>
          </a:p>
          <a:p>
            <a:r>
              <a:t xml:space="preserve">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a:t>
            </a:r>
          </a:p>
          <a:p>
            <a:r>
              <a:t xml:space="preserve">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a:t>
            </a:r>
          </a:p>
          <a:p>
            <a:r>
              <a:t xml:space="preserve">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a:t>
            </a:r>
          </a:p>
          <a:p>
            <a:r>
              <a:t xml:space="preserve">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a:t>
            </a:r>
          </a:p>
          <a:p>
            <a:r>
              <a:t xml:space="preserve">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a:t>
            </a:r>
          </a:p>
          <a:p>
            <a:r>
              <a:t xml:space="preserve">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S74에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a:t>
            </a:r>
          </a:p>
          <a:p>
            <a:r>
              <a:t xml:space="preserve">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a:t>
            </a:r>
          </a:p>
          <a:p>
            <a:r>
              <a:t xml:space="preserve">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“S71의 독립 조사 기준을 이 밝기 통계 작업에도 적용할 수 있었을까요?”</a:t>
            </a:r>
          </a:p>
          <a:p>
            <a:r>
              <a:t xml:space="preserve"/>
            </a:r>
          </a:p>
          <a:p>
            <a:r>
              <a:t xml:space="preserve">Speaker Flow:</a:t>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S71의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a:t>
            </a:r>
          </a:p>
          <a:p>
            <a:r>
              <a:t xml:space="preserve">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a:t>
            </a:r>
          </a:p>
          <a:p>
            <a:r>
              <a:t xml:space="preserve">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S76에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a:t>
            </a:r>
          </a:p>
          <a:p>
            <a:r>
              <a:t xml:space="preserve">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a:t>
            </a:r>
          </a:p>
          <a:p>
            <a:r>
              <a:t xml:space="preserve">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“S74의 보존 기준으로 실제 Demo를 보면, 새로 남길 지식은 어디에 있었을까요?”</a:t>
            </a:r>
          </a:p>
          <a:p>
            <a:r>
              <a:t xml:space="preserve"/>
            </a:r>
          </a:p>
          <a:p>
            <a:r>
              <a:t xml:space="preserve">Speaker Flow:</a:t>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a:t>
            </a:r>
          </a:p>
          <a:p>
            <a:r>
              <a:t xml:space="preserve">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a:t>
            </a:r>
          </a:p>
          <a:p>
            <a:r>
              <a:t xml:space="preserve">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“S75에서 본 자료들이 실제 밝기 통계 작업에서는 각각 무엇을 맡았을까요?”</a:t>
            </a:r>
          </a:p>
          <a:p>
            <a:r>
              <a:t xml:space="preserve"/>
            </a:r>
          </a:p>
          <a:p>
            <a:r>
              <a:t xml:space="preserve">Speaker Flow:</a:t>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a:t>
            </a:r>
          </a:p>
          <a:p>
            <a:r>
              <a:t xml:space="preserve">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a:t>
            </a:r>
          </a:p>
          <a:p>
            <a:r>
              <a:t xml:space="preserve">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S77의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S68/S73은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7.xml" Id="R67557043997c4b2f"/></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8.xml" Id="Rff27a015abf24948"/></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9.xml" Id="R3a498e5233dc4a5a"/></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30.xml" Id="Rca442c894a154a1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1.xml" Id="R613eb6ac2da543d3"/></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2.xml" Id="R3f20303f114447e2"/></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3.xml" Id="R0acbc4fac3ad4c39"/></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4.xml" Id="R840a07ea16114c83"/></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5.xml" Id="Re0b8525972544589"/></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6.xml" Id="R7efc610a93a54954"/></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7.xml" Id="R497580c3f0c3424c"/></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8.xml" Id="Rd075c9a9e36d48b4"/></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9.xml" Id="Ra72fc7dcfd7b41b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40.xml" Id="R68e31d9f2fc14051"/></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1.xml" Id="R1c812969c94f489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2.xml" Id="R9dcd712c96cb4920"/></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3.xml" Id="Rb3607c7c5ecc4fd4"/></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4.xml" Id="R3f6a00bc3ef44a1b"/></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5.xml" Id="R1c76f09a75e243d8"/></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6.xml" Id="R4c7fbbd0eaca47b2"/></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7.xml" Id="R7fc76b79800c4517"/></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8.xml" Id="Rddf3b25f9736491c"/></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9.xml" Id="R3e24ddfd65984de7"/></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50.xml" Id="Rf4c40cfa733f4d6f"/></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1.xml" Id="R57634cd0349c4959"/></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2.xml" Id="Re888c36c54cf4b94"/></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3.xml" Id="R47ee9cce5b494bbf"/></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4.xml" Id="R65929069c5bf430e"/></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5.xml" Id="Rcdd85d3d7ee74629"/></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9.xml" Id="Raa20956d6d1b4479"/></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60.xml" Id="R54ba7668537b43fe"/></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1.xml" Id="Rf4394eb0efae4bc2"/></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2.xml" Id="Rf2667cbaf12645c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3.xml" Id="Rd8f3f37e8c0e4855"/></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4.xml" Id="R85a14c9750344ec0"/></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5.xml" Id="Raf1d5a7b0c524dfa"/></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6.xml" Id="Rad52161ddcca407b"/></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7.xml" Id="R16825de3fab740bf"/></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8.xml" Id="R8b0233aae6a140ac"/></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9.xml" Id="R3d7c7a685cac4014"/></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70.xml" Id="Raff3ca3ec59a4149"/></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1.xml" Id="R1cbda8e4c54b4dd1"/></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2.xml" Id="Rc8ffa309e5c34afa"/></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3.xml" Id="Rf159e342b5e341d6"/></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4.xml" Id="R63b536d641b84715"/></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5.xml" Id="R32d6c074a7e4497a"/></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6.xml" Id="Rc54545c27dea4ca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7.xml" Id="R7f78e7867aa5421f"/></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8.xml" Id="R089a47929ed34abd"/></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9.xml" Id="R3b61134a2a454803"/></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80.xml" Id="R9e690c9a8b01411e"/></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1.xml" Id="Rcaebcb7911fd42e4"/></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2.xml" Id="R6bc44724aebe46dd"/></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3.xml" Id="R3aedd29c6ea7436c"/></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4.xml" Id="Rae1cfc68b74141de"/></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5.xml" Id="R30e64919739f4c81"/></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6.xml" Id="R7da67322bac34beb"/></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7.xml" Id="R983ef1b4941f47df"/></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8.xml" Id="R2bb221648fd04a50"/></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9.xml" Id="R87b72ed4cafc40d3"/></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90.xml" Id="Re6d646379adb4da1"/></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1.xml" Id="Rc4e6ef3588d54767"/></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2.xml" Id="R3bb29d806ae04c5c"/></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3.xml" Id="R4191341ed86e4215"/></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4.xml" Id="R36180a95ed3c43fa"/></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5.xml" Id="R5ef00a4c4bb04823"/></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6.xml" Id="R1e275696a25b470a"/></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7.xml" Id="Reafb085964c34056"/></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8.xml" Id="R7ea86b7511cd462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9.xml" Id="Rd241e076ae0c4c89"/></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100.xml" Id="R9fd9b4d481214a08"/></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1.xml" Id="R212a1ecf528b465a"/></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2.xml" Id="R7c714979becd470e"/></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3.xml" Id="R068559301c394576"/></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4.xml" Id="R24afd0dfb79d41f0"/></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5.xml" Id="R908895dc2cd64f82"/></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6.xml" Id="R9030d1fdb5114f76"/></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7.xml" Id="R311f6d7d4b354399"/></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8.xml" Id="R5248189ceda34d20"/></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9.xml" Id="Rb075385bb68b49a3"/></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10.xml" Id="Rfca130f2343a4cf9"/></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1.xml" Id="R0a5721e8688f465f"/></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2.xml" Id="Ree3d1ac02cbb44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3.xml" Id="Rd75f8c7cfc1e4c42"/></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4.xml" Id="R2fbfac11f8a04b0a"/></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5.xml" Id="Rfb9c411f0bc743b8"/></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6.xml" Id="R690e88ea3d1c4b3f"/></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8.xml" Id="Ra6812a34cdf44996"/></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9.xml" Id="R619b15d573e54123"/></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20.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조건이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의도·명세·조건이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D499A798-D33A-414A-995A-85A4E31D7C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0688F738-6CB5-452C-81E8-61D23E0E48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원하는 결과에 맞춰 확인 방법을 고른다">
            <a:extLst xmlns:a="http://schemas.openxmlformats.org/drawingml/2006/main">
              <a:ext uri="{FF2B5EF4-FFF2-40B4-BE49-F238E27FC236}">
                <a16:creationId xmlns:a16="http://schemas.microsoft.com/office/drawing/2014/main" id="{03019E4F-5D52-45E0-8177-BF597C587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결과에 맞춰 확인 방법을 고른다</a:t>
            </a:r>
          </a:p>
        </p:txBody>
      </p:sp>
      <p:sp>
        <p:nvSpPr>
          <p:cNvPr id="4" name="">
            <a:extLst xmlns:a="http://schemas.openxmlformats.org/drawingml/2006/main">
              <a:ext uri="{FF2B5EF4-FFF2-40B4-BE49-F238E27FC236}">
                <a16:creationId xmlns:a16="http://schemas.microsoft.com/office/drawing/2014/main" id="{69A07154-B8E6-4FB8-AB86-6A5C026F7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5DC81845-37D1-4ADB-9161-88A24278BF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4C0CB576-34E3-4459-9901-C1D53387F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판단하고 싶은 것">
            <a:extLst xmlns:a="http://schemas.openxmlformats.org/drawingml/2006/main">
              <a:ext uri="{FF2B5EF4-FFF2-40B4-BE49-F238E27FC236}">
                <a16:creationId xmlns:a16="http://schemas.microsoft.com/office/drawing/2014/main" id="{9CFB66B8-D3AB-496E-82E2-B5202248ADEA}"/>
              </a:ext>
            </a:extLst>
          </p:cNvPr>
          <p:cNvSpPr>
            <a:spLocks xmlns:a="http://schemas.openxmlformats.org/drawingml/2006/main" noGrp="1"/>
          </p:cNvSpPr>
          <p:nvPr/>
        </p:nvSpPr>
        <p:spPr>
          <a:xfrm xmlns:a="http://schemas.openxmlformats.org/drawingml/2006/main">
            <a:off x="762000" y="1866900"/>
            <a:ext cx="609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판단하고 싶은 것</a:t>
            </a:r>
          </a:p>
        </p:txBody>
      </p:sp>
      <p:sp>
        <p:nvSpPr>
          <p:cNvPr id="8" name="요청할 확인">
            <a:extLst xmlns:a="http://schemas.openxmlformats.org/drawingml/2006/main">
              <a:ext uri="{FF2B5EF4-FFF2-40B4-BE49-F238E27FC236}">
                <a16:creationId xmlns:a16="http://schemas.microsoft.com/office/drawing/2014/main" id="{0C07EA6A-8AF7-49C8-8407-CB8F72D4BAC4}"/>
              </a:ext>
            </a:extLst>
          </p:cNvPr>
          <p:cNvSpPr>
            <a:spLocks xmlns:a="http://schemas.openxmlformats.org/drawingml/2006/main" noGrp="1"/>
          </p:cNvSpPr>
          <p:nvPr/>
        </p:nvSpPr>
        <p:spPr>
          <a:xfrm xmlns:a="http://schemas.openxmlformats.org/drawingml/2006/main">
            <a:off x="7162800" y="1866900"/>
            <a:ext cx="4267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9" name="">
            <a:extLst xmlns:a="http://schemas.openxmlformats.org/drawingml/2006/main">
              <a:ext uri="{FF2B5EF4-FFF2-40B4-BE49-F238E27FC236}">
                <a16:creationId xmlns:a16="http://schemas.microsoft.com/office/drawing/2014/main" id="{BF128DF1-081A-49B2-A3D1-71C12EF8688B}"/>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이 명세대로 동작하는가?">
            <a:extLst xmlns:a="http://schemas.openxmlformats.org/drawingml/2006/main">
              <a:ext uri="{FF2B5EF4-FFF2-40B4-BE49-F238E27FC236}">
                <a16:creationId xmlns:a16="http://schemas.microsoft.com/office/drawing/2014/main" id="{7DB93B99-5A7D-4807-B5A7-12714F98E198}"/>
              </a:ext>
            </a:extLst>
          </p:cNvPr>
          <p:cNvSpPr>
            <a:spLocks xmlns:a="http://schemas.openxmlformats.org/drawingml/2006/main" noGrp="1"/>
          </p:cNvSpPr>
          <p:nvPr/>
        </p:nvSpPr>
        <p:spPr>
          <a:xfrm xmlns:a="http://schemas.openxmlformats.org/drawingml/2006/main">
            <a:off x="762000" y="24479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crop이 명세대로 동작하는가?</a:t>
            </a:r>
          </a:p>
        </p:txBody>
      </p:sp>
      <p:sp>
        <p:nvSpPr>
          <p:cNvPr id="11" name="관련 동작 테스트">
            <a:extLst xmlns:a="http://schemas.openxmlformats.org/drawingml/2006/main">
              <a:ext uri="{FF2B5EF4-FFF2-40B4-BE49-F238E27FC236}">
                <a16:creationId xmlns:a16="http://schemas.microsoft.com/office/drawing/2014/main" id="{3756C1CA-66CB-4A7C-B033-105F5694275E}"/>
              </a:ext>
            </a:extLst>
          </p:cNvPr>
          <p:cNvSpPr>
            <a:spLocks xmlns:a="http://schemas.openxmlformats.org/drawingml/2006/main" noGrp="1"/>
          </p:cNvSpPr>
          <p:nvPr/>
        </p:nvSpPr>
        <p:spPr>
          <a:xfrm xmlns:a="http://schemas.openxmlformats.org/drawingml/2006/main">
            <a:off x="7162800" y="24479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동작 테스트</a:t>
            </a:r>
          </a:p>
        </p:txBody>
      </p:sp>
      <p:sp>
        <p:nvSpPr>
          <p:cNvPr id="12" name="">
            <a:extLst xmlns:a="http://schemas.openxmlformats.org/drawingml/2006/main">
              <a:ext uri="{FF2B5EF4-FFF2-40B4-BE49-F238E27FC236}">
                <a16:creationId xmlns:a16="http://schemas.microsoft.com/office/drawing/2014/main" id="{16618176-AC19-4FC3-A973-4FA36EDA9DFF}"/>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기존 테스트가 다루던 동작도 유지되는가?">
            <a:extLst xmlns:a="http://schemas.openxmlformats.org/drawingml/2006/main">
              <a:ext uri="{FF2B5EF4-FFF2-40B4-BE49-F238E27FC236}">
                <a16:creationId xmlns:a16="http://schemas.microsoft.com/office/drawing/2014/main" id="{156F7DF7-018E-4B19-9A11-5695A02D00BC}"/>
              </a:ext>
            </a:extLst>
          </p:cNvPr>
          <p:cNvSpPr>
            <a:spLocks xmlns:a="http://schemas.openxmlformats.org/drawingml/2006/main" noGrp="1"/>
          </p:cNvSpPr>
          <p:nvPr/>
        </p:nvSpPr>
        <p:spPr>
          <a:xfrm xmlns:a="http://schemas.openxmlformats.org/drawingml/2006/main">
            <a:off x="762000" y="302895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기존 테스트가 다루던 동작도 유지되는가?</a:t>
            </a:r>
          </a:p>
        </p:txBody>
      </p:sp>
      <p:sp>
        <p:nvSpPr>
          <p:cNvPr id="14" name="프로젝트 전체 테스트">
            <a:extLst xmlns:a="http://schemas.openxmlformats.org/drawingml/2006/main">
              <a:ext uri="{FF2B5EF4-FFF2-40B4-BE49-F238E27FC236}">
                <a16:creationId xmlns:a16="http://schemas.microsoft.com/office/drawing/2014/main" id="{1F2BE043-FDCB-43BB-A0C6-D24C9C8D0639}"/>
              </a:ext>
            </a:extLst>
          </p:cNvPr>
          <p:cNvSpPr>
            <a:spLocks xmlns:a="http://schemas.openxmlformats.org/drawingml/2006/main" noGrp="1"/>
          </p:cNvSpPr>
          <p:nvPr/>
        </p:nvSpPr>
        <p:spPr>
          <a:xfrm xmlns:a="http://schemas.openxmlformats.org/drawingml/2006/main">
            <a:off x="7162800" y="302895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 전체 테스트</a:t>
            </a:r>
          </a:p>
        </p:txBody>
      </p:sp>
      <p:sp>
        <p:nvSpPr>
          <p:cNvPr id="15" name="">
            <a:extLst xmlns:a="http://schemas.openxmlformats.org/drawingml/2006/main">
              <a:ext uri="{FF2B5EF4-FFF2-40B4-BE49-F238E27FC236}">
                <a16:creationId xmlns:a16="http://schemas.microsoft.com/office/drawing/2014/main" id="{6C3D47E6-DE64-4611-8FC8-35E2375BD118}"/>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경로가 동작하는가?">
            <a:extLst xmlns:a="http://schemas.openxmlformats.org/drawingml/2006/main">
              <a:ext uri="{FF2B5EF4-FFF2-40B4-BE49-F238E27FC236}">
                <a16:creationId xmlns:a16="http://schemas.microsoft.com/office/drawing/2014/main" id="{0E6D00F5-C144-40C7-A678-D7ED24AC00F4}"/>
              </a:ext>
            </a:extLst>
          </p:cNvPr>
          <p:cNvSpPr>
            <a:spLocks xmlns:a="http://schemas.openxmlformats.org/drawingml/2006/main" noGrp="1"/>
          </p:cNvSpPr>
          <p:nvPr/>
        </p:nvSpPr>
        <p:spPr>
          <a:xfrm xmlns:a="http://schemas.openxmlformats.org/drawingml/2006/main">
            <a:off x="762000" y="360997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CLI 샘플 경로가 동작하는가?</a:t>
            </a:r>
          </a:p>
        </p:txBody>
      </p:sp>
      <p:sp>
        <p:nvSpPr>
          <p:cNvPr id="17" name="CLI 샘플 실행">
            <a:extLst xmlns:a="http://schemas.openxmlformats.org/drawingml/2006/main">
              <a:ext uri="{FF2B5EF4-FFF2-40B4-BE49-F238E27FC236}">
                <a16:creationId xmlns:a16="http://schemas.microsoft.com/office/drawing/2014/main" id="{75F8A59D-4539-470E-B7EC-737FF3E39C33}"/>
              </a:ext>
            </a:extLst>
          </p:cNvPr>
          <p:cNvSpPr>
            <a:spLocks xmlns:a="http://schemas.openxmlformats.org/drawingml/2006/main" noGrp="1"/>
          </p:cNvSpPr>
          <p:nvPr/>
        </p:nvSpPr>
        <p:spPr>
          <a:xfrm xmlns:a="http://schemas.openxmlformats.org/drawingml/2006/main">
            <a:off x="7162800" y="360997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8" name="">
            <a:extLst xmlns:a="http://schemas.openxmlformats.org/drawingml/2006/main">
              <a:ext uri="{FF2B5EF4-FFF2-40B4-BE49-F238E27FC236}">
                <a16:creationId xmlns:a16="http://schemas.microsoft.com/office/drawing/2014/main" id="{3D110382-AE8F-4A8F-A33E-81C09EDDDA7D}"/>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요청한 범위만 수정했는가?">
            <a:extLst xmlns:a="http://schemas.openxmlformats.org/drawingml/2006/main">
              <a:ext uri="{FF2B5EF4-FFF2-40B4-BE49-F238E27FC236}">
                <a16:creationId xmlns:a16="http://schemas.microsoft.com/office/drawing/2014/main" id="{E6505514-E3D8-448B-9A50-8C9FBCACB51E}"/>
              </a:ext>
            </a:extLst>
          </p:cNvPr>
          <p:cNvSpPr>
            <a:spLocks xmlns:a="http://schemas.openxmlformats.org/drawingml/2006/main" noGrp="1"/>
          </p:cNvSpPr>
          <p:nvPr/>
        </p:nvSpPr>
        <p:spPr>
          <a:xfrm xmlns:a="http://schemas.openxmlformats.org/drawingml/2006/main">
            <a:off x="762000" y="419100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요청한 범위만 수정했는가?</a:t>
            </a:r>
          </a:p>
        </p:txBody>
      </p:sp>
      <p:sp>
        <p:nvSpPr>
          <p:cNvPr id="20" name="최종 diff 검토">
            <a:extLst xmlns:a="http://schemas.openxmlformats.org/drawingml/2006/main">
              <a:ext uri="{FF2B5EF4-FFF2-40B4-BE49-F238E27FC236}">
                <a16:creationId xmlns:a16="http://schemas.microsoft.com/office/drawing/2014/main" id="{8E1AFA8C-2D44-473F-86A6-CDBAD77B7F2E}"/>
              </a:ext>
            </a:extLst>
          </p:cNvPr>
          <p:cNvSpPr>
            <a:spLocks xmlns:a="http://schemas.openxmlformats.org/drawingml/2006/main" noGrp="1"/>
          </p:cNvSpPr>
          <p:nvPr/>
        </p:nvSpPr>
        <p:spPr>
          <a:xfrm xmlns:a="http://schemas.openxmlformats.org/drawingml/2006/main">
            <a:off x="7162800" y="419100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최종 diff 검토</a:t>
            </a:r>
          </a:p>
        </p:txBody>
      </p:sp>
      <p:sp>
        <p:nvSpPr>
          <p:cNvPr id="21" name="">
            <a:extLst xmlns:a="http://schemas.openxmlformats.org/drawingml/2006/main">
              <a:ext uri="{FF2B5EF4-FFF2-40B4-BE49-F238E27FC236}">
                <a16:creationId xmlns:a16="http://schemas.microsoft.com/office/drawing/2014/main" id="{613A8935-2967-4D5D-BDD6-1E0AF8387356}"/>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실행시간이 줄었는가?">
            <a:extLst xmlns:a="http://schemas.openxmlformats.org/drawingml/2006/main">
              <a:ext uri="{FF2B5EF4-FFF2-40B4-BE49-F238E27FC236}">
                <a16:creationId xmlns:a16="http://schemas.microsoft.com/office/drawing/2014/main" id="{CC84C71F-C690-4C73-ADC3-B41CC4838273}"/>
              </a:ext>
            </a:extLst>
          </p:cNvPr>
          <p:cNvSpPr>
            <a:spLocks xmlns:a="http://schemas.openxmlformats.org/drawingml/2006/main" noGrp="1"/>
          </p:cNvSpPr>
          <p:nvPr/>
        </p:nvSpPr>
        <p:spPr>
          <a:xfrm xmlns:a="http://schemas.openxmlformats.org/drawingml/2006/main">
            <a:off x="762000" y="47720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실행시간이 줄었는가?</a:t>
            </a:r>
          </a:p>
        </p:txBody>
      </p:sp>
      <p:sp>
        <p:nvSpPr>
          <p:cNvPr id="23" name="같은 조건의 전후 측정">
            <a:extLst xmlns:a="http://schemas.openxmlformats.org/drawingml/2006/main">
              <a:ext uri="{FF2B5EF4-FFF2-40B4-BE49-F238E27FC236}">
                <a16:creationId xmlns:a16="http://schemas.microsoft.com/office/drawing/2014/main" id="{0DF5AEDB-9E8D-4A40-83C8-E693983B89EF}"/>
              </a:ext>
            </a:extLst>
          </p:cNvPr>
          <p:cNvSpPr>
            <a:spLocks xmlns:a="http://schemas.openxmlformats.org/drawingml/2006/main" noGrp="1"/>
          </p:cNvSpPr>
          <p:nvPr/>
        </p:nvSpPr>
        <p:spPr>
          <a:xfrm xmlns:a="http://schemas.openxmlformats.org/drawingml/2006/main">
            <a:off x="7162800" y="47720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같은 조건의 전후 측정</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AFCEC3D2-1F5F-45B4-8A72-EE3293D94D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876B097-C7AB-4C5A-A562-4F990B05B6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목표가 달라지면 검증 요청도 달라진다">
            <a:extLst xmlns:a="http://schemas.openxmlformats.org/drawingml/2006/main">
              <a:ext uri="{FF2B5EF4-FFF2-40B4-BE49-F238E27FC236}">
                <a16:creationId xmlns:a16="http://schemas.microsoft.com/office/drawing/2014/main" id="{36522554-B5DF-4933-B0EA-CC6E617244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목표가 달라지면 검증 요청도 달라진다</a:t>
            </a:r>
          </a:p>
        </p:txBody>
      </p:sp>
      <p:sp>
        <p:nvSpPr>
          <p:cNvPr id="4" name="">
            <a:extLst xmlns:a="http://schemas.openxmlformats.org/drawingml/2006/main">
              <a:ext uri="{FF2B5EF4-FFF2-40B4-BE49-F238E27FC236}">
                <a16:creationId xmlns:a16="http://schemas.microsoft.com/office/drawing/2014/main" id="{1CF74B21-7623-4B60-A5D2-AA60DFD8B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비교 · 실제 TRIAL-002 원문이나 새 실행 결과가 아님">
            <a:extLst xmlns:a="http://schemas.openxmlformats.org/drawingml/2006/main">
              <a:ext uri="{FF2B5EF4-FFF2-40B4-BE49-F238E27FC236}">
                <a16:creationId xmlns:a16="http://schemas.microsoft.com/office/drawing/2014/main" id="{CFF12D8D-5E24-4C43-8620-A83025B033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교육용 요청 비교 · 실제 TRIAL-002 원문이나 새 실행 결과가 아님</a:t>
            </a:r>
          </a:p>
        </p:txBody>
      </p:sp>
      <p:sp>
        <p:nvSpPr>
          <p:cNvPr id="6" name="M 연계 · M5 / M6">
            <a:extLst xmlns:a="http://schemas.openxmlformats.org/drawingml/2006/main">
              <a:ext uri="{FF2B5EF4-FFF2-40B4-BE49-F238E27FC236}">
                <a16:creationId xmlns:a16="http://schemas.microsoft.com/office/drawing/2014/main" id="{B86641DB-9DCD-44E0-8D3C-FDC95C3D75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같은 crop · 검증 부분의 작성 예시">
            <a:extLst xmlns:a="http://schemas.openxmlformats.org/drawingml/2006/main">
              <a:ext uri="{FF2B5EF4-FFF2-40B4-BE49-F238E27FC236}">
                <a16:creationId xmlns:a16="http://schemas.microsoft.com/office/drawing/2014/main" id="{18A28F38-4FAF-47A9-A493-D7E9DBCE8054}"/>
              </a:ext>
            </a:extLst>
          </p:cNvPr>
          <p:cNvSpPr>
            <a:spLocks xmlns:a="http://schemas.openxmlformats.org/drawingml/2006/main" noGrp="1"/>
          </p:cNvSpPr>
          <p:nvPr/>
        </p:nvSpPr>
        <p:spPr>
          <a:xfrm xmlns:a="http://schemas.openxmlformats.org/drawingml/2006/main">
            <a:off x="609600" y="17621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같은 crop · 검증 부분의 작성 예시</a:t>
            </a:r>
          </a:p>
        </p:txBody>
      </p:sp>
      <p:sp>
        <p:nvSpPr>
          <p:cNvPr id="8" name="목표 1 · 경계 오류 수정">
            <a:extLst xmlns:a="http://schemas.openxmlformats.org/drawingml/2006/main">
              <a:ext uri="{FF2B5EF4-FFF2-40B4-BE49-F238E27FC236}">
                <a16:creationId xmlns:a16="http://schemas.microsoft.com/office/drawing/2014/main" id="{896248B0-8149-465F-9351-4E66D463015D}"/>
              </a:ext>
            </a:extLst>
          </p:cNvPr>
          <p:cNvSpPr>
            <a:spLocks xmlns:a="http://schemas.openxmlformats.org/drawingml/2006/main" noGrp="1"/>
          </p:cNvSpPr>
          <p:nvPr/>
        </p:nvSpPr>
        <p:spPr>
          <a:xfrm xmlns:a="http://schemas.openxmlformats.org/drawingml/2006/main">
            <a:off x="6096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1 · 경계 오류 수정</a:t>
            </a:r>
          </a:p>
        </p:txBody>
      </p:sp>
      <p:sp>
        <p:nvSpPr>
          <p:cNvPr id="9" name="">
            <a:extLst xmlns:a="http://schemas.openxmlformats.org/drawingml/2006/main">
              <a:ext uri="{FF2B5EF4-FFF2-40B4-BE49-F238E27FC236}">
                <a16:creationId xmlns:a16="http://schemas.microsoft.com/office/drawing/2014/main" id="{00487F51-27AA-4120-8B19-9C95CA4AE563}"/>
              </a:ext>
            </a:extLst>
          </p:cNvPr>
          <p:cNvSpPr>
            <a:spLocks xmlns:a="http://schemas.openxmlformats.org/drawingml/2006/main" noGrp="1"/>
          </p:cNvSpPr>
          <p:nvPr/>
        </p:nvSpPr>
        <p:spPr>
          <a:xfrm xmlns:a="http://schemas.openxmlformats.org/drawingml/2006/main">
            <a:off x="6096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검증 요청">
            <a:extLst xmlns:a="http://schemas.openxmlformats.org/drawingml/2006/main">
              <a:ext uri="{FF2B5EF4-FFF2-40B4-BE49-F238E27FC236}">
                <a16:creationId xmlns:a16="http://schemas.microsoft.com/office/drawing/2014/main" id="{89DC81CA-8E55-448C-BB51-17D5AD24E1E6}"/>
              </a:ext>
            </a:extLst>
          </p:cNvPr>
          <p:cNvSpPr>
            <a:spLocks xmlns:a="http://schemas.openxmlformats.org/drawingml/2006/main" noGrp="1"/>
          </p:cNvSpPr>
          <p:nvPr/>
        </p:nvSpPr>
        <p:spPr>
          <a:xfrm xmlns:a="http://schemas.openxmlformats.org/drawingml/2006/main">
            <a:off x="8191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1" name="">
            <a:extLst xmlns:a="http://schemas.openxmlformats.org/drawingml/2006/main">
              <a:ext uri="{FF2B5EF4-FFF2-40B4-BE49-F238E27FC236}">
                <a16:creationId xmlns:a16="http://schemas.microsoft.com/office/drawing/2014/main" id="{129C3F2C-ABE8-4568-BED2-BE31DBEC024B}"/>
              </a:ext>
            </a:extLst>
          </p:cNvPr>
          <p:cNvSpPr>
            <a:spLocks xmlns:a="http://schemas.openxmlformats.org/drawingml/2006/main" noGrp="1"/>
          </p:cNvSpPr>
          <p:nvPr/>
        </p:nvSpPr>
        <p:spPr>
          <a:xfrm xmlns:a="http://schemas.openxmlformats.org/drawingml/2006/main">
            <a:off x="8191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기존 crop 명세를 기준으로">
            <a:extLst xmlns:a="http://schemas.openxmlformats.org/drawingml/2006/main">
              <a:ext uri="{FF2B5EF4-FFF2-40B4-BE49-F238E27FC236}">
                <a16:creationId xmlns:a16="http://schemas.microsoft.com/office/drawing/2014/main" id="{3CA04E5A-F2BB-43E0-A896-D98D791779EA}"/>
              </a:ext>
            </a:extLst>
          </p:cNvPr>
          <p:cNvSpPr>
            <a:spLocks xmlns:a="http://schemas.openxmlformats.org/drawingml/2006/main" noGrp="1"/>
          </p:cNvSpPr>
          <p:nvPr/>
        </p:nvSpPr>
        <p:spPr>
          <a:xfrm xmlns:a="http://schemas.openxmlformats.org/drawingml/2006/main">
            <a:off x="8191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crop 명세를 기준으로</a:t>
            </a:r>
          </a:p>
        </p:txBody>
      </p:sp>
      <p:sp>
        <p:nvSpPr>
          <p:cNvPr id="13" name="관련·전체 테스트를 실행해줘.">
            <a:extLst xmlns:a="http://schemas.openxmlformats.org/drawingml/2006/main">
              <a:ext uri="{FF2B5EF4-FFF2-40B4-BE49-F238E27FC236}">
                <a16:creationId xmlns:a16="http://schemas.microsoft.com/office/drawing/2014/main" id="{E23B1B89-C58E-4345-A735-0217E1140803}"/>
              </a:ext>
            </a:extLst>
          </p:cNvPr>
          <p:cNvSpPr>
            <a:spLocks xmlns:a="http://schemas.openxmlformats.org/drawingml/2006/main" noGrp="1"/>
          </p:cNvSpPr>
          <p:nvPr/>
        </p:nvSpPr>
        <p:spPr>
          <a:xfrm xmlns:a="http://schemas.openxmlformats.org/drawingml/2006/main">
            <a:off x="8191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관련·전체 테스트를 실행해줘.</a:t>
            </a:r>
          </a:p>
        </p:txBody>
      </p:sp>
      <p:sp>
        <p:nvSpPr>
          <p:cNvPr id="14" name="CLI 샘플과 최종 diff도 확인하고,">
            <a:extLst xmlns:a="http://schemas.openxmlformats.org/drawingml/2006/main">
              <a:ext uri="{FF2B5EF4-FFF2-40B4-BE49-F238E27FC236}">
                <a16:creationId xmlns:a16="http://schemas.microsoft.com/office/drawing/2014/main" id="{C9EEA342-7016-417A-BB99-D2396F4DAEB0}"/>
              </a:ext>
            </a:extLst>
          </p:cNvPr>
          <p:cNvSpPr>
            <a:spLocks xmlns:a="http://schemas.openxmlformats.org/drawingml/2006/main" noGrp="1"/>
          </p:cNvSpPr>
          <p:nvPr/>
        </p:nvSpPr>
        <p:spPr>
          <a:xfrm xmlns:a="http://schemas.openxmlformats.org/drawingml/2006/main">
            <a:off x="8191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CLI 샘플과 최종 diff도 확인하고,</a:t>
            </a:r>
          </a:p>
        </p:txBody>
      </p:sp>
      <p:sp>
        <p:nvSpPr>
          <p:cNvPr id="15" name="검사·결과·미확인을 보고해줘.">
            <a:extLst xmlns:a="http://schemas.openxmlformats.org/drawingml/2006/main">
              <a:ext uri="{FF2B5EF4-FFF2-40B4-BE49-F238E27FC236}">
                <a16:creationId xmlns:a16="http://schemas.microsoft.com/office/drawing/2014/main" id="{1E491E6E-0717-4779-8ED9-0E726B8634CA}"/>
              </a:ext>
            </a:extLst>
          </p:cNvPr>
          <p:cNvSpPr>
            <a:spLocks xmlns:a="http://schemas.openxmlformats.org/drawingml/2006/main" noGrp="1"/>
          </p:cNvSpPr>
          <p:nvPr/>
        </p:nvSpPr>
        <p:spPr>
          <a:xfrm xmlns:a="http://schemas.openxmlformats.org/drawingml/2006/main">
            <a:off x="8191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검사·결과·미확인을 보고해줘.</a:t>
            </a:r>
          </a:p>
        </p:txBody>
      </p:sp>
      <p:sp>
        <p:nvSpPr>
          <p:cNvPr id="16" name="목표 2 · 실행시간 단축">
            <a:extLst xmlns:a="http://schemas.openxmlformats.org/drawingml/2006/main">
              <a:ext uri="{FF2B5EF4-FFF2-40B4-BE49-F238E27FC236}">
                <a16:creationId xmlns:a16="http://schemas.microsoft.com/office/drawing/2014/main" id="{1C6EFD3B-6AB0-442B-8FEA-1CF8A9EFC9E8}"/>
              </a:ext>
            </a:extLst>
          </p:cNvPr>
          <p:cNvSpPr>
            <a:spLocks xmlns:a="http://schemas.openxmlformats.org/drawingml/2006/main" noGrp="1"/>
          </p:cNvSpPr>
          <p:nvPr/>
        </p:nvSpPr>
        <p:spPr>
          <a:xfrm xmlns:a="http://schemas.openxmlformats.org/drawingml/2006/main">
            <a:off x="62865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2 · 실행시간 단축</a:t>
            </a:r>
          </a:p>
        </p:txBody>
      </p:sp>
      <p:sp>
        <p:nvSpPr>
          <p:cNvPr id="17" name="">
            <a:extLst xmlns:a="http://schemas.openxmlformats.org/drawingml/2006/main">
              <a:ext uri="{FF2B5EF4-FFF2-40B4-BE49-F238E27FC236}">
                <a16:creationId xmlns:a16="http://schemas.microsoft.com/office/drawing/2014/main" id="{E99A9B78-1BEA-4BC2-9590-C943A90855E6}"/>
              </a:ext>
            </a:extLst>
          </p:cNvPr>
          <p:cNvSpPr>
            <a:spLocks xmlns:a="http://schemas.openxmlformats.org/drawingml/2006/main" noGrp="1"/>
          </p:cNvSpPr>
          <p:nvPr/>
        </p:nvSpPr>
        <p:spPr>
          <a:xfrm xmlns:a="http://schemas.openxmlformats.org/drawingml/2006/main">
            <a:off x="62865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검증 요청">
            <a:extLst xmlns:a="http://schemas.openxmlformats.org/drawingml/2006/main">
              <a:ext uri="{FF2B5EF4-FFF2-40B4-BE49-F238E27FC236}">
                <a16:creationId xmlns:a16="http://schemas.microsoft.com/office/drawing/2014/main" id="{54F0C16F-0D98-4841-99FB-0800AC596E01}"/>
              </a:ext>
            </a:extLst>
          </p:cNvPr>
          <p:cNvSpPr>
            <a:spLocks xmlns:a="http://schemas.openxmlformats.org/drawingml/2006/main" noGrp="1"/>
          </p:cNvSpPr>
          <p:nvPr/>
        </p:nvSpPr>
        <p:spPr>
          <a:xfrm xmlns:a="http://schemas.openxmlformats.org/drawingml/2006/main">
            <a:off x="64960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9" name="">
            <a:extLst xmlns:a="http://schemas.openxmlformats.org/drawingml/2006/main">
              <a:ext uri="{FF2B5EF4-FFF2-40B4-BE49-F238E27FC236}">
                <a16:creationId xmlns:a16="http://schemas.microsoft.com/office/drawing/2014/main" id="{191EAA0E-22C5-4152-8B30-80498BDDFABE}"/>
              </a:ext>
            </a:extLst>
          </p:cNvPr>
          <p:cNvSpPr>
            <a:spLocks xmlns:a="http://schemas.openxmlformats.org/drawingml/2006/main" noGrp="1"/>
          </p:cNvSpPr>
          <p:nvPr/>
        </p:nvSpPr>
        <p:spPr>
          <a:xfrm xmlns:a="http://schemas.openxmlformats.org/drawingml/2006/main">
            <a:off x="64960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존 동작은 테스트로 확인해줘.">
            <a:extLst xmlns:a="http://schemas.openxmlformats.org/drawingml/2006/main">
              <a:ext uri="{FF2B5EF4-FFF2-40B4-BE49-F238E27FC236}">
                <a16:creationId xmlns:a16="http://schemas.microsoft.com/office/drawing/2014/main" id="{7AEECCF7-9A2B-40CC-A540-FBE7764F95BB}"/>
              </a:ext>
            </a:extLst>
          </p:cNvPr>
          <p:cNvSpPr>
            <a:spLocks xmlns:a="http://schemas.openxmlformats.org/drawingml/2006/main" noGrp="1"/>
          </p:cNvSpPr>
          <p:nvPr/>
        </p:nvSpPr>
        <p:spPr>
          <a:xfrm xmlns:a="http://schemas.openxmlformats.org/drawingml/2006/main">
            <a:off x="64960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동작은 테스트로 확인해줘.</a:t>
            </a:r>
          </a:p>
        </p:txBody>
      </p:sp>
      <p:sp>
        <p:nvSpPr>
          <p:cNvPr id="21" name="같은 입력·환경에서">
            <a:extLst xmlns:a="http://schemas.openxmlformats.org/drawingml/2006/main">
              <a:ext uri="{FF2B5EF4-FFF2-40B4-BE49-F238E27FC236}">
                <a16:creationId xmlns:a16="http://schemas.microsoft.com/office/drawing/2014/main" id="{69BC512E-AAD8-484C-BC97-ADFE48AA4D4F}"/>
              </a:ext>
            </a:extLst>
          </p:cNvPr>
          <p:cNvSpPr>
            <a:spLocks xmlns:a="http://schemas.openxmlformats.org/drawingml/2006/main" noGrp="1"/>
          </p:cNvSpPr>
          <p:nvPr/>
        </p:nvSpPr>
        <p:spPr>
          <a:xfrm xmlns:a="http://schemas.openxmlformats.org/drawingml/2006/main">
            <a:off x="64960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입력·환경에서</a:t>
            </a:r>
          </a:p>
        </p:txBody>
      </p:sp>
      <p:sp>
        <p:nvSpPr>
          <p:cNvPr id="22" name="변경 전후 시간을 측정해줘.">
            <a:extLst xmlns:a="http://schemas.openxmlformats.org/drawingml/2006/main">
              <a:ext uri="{FF2B5EF4-FFF2-40B4-BE49-F238E27FC236}">
                <a16:creationId xmlns:a16="http://schemas.microsoft.com/office/drawing/2014/main" id="{B316F524-ADF7-4AB3-AFA2-DF63A0231860}"/>
              </a:ext>
            </a:extLst>
          </p:cNvPr>
          <p:cNvSpPr>
            <a:spLocks xmlns:a="http://schemas.openxmlformats.org/drawingml/2006/main" noGrp="1"/>
          </p:cNvSpPr>
          <p:nvPr/>
        </p:nvSpPr>
        <p:spPr>
          <a:xfrm xmlns:a="http://schemas.openxmlformats.org/drawingml/2006/main">
            <a:off x="64960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전후 시간을 측정해줘.</a:t>
            </a:r>
          </a:p>
        </p:txBody>
      </p:sp>
      <p:sp>
        <p:nvSpPr>
          <p:cNvPr id="23" name="측정 조건·결과·미확인을 보고해줘.">
            <a:extLst xmlns:a="http://schemas.openxmlformats.org/drawingml/2006/main">
              <a:ext uri="{FF2B5EF4-FFF2-40B4-BE49-F238E27FC236}">
                <a16:creationId xmlns:a16="http://schemas.microsoft.com/office/drawing/2014/main" id="{01848AB8-479E-43E0-B403-5324537E3076}"/>
              </a:ext>
            </a:extLst>
          </p:cNvPr>
          <p:cNvSpPr>
            <a:spLocks xmlns:a="http://schemas.openxmlformats.org/drawingml/2006/main" noGrp="1"/>
          </p:cNvSpPr>
          <p:nvPr/>
        </p:nvSpPr>
        <p:spPr>
          <a:xfrm xmlns:a="http://schemas.openxmlformats.org/drawingml/2006/main">
            <a:off x="64960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 조건·결과·미확인을 보고해줘.</a:t>
            </a:r>
          </a:p>
        </p:txBody>
      </p:sp>
      <p:sp>
        <p:nvSpPr>
          <p:cNvPr id="24" name="동작 확인과 성능 확인은 필요한 근거가 다르다">
            <a:extLst xmlns:a="http://schemas.openxmlformats.org/drawingml/2006/main">
              <a:ext uri="{FF2B5EF4-FFF2-40B4-BE49-F238E27FC236}">
                <a16:creationId xmlns:a16="http://schemas.microsoft.com/office/drawing/2014/main" id="{EC4D4EFC-6EDA-4D9C-9526-EF2DD63B7B1E}"/>
              </a:ext>
            </a:extLst>
          </p:cNvPr>
          <p:cNvSpPr>
            <a:spLocks xmlns:a="http://schemas.openxmlformats.org/drawingml/2006/main" noGrp="1"/>
          </p:cNvSpPr>
          <p:nvPr/>
        </p:nvSpPr>
        <p:spPr>
          <a:xfrm xmlns:a="http://schemas.openxmlformats.org/drawingml/2006/main">
            <a:off x="609600" y="5229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동작 확인과 성능 확인은 필요한 근거가 다르다</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8">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9">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0">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1">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2">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3">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4">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5">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6">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공통 기준을 어디에 두고 다시 참고할까요?">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공통 기준을 어디에 두고 다시 참고할까요?</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8">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9">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0">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1">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2">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3">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4">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5">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6">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7">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8">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9">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0">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1">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2">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3">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4">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5">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9">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0">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1">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2">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3">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4">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5">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6">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7">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8">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9">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0">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1">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2">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3">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4">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5">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6">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7">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8">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9">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0">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1">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2">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3">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4">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5">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6">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3">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8">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2">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3">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4">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5">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6">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7">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8">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9">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0">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1">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2">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3">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4">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5">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6">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8">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8">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9">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0">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1">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2">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3">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4">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5">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9">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1">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5">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4">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3">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4">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0">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