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fb989287a594216" /><Relationship Type="http://schemas.openxmlformats.org/officeDocument/2006/relationships/extended-properties" Target="/docProps/app.xml" Id="R6733d25f833a4c22" /><Relationship Type="http://schemas.openxmlformats.org/officeDocument/2006/relationships/officeDocument" Target="/ppt/presentation.xml" Id="R075d928db71345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f3eed3237e04616"/>
  </p:sldMasterIdLst>
  <p:notesMasterIdLst>
    <p:notesMasterId xmlns:r="http://schemas.openxmlformats.org/officeDocument/2006/relationships" r:id="Rc3b2fa444d3242f4"/>
  </p:notesMasterIdLst>
  <p:sldIdLst>
    <p:sldId xmlns:r="http://schemas.openxmlformats.org/officeDocument/2006/relationships" id="256" r:id="Rd84fd0cd90674e06"/>
    <p:sldId xmlns:r="http://schemas.openxmlformats.org/officeDocument/2006/relationships" id="257" r:id="R252aa8b4184d4519"/>
    <p:sldId xmlns:r="http://schemas.openxmlformats.org/officeDocument/2006/relationships" id="258" r:id="R94f04604618d40be"/>
    <p:sldId xmlns:r="http://schemas.openxmlformats.org/officeDocument/2006/relationships" id="259" r:id="R2fb35ff2835349a0"/>
    <p:sldId xmlns:r="http://schemas.openxmlformats.org/officeDocument/2006/relationships" id="260" r:id="Rae8708408f6c4e7b"/>
    <p:sldId xmlns:r="http://schemas.openxmlformats.org/officeDocument/2006/relationships" id="261" r:id="R4b99ca486b5545cb"/>
    <p:sldId xmlns:r="http://schemas.openxmlformats.org/officeDocument/2006/relationships" id="262" r:id="R4458f7043b8a41bf"/>
    <p:sldId xmlns:r="http://schemas.openxmlformats.org/officeDocument/2006/relationships" id="263" r:id="Rfe2089ea759f4c9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5132c9437604e6b" /><Relationship Type="http://schemas.openxmlformats.org/officeDocument/2006/relationships/slideMaster" Target="/ppt/slideMasters/slideMaster1.xml" Id="R2f3eed3237e04616" /><Relationship Type="http://schemas.openxmlformats.org/officeDocument/2006/relationships/notesMaster" Target="/ppt/notesMasters/notesMaster1.xml" Id="Rc3b2fa444d3242f4" /><Relationship Type="http://schemas.openxmlformats.org/officeDocument/2006/relationships/presProps" Target="/ppt/presProps.xml" Id="R7fd095ac3fcf428e" /><Relationship Type="http://schemas.openxmlformats.org/officeDocument/2006/relationships/tableStyles" Target="/ppt/tableStyles.xml" Id="Ra2df2151a72f4e51" /><Relationship Type="http://schemas.openxmlformats.org/officeDocument/2006/relationships/slide" Target="/ppt/slides/slide1.xml" Id="Rd84fd0cd90674e06" /><Relationship Type="http://schemas.openxmlformats.org/officeDocument/2006/relationships/slide" Target="/ppt/slides/slide2.xml" Id="R252aa8b4184d4519" /><Relationship Type="http://schemas.openxmlformats.org/officeDocument/2006/relationships/slide" Target="/ppt/slides/slide3.xml" Id="R94f04604618d40be" /><Relationship Type="http://schemas.openxmlformats.org/officeDocument/2006/relationships/slide" Target="/ppt/slides/slide4.xml" Id="R2fb35ff2835349a0" /><Relationship Type="http://schemas.openxmlformats.org/officeDocument/2006/relationships/slide" Target="/ppt/slides/slide5.xml" Id="Rae8708408f6c4e7b" /><Relationship Type="http://schemas.openxmlformats.org/officeDocument/2006/relationships/slide" Target="/ppt/slides/slide6.xml" Id="R4b99ca486b5545cb" /><Relationship Type="http://schemas.openxmlformats.org/officeDocument/2006/relationships/slide" Target="/ppt/slides/slide7.xml" Id="R4458f7043b8a41bf" /><Relationship Type="http://schemas.openxmlformats.org/officeDocument/2006/relationships/slide" Target="/ppt/slides/slide8.xml" Id="Rfe2089ea759f4c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565f444b74641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b492eb2f7e4658" /><Relationship Type="http://schemas.openxmlformats.org/officeDocument/2006/relationships/notesMaster" Target="/ppt/notesMasters/notesMaster1.xml" Id="R6df63eba5f4f421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de9d6abfca40a7" /><Relationship Type="http://schemas.openxmlformats.org/officeDocument/2006/relationships/notesMaster" Target="/ppt/notesMasters/notesMaster1.xml" Id="Rff27f1b4ed3449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9ccd9c80af9497e" /><Relationship Type="http://schemas.openxmlformats.org/officeDocument/2006/relationships/notesMaster" Target="/ppt/notesMasters/notesMaster1.xml" Id="R8ae5a2caf61d47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35442b14124305" /><Relationship Type="http://schemas.openxmlformats.org/officeDocument/2006/relationships/notesMaster" Target="/ppt/notesMasters/notesMaster1.xml" Id="R3bef4b9b36c347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c24d79ac6a4f4b" /><Relationship Type="http://schemas.openxmlformats.org/officeDocument/2006/relationships/notesMaster" Target="/ppt/notesMasters/notesMaster1.xml" Id="R4baccaed89fe45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d3154795b34c95" /><Relationship Type="http://schemas.openxmlformats.org/officeDocument/2006/relationships/notesMaster" Target="/ppt/notesMasters/notesMaster1.xml" Id="Ra315226cfd9b46b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71003a21efb46c3" /><Relationship Type="http://schemas.openxmlformats.org/officeDocument/2006/relationships/notesMaster" Target="/ppt/notesMasters/notesMaster1.xml" Id="R19bc5a7e2bd749c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93b9fe737f94941" /><Relationship Type="http://schemas.openxmlformats.org/officeDocument/2006/relationships/notesMaster" Target="/ppt/notesMasters/notesMaster1.xml" Id="Rc0c07dfc284744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S86 — 전체 Story를 한 장으로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전체 Story를 한 장으로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FULL STORY RECAP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Chatbot은 답을 구하고, Prompt는 Task를 구체화하며, Context는 필요한 Project 지식을 제공하고, Harness는 작업 환경을 설계하며, Loop는 Feedback으로 System을 개선한다.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“나는 지금 AI를 어떤 방식으로 사용하고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처음의 질문으로 돌아가 다섯 방식을 한눈에 보여준다.</a:t>
            </a:r>
          </a:p>
          <a:p xmlns:a="http://schemas.openxmlformats.org/drawingml/2006/main">
            <a:r>
              <a:t>2. (0:30–2:45 / Lecture) 각 행의 행동만 회수한다: 답을 구하기, 이번 작업 구체화, 프로젝트 지식 제공, 일하는 환경 설계, 피드백으로 시스템 수정. 새 용어를 덧붙이지 않는다.</a:t>
            </a:r>
          </a:p>
          <a:p xmlns:a="http://schemas.openxmlformats.org/drawingml/2006/main">
            <a:r>
              <a:t>3. (2:45–4:00 / Lecture) 앞의 방식이 사라지지 않고 문제에 맞는 대응이 더해졌다고 정리한다. S87 실제 Repository 이력→S88 선택 기준→S89 책임을 거쳐 S90에서 AI-Native 운영 모델을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다섯 방식이 어떤 문제에 대응했는지 여정을 회수한다. 실제 State 이름이나 책임 목록을 여기서 모두 설명하지 않고 S87와 S89에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BEAT-060 · 앞선 ACT의 Story callback. 새 Demo는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교육의 문제-driven 진화 모델이다. 각 단계는 앞 단계를 대체하거나 모든 개발자가 같은 maturity 순서로 이동해야 한다는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현재 사용 방식에서 다음으로 필요한 작은 engineering 대응 하나를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어떤 문제가 다음 단계의 접근을 필요하게 했는지 시스템 관점으로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기존 Vision 사례를 선택적으로 회상할 수 있다. 새 C++ 기술 사례는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다섯 개 행동 행을 차례로 가리킨다. 새로운 실행이나 상태를 추가하지 않는다. S90의 정의를 바로 다음 장에서 설명한다고 예고하지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Opening question을 띄우고 개인적으로 떠올리게 한다. 답변이나 현재 수준 발표를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“전체 교육 모델 가운데, 하나의 Repository에서 실제로 확인한 변화만 다시 보겠습니다.” S87로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총 4분, Lecture 4분. 각 단계 설명을 한 문장에 제한하고 앞선 ACT 내용을 다시 강의하지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S86와 production/preview/act5/S86.png를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S87 — 하나의 Repository가 문제에 대응해 진화했다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S87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하나의 Repository가 문제에 대응해 진화했다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5 / 5A  PRIMARY DEMO EVOLUTION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1분 +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각 State는 해당 문제에 대응해 기록된 Engineering history다. State 순서는 기능 성숙도 등급이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Repository는 어떤 문제를 만나며 바뀌었나?”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전체 교육 모델 가운데 실제 Product 이력만 회수하는 장임을 안내한다. 일곱 이름을 번호·화살표 순서로 읽고, 상단 왼쪽에서 오른쪽으로, 다음 하단 오른쪽에서 왼쪽으로 이동한다. State는 당시 문제에 대응한 이력임을 말한다.</a:t>
            </a:r>
          </a:p>
          <a:p xmlns:a="http://schemas.openxmlformats.org/drawingml/2006/main">
            <a:r>
              <a:t>2. (1:00–2:30 / VISUAL Demo) 아래 세 발췌(S18 crop 수정, S43 상세 문서 분리, S58 같은 조건의 성능 비교)를 가리키며 위의 일곱 State 변화와 연결한다. 작은 그림은 기억을 회수하는 용도이며 코드·경로·수치를 다시 읽는 시간이 아니다.</a:t>
            </a:r>
          </a:p>
          <a:p xmlns:a="http://schemas.openxmlformats.org/drawingml/2006/main">
            <a:r>
              <a:t>3. (2:30–3:00 / VISUAL Demo) STATE-04-PERF의 bounded endpoint에서 닫는다. Benchmark 준비 commit은 추가 State가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State rail의 번호 01–07과 화살표를 따라간다. 상단은 왼쪽→오른쪽, 아래로 내려간 뒤 하단은 오른쪽→왼쪽으로 읽는다. 하단 발췌는 rail과 구분된 회상 자료이며 작은 코드·수치를 다시 읽거나 바로 위 State와 열 기준으로 대응시키지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OBSERVED_PRODUCT · `ai-dev-training-demo`의 named Git State/tag 기록과 DEMO-12. State 순서는 STATE-00 → STATE-00-FIXED → STATE-01 → STATE-02 → STATE-03 → STATE-04 → STATE-04-PERF다. 발췌 원본: assets/slide-illustrations/recap/S16-source.png, S32-source.png, S47-source.png. 파일명은 최초80장판 캡처 시점의 번호이며 현재 대응은 S18/S43/S58다. 실제 Trial 원본 화면이 아닌 당시 production PNG 발췌다. S18은 TRIAL-002 diff 재구성, S43는 STATE-02→03 문구 발췌, S58는 STATE-04→04-PERF 단일 코드·입력·환경 비교다. SHA-256과 native crop 범위: assets/slide-illustrations/ASSET_MANIFEST.json.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기록된 State와 Demo evidence 범위에 한정한다. Benchmark preparation commits는 supporting history이며 별도 State가 아니다. Subagent, Memory, stale Harness 또는 Loop를 Product State로 표시하지 않는다. 세 그림은 기존 발표자료 발췌이며 원본 실행 캡처가 아니다. S43로 Routing 우월성·토큰 절감을 주장하지 않고, S58는 tracemalloc 피크와 이 환경의 코드 변경 결과로 한정하며 RSS·Harness 단독 인과성으로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변화가 기능 수를 늘리기 위한 것이 아니라 당시 확인된 문제에 대응했다는 점을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Product State와 Conceptual 또는 Observed Meta 사례를 구분하고 bounded Product endpoint를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DEMO-12 · VISUAL, 2분. 실제 Product State/tag를 요약한 static timeline이다. 새 Trial·repository 실행·추가 state는 없다. Benchmark preparation은 별도 State로 그리지 않는다. 세 발췌와 seven-State rail을 함께 사용하되 개별 Trial을 새로 실행하거나 재설명하지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질문에 맞춰 각 State 아래 한 문구를 함께 훑는다. 평가 점수나 성숙도 단계로 읽지 않게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“그러면 이 작업에서 Subagent와 Memory는 왜 없었을까요?” S88로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 1분 + VISUAL Demo 2분 = 3분. 세부 Trial을 재설명하지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production/ACT_5.pptx의 S87와 production/preview/act5/S87.png를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S88 — 필요성이 입증되지 않은 것은 보류했다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필요성이 입증되지 않은 것은 보류했다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MINIMUM EFFECTIVE HARNESS CALLBACK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bounded task에서는 Subagent와 Memory를 추가할 충분한 근거가 없었다. “Use what the problem justifies.”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“왜 현재 Demo의 최종 그림에 Subagent와 Memory가 없을까?”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이번 작업에서 쓴 왼쪽 요소와 보류한 오른쪽 요소를 비교한다.</a:t>
            </a:r>
          </a:p>
          <a:p xmlns:a="http://schemas.openxmlformats.org/drawingml/2006/main">
            <a:r>
              <a:t>2. (0:30–1:20 / Lecture) STATE-04-PERF와 DEC-0018의 bounded 범위에서 Subagent·Memory 추가의 이득이 충분히 정당화되지 않았다고 설명한다.</a:t>
            </a:r>
          </a:p>
          <a:p xmlns:a="http://schemas.openxmlformats.org/drawingml/2006/main">
            <a:r>
              <a:t>3. (1:20–2:00 / Lecture) “현재 문제가 필요로 하는 만큼 설계한다”는 기준을 남긴다. 기능 수가 많거나 적다는 이유만으로 성숙도를 판단하지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이번 Demo에서 채택한 구성과 필요성을 입증하지 못한 구성을 대비한다. 여정 요약보다 무엇을 보류할지 판단한 기준에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OBSERVED_PRODUCT / TEACHING_MODEL · STATE-04-PERF와 DEC-0018. 사용한 요소: task Prompt, Project Context/routing, reusable Skill/workflow, Tests와 benchmark. 이번 bounded task에서 Subagent와 Memory는 사용되지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Demo의 bounded 작업과 이 교육의 프로젝트별 heuristic이다. 모든 Project에 Subagent/Memory가 불필요하거나 적게 쓰는 것이 항상 낫다는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처음부터 모든 기능을 넣지 않고 지금 반복되는 마찰과 필요한 지원부터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구성요소별 비용과 이득을 실제 task, context, verification 요구에 맞춰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자신의 Repository에서도 같은 정당화 질문을 적용할 수 있다. 새 C++ 절차는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왼쪽은 STATE-04-PERF의 system components, 오른쪽은 이번 사례에서 정당화되지 않은 Subagent/Memory다. 상태와 일반 규칙을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차이를 보고 “Use what the problem justifies”라는 기준을 가져간다. 도구 선택 답변이나 투표는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“필요한 구성요소를 선택한 뒤에도, 그 결과가 충분한지 판단하는 책임은 남습니다. 무엇을 확인하고 완료를 수용해야 할까요?” S89으로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2분. 구성요소를 다시 강의하지 않고 판단 근거와 범위에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S88와 production/preview/act5/S88.png를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S89 — 위임이 늘어도 개발자 책임은 남는다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위임이 늘어도 개발자 책임은 남는다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DEVELOPER RESPONSIBILITY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Agent는 조사·생성·변경·실행·비교를 도울 수 있다. 개발자는 목표, 제약, 판단, Verification, 완료 여부와 결과 책임을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“AI가 더 많은 일을 맡아도 개발자가 계속 책임지는 것은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(0:00–0:40 / Lecture) S88의 구성요소 선택에서 결과를 수용하는 판단으로 이어 간다. AI가 도울 수 있는 행동은 상단 한 문장으로만 읽는다.</a:t>
            </a:r>
          </a:p>
          <a:p xmlns:a="http://schemas.openxmlformats.org/drawingml/2006/main">
            <a:r>
              <a:t>2. (0:40–2:20 / Lecture) 네 질문을 차례로 짚는다: 해결할 목표, 적절한 선택, 확인 근거, 완료 수용 여부.</a:t>
            </a:r>
          </a:p>
          <a:p xmlns:a="http://schemas.openxmlformats.org/drawingml/2006/main">
            <a:r>
              <a:t>3. (2:20–3:00 / Lecture) 역할의 절대적 분업이 아니라 개발자의 판단과 책임을 강조하고 S90의 운영 모델로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AI가 도울 수 있는 행동은 짧게 읽고 개발자에게 남는 목표·판단·검증·책임의 질문을 차례로 확인한다. 이전 장의 도구 채택 목록을 반복하지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BEAT-061–062. 새 Product feature나 책임 handoff evidence는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교육에서 고정한 책임 원칙이다. Agent와 개발자의 역할을 절대적인 분업 규칙으로 제시하지 않는다. AI fear/control framing을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AI가 결과를 만들 수 있어도 무엇이 맞고 완료인지 판단하는 일은 남는다.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위임 범위, 제약, 검증 기준과 최종 수용 기준을 함께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실행 없음. 정적 role/responsibility diagram.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네 가지 책임 축을 읽고 자신의 완료 기준을 떠올리게 한다. 응답 요구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 역할 변화를 이 교육에서는 어떤 모델로 부를까요?” S90로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3분. 다섯 Agent 행동을 상세 제품 기능처럼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S89와 production/preview/act5/S89.png를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S90 — AI-Native Development는 이 교육의 운영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AI-Native Development는 이 교육의 운영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AI-NATIVE DEVELOPMENT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교육은 Task Boundary, Project Context, Reusable Workflow, Verification, Feedback Loop를 의도적으로 설계·운영하는 방식을 AI-Native Development의 operational model로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“AI에게 일을 많이 맡기면 AI-Native일까?”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이 과정이 AI가 일할 조건과 결과 확인 경로를 설계하는 방식에 AI-Native Development라는 운영 모델 이름을 붙였음을 밝힌다.</a:t>
            </a:r>
          </a:p>
          <a:p xmlns:a="http://schemas.openxmlformats.org/drawingml/2006/main">
            <a:r>
              <a:t>2. (0:30–2:20 / Lecture) 작업 경계, 프로젝트 지식·절차, 검증·피드백 세 행에서 각각 Task Boundary, Project Context/Reusable Workflow, Verification/Feedback Loop가 맡는 질문을 연결한다.</a:t>
            </a:r>
          </a:p>
          <a:p xmlns:a="http://schemas.openxmlformats.org/drawingml/2006/main">
            <a:r>
              <a:t>3. (2:20–3:00 / Lecture) 모든 Task에 모든 요소를 의무적으로 넣으라는 보편 정의가 아님을 한정하고 자신의 반복 마찰을 찾는 S91로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다섯 구성요소를 이 교육의 설계 질문으로 묶는다. 작업 경계→지식과 절차→검증과 피드백을 설명하되 공식·보편 정의나 의무적인 maturity 순서로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DEC-0023의 course-specific operational framing.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공식·보편 업계 표준 정의라고 말하지 않는다. 모든 task 또는 Demo에 다섯 구성요소를 의무적으로 도입하라는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 사용량을 늘리는 것만으로 끝내지 않고 반복되는 작은 마찰을 하나 개선한다.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Model capability와 작업 System/Harness 설계를 구분해 다음 병목을 진단한다.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다음 S91에서 C++ Vision 업무와 자신의 Repository로 transfer한다.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실행 없음. 다섯 구성요소는 비교 가능한 system components로 보이며 maturity 순서가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Opening question을 남긴 뒤 course model의 범위를 확인한다. 공식 용어 정의나 정답 발표를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“내 Repository에서는 어떤 Layer에서 마찰이 반복될까요?” S91로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3분. AI 사용량과 설계된 work system의 차이만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S90와 production/preview/act5/S90.png를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S91 — 어느 Layer에서 마찰이 반복되는가?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어느 Layer에서 마찰이 반복되는가?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C++ VISION / MY REPOSITORY TRANSFER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1분 + Transition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Task, Context, Workflow, Verification, Repeated Failure Loop 중 현재 가장 큰 마찰과 가까운 한 곳을 선택한다. 정해진 maturity sequence가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“내 Repository에서 다음 주에 하나만 바꾼다면?”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C++ Vision의 병목 범위, 빌드 조건·계약·하드웨어 가정, 분석·측정 절차를 업무에 비춰 보는 교육용 예시라고 밝힌다. 실제 프로젝트 사건이 아니다.</a:t>
            </a:r>
          </a:p>
          <a:p xmlns:a="http://schemas.openxmlformats.org/drawingml/2006/main">
            <a:r>
              <a:t>2. (1:00–3:00 / Transition) 다섯 행의 증상 질문을 읽으며 현재 자기 업무와 가까운 것이 있는지 마음속으로 떠올리게 한다. 같은 수준의 선택지이며 반드시 위에서부터 도입하는 순서가 아니다.</a:t>
            </a:r>
          </a:p>
          <a:p xmlns:a="http://schemas.openxmlformats.org/drawingml/2006/main">
            <a:r>
              <a:t>3. (3:00–5:00 / Transition) 떠올린 마찰 한 곳을 다음 작업의 작은 행동 하나로 좁히겠다고 안내하고 S92의 세 질문으로 연결한다. Task/Context/Workflow/Verification/Feedback의 새 개념 설명은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자기 업무의 반복 마찰 한 곳을 고르는 적용 질문에 집중한다. 모든 Layer를 도입하라는 체크리스트로 읽지 않고 현재 문제와 가장 가까운 한 곳만 고르게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C++ Vision engineering-pattern transfer. 실제 C++ Project, hardware, toolchain 또는 benchmark 결과는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다섯 선택지는 같은 높이의 적용 후보이며 순서가 있는 maturity ladder가 아니다. 특정 C++ Project 규칙·도구·hardware 또는 검증된 procedure를 보장하지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전체 Harness를 새로 만들기 전에 반복해서 설명하거나 확인하는 부분 하나를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반복 비용, 위험과 verification surface를 보고 투자 지점을 고른다.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Primary bridge. 예시: 성능 병목 조사 Task; build mode/algorithm contract/hardware assumptions Context; profile → change → benchmark → regression Workflow; tests + benchmark Verification; 반복 이슈가 다시 생기면 관련 System 수정. 실제 project procedure가 아닌 pattern transfer.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새 Demo가 없다. 왼쪽 Layer 이름보다 오른쪽 반복되는 마찰을 먼저 읽고, 선택지들은 같은 높이의 적용 후보임을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선택지를 강사 주도로 비교한다. 청중에게 선택 발표, 투표, 실습, 제출을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“방금 떠올린 한 곳에서, 다음 작업 때 다르게 해 볼 작은 행동 하나를 마음속으로 골라 봅시다.” S92로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1분 + Transition 4분 = 5분. Transition 동안 새 사례를 열지 않고 reflection handoff만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S91와 production/preview/act5/S91.png를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S92 — 다음 작은 행동을 개인적으로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다음 작은 행동을 개인적으로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FINAL REFLECTION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Reflection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반복해서 적는 설명, AI가 다시 찾는 Project 사실, 반복되는 실패에서 고칠 System layer 가운데 한 가지를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“방금 떠올린 마찰에서, 다음 작업 때 다르게 해 볼 작은 행동 하나는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S91에서 떠올린 반복 마찰 한 곳을 이어 받아, 다음 작업에서 다르게 해 볼 작은 행동 하나를 고르는 시간이라고 안내한다.</a:t>
            </a:r>
          </a:p>
          <a:p xmlns:a="http://schemas.openxmlformats.org/drawingml/2006/main">
            <a:r>
              <a:t>2. (1:00–2:00 / Lecture) 화면의 반복 설명 하나를 줄이는 방법, 다시 찾는 프로젝트 사실 하나를 둘 곳, 같은 실패 때 먼저 확인할 Layer의 세 질문을 읽는다. 자신과 가까운 질문 하나를 바탕으로 다음 행동을 떠올리게 한다.</a:t>
            </a:r>
          </a:p>
          <a:p xmlns:a="http://schemas.openxmlformats.org/drawingml/2006/main">
            <a:r>
              <a:t>3. (2:00–4:00 / Reflection) 두 분 동안 다음 행동 하나를 조용히 개인적으로 고를 시간을 둔다. 답변·기록·발표·제출을 요구하지 않는다. 시간 뒤 S93 질문 시간으로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이번 장은 개인적인 선택을 위한 침묵을 허용한다. 앞의 여정·State·모델을 다시 강의하지 않고 작은 다음 행동 하나를 생각하게 한다. 답변·공유·공개 약속은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승인된 private reflection prompt. 개인 업무에 대한 새 관찰 근거는 수집하지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개인 Reflection이며 응답, 공유, written commitment 또는 실제 업무 변경을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반복되는 설명이나 Project 사실을 AI가 다시 찾는 지점부터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같은 실패가 반복될 때 Prompt 밖의 어떤 System layer가 원인인지 떠올린다.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자신의 Vision 또는 개발 Repository에 같은 질문을 개인적으로 적용할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Demo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떠올린 마찰에 맞는 다음 행동 하나를 마음속으로 고르는 개인 성찰로 진행한다. 공유나 실천 약속을 요구하지 않고 응답을 받기 위해 기다리지 않는다. 2분 뒤 바로 S93으로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“이제 질문을 받고, 마지막 공통 모델로 마무리하겠습니다.” S93으로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Reflection 2분 = 4분. Reflection은 2분에 종료하고 Q&amp;A와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S92와 production/preview/act5/S92.png를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S93 — Q&amp;A와 교육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Q&amp;A와 교육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FINAL Q&amp;A / CLOSING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Q&amp;A 4분 + Closing Transition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Goal, Judgment, Verification, Responsibility를 유지하면서 AI가 일할 환경과 Feedback을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“남은 질문은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(0:00–4:00 / Q&amp;A) 상단의 “내 업무에서 무엇부터 바꿀까요?”를 가리키고 질문을 받는다. 질문이 없으면 “반복 설명을 줄이려면 Task와 Project Context 중 무엇을 살필까요?” 또는 “결과 확인 기준을 먼저 정한다면 어떤 업무부터 볼까요?”를 사용해 앞의 교육 모델 안에서 짧게 정리한다.</a:t>
            </a:r>
          </a:p>
          <a:p xmlns:a="http://schemas.openxmlformats.org/drawingml/2006/main">
            <a:r>
              <a:t>2. (4:00–6:00 / Closing Transition) 질문을 마감하고 중앙의 “AI가 잘 일할 환경을 설계한다”로 마무리한다. 하단 Question→Task→Context→System→Feedback Loop를 짧게 회수한다.</a:t>
            </a:r>
          </a:p>
          <a:p xmlns:a="http://schemas.openxmlformats.org/drawingml/2006/main">
            <a:r>
              <a:t>3. 종료 cue: “목표·판단·검증·책임을 유지하면서, AI가 잘 일할 환경을 설계합시다.”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BEAT-070–071. 새로운 Product claim이나 기술 개념은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AI-Native Development의 course-specific framing으로 닫는다. 제품 기능, 자동화 수준 또는 모든 상황의 단일 처방을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 사용량 대신 내 일에 필요한 환경과 확인 기준을 기억한다.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Goal, Judgment, Verification, Responsibility를 유지하며 System의 Feedback 경로를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Q&amp;A 운영 지시와 시간표는 Notes에만 두고 화면에는 질문과 마지막 한 문장을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Q&amp;A 4분. 질문이 없으면 FAQ 또는 개발 업무 적용 질문 하나를 사용하며 새로운 강의 topic을 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2분 closing transition: Question → Task → Context → System → Feedback Loop를 회수하고 교육을 마친다.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Q&amp;A 4분 + Closing Transition 2분 = 6분. Q&amp;A는 4분에 마감하고 추가 질문을 이유로 시간을 늘리지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S93와 production/preview/act5/S93.png를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c407e12d6f411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5510400bf04ef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45849ff7f0460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0e2923ed3748a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64af274c1f499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d125ef08ae443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3E14815-E28E-4553-A2D7-82F055FC3F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2D164D3-3FE1-44BA-BE05-1F11046C37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35886E5-8ED4-4186-A5CF-831B207023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E546242-DBFA-486D-830F-610045531A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DDDA005-BB55-4B81-A346-1D72B6E15F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15B3C42-ED77-40C3-B19C-3FE7E5B593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21FC662-27C7-44C7-9368-DD9CF4C18F5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DAD0DB2-3900-4075-8B66-86BB52DBD29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7C04CFF-F858-4844-990B-026CDCBD7A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6A2C2D2-E378-4B12-BD6F-133582EE96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ff348784acf4547" /><Relationship Type="http://schemas.openxmlformats.org/officeDocument/2006/relationships/slideLayout" Target="/ppt/slideLayouts/slideLayout1.xml" Id="Rc5909f4139f04645" /><Relationship Type="http://schemas.openxmlformats.org/officeDocument/2006/relationships/slideLayout" Target="/ppt/slideLayouts/slideLayout2.xml" Id="R01a4dbfcccc64537" /><Relationship Type="http://schemas.openxmlformats.org/officeDocument/2006/relationships/slideLayout" Target="/ppt/slideLayouts/slideLayout3.xml" Id="Rc537e5971cd54824" /><Relationship Type="http://schemas.openxmlformats.org/officeDocument/2006/relationships/slideLayout" Target="/ppt/slideLayouts/slideLayout4.xml" Id="R4c399ed5cb4d4663" /><Relationship Type="http://schemas.openxmlformats.org/officeDocument/2006/relationships/slideLayout" Target="/ppt/slideLayouts/slideLayout5.xml" Id="R5d4fb76cd84543de" /><Relationship Type="http://schemas.openxmlformats.org/officeDocument/2006/relationships/slideLayout" Target="/ppt/slideLayouts/slideLayout6.xml" Id="R70988268d588410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5909f4139f04645"/>
    <p:sldLayoutId xmlns:r="http://schemas.openxmlformats.org/officeDocument/2006/relationships" id="2147483650" r:id="R01a4dbfcccc64537"/>
    <p:sldLayoutId xmlns:r="http://schemas.openxmlformats.org/officeDocument/2006/relationships" id="2147483651" r:id="Rc537e5971cd54824"/>
    <p:sldLayoutId xmlns:r="http://schemas.openxmlformats.org/officeDocument/2006/relationships" id="2147483652" r:id="R4c399ed5cb4d4663"/>
    <p:sldLayoutId xmlns:r="http://schemas.openxmlformats.org/officeDocument/2006/relationships" id="2147483653" r:id="R5d4fb76cd84543de"/>
    <p:sldLayoutId xmlns:r="http://schemas.openxmlformats.org/officeDocument/2006/relationships" id="2147483654" r:id="R70988268d588410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5e416353c84ab3" /><Relationship Type="http://schemas.openxmlformats.org/officeDocument/2006/relationships/notesSlide" Target="/ppt/notesSlides/notesSlide1.xml" Id="R53ef53a090dd418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f4771318cf412d" /><Relationship Type="http://schemas.openxmlformats.org/officeDocument/2006/relationships/image" Target="/ppt/media/image.png" Id="Re573e92d81af404c" /><Relationship Type="http://schemas.openxmlformats.org/officeDocument/2006/relationships/image" Target="/ppt/media/image2.png" Id="R762ccea8e8b147f7" /><Relationship Type="http://schemas.openxmlformats.org/officeDocument/2006/relationships/image" Target="/ppt/media/image3.png" Id="R0b005031891046e9" /><Relationship Type="http://schemas.openxmlformats.org/officeDocument/2006/relationships/notesSlide" Target="/ppt/notesSlides/notesSlide2.xml" Id="R87a3ef1e24584a6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424b5a29c142fa" /><Relationship Type="http://schemas.openxmlformats.org/officeDocument/2006/relationships/notesSlide" Target="/ppt/notesSlides/notesSlide3.xml" Id="R41f318b86fa8494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ff05336af7489b" /><Relationship Type="http://schemas.openxmlformats.org/officeDocument/2006/relationships/notesSlide" Target="/ppt/notesSlides/notesSlide4.xml" Id="R9c62912abd3748f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e4283164474a36" /><Relationship Type="http://schemas.openxmlformats.org/officeDocument/2006/relationships/notesSlide" Target="/ppt/notesSlides/notesSlide5.xml" Id="Rd51d2deefba04fc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9b41d5721b419c" /><Relationship Type="http://schemas.openxmlformats.org/officeDocument/2006/relationships/notesSlide" Target="/ppt/notesSlides/notesSlide6.xml" Id="R9536354e15024a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f117036afd4c6e" /><Relationship Type="http://schemas.openxmlformats.org/officeDocument/2006/relationships/notesSlide" Target="/ppt/notesSlides/notesSlide7.xml" Id="R7e90020fba304e7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9565c16be84f6b" /><Relationship Type="http://schemas.openxmlformats.org/officeDocument/2006/relationships/notesSlide" Target="/ppt/notesSlides/notesSlide8.xml" Id="R789500e9cb8d498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ACT 5 · 전체 여정 회수">
            <a:extLst xmlns:a="http://schemas.openxmlformats.org/drawingml/2006/main">
              <a:ext uri="{FF2B5EF4-FFF2-40B4-BE49-F238E27FC236}">
                <a16:creationId xmlns:a16="http://schemas.microsoft.com/office/drawing/2014/main" id="{504492BB-EB27-4CCA-BC33-E4686F94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전체 여정 회수</a:t>
            </a:r>
          </a:p>
        </p:txBody>
      </p:sp>
      <p:sp>
        <p:nvSpPr>
          <p:cNvPr id="2" name="S86">
            <a:extLst xmlns:a="http://schemas.openxmlformats.org/drawingml/2006/main">
              <a:ext uri="{FF2B5EF4-FFF2-40B4-BE49-F238E27FC236}">
                <a16:creationId xmlns:a16="http://schemas.microsoft.com/office/drawing/2014/main" id="{72D4BC1A-918A-4C2E-A026-C6C74751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S86</a:t>
            </a:r>
          </a:p>
        </p:txBody>
      </p:sp>
      <p:sp>
        <p:nvSpPr>
          <p:cNvPr id="3" name="전체 Story를 한 장으로">
            <a:extLst xmlns:a="http://schemas.openxmlformats.org/drawingml/2006/main">
              <a:ext uri="{FF2B5EF4-FFF2-40B4-BE49-F238E27FC236}">
                <a16:creationId xmlns:a16="http://schemas.microsoft.com/office/drawing/2014/main" id="{4F40E9FA-AE12-47DE-AC2E-755071E3D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전체 Story를 한 장으로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B8FAE6-0B52-4BC9-9A44-DE77B9B8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0 · 이 교육의 문제 중심 진화 모델">
            <a:extLst xmlns:a="http://schemas.openxmlformats.org/drawingml/2006/main">
              <a:ext uri="{FF2B5EF4-FFF2-40B4-BE49-F238E27FC236}">
                <a16:creationId xmlns:a16="http://schemas.microsoft.com/office/drawing/2014/main" id="{39907017-478C-4F85-8C66-F0A1B8A4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BEAT-060 · 이 교육의 문제 중심 진화 모델</a:t>
            </a:r>
          </a:p>
        </p:txBody>
      </p:sp>
      <p:sp>
        <p:nvSpPr>
          <p:cNvPr id="6" name="앞의 방식을 버리거나, 모든 프로젝트가 같은 순서로 발전해야 한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3E9CDA57-823E-4C6A-82CC-68675F1CC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방식을 버리거나, 모든 프로젝트가 같은 순서로 발전해야 한다는 뜻은 아니다.</a:t>
            </a:r>
          </a:p>
        </p:txBody>
      </p:sp>
      <p:sp>
        <p:nvSpPr>
          <p:cNvPr id="7" name="문제가 넓어질수록, 필요한 대응이 더해졌다.">
            <a:extLst xmlns:a="http://schemas.openxmlformats.org/drawingml/2006/main">
              <a:ext uri="{FF2B5EF4-FFF2-40B4-BE49-F238E27FC236}">
                <a16:creationId xmlns:a16="http://schemas.microsoft.com/office/drawing/2014/main" id="{DFF61F7B-B662-4DD4-A462-B37266793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문제가 넓어질수록, 필요한 대응이 더해졌다.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B7654A38-E389-455E-99B3-0B1D0585E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D59EC9-3397-41B9-8936-A3823528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Chatbot">
            <a:extLst xmlns:a="http://schemas.openxmlformats.org/drawingml/2006/main">
              <a:ext uri="{FF2B5EF4-FFF2-40B4-BE49-F238E27FC236}">
                <a16:creationId xmlns:a16="http://schemas.microsoft.com/office/drawing/2014/main" id="{B386AEA8-EA65-4448-93DF-95034F6C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Chatbot</a:t>
            </a:r>
          </a:p>
        </p:txBody>
      </p:sp>
      <p:sp>
        <p:nvSpPr>
          <p:cNvPr id="11" name="답을 구한다">
            <a:extLst xmlns:a="http://schemas.openxmlformats.org/drawingml/2006/main">
              <a:ext uri="{FF2B5EF4-FFF2-40B4-BE49-F238E27FC236}">
                <a16:creationId xmlns:a16="http://schemas.microsoft.com/office/drawing/2014/main" id="{818F43AD-17F6-41AD-B84F-57DC70153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구한다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67AB32-75BA-4577-9F58-13C26E1B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3" name="02">
            <a:extLst xmlns:a="http://schemas.openxmlformats.org/drawingml/2006/main">
              <a:ext uri="{FF2B5EF4-FFF2-40B4-BE49-F238E27FC236}">
                <a16:creationId xmlns:a16="http://schemas.microsoft.com/office/drawing/2014/main" id="{EEAB0D7E-BE9D-4382-8DAD-0A013F2A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410B15-DD4D-42E0-B602-BBC1E13D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Prompt">
            <a:extLst xmlns:a="http://schemas.openxmlformats.org/drawingml/2006/main">
              <a:ext uri="{FF2B5EF4-FFF2-40B4-BE49-F238E27FC236}">
                <a16:creationId xmlns:a16="http://schemas.microsoft.com/office/drawing/2014/main" id="{D540793C-7266-4796-B0D4-711F32BB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Prompt</a:t>
            </a:r>
          </a:p>
        </p:txBody>
      </p:sp>
      <p:sp>
        <p:nvSpPr>
          <p:cNvPr id="16" name="이번 작업을&#10;구체화한다">
            <a:extLst xmlns:a="http://schemas.openxmlformats.org/drawingml/2006/main">
              <a:ext uri="{FF2B5EF4-FFF2-40B4-BE49-F238E27FC236}">
                <a16:creationId xmlns:a16="http://schemas.microsoft.com/office/drawing/2014/main" id="{1C3901B8-21C5-43BE-8933-DCD8A0A51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작업을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구체화한다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EECBAE-95B8-4BC8-9760-F8CB0617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03">
            <a:extLst xmlns:a="http://schemas.openxmlformats.org/drawingml/2006/main">
              <a:ext uri="{FF2B5EF4-FFF2-40B4-BE49-F238E27FC236}">
                <a16:creationId xmlns:a16="http://schemas.microsoft.com/office/drawing/2014/main" id="{EC651C2B-B7F5-429C-9836-77C75E7C7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568289-6826-4262-AB8A-4E427610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0" name="Context">
            <a:extLst xmlns:a="http://schemas.openxmlformats.org/drawingml/2006/main">
              <a:ext uri="{FF2B5EF4-FFF2-40B4-BE49-F238E27FC236}">
                <a16:creationId xmlns:a16="http://schemas.microsoft.com/office/drawing/2014/main" id="{2EC23996-18A9-47DB-8B1D-81F08C8C6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21" name="프로젝트 지식을&#10;제공한다">
            <a:extLst xmlns:a="http://schemas.openxmlformats.org/drawingml/2006/main">
              <a:ext uri="{FF2B5EF4-FFF2-40B4-BE49-F238E27FC236}">
                <a16:creationId xmlns:a16="http://schemas.microsoft.com/office/drawing/2014/main" id="{AD70FC03-F7D1-412D-9060-57FBBFF0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지식을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제공한다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A1D4A5-D03A-4982-BDC0-6AE2096F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3" name="04">
            <a:extLst xmlns:a="http://schemas.openxmlformats.org/drawingml/2006/main">
              <a:ext uri="{FF2B5EF4-FFF2-40B4-BE49-F238E27FC236}">
                <a16:creationId xmlns:a16="http://schemas.microsoft.com/office/drawing/2014/main" id="{89C53316-941E-491B-877D-64839EDC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E34DCE-E093-471B-BF10-E0E2F28E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5" name="Harness">
            <a:extLst xmlns:a="http://schemas.openxmlformats.org/drawingml/2006/main">
              <a:ext uri="{FF2B5EF4-FFF2-40B4-BE49-F238E27FC236}">
                <a16:creationId xmlns:a16="http://schemas.microsoft.com/office/drawing/2014/main" id="{60905D54-0E39-4E75-8565-EDC72D6B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Harness</a:t>
            </a:r>
          </a:p>
        </p:txBody>
      </p:sp>
      <p:sp>
        <p:nvSpPr>
          <p:cNvPr id="26" name="일하는 환경을&#10;설계한다">
            <a:extLst xmlns:a="http://schemas.openxmlformats.org/drawingml/2006/main">
              <a:ext uri="{FF2B5EF4-FFF2-40B4-BE49-F238E27FC236}">
                <a16:creationId xmlns:a16="http://schemas.microsoft.com/office/drawing/2014/main" id="{3FE12F39-50CC-4198-B578-E447C6C7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일하는 환경을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설계한다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81C7A9-4312-4D73-B0C0-E29063E0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6385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8" name="05">
            <a:extLst xmlns:a="http://schemas.openxmlformats.org/drawingml/2006/main">
              <a:ext uri="{FF2B5EF4-FFF2-40B4-BE49-F238E27FC236}">
                <a16:creationId xmlns:a16="http://schemas.microsoft.com/office/drawing/2014/main" id="{4B4DE943-05F5-4818-A380-2FDB7B4D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051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49FE80-FA6D-4298-BACC-7E4665FA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52800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0" name="Loop">
            <a:extLst xmlns:a="http://schemas.openxmlformats.org/drawingml/2006/main">
              <a:ext uri="{FF2B5EF4-FFF2-40B4-BE49-F238E27FC236}">
                <a16:creationId xmlns:a16="http://schemas.microsoft.com/office/drawing/2014/main" id="{B982D052-32B4-4AE8-8719-676DBDD2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524250"/>
            <a:ext cx="1981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Loop</a:t>
            </a:r>
          </a:p>
        </p:txBody>
      </p:sp>
      <p:sp>
        <p:nvSpPr>
          <p:cNvPr id="31" name="피드백으로&#10;시스템을 고친다">
            <a:extLst xmlns:a="http://schemas.openxmlformats.org/drawingml/2006/main">
              <a:ext uri="{FF2B5EF4-FFF2-40B4-BE49-F238E27FC236}">
                <a16:creationId xmlns:a16="http://schemas.microsoft.com/office/drawing/2014/main" id="{ABC0A4D9-4823-4D83-8977-2F1C0FC8F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171950"/>
            <a:ext cx="198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피드백으로</a:t>
            </a:r>
          </a:p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시스템을 고친다</a:t>
            </a:r>
          </a:p>
        </p:txBody>
      </p:sp>
      <p:sp>
        <p:nvSpPr>
          <p:cNvPr id="32" name="지금 나는 AI를 어떤 방식으로 사용하고 있을까?">
            <a:extLst xmlns:a="http://schemas.openxmlformats.org/drawingml/2006/main">
              <a:ext uri="{FF2B5EF4-FFF2-40B4-BE49-F238E27FC236}">
                <a16:creationId xmlns:a16="http://schemas.microsoft.com/office/drawing/2014/main" id="{7D3BAE17-18E6-4E0D-9CCB-DD6FFC6BE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지금 나는 AI를 어떤 방식으로 사용하고 있을까?</a:t>
            </a:r>
          </a:p>
        </p:txBody>
      </p:sp>
      <p:sp>
        <p:nvSpPr>
          <p:cNvPr id="3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2AC86D4-C0F3-4725-B4FF-61E22904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M2</a:t>
            </a:r>
          </a:p>
        </p:txBody>
      </p:sp>
    </p:spTree>
    <p:extLst>
      <p:ext uri="{BB962C8B-B14F-4D97-AF65-F5344CB8AC3E}">
        <p14:creationId xmlns:p14="http://schemas.microsoft.com/office/powerpoint/2010/main" val="645370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ACT 5 · 확인된 제품 변화">
            <a:extLst xmlns:a="http://schemas.openxmlformats.org/drawingml/2006/main">
              <a:ext uri="{FF2B5EF4-FFF2-40B4-BE49-F238E27FC236}">
                <a16:creationId xmlns:a16="http://schemas.microsoft.com/office/drawing/2014/main" id="{1A2C96E3-E49C-4B12-89E3-8C2142D8F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확인된 제품 변화</a:t>
            </a:r>
          </a:p>
        </p:txBody>
      </p:sp>
      <p:sp>
        <p:nvSpPr>
          <p:cNvPr id="2" name="S87">
            <a:extLst xmlns:a="http://schemas.openxmlformats.org/drawingml/2006/main">
              <a:ext uri="{FF2B5EF4-FFF2-40B4-BE49-F238E27FC236}">
                <a16:creationId xmlns:a16="http://schemas.microsoft.com/office/drawing/2014/main" id="{CBB7E805-1886-4F15-AAD6-F92A7BFA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S87</a:t>
            </a:r>
          </a:p>
        </p:txBody>
      </p:sp>
      <p:sp>
        <p:nvSpPr>
          <p:cNvPr id="3" name="하나의 Repository가 문제에 대응해 진화했다">
            <a:extLst xmlns:a="http://schemas.openxmlformats.org/drawingml/2006/main">
              <a:ext uri="{FF2B5EF4-FFF2-40B4-BE49-F238E27FC236}">
                <a16:creationId xmlns:a16="http://schemas.microsoft.com/office/drawing/2014/main" id="{7C33B6C3-2346-4E50-98E5-214FFCE6F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하나의 Repository가 문제에 대응해 진화했다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E3B395-251A-4EEB-86EB-E5AE1C33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MO-12 · 실제 Git State 이력 · S18 / S43 / S58 발표자료 발췌">
            <a:extLst xmlns:a="http://schemas.openxmlformats.org/drawingml/2006/main">
              <a:ext uri="{FF2B5EF4-FFF2-40B4-BE49-F238E27FC236}">
                <a16:creationId xmlns:a16="http://schemas.microsoft.com/office/drawing/2014/main" id="{C4674DF6-71FA-41A3-B8E5-53CF30DCE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DEMO-12 · 실제 Git State 이력 · S18 / S43 / S58 발표자료 발췌</a:t>
            </a:r>
          </a:p>
        </p:txBody>
      </p:sp>
      <p:sp>
        <p:nvSpPr>
          <p:cNvPr id="6" name="원본 실행 화면 아님 · 성능은 해당 코드·입력·환경 범위 · State는 성숙도 등급이나 Product L">
            <a:extLst xmlns:a="http://schemas.openxmlformats.org/drawingml/2006/main">
              <a:ext uri="{FF2B5EF4-FFF2-40B4-BE49-F238E27FC236}">
                <a16:creationId xmlns:a16="http://schemas.microsoft.com/office/drawing/2014/main" id="{DEA0255B-BF7E-4DB4-B6A5-A1BA6B27B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원본 실행 화면 아님 · 성능은 해당 코드·입력·환경 범위 · State는 성숙도 등급이나 Product Loop가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413B04-DD9C-4531-ABEF-9CDCCEBA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4F354BB1-4F62-4A49-B2F7-4B6BA0DD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STATE-00">
            <a:extLst xmlns:a="http://schemas.openxmlformats.org/drawingml/2006/main">
              <a:ext uri="{FF2B5EF4-FFF2-40B4-BE49-F238E27FC236}">
                <a16:creationId xmlns:a16="http://schemas.microsoft.com/office/drawing/2014/main" id="{DC44B91C-A39A-40EB-9FD4-945A3228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STATE-00</a:t>
            </a:r>
          </a:p>
        </p:txBody>
      </p:sp>
      <p:sp>
        <p:nvSpPr>
          <p:cNvPr id="10" name="crop 경계 문제">
            <a:extLst xmlns:a="http://schemas.openxmlformats.org/drawingml/2006/main">
              <a:ext uri="{FF2B5EF4-FFF2-40B4-BE49-F238E27FC236}">
                <a16:creationId xmlns:a16="http://schemas.microsoft.com/office/drawing/2014/main" id="{352BE0B9-7FFC-4462-8ADC-A860D22C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문제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137305-BB2B-4C84-9A6B-774C9FC4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DB9743-3977-4B97-AC57-32504CF7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3" name="02">
            <a:extLst xmlns:a="http://schemas.openxmlformats.org/drawingml/2006/main">
              <a:ext uri="{FF2B5EF4-FFF2-40B4-BE49-F238E27FC236}">
                <a16:creationId xmlns:a16="http://schemas.microsoft.com/office/drawing/2014/main" id="{2BA5AED0-F323-4196-83DE-6C00FB40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STATE-00-FIXED">
            <a:extLst xmlns:a="http://schemas.openxmlformats.org/drawingml/2006/main">
              <a:ext uri="{FF2B5EF4-FFF2-40B4-BE49-F238E27FC236}">
                <a16:creationId xmlns:a16="http://schemas.microsoft.com/office/drawing/2014/main" id="{EB8D5004-6810-445A-A855-4A578957B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STATE-00-FIXED</a:t>
            </a:r>
          </a:p>
        </p:txBody>
      </p:sp>
      <p:sp>
        <p:nvSpPr>
          <p:cNvPr id="15" name="계약에 맞게 수정">
            <a:extLst xmlns:a="http://schemas.openxmlformats.org/drawingml/2006/main">
              <a:ext uri="{FF2B5EF4-FFF2-40B4-BE49-F238E27FC236}">
                <a16:creationId xmlns:a16="http://schemas.microsoft.com/office/drawing/2014/main" id="{99839A61-657F-47F9-B101-203E2AA63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계약에 맞게 수정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E49F65-7C92-4FF3-944C-8E3D94D0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6C54B1-DB26-4C10-B5FC-EE671B772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8" name="03">
            <a:extLst xmlns:a="http://schemas.openxmlformats.org/drawingml/2006/main">
              <a:ext uri="{FF2B5EF4-FFF2-40B4-BE49-F238E27FC236}">
                <a16:creationId xmlns:a16="http://schemas.microsoft.com/office/drawing/2014/main" id="{2C418548-4EF2-4DCC-9594-12D08A140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STATE-01">
            <a:extLst xmlns:a="http://schemas.openxmlformats.org/drawingml/2006/main">
              <a:ext uri="{FF2B5EF4-FFF2-40B4-BE49-F238E27FC236}">
                <a16:creationId xmlns:a16="http://schemas.microsoft.com/office/drawing/2014/main" id="{06B9E38D-5387-4E5A-AB2C-E462EE3C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STATE-01</a:t>
            </a:r>
          </a:p>
        </p:txBody>
      </p:sp>
      <p:sp>
        <p:nvSpPr>
          <p:cNvPr id="20" name="프로젝트 지침">
            <a:extLst xmlns:a="http://schemas.openxmlformats.org/drawingml/2006/main">
              <a:ext uri="{FF2B5EF4-FFF2-40B4-BE49-F238E27FC236}">
                <a16:creationId xmlns:a16="http://schemas.microsoft.com/office/drawing/2014/main" id="{B110CBE6-579A-4CD4-8093-E86661D04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지침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62B7C7-1159-4668-B8B6-7A27F611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90725"/>
            <a:ext cx="2095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0000AB-A4D2-4967-BB46-8C345FC4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62100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3" name="04">
            <a:extLst xmlns:a="http://schemas.openxmlformats.org/drawingml/2006/main">
              <a:ext uri="{FF2B5EF4-FFF2-40B4-BE49-F238E27FC236}">
                <a16:creationId xmlns:a16="http://schemas.microsoft.com/office/drawing/2014/main" id="{42150C76-90EB-4964-B6EB-C9741C6D1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657350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4" name="STATE-02">
            <a:extLst xmlns:a="http://schemas.openxmlformats.org/drawingml/2006/main">
              <a:ext uri="{FF2B5EF4-FFF2-40B4-BE49-F238E27FC236}">
                <a16:creationId xmlns:a16="http://schemas.microsoft.com/office/drawing/2014/main" id="{BCD9D450-65D6-4ADB-A420-C4F46F2D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STATE-02</a:t>
            </a:r>
          </a:p>
        </p:txBody>
      </p:sp>
      <p:sp>
        <p:nvSpPr>
          <p:cNvPr id="25" name="Context 증가">
            <a:extLst xmlns:a="http://schemas.openxmlformats.org/drawingml/2006/main">
              <a:ext uri="{FF2B5EF4-FFF2-40B4-BE49-F238E27FC236}">
                <a16:creationId xmlns:a16="http://schemas.microsoft.com/office/drawing/2014/main" id="{80E45300-261A-4F9E-821B-114EBEC4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002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 증가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461D61-FF68-4694-AEF5-25410E75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7" name="05">
            <a:extLst xmlns:a="http://schemas.openxmlformats.org/drawingml/2006/main">
              <a:ext uri="{FF2B5EF4-FFF2-40B4-BE49-F238E27FC236}">
                <a16:creationId xmlns:a16="http://schemas.microsoft.com/office/drawing/2014/main" id="{D56EEF61-9B61-42BF-8EC7-C966775A8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8" name="STATE-03">
            <a:extLst xmlns:a="http://schemas.openxmlformats.org/drawingml/2006/main">
              <a:ext uri="{FF2B5EF4-FFF2-40B4-BE49-F238E27FC236}">
                <a16:creationId xmlns:a16="http://schemas.microsoft.com/office/drawing/2014/main" id="{A48B10DE-31BD-416E-9159-015C00D8B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STATE-03</a:t>
            </a:r>
          </a:p>
        </p:txBody>
      </p:sp>
      <p:sp>
        <p:nvSpPr>
          <p:cNvPr id="29" name="상세 정보로 연결">
            <a:extLst xmlns:a="http://schemas.openxmlformats.org/drawingml/2006/main">
              <a:ext uri="{FF2B5EF4-FFF2-40B4-BE49-F238E27FC236}">
                <a16:creationId xmlns:a16="http://schemas.microsoft.com/office/drawing/2014/main" id="{CA3BB36E-7972-4722-9A26-5AA8C076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정보로 연결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6EB469-051A-44A0-92D8-64D2CF7E5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3105150"/>
            <a:ext cx="228600" cy="1524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AFBC380-7EE6-4490-858B-0F35FA0A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32" name="06">
            <a:extLst xmlns:a="http://schemas.openxmlformats.org/drawingml/2006/main">
              <a:ext uri="{FF2B5EF4-FFF2-40B4-BE49-F238E27FC236}">
                <a16:creationId xmlns:a16="http://schemas.microsoft.com/office/drawing/2014/main" id="{23C126CB-BD67-48B9-A3D1-8FE7EA50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33" name="STATE-04">
            <a:extLst xmlns:a="http://schemas.openxmlformats.org/drawingml/2006/main">
              <a:ext uri="{FF2B5EF4-FFF2-40B4-BE49-F238E27FC236}">
                <a16:creationId xmlns:a16="http://schemas.microsoft.com/office/drawing/2014/main" id="{6658E524-F812-41CC-AF9A-0AAD11B8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STATE-04</a:t>
            </a:r>
          </a:p>
        </p:txBody>
      </p:sp>
      <p:sp>
        <p:nvSpPr>
          <p:cNvPr id="34" name="재사용 Workflow">
            <a:extLst xmlns:a="http://schemas.openxmlformats.org/drawingml/2006/main">
              <a:ext uri="{FF2B5EF4-FFF2-40B4-BE49-F238E27FC236}">
                <a16:creationId xmlns:a16="http://schemas.microsoft.com/office/drawing/2014/main" id="{13D5A3BC-F0FA-47B3-81B0-20777D31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Workflow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C42370F-493B-4E92-A4E4-33728A639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105150"/>
            <a:ext cx="228600" cy="1524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C2CD6A-BB1F-45F3-87E0-19153EB8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76B4D"/>
            </a:solidFill>
            <a:prstDash val="solid"/>
          </a:ln>
        </p:spPr>
      </p:sp>
      <p:sp>
        <p:nvSpPr>
          <p:cNvPr id="37" name="07">
            <a:extLst xmlns:a="http://schemas.openxmlformats.org/drawingml/2006/main">
              <a:ext uri="{FF2B5EF4-FFF2-40B4-BE49-F238E27FC236}">
                <a16:creationId xmlns:a16="http://schemas.microsoft.com/office/drawing/2014/main" id="{804F3FAE-8798-4F70-A781-0C1DA0FC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38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38" name="STATE-04-PERF">
            <a:extLst xmlns:a="http://schemas.openxmlformats.org/drawingml/2006/main">
              <a:ext uri="{FF2B5EF4-FFF2-40B4-BE49-F238E27FC236}">
                <a16:creationId xmlns:a16="http://schemas.microsoft.com/office/drawing/2014/main" id="{1FD89C8B-964F-4575-9BEC-FD572033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7177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176B4D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176B4D"/>
                </a:solidFill>
                <a:latin typeface="Consolas"/>
                <a:ea typeface="Consolas"/>
                <a:cs typeface="Consolas"/>
              </a:rPr>
              <a:t>STATE-04-PERF</a:t>
            </a:r>
          </a:p>
        </p:txBody>
      </p:sp>
      <p:sp>
        <p:nvSpPr>
          <p:cNvPr id="39" name="검증된 제품 변경">
            <a:extLst xmlns:a="http://schemas.openxmlformats.org/drawingml/2006/main">
              <a:ext uri="{FF2B5EF4-FFF2-40B4-BE49-F238E27FC236}">
                <a16:creationId xmlns:a16="http://schemas.microsoft.com/office/drawing/2014/main" id="{4DC72B87-85F9-4061-AF17-94E54FB30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검증된 제품 변경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70EA24-447F-4B30-A768-CE93B843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2390775"/>
            <a:ext cx="209550" cy="2286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604DD1-3C9C-4798-9E26-042598884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42" name="앞서 본 근거 다시 보기">
            <a:extLst xmlns:a="http://schemas.openxmlformats.org/drawingml/2006/main">
              <a:ext uri="{FF2B5EF4-FFF2-40B4-BE49-F238E27FC236}">
                <a16:creationId xmlns:a16="http://schemas.microsoft.com/office/drawing/2014/main" id="{842AB964-815C-4623-A62B-544A048F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앞서 본 근거 다시 보기</a:t>
            </a:r>
          </a:p>
        </p:txBody>
      </p:sp>
      <p:pic>
        <p:nvPic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E5E756-FC1A-40D3-AC96-B441E83112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73e92d81af404c"/>
          <a:srcRect xmlns:a="http://schemas.openxmlformats.org/drawingml/2006/main" l="5000" t="40741" r="5000" b="18519"/>
          <a:stretch xmlns:a="http://schemas.openxmlformats.org/drawingml/2006/main"/>
        </p:blipFill>
        <p:spPr>
          <a:xfrm xmlns:a="http://schemas.openxmlformats.org/drawingml/2006/main">
            <a:off x="914400" y="4027135"/>
            <a:ext cx="2895600" cy="737306"/>
          </a:xfrm>
          <a:prstGeom xmlns:a="http://schemas.openxmlformats.org/drawingml/2006/main" prst="rect">
            <a:avLst/>
          </a:prstGeom>
        </p:spPr>
      </p:pic>
      <p:sp>
        <p:nvSpPr>
          <p:cNvPr id="44" name="crop 계약 수정">
            <a:extLst xmlns:a="http://schemas.openxmlformats.org/drawingml/2006/main">
              <a:ext uri="{FF2B5EF4-FFF2-40B4-BE49-F238E27FC236}">
                <a16:creationId xmlns:a16="http://schemas.microsoft.com/office/drawing/2014/main" id="{C6CF550B-6574-4DB6-95A9-7FA9A521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crop 계약 수정</a:t>
            </a:r>
          </a:p>
        </p:txBody>
      </p:sp>
      <p:sp>
        <p:nvSpPr>
          <p:cNvPr id="45" name="S18 · STATE-00 → STATE-00-FIXED">
            <a:extLst xmlns:a="http://schemas.openxmlformats.org/drawingml/2006/main">
              <a:ext uri="{FF2B5EF4-FFF2-40B4-BE49-F238E27FC236}">
                <a16:creationId xmlns:a16="http://schemas.microsoft.com/office/drawing/2014/main" id="{BE265552-4B7A-4B34-9BBB-E2C128AA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S18 · STATE-00 → STATE-00-FIXED</a:t>
            </a:r>
          </a:p>
        </p:txBody>
      </p:sp>
      <p:pic>
        <p:nvPic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6718D17-86A6-45A8-9935-5098C3CC57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2ccea8e8b147f7"/>
          <a:srcRect xmlns:a="http://schemas.openxmlformats.org/drawingml/2006/main" l="5000" t="39352" r="5000" b="26852"/>
          <a:stretch xmlns:a="http://schemas.openxmlformats.org/drawingml/2006/main"/>
        </p:blipFill>
        <p:spPr>
          <a:xfrm xmlns:a="http://schemas.openxmlformats.org/drawingml/2006/main">
            <a:off x="4648200" y="4089973"/>
            <a:ext cx="2895600" cy="611628"/>
          </a:xfrm>
          <a:prstGeom xmlns:a="http://schemas.openxmlformats.org/drawingml/2006/main" prst="rect">
            <a:avLst/>
          </a:prstGeom>
        </p:spPr>
      </p:pic>
      <p:sp>
        <p:nvSpPr>
          <p:cNvPr id="47" name="상세 문서로 분리">
            <a:extLst xmlns:a="http://schemas.openxmlformats.org/drawingml/2006/main">
              <a:ext uri="{FF2B5EF4-FFF2-40B4-BE49-F238E27FC236}">
                <a16:creationId xmlns:a16="http://schemas.microsoft.com/office/drawing/2014/main" id="{85DB35FE-A5A1-4BAB-A2C4-BA478800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상세 문서로 분리</a:t>
            </a:r>
          </a:p>
        </p:txBody>
      </p:sp>
      <p:sp>
        <p:nvSpPr>
          <p:cNvPr id="48" name="S43 · STATE-02 → STATE-03">
            <a:extLst xmlns:a="http://schemas.openxmlformats.org/drawingml/2006/main">
              <a:ext uri="{FF2B5EF4-FFF2-40B4-BE49-F238E27FC236}">
                <a16:creationId xmlns:a16="http://schemas.microsoft.com/office/drawing/2014/main" id="{28A5DDAB-3D9D-4432-A03D-321EA7A0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S43 · STATE-02 → STATE-03</a:t>
            </a:r>
          </a:p>
        </p:txBody>
      </p:sp>
      <p:pic>
        <p:nvPic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890F19E-AFDB-4D8F-880B-AE08F30512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005031891046e9"/>
          <a:srcRect xmlns:a="http://schemas.openxmlformats.org/drawingml/2006/main" l="5000" t="33333" r="5000" b="16667"/>
          <a:stretch xmlns:a="http://schemas.openxmlformats.org/drawingml/2006/main"/>
        </p:blipFill>
        <p:spPr>
          <a:xfrm xmlns:a="http://schemas.openxmlformats.org/drawingml/2006/main">
            <a:off x="8382000" y="3943350"/>
            <a:ext cx="2895600" cy="904875"/>
          </a:xfrm>
          <a:prstGeom xmlns:a="http://schemas.openxmlformats.org/drawingml/2006/main" prst="rect">
            <a:avLst/>
          </a:prstGeom>
        </p:spPr>
      </p:pic>
      <p:sp>
        <p:nvSpPr>
          <p:cNvPr id="50" name="같은 조건의 성능 비교">
            <a:extLst xmlns:a="http://schemas.openxmlformats.org/drawingml/2006/main">
              <a:ext uri="{FF2B5EF4-FFF2-40B4-BE49-F238E27FC236}">
                <a16:creationId xmlns:a16="http://schemas.microsoft.com/office/drawing/2014/main" id="{EAE562F4-0404-4EF5-8122-4C0AF97F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86325"/>
            <a:ext cx="350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조건의 성능 비교</a:t>
            </a:r>
          </a:p>
        </p:txBody>
      </p:sp>
      <p:sp>
        <p:nvSpPr>
          <p:cNvPr id="51" name="S58 · STATE-04 → STATE-04-PERF">
            <a:extLst xmlns:a="http://schemas.openxmlformats.org/drawingml/2006/main">
              <a:ext uri="{FF2B5EF4-FFF2-40B4-BE49-F238E27FC236}">
                <a16:creationId xmlns:a16="http://schemas.microsoft.com/office/drawing/2014/main" id="{D62F0F26-B661-4528-8C4B-50D5EF72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191125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S58 · STATE-04 → STATE-04-PERF</a:t>
            </a:r>
          </a:p>
        </p:txBody>
      </p:sp>
      <p:sp>
        <p:nvSpPr>
          <p:cNvPr id="52" name="각 변화의 출발점은, 그때 마주친 문제였다.">
            <a:extLst xmlns:a="http://schemas.openxmlformats.org/drawingml/2006/main">
              <a:ext uri="{FF2B5EF4-FFF2-40B4-BE49-F238E27FC236}">
                <a16:creationId xmlns:a16="http://schemas.microsoft.com/office/drawing/2014/main" id="{0815902E-9D80-4AD5-85F1-4BF5F4E7A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각 변화의 출발점은, 그때 마주친 문제였다.</a:t>
            </a:r>
          </a:p>
        </p:txBody>
      </p:sp>
      <p:sp>
        <p:nvSpPr>
          <p:cNvPr id="5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C2E12A2-77FF-42F5-82A1-A78D8289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0157767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5 · 이번 Demo의 선택 기준">
            <a:extLst xmlns:a="http://schemas.openxmlformats.org/drawingml/2006/main">
              <a:ext uri="{FF2B5EF4-FFF2-40B4-BE49-F238E27FC236}">
                <a16:creationId xmlns:a16="http://schemas.microsoft.com/office/drawing/2014/main" id="{D3111D74-547B-458C-AE02-075E1C88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이번 Demo의 선택 기준</a:t>
            </a:r>
          </a:p>
        </p:txBody>
      </p:sp>
      <p:sp>
        <p:nvSpPr>
          <p:cNvPr id="2" name="S88">
            <a:extLst xmlns:a="http://schemas.openxmlformats.org/drawingml/2006/main">
              <a:ext uri="{FF2B5EF4-FFF2-40B4-BE49-F238E27FC236}">
                <a16:creationId xmlns:a16="http://schemas.microsoft.com/office/drawing/2014/main" id="{358E0686-81B5-4375-8856-C5CBAB81D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S88</a:t>
            </a:r>
          </a:p>
        </p:txBody>
      </p:sp>
      <p:sp>
        <p:nvSpPr>
          <p:cNvPr id="3" name="필요성이 입증되지 않은 것은 보류했다">
            <a:extLst xmlns:a="http://schemas.openxmlformats.org/drawingml/2006/main">
              <a:ext uri="{FF2B5EF4-FFF2-40B4-BE49-F238E27FC236}">
                <a16:creationId xmlns:a16="http://schemas.microsoft.com/office/drawing/2014/main" id="{779AC3EB-4C4E-42B7-BDAA-872106A0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필요성이 입증되지 않은 것은 보류했다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4DE5EE-FBD5-4122-B38F-CB85F638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 · DEC-0018 · 이번 작업의 선택을 회고">
            <a:extLst xmlns:a="http://schemas.openxmlformats.org/drawingml/2006/main">
              <a:ext uri="{FF2B5EF4-FFF2-40B4-BE49-F238E27FC236}">
                <a16:creationId xmlns:a16="http://schemas.microsoft.com/office/drawing/2014/main" id="{722E878D-8350-474F-BC99-E8867418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 · DEC-0018 · 이번 작업의 선택을 회고</a:t>
            </a:r>
          </a:p>
        </p:txBody>
      </p:sp>
      <p:sp>
        <p:nvSpPr>
          <p:cNvPr id="6" name="모든 프로젝트에서 Subagent·Memory가 불필요하거나 적을수록 좋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670315A1-B9F0-46B5-A8C8-B49784F4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모든 프로젝트에서 Subagent·Memory가 불필요하거나 적을수록 좋다는 뜻은 아니다.</a:t>
            </a:r>
          </a:p>
        </p:txBody>
      </p:sp>
      <p:sp>
        <p:nvSpPr>
          <p:cNvPr id="7" name="이 구성요소가 현재 문제에 필요한가?">
            <a:extLst xmlns:a="http://schemas.openxmlformats.org/drawingml/2006/main">
              <a:ext uri="{FF2B5EF4-FFF2-40B4-BE49-F238E27FC236}">
                <a16:creationId xmlns:a16="http://schemas.microsoft.com/office/drawing/2014/main" id="{A7381220-A643-41ED-8A79-CDAED5FA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 구성요소가 현재 문제에 필요한가?</a:t>
            </a:r>
          </a:p>
        </p:txBody>
      </p:sp>
      <p:sp>
        <p:nvSpPr>
          <p:cNvPr id="8" name="이번 문제에 필요했던 것">
            <a:extLst xmlns:a="http://schemas.openxmlformats.org/drawingml/2006/main">
              <a:ext uri="{FF2B5EF4-FFF2-40B4-BE49-F238E27FC236}">
                <a16:creationId xmlns:a16="http://schemas.microsoft.com/office/drawing/2014/main" id="{AE14F4D9-7BAD-4239-895C-BA011D86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문제에 필요했던 것</a:t>
            </a:r>
          </a:p>
        </p:txBody>
      </p:sp>
      <p:sp>
        <p:nvSpPr>
          <p:cNvPr id="9" name="이번에는 정당화하지 못한 것">
            <a:extLst xmlns:a="http://schemas.openxmlformats.org/drawingml/2006/main">
              <a:ext uri="{FF2B5EF4-FFF2-40B4-BE49-F238E27FC236}">
                <a16:creationId xmlns:a16="http://schemas.microsoft.com/office/drawing/2014/main" id="{46F793A9-6689-4964-BA15-4DDA788B7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14650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이번에는 정당화하지 못한 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44BEB8-C5DD-45D2-B7D4-F8425DB1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5181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C92135-8022-44C6-BDEF-BA037A2D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766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solid"/>
          </a:ln>
        </p:spPr>
      </p:sp>
      <p:sp>
        <p:nvSpPr>
          <p:cNvPr id="12" name="Task Prompt&#10;Context와 Routing&#10;재사용 Workflow&#10;Tests와 Benchmark">
            <a:extLst xmlns:a="http://schemas.openxmlformats.org/drawingml/2006/main">
              <a:ext uri="{FF2B5EF4-FFF2-40B4-BE49-F238E27FC236}">
                <a16:creationId xmlns:a16="http://schemas.microsoft.com/office/drawing/2014/main" id="{7D5B8376-72AF-4057-A871-93725E02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51816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Context와 Routing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Workflow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Tests와 Benchmark</a:t>
            </a:r>
          </a:p>
        </p:txBody>
      </p:sp>
      <p:sp>
        <p:nvSpPr>
          <p:cNvPr id="13" name="Subagent&#10;Memory">
            <a:extLst xmlns:a="http://schemas.openxmlformats.org/drawingml/2006/main">
              <a:ext uri="{FF2B5EF4-FFF2-40B4-BE49-F238E27FC236}">
                <a16:creationId xmlns:a16="http://schemas.microsoft.com/office/drawing/2014/main" id="{0C8452C5-79D7-4E05-9078-E3D46D70C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57625"/>
            <a:ext cx="4876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Subagent</a:t>
            </a:r>
          </a:p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Memory</a:t>
            </a:r>
          </a:p>
        </p:txBody>
      </p:sp>
      <p:sp>
        <p:nvSpPr>
          <p:cNvPr id="14" name="현재 문제가 필요로 하는 만큼 설계한다.">
            <a:extLst xmlns:a="http://schemas.openxmlformats.org/drawingml/2006/main">
              <a:ext uri="{FF2B5EF4-FFF2-40B4-BE49-F238E27FC236}">
                <a16:creationId xmlns:a16="http://schemas.microsoft.com/office/drawing/2014/main" id="{33AEF13C-2509-47A8-955D-F03198E2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문제가 필요로 하는 만큼 설계한다.</a:t>
            </a:r>
          </a:p>
        </p:txBody>
      </p:sp>
      <p:sp>
        <p:nvSpPr>
          <p:cNvPr id="1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14254D6-8FAB-4FF0-8554-D2ED6FCB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M8 · M9</a:t>
            </a:r>
          </a:p>
        </p:txBody>
      </p:sp>
    </p:spTree>
    <p:extLst>
      <p:ext uri="{BB962C8B-B14F-4D97-AF65-F5344CB8AC3E}">
        <p14:creationId xmlns:p14="http://schemas.microsoft.com/office/powerpoint/2010/main" val="14931836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5 · 개발자의 판단">
            <a:extLst xmlns:a="http://schemas.openxmlformats.org/drawingml/2006/main">
              <a:ext uri="{FF2B5EF4-FFF2-40B4-BE49-F238E27FC236}">
                <a16:creationId xmlns:a16="http://schemas.microsoft.com/office/drawing/2014/main" id="{15239897-EE4B-43F2-8292-6C8901B0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개발자의 판단</a:t>
            </a:r>
          </a:p>
        </p:txBody>
      </p:sp>
      <p:sp>
        <p:nvSpPr>
          <p:cNvPr id="2" name="S89">
            <a:extLst xmlns:a="http://schemas.openxmlformats.org/drawingml/2006/main">
              <a:ext uri="{FF2B5EF4-FFF2-40B4-BE49-F238E27FC236}">
                <a16:creationId xmlns:a16="http://schemas.microsoft.com/office/drawing/2014/main" id="{D0E70D68-9107-4035-B34C-8CEE9753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S89</a:t>
            </a:r>
          </a:p>
        </p:txBody>
      </p:sp>
      <p:sp>
        <p:nvSpPr>
          <p:cNvPr id="3" name="위임이 늘어도 개발자 책임은 남는다">
            <a:extLst xmlns:a="http://schemas.openxmlformats.org/drawingml/2006/main">
              <a:ext uri="{FF2B5EF4-FFF2-40B4-BE49-F238E27FC236}">
                <a16:creationId xmlns:a16="http://schemas.microsoft.com/office/drawing/2014/main" id="{08F15CAE-49FB-406E-B4B2-B28330DF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위임이 늘어도 개발자 책임은 남는다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CA09A5-1730-4937-AA6D-A06D52B5F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1–062 · 이 교육의 책임 원칙">
            <a:extLst xmlns:a="http://schemas.openxmlformats.org/drawingml/2006/main">
              <a:ext uri="{FF2B5EF4-FFF2-40B4-BE49-F238E27FC236}">
                <a16:creationId xmlns:a16="http://schemas.microsoft.com/office/drawing/2014/main" id="{3AF614A4-EC84-4E68-8942-C12B7E9C5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BEAT-061–062 · 이 교육의 책임 원칙</a:t>
            </a:r>
          </a:p>
        </p:txBody>
      </p:sp>
      <p:sp>
        <p:nvSpPr>
          <p:cNvPr id="6" name="Agent와 개발자의 역할을 고정된 분업표로 제시하는 것은 아니다.">
            <a:extLst xmlns:a="http://schemas.openxmlformats.org/drawingml/2006/main">
              <a:ext uri="{FF2B5EF4-FFF2-40B4-BE49-F238E27FC236}">
                <a16:creationId xmlns:a16="http://schemas.microsoft.com/office/drawing/2014/main" id="{18061C7B-B8F4-487E-978E-8F532C523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Agent와 개발자의 역할을 고정된 분업표로 제시하는 것은 아니다.</a:t>
            </a:r>
          </a:p>
        </p:txBody>
      </p:sp>
      <p:sp>
        <p:nvSpPr>
          <p:cNvPr id="7" name="AI가 조사·생성·변경·실행·비교를 도와도">
            <a:extLst xmlns:a="http://schemas.openxmlformats.org/drawingml/2006/main">
              <a:ext uri="{FF2B5EF4-FFF2-40B4-BE49-F238E27FC236}">
                <a16:creationId xmlns:a16="http://schemas.microsoft.com/office/drawing/2014/main" id="{D79C06A3-0339-4EF6-9853-BF74C008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AI가 조사·생성·변경·실행·비교를 도와도</a:t>
            </a:r>
          </a:p>
        </p:txBody>
      </p:sp>
      <p:sp>
        <p:nvSpPr>
          <p:cNvPr id="8" name="결과를 수용하는 판단은 누가 하는가?">
            <a:extLst xmlns:a="http://schemas.openxmlformats.org/drawingml/2006/main">
              <a:ext uri="{FF2B5EF4-FFF2-40B4-BE49-F238E27FC236}">
                <a16:creationId xmlns:a16="http://schemas.microsoft.com/office/drawing/2014/main" id="{4499E1A0-E3B4-4EF0-A799-5F32DE81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결과를 수용하는 판단은 누가 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DA0115-EA66-4AF5-A268-DF87EC11F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목표">
            <a:extLst xmlns:a="http://schemas.openxmlformats.org/drawingml/2006/main">
              <a:ext uri="{FF2B5EF4-FFF2-40B4-BE49-F238E27FC236}">
                <a16:creationId xmlns:a16="http://schemas.microsoft.com/office/drawing/2014/main" id="{F99FE079-DE00-432C-A5D7-35084DF87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</a:t>
            </a:r>
          </a:p>
        </p:txBody>
      </p:sp>
      <p:sp>
        <p:nvSpPr>
          <p:cNvPr id="11" name="무엇을 해결할까?">
            <a:extLst xmlns:a="http://schemas.openxmlformats.org/drawingml/2006/main">
              <a:ext uri="{FF2B5EF4-FFF2-40B4-BE49-F238E27FC236}">
                <a16:creationId xmlns:a16="http://schemas.microsoft.com/office/drawing/2014/main" id="{4881B9DA-1AAA-4708-B349-FE0C63F0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해결할까?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45A888-3C2B-4BB4-9600-462439F9A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판단">
            <a:extLst xmlns:a="http://schemas.openxmlformats.org/drawingml/2006/main">
              <a:ext uri="{FF2B5EF4-FFF2-40B4-BE49-F238E27FC236}">
                <a16:creationId xmlns:a16="http://schemas.microsoft.com/office/drawing/2014/main" id="{1A7B7614-EA3C-41E0-9D14-2C12F78D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판단</a:t>
            </a:r>
          </a:p>
        </p:txBody>
      </p:sp>
      <p:sp>
        <p:nvSpPr>
          <p:cNvPr id="14" name="어떤 선택이&#10;적절할까?">
            <a:extLst xmlns:a="http://schemas.openxmlformats.org/drawingml/2006/main">
              <a:ext uri="{FF2B5EF4-FFF2-40B4-BE49-F238E27FC236}">
                <a16:creationId xmlns:a16="http://schemas.microsoft.com/office/drawing/2014/main" id="{F5C73327-4454-468A-A711-E4C7870B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선택이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적절할까?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B28567-B41F-407E-9896-8DFC7D75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6" name="검증">
            <a:extLst xmlns:a="http://schemas.openxmlformats.org/drawingml/2006/main">
              <a:ext uri="{FF2B5EF4-FFF2-40B4-BE49-F238E27FC236}">
                <a16:creationId xmlns:a16="http://schemas.microsoft.com/office/drawing/2014/main" id="{BF363384-A52F-4782-BD68-C12239412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7" name="무엇으로&#10;확인할까?">
            <a:extLst xmlns:a="http://schemas.openxmlformats.org/drawingml/2006/main">
              <a:ext uri="{FF2B5EF4-FFF2-40B4-BE49-F238E27FC236}">
                <a16:creationId xmlns:a16="http://schemas.microsoft.com/office/drawing/2014/main" id="{89730A14-3D06-45FB-BBBA-CE70ED4C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무엇으로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확인할까?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4195B1-A1D1-4336-887D-7FCAB8C7A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052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책임">
            <a:extLst xmlns:a="http://schemas.openxmlformats.org/drawingml/2006/main">
              <a:ext uri="{FF2B5EF4-FFF2-40B4-BE49-F238E27FC236}">
                <a16:creationId xmlns:a16="http://schemas.microsoft.com/office/drawing/2014/main" id="{8CB930C4-D2B1-4F2F-9845-5F552ECE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8617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책임</a:t>
            </a:r>
          </a:p>
        </p:txBody>
      </p:sp>
      <p:sp>
        <p:nvSpPr>
          <p:cNvPr id="20" name="완료를&#10;수용해도 될까?">
            <a:extLst xmlns:a="http://schemas.openxmlformats.org/drawingml/2006/main">
              <a:ext uri="{FF2B5EF4-FFF2-40B4-BE49-F238E27FC236}">
                <a16:creationId xmlns:a16="http://schemas.microsoft.com/office/drawing/2014/main" id="{E38AD9C2-70A7-48F1-B1FD-3B7E1CF4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410075"/>
            <a:ext cx="24955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완료를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수용해도 될까?</a:t>
            </a:r>
          </a:p>
        </p:txBody>
      </p:sp>
      <p:sp>
        <p:nvSpPr>
          <p:cNvPr id="21" name="결과를 받는 일에는, 결과를 판단하는 책임이 함께 남는다.">
            <a:extLst xmlns:a="http://schemas.openxmlformats.org/drawingml/2006/main">
              <a:ext uri="{FF2B5EF4-FFF2-40B4-BE49-F238E27FC236}">
                <a16:creationId xmlns:a16="http://schemas.microsoft.com/office/drawing/2014/main" id="{D9F98855-5B77-40E6-9B17-D276D9D7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결과를 받는 일에는, 결과를 판단하는 책임이 함께 남는다.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FEF2967-97EF-4CCF-945B-0B36F486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M2 · M4 · M5 · M6 · M9</a:t>
            </a:r>
          </a:p>
        </p:txBody>
      </p:sp>
    </p:spTree>
    <p:extLst>
      <p:ext uri="{BB962C8B-B14F-4D97-AF65-F5344CB8AC3E}">
        <p14:creationId xmlns:p14="http://schemas.microsoft.com/office/powerpoint/2010/main" val="8623164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5 · 일하는 환경을 설계한다">
            <a:extLst xmlns:a="http://schemas.openxmlformats.org/drawingml/2006/main">
              <a:ext uri="{FF2B5EF4-FFF2-40B4-BE49-F238E27FC236}">
                <a16:creationId xmlns:a16="http://schemas.microsoft.com/office/drawing/2014/main" id="{8DD33AC8-4E10-4C6A-9829-3965278B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일하는 환경을 설계한다</a:t>
            </a:r>
          </a:p>
        </p:txBody>
      </p:sp>
      <p:sp>
        <p:nvSpPr>
          <p:cNvPr id="2" name="S90">
            <a:extLst xmlns:a="http://schemas.openxmlformats.org/drawingml/2006/main">
              <a:ext uri="{FF2B5EF4-FFF2-40B4-BE49-F238E27FC236}">
                <a16:creationId xmlns:a16="http://schemas.microsoft.com/office/drawing/2014/main" id="{614FF142-1AFD-4C7C-92B7-38663F4A9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S90</a:t>
            </a:r>
          </a:p>
        </p:txBody>
      </p:sp>
      <p:sp>
        <p:nvSpPr>
          <p:cNvPr id="3" name="AI-Native Development는&#10;이 교육의 운영 모델">
            <a:extLst xmlns:a="http://schemas.openxmlformats.org/drawingml/2006/main">
              <a:ext uri="{FF2B5EF4-FFF2-40B4-BE49-F238E27FC236}">
                <a16:creationId xmlns:a16="http://schemas.microsoft.com/office/drawing/2014/main" id="{3CF45006-4A9C-46EC-A5F6-6C26DBB2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AI-Native Development는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교육의 운영 모델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BB96B5-F61D-4693-96EE-1205A2E5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23 · 과정에서 사용하는 운영 모델">
            <a:extLst xmlns:a="http://schemas.openxmlformats.org/drawingml/2006/main">
              <a:ext uri="{FF2B5EF4-FFF2-40B4-BE49-F238E27FC236}">
                <a16:creationId xmlns:a16="http://schemas.microsoft.com/office/drawing/2014/main" id="{5EAD5662-7191-42A9-AAD5-D079A4C8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DEC-0023 · 과정에서 사용하는 운영 모델</a:t>
            </a:r>
          </a:p>
        </p:txBody>
      </p:sp>
      <p:sp>
        <p:nvSpPr>
          <p:cNvPr id="6" name="공식·보편 정의가 아니며, 모든 Task에 모든 구성요소를 넣으라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4876B4B6-7E2D-4C83-9B77-9ACF6BB3D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공식·보편 정의가 아니며, 모든 Task에 모든 구성요소를 넣으라는 뜻은 아니다.</a:t>
            </a:r>
          </a:p>
        </p:txBody>
      </p:sp>
      <p:sp>
        <p:nvSpPr>
          <p:cNvPr id="7" name="AI가 일할 조건과, 결과를 확인할 경로를 설계한다.">
            <a:extLst xmlns:a="http://schemas.openxmlformats.org/drawingml/2006/main">
              <a:ext uri="{FF2B5EF4-FFF2-40B4-BE49-F238E27FC236}">
                <a16:creationId xmlns:a16="http://schemas.microsoft.com/office/drawing/2014/main" id="{A1826F8E-F402-4290-A56C-48A2CF0B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AI가 일할 조건과, 결과를 확인할 경로를 설계한다.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A35914-67C2-4F41-A01A-FE48BAC3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작업 경계">
            <a:extLst xmlns:a="http://schemas.openxmlformats.org/drawingml/2006/main">
              <a:ext uri="{FF2B5EF4-FFF2-40B4-BE49-F238E27FC236}">
                <a16:creationId xmlns:a16="http://schemas.microsoft.com/office/drawing/2014/main" id="{5DD0AE30-84D6-433A-BE62-9B18C303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 경계</a:t>
            </a:r>
          </a:p>
        </p:txBody>
      </p:sp>
      <p:sp>
        <p:nvSpPr>
          <p:cNvPr id="10" name="무엇을 맡기고&#10;어디까지 바꿀까?">
            <a:extLst xmlns:a="http://schemas.openxmlformats.org/drawingml/2006/main">
              <a:ext uri="{FF2B5EF4-FFF2-40B4-BE49-F238E27FC236}">
                <a16:creationId xmlns:a16="http://schemas.microsoft.com/office/drawing/2014/main" id="{F3EF2BD9-9A6B-4582-85EB-3E9B8EBE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맡기고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어디까지 바꿀까?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C37669-F2DC-4CC0-8A06-414E4842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지식 · 절차">
            <a:extLst xmlns:a="http://schemas.openxmlformats.org/drawingml/2006/main">
              <a:ext uri="{FF2B5EF4-FFF2-40B4-BE49-F238E27FC236}">
                <a16:creationId xmlns:a16="http://schemas.microsoft.com/office/drawing/2014/main" id="{C59E929B-813B-48C2-A25F-F25E4180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지식 · 절차</a:t>
            </a:r>
          </a:p>
        </p:txBody>
      </p:sp>
      <p:sp>
        <p:nvSpPr>
          <p:cNvPr id="13" name="무엇을 알고&#10;어떤 방식으로 일할까?">
            <a:extLst xmlns:a="http://schemas.openxmlformats.org/drawingml/2006/main">
              <a:ext uri="{FF2B5EF4-FFF2-40B4-BE49-F238E27FC236}">
                <a16:creationId xmlns:a16="http://schemas.microsoft.com/office/drawing/2014/main" id="{89D6B22D-8431-4982-A1D1-47BF7748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알고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방식으로 일할까?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43F3E9-C0C7-4BBE-BBE5-683CDB9F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검증 · 피드백">
            <a:extLst xmlns:a="http://schemas.openxmlformats.org/drawingml/2006/main">
              <a:ext uri="{FF2B5EF4-FFF2-40B4-BE49-F238E27FC236}">
                <a16:creationId xmlns:a16="http://schemas.microsoft.com/office/drawing/2014/main" id="{B5665A4E-EBB1-4900-B883-35922CBD6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099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· 피드백</a:t>
            </a:r>
          </a:p>
        </p:txBody>
      </p:sp>
      <p:sp>
        <p:nvSpPr>
          <p:cNvPr id="16" name="어떻게 확인하고&#10;다음 작업을 바꿀까?">
            <a:extLst xmlns:a="http://schemas.openxmlformats.org/drawingml/2006/main">
              <a:ext uri="{FF2B5EF4-FFF2-40B4-BE49-F238E27FC236}">
                <a16:creationId xmlns:a16="http://schemas.microsoft.com/office/drawing/2014/main" id="{14ACCB61-0F2A-402B-A513-BA3C98FAC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2432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어떻게 확인하고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작업을 바꿀까?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D416285-6071-4197-BFA2-20536E672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4894526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ACT 5 · C++ VISION / 내 업무로 연결">
            <a:extLst xmlns:a="http://schemas.openxmlformats.org/drawingml/2006/main">
              <a:ext uri="{FF2B5EF4-FFF2-40B4-BE49-F238E27FC236}">
                <a16:creationId xmlns:a16="http://schemas.microsoft.com/office/drawing/2014/main" id="{5EF0F9FB-90C5-4A4E-B953-791669054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C++ VISION / 내 업무로 연결</a:t>
            </a:r>
          </a:p>
        </p:txBody>
      </p:sp>
      <p:sp>
        <p:nvSpPr>
          <p:cNvPr id="2" name="S91">
            <a:extLst xmlns:a="http://schemas.openxmlformats.org/drawingml/2006/main">
              <a:ext uri="{FF2B5EF4-FFF2-40B4-BE49-F238E27FC236}">
                <a16:creationId xmlns:a16="http://schemas.microsoft.com/office/drawing/2014/main" id="{809667EF-AB48-413F-8A48-BE6CD22E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S91</a:t>
            </a:r>
          </a:p>
        </p:txBody>
      </p:sp>
      <p:sp>
        <p:nvSpPr>
          <p:cNvPr id="3" name="어느 Layer에서 마찰이 반복되는가?">
            <a:extLst xmlns:a="http://schemas.openxmlformats.org/drawingml/2006/main">
              <a:ext uri="{FF2B5EF4-FFF2-40B4-BE49-F238E27FC236}">
                <a16:creationId xmlns:a16="http://schemas.microsoft.com/office/drawing/2014/main" id="{1729334A-1DB9-47FD-B61F-D3C1DC01B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어느 Layer에서 마찰이 반복되는가?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D7340D-EDE3-4725-8479-2592CCBB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8–069 · 업무 적용을 위한 교육용 질문">
            <a:extLst xmlns:a="http://schemas.openxmlformats.org/drawingml/2006/main">
              <a:ext uri="{FF2B5EF4-FFF2-40B4-BE49-F238E27FC236}">
                <a16:creationId xmlns:a16="http://schemas.microsoft.com/office/drawing/2014/main" id="{AB8C812D-7355-49A8-81F2-D609C8EB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BEAT-068–069 · 업무 적용을 위한 교육용 질문</a:t>
            </a:r>
          </a:p>
        </p:txBody>
      </p:sp>
      <p:sp>
        <p:nvSpPr>
          <p:cNvPr id="6" name="같은 수준의 선택지다. 특정 C++ 프로젝트에서 검증된 절차나 필수 도입 순서가 아니다.">
            <a:extLst xmlns:a="http://schemas.openxmlformats.org/drawingml/2006/main">
              <a:ext uri="{FF2B5EF4-FFF2-40B4-BE49-F238E27FC236}">
                <a16:creationId xmlns:a16="http://schemas.microsoft.com/office/drawing/2014/main" id="{FB1C5736-6C5A-4951-99D4-C940EFA7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수준의 선택지다. 특정 C++ 프로젝트에서 검증된 절차나 필수 도입 순서가 아니다.</a:t>
            </a:r>
          </a:p>
        </p:txBody>
      </p:sp>
      <p:sp>
        <p:nvSpPr>
          <p:cNvPr id="7" name="지금 내 업무와 가장 가까운 한 곳을 떠올려 본다.">
            <a:extLst xmlns:a="http://schemas.openxmlformats.org/drawingml/2006/main">
              <a:ext uri="{FF2B5EF4-FFF2-40B4-BE49-F238E27FC236}">
                <a16:creationId xmlns:a16="http://schemas.microsoft.com/office/drawing/2014/main" id="{D4BDD153-6D1B-4A06-9D50-A8D13B74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지금 내 업무와 가장 가까운 한 곳을 떠올려 본다.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FC4FA6-A57A-413F-A338-47F6FA14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83C940-D61E-40E7-85C9-75ADF454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">
            <a:extLst xmlns:a="http://schemas.openxmlformats.org/drawingml/2006/main">
              <a:ext uri="{FF2B5EF4-FFF2-40B4-BE49-F238E27FC236}">
                <a16:creationId xmlns:a16="http://schemas.microsoft.com/office/drawing/2014/main" id="{644A040F-DFA4-4016-818E-30FEB99F5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A</a:t>
            </a:r>
          </a:p>
        </p:txBody>
      </p:sp>
      <p:sp>
        <p:nvSpPr>
          <p:cNvPr id="11" name="Task">
            <a:extLst xmlns:a="http://schemas.openxmlformats.org/drawingml/2006/main">
              <a:ext uri="{FF2B5EF4-FFF2-40B4-BE49-F238E27FC236}">
                <a16:creationId xmlns:a16="http://schemas.microsoft.com/office/drawing/2014/main" id="{7329B4CE-308A-4BF3-B275-EF6C6074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52412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</p:txBody>
      </p:sp>
      <p:sp>
        <p:nvSpPr>
          <p:cNvPr id="12" name="조사할 성능 병목의 범위가 흐리다">
            <a:extLst xmlns:a="http://schemas.openxmlformats.org/drawingml/2006/main">
              <a:ext uri="{FF2B5EF4-FFF2-40B4-BE49-F238E27FC236}">
                <a16:creationId xmlns:a16="http://schemas.microsoft.com/office/drawing/2014/main" id="{0F50EC28-9251-4394-B256-651737463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52412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조사할 성능 병목의 범위가 흐리다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85C141-9AFA-4118-B272-B19554CB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487A02-4D05-4F62-981C-63891DE8C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B">
            <a:extLst xmlns:a="http://schemas.openxmlformats.org/drawingml/2006/main">
              <a:ext uri="{FF2B5EF4-FFF2-40B4-BE49-F238E27FC236}">
                <a16:creationId xmlns:a16="http://schemas.microsoft.com/office/drawing/2014/main" id="{7DF8FF53-C295-478F-8865-1DC9EF09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B</a:t>
            </a:r>
          </a:p>
        </p:txBody>
      </p:sp>
      <p:sp>
        <p:nvSpPr>
          <p:cNvPr id="16" name="Context">
            <a:extLst xmlns:a="http://schemas.openxmlformats.org/drawingml/2006/main">
              <a:ext uri="{FF2B5EF4-FFF2-40B4-BE49-F238E27FC236}">
                <a16:creationId xmlns:a16="http://schemas.microsoft.com/office/drawing/2014/main" id="{5F5C8969-4F0B-4815-B291-911B1FA1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14325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7" name="빌드 조건·계약·하드웨어 가정을 반복 설명한다">
            <a:extLst xmlns:a="http://schemas.openxmlformats.org/drawingml/2006/main">
              <a:ext uri="{FF2B5EF4-FFF2-40B4-BE49-F238E27FC236}">
                <a16:creationId xmlns:a16="http://schemas.microsoft.com/office/drawing/2014/main" id="{9856A6B2-6D86-4BB9-AF77-912E437B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143250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빌드 조건·계약·하드웨어 가정을 반복 설명한다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407054-CD18-4CBC-95F8-9FEB4DA28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B4BB02-4BA2-4B9C-8BE1-6B1504C1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">
            <a:extLst xmlns:a="http://schemas.openxmlformats.org/drawingml/2006/main">
              <a:ext uri="{FF2B5EF4-FFF2-40B4-BE49-F238E27FC236}">
                <a16:creationId xmlns:a16="http://schemas.microsoft.com/office/drawing/2014/main" id="{DE6575E0-FCD6-470B-BB8C-4B7B125A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C</a:t>
            </a:r>
          </a:p>
        </p:txBody>
      </p:sp>
      <p:sp>
        <p:nvSpPr>
          <p:cNvPr id="21" name="Workflow">
            <a:extLst xmlns:a="http://schemas.openxmlformats.org/drawingml/2006/main">
              <a:ext uri="{FF2B5EF4-FFF2-40B4-BE49-F238E27FC236}">
                <a16:creationId xmlns:a16="http://schemas.microsoft.com/office/drawing/2014/main" id="{CD7AFF7C-3282-40AA-97AA-483F3922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76237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22" name="분석 → 변경 → 측정 → 회귀 확인을 매번 적는다">
            <a:extLst xmlns:a="http://schemas.openxmlformats.org/drawingml/2006/main">
              <a:ext uri="{FF2B5EF4-FFF2-40B4-BE49-F238E27FC236}">
                <a16:creationId xmlns:a16="http://schemas.microsoft.com/office/drawing/2014/main" id="{51AC0889-3C83-4505-A7F8-E7620D585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76237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분석 → 변경 → 측정 → 회귀 확인을 매번 적는다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C37A99-1E1A-4267-A18E-4A1BE526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3833AE-6BE2-4048-8804-6014E17C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">
            <a:extLst xmlns:a="http://schemas.openxmlformats.org/drawingml/2006/main">
              <a:ext uri="{FF2B5EF4-FFF2-40B4-BE49-F238E27FC236}">
                <a16:creationId xmlns:a16="http://schemas.microsoft.com/office/drawing/2014/main" id="{7400AFE4-590F-44C8-8C77-255A16941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D</a:t>
            </a:r>
          </a:p>
        </p:txBody>
      </p:sp>
      <p:sp>
        <p:nvSpPr>
          <p:cNvPr id="26" name="Verification">
            <a:extLst xmlns:a="http://schemas.openxmlformats.org/drawingml/2006/main">
              <a:ext uri="{FF2B5EF4-FFF2-40B4-BE49-F238E27FC236}">
                <a16:creationId xmlns:a16="http://schemas.microsoft.com/office/drawing/2014/main" id="{B76212E5-8026-4F59-A538-6FDE20B71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381500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Verification</a:t>
            </a:r>
          </a:p>
        </p:txBody>
      </p:sp>
      <p:sp>
        <p:nvSpPr>
          <p:cNvPr id="27" name="테스트와 Benchmark의 확인 기준이 모호하다">
            <a:extLst xmlns:a="http://schemas.openxmlformats.org/drawingml/2006/main">
              <a:ext uri="{FF2B5EF4-FFF2-40B4-BE49-F238E27FC236}">
                <a16:creationId xmlns:a16="http://schemas.microsoft.com/office/drawing/2014/main" id="{A81FCA10-2F32-4563-AF2C-889D6F6A6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381500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테스트와 Benchmark의 확인 기준이 모호하다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59492C-19A6-4415-899A-B8BDD420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3D5C68-15D3-4D66-A021-DC141734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E">
            <a:extLst xmlns:a="http://schemas.openxmlformats.org/drawingml/2006/main">
              <a:ext uri="{FF2B5EF4-FFF2-40B4-BE49-F238E27FC236}">
                <a16:creationId xmlns:a16="http://schemas.microsoft.com/office/drawing/2014/main" id="{6D8BC67F-DC27-4490-BD3F-FCE1BA390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38725"/>
            <a:ext cx="361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E</a:t>
            </a:r>
          </a:p>
        </p:txBody>
      </p:sp>
      <p:sp>
        <p:nvSpPr>
          <p:cNvPr id="31" name="Feedback Loop">
            <a:extLst xmlns:a="http://schemas.openxmlformats.org/drawingml/2006/main">
              <a:ext uri="{FF2B5EF4-FFF2-40B4-BE49-F238E27FC236}">
                <a16:creationId xmlns:a16="http://schemas.microsoft.com/office/drawing/2014/main" id="{BF2630AD-91C9-4E5F-B18B-D5AE0102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000625"/>
            <a:ext cx="2333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Feedback Loop</a:t>
            </a:r>
          </a:p>
        </p:txBody>
      </p:sp>
      <p:sp>
        <p:nvSpPr>
          <p:cNvPr id="32" name="같은 문제가 다시 생겨도 관련 시스템을 안 바꾼다">
            <a:extLst xmlns:a="http://schemas.openxmlformats.org/drawingml/2006/main">
              <a:ext uri="{FF2B5EF4-FFF2-40B4-BE49-F238E27FC236}">
                <a16:creationId xmlns:a16="http://schemas.microsoft.com/office/drawing/2014/main" id="{169D1BF6-BB83-4992-8BE2-EFC819B5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5000625"/>
            <a:ext cx="78200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문제가 다시 생겨도 관련 시스템을 안 바꾼다</a:t>
            </a:r>
          </a:p>
        </p:txBody>
      </p:sp>
      <p:sp>
        <p:nvSpPr>
          <p:cNvPr id="3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7763D88-8F1E-4100-9FBE-D42DE1EE7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9032150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5 · 잠시 생각해 보기">
            <a:extLst xmlns:a="http://schemas.openxmlformats.org/drawingml/2006/main">
              <a:ext uri="{FF2B5EF4-FFF2-40B4-BE49-F238E27FC236}">
                <a16:creationId xmlns:a16="http://schemas.microsoft.com/office/drawing/2014/main" id="{2BB89084-B407-4939-B229-350081B6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잠시 생각해 보기</a:t>
            </a:r>
          </a:p>
        </p:txBody>
      </p:sp>
      <p:sp>
        <p:nvSpPr>
          <p:cNvPr id="2" name="S92">
            <a:extLst xmlns:a="http://schemas.openxmlformats.org/drawingml/2006/main">
              <a:ext uri="{FF2B5EF4-FFF2-40B4-BE49-F238E27FC236}">
                <a16:creationId xmlns:a16="http://schemas.microsoft.com/office/drawing/2014/main" id="{76E36672-4F66-4CDE-96D1-F0A893D2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S92</a:t>
            </a:r>
          </a:p>
        </p:txBody>
      </p:sp>
      <p:sp>
        <p:nvSpPr>
          <p:cNvPr id="3" name="다음 작은 행동을 개인적으로 고른다">
            <a:extLst xmlns:a="http://schemas.openxmlformats.org/drawingml/2006/main">
              <a:ext uri="{FF2B5EF4-FFF2-40B4-BE49-F238E27FC236}">
                <a16:creationId xmlns:a16="http://schemas.microsoft.com/office/drawing/2014/main" id="{014431AA-999B-4EBD-AD03-48C99B15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작은 행동을 개인적으로 고른다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7BB438-CD0F-4A30-84CD-2E1DF19DD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70–071 · 개인 성찰">
            <a:extLst xmlns:a="http://schemas.openxmlformats.org/drawingml/2006/main">
              <a:ext uri="{FF2B5EF4-FFF2-40B4-BE49-F238E27FC236}">
                <a16:creationId xmlns:a16="http://schemas.microsoft.com/office/drawing/2014/main" id="{1681D109-C88A-42A7-AADD-D3269CFC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BEAT-070–071 · 개인 성찰</a:t>
            </a:r>
          </a:p>
        </p:txBody>
      </p:sp>
      <p:sp>
        <p:nvSpPr>
          <p:cNvPr id="6" name="마음속으로 떠올리는 시간이다. 기록·발표·제출은 요구하지 않는다.">
            <a:extLst xmlns:a="http://schemas.openxmlformats.org/drawingml/2006/main">
              <a:ext uri="{FF2B5EF4-FFF2-40B4-BE49-F238E27FC236}">
                <a16:creationId xmlns:a16="http://schemas.microsoft.com/office/drawing/2014/main" id="{C28D98A6-5161-4605-8CE9-B3548B43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마음속으로 떠올리는 시간이다. 기록·발표·제출은 요구하지 않는다.</a:t>
            </a:r>
          </a:p>
        </p:txBody>
      </p:sp>
      <p:sp>
        <p:nvSpPr>
          <p:cNvPr id="7" name="떠올린 마찰에서, 작은 행동 하나를 마음속으로.">
            <a:extLst xmlns:a="http://schemas.openxmlformats.org/drawingml/2006/main">
              <a:ext uri="{FF2B5EF4-FFF2-40B4-BE49-F238E27FC236}">
                <a16:creationId xmlns:a16="http://schemas.microsoft.com/office/drawing/2014/main" id="{C339EBF6-BC87-4786-A693-D1EADB3A6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떠올린 마찰에서, 작은 행동 하나를 마음속으로.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C14672-4348-43A4-A63A-318ABB46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707DD57F-AAEB-454D-9F79-4F6CE41E7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0" name="반복 설명 하나를 다음 작업에서는 어떻게 줄일까?">
            <a:extLst xmlns:a="http://schemas.openxmlformats.org/drawingml/2006/main">
              <a:ext uri="{FF2B5EF4-FFF2-40B4-BE49-F238E27FC236}">
                <a16:creationId xmlns:a16="http://schemas.microsoft.com/office/drawing/2014/main" id="{D2F2F353-2D03-423C-BFFA-DCFF0E03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000375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 설명 하나를 다음 작업에서는 어떻게 줄일까?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4156E6-0FF8-45B6-8986-AA93BFC7E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41772F0A-9E0D-4F0A-AAE6-FB56DAFE2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AI가 다시 찾는 프로젝트 사실 하나를 어디에 둘까?">
            <a:extLst xmlns:a="http://schemas.openxmlformats.org/drawingml/2006/main">
              <a:ext uri="{FF2B5EF4-FFF2-40B4-BE49-F238E27FC236}">
                <a16:creationId xmlns:a16="http://schemas.microsoft.com/office/drawing/2014/main" id="{94531D57-BF12-44FB-B402-8F9BE1B7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867150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AI가 다시 찾는 프로젝트 사실 하나를 어디에 둘까?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E02424-C38C-432F-B6B5-43DEE06E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03">
            <a:extLst xmlns:a="http://schemas.openxmlformats.org/drawingml/2006/main">
              <a:ext uri="{FF2B5EF4-FFF2-40B4-BE49-F238E27FC236}">
                <a16:creationId xmlns:a16="http://schemas.microsoft.com/office/drawing/2014/main" id="{4E4BA36D-F034-4C1E-8E43-191319F6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6" name="같은 실패가 또 생기면 어느 Layer부터 확인할까?">
            <a:extLst xmlns:a="http://schemas.openxmlformats.org/drawingml/2006/main">
              <a:ext uri="{FF2B5EF4-FFF2-40B4-BE49-F238E27FC236}">
                <a16:creationId xmlns:a16="http://schemas.microsoft.com/office/drawing/2014/main" id="{B8CBEB00-8DF5-4E8C-8667-5DD24DAE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33925"/>
            <a:ext cx="9906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실패가 또 생기면 어느 Layer부터 확인할까?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F1F42CD-2AE2-4B94-9F20-D21C01E9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M8</a:t>
            </a:r>
          </a:p>
        </p:txBody>
      </p:sp>
    </p:spTree>
    <p:extLst>
      <p:ext uri="{BB962C8B-B14F-4D97-AF65-F5344CB8AC3E}">
        <p14:creationId xmlns:p14="http://schemas.microsoft.com/office/powerpoint/2010/main" val="12197922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ACT 5 · 마지막 질문">
            <a:extLst xmlns:a="http://schemas.openxmlformats.org/drawingml/2006/main">
              <a:ext uri="{FF2B5EF4-FFF2-40B4-BE49-F238E27FC236}">
                <a16:creationId xmlns:a16="http://schemas.microsoft.com/office/drawing/2014/main" id="{DF9AC35E-90E3-4E97-8B4D-F76D390E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마지막 질문</a:t>
            </a:r>
          </a:p>
        </p:txBody>
      </p:sp>
      <p:sp>
        <p:nvSpPr>
          <p:cNvPr id="2" name="S93">
            <a:extLst xmlns:a="http://schemas.openxmlformats.org/drawingml/2006/main">
              <a:ext uri="{FF2B5EF4-FFF2-40B4-BE49-F238E27FC236}">
                <a16:creationId xmlns:a16="http://schemas.microsoft.com/office/drawing/2014/main" id="{52AD1192-8EED-4694-99A3-A641CD75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S93</a:t>
            </a:r>
          </a:p>
        </p:txBody>
      </p:sp>
      <p:sp>
        <p:nvSpPr>
          <p:cNvPr id="3" name="Q&amp;A와 교육 마무리">
            <a:extLst xmlns:a="http://schemas.openxmlformats.org/drawingml/2006/main">
              <a:ext uri="{FF2B5EF4-FFF2-40B4-BE49-F238E27FC236}">
                <a16:creationId xmlns:a16="http://schemas.microsoft.com/office/drawing/2014/main" id="{59BE4473-1EEA-4FCB-8481-ED3BC602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Q&amp;A와 교육 마무리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D09058-D6B5-4E2B-B162-43DD7C31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70–071 · 이 교육의 마무리">
            <a:extLst xmlns:a="http://schemas.openxmlformats.org/drawingml/2006/main">
              <a:ext uri="{FF2B5EF4-FFF2-40B4-BE49-F238E27FC236}">
                <a16:creationId xmlns:a16="http://schemas.microsoft.com/office/drawing/2014/main" id="{270C8AA4-261F-4D92-BA21-6D87C1AE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BEAT-070–071 · 이 교육의 마무리</a:t>
            </a:r>
          </a:p>
        </p:txBody>
      </p:sp>
      <p:sp>
        <p:nvSpPr>
          <p:cNvPr id="6" name="목표 · 판단 · 검증 · 책임은 개발자에게 남는다.">
            <a:extLst xmlns:a="http://schemas.openxmlformats.org/drawingml/2006/main">
              <a:ext uri="{FF2B5EF4-FFF2-40B4-BE49-F238E27FC236}">
                <a16:creationId xmlns:a16="http://schemas.microsoft.com/office/drawing/2014/main" id="{6567C66A-0E82-4EBF-BA60-7A05E7CF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목표 · 판단 · 검증 · 책임은 개발자에게 남는다.</a:t>
            </a:r>
          </a:p>
        </p:txBody>
      </p:sp>
      <p:sp>
        <p:nvSpPr>
          <p:cNvPr id="7" name="내 업무에서 무엇부터 바꿀까요?">
            <a:extLst xmlns:a="http://schemas.openxmlformats.org/drawingml/2006/main">
              <a:ext uri="{FF2B5EF4-FFF2-40B4-BE49-F238E27FC236}">
                <a16:creationId xmlns:a16="http://schemas.microsoft.com/office/drawing/2014/main" id="{94A8A17A-5263-44F3-BFD8-F9714EE3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내 업무에서 무엇부터 바꿀까요?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1DD17A-F868-45E7-B6D7-9F2AF61A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9" name="AI가 잘 일할 환경을&#10;설계한다.">
            <a:extLst xmlns:a="http://schemas.openxmlformats.org/drawingml/2006/main">
              <a:ext uri="{FF2B5EF4-FFF2-40B4-BE49-F238E27FC236}">
                <a16:creationId xmlns:a16="http://schemas.microsoft.com/office/drawing/2014/main" id="{39A87D87-86A3-4C4A-A4B6-8F862E705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AI가 잘 일할 환경을</a:t>
            </a:r>
          </a:p>
          <a:p xmlns:a="http://schemas.openxmlformats.org/drawingml/2006/main">
            <a: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설계한다.</a:t>
            </a:r>
          </a:p>
        </p:txBody>
      </p:sp>
      <p:sp>
        <p:nvSpPr>
          <p:cNvPr id="10" name="Question  →  Task  →  Context  →  System  →  Feedback Loop">
            <a:extLst xmlns:a="http://schemas.openxmlformats.org/drawingml/2006/main">
              <a:ext uri="{FF2B5EF4-FFF2-40B4-BE49-F238E27FC236}">
                <a16:creationId xmlns:a16="http://schemas.microsoft.com/office/drawing/2014/main" id="{94FD3032-198E-40C2-B48D-4A738067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Question  →  Task  →  Context  →  System  →  Feedback Loop</a:t>
            </a:r>
          </a:p>
        </p:txBody>
      </p:sp>
      <p:sp>
        <p:nvSpPr>
          <p:cNvPr id="1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F86D51E-CE86-45A9-97DD-7926FA963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</a:t>
            </a:r>
          </a:p>
        </p:txBody>
      </p:sp>
    </p:spTree>
    <p:extLst>
      <p:ext uri="{BB962C8B-B14F-4D97-AF65-F5344CB8AC3E}">
        <p14:creationId xmlns:p14="http://schemas.microsoft.com/office/powerpoint/2010/main" val="19476421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2026-10-22T03:45:33.4130000Z</dcterms:created>
  <dcterms:modified xsi:type="dcterms:W3CDTF">2026-10-22T03:45:33.4130000Z</dcterms:modified>
</coreProperties>
</file>