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5bc0534763d42b1" /><Relationship Type="http://schemas.openxmlformats.org/officeDocument/2006/relationships/extended-properties" Target="/docProps/app.xml" Id="R5931ee2b2d3a41c7" /><Relationship Type="http://schemas.openxmlformats.org/officeDocument/2006/relationships/officeDocument" Target="/ppt/presentation.xml" Id="R0ebf7c6141254c0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ac65e19059e43e2"/>
  </p:sldMasterIdLst>
  <p:notesMasterIdLst>
    <p:notesMasterId xmlns:r="http://schemas.openxmlformats.org/officeDocument/2006/relationships" r:id="R0beb12f6400e4a0a"/>
  </p:notesMasterIdLst>
  <p:sldIdLst>
    <p:sldId xmlns:r="http://schemas.openxmlformats.org/officeDocument/2006/relationships" id="256" r:id="R57589df0c98347e6"/>
    <p:sldId xmlns:r="http://schemas.openxmlformats.org/officeDocument/2006/relationships" id="257" r:id="R562b660719624f2c"/>
    <p:sldId xmlns:r="http://schemas.openxmlformats.org/officeDocument/2006/relationships" id="258" r:id="R2e6734eb653a4b59"/>
    <p:sldId xmlns:r="http://schemas.openxmlformats.org/officeDocument/2006/relationships" id="259" r:id="R1eec8003f2fe4cb3"/>
    <p:sldId xmlns:r="http://schemas.openxmlformats.org/officeDocument/2006/relationships" id="260" r:id="R883b8c4038254444"/>
    <p:sldId xmlns:r="http://schemas.openxmlformats.org/officeDocument/2006/relationships" id="261" r:id="R52df3a768a194101"/>
    <p:sldId xmlns:r="http://schemas.openxmlformats.org/officeDocument/2006/relationships" id="262" r:id="Ra39faa5395f944b4"/>
    <p:sldId xmlns:r="http://schemas.openxmlformats.org/officeDocument/2006/relationships" id="263" r:id="R17b6e7d787f44ed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498b74f11ce4912" /><Relationship Type="http://schemas.openxmlformats.org/officeDocument/2006/relationships/slideMaster" Target="/ppt/slideMasters/slideMaster1.xml" Id="Rbac65e19059e43e2" /><Relationship Type="http://schemas.openxmlformats.org/officeDocument/2006/relationships/notesMaster" Target="/ppt/notesMasters/notesMaster1.xml" Id="R0beb12f6400e4a0a" /><Relationship Type="http://schemas.openxmlformats.org/officeDocument/2006/relationships/presProps" Target="/ppt/presProps.xml" Id="Ra1b42b96b1d24f0e" /><Relationship Type="http://schemas.openxmlformats.org/officeDocument/2006/relationships/tableStyles" Target="/ppt/tableStyles.xml" Id="R0faeb0de8b264579" /><Relationship Type="http://schemas.openxmlformats.org/officeDocument/2006/relationships/slide" Target="/ppt/slides/slide1.xml" Id="R57589df0c98347e6" /><Relationship Type="http://schemas.openxmlformats.org/officeDocument/2006/relationships/slide" Target="/ppt/slides/slide2.xml" Id="R562b660719624f2c" /><Relationship Type="http://schemas.openxmlformats.org/officeDocument/2006/relationships/slide" Target="/ppt/slides/slide3.xml" Id="R2e6734eb653a4b59" /><Relationship Type="http://schemas.openxmlformats.org/officeDocument/2006/relationships/slide" Target="/ppt/slides/slide4.xml" Id="R1eec8003f2fe4cb3" /><Relationship Type="http://schemas.openxmlformats.org/officeDocument/2006/relationships/slide" Target="/ppt/slides/slide5.xml" Id="R883b8c4038254444" /><Relationship Type="http://schemas.openxmlformats.org/officeDocument/2006/relationships/slide" Target="/ppt/slides/slide6.xml" Id="R52df3a768a194101" /><Relationship Type="http://schemas.openxmlformats.org/officeDocument/2006/relationships/slide" Target="/ppt/slides/slide7.xml" Id="Ra39faa5395f944b4" /><Relationship Type="http://schemas.openxmlformats.org/officeDocument/2006/relationships/slide" Target="/ppt/slides/slide8.xml" Id="R17b6e7d787f44ed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a50b67cbeb8444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81d99a4ac8842a1" /><Relationship Type="http://schemas.openxmlformats.org/officeDocument/2006/relationships/notesMaster" Target="/ppt/notesMasters/notesMaster1.xml" Id="R9d63a7b430b649e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f490de66ba54acc" /><Relationship Type="http://schemas.openxmlformats.org/officeDocument/2006/relationships/notesMaster" Target="/ppt/notesMasters/notesMaster1.xml" Id="R9db2c2e220bb485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cd41ecabaf94dc7" /><Relationship Type="http://schemas.openxmlformats.org/officeDocument/2006/relationships/notesMaster" Target="/ppt/notesMasters/notesMaster1.xml" Id="Re2b7a723e17c45b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0293a84371947db" /><Relationship Type="http://schemas.openxmlformats.org/officeDocument/2006/relationships/notesMaster" Target="/ppt/notesMasters/notesMaster1.xml" Id="Ra6fa55009c5a436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a319c42071d4c30" /><Relationship Type="http://schemas.openxmlformats.org/officeDocument/2006/relationships/notesMaster" Target="/ppt/notesMasters/notesMaster1.xml" Id="R652cf62a2c4e454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249db2e0ec44565" /><Relationship Type="http://schemas.openxmlformats.org/officeDocument/2006/relationships/notesMaster" Target="/ppt/notesMasters/notesMaster1.xml" Id="R45237d9547f84e4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4be91a75e6a44bc" /><Relationship Type="http://schemas.openxmlformats.org/officeDocument/2006/relationships/notesMaster" Target="/ppt/notesMasters/notesMaster1.xml" Id="R4e25a26a8271466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1233e4659604781" /><Relationship Type="http://schemas.openxmlformats.org/officeDocument/2006/relationships/notesMaster" Target="/ppt/notesMasters/notesMaster1.xml" Id="Rb5f38ad99adf4df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S74 — 여섯 시간의 Story를 한 장으로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여섯 시간의 Story를 한 장으로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5A  FULL STORY RECAP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Chatbot은 답을 구하고, Prompt는 Task를 구체화하며, Context는 필요한 Project 지식을 제공하고, Harness는 작업 환경을 설계하며, Loop는 Feedback으로 System을 개선한다.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“나는 지금 AI를 어떤 방식으로 사용하고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Lecture) 처음의 질문으로 돌아가 다섯 방식을 한눈에 보여준다.</a:t>
            </a:r>
          </a:p>
          <a:p xmlns:a="http://schemas.openxmlformats.org/drawingml/2006/main">
            <a:r>
              <a:t>2. (0:30–2:45 / Lecture) 각 행의 행동만 회수한다: 답을 구하기, 이번 작업 구체화, 프로젝트 지식 제공, 일하는 환경 설계, 피드백으로 시스템 수정. 새 용어를 덧붙이지 않는다.</a:t>
            </a:r>
          </a:p>
          <a:p xmlns:a="http://schemas.openxmlformats.org/drawingml/2006/main">
            <a:r>
              <a:t>3. (2:45–4:00 / Lecture) 앞의 방식이 사라지지 않고 문제에 맞는 대응이 더해졌다고 정리한다. S75 실제 Repository 이력→S76 선택 기준→S77 책임을 거쳐 S78에서 AI-Native 운영 모델을 회수한다.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다섯 방식이 어떤 문제에 대응했는지 여정을 회수한다. 실제 State 이름이나 책임 목록을 여기서 모두 설명하지 않고 S75와 S77에 남긴다.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BEAT-060 · 앞선 ACT의 Story callback. 새 Demo는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교육의 문제-driven 진화 모델이다. 각 단계는 앞 단계를 대체하거나 모든 개발자가 같은 maturity 순서로 이동해야 한다는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현재 사용 방식에서 다음으로 필요한 작은 engineering 대응 하나를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어떤 문제가 다음 단계의 접근을 필요하게 했는지 시스템 관점으로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기존 Vision 사례를 선택적으로 회상할 수 있다. 새 C++ 기술 사례는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다섯 개 행동 행을 차례로 가리킨다. 새로운 실행이나 상태를 추가하지 않는다. S78의 정의를 바로 다음 장에서 설명한다고 예고하지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Opening question을 띄우고 개인적으로 떠올리게 한다. 답변이나 현재 수준 발표를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“전체 교육 모델 가운데, 하나의 Repository에서 실제로 확인한 변화만 다시 보겠습니다.” S75로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총 4분, Lecture 4분. 각 단계 설명을 한 문장에 제한하고 앞선 ACT 내용을 다시 강의하지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S74와 production/preview/act5/S74.png를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S75 — 하나의 Repository가 문제에 대응해 진화했다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S75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하나의 Repository가 문제에 대응해 진화했다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5 / 5A  PRIMARY DEMO EVOLUTION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1분 + Demo 2분 (VISUAL)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각 State는 해당 문제에 대응해 기록된 Engineering history다. State 순서는 기능 성숙도 등급이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“이 Repository는 어떤 문제를 만나며 바뀌었나?”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Lecture) 전체 교육 모델 가운데 실제 Product 이력만 회수하는 장임을 안내한다. 일곱 이름을 번호·화살표 순서로 읽고, 상단 왼쪽에서 오른쪽으로, 다음 하단 오른쪽에서 왼쪽으로 이동한다. State는 당시 문제에 대응한 이력임을 말한다.</a:t>
            </a:r>
          </a:p>
          <a:p xmlns:a="http://schemas.openxmlformats.org/drawingml/2006/main">
            <a:r>
              <a:t>2. (1:00–2:30 / VISUAL Demo) 아래 세 발췌(S17 crop 수정, S33 상세 문서 분리, S46 같은 조건의 성능 비교)를 가리키며 위의 일곱 State 변화와 연결한다. 작은 그림은 기억을 회수하는 용도이며 코드·경로·수치를 다시 읽는 시간이 아니다.</a:t>
            </a:r>
          </a:p>
          <a:p xmlns:a="http://schemas.openxmlformats.org/drawingml/2006/main">
            <a:r>
              <a:t>3. (2:30–3:00 / VISUAL Demo) STATE-04-PERF의 bounded endpoint에서 닫는다. Benchmark 준비 commit은 추가 State가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State rail의 번호 01–07과 화살표를 따라간다. 상단은 왼쪽→오른쪽, 아래로 내려간 뒤 하단은 오른쪽→왼쪽으로 읽는다. 하단 발췌는 rail과 구분된 회상 자료이며 작은 코드·수치를 다시 읽거나 바로 위 State와 열 기준으로 대응시키지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OBSERVED_PRODUCT · `ai-dev-training-demo`의 named Git State/tag 기록과 DEMO-12. State 순서는 STATE-00 → STATE-00-FIXED → STATE-01 → STATE-02 → STATE-03 → STATE-04 → STATE-04-PERF다. 발췌 원본: assets/slide-illustrations/recap/S16-source.png, S33-source.png, S46-source.png (기존 production PNG와 동일). S17은 TRIAL-002 diff 재구성, S33는 STATE-02→03 문구 발췌, S46는 STATE-04→04-PERF 단일 코드·입력·환경 비교다. SHA-256과 native crop 범위: assets/slide-illustrations/ASSET_MANIFEST.json.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기록된 State와 Demo evidence 범위에 한정한다. Benchmark preparation commits는 supporting history이며 별도 State가 아니다. Subagent, Memory, stale Harness 또는 Loop를 Product State로 표시하지 않는다. 세 그림은 기존 발표자료 발췌이며 원본 실행 캡처가 아니다. S33로 Routing 우월성·토큰 절감을 주장하지 않고, S46는 tracemalloc 피크와 이 환경의 코드 변경 결과로 한정하며 RSS·Harness 단독 인과성으로 확대하지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변화가 기능 수를 늘리기 위한 것이 아니라 당시 확인된 문제에 대응했다는 점을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Product State와 Conceptual 또는 Observed Meta 사례를 구분하고 bounded Product endpoint를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DEMO-12 · VISUAL, 2분. 실제 Product State/tag를 요약한 static timeline이다. 새 Trial·repository 실행·추가 state는 없다. Benchmark preparation은 별도 State로 그리지 않는다. 세 발췌와 seven-State rail을 함께 사용하되 개별 Trial을 새로 실행하거나 재설명하지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질문에 맞춰 각 State 아래 한 문구를 함께 훑는다. 평가 점수나 성숙도 단계로 읽지 않게 안내한다.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“그러면 이 작업에서 Subagent와 Memory는 왜 없었을까요?” S76로 전환한다.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 1분 + VISUAL Demo 2분 = 3분. 세부 Trial을 재설명하지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production/ACT_5.pptx의 S75와 production/preview/act5/S75.png를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S76 — 필요성이 입증되지 않은 것은 보류했다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필요성이 입증되지 않은 것은 보류했다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5A  MINIMUM EFFECTIVE HARNESS CALLBACK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이 bounded task에서는 Subagent와 Memory를 추가할 충분한 근거가 없었다. “Use what the problem justifies.”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“왜 현재 Demo의 최종 그림에 Subagent와 Memory가 없을까?”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Lecture) 이번 작업에서 쓴 왼쪽 요소와 보류한 오른쪽 요소를 비교한다.</a:t>
            </a:r>
          </a:p>
          <a:p xmlns:a="http://schemas.openxmlformats.org/drawingml/2006/main">
            <a:r>
              <a:t>2. (0:30–1:20 / Lecture) STATE-04-PERF와 DEC-0018의 bounded 범위에서 Subagent·Memory 추가의 이득이 충분히 정당화되지 않았다고 설명한다.</a:t>
            </a:r>
          </a:p>
          <a:p xmlns:a="http://schemas.openxmlformats.org/drawingml/2006/main">
            <a:r>
              <a:t>3. (1:20–2:00 / Lecture) “현재 문제가 필요로 하는 만큼 설계한다”는 기준을 남긴다. 기능 수가 많거나 적다는 이유만으로 성숙도를 판단하지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이번 Demo에서 채택한 구성과 필요성을 입증하지 못한 구성을 대비한다. 여정 요약보다 무엇을 보류할지 판단한 기준에 집중한다.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OBSERVED_PRODUCT / TEACHING_MODEL · STATE-04-PERF와 DEC-0018. 사용한 요소: task Prompt, Project Context/routing, reusable Skill/workflow, Tests와 benchmark. 이번 bounded task에서 Subagent와 Memory는 사용되지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Demo의 bounded 작업과 이 교육의 프로젝트별 heuristic이다. 모든 Project에 Subagent/Memory가 불필요하거나 적게 쓰는 것이 항상 낫다는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처음부터 모든 기능을 넣지 않고 지금 반복되는 마찰과 필요한 지원부터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구성요소별 비용과 이득을 실제 task, context, verification 요구에 맞춰 평가한다.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자신의 Repository에서도 같은 정당화 질문을 적용할 수 있다. 새 C++ 절차는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추가 실행 없음. 왼쪽은 STATE-04-PERF의 system components, 오른쪽은 이번 사례에서 정당화되지 않은 Subagent/Memory다. 상태와 일반 규칙을 섞지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차이를 보고 “Use what the problem justifies”라는 기준을 가져간다. 도구 선택 답변이나 투표는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“필요한 구성요소를 선택한 뒤에도, 그 결과가 충분한지 판단하는 책임은 남습니다. 무엇을 확인하고 완료를 수용해야 할까요?” S77으로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2분. 구성요소를 다시 강의하지 않고 판단 근거와 범위에 집중한다.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S76와 production/preview/act5/S76.png를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S77 — 위임이 늘어도 개발자 책임은 남는다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위임이 늘어도 개발자 책임은 남는다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5A  DEVELOPER RESPONSIBILITY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Agent는 조사·생성·변경·실행·비교를 도울 수 있다. 개발자는 목표, 제약, 판단, Verification, 완료 여부와 결과 책임을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“AI가 더 많은 일을 맡아도 개발자가 계속 책임지는 것은 무엇인가?”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(0:00–0:40 / Lecture) S76의 구성요소 선택에서 결과를 수용하는 판단으로 이어 간다. AI가 도울 수 있는 행동은 상단 한 문장으로만 읽는다.</a:t>
            </a:r>
          </a:p>
          <a:p xmlns:a="http://schemas.openxmlformats.org/drawingml/2006/main">
            <a:r>
              <a:t>2. (0:40–2:20 / Lecture) 네 질문을 차례로 짚는다: 해결할 목표, 적절한 선택, 확인 근거, 완료 수용 여부.</a:t>
            </a:r>
          </a:p>
          <a:p xmlns:a="http://schemas.openxmlformats.org/drawingml/2006/main">
            <a:r>
              <a:t>3. (2:20–3:00 / Lecture) 역할의 절대적 분업이 아니라 개발자의 판단과 책임을 강조하고 S78의 운영 모델로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AI가 도울 수 있는 행동은 짧게 읽고 개발자에게 남는 목표·판단·검증·책임의 질문을 차례로 확인한다. 이전 장의 도구 채택 목록을 반복하지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BEAT-061–062. 새 Product feature나 책임 handoff evidence는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교육에서 고정한 책임 원칙이다. Agent와 개발자의 역할을 절대적인 분업 규칙으로 제시하지 않는다. AI fear/control framing을 사용하지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AI가 결과를 만들 수 있어도 무엇이 맞고 완료인지 판단하는 일은 남는다.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위임 범위, 제약, 검증 기준과 최종 수용 기준을 함께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N/A — 별도 실행 없음. 정적 role/responsibility diagram.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네 가지 책임 축을 읽고 자신의 완료 기준을 떠올리게 한다. 응답 요구 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“이 역할 변화를 이 교육에서는 어떤 모델로 부를까요?” S78로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3분. 다섯 Agent 행동을 상세 제품 기능처럼 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S77와 production/preview/act5/S77.png를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S78 — AI-Native Development는 이 교육의 운영 모델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AI-Native Development는 이 교육의 운영 모델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5A  AI-NATIVE DEVELOPMENT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이 교육은 Task Boundary, Project Context, Reusable Workflow, Verification, Feedback Loop를 의도적으로 설계·운영하는 방식을 AI-Native Development의 operational model로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“AI에게 일을 많이 맡기면 AI-Native일까?”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Lecture) 이 과정이 AI가 일할 조건과 결과 확인 경로를 설계하는 방식에 AI-Native Development라는 운영 모델 이름을 붙였음을 밝힌다.</a:t>
            </a:r>
          </a:p>
          <a:p xmlns:a="http://schemas.openxmlformats.org/drawingml/2006/main">
            <a:r>
              <a:t>2. (0:30–2:20 / Lecture) 작업 경계, 프로젝트 지식·절차, 검증·피드백 세 행에서 각각 Task Boundary, Project Context/Reusable Workflow, Verification/Feedback Loop가 맡는 질문을 연결한다.</a:t>
            </a:r>
          </a:p>
          <a:p xmlns:a="http://schemas.openxmlformats.org/drawingml/2006/main">
            <a:r>
              <a:t>3. (2:20–3:00 / Lecture) 모든 Task에 모든 요소를 의무적으로 넣으라는 보편 정의가 아님을 한정하고 자신의 반복 마찰을 찾는 S79로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다섯 구성요소를 이 교육의 설계 질문으로 묶는다. 작업 경계→지식과 절차→검증과 피드백을 설명하되 공식·보편 정의나 의무적인 maturity 순서로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DEC-0023의 course-specific operational framing.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공식·보편 업계 표준 정의라고 말하지 않는다. 모든 task 또는 Demo에 다섯 구성요소를 의무적으로 도입하라는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AI 사용량을 늘리는 것만으로 끝내지 않고 반복되는 작은 마찰을 하나 개선한다.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Model capability와 작업 System/Harness 설계를 구분해 다음 병목을 진단한다.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다음 S79에서 C++ Vision 업무와 자신의 Repository로 transfer한다.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N/A — 별도 실행 없음. 다섯 구성요소는 비교 가능한 system components로 보이며 maturity 순서가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Opening question을 남긴 뒤 course model의 범위를 확인한다. 공식 용어 정의나 정답 발표를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“내 Repository에서는 어떤 Layer에서 마찰이 반복될까요?” S79로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3분. AI 사용량과 설계된 work system의 차이만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S78와 production/preview/act5/S78.png를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S79 — 어느 Layer에서 마찰이 반복되는가?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어느 Layer에서 마찰이 반복되는가?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5B  C++ VISION / MY REPOSITORY TRANSFER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1분 + Transition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Task, Context, Workflow, Verification, Repeated Failure Loop 중 현재 가장 큰 마찰과 가까운 한 곳을 선택한다. 정해진 maturity sequence가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“내 Repository에서 다음 주에 하나만 바꾼다면?”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Case) C++ Vision의 병목 범위, 빌드 조건·계약·하드웨어 가정, 분석·측정 절차를 업무에 비춰 보는 교육용 예시라고 밝힌다. 실제 프로젝트 사건이 아니다.</a:t>
            </a:r>
          </a:p>
          <a:p xmlns:a="http://schemas.openxmlformats.org/drawingml/2006/main">
            <a:r>
              <a:t>2. (1:00–3:00 / Transition) 다섯 행의 증상 질문을 읽으며 현재 자기 업무와 가까운 것이 있는지 마음속으로 떠올리게 한다. 같은 수준의 선택지이며 반드시 위에서부터 도입하는 순서가 아니다.</a:t>
            </a:r>
          </a:p>
          <a:p xmlns:a="http://schemas.openxmlformats.org/drawingml/2006/main">
            <a:r>
              <a:t>3. (3:00–5:00 / Transition) 떠올린 마찰 한 곳을 다음 작업의 작은 행동 하나로 좁히겠다고 안내하고 S80의 세 질문으로 연결한다. Task/Context/Workflow/Verification/Feedback의 새 개념 설명은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자기 업무의 반복 마찰 한 곳을 고르는 적용 질문에 집중한다. 모든 Layer를 도입하라는 체크리스트로 읽지 않고 현재 문제와 가장 가까운 한 곳만 고르게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C++ Vision engineering-pattern transfer. 실제 C++ Project, hardware, toolchain 또는 benchmark 결과는 사용하지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다섯 선택지는 같은 높이의 적용 후보이며 순서가 있는 maturity ladder가 아니다. 특정 C++ Project 규칙·도구·hardware 또는 검증된 procedure를 보장하지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전체 Harness를 새로 만들기 전에 반복해서 설명하거나 확인하는 부분 하나를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반복 비용, 위험과 verification surface를 보고 투자 지점을 고른다.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Primary bridge. 예시: 성능 병목 조사 Task; build mode/algorithm contract/hardware assumptions Context; profile → change → benchmark → regression Workflow; tests + benchmark Verification; 반복 이슈가 다시 생기면 관련 System 수정. 실제 project procedure가 아닌 pattern transfer.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새 Demo가 없다. 왼쪽 Layer 이름보다 오른쪽 반복되는 마찰을 먼저 읽고, 선택지들은 같은 높이의 적용 후보임을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선택지를 강사 주도로 비교한다. 청중에게 선택 발표, 투표, 실습, 제출을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“방금 떠올린 한 곳에서, 다음 작업 때 다르게 해 볼 작은 행동 하나를 마음속으로 골라 봅시다.” S80로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1분 + Transition 4분 = 5분. Transition 동안 새 사례를 열지 않고 reflection handoff만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S79와 production/preview/act5/S79.png를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S80 — 다음 작은 행동을 개인적으로 고른다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다음 작은 행동을 개인적으로 고른다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5B  FINAL REFLECTION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 + Reflection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반복해서 적는 설명, AI가 다시 찾는 Project 사실, 반복되는 실패에서 고칠 System layer 가운데 한 가지를 생각한다.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“방금 떠올린 마찰에서, 다음 작업 때 다르게 해 볼 작은 행동 하나는 무엇인가?”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S79에서 떠올린 반복 마찰 한 곳을 이어 받아, 다음 작업에서 다르게 해 볼 작은 행동 하나를 고르는 시간이라고 안내한다.</a:t>
            </a:r>
          </a:p>
          <a:p xmlns:a="http://schemas.openxmlformats.org/drawingml/2006/main">
            <a:r>
              <a:t>2. (1:00–2:00 / Lecture) 화면의 반복 설명 하나를 줄이는 방법, 다시 찾는 프로젝트 사실 하나를 둘 곳, 같은 실패 때 먼저 확인할 Layer의 세 질문을 읽는다. 자신과 가까운 질문 하나를 바탕으로 다음 행동을 떠올리게 한다.</a:t>
            </a:r>
          </a:p>
          <a:p xmlns:a="http://schemas.openxmlformats.org/drawingml/2006/main">
            <a:r>
              <a:t>3. (2:00–4:00 / Reflection) 두 분 동안 다음 행동 하나를 조용히 개인적으로 고를 시간을 둔다. 답변·기록·발표·제출을 요구하지 않는다. 시간 뒤 S81 질문 시간으로 넘어간다.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이번 장은 개인적인 선택을 위한 침묵을 허용한다. 앞의 여정·State·모델을 다시 강의하지 않고 작은 다음 행동 하나를 생각하게 한다. 답변·공유·공개 약속은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승인된 private reflection prompt. 개인 업무에 대한 새 관찰 근거는 수집하지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개인 Reflection이며 응답, 공유, written commitment 또는 실제 업무 변경을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반복되는 설명이나 Project 사실을 AI가 다시 찾는 지점부터 생각한다.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같은 실패가 반복될 때 Prompt 밖의 어떤 System layer가 원인인지 떠올린다.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자신의 Vision 또는 개발 Repository에 같은 질문을 개인적으로 적용할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N/A — 별도 Demo 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떠올린 마찰에 맞는 다음 행동 하나를 마음속으로 고르는 개인 성찰로 진행한다. 공유나 실천 약속을 요구하지 않고 응답을 받기 위해 기다리지 않는다. 2분 뒤 바로 S81으로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“이제 질문을 받고, 마지막 공통 모델로 마무리하겠습니다.” S81으로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 + Reflection 2분 = 4분. Reflection은 2분에 종료하고 Q&amp;A와 섞지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S80와 production/preview/act5/S80.png를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S81 — Q&amp;A와 교육 마무리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Q&amp;A와 교육 마무리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5B  FINAL Q&amp;A / CLOSING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6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Q&amp;A 4분 + Closing Transition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Goal, Judgment, Verification, Responsibility를 유지하면서 AI가 일할 환경과 Feedback을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“남은 질문은 무엇인가?”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(0:00–4:00 / Q&amp;A) 상단의 “내 업무에서 무엇부터 바꿀까요?”를 가리키고 질문을 받는다. 질문이 없으면 “반복 설명을 줄이려면 Task와 Project Context 중 무엇을 살필까요?” 또는 “결과 확인 기준을 먼저 정한다면 어떤 업무부터 볼까요?”를 사용해 앞의 교육 모델 안에서 짧게 정리한다.</a:t>
            </a:r>
          </a:p>
          <a:p xmlns:a="http://schemas.openxmlformats.org/drawingml/2006/main">
            <a:r>
              <a:t>2. (4:00–6:00 / Closing Transition) 질문을 마감하고 중앙의 “AI가 잘 일할 환경을 설계한다”로 마무리한다. 하단 Question→Task→Context→System→Feedback Loop를 짧게 회수한다.</a:t>
            </a:r>
          </a:p>
          <a:p xmlns:a="http://schemas.openxmlformats.org/drawingml/2006/main">
            <a:r>
              <a:t>3. 종료 cue: “목표·판단·검증·책임을 유지하면서, AI가 잘 일할 환경을 설계합시다.”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BEAT-070–071. 새로운 Product claim이나 기술 개념은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AI-Native Development의 course-specific framing으로 닫는다. 제품 기능, 자동화 수준 또는 모든 상황의 단일 처방을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AI 사용량 대신 내 일에 필요한 환경과 확인 기준을 기억한다.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Goal, Judgment, Verification, Responsibility를 유지하며 System의 Feedback 경로를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추가 실행 없음. Q&amp;A 운영 지시와 시간표는 Notes에만 두고 화면에는 질문과 마지막 한 문장을 남긴다.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Q&amp;A 4분. 질문이 없으면 FAQ 또는 개발 업무 적용 질문 하나를 사용하며 새로운 강의 topic을 열지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2분 closing transition: Question → Task → Context → System → Feedback Loop를 회수하고 교육을 마친다.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Q&amp;A 4분 + Closing Transition 2분 = 6분. Q&amp;A는 4분에 마감하고 추가 질문을 이유로 시간을 늘리지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S81와 production/preview/act5/S81.png를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1f40676e48408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54a60de46a425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13b345f9bb441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f04ff47e5f4eb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7cde7d41984b7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d2f007a1e14f1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2589EFD-7F8E-4F6D-9320-6A65665B3E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84FEA9B-2E09-43B1-A266-A47D20DC9A3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58D75C1-1074-435C-9E10-0632A8F1FB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DD7FE49-EC83-4182-978B-409F0ECB09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4B7D1A5-598D-42CC-B97B-578105791F1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D9D054C-B94A-4D0C-BFC2-E8C7C34673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8C8D360-72DF-4ED6-8C8E-4D92A559E43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1D97689-1BA4-4B8B-884F-6E9388FBDE0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CFB2A37-651F-418F-B687-E5E39F02083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A6B51E8-2CFC-4669-B3C5-C5FC1BC25AA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2d11008451947cf" /><Relationship Type="http://schemas.openxmlformats.org/officeDocument/2006/relationships/slideLayout" Target="/ppt/slideLayouts/slideLayout1.xml" Id="R9109a55fbc5c49f5" /><Relationship Type="http://schemas.openxmlformats.org/officeDocument/2006/relationships/slideLayout" Target="/ppt/slideLayouts/slideLayout2.xml" Id="Ra3307440f30f4b53" /><Relationship Type="http://schemas.openxmlformats.org/officeDocument/2006/relationships/slideLayout" Target="/ppt/slideLayouts/slideLayout3.xml" Id="Rb4baa12bc45b4962" /><Relationship Type="http://schemas.openxmlformats.org/officeDocument/2006/relationships/slideLayout" Target="/ppt/slideLayouts/slideLayout4.xml" Id="Rb921cf958a8e402d" /><Relationship Type="http://schemas.openxmlformats.org/officeDocument/2006/relationships/slideLayout" Target="/ppt/slideLayouts/slideLayout5.xml" Id="R9814d3a3b0e244f8" /><Relationship Type="http://schemas.openxmlformats.org/officeDocument/2006/relationships/slideLayout" Target="/ppt/slideLayouts/slideLayout6.xml" Id="R7d193a4e43984d1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109a55fbc5c49f5"/>
    <p:sldLayoutId xmlns:r="http://schemas.openxmlformats.org/officeDocument/2006/relationships" id="2147483650" r:id="Ra3307440f30f4b53"/>
    <p:sldLayoutId xmlns:r="http://schemas.openxmlformats.org/officeDocument/2006/relationships" id="2147483651" r:id="Rb4baa12bc45b4962"/>
    <p:sldLayoutId xmlns:r="http://schemas.openxmlformats.org/officeDocument/2006/relationships" id="2147483652" r:id="Rb921cf958a8e402d"/>
    <p:sldLayoutId xmlns:r="http://schemas.openxmlformats.org/officeDocument/2006/relationships" id="2147483653" r:id="R9814d3a3b0e244f8"/>
    <p:sldLayoutId xmlns:r="http://schemas.openxmlformats.org/officeDocument/2006/relationships" id="2147483654" r:id="R7d193a4e43984d1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20471fb58e14d9c" /><Relationship Type="http://schemas.openxmlformats.org/officeDocument/2006/relationships/notesSlide" Target="/ppt/notesSlides/notesSlide1.xml" Id="R9faac532f72d4ea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4fe8bbd97a4b1a" /><Relationship Type="http://schemas.openxmlformats.org/officeDocument/2006/relationships/image" Target="/ppt/media/image.png" Id="R658d6bc4f2724003" /><Relationship Type="http://schemas.openxmlformats.org/officeDocument/2006/relationships/image" Target="/ppt/media/image2.png" Id="R6eab0a4a050b4ecf" /><Relationship Type="http://schemas.openxmlformats.org/officeDocument/2006/relationships/image" Target="/ppt/media/image3.png" Id="R108aa6dfcf4b4514" /><Relationship Type="http://schemas.openxmlformats.org/officeDocument/2006/relationships/notesSlide" Target="/ppt/notesSlides/notesSlide2.xml" Id="Re7dfa9ef45534c3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69c22f76254d54" /><Relationship Type="http://schemas.openxmlformats.org/officeDocument/2006/relationships/notesSlide" Target="/ppt/notesSlides/notesSlide3.xml" Id="Rc3ce388d98cc45c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06cdb8c67424288" /><Relationship Type="http://schemas.openxmlformats.org/officeDocument/2006/relationships/notesSlide" Target="/ppt/notesSlides/notesSlide4.xml" Id="R6b36eb1aa9014e5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ddc5db8a8764c44" /><Relationship Type="http://schemas.openxmlformats.org/officeDocument/2006/relationships/notesSlide" Target="/ppt/notesSlides/notesSlide5.xml" Id="Rd22570f6187b4ca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8ed63f140c74a3d" /><Relationship Type="http://schemas.openxmlformats.org/officeDocument/2006/relationships/notesSlide" Target="/ppt/notesSlides/notesSlide6.xml" Id="R971275ad512844a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b67049dea614601" /><Relationship Type="http://schemas.openxmlformats.org/officeDocument/2006/relationships/notesSlide" Target="/ppt/notesSlides/notesSlide7.xml" Id="R0058eb127c97456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5b185e79c84ed2" /><Relationship Type="http://schemas.openxmlformats.org/officeDocument/2006/relationships/notesSlide" Target="/ppt/notesSlides/notesSlide8.xml" Id="Rd8e1ef5f9472421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ACT 5 · 전체 여정 회수">
            <a:extLst xmlns:a="http://schemas.openxmlformats.org/drawingml/2006/main">
              <a:ext uri="{FF2B5EF4-FFF2-40B4-BE49-F238E27FC236}">
                <a16:creationId xmlns:a16="http://schemas.microsoft.com/office/drawing/2014/main" id="{A8EB288D-B066-4619-B2CD-7FC9FFC9A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전체 여정 회수</a:t>
            </a:r>
          </a:p>
        </p:txBody>
      </p:sp>
      <p:sp>
        <p:nvSpPr>
          <p:cNvPr id="2" name="S74">
            <a:extLst xmlns:a="http://schemas.openxmlformats.org/drawingml/2006/main">
              <a:ext uri="{FF2B5EF4-FFF2-40B4-BE49-F238E27FC236}">
                <a16:creationId xmlns:a16="http://schemas.microsoft.com/office/drawing/2014/main" id="{913993F5-C60A-4D55-A8E1-77B238D2A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S74</a:t>
            </a:r>
          </a:p>
        </p:txBody>
      </p:sp>
      <p:sp>
        <p:nvSpPr>
          <p:cNvPr id="3" name="여섯 시간의 Story를 한 장으로">
            <a:extLst xmlns:a="http://schemas.openxmlformats.org/drawingml/2006/main">
              <a:ext uri="{FF2B5EF4-FFF2-40B4-BE49-F238E27FC236}">
                <a16:creationId xmlns:a16="http://schemas.microsoft.com/office/drawing/2014/main" id="{B0D4FB4F-3846-49B0-9E7E-293B965F9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여섯 시간의 Story를 한 장으로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385F29-521C-4D1E-88A2-D00E85D4A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60 · 이 교육의 문제 중심 진화 모델">
            <a:extLst xmlns:a="http://schemas.openxmlformats.org/drawingml/2006/main">
              <a:ext uri="{FF2B5EF4-FFF2-40B4-BE49-F238E27FC236}">
                <a16:creationId xmlns:a16="http://schemas.microsoft.com/office/drawing/2014/main" id="{1376102A-16A9-4A36-80ED-9FC674EC7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BEAT-060 · 이 교육의 문제 중심 진화 모델</a:t>
            </a:r>
          </a:p>
        </p:txBody>
      </p:sp>
      <p:sp>
        <p:nvSpPr>
          <p:cNvPr id="6" name="앞의 방식을 버리거나, 모든 프로젝트가 같은 순서로 발전해야 한다는 뜻은 아니다.">
            <a:extLst xmlns:a="http://schemas.openxmlformats.org/drawingml/2006/main">
              <a:ext uri="{FF2B5EF4-FFF2-40B4-BE49-F238E27FC236}">
                <a16:creationId xmlns:a16="http://schemas.microsoft.com/office/drawing/2014/main" id="{8F3C916A-3398-4109-88FD-2B6F2048E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앞의 방식을 버리거나, 모든 프로젝트가 같은 순서로 발전해야 한다는 뜻은 아니다.</a:t>
            </a:r>
          </a:p>
        </p:txBody>
      </p:sp>
      <p:sp>
        <p:nvSpPr>
          <p:cNvPr id="7" name="문제가 넓어질수록, 필요한 대응이 더해졌다.">
            <a:extLst xmlns:a="http://schemas.openxmlformats.org/drawingml/2006/main">
              <a:ext uri="{FF2B5EF4-FFF2-40B4-BE49-F238E27FC236}">
                <a16:creationId xmlns:a16="http://schemas.microsoft.com/office/drawing/2014/main" id="{BDE16673-84E0-4F2B-8BC1-C58C52238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문제가 넓어질수록, 필요한 대응이 더해졌다.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47BF807F-10D4-4A76-B1B2-FA4442878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051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2973F3-5AC8-4201-A99F-5FD6D6916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Chatbot">
            <a:extLst xmlns:a="http://schemas.openxmlformats.org/drawingml/2006/main">
              <a:ext uri="{FF2B5EF4-FFF2-40B4-BE49-F238E27FC236}">
                <a16:creationId xmlns:a16="http://schemas.microsoft.com/office/drawing/2014/main" id="{22E4F79C-6A3A-4EB8-BFFA-05A5AE299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1981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Chatbot</a:t>
            </a:r>
          </a:p>
        </p:txBody>
      </p:sp>
      <p:sp>
        <p:nvSpPr>
          <p:cNvPr id="11" name="답을 구한다">
            <a:extLst xmlns:a="http://schemas.openxmlformats.org/drawingml/2006/main">
              <a:ext uri="{FF2B5EF4-FFF2-40B4-BE49-F238E27FC236}">
                <a16:creationId xmlns:a16="http://schemas.microsoft.com/office/drawing/2014/main" id="{76CC2437-D8AD-4928-86CA-C5FD2FE1B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1981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답을 구한다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0B2E7D-0338-4C2C-88C2-0FE0CFF4D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6385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3" name="02">
            <a:extLst xmlns:a="http://schemas.openxmlformats.org/drawingml/2006/main">
              <a:ext uri="{FF2B5EF4-FFF2-40B4-BE49-F238E27FC236}">
                <a16:creationId xmlns:a16="http://schemas.microsoft.com/office/drawing/2014/main" id="{453AF475-D744-4005-91DE-589537EDD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9051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A601D3-CC94-4508-98CF-349FD70D7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352800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5" name="Prompt">
            <a:extLst xmlns:a="http://schemas.openxmlformats.org/drawingml/2006/main">
              <a:ext uri="{FF2B5EF4-FFF2-40B4-BE49-F238E27FC236}">
                <a16:creationId xmlns:a16="http://schemas.microsoft.com/office/drawing/2014/main" id="{7B10169F-6A17-4B6C-AB73-6C82A306A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524250"/>
            <a:ext cx="1981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Prompt</a:t>
            </a:r>
          </a:p>
        </p:txBody>
      </p:sp>
      <p:sp>
        <p:nvSpPr>
          <p:cNvPr id="16" name="이번 작업을&#10;구체화한다">
            <a:extLst xmlns:a="http://schemas.openxmlformats.org/drawingml/2006/main">
              <a:ext uri="{FF2B5EF4-FFF2-40B4-BE49-F238E27FC236}">
                <a16:creationId xmlns:a16="http://schemas.microsoft.com/office/drawing/2014/main" id="{BEF90346-2FD7-44BE-AF8A-7FA974822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171950"/>
            <a:ext cx="1981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작업을</a:t>
            </a:r>
          </a:p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구체화한다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58BBF0-527F-440E-8DBD-DD8C59D14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6385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8" name="03">
            <a:extLst xmlns:a="http://schemas.openxmlformats.org/drawingml/2006/main">
              <a:ext uri="{FF2B5EF4-FFF2-40B4-BE49-F238E27FC236}">
                <a16:creationId xmlns:a16="http://schemas.microsoft.com/office/drawing/2014/main" id="{8DB3B24F-5029-4CA2-9FB2-1EBF123B2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9051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DA9490-FE1A-4D29-93FB-EBBDB65C7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352800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20" name="Context">
            <a:extLst xmlns:a="http://schemas.openxmlformats.org/drawingml/2006/main">
              <a:ext uri="{FF2B5EF4-FFF2-40B4-BE49-F238E27FC236}">
                <a16:creationId xmlns:a16="http://schemas.microsoft.com/office/drawing/2014/main" id="{08B51826-1528-4BFB-AF61-3D8B211A8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524250"/>
            <a:ext cx="1981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Context</a:t>
            </a:r>
          </a:p>
        </p:txBody>
      </p:sp>
      <p:sp>
        <p:nvSpPr>
          <p:cNvPr id="21" name="프로젝트 지식을&#10;제공한다">
            <a:extLst xmlns:a="http://schemas.openxmlformats.org/drawingml/2006/main">
              <a:ext uri="{FF2B5EF4-FFF2-40B4-BE49-F238E27FC236}">
                <a16:creationId xmlns:a16="http://schemas.microsoft.com/office/drawing/2014/main" id="{DEEEBDCA-3FE8-4F55-85A0-0E0637C9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171950"/>
            <a:ext cx="1981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 지식을</a:t>
            </a:r>
          </a:p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제공한다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E0F5C0-657C-4938-BE2D-75BCC48C4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6385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3" name="04">
            <a:extLst xmlns:a="http://schemas.openxmlformats.org/drawingml/2006/main">
              <a:ext uri="{FF2B5EF4-FFF2-40B4-BE49-F238E27FC236}">
                <a16:creationId xmlns:a16="http://schemas.microsoft.com/office/drawing/2014/main" id="{63B50880-7D9A-4E42-B9C8-69FE174E7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051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703E34-F190-41DB-8BDA-31B02ADB2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352800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25" name="Harness">
            <a:extLst xmlns:a="http://schemas.openxmlformats.org/drawingml/2006/main">
              <a:ext uri="{FF2B5EF4-FFF2-40B4-BE49-F238E27FC236}">
                <a16:creationId xmlns:a16="http://schemas.microsoft.com/office/drawing/2014/main" id="{07493ACF-BF6A-472F-B38D-761B34BD0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524250"/>
            <a:ext cx="1981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Harness</a:t>
            </a:r>
          </a:p>
        </p:txBody>
      </p:sp>
      <p:sp>
        <p:nvSpPr>
          <p:cNvPr id="26" name="일하는 환경을&#10;설계한다">
            <a:extLst xmlns:a="http://schemas.openxmlformats.org/drawingml/2006/main">
              <a:ext uri="{FF2B5EF4-FFF2-40B4-BE49-F238E27FC236}">
                <a16:creationId xmlns:a16="http://schemas.microsoft.com/office/drawing/2014/main" id="{A0841B71-24E8-42FF-9DEB-161639A6F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171950"/>
            <a:ext cx="1981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일하는 환경을</a:t>
            </a:r>
          </a:p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설계한다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11EFFA6-10EF-4DF2-87AC-CAF059B3F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6385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8" name="05">
            <a:extLst xmlns:a="http://schemas.openxmlformats.org/drawingml/2006/main">
              <a:ext uri="{FF2B5EF4-FFF2-40B4-BE49-F238E27FC236}">
                <a16:creationId xmlns:a16="http://schemas.microsoft.com/office/drawing/2014/main" id="{8DA7F8B3-88A2-40B6-89AD-9C9A82A7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9051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D3FE73F-0EC7-453A-A1EE-0C58D0460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352800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30" name="Loop">
            <a:extLst xmlns:a="http://schemas.openxmlformats.org/drawingml/2006/main">
              <a:ext uri="{FF2B5EF4-FFF2-40B4-BE49-F238E27FC236}">
                <a16:creationId xmlns:a16="http://schemas.microsoft.com/office/drawing/2014/main" id="{9717A672-B258-4545-BAD0-FD92958F7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524250"/>
            <a:ext cx="1981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Loop</a:t>
            </a:r>
          </a:p>
        </p:txBody>
      </p:sp>
      <p:sp>
        <p:nvSpPr>
          <p:cNvPr id="31" name="피드백으로&#10;시스템을 고친다">
            <a:extLst xmlns:a="http://schemas.openxmlformats.org/drawingml/2006/main">
              <a:ext uri="{FF2B5EF4-FFF2-40B4-BE49-F238E27FC236}">
                <a16:creationId xmlns:a16="http://schemas.microsoft.com/office/drawing/2014/main" id="{20391029-37E2-4DA5-B73D-CB7BBCCD1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171950"/>
            <a:ext cx="1981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피드백으로</a:t>
            </a:r>
          </a:p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시스템을 고친다</a:t>
            </a:r>
          </a:p>
        </p:txBody>
      </p:sp>
      <p:sp>
        <p:nvSpPr>
          <p:cNvPr id="32" name="지금 나는 AI를 어떤 방식으로 사용하고 있을까?">
            <a:extLst xmlns:a="http://schemas.openxmlformats.org/drawingml/2006/main">
              <a:ext uri="{FF2B5EF4-FFF2-40B4-BE49-F238E27FC236}">
                <a16:creationId xmlns:a16="http://schemas.microsoft.com/office/drawing/2014/main" id="{9ED9A49C-C1A0-4914-92B5-124ED3D09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4352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지금 나는 AI를 어떤 방식으로 사용하고 있을까?</a:t>
            </a:r>
          </a:p>
        </p:txBody>
      </p:sp>
      <p:sp>
        <p:nvSpPr>
          <p:cNvPr id="3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F52DDFCD-5BD5-4951-9A9C-8B7B009C3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M1 · M2</a:t>
            </a:r>
          </a:p>
        </p:txBody>
      </p:sp>
    </p:spTree>
    <p:extLst>
      <p:ext uri="{BB962C8B-B14F-4D97-AF65-F5344CB8AC3E}">
        <p14:creationId xmlns:p14="http://schemas.microsoft.com/office/powerpoint/2010/main" val="100823905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ACT 5 · 확인된 제품 변화">
            <a:extLst xmlns:a="http://schemas.openxmlformats.org/drawingml/2006/main">
              <a:ext uri="{FF2B5EF4-FFF2-40B4-BE49-F238E27FC236}">
                <a16:creationId xmlns:a16="http://schemas.microsoft.com/office/drawing/2014/main" id="{B2867A9F-5581-4D46-B21F-9A2E29FAB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확인된 제품 변화</a:t>
            </a:r>
          </a:p>
        </p:txBody>
      </p:sp>
      <p:sp>
        <p:nvSpPr>
          <p:cNvPr id="2" name="S75">
            <a:extLst xmlns:a="http://schemas.openxmlformats.org/drawingml/2006/main">
              <a:ext uri="{FF2B5EF4-FFF2-40B4-BE49-F238E27FC236}">
                <a16:creationId xmlns:a16="http://schemas.microsoft.com/office/drawing/2014/main" id="{431410B0-E3EE-4AAF-944C-76E61E2C6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S75</a:t>
            </a:r>
          </a:p>
        </p:txBody>
      </p:sp>
      <p:sp>
        <p:nvSpPr>
          <p:cNvPr id="3" name="하나의 Repository가 문제에 대응해 진화했다">
            <a:extLst xmlns:a="http://schemas.openxmlformats.org/drawingml/2006/main">
              <a:ext uri="{FF2B5EF4-FFF2-40B4-BE49-F238E27FC236}">
                <a16:creationId xmlns:a16="http://schemas.microsoft.com/office/drawing/2014/main" id="{5E389BB5-7F91-4CF5-8C75-0FC6B031C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하나의 Repository가 문제에 대응해 진화했다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37CC1C-3A04-4567-B03F-F2A599CC5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DEMO-12 · 실제 Git State 이력 · S17 / S33 / S46 발표자료 발췌">
            <a:extLst xmlns:a="http://schemas.openxmlformats.org/drawingml/2006/main">
              <a:ext uri="{FF2B5EF4-FFF2-40B4-BE49-F238E27FC236}">
                <a16:creationId xmlns:a16="http://schemas.microsoft.com/office/drawing/2014/main" id="{D0707772-8952-465C-B404-049B5BDAD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DEMO-12 · 실제 Git State 이력 · S17 / S33 / S46 발표자료 발췌</a:t>
            </a:r>
          </a:p>
        </p:txBody>
      </p:sp>
      <p:sp>
        <p:nvSpPr>
          <p:cNvPr id="6" name="원본 실행 화면 아님 · 성능은 해당 코드·입력·환경 범위 · State는 성숙도 등급이나 Product L">
            <a:extLst xmlns:a="http://schemas.openxmlformats.org/drawingml/2006/main">
              <a:ext uri="{FF2B5EF4-FFF2-40B4-BE49-F238E27FC236}">
                <a16:creationId xmlns:a16="http://schemas.microsoft.com/office/drawing/2014/main" id="{3FACEAFE-BB3B-4B2D-9533-458EAF662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원본 실행 화면 아님 · 성능은 해당 코드·입력·환경 범위 · State는 성숙도 등급이나 Product Loop가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B40BCA-A1D7-4733-BA9A-88E20F26F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251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AA92C9C0-F629-4258-BC83-A0E636743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STATE-00">
            <a:extLst xmlns:a="http://schemas.openxmlformats.org/drawingml/2006/main">
              <a:ext uri="{FF2B5EF4-FFF2-40B4-BE49-F238E27FC236}">
                <a16:creationId xmlns:a16="http://schemas.microsoft.com/office/drawing/2014/main" id="{6BDB443E-0D85-466E-8B42-BDAC972AC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STATE-00</a:t>
            </a:r>
          </a:p>
        </p:txBody>
      </p:sp>
      <p:sp>
        <p:nvSpPr>
          <p:cNvPr id="10" name="crop 경계 문제">
            <a:extLst xmlns:a="http://schemas.openxmlformats.org/drawingml/2006/main">
              <a:ext uri="{FF2B5EF4-FFF2-40B4-BE49-F238E27FC236}">
                <a16:creationId xmlns:a16="http://schemas.microsoft.com/office/drawing/2014/main" id="{CE00A846-D1CE-46AA-BF93-3813E19BC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2514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경계 문제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2C5D86-FAB2-4F5B-A84A-136E0B316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990725"/>
            <a:ext cx="2095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A786FD-0A60-4F35-817D-20F525B49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562100"/>
            <a:ext cx="251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3" name="02">
            <a:extLst xmlns:a="http://schemas.openxmlformats.org/drawingml/2006/main">
              <a:ext uri="{FF2B5EF4-FFF2-40B4-BE49-F238E27FC236}">
                <a16:creationId xmlns:a16="http://schemas.microsoft.com/office/drawing/2014/main" id="{6999C6E4-EA5C-4D07-942B-CA6260757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657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4" name="STATE-00-FIXED">
            <a:extLst xmlns:a="http://schemas.openxmlformats.org/drawingml/2006/main">
              <a:ext uri="{FF2B5EF4-FFF2-40B4-BE49-F238E27FC236}">
                <a16:creationId xmlns:a16="http://schemas.microsoft.com/office/drawing/2014/main" id="{1055C2B7-6F3E-4575-992B-1E7A0DF19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657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STATE-00-FIXED</a:t>
            </a:r>
          </a:p>
        </p:txBody>
      </p:sp>
      <p:sp>
        <p:nvSpPr>
          <p:cNvPr id="15" name="계약에 맞게 수정">
            <a:extLst xmlns:a="http://schemas.openxmlformats.org/drawingml/2006/main">
              <a:ext uri="{FF2B5EF4-FFF2-40B4-BE49-F238E27FC236}">
                <a16:creationId xmlns:a16="http://schemas.microsoft.com/office/drawing/2014/main" id="{C4CE6DC9-4ED4-44EF-87F5-2E4103806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000250"/>
            <a:ext cx="2514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계약에 맞게 수정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38A577-4F41-4157-BD2B-493C6B87C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90725"/>
            <a:ext cx="2095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619B7E-D7BC-4F06-ABC9-18BB727E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62100"/>
            <a:ext cx="251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8" name="03">
            <a:extLst xmlns:a="http://schemas.openxmlformats.org/drawingml/2006/main">
              <a:ext uri="{FF2B5EF4-FFF2-40B4-BE49-F238E27FC236}">
                <a16:creationId xmlns:a16="http://schemas.microsoft.com/office/drawing/2014/main" id="{ACE9126B-2F59-4FCA-A310-C68D5D4EC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57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9" name="STATE-01">
            <a:extLst xmlns:a="http://schemas.openxmlformats.org/drawingml/2006/main">
              <a:ext uri="{FF2B5EF4-FFF2-40B4-BE49-F238E27FC236}">
                <a16:creationId xmlns:a16="http://schemas.microsoft.com/office/drawing/2014/main" id="{C757E492-88E6-4AE6-86AD-EB040F959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657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STATE-01</a:t>
            </a:r>
          </a:p>
        </p:txBody>
      </p:sp>
      <p:sp>
        <p:nvSpPr>
          <p:cNvPr id="20" name="프로젝트 지침">
            <a:extLst xmlns:a="http://schemas.openxmlformats.org/drawingml/2006/main">
              <a:ext uri="{FF2B5EF4-FFF2-40B4-BE49-F238E27FC236}">
                <a16:creationId xmlns:a16="http://schemas.microsoft.com/office/drawing/2014/main" id="{A9EF708A-ED5D-42AD-B31C-F3D8D310B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00250"/>
            <a:ext cx="2514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 지침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C0C7F2-C029-43C1-AB88-A49FBF34A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990725"/>
            <a:ext cx="2095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8C2A9F-9593-429D-B70D-92630584B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562100"/>
            <a:ext cx="251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23" name="04">
            <a:extLst xmlns:a="http://schemas.openxmlformats.org/drawingml/2006/main">
              <a:ext uri="{FF2B5EF4-FFF2-40B4-BE49-F238E27FC236}">
                <a16:creationId xmlns:a16="http://schemas.microsoft.com/office/drawing/2014/main" id="{62E89570-2338-4FCD-80A7-BB6781DCA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657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24" name="STATE-02">
            <a:extLst xmlns:a="http://schemas.openxmlformats.org/drawingml/2006/main">
              <a:ext uri="{FF2B5EF4-FFF2-40B4-BE49-F238E27FC236}">
                <a16:creationId xmlns:a16="http://schemas.microsoft.com/office/drawing/2014/main" id="{B63319F3-5AC1-4858-BEF7-7D2BA50B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657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STATE-02</a:t>
            </a:r>
          </a:p>
        </p:txBody>
      </p:sp>
      <p:sp>
        <p:nvSpPr>
          <p:cNvPr id="25" name="Context 증가">
            <a:extLst xmlns:a="http://schemas.openxmlformats.org/drawingml/2006/main">
              <a:ext uri="{FF2B5EF4-FFF2-40B4-BE49-F238E27FC236}">
                <a16:creationId xmlns:a16="http://schemas.microsoft.com/office/drawing/2014/main" id="{75B068C6-BCF9-4D13-9AE0-576C4E9BF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000250"/>
            <a:ext cx="2514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Context 증가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8D1AF30-8F5E-448A-9816-CEBA8B19B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76525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27" name="05">
            <a:extLst xmlns:a="http://schemas.openxmlformats.org/drawingml/2006/main">
              <a:ext uri="{FF2B5EF4-FFF2-40B4-BE49-F238E27FC236}">
                <a16:creationId xmlns:a16="http://schemas.microsoft.com/office/drawing/2014/main" id="{DEF81101-E45D-432C-9161-3A15549BD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771775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28" name="STATE-03">
            <a:extLst xmlns:a="http://schemas.openxmlformats.org/drawingml/2006/main">
              <a:ext uri="{FF2B5EF4-FFF2-40B4-BE49-F238E27FC236}">
                <a16:creationId xmlns:a16="http://schemas.microsoft.com/office/drawing/2014/main" id="{BB120953-F49A-4E17-A1C0-B9E3A76C7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771775"/>
            <a:ext cx="308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STATE-03</a:t>
            </a:r>
          </a:p>
        </p:txBody>
      </p:sp>
      <p:sp>
        <p:nvSpPr>
          <p:cNvPr id="29" name="상세 정보로 연결">
            <a:extLst xmlns:a="http://schemas.openxmlformats.org/drawingml/2006/main">
              <a:ext uri="{FF2B5EF4-FFF2-40B4-BE49-F238E27FC236}">
                <a16:creationId xmlns:a16="http://schemas.microsoft.com/office/drawing/2014/main" id="{FF8D7752-BCBB-489E-B2DA-3DF0BD749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14675"/>
            <a:ext cx="350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상세 정보로 연결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139635A-E165-4E5A-9298-76D2C9236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3105150"/>
            <a:ext cx="228600" cy="15240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7402CCD-4279-42FC-9150-A3CADF91A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76525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32" name="06">
            <a:extLst xmlns:a="http://schemas.openxmlformats.org/drawingml/2006/main">
              <a:ext uri="{FF2B5EF4-FFF2-40B4-BE49-F238E27FC236}">
                <a16:creationId xmlns:a16="http://schemas.microsoft.com/office/drawing/2014/main" id="{808A8771-FED9-4B4C-BFBD-E9CC6D665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71775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33" name="STATE-04">
            <a:extLst xmlns:a="http://schemas.openxmlformats.org/drawingml/2006/main">
              <a:ext uri="{FF2B5EF4-FFF2-40B4-BE49-F238E27FC236}">
                <a16:creationId xmlns:a16="http://schemas.microsoft.com/office/drawing/2014/main" id="{6450A521-9E6F-4885-9030-D4318616E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71775"/>
            <a:ext cx="308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STATE-04</a:t>
            </a:r>
          </a:p>
        </p:txBody>
      </p:sp>
      <p:sp>
        <p:nvSpPr>
          <p:cNvPr id="34" name="재사용 Workflow">
            <a:extLst xmlns:a="http://schemas.openxmlformats.org/drawingml/2006/main">
              <a:ext uri="{FF2B5EF4-FFF2-40B4-BE49-F238E27FC236}">
                <a16:creationId xmlns:a16="http://schemas.microsoft.com/office/drawing/2014/main" id="{CB55592C-874A-4F2B-8628-FE4EDCECF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114675"/>
            <a:ext cx="350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재사용 Workflow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BF08D47-EAF7-403C-B502-F9244148A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105150"/>
            <a:ext cx="228600" cy="15240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3A7FBFA-5B36-4CA0-B561-05B2622EE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6B4D"/>
            </a:solidFill>
            <a:prstDash val="solid"/>
          </a:ln>
        </p:spPr>
      </p:sp>
      <p:sp>
        <p:nvSpPr>
          <p:cNvPr id="37" name="07">
            <a:extLst xmlns:a="http://schemas.openxmlformats.org/drawingml/2006/main">
              <a:ext uri="{FF2B5EF4-FFF2-40B4-BE49-F238E27FC236}">
                <a16:creationId xmlns:a16="http://schemas.microsoft.com/office/drawing/2014/main" id="{2F59FBE7-2D46-4195-A92F-B2FC3BCFC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71775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38" name="STATE-04-PERF">
            <a:extLst xmlns:a="http://schemas.openxmlformats.org/drawingml/2006/main">
              <a:ext uri="{FF2B5EF4-FFF2-40B4-BE49-F238E27FC236}">
                <a16:creationId xmlns:a16="http://schemas.microsoft.com/office/drawing/2014/main" id="{0EFA8C7C-157C-4497-92D9-89D6D8CEE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71775"/>
            <a:ext cx="308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176B4D"/>
                </a:solidFill>
                <a:latin typeface="Consolas"/>
                <a:ea typeface="Consolas"/>
                <a:cs typeface="Consolas"/>
              </a:rPr>
              <a:t>STATE-04-PERF</a:t>
            </a:r>
          </a:p>
        </p:txBody>
      </p:sp>
      <p:sp>
        <p:nvSpPr>
          <p:cNvPr id="39" name="검증된 제품 변경">
            <a:extLst xmlns:a="http://schemas.openxmlformats.org/drawingml/2006/main">
              <a:ext uri="{FF2B5EF4-FFF2-40B4-BE49-F238E27FC236}">
                <a16:creationId xmlns:a16="http://schemas.microsoft.com/office/drawing/2014/main" id="{961F0FDA-39EE-48BB-8267-54A5169D5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350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검증된 제품 변경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03C03FC-579E-46CB-A8F8-DDDFB741A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3175" y="2390775"/>
            <a:ext cx="209550" cy="2286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129D529-06EA-4CBB-B496-E014F3AF2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42" name="앞서 본 근거 다시 보기">
            <a:extLst xmlns:a="http://schemas.openxmlformats.org/drawingml/2006/main">
              <a:ext uri="{FF2B5EF4-FFF2-40B4-BE49-F238E27FC236}">
                <a16:creationId xmlns:a16="http://schemas.microsoft.com/office/drawing/2014/main" id="{D6FED156-744A-4B10-B35E-757EBD92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앞서 본 근거 다시 보기</a:t>
            </a:r>
          </a:p>
        </p:txBody>
      </p:sp>
      <p:pic>
        <p:nvPic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16165BA-8017-4E6D-9BF0-46122D20ADF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8d6bc4f2724003"/>
          <a:srcRect xmlns:a="http://schemas.openxmlformats.org/drawingml/2006/main" l="5000" t="40741" r="5000" b="18519"/>
          <a:stretch xmlns:a="http://schemas.openxmlformats.org/drawingml/2006/main"/>
        </p:blipFill>
        <p:spPr>
          <a:xfrm xmlns:a="http://schemas.openxmlformats.org/drawingml/2006/main">
            <a:off x="914400" y="4027135"/>
            <a:ext cx="2895600" cy="737306"/>
          </a:xfrm>
          <a:prstGeom xmlns:a="http://schemas.openxmlformats.org/drawingml/2006/main" prst="rect">
            <a:avLst/>
          </a:prstGeom>
        </p:spPr>
      </p:pic>
      <p:sp>
        <p:nvSpPr>
          <p:cNvPr id="44" name="crop 계약 수정">
            <a:extLst xmlns:a="http://schemas.openxmlformats.org/drawingml/2006/main">
              <a:ext uri="{FF2B5EF4-FFF2-40B4-BE49-F238E27FC236}">
                <a16:creationId xmlns:a16="http://schemas.microsoft.com/office/drawing/2014/main" id="{287998D5-AF45-4290-8B4F-72A776774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86325"/>
            <a:ext cx="3505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crop 계약 수정</a:t>
            </a:r>
          </a:p>
        </p:txBody>
      </p:sp>
      <p:sp>
        <p:nvSpPr>
          <p:cNvPr id="45" name="S17 · STATE-00 → STATE-00-FIXED">
            <a:extLst xmlns:a="http://schemas.openxmlformats.org/drawingml/2006/main">
              <a:ext uri="{FF2B5EF4-FFF2-40B4-BE49-F238E27FC236}">
                <a16:creationId xmlns:a16="http://schemas.microsoft.com/office/drawing/2014/main" id="{7A531BF6-1B15-428E-9048-D4F6A52AD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50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S17 · STATE-00 → STATE-00-FIXED</a:t>
            </a:r>
          </a:p>
        </p:txBody>
      </p:sp>
      <p:pic>
        <p:nvPic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FE0AA9C-5090-4608-94C9-90EDDBE0039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ab0a4a050b4ecf"/>
          <a:srcRect xmlns:a="http://schemas.openxmlformats.org/drawingml/2006/main" l="5000" t="39352" r="5000" b="26852"/>
          <a:stretch xmlns:a="http://schemas.openxmlformats.org/drawingml/2006/main"/>
        </p:blipFill>
        <p:spPr>
          <a:xfrm xmlns:a="http://schemas.openxmlformats.org/drawingml/2006/main">
            <a:off x="4648200" y="4089973"/>
            <a:ext cx="2895600" cy="611628"/>
          </a:xfrm>
          <a:prstGeom xmlns:a="http://schemas.openxmlformats.org/drawingml/2006/main" prst="rect">
            <a:avLst/>
          </a:prstGeom>
        </p:spPr>
      </p:pic>
      <p:sp>
        <p:nvSpPr>
          <p:cNvPr id="47" name="상세 문서로 분리">
            <a:extLst xmlns:a="http://schemas.openxmlformats.org/drawingml/2006/main">
              <a:ext uri="{FF2B5EF4-FFF2-40B4-BE49-F238E27FC236}">
                <a16:creationId xmlns:a16="http://schemas.microsoft.com/office/drawing/2014/main" id="{BD4A53BA-1926-469C-86C5-1477364F7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886325"/>
            <a:ext cx="3505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상세 문서로 분리</a:t>
            </a:r>
          </a:p>
        </p:txBody>
      </p:sp>
      <p:sp>
        <p:nvSpPr>
          <p:cNvPr id="48" name="S33 · STATE-02 → STATE-03">
            <a:extLst xmlns:a="http://schemas.openxmlformats.org/drawingml/2006/main">
              <a:ext uri="{FF2B5EF4-FFF2-40B4-BE49-F238E27FC236}">
                <a16:creationId xmlns:a16="http://schemas.microsoft.com/office/drawing/2014/main" id="{0CC37E2C-B8E0-4EC5-BAC5-8A506A230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191125"/>
            <a:ext cx="350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S33 · STATE-02 → STATE-03</a:t>
            </a:r>
          </a:p>
        </p:txBody>
      </p:sp>
      <p:pic>
        <p:nvPic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C69BE4F-C6A0-4146-8865-5B31FF1D625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8aa6dfcf4b4514"/>
          <a:srcRect xmlns:a="http://schemas.openxmlformats.org/drawingml/2006/main" l="5000" t="33333" r="5000" b="16667"/>
          <a:stretch xmlns:a="http://schemas.openxmlformats.org/drawingml/2006/main"/>
        </p:blipFill>
        <p:spPr>
          <a:xfrm xmlns:a="http://schemas.openxmlformats.org/drawingml/2006/main">
            <a:off x="8382000" y="3943350"/>
            <a:ext cx="2895600" cy="904875"/>
          </a:xfrm>
          <a:prstGeom xmlns:a="http://schemas.openxmlformats.org/drawingml/2006/main" prst="rect">
            <a:avLst/>
          </a:prstGeom>
        </p:spPr>
      </p:pic>
      <p:sp>
        <p:nvSpPr>
          <p:cNvPr id="50" name="같은 조건의 성능 비교">
            <a:extLst xmlns:a="http://schemas.openxmlformats.org/drawingml/2006/main">
              <a:ext uri="{FF2B5EF4-FFF2-40B4-BE49-F238E27FC236}">
                <a16:creationId xmlns:a16="http://schemas.microsoft.com/office/drawing/2014/main" id="{3D3A6B97-361A-4166-92A1-9A02FBDA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886325"/>
            <a:ext cx="3505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조건의 성능 비교</a:t>
            </a:r>
          </a:p>
        </p:txBody>
      </p:sp>
      <p:sp>
        <p:nvSpPr>
          <p:cNvPr id="51" name="S46 · STATE-04 → STATE-04-PERF">
            <a:extLst xmlns:a="http://schemas.openxmlformats.org/drawingml/2006/main">
              <a:ext uri="{FF2B5EF4-FFF2-40B4-BE49-F238E27FC236}">
                <a16:creationId xmlns:a16="http://schemas.microsoft.com/office/drawing/2014/main" id="{6350CB17-BCB7-4E94-AE62-E17DF1784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191125"/>
            <a:ext cx="350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S46 · STATE-04 → STATE-04-PERF</a:t>
            </a:r>
          </a:p>
        </p:txBody>
      </p:sp>
      <p:sp>
        <p:nvSpPr>
          <p:cNvPr id="52" name="각 변화의 출발점은, 그때 마주친 문제였다.">
            <a:extLst xmlns:a="http://schemas.openxmlformats.org/drawingml/2006/main">
              <a:ext uri="{FF2B5EF4-FFF2-40B4-BE49-F238E27FC236}">
                <a16:creationId xmlns:a16="http://schemas.microsoft.com/office/drawing/2014/main" id="{B1F9DD3A-8269-4CC3-9E79-06F1A77D9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각 변화의 출발점은, 그때 마주친 문제였다.</a:t>
            </a:r>
          </a:p>
        </p:txBody>
      </p:sp>
      <p:sp>
        <p:nvSpPr>
          <p:cNvPr id="5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6580536A-EB43-4E1C-8E36-8070D58B9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38701423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T 5 · 이번 Demo의 선택 기준">
            <a:extLst xmlns:a="http://schemas.openxmlformats.org/drawingml/2006/main">
              <a:ext uri="{FF2B5EF4-FFF2-40B4-BE49-F238E27FC236}">
                <a16:creationId xmlns:a16="http://schemas.microsoft.com/office/drawing/2014/main" id="{DCDAD976-FB21-494E-944B-5CBE3798F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이번 Demo의 선택 기준</a:t>
            </a:r>
          </a:p>
        </p:txBody>
      </p:sp>
      <p:sp>
        <p:nvSpPr>
          <p:cNvPr id="2" name="S76">
            <a:extLst xmlns:a="http://schemas.openxmlformats.org/drawingml/2006/main">
              <a:ext uri="{FF2B5EF4-FFF2-40B4-BE49-F238E27FC236}">
                <a16:creationId xmlns:a16="http://schemas.microsoft.com/office/drawing/2014/main" id="{D3E8CF33-D1B3-4342-9E41-AA5020311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S76</a:t>
            </a:r>
          </a:p>
        </p:txBody>
      </p:sp>
      <p:sp>
        <p:nvSpPr>
          <p:cNvPr id="3" name="필요성이 입증되지 않은 것은 보류했다">
            <a:extLst xmlns:a="http://schemas.openxmlformats.org/drawingml/2006/main">
              <a:ext uri="{FF2B5EF4-FFF2-40B4-BE49-F238E27FC236}">
                <a16:creationId xmlns:a16="http://schemas.microsoft.com/office/drawing/2014/main" id="{57B3DE6D-A879-4E1B-A776-8AED5EC02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필요성이 입증되지 않은 것은 보류했다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2B0DC8-45CE-4EAD-BCF2-451CC462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4-PERF · DEC-0018 · 이번 작업의 선택을 회고">
            <a:extLst xmlns:a="http://schemas.openxmlformats.org/drawingml/2006/main">
              <a:ext uri="{FF2B5EF4-FFF2-40B4-BE49-F238E27FC236}">
                <a16:creationId xmlns:a16="http://schemas.microsoft.com/office/drawing/2014/main" id="{5027572C-2FBC-4D33-A21A-38F1646B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STATE-04-PERF · DEC-0018 · 이번 작업의 선택을 회고</a:t>
            </a:r>
          </a:p>
        </p:txBody>
      </p:sp>
      <p:sp>
        <p:nvSpPr>
          <p:cNvPr id="6" name="모든 프로젝트에서 Subagent·Memory가 불필요하거나 적을수록 좋다는 뜻은 아니다.">
            <a:extLst xmlns:a="http://schemas.openxmlformats.org/drawingml/2006/main">
              <a:ext uri="{FF2B5EF4-FFF2-40B4-BE49-F238E27FC236}">
                <a16:creationId xmlns:a16="http://schemas.microsoft.com/office/drawing/2014/main" id="{9EBA6334-F296-4205-91E3-76E4D7C1F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모든 프로젝트에서 Subagent·Memory가 불필요하거나 적을수록 좋다는 뜻은 아니다.</a:t>
            </a:r>
          </a:p>
        </p:txBody>
      </p:sp>
      <p:sp>
        <p:nvSpPr>
          <p:cNvPr id="7" name="이 구성요소가 현재 문제에 필요한가?">
            <a:extLst xmlns:a="http://schemas.openxmlformats.org/drawingml/2006/main">
              <a:ext uri="{FF2B5EF4-FFF2-40B4-BE49-F238E27FC236}">
                <a16:creationId xmlns:a16="http://schemas.microsoft.com/office/drawing/2014/main" id="{AEA6B2DD-5563-48AA-98FA-4BA2B24D1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 구성요소가 현재 문제에 필요한가?</a:t>
            </a:r>
          </a:p>
        </p:txBody>
      </p:sp>
      <p:sp>
        <p:nvSpPr>
          <p:cNvPr id="8" name="이번 문제에 필요했던 것">
            <a:extLst xmlns:a="http://schemas.openxmlformats.org/drawingml/2006/main">
              <a:ext uri="{FF2B5EF4-FFF2-40B4-BE49-F238E27FC236}">
                <a16:creationId xmlns:a16="http://schemas.microsoft.com/office/drawing/2014/main" id="{02C308F2-E338-4AA9-8D60-8960B8B29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5181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문제에 필요했던 것</a:t>
            </a:r>
          </a:p>
        </p:txBody>
      </p:sp>
      <p:sp>
        <p:nvSpPr>
          <p:cNvPr id="9" name="이번에는 정당화하지 못한 것">
            <a:extLst xmlns:a="http://schemas.openxmlformats.org/drawingml/2006/main">
              <a:ext uri="{FF2B5EF4-FFF2-40B4-BE49-F238E27FC236}">
                <a16:creationId xmlns:a16="http://schemas.microsoft.com/office/drawing/2014/main" id="{A253273C-1A8B-4059-95A1-A56967695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14650"/>
            <a:ext cx="4876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이번에는 정당화하지 못한 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B00460-C1EE-4C49-8710-19B621820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5181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4FAA30-AD77-4E46-8D97-2699C876E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766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solid"/>
          </a:ln>
        </p:spPr>
      </p:sp>
      <p:sp>
        <p:nvSpPr>
          <p:cNvPr id="12" name="Task Prompt&#10;Context와 Routing&#10;재사용 Workflow&#10;Tests와 Benchmark">
            <a:extLst xmlns:a="http://schemas.openxmlformats.org/drawingml/2006/main">
              <a:ext uri="{FF2B5EF4-FFF2-40B4-BE49-F238E27FC236}">
                <a16:creationId xmlns:a16="http://schemas.microsoft.com/office/drawing/2014/main" id="{12C5AAA7-B545-40EE-9153-4EE6F8416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51816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Prompt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Context와 Routing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재사용 Workflow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Tests와 Benchmark</a:t>
            </a:r>
          </a:p>
        </p:txBody>
      </p:sp>
      <p:sp>
        <p:nvSpPr>
          <p:cNvPr id="13" name="Subagent&#10;Memory">
            <a:extLst xmlns:a="http://schemas.openxmlformats.org/drawingml/2006/main">
              <a:ext uri="{FF2B5EF4-FFF2-40B4-BE49-F238E27FC236}">
                <a16:creationId xmlns:a16="http://schemas.microsoft.com/office/drawing/2014/main" id="{52FD4918-51DA-40B6-A418-506059FAD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57625"/>
            <a:ext cx="4876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Subagent</a:t>
            </a:r>
          </a:p>
          <a:p xmlns:a="http://schemas.openxmlformats.org/drawingml/2006/main">
            <a: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Memory</a:t>
            </a:r>
          </a:p>
        </p:txBody>
      </p:sp>
      <p:sp>
        <p:nvSpPr>
          <p:cNvPr id="14" name="현재 문제가 필요로 하는 만큼 설계한다.">
            <a:extLst xmlns:a="http://schemas.openxmlformats.org/drawingml/2006/main">
              <a:ext uri="{FF2B5EF4-FFF2-40B4-BE49-F238E27FC236}">
                <a16:creationId xmlns:a16="http://schemas.microsoft.com/office/drawing/2014/main" id="{0DE0CDEF-D3F2-45B6-A3AF-BD4CEF554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현재 문제가 필요로 하는 만큼 설계한다.</a:t>
            </a:r>
          </a:p>
        </p:txBody>
      </p:sp>
      <p:sp>
        <p:nvSpPr>
          <p:cNvPr id="15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BB03517D-2356-4524-B7C9-A0A4C9AF9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M8 · M9</a:t>
            </a:r>
          </a:p>
        </p:txBody>
      </p:sp>
    </p:spTree>
    <p:extLst>
      <p:ext uri="{BB962C8B-B14F-4D97-AF65-F5344CB8AC3E}">
        <p14:creationId xmlns:p14="http://schemas.microsoft.com/office/powerpoint/2010/main" val="17787589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5 · 개발자의 판단">
            <a:extLst xmlns:a="http://schemas.openxmlformats.org/drawingml/2006/main">
              <a:ext uri="{FF2B5EF4-FFF2-40B4-BE49-F238E27FC236}">
                <a16:creationId xmlns:a16="http://schemas.microsoft.com/office/drawing/2014/main" id="{E9BD3DBA-A896-480F-BCD4-86CAA160F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개발자의 판단</a:t>
            </a:r>
          </a:p>
        </p:txBody>
      </p:sp>
      <p:sp>
        <p:nvSpPr>
          <p:cNvPr id="2" name="S77">
            <a:extLst xmlns:a="http://schemas.openxmlformats.org/drawingml/2006/main">
              <a:ext uri="{FF2B5EF4-FFF2-40B4-BE49-F238E27FC236}">
                <a16:creationId xmlns:a16="http://schemas.microsoft.com/office/drawing/2014/main" id="{A55E0162-9AAB-45A3-A9B0-7F7127917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S77</a:t>
            </a:r>
          </a:p>
        </p:txBody>
      </p:sp>
      <p:sp>
        <p:nvSpPr>
          <p:cNvPr id="3" name="위임이 늘어도 개발자 책임은 남는다">
            <a:extLst xmlns:a="http://schemas.openxmlformats.org/drawingml/2006/main">
              <a:ext uri="{FF2B5EF4-FFF2-40B4-BE49-F238E27FC236}">
                <a16:creationId xmlns:a16="http://schemas.microsoft.com/office/drawing/2014/main" id="{D79783E9-EB95-45CF-9C17-2AD883B6B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위임이 늘어도 개발자 책임은 남는다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893AB3-CC73-4587-AA2D-36F62DFC1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61–062 · 이 교육의 책임 원칙">
            <a:extLst xmlns:a="http://schemas.openxmlformats.org/drawingml/2006/main">
              <a:ext uri="{FF2B5EF4-FFF2-40B4-BE49-F238E27FC236}">
                <a16:creationId xmlns:a16="http://schemas.microsoft.com/office/drawing/2014/main" id="{4EEA81C3-79E6-49C1-A821-977DE5617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BEAT-061–062 · 이 교육의 책임 원칙</a:t>
            </a:r>
          </a:p>
        </p:txBody>
      </p:sp>
      <p:sp>
        <p:nvSpPr>
          <p:cNvPr id="6" name="Agent와 개발자의 역할을 고정된 분업표로 제시하는 것은 아니다.">
            <a:extLst xmlns:a="http://schemas.openxmlformats.org/drawingml/2006/main">
              <a:ext uri="{FF2B5EF4-FFF2-40B4-BE49-F238E27FC236}">
                <a16:creationId xmlns:a16="http://schemas.microsoft.com/office/drawing/2014/main" id="{ECE2299F-848A-4AFD-B6DF-2A9549B99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Agent와 개발자의 역할을 고정된 분업표로 제시하는 것은 아니다.</a:t>
            </a:r>
          </a:p>
        </p:txBody>
      </p:sp>
      <p:sp>
        <p:nvSpPr>
          <p:cNvPr id="7" name="AI가 조사·생성·변경·실행·비교를 도와도">
            <a:extLst xmlns:a="http://schemas.openxmlformats.org/drawingml/2006/main">
              <a:ext uri="{FF2B5EF4-FFF2-40B4-BE49-F238E27FC236}">
                <a16:creationId xmlns:a16="http://schemas.microsoft.com/office/drawing/2014/main" id="{A02EDD44-D1F2-401A-8758-016C30D57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AI가 조사·생성·변경·실행·비교를 도와도</a:t>
            </a:r>
          </a:p>
        </p:txBody>
      </p:sp>
      <p:sp>
        <p:nvSpPr>
          <p:cNvPr id="8" name="결과를 수용하는 판단은 누가 하는가?">
            <a:extLst xmlns:a="http://schemas.openxmlformats.org/drawingml/2006/main">
              <a:ext uri="{FF2B5EF4-FFF2-40B4-BE49-F238E27FC236}">
                <a16:creationId xmlns:a16="http://schemas.microsoft.com/office/drawing/2014/main" id="{064D724F-61FB-4B07-89B0-2C36E135D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결과를 수용하는 판단은 누가 하는가?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326F1B-F094-4493-B410-2E58CB065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2495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목표">
            <a:extLst xmlns:a="http://schemas.openxmlformats.org/drawingml/2006/main">
              <a:ext uri="{FF2B5EF4-FFF2-40B4-BE49-F238E27FC236}">
                <a16:creationId xmlns:a16="http://schemas.microsoft.com/office/drawing/2014/main" id="{0665CF3E-42FF-4C6A-8FE5-4DC01BD2A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86175"/>
            <a:ext cx="24955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</a:t>
            </a:r>
          </a:p>
        </p:txBody>
      </p:sp>
      <p:sp>
        <p:nvSpPr>
          <p:cNvPr id="11" name="무엇을 해결할까?">
            <a:extLst xmlns:a="http://schemas.openxmlformats.org/drawingml/2006/main">
              <a:ext uri="{FF2B5EF4-FFF2-40B4-BE49-F238E27FC236}">
                <a16:creationId xmlns:a16="http://schemas.microsoft.com/office/drawing/2014/main" id="{25016F79-77FE-4C09-8281-4251C6A1B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24955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해결할까?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E58F3E-35AC-49C6-9E13-5BEFE2674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505200"/>
            <a:ext cx="2495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판단">
            <a:extLst xmlns:a="http://schemas.openxmlformats.org/drawingml/2006/main">
              <a:ext uri="{FF2B5EF4-FFF2-40B4-BE49-F238E27FC236}">
                <a16:creationId xmlns:a16="http://schemas.microsoft.com/office/drawing/2014/main" id="{D1303323-B612-4313-9FD3-C38C80FD2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686175"/>
            <a:ext cx="24955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판단</a:t>
            </a:r>
          </a:p>
        </p:txBody>
      </p:sp>
      <p:sp>
        <p:nvSpPr>
          <p:cNvPr id="14" name="어떤 선택이&#10;적절할까?">
            <a:extLst xmlns:a="http://schemas.openxmlformats.org/drawingml/2006/main">
              <a:ext uri="{FF2B5EF4-FFF2-40B4-BE49-F238E27FC236}">
                <a16:creationId xmlns:a16="http://schemas.microsoft.com/office/drawing/2014/main" id="{4783488D-1DDA-4F36-B4C8-71BC29D1D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410075"/>
            <a:ext cx="24955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선택이</a:t>
            </a:r>
          </a:p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적절할까?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8B8122-FD98-400C-9A98-36884A46E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505200"/>
            <a:ext cx="2495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6" name="검증">
            <a:extLst xmlns:a="http://schemas.openxmlformats.org/drawingml/2006/main">
              <a:ext uri="{FF2B5EF4-FFF2-40B4-BE49-F238E27FC236}">
                <a16:creationId xmlns:a16="http://schemas.microsoft.com/office/drawing/2014/main" id="{CC614177-8A9F-4F17-8884-703A245C1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686175"/>
            <a:ext cx="24955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</a:t>
            </a:r>
          </a:p>
        </p:txBody>
      </p:sp>
      <p:sp>
        <p:nvSpPr>
          <p:cNvPr id="17" name="무엇으로&#10;확인할까?">
            <a:extLst xmlns:a="http://schemas.openxmlformats.org/drawingml/2006/main">
              <a:ext uri="{FF2B5EF4-FFF2-40B4-BE49-F238E27FC236}">
                <a16:creationId xmlns:a16="http://schemas.microsoft.com/office/drawing/2014/main" id="{542D710A-5ED4-4F65-A4B1-31B1F14CC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410075"/>
            <a:ext cx="24955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무엇으로</a:t>
            </a:r>
          </a:p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확인할까?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29E48F-32D0-4E2B-B211-A8CED774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05200"/>
            <a:ext cx="2495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9" name="책임">
            <a:extLst xmlns:a="http://schemas.openxmlformats.org/drawingml/2006/main">
              <a:ext uri="{FF2B5EF4-FFF2-40B4-BE49-F238E27FC236}">
                <a16:creationId xmlns:a16="http://schemas.microsoft.com/office/drawing/2014/main" id="{75ECA0C8-B800-4686-9094-05216D302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686175"/>
            <a:ext cx="24955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책임</a:t>
            </a:r>
          </a:p>
        </p:txBody>
      </p:sp>
      <p:sp>
        <p:nvSpPr>
          <p:cNvPr id="20" name="완료를&#10;수용해도 될까?">
            <a:extLst xmlns:a="http://schemas.openxmlformats.org/drawingml/2006/main">
              <a:ext uri="{FF2B5EF4-FFF2-40B4-BE49-F238E27FC236}">
                <a16:creationId xmlns:a16="http://schemas.microsoft.com/office/drawing/2014/main" id="{8724FC5A-7E54-4EE0-8D24-0B44FD772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410075"/>
            <a:ext cx="24955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완료를</a:t>
            </a:r>
          </a:p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수용해도 될까?</a:t>
            </a:r>
          </a:p>
        </p:txBody>
      </p:sp>
      <p:sp>
        <p:nvSpPr>
          <p:cNvPr id="21" name="결과를 받는 일에는, 결과를 판단하는 책임이 함께 남는다.">
            <a:extLst xmlns:a="http://schemas.openxmlformats.org/drawingml/2006/main">
              <a:ext uri="{FF2B5EF4-FFF2-40B4-BE49-F238E27FC236}">
                <a16:creationId xmlns:a16="http://schemas.microsoft.com/office/drawing/2014/main" id="{501A0B6A-48A8-40EF-BA5E-278785C90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결과를 받는 일에는, 결과를 판단하는 책임이 함께 남는다.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A1D6FA3C-A033-4F64-8308-278F058C4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M1 · M2 · M4 · M5 · M6 · M9</a:t>
            </a:r>
          </a:p>
        </p:txBody>
      </p:sp>
    </p:spTree>
    <p:extLst>
      <p:ext uri="{BB962C8B-B14F-4D97-AF65-F5344CB8AC3E}">
        <p14:creationId xmlns:p14="http://schemas.microsoft.com/office/powerpoint/2010/main" val="168289375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5 · 일하는 환경을 설계한다">
            <a:extLst xmlns:a="http://schemas.openxmlformats.org/drawingml/2006/main">
              <a:ext uri="{FF2B5EF4-FFF2-40B4-BE49-F238E27FC236}">
                <a16:creationId xmlns:a16="http://schemas.microsoft.com/office/drawing/2014/main" id="{2819D6F1-D5DF-4539-870F-845976D04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일하는 환경을 설계한다</a:t>
            </a:r>
          </a:p>
        </p:txBody>
      </p:sp>
      <p:sp>
        <p:nvSpPr>
          <p:cNvPr id="2" name="S78">
            <a:extLst xmlns:a="http://schemas.openxmlformats.org/drawingml/2006/main">
              <a:ext uri="{FF2B5EF4-FFF2-40B4-BE49-F238E27FC236}">
                <a16:creationId xmlns:a16="http://schemas.microsoft.com/office/drawing/2014/main" id="{CA1CC4A4-B74B-4F6A-8AED-F4362DB65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S78</a:t>
            </a:r>
          </a:p>
        </p:txBody>
      </p:sp>
      <p:sp>
        <p:nvSpPr>
          <p:cNvPr id="3" name="AI-Native Development는&#10;이 교육의 운영 모델">
            <a:extLst xmlns:a="http://schemas.openxmlformats.org/drawingml/2006/main">
              <a:ext uri="{FF2B5EF4-FFF2-40B4-BE49-F238E27FC236}">
                <a16:creationId xmlns:a16="http://schemas.microsoft.com/office/drawing/2014/main" id="{6E84853E-7A33-4871-8336-DAC4D0474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AI-Native Development는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 교육의 운영 모델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55F53A-5901-4092-AF41-76616C747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DEC-0023 · 과정에서 사용하는 운영 모델">
            <a:extLst xmlns:a="http://schemas.openxmlformats.org/drawingml/2006/main">
              <a:ext uri="{FF2B5EF4-FFF2-40B4-BE49-F238E27FC236}">
                <a16:creationId xmlns:a16="http://schemas.microsoft.com/office/drawing/2014/main" id="{3122D51B-5FD3-4039-8659-99A2A459D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DEC-0023 · 과정에서 사용하는 운영 모델</a:t>
            </a:r>
          </a:p>
        </p:txBody>
      </p:sp>
      <p:sp>
        <p:nvSpPr>
          <p:cNvPr id="6" name="공식·보편 정의가 아니며, 모든 Task에 모든 구성요소를 넣으라는 뜻은 아니다.">
            <a:extLst xmlns:a="http://schemas.openxmlformats.org/drawingml/2006/main">
              <a:ext uri="{FF2B5EF4-FFF2-40B4-BE49-F238E27FC236}">
                <a16:creationId xmlns:a16="http://schemas.microsoft.com/office/drawing/2014/main" id="{55F9AECE-A460-47CB-B408-875294292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공식·보편 정의가 아니며, 모든 Task에 모든 구성요소를 넣으라는 뜻은 아니다.</a:t>
            </a:r>
          </a:p>
        </p:txBody>
      </p:sp>
      <p:sp>
        <p:nvSpPr>
          <p:cNvPr id="7" name="AI가 일할 조건과, 결과를 확인할 경로를 설계한다.">
            <a:extLst xmlns:a="http://schemas.openxmlformats.org/drawingml/2006/main">
              <a:ext uri="{FF2B5EF4-FFF2-40B4-BE49-F238E27FC236}">
                <a16:creationId xmlns:a16="http://schemas.microsoft.com/office/drawing/2014/main" id="{BDFD9F75-724A-419D-B902-CBCBCF059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AI가 일할 조건과, 결과를 확인할 경로를 설계한다.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5C8333-D174-4DD0-A33C-0A5304412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9" name="작업 경계">
            <a:extLst xmlns:a="http://schemas.openxmlformats.org/drawingml/2006/main">
              <a:ext uri="{FF2B5EF4-FFF2-40B4-BE49-F238E27FC236}">
                <a16:creationId xmlns:a16="http://schemas.microsoft.com/office/drawing/2014/main" id="{8A0C5EBF-0F8D-41B3-AB40-2F2BC448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작업 경계</a:t>
            </a:r>
          </a:p>
        </p:txBody>
      </p:sp>
      <p:sp>
        <p:nvSpPr>
          <p:cNvPr id="10" name="무엇을 맡기고&#10;어디까지 바꿀까?">
            <a:extLst xmlns:a="http://schemas.openxmlformats.org/drawingml/2006/main">
              <a:ext uri="{FF2B5EF4-FFF2-40B4-BE49-F238E27FC236}">
                <a16:creationId xmlns:a16="http://schemas.microsoft.com/office/drawing/2014/main" id="{44203BDD-A32A-4087-B9E6-8F9DE246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맡기고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어디까지 바꿀까?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AEF39A-E1AE-4979-9C56-FDC40BE2C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2194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지식 · 절차">
            <a:extLst xmlns:a="http://schemas.openxmlformats.org/drawingml/2006/main">
              <a:ext uri="{FF2B5EF4-FFF2-40B4-BE49-F238E27FC236}">
                <a16:creationId xmlns:a16="http://schemas.microsoft.com/office/drawing/2014/main" id="{FFAF1028-F80B-4A95-8272-E442414E0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40995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지식 · 절차</a:t>
            </a:r>
          </a:p>
        </p:txBody>
      </p:sp>
      <p:sp>
        <p:nvSpPr>
          <p:cNvPr id="13" name="무엇을 알고&#10;어떤 방식으로 일할까?">
            <a:extLst xmlns:a="http://schemas.openxmlformats.org/drawingml/2006/main">
              <a:ext uri="{FF2B5EF4-FFF2-40B4-BE49-F238E27FC236}">
                <a16:creationId xmlns:a16="http://schemas.microsoft.com/office/drawing/2014/main" id="{87FD91C3-CB7D-4EA3-96FB-B15BE8A66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124325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알고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방식으로 일할까?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975290-519C-4A01-85C6-2403B81A5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194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5" name="검증 · 피드백">
            <a:extLst xmlns:a="http://schemas.openxmlformats.org/drawingml/2006/main">
              <a:ext uri="{FF2B5EF4-FFF2-40B4-BE49-F238E27FC236}">
                <a16:creationId xmlns:a16="http://schemas.microsoft.com/office/drawing/2014/main" id="{EBF823CD-452B-46C2-9065-65FEB3E5B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40995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 · 피드백</a:t>
            </a:r>
          </a:p>
        </p:txBody>
      </p:sp>
      <p:sp>
        <p:nvSpPr>
          <p:cNvPr id="16" name="어떻게 확인하고&#10;다음 작업을 바꿀까?">
            <a:extLst xmlns:a="http://schemas.openxmlformats.org/drawingml/2006/main">
              <a:ext uri="{FF2B5EF4-FFF2-40B4-BE49-F238E27FC236}">
                <a16:creationId xmlns:a16="http://schemas.microsoft.com/office/drawing/2014/main" id="{E2A64AE6-90D0-4A35-89C5-D1E2250A5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124325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어떻게 확인하고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작업을 바꿀까?</a:t>
            </a:r>
          </a:p>
        </p:txBody>
      </p:sp>
      <p:sp>
        <p:nvSpPr>
          <p:cNvPr id="1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DDAF8B0D-73F9-454E-961E-0522DAF4D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21233575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ACT 5 · C++ VISION / 내 업무로 연결">
            <a:extLst xmlns:a="http://schemas.openxmlformats.org/drawingml/2006/main">
              <a:ext uri="{FF2B5EF4-FFF2-40B4-BE49-F238E27FC236}">
                <a16:creationId xmlns:a16="http://schemas.microsoft.com/office/drawing/2014/main" id="{6F2A739C-E453-44E9-AF07-31D10144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C++ VISION / 내 업무로 연결</a:t>
            </a:r>
          </a:p>
        </p:txBody>
      </p:sp>
      <p:sp>
        <p:nvSpPr>
          <p:cNvPr id="2" name="S79">
            <a:extLst xmlns:a="http://schemas.openxmlformats.org/drawingml/2006/main">
              <a:ext uri="{FF2B5EF4-FFF2-40B4-BE49-F238E27FC236}">
                <a16:creationId xmlns:a16="http://schemas.microsoft.com/office/drawing/2014/main" id="{83310BFD-23E4-471B-B306-14D0AC334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S79</a:t>
            </a:r>
          </a:p>
        </p:txBody>
      </p:sp>
      <p:sp>
        <p:nvSpPr>
          <p:cNvPr id="3" name="어느 Layer에서 마찰이 반복되는가?">
            <a:extLst xmlns:a="http://schemas.openxmlformats.org/drawingml/2006/main">
              <a:ext uri="{FF2B5EF4-FFF2-40B4-BE49-F238E27FC236}">
                <a16:creationId xmlns:a16="http://schemas.microsoft.com/office/drawing/2014/main" id="{5B43ADF4-D399-4013-B46C-9B226E266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어느 Layer에서 마찰이 반복되는가?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4F51FE-1A49-45B8-8749-59444A18D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68–069 · 업무 적용을 위한 교육용 질문">
            <a:extLst xmlns:a="http://schemas.openxmlformats.org/drawingml/2006/main">
              <a:ext uri="{FF2B5EF4-FFF2-40B4-BE49-F238E27FC236}">
                <a16:creationId xmlns:a16="http://schemas.microsoft.com/office/drawing/2014/main" id="{D79BD2D2-89D1-4D05-8160-D6FC77C79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BEAT-068–069 · 업무 적용을 위한 교육용 질문</a:t>
            </a:r>
          </a:p>
        </p:txBody>
      </p:sp>
      <p:sp>
        <p:nvSpPr>
          <p:cNvPr id="6" name="같은 수준의 선택지다. 특정 C++ 프로젝트에서 검증된 절차나 필수 도입 순서가 아니다.">
            <a:extLst xmlns:a="http://schemas.openxmlformats.org/drawingml/2006/main">
              <a:ext uri="{FF2B5EF4-FFF2-40B4-BE49-F238E27FC236}">
                <a16:creationId xmlns:a16="http://schemas.microsoft.com/office/drawing/2014/main" id="{434213A3-ACDE-4DAC-8988-3AAC9210C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수준의 선택지다. 특정 C++ 프로젝트에서 검증된 절차나 필수 도입 순서가 아니다.</a:t>
            </a:r>
          </a:p>
        </p:txBody>
      </p:sp>
      <p:sp>
        <p:nvSpPr>
          <p:cNvPr id="7" name="지금 내 업무와 가장 가까운 한 곳을 떠올려 본다.">
            <a:extLst xmlns:a="http://schemas.openxmlformats.org/drawingml/2006/main">
              <a:ext uri="{FF2B5EF4-FFF2-40B4-BE49-F238E27FC236}">
                <a16:creationId xmlns:a16="http://schemas.microsoft.com/office/drawing/2014/main" id="{671A8ACE-E0FB-4848-8E92-BA1ABDE13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지금 내 업무와 가장 가까운 한 곳을 떠올려 본다.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2A643D-E9D2-406E-9F2E-947E1AF25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47360D-92DB-4691-B7FD-6ACE61780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A">
            <a:extLst xmlns:a="http://schemas.openxmlformats.org/drawingml/2006/main">
              <a:ext uri="{FF2B5EF4-FFF2-40B4-BE49-F238E27FC236}">
                <a16:creationId xmlns:a16="http://schemas.microsoft.com/office/drawing/2014/main" id="{AFC75611-7745-41A7-A183-262916BEE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62225"/>
            <a:ext cx="361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A</a:t>
            </a:r>
          </a:p>
        </p:txBody>
      </p:sp>
      <p:sp>
        <p:nvSpPr>
          <p:cNvPr id="11" name="Task">
            <a:extLst xmlns:a="http://schemas.openxmlformats.org/drawingml/2006/main">
              <a:ext uri="{FF2B5EF4-FFF2-40B4-BE49-F238E27FC236}">
                <a16:creationId xmlns:a16="http://schemas.microsoft.com/office/drawing/2014/main" id="{9FDB6664-4F20-4FDB-864D-B07BCAC6D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524125"/>
            <a:ext cx="2333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</a:t>
            </a:r>
          </a:p>
        </p:txBody>
      </p:sp>
      <p:sp>
        <p:nvSpPr>
          <p:cNvPr id="12" name="조사할 성능 병목의 범위가 흐리다">
            <a:extLst xmlns:a="http://schemas.openxmlformats.org/drawingml/2006/main">
              <a:ext uri="{FF2B5EF4-FFF2-40B4-BE49-F238E27FC236}">
                <a16:creationId xmlns:a16="http://schemas.microsoft.com/office/drawing/2014/main" id="{A3A59DF0-8C5A-49D0-949F-C31683562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524125"/>
            <a:ext cx="78200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조사할 성능 병목의 범위가 흐리다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AA43A0-A71D-4E51-8C76-CC78B28F4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0E3181-8FBB-4D8D-A020-5A4A65B26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71825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B">
            <a:extLst xmlns:a="http://schemas.openxmlformats.org/drawingml/2006/main">
              <a:ext uri="{FF2B5EF4-FFF2-40B4-BE49-F238E27FC236}">
                <a16:creationId xmlns:a16="http://schemas.microsoft.com/office/drawing/2014/main" id="{DCBEBCB4-3E6C-4C3F-8CF9-809F36955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361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B</a:t>
            </a:r>
          </a:p>
        </p:txBody>
      </p:sp>
      <p:sp>
        <p:nvSpPr>
          <p:cNvPr id="16" name="Context">
            <a:extLst xmlns:a="http://schemas.openxmlformats.org/drawingml/2006/main">
              <a:ext uri="{FF2B5EF4-FFF2-40B4-BE49-F238E27FC236}">
                <a16:creationId xmlns:a16="http://schemas.microsoft.com/office/drawing/2014/main" id="{1EDE606B-1155-4501-A097-DD5643BD2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143250"/>
            <a:ext cx="2333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Context</a:t>
            </a:r>
          </a:p>
        </p:txBody>
      </p:sp>
      <p:sp>
        <p:nvSpPr>
          <p:cNvPr id="17" name="빌드 조건·계약·하드웨어 가정을 반복 설명한다">
            <a:extLst xmlns:a="http://schemas.openxmlformats.org/drawingml/2006/main">
              <a:ext uri="{FF2B5EF4-FFF2-40B4-BE49-F238E27FC236}">
                <a16:creationId xmlns:a16="http://schemas.microsoft.com/office/drawing/2014/main" id="{427DEB44-1F01-4F24-A325-ECF89C781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143250"/>
            <a:ext cx="78200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빌드 조건·계약·하드웨어 가정을 반복 설명한다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9879BB-56A3-4831-BFBF-E2C6DF065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67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9F15BB-95F8-4BA2-8117-12812F708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C">
            <a:extLst xmlns:a="http://schemas.openxmlformats.org/drawingml/2006/main">
              <a:ext uri="{FF2B5EF4-FFF2-40B4-BE49-F238E27FC236}">
                <a16:creationId xmlns:a16="http://schemas.microsoft.com/office/drawing/2014/main" id="{23458737-247F-4FF0-855C-ACE2EB837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361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C</a:t>
            </a:r>
          </a:p>
        </p:txBody>
      </p:sp>
      <p:sp>
        <p:nvSpPr>
          <p:cNvPr id="21" name="Workflow">
            <a:extLst xmlns:a="http://schemas.openxmlformats.org/drawingml/2006/main">
              <a:ext uri="{FF2B5EF4-FFF2-40B4-BE49-F238E27FC236}">
                <a16:creationId xmlns:a16="http://schemas.microsoft.com/office/drawing/2014/main" id="{52C69C04-E610-421F-BEF4-1CAC8391E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762375"/>
            <a:ext cx="2333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Workflow</a:t>
            </a:r>
          </a:p>
        </p:txBody>
      </p:sp>
      <p:sp>
        <p:nvSpPr>
          <p:cNvPr id="22" name="분석 → 변경 → 측정 → 회귀 확인을 매번 적는다">
            <a:extLst xmlns:a="http://schemas.openxmlformats.org/drawingml/2006/main">
              <a:ext uri="{FF2B5EF4-FFF2-40B4-BE49-F238E27FC236}">
                <a16:creationId xmlns:a16="http://schemas.microsoft.com/office/drawing/2014/main" id="{3B737255-0AF3-4844-93D8-0916D23CC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762375"/>
            <a:ext cx="78200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분석 → 변경 → 측정 → 회귀 확인을 매번 적는다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83F49C-E88F-47CB-A91B-E83028740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3A313B-4D91-48C4-A772-C50DA552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D">
            <a:extLst xmlns:a="http://schemas.openxmlformats.org/drawingml/2006/main">
              <a:ext uri="{FF2B5EF4-FFF2-40B4-BE49-F238E27FC236}">
                <a16:creationId xmlns:a16="http://schemas.microsoft.com/office/drawing/2014/main" id="{7BAA9960-18D2-4C30-A647-CD2461C96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361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D</a:t>
            </a:r>
          </a:p>
        </p:txBody>
      </p:sp>
      <p:sp>
        <p:nvSpPr>
          <p:cNvPr id="26" name="Verification">
            <a:extLst xmlns:a="http://schemas.openxmlformats.org/drawingml/2006/main">
              <a:ext uri="{FF2B5EF4-FFF2-40B4-BE49-F238E27FC236}">
                <a16:creationId xmlns:a16="http://schemas.microsoft.com/office/drawing/2014/main" id="{87C3C082-739A-45CB-9460-7A0F0045A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381500"/>
            <a:ext cx="2333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Verification</a:t>
            </a:r>
          </a:p>
        </p:txBody>
      </p:sp>
      <p:sp>
        <p:nvSpPr>
          <p:cNvPr id="27" name="테스트와 Benchmark의 확인 기준이 모호하다">
            <a:extLst xmlns:a="http://schemas.openxmlformats.org/drawingml/2006/main">
              <a:ext uri="{FF2B5EF4-FFF2-40B4-BE49-F238E27FC236}">
                <a16:creationId xmlns:a16="http://schemas.microsoft.com/office/drawing/2014/main" id="{6BE5FE38-E998-462D-AF76-247761566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381500"/>
            <a:ext cx="78200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테스트와 Benchmark의 확인 기준이 모호하다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5EE6C8E-08B4-498C-BDD1-1B72E0E10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91A755-991E-4250-9F01-DEFDDD2D0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2920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E">
            <a:extLst xmlns:a="http://schemas.openxmlformats.org/drawingml/2006/main">
              <a:ext uri="{FF2B5EF4-FFF2-40B4-BE49-F238E27FC236}">
                <a16:creationId xmlns:a16="http://schemas.microsoft.com/office/drawing/2014/main" id="{28BBA024-F4EA-40A8-8A64-39ACA7B9A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38725"/>
            <a:ext cx="361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E</a:t>
            </a:r>
          </a:p>
        </p:txBody>
      </p:sp>
      <p:sp>
        <p:nvSpPr>
          <p:cNvPr id="31" name="Feedback Loop">
            <a:extLst xmlns:a="http://schemas.openxmlformats.org/drawingml/2006/main">
              <a:ext uri="{FF2B5EF4-FFF2-40B4-BE49-F238E27FC236}">
                <a16:creationId xmlns:a16="http://schemas.microsoft.com/office/drawing/2014/main" id="{462E58C9-6751-4A42-BE3E-909875D56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000625"/>
            <a:ext cx="2333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Feedback Loop</a:t>
            </a:r>
          </a:p>
        </p:txBody>
      </p:sp>
      <p:sp>
        <p:nvSpPr>
          <p:cNvPr id="32" name="같은 문제가 다시 생겨도 관련 시스템을 안 바꾼다">
            <a:extLst xmlns:a="http://schemas.openxmlformats.org/drawingml/2006/main">
              <a:ext uri="{FF2B5EF4-FFF2-40B4-BE49-F238E27FC236}">
                <a16:creationId xmlns:a16="http://schemas.microsoft.com/office/drawing/2014/main" id="{1C0F2E37-97D9-40F7-8D94-F30DFE325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5000625"/>
            <a:ext cx="78200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문제가 다시 생겨도 관련 시스템을 안 바꾼다</a:t>
            </a:r>
          </a:p>
        </p:txBody>
      </p:sp>
      <p:sp>
        <p:nvSpPr>
          <p:cNvPr id="3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101A9D7B-F560-4963-AB77-25125A4DC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M8</a:t>
            </a:r>
          </a:p>
        </p:txBody>
      </p:sp>
    </p:spTree>
    <p:extLst>
      <p:ext uri="{BB962C8B-B14F-4D97-AF65-F5344CB8AC3E}">
        <p14:creationId xmlns:p14="http://schemas.microsoft.com/office/powerpoint/2010/main" val="98781546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5 · 잠시 생각해 보기">
            <a:extLst xmlns:a="http://schemas.openxmlformats.org/drawingml/2006/main">
              <a:ext uri="{FF2B5EF4-FFF2-40B4-BE49-F238E27FC236}">
                <a16:creationId xmlns:a16="http://schemas.microsoft.com/office/drawing/2014/main" id="{EF628731-7476-433F-AC7D-BE72897AD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잠시 생각해 보기</a:t>
            </a:r>
          </a:p>
        </p:txBody>
      </p:sp>
      <p:sp>
        <p:nvSpPr>
          <p:cNvPr id="2" name="S80">
            <a:extLst xmlns:a="http://schemas.openxmlformats.org/drawingml/2006/main">
              <a:ext uri="{FF2B5EF4-FFF2-40B4-BE49-F238E27FC236}">
                <a16:creationId xmlns:a16="http://schemas.microsoft.com/office/drawing/2014/main" id="{6D44B4C1-611B-4E05-A249-5870D316E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S80</a:t>
            </a:r>
          </a:p>
        </p:txBody>
      </p:sp>
      <p:sp>
        <p:nvSpPr>
          <p:cNvPr id="3" name="다음 작은 행동을 개인적으로 고른다">
            <a:extLst xmlns:a="http://schemas.openxmlformats.org/drawingml/2006/main">
              <a:ext uri="{FF2B5EF4-FFF2-40B4-BE49-F238E27FC236}">
                <a16:creationId xmlns:a16="http://schemas.microsoft.com/office/drawing/2014/main" id="{6A5F4E56-F806-44D1-8BC1-D285ADF7B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작은 행동을 개인적으로 고른다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64C538-D2AA-43EA-941E-56164FD48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70–071 · 개인 성찰">
            <a:extLst xmlns:a="http://schemas.openxmlformats.org/drawingml/2006/main">
              <a:ext uri="{FF2B5EF4-FFF2-40B4-BE49-F238E27FC236}">
                <a16:creationId xmlns:a16="http://schemas.microsoft.com/office/drawing/2014/main" id="{DC9A40CE-DCF9-423A-AFBE-1FC92F0C8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BEAT-070–071 · 개인 성찰</a:t>
            </a:r>
          </a:p>
        </p:txBody>
      </p:sp>
      <p:sp>
        <p:nvSpPr>
          <p:cNvPr id="6" name="마음속으로 떠올리는 시간이다. 기록·발표·제출은 요구하지 않는다.">
            <a:extLst xmlns:a="http://schemas.openxmlformats.org/drawingml/2006/main">
              <a:ext uri="{FF2B5EF4-FFF2-40B4-BE49-F238E27FC236}">
                <a16:creationId xmlns:a16="http://schemas.microsoft.com/office/drawing/2014/main" id="{84B7BDFE-B3C3-454A-8854-B13FD114B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마음속으로 떠올리는 시간이다. 기록·발표·제출은 요구하지 않는다.</a:t>
            </a:r>
          </a:p>
        </p:txBody>
      </p:sp>
      <p:sp>
        <p:nvSpPr>
          <p:cNvPr id="7" name="떠올린 마찰에서, 작은 행동 하나를 마음속으로.">
            <a:extLst xmlns:a="http://schemas.openxmlformats.org/drawingml/2006/main">
              <a:ext uri="{FF2B5EF4-FFF2-40B4-BE49-F238E27FC236}">
                <a16:creationId xmlns:a16="http://schemas.microsoft.com/office/drawing/2014/main" id="{F861AD71-5414-4B65-A0FF-613AC8D84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떠올린 마찰에서, 작은 행동 하나를 마음속으로.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DA4924-A2B4-4907-8974-EDF24DA00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479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01">
            <a:extLst xmlns:a="http://schemas.openxmlformats.org/drawingml/2006/main">
              <a:ext uri="{FF2B5EF4-FFF2-40B4-BE49-F238E27FC236}">
                <a16:creationId xmlns:a16="http://schemas.microsoft.com/office/drawing/2014/main" id="{F1F85281-6749-4EAD-85D8-1CA75551D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425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0" name="반복 설명 하나를 다음 작업에서는 어떻게 줄일까?">
            <a:extLst xmlns:a="http://schemas.openxmlformats.org/drawingml/2006/main">
              <a:ext uri="{FF2B5EF4-FFF2-40B4-BE49-F238E27FC236}">
                <a16:creationId xmlns:a16="http://schemas.microsoft.com/office/drawing/2014/main" id="{B95CD5A5-586E-4BD1-A511-5DC356691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000375"/>
            <a:ext cx="9906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반복 설명 하나를 다음 작업에서는 어떻게 줄일까?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C546F1-22F8-450A-9D99-90E435028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02">
            <a:extLst xmlns:a="http://schemas.openxmlformats.org/drawingml/2006/main">
              <a:ext uri="{FF2B5EF4-FFF2-40B4-BE49-F238E27FC236}">
                <a16:creationId xmlns:a16="http://schemas.microsoft.com/office/drawing/2014/main" id="{27B22534-7D9D-4565-A966-366DF05B3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AI가 다시 찾는 프로젝트 사실 하나를 어디에 둘까?">
            <a:extLst xmlns:a="http://schemas.openxmlformats.org/drawingml/2006/main">
              <a:ext uri="{FF2B5EF4-FFF2-40B4-BE49-F238E27FC236}">
                <a16:creationId xmlns:a16="http://schemas.microsoft.com/office/drawing/2014/main" id="{B8B1904E-EF6F-4F32-9761-7D44C6220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867150"/>
            <a:ext cx="9906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AI가 다시 찾는 프로젝트 사실 하나를 어디에 둘까?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13C981-FD48-4F78-9CC9-8E1F343B0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815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03">
            <a:extLst xmlns:a="http://schemas.openxmlformats.org/drawingml/2006/main">
              <a:ext uri="{FF2B5EF4-FFF2-40B4-BE49-F238E27FC236}">
                <a16:creationId xmlns:a16="http://schemas.microsoft.com/office/drawing/2014/main" id="{746F3037-15F0-4709-BE32-B11299FFD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6" name="같은 실패가 또 생기면 어느 Layer부터 확인할까?">
            <a:extLst xmlns:a="http://schemas.openxmlformats.org/drawingml/2006/main">
              <a:ext uri="{FF2B5EF4-FFF2-40B4-BE49-F238E27FC236}">
                <a16:creationId xmlns:a16="http://schemas.microsoft.com/office/drawing/2014/main" id="{0DE590E6-8FFA-4E9A-A1DB-6B78BEFD6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33925"/>
            <a:ext cx="9906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실패가 또 생기면 어느 Layer부터 확인할까?</a:t>
            </a:r>
          </a:p>
        </p:txBody>
      </p:sp>
      <p:sp>
        <p:nvSpPr>
          <p:cNvPr id="1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F8561C91-5ECE-4DF4-BD26-F4FF34D97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M1 · M8</a:t>
            </a:r>
          </a:p>
        </p:txBody>
      </p:sp>
    </p:spTree>
    <p:extLst>
      <p:ext uri="{BB962C8B-B14F-4D97-AF65-F5344CB8AC3E}">
        <p14:creationId xmlns:p14="http://schemas.microsoft.com/office/powerpoint/2010/main" val="62166622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ACT 5 · 마지막 질문">
            <a:extLst xmlns:a="http://schemas.openxmlformats.org/drawingml/2006/main">
              <a:ext uri="{FF2B5EF4-FFF2-40B4-BE49-F238E27FC236}">
                <a16:creationId xmlns:a16="http://schemas.microsoft.com/office/drawing/2014/main" id="{E45DB89E-1AC3-4064-B3F3-46D690093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마지막 질문</a:t>
            </a:r>
          </a:p>
        </p:txBody>
      </p:sp>
      <p:sp>
        <p:nvSpPr>
          <p:cNvPr id="2" name="S81">
            <a:extLst xmlns:a="http://schemas.openxmlformats.org/drawingml/2006/main">
              <a:ext uri="{FF2B5EF4-FFF2-40B4-BE49-F238E27FC236}">
                <a16:creationId xmlns:a16="http://schemas.microsoft.com/office/drawing/2014/main" id="{0106626E-54ED-410A-A63C-2E2A8807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S81</a:t>
            </a:r>
          </a:p>
        </p:txBody>
      </p:sp>
      <p:sp>
        <p:nvSpPr>
          <p:cNvPr id="3" name="Q&amp;A와 교육 마무리">
            <a:extLst xmlns:a="http://schemas.openxmlformats.org/drawingml/2006/main">
              <a:ext uri="{FF2B5EF4-FFF2-40B4-BE49-F238E27FC236}">
                <a16:creationId xmlns:a16="http://schemas.microsoft.com/office/drawing/2014/main" id="{CBD53ABC-4023-4D98-AAB9-2D2D693A0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Q&amp;A와 교육 마무리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347171-48D5-4B98-8CDD-8F1AB033C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70–071 · 이 교육의 마무리">
            <a:extLst xmlns:a="http://schemas.openxmlformats.org/drawingml/2006/main">
              <a:ext uri="{FF2B5EF4-FFF2-40B4-BE49-F238E27FC236}">
                <a16:creationId xmlns:a16="http://schemas.microsoft.com/office/drawing/2014/main" id="{D96B6580-2CDC-433E-95AB-13EE3DCD4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BEAT-070–071 · 이 교육의 마무리</a:t>
            </a:r>
          </a:p>
        </p:txBody>
      </p:sp>
      <p:sp>
        <p:nvSpPr>
          <p:cNvPr id="6" name="목표 · 판단 · 검증 · 책임은 개발자에게 남는다.">
            <a:extLst xmlns:a="http://schemas.openxmlformats.org/drawingml/2006/main">
              <a:ext uri="{FF2B5EF4-FFF2-40B4-BE49-F238E27FC236}">
                <a16:creationId xmlns:a16="http://schemas.microsoft.com/office/drawing/2014/main" id="{3C5DE1EF-8E07-41CC-9D7F-5527E3F2A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목표 · 판단 · 검증 · 책임은 개발자에게 남는다.</a:t>
            </a:r>
          </a:p>
        </p:txBody>
      </p:sp>
      <p:sp>
        <p:nvSpPr>
          <p:cNvPr id="7" name="내 업무에서 무엇부터 바꿀까요?">
            <a:extLst xmlns:a="http://schemas.openxmlformats.org/drawingml/2006/main">
              <a:ext uri="{FF2B5EF4-FFF2-40B4-BE49-F238E27FC236}">
                <a16:creationId xmlns:a16="http://schemas.microsoft.com/office/drawing/2014/main" id="{B5FDEDD3-1F41-4667-A0ED-D9D9E16C5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내 업무에서 무엇부터 바꿀까요?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79E95D-69CB-4F94-8D70-ABB6B5A0F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9" name="AI가 잘 일할 환경을&#10;설계한다.">
            <a:extLst xmlns:a="http://schemas.openxmlformats.org/drawingml/2006/main">
              <a:ext uri="{FF2B5EF4-FFF2-40B4-BE49-F238E27FC236}">
                <a16:creationId xmlns:a16="http://schemas.microsoft.com/office/drawing/2014/main" id="{61C415E1-BC8E-4279-8287-B4F01526B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1457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AI가 잘 일할 환경을</a:t>
            </a:r>
          </a:p>
          <a:p xmlns:a="http://schemas.openxmlformats.org/drawingml/2006/main">
            <a: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설계한다.</a:t>
            </a:r>
          </a:p>
        </p:txBody>
      </p:sp>
      <p:sp>
        <p:nvSpPr>
          <p:cNvPr id="10" name="Question  →  Task  →  Context  →  System  →  Feedback Loop">
            <a:extLst xmlns:a="http://schemas.openxmlformats.org/drawingml/2006/main">
              <a:ext uri="{FF2B5EF4-FFF2-40B4-BE49-F238E27FC236}">
                <a16:creationId xmlns:a16="http://schemas.microsoft.com/office/drawing/2014/main" id="{14652905-D028-48F2-B4B0-57D0C96CF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210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Question  →  Task  →  Context  →  System  →  Feedback Loop</a:t>
            </a:r>
          </a:p>
        </p:txBody>
      </p:sp>
      <p:sp>
        <p:nvSpPr>
          <p:cNvPr id="11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3F518D26-49F2-4F08-B152-13CB883B8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M1</a:t>
            </a:r>
          </a:p>
        </p:txBody>
      </p:sp>
    </p:spTree>
    <p:extLst>
      <p:ext uri="{BB962C8B-B14F-4D97-AF65-F5344CB8AC3E}">
        <p14:creationId xmlns:p14="http://schemas.microsoft.com/office/powerpoint/2010/main" val="156737984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2026-10-21T12:22:10.3860000Z</dcterms:created>
  <dcterms:modified xsi:type="dcterms:W3CDTF">2026-10-21T12:22:10.3860000Z</dcterms:modified>
</coreProperties>
</file>