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f49d3e49d44632" /><Relationship Type="http://schemas.openxmlformats.org/officeDocument/2006/relationships/extended-properties" Target="/docProps/app.xml" Id="Ra952b8d6b4a04cc9" /><Relationship Type="http://schemas.openxmlformats.org/officeDocument/2006/relationships/officeDocument" Target="/ppt/presentation.xml" Id="R16026740fef740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0350e10d6543b7"/>
  </p:sldMasterIdLst>
  <p:notesMasterIdLst>
    <p:notesMasterId xmlns:r="http://schemas.openxmlformats.org/officeDocument/2006/relationships" r:id="Rc0d4771cea7f454b"/>
  </p:notesMasterIdLst>
  <p:sldIdLst>
    <p:sldId xmlns:r="http://schemas.openxmlformats.org/officeDocument/2006/relationships" id="256" r:id="R8e73b72bb7614b55"/>
    <p:sldId xmlns:r="http://schemas.openxmlformats.org/officeDocument/2006/relationships" id="257" r:id="R16e5f591f9c9474b"/>
    <p:sldId xmlns:r="http://schemas.openxmlformats.org/officeDocument/2006/relationships" id="258" r:id="R18e3aeb510944fa1"/>
    <p:sldId xmlns:r="http://schemas.openxmlformats.org/officeDocument/2006/relationships" id="259" r:id="R6a86408251ce4a70"/>
    <p:sldId xmlns:r="http://schemas.openxmlformats.org/officeDocument/2006/relationships" id="260" r:id="R9a39180f5033482f"/>
    <p:sldId xmlns:r="http://schemas.openxmlformats.org/officeDocument/2006/relationships" id="261" r:id="R2a5f84da54c3406c"/>
    <p:sldId xmlns:r="http://schemas.openxmlformats.org/officeDocument/2006/relationships" id="262" r:id="R60e90f338c784409"/>
    <p:sldId xmlns:r="http://schemas.openxmlformats.org/officeDocument/2006/relationships" id="263" r:id="R53d018243e4e49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e4fb8b3c134dc5" /><Relationship Type="http://schemas.openxmlformats.org/officeDocument/2006/relationships/slideMaster" Target="/ppt/slideMasters/slideMaster1.xml" Id="Rea0350e10d6543b7" /><Relationship Type="http://schemas.openxmlformats.org/officeDocument/2006/relationships/notesMaster" Target="/ppt/notesMasters/notesMaster1.xml" Id="Rc0d4771cea7f454b" /><Relationship Type="http://schemas.openxmlformats.org/officeDocument/2006/relationships/presProps" Target="/ppt/presProps.xml" Id="R7e1e5c20fd3a41f5" /><Relationship Type="http://schemas.openxmlformats.org/officeDocument/2006/relationships/tableStyles" Target="/ppt/tableStyles.xml" Id="R41d7f50b0280463e" /><Relationship Type="http://schemas.openxmlformats.org/officeDocument/2006/relationships/slide" Target="/ppt/slides/slide1.xml" Id="R8e73b72bb7614b55" /><Relationship Type="http://schemas.openxmlformats.org/officeDocument/2006/relationships/slide" Target="/ppt/slides/slide2.xml" Id="R16e5f591f9c9474b" /><Relationship Type="http://schemas.openxmlformats.org/officeDocument/2006/relationships/slide" Target="/ppt/slides/slide3.xml" Id="R18e3aeb510944fa1" /><Relationship Type="http://schemas.openxmlformats.org/officeDocument/2006/relationships/slide" Target="/ppt/slides/slide4.xml" Id="R6a86408251ce4a70" /><Relationship Type="http://schemas.openxmlformats.org/officeDocument/2006/relationships/slide" Target="/ppt/slides/slide5.xml" Id="R9a39180f5033482f" /><Relationship Type="http://schemas.openxmlformats.org/officeDocument/2006/relationships/slide" Target="/ppt/slides/slide6.xml" Id="R2a5f84da54c3406c" /><Relationship Type="http://schemas.openxmlformats.org/officeDocument/2006/relationships/slide" Target="/ppt/slides/slide7.xml" Id="R60e90f338c784409" /><Relationship Type="http://schemas.openxmlformats.org/officeDocument/2006/relationships/slide" Target="/ppt/slides/slide8.xml" Id="R53d018243e4e49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82bdd7998045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4941def2904620" /><Relationship Type="http://schemas.openxmlformats.org/officeDocument/2006/relationships/notesMaster" Target="/ppt/notesMasters/notesMaster1.xml" Id="R492b18aaec644a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3e5215e1e74893" /><Relationship Type="http://schemas.openxmlformats.org/officeDocument/2006/relationships/notesMaster" Target="/ppt/notesMasters/notesMaster1.xml" Id="R08b0d8ba4a0649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2d25698e3242c3" /><Relationship Type="http://schemas.openxmlformats.org/officeDocument/2006/relationships/notesMaster" Target="/ppt/notesMasters/notesMaster1.xml" Id="Rf188098566a94b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16b37a3a6142b7" /><Relationship Type="http://schemas.openxmlformats.org/officeDocument/2006/relationships/notesMaster" Target="/ppt/notesMasters/notesMaster1.xml" Id="Rd206fabc97e14b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3723272780467c" /><Relationship Type="http://schemas.openxmlformats.org/officeDocument/2006/relationships/notesMaster" Target="/ppt/notesMasters/notesMaster1.xml" Id="Rdb85041dda9b47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31ba6e79d14176" /><Relationship Type="http://schemas.openxmlformats.org/officeDocument/2006/relationships/notesMaster" Target="/ppt/notesMasters/notesMaster1.xml" Id="Ref3d0f5b161848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fa3e2a25988475e" /><Relationship Type="http://schemas.openxmlformats.org/officeDocument/2006/relationships/notesMaster" Target="/ppt/notesMasters/notesMaster1.xml" Id="R38593fce3ab640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09d69bac994e89" /><Relationship Type="http://schemas.openxmlformats.org/officeDocument/2006/relationships/notesMaster" Target="/ppt/notesMasters/notesMaster1.xml" Id="Rfd26a620ac6746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S73 — 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FULL STORY RECAP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Chatbot은 답을 구하고, Prompt는 Task를 구체화하며, Context는 필요한 Project 지식을 제공하고, Harness는 작업 환경을 설계하며, Loop는 Feedback으로 System을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“나는 지금 AI를 어떤 방식으로 사용하고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처음의 질문으로 돌아가 다섯 방식을 한눈에 보여준다.</a:t>
            </a:r>
          </a:p>
          <a:p xmlns:a="http://schemas.openxmlformats.org/drawingml/2006/main">
            <a:r>
              <a:t>2. (0:30–2:45 / Lecture) 각 행의 행동만 회수한다: 답을 구하기, 이번 작업 구체화, 프로젝트 지식 제공, 일하는 환경 설계, 피드백으로 시스템 수정. 새 용어를 덧붙이지 않는다.</a:t>
            </a:r>
          </a:p>
          <a:p xmlns:a="http://schemas.openxmlformats.org/drawingml/2006/main">
            <a:r>
              <a:t>3. (2:45–4:00 / Lecture) 앞의 방식이 사라지지 않고 문제에 맞는 대응이 더해졌다고 정리한다. S74 실제 Repository 이력→S75 선택 기준→S76 책임을 거쳐 S77에서 AI-Native 운영 모델을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다섯 방식이 어떤 문제에 대응했는지 여정을 회수한다. 실제 State 이름이나 책임 목록을 여기서 모두 설명하지 않고 S74와 S76에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BEAT-060 · 앞선 ACT의 Story callback. 새 Demo는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문제-driven 진화 모델이다. 각 단계는 앞 단계를 대체하거나 모든 개발자가 같은 maturity 순서로 이동해야 한다는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현재 사용 방식에서 다음으로 필요한 작은 engineering 대응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어떤 문제가 다음 단계의 접근을 필요하게 했는지 시스템 관점으로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기존 Vision 사례를 선택적으로 회상할 수 있다. 새 C++ 기술 사례는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다섯 개 행동 행을 차례로 가리킨다. 새로운 실행이나 상태를 추가하지 않는다. S77의 정의를 바로 다음 장에서 설명한다고 예고하지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띄우고 개인적으로 떠올리게 한다. 답변이나 현재 수준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“전체 교육 모델 가운데, 하나의 Repository에서 실제로 확인한 변화만 다시 보겠습니다.” S74로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총 4분, Lecture 4분. 각 단계 설명을 한 문장에 제한하고 앞선 ACT 내용을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S73와 production/preview/act5/S73.png를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S74 —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5 / 5A  PRIMARY DEMO EVOLUTION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각 State는 해당 문제에 대응해 기록된 Engineering history다. State 순서는 기능 성숙도 등급이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Repository는 어떤 문제를 만나며 바뀌었나?”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전체 교육 모델 가운데 실제 Product 이력만 회수하는 장임을 안내한다. 일곱 이름을 번호·화살표 순서로 읽고, 상단 왼쪽에서 오른쪽으로, 다음 하단 오른쪽에서 왼쪽으로 이동한다. State는 당시 문제에 대응한 이력임을 말한다.</a:t>
            </a:r>
          </a:p>
          <a:p xmlns:a="http://schemas.openxmlformats.org/drawingml/2006/main">
            <a:r>
              <a:t>2. (1:00–2:30 / VISUAL Demo) 아래 세 발췌(S16 crop 수정, S32 상세 문서 분리, S45 같은 조건의 성능 비교)를 가리키며 위의 일곱 State 변화와 연결한다. 작은 그림은 기억을 회수하는 용도이며 코드·경로·수치를 다시 읽는 시간이 아니다.</a:t>
            </a:r>
          </a:p>
          <a:p xmlns:a="http://schemas.openxmlformats.org/drawingml/2006/main">
            <a:r>
              <a:t>3. (2:30–3:00 / VISUAL Demo) STATE-04-PERF의 bounded endpoint에서 닫는다. Benchmark 준비 commit은 추가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State rail의 번호 01–07과 화살표를 따라간다. 상단은 왼쪽→오른쪽, 아래로 내려간 뒤 하단은 오른쪽→왼쪽으로 읽는다. 하단 발췌는 rail과 구분된 회상 자료이며 작은 코드·수치를 다시 읽거나 바로 위 State와 열 기준으로 대응시키지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OBSERVED_PRODUCT · `ai-dev-training-demo`의 named Git State/tag 기록과 DEMO-12. State 순서는 STATE-00 → STATE-00-FIXED → STATE-01 → STATE-02 → STATE-03 → STATE-04 → STATE-04-PERF다. 발췌 원본: assets/slide-illustrations/recap/S16-source.png, S32-source.png, S45-source.png (기존 production PNG와 동일). S16은 TRIAL-002 diff 재구성, S32는 STATE-02→03 문구 발췌, S45는 STATE-04→04-PERF 단일 코드·입력·환경 비교다. SHA-256과 native crop 범위: assets/slide-illustrations/ASSET_MANIFEST.json.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기록된 State와 Demo evidence 범위에 한정한다. Benchmark preparation commits는 supporting history이며 별도 State가 아니다. Subagent, Memory, stale Harness 또는 Loop를 Product State로 표시하지 않는다. 세 그림은 기존 발표자료 발췌이며 원본 실행 캡처가 아니다. S32로 Routing 우월성·토큰 절감을 주장하지 않고, S45는 tracemalloc 피크와 이 환경의 코드 변경 결과로 한정하며 RSS·Harness 단독 인과성으로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변화가 기능 수를 늘리기 위한 것이 아니라 당시 확인된 문제에 대응했다는 점을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Product State와 Conceptual 또는 Observed Meta 사례를 구분하고 bounded Product endpoint를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DEMO-12 · VISUAL, 2분. 실제 Product State/tag를 요약한 static timeline이다. 새 Trial·repository 실행·추가 state는 없다. Benchmark preparation은 별도 State로 그리지 않는다. 세 발췌와 seven-State rail을 함께 사용하되 개별 Trial을 새로 실행하거나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질문에 맞춰 각 State 아래 한 문구를 함께 훑는다. 평가 점수나 성숙도 단계로 읽지 않게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“그러면 이 작업에서 Subagent와 Memory는 왜 없었을까요?” S75로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1분 + VISUAL Demo 2분 = 3분. 세부 Trial을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production/ACT_5.pptx의 S74와 production/preview/act5/S74.png를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S75 — 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MINIMUM EFFECTIVE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bounded task에서는 Subagent와 Memory를 추가할 충분한 근거가 없었다. “Use what the problem justifies.”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“왜 현재 Demo의 최종 그림에 Subagent와 Memory가 없을까?”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이번 작업에서 쓴 왼쪽 요소와 보류한 오른쪽 요소를 비교한다.</a:t>
            </a:r>
          </a:p>
          <a:p xmlns:a="http://schemas.openxmlformats.org/drawingml/2006/main">
            <a:r>
              <a:t>2. (0:30–1:20 / Lecture) STATE-04-PERF와 DEC-0018의 bounded 범위에서 Subagent·Memory 추가의 이득이 충분히 정당화되지 않았다고 설명한다.</a:t>
            </a:r>
          </a:p>
          <a:p xmlns:a="http://schemas.openxmlformats.org/drawingml/2006/main">
            <a:r>
              <a:t>3. (1:20–2:00 / Lecture) “현재 문제가 필요로 하는 만큼 설계한다”는 기준을 남긴다. 기능 수가 많거나 적다는 이유만으로 성숙도를 판단하지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Demo에서 채택한 구성과 필요성을 입증하지 못한 구성을 대비한다. 여정 요약보다 무엇을 보류할지 판단한 기준에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OBSERVED_PRODUCT / TEACHING_MODEL · STATE-04-PERF와 DEC-0018. 사용한 요소: task Prompt, Project Context/routing, reusable Skill/workflow, Tests와 benchmark. 이번 bounded task에서 Subagent와 Memory는 사용되지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Demo의 bounded 작업과 이 교육의 프로젝트별 heuristic이다. 모든 Project에 Subagent/Memory가 불필요하거나 적게 쓰는 것이 항상 낫다는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처음부터 모든 기능을 넣지 않고 지금 반복되는 마찰과 필요한 지원부터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구성요소별 비용과 이득을 실제 task, context, verification 요구에 맞춰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Repository에서도 같은 정당화 질문을 적용할 수 있다. 새 C++ 절차는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왼쪽은 STATE-04-PERF의 system components, 오른쪽은 이번 사례에서 정당화되지 않은 Subagent/Memory다. 상태와 일반 규칙을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차이를 보고 “Use what the problem justifies”라는 기준을 가져간다. 도구 선택 답변이나 투표는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“필요한 구성요소를 선택한 뒤에도, 그 결과가 충분한지 판단하는 책임은 남습니다. 무엇을 확인하고 완료를 수용해야 할까요?” S76으로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2분. 구성요소를 다시 강의하지 않고 판단 근거와 범위에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S75와 production/preview/act5/S75.png를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S76 — 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DEVELOPER RESPONSIBILITY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Agent는 조사·생성·변경·실행·비교를 도울 수 있다. 개발자는 목표, 제약, 판단, Verification, 완료 여부와 결과 책임을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“AI가 더 많은 일을 맡아도 개발자가 계속 책임지는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(0:00–0:40 / Lecture) S75의 구성요소 선택에서 결과를 수용하는 판단으로 이어 간다. AI가 도울 수 있는 행동은 상단 한 문장으로만 읽는다.</a:t>
            </a:r>
          </a:p>
          <a:p xmlns:a="http://schemas.openxmlformats.org/drawingml/2006/main">
            <a:r>
              <a:t>2. (0:40–2:20 / Lecture) 네 질문을 차례로 짚는다: 해결할 목표, 적절한 선택, 확인 근거, 완료 수용 여부.</a:t>
            </a:r>
          </a:p>
          <a:p xmlns:a="http://schemas.openxmlformats.org/drawingml/2006/main">
            <a:r>
              <a:t>3. (2:20–3:00 / Lecture) 역할의 절대적 분업이 아니라 개발자의 판단과 책임을 강조하고 S77의 운영 모델로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AI가 도울 수 있는 행동은 짧게 읽고 개발자에게 남는 목표·판단·검증·책임의 질문을 차례로 확인한다. 이전 장의 도구 채택 목록을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BEAT-061–062. 새 Product feature나 책임 handoff evidence는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교육에서 고정한 책임 원칙이다. Agent와 개발자의 역할을 절대적인 분업 규칙으로 제시하지 않는다. AI fear/control framing을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AI가 결과를 만들 수 있어도 무엇이 맞고 완료인지 판단하는 일은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위임 범위, 제약, 검증 기준과 최종 수용 기준을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정적 role/responsibility diagram.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네 가지 책임 축을 읽고 자신의 완료 기준을 떠올리게 한다. 응답 요구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역할 변화를 이 교육에서는 어떤 모델로 부를까요?” S77로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다섯 Agent 행동을 상세 제품 기능처럼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S76와 production/preview/act5/S76.png를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S77 — 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AI-NATIVE DEVELOPMENT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교육은 Task Boundary, Project Context, Reusable Workflow, Verification, Feedback Loop를 의도적으로 설계·운영하는 방식을 AI-Native Development의 operational model로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“AI에게 일을 많이 맡기면 AI-Native일까?”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 과정이 AI가 일할 조건과 결과 확인 경로를 설계하는 방식에 AI-Native Development라는 운영 모델 이름을 붙였음을 밝힌다.</a:t>
            </a:r>
          </a:p>
          <a:p xmlns:a="http://schemas.openxmlformats.org/drawingml/2006/main">
            <a:r>
              <a:t>2. (0:30–2:20 / Lecture) 작업 경계, 프로젝트 지식·절차, 검증·피드백 세 행에서 각각 Task Boundary, Project Context/Reusable Workflow, Verification/Feedback Loop가 맡는 질문을 연결한다.</a:t>
            </a:r>
          </a:p>
          <a:p xmlns:a="http://schemas.openxmlformats.org/drawingml/2006/main">
            <a:r>
              <a:t>3. (2:20–3:00 / Lecture) 모든 Task에 모든 요소를 의무적으로 넣으라는 보편 정의가 아님을 한정하고 자신의 반복 마찰을 찾는 S78로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다섯 구성요소를 이 교육의 설계 질문으로 묶는다. 작업 경계→지식과 절차→검증과 피드백을 설명하되 공식·보편 정의나 의무적인 maturity 순서로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DEC-0023의 course-specific operational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공식·보편 업계 표준 정의라고 말하지 않는다. 모든 task 또는 Demo에 다섯 구성요소를 의무적으로 도입하라는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사용량을 늘리는 것만으로 끝내지 않고 반복되는 작은 마찰을 하나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Model capability와 작업 System/Harness 설계를 구분해 다음 병목을 진단한다.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다음 S78에서 C++ Vision 업무와 자신의 Repository로 transfer한다.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다섯 구성요소는 비교 가능한 system components로 보이며 maturity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남긴 뒤 course model의 범위를 확인한다. 공식 용어 정의나 정답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“내 Repository에서는 어떤 Layer에서 마찰이 반복될까요?” S78로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AI 사용량과 설계된 work system의 차이만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S77와 production/preview/act5/S77.png를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S78 — 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C++ VISION / MY REPOSITORY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1분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Task, Context, Workflow, Verification, Repeated Failure Loop 중 현재 가장 큰 마찰과 가까운 한 곳을 선택한다. 정해진 maturity sequence가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 Repository에서 다음 주에 하나만 바꾼다면?”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C++ Vision의 병목 범위, 빌드 조건·계약·하드웨어 가정, 분석·측정 절차를 업무에 비춰 보는 교육용 예시라고 밝힌다. 실제 프로젝트 사건이 아니다.</a:t>
            </a:r>
          </a:p>
          <a:p xmlns:a="http://schemas.openxmlformats.org/drawingml/2006/main">
            <a:r>
              <a:t>2. (1:00–3:00 / Transition) 다섯 행의 증상 질문을 읽으며 현재 자기 업무와 가까운 것이 있는지 마음속으로 떠올리게 한다. 같은 수준의 선택지이며 반드시 위에서부터 도입하는 순서가 아니다.</a:t>
            </a:r>
          </a:p>
          <a:p xmlns:a="http://schemas.openxmlformats.org/drawingml/2006/main">
            <a:r>
              <a:t>3. (3:00–5:00 / Transition) 떠올린 마찰 한 곳을 다음 작업의 작은 행동 하나로 좁히겠다고 안내하고 S79의 세 질문으로 연결한다. Task/Context/Workflow/Verification/Feedback의 새 개념 설명은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자기 업무의 반복 마찰 한 곳을 고르는 적용 질문에 집중한다. 모든 Layer를 도입하라는 체크리스트로 읽지 않고 현재 문제와 가장 가까운 한 곳만 고르게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C++ Vision engineering-pattern transfer. 실제 C++ Project, hardware, toolchain 또는 benchmark 결과는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다섯 선택지는 같은 높이의 적용 후보이며 순서가 있는 maturity ladder가 아니다. 특정 C++ Project 규칙·도구·hardware 또는 검증된 procedure를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전체 Harness를 새로 만들기 전에 반복해서 설명하거나 확인하는 부분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 비용, 위험과 verification surface를 보고 투자 지점을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새 Demo가 없다. 왼쪽 Layer 이름보다 오른쪽 반복되는 마찰을 먼저 읽고, 선택지들은 같은 높이의 적용 후보임을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선택지를 강사 주도로 비교한다. 청중에게 선택 발표, 투표, 실습, 제출을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“방금 떠올린 한 곳에서, 다음 작업 때 다르게 해 볼 작은 행동 하나를 마음속으로 골라 봅시다.” S79로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1분 + Transition 4분 = 5분. Transition 동안 새 사례를 열지 않고 reflection handoff만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S78와 production/preview/act5/S78.png를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S79 — 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반복해서 적는 설명, AI가 다시 찾는 Project 사실, 반복되는 실패에서 고칠 System layer 가운데 한 가지를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“방금 떠올린 마찰에서, 다음 작업 때 다르게 해 볼 작은 행동 하나는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S78에서 떠올린 반복 마찰 한 곳을 이어 받아, 다음 작업에서 다르게 해 볼 작은 행동 하나를 고르는 시간이라고 안내한다.</a:t>
            </a:r>
          </a:p>
          <a:p xmlns:a="http://schemas.openxmlformats.org/drawingml/2006/main">
            <a:r>
              <a:t>2. (1:00–2:00 / Lecture) 화면의 반복 설명 하나를 줄이는 방법, 다시 찾는 프로젝트 사실 하나를 둘 곳, 같은 실패 때 먼저 확인할 Layer의 세 질문을 읽는다. 자신과 가까운 질문 하나를 바탕으로 다음 행동을 떠올리게 한다.</a:t>
            </a:r>
          </a:p>
          <a:p xmlns:a="http://schemas.openxmlformats.org/drawingml/2006/main">
            <a:r>
              <a:t>3. (2:00–4:00 / Reflection) 두 분 동안 다음 행동 하나를 조용히 개인적으로 고를 시간을 둔다. 답변·기록·발표·제출을 요구하지 않는다. 시간 뒤 S80 질문 시간으로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장은 개인적인 선택을 위한 침묵을 허용한다. 앞의 여정·State·모델을 다시 강의하지 않고 작은 다음 행동 하나를 생각하게 한다. 답변·공유·공개 약속은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승인된 private reflection prompt. 개인 업무에 대한 새 관찰 근거는 수집하지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개인 Reflection이며 응답, 공유, written commitment 또는 실제 업무 변경을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반복되는 설명이나 Project 사실을 AI가 다시 찾는 지점부터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같은 실패가 반복될 때 Prompt 밖의 어떤 System layer가 원인인지 떠올린다.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Vision 또는 개발 Repository에 같은 질문을 개인적으로 적용할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Demo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떠올린 마찰에 맞는 다음 행동 하나를 마음속으로 고르는 개인 성찰로 진행한다. 공유나 실천 약속을 요구하지 않고 응답을 받기 위해 기다리지 않는다. 2분 뒤 바로 S80으로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“이제 질문을 받고, 마지막 공통 모델로 마무리하겠습니다.” S80으로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Reflection 2분 = 4분. Reflection은 2분에 종료하고 Q&amp;A와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S79와 production/preview/act5/S79.png를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S80 — 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Q&amp;A / CLOSING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Q&amp;A 4분 + Closing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Goal, Judgment, Verification, Responsibility를 유지하면서 AI가 일할 환경과 Feedback을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“남은 질문은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(0:00–4:00 / Q&amp;A) 상단의 “내 업무에서 무엇부터 바꿀까요?”를 가리키고 질문을 받는다. 질문이 없으면 “반복 설명을 줄이려면 Task와 Project Context 중 무엇을 살필까요?” 또는 “결과 확인 기준을 먼저 정한다면 어떤 업무부터 볼까요?”를 사용해 앞의 교육 모델 안에서 짧게 정리한다.</a:t>
            </a:r>
          </a:p>
          <a:p xmlns:a="http://schemas.openxmlformats.org/drawingml/2006/main">
            <a:r>
              <a:t>2. (4:00–6:00 / Closing Transition) 질문을 마감하고 중앙의 “AI가 잘 일할 환경을 설계한다”로 마무리한다. 하단 Question→Task→Context→System→Feedback Loop를 짧게 회수한다.</a:t>
            </a:r>
          </a:p>
          <a:p xmlns:a="http://schemas.openxmlformats.org/drawingml/2006/main">
            <a:r>
              <a:t>3. 종료 cue: “목표·판단·검증·책임을 유지하면서, AI가 잘 일할 환경을 설계합시다.”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BEAT-070–071. 새로운 Product claim이나 기술 개념은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AI-Native Development의 course-specific framing으로 닫는다. 제품 기능, 자동화 수준 또는 모든 상황의 단일 처방을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 대신 내 일에 필요한 환경과 확인 기준을 기억한다.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Goal, Judgment, Verification, Responsibility를 유지하며 System의 Feedback 경로를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Q&amp;A 운영 지시와 시간표는 Notes에만 두고 화면에는 질문과 마지막 한 문장을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Q&amp;A 4분. 질문이 없으면 FAQ 또는 개발 업무 적용 질문 하나를 사용하며 새로운 강의 topic을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2분 closing transition: Question → Task → Context → System → Feedback Loop를 회수하고 교육을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Q&amp;A 4분 + Closing Transition 2분 = 6분. Q&amp;A는 4분에 마감하고 추가 질문을 이유로 시간을 늘리지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S80와 production/preview/act5/S80.png를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d35d2a58e94bf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91b053e29149c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5fdb6f2ee4495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1f9e8991004c3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3f2b618feb4cf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8f93a7905542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ABBE208-7FA4-4539-94B3-71AD0A76C7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6CA66F4-9CFD-4EE1-8B82-472A37475F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AB32458-2F86-4B5D-90C0-6B9D6AB5DD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9C35044-FCF4-48E0-A5D7-36F60CF88E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F2A9D53-D76B-4C89-906F-C199FAE8FC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E3F28BD-3C84-4E6C-903D-D8D0E1C703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5DE7EE8-54BC-4BA4-85B2-43A5A98B0E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F9C8612-34FC-4314-B01F-420DA5DBC1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DD405D-A80F-4584-A2D3-804F127CD9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FF12E88-EC7F-41B8-A939-946652B48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b489ae1a9547ce" /><Relationship Type="http://schemas.openxmlformats.org/officeDocument/2006/relationships/slideLayout" Target="/ppt/slideLayouts/slideLayout1.xml" Id="R2247a363deba48b5" /><Relationship Type="http://schemas.openxmlformats.org/officeDocument/2006/relationships/slideLayout" Target="/ppt/slideLayouts/slideLayout2.xml" Id="R684f40206207480a" /><Relationship Type="http://schemas.openxmlformats.org/officeDocument/2006/relationships/slideLayout" Target="/ppt/slideLayouts/slideLayout3.xml" Id="R58a5291c6bce4e67" /><Relationship Type="http://schemas.openxmlformats.org/officeDocument/2006/relationships/slideLayout" Target="/ppt/slideLayouts/slideLayout4.xml" Id="R01ad5a4955624ed8" /><Relationship Type="http://schemas.openxmlformats.org/officeDocument/2006/relationships/slideLayout" Target="/ppt/slideLayouts/slideLayout5.xml" Id="R8e1bdefd9d524c8b" /><Relationship Type="http://schemas.openxmlformats.org/officeDocument/2006/relationships/slideLayout" Target="/ppt/slideLayouts/slideLayout6.xml" Id="R52987e2ff818470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47a363deba48b5"/>
    <p:sldLayoutId xmlns:r="http://schemas.openxmlformats.org/officeDocument/2006/relationships" id="2147483650" r:id="R684f40206207480a"/>
    <p:sldLayoutId xmlns:r="http://schemas.openxmlformats.org/officeDocument/2006/relationships" id="2147483651" r:id="R58a5291c6bce4e67"/>
    <p:sldLayoutId xmlns:r="http://schemas.openxmlformats.org/officeDocument/2006/relationships" id="2147483652" r:id="R01ad5a4955624ed8"/>
    <p:sldLayoutId xmlns:r="http://schemas.openxmlformats.org/officeDocument/2006/relationships" id="2147483653" r:id="R8e1bdefd9d524c8b"/>
    <p:sldLayoutId xmlns:r="http://schemas.openxmlformats.org/officeDocument/2006/relationships" id="2147483654" r:id="R52987e2ff81847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7e58acc47646be" /><Relationship Type="http://schemas.openxmlformats.org/officeDocument/2006/relationships/notesSlide" Target="/ppt/notesSlides/notesSlide1.xml" Id="R10972c6bf1f34b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a77376b1634309" /><Relationship Type="http://schemas.openxmlformats.org/officeDocument/2006/relationships/image" Target="/ppt/media/image.png" Id="R7662724c7ea34e3f" /><Relationship Type="http://schemas.openxmlformats.org/officeDocument/2006/relationships/image" Target="/ppt/media/image2.png" Id="R5942ee72041243ed" /><Relationship Type="http://schemas.openxmlformats.org/officeDocument/2006/relationships/image" Target="/ppt/media/image3.png" Id="R435c9401fca64949" /><Relationship Type="http://schemas.openxmlformats.org/officeDocument/2006/relationships/notesSlide" Target="/ppt/notesSlides/notesSlide2.xml" Id="Rc10918f652964c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cdf90b091d4869" /><Relationship Type="http://schemas.openxmlformats.org/officeDocument/2006/relationships/notesSlide" Target="/ppt/notesSlides/notesSlide3.xml" Id="R2ab817bc2aef4b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c893a731e54e87" /><Relationship Type="http://schemas.openxmlformats.org/officeDocument/2006/relationships/notesSlide" Target="/ppt/notesSlides/notesSlide4.xml" Id="Rcc8bdb44f2ed41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fe6a578ce4487d" /><Relationship Type="http://schemas.openxmlformats.org/officeDocument/2006/relationships/notesSlide" Target="/ppt/notesSlides/notesSlide5.xml" Id="R9d3aaca0a70548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f327e398cb4bf2" /><Relationship Type="http://schemas.openxmlformats.org/officeDocument/2006/relationships/notesSlide" Target="/ppt/notesSlides/notesSlide6.xml" Id="R0bab4106022b47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c714fec68a445a" /><Relationship Type="http://schemas.openxmlformats.org/officeDocument/2006/relationships/notesSlide" Target="/ppt/notesSlides/notesSlide7.xml" Id="R8c90cb33a6c048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bce231258a47f0" /><Relationship Type="http://schemas.openxmlformats.org/officeDocument/2006/relationships/notesSlide" Target="/ppt/notesSlides/notesSlide8.xml" Id="R014471ae7dec45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T 5 · 전체 여정 회수">
            <a:extLst xmlns:a="http://schemas.openxmlformats.org/drawingml/2006/main">
              <a:ext uri="{FF2B5EF4-FFF2-40B4-BE49-F238E27FC236}">
                <a16:creationId xmlns:a16="http://schemas.microsoft.com/office/drawing/2014/main" id="{7C0B5461-D5FF-4137-8155-9F978FCB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전체 여정 회수</a:t>
            </a:r>
          </a:p>
        </p:txBody>
      </p:sp>
      <p:sp>
        <p:nvSpPr>
          <p:cNvPr id="2" name="S73">
            <a:extLst xmlns:a="http://schemas.openxmlformats.org/drawingml/2006/main">
              <a:ext uri="{FF2B5EF4-FFF2-40B4-BE49-F238E27FC236}">
                <a16:creationId xmlns:a16="http://schemas.microsoft.com/office/drawing/2014/main" id="{32EF7F4C-F2B3-4E81-BE6F-549BF294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S73</a:t>
            </a:r>
          </a:p>
        </p:txBody>
      </p:sp>
      <p:sp>
        <p:nvSpPr>
          <p:cNvPr id="3" name="여섯 시간의 Story를 한 장으로">
            <a:extLst xmlns:a="http://schemas.openxmlformats.org/drawingml/2006/main">
              <a:ext uri="{FF2B5EF4-FFF2-40B4-BE49-F238E27FC236}">
                <a16:creationId xmlns:a16="http://schemas.microsoft.com/office/drawing/2014/main" id="{8E52FCB9-8D82-412D-B1B1-AE2D4EB8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여섯 시간의 Story를 한 장으로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38B1E8-60BB-423E-A59C-7EF5128E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0 · 이 교육의 문제 중심 진화 모델">
            <a:extLst xmlns:a="http://schemas.openxmlformats.org/drawingml/2006/main">
              <a:ext uri="{FF2B5EF4-FFF2-40B4-BE49-F238E27FC236}">
                <a16:creationId xmlns:a16="http://schemas.microsoft.com/office/drawing/2014/main" id="{F85609B7-F1E2-4A7C-B15C-CA216467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BEAT-060 · 이 교육의 문제 중심 진화 모델</a:t>
            </a:r>
          </a:p>
        </p:txBody>
      </p:sp>
      <p:sp>
        <p:nvSpPr>
          <p:cNvPr id="6" name="앞의 방식을 버리거나, 모든 프로젝트가 같은 순서로 발전해야 한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D3B04853-768C-4C37-B071-53598C0B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방식을 버리거나, 모든 프로젝트가 같은 순서로 발전해야 한다는 뜻은 아니다.</a:t>
            </a:r>
          </a:p>
        </p:txBody>
      </p:sp>
      <p:sp>
        <p:nvSpPr>
          <p:cNvPr id="7" name="문제가 넓어질수록, 필요한 대응이 더해졌다.">
            <a:extLst xmlns:a="http://schemas.openxmlformats.org/drawingml/2006/main">
              <a:ext uri="{FF2B5EF4-FFF2-40B4-BE49-F238E27FC236}">
                <a16:creationId xmlns:a16="http://schemas.microsoft.com/office/drawing/2014/main" id="{F68C11C3-11CD-4E1A-BD4C-CB94E9DD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문제가 넓어질수록, 필요한 대응이 더해졌다.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5EA5EB90-D1F2-47E1-B9CA-F54B3C73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D3322A-D90B-437F-A7A6-BD5D0638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Chatbot">
            <a:extLst xmlns:a="http://schemas.openxmlformats.org/drawingml/2006/main">
              <a:ext uri="{FF2B5EF4-FFF2-40B4-BE49-F238E27FC236}">
                <a16:creationId xmlns:a16="http://schemas.microsoft.com/office/drawing/2014/main" id="{A0F4BB1C-7C9F-4D88-BD70-28B8515C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Chatbot</a:t>
            </a:r>
          </a:p>
        </p:txBody>
      </p:sp>
      <p:sp>
        <p:nvSpPr>
          <p:cNvPr id="11" name="답을 구한다">
            <a:extLst xmlns:a="http://schemas.openxmlformats.org/drawingml/2006/main">
              <a:ext uri="{FF2B5EF4-FFF2-40B4-BE49-F238E27FC236}">
                <a16:creationId xmlns:a16="http://schemas.microsoft.com/office/drawing/2014/main" id="{7F6F7E5F-4844-432A-8DF2-A25CE487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구한다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4203B1-5D40-4ACB-A6BC-7801DBC2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EAAA3F5B-4EB3-4A59-ACD2-0F5BFD13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83863-CDE5-4E46-950A-5487A4F5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Prompt">
            <a:extLst xmlns:a="http://schemas.openxmlformats.org/drawingml/2006/main">
              <a:ext uri="{FF2B5EF4-FFF2-40B4-BE49-F238E27FC236}">
                <a16:creationId xmlns:a16="http://schemas.microsoft.com/office/drawing/2014/main" id="{3BBC264B-2938-435F-BFB9-2D0A8263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16" name="이번 작업을&#10;구체화한다">
            <a:extLst xmlns:a="http://schemas.openxmlformats.org/drawingml/2006/main">
              <a:ext uri="{FF2B5EF4-FFF2-40B4-BE49-F238E27FC236}">
                <a16:creationId xmlns:a16="http://schemas.microsoft.com/office/drawing/2014/main" id="{881B0217-F631-4F01-AC11-1AA55418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C18B8A-E6A2-434A-BB14-A06BE15F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5B791673-8974-4C88-B0CF-5F413ECA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65B790-0BE2-4664-967B-82CC4201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Context">
            <a:extLst xmlns:a="http://schemas.openxmlformats.org/drawingml/2006/main">
              <a:ext uri="{FF2B5EF4-FFF2-40B4-BE49-F238E27FC236}">
                <a16:creationId xmlns:a16="http://schemas.microsoft.com/office/drawing/2014/main" id="{C44AD74A-F0D5-400D-9C9C-F762A09E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21" name="프로젝트 지식을&#10;제공한다">
            <a:extLst xmlns:a="http://schemas.openxmlformats.org/drawingml/2006/main">
              <a:ext uri="{FF2B5EF4-FFF2-40B4-BE49-F238E27FC236}">
                <a16:creationId xmlns:a16="http://schemas.microsoft.com/office/drawing/2014/main" id="{65E4A97D-17B4-4EBA-B9E5-E899294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지식을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제공한다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FD24BD-2096-4CEF-BCFE-4E6D0617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4487EA9A-84F4-43C7-AA46-D522D28F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484DCF-6AE6-416C-ADA6-D08F1012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5" name="Harness">
            <a:extLst xmlns:a="http://schemas.openxmlformats.org/drawingml/2006/main">
              <a:ext uri="{FF2B5EF4-FFF2-40B4-BE49-F238E27FC236}">
                <a16:creationId xmlns:a16="http://schemas.microsoft.com/office/drawing/2014/main" id="{998286F6-C01F-4CB8-9DEA-BECC32DC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26" name="일하는 환경을&#10;설계한다">
            <a:extLst xmlns:a="http://schemas.openxmlformats.org/drawingml/2006/main">
              <a:ext uri="{FF2B5EF4-FFF2-40B4-BE49-F238E27FC236}">
                <a16:creationId xmlns:a16="http://schemas.microsoft.com/office/drawing/2014/main" id="{F850E79E-E72B-46BF-9C4D-7F2A97B7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일하는 환경을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3DEB00-11B1-4DF3-840C-BE5A18A8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8" name="05">
            <a:extLst xmlns:a="http://schemas.openxmlformats.org/drawingml/2006/main">
              <a:ext uri="{FF2B5EF4-FFF2-40B4-BE49-F238E27FC236}">
                <a16:creationId xmlns:a16="http://schemas.microsoft.com/office/drawing/2014/main" id="{8FE4DDC9-1733-4EB0-A496-8FBE42C1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48AB09-2707-4BE0-9CC1-9C8E50C5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0" name="Loop">
            <a:extLst xmlns:a="http://schemas.openxmlformats.org/drawingml/2006/main">
              <a:ext uri="{FF2B5EF4-FFF2-40B4-BE49-F238E27FC236}">
                <a16:creationId xmlns:a16="http://schemas.microsoft.com/office/drawing/2014/main" id="{73325631-ADC6-4AC0-B485-05E25B44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31" name="피드백으로&#10;시스템을 고친다">
            <a:extLst xmlns:a="http://schemas.openxmlformats.org/drawingml/2006/main">
              <a:ext uri="{FF2B5EF4-FFF2-40B4-BE49-F238E27FC236}">
                <a16:creationId xmlns:a16="http://schemas.microsoft.com/office/drawing/2014/main" id="{34B93921-83BD-4D86-A064-4E3418FF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피드백으로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시스템을 고친다</a:t>
            </a:r>
          </a:p>
        </p:txBody>
      </p:sp>
      <p:sp>
        <p:nvSpPr>
          <p:cNvPr id="32" name="지금 나는 AI를 어떤 방식으로 사용하고 있을까?">
            <a:extLst xmlns:a="http://schemas.openxmlformats.org/drawingml/2006/main">
              <a:ext uri="{FF2B5EF4-FFF2-40B4-BE49-F238E27FC236}">
                <a16:creationId xmlns:a16="http://schemas.microsoft.com/office/drawing/2014/main" id="{CF479891-0DB5-4E88-A366-51B9ECA0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나는 AI를 어떤 방식으로 사용하고 있을까?</a:t>
            </a:r>
          </a:p>
        </p:txBody>
      </p:sp>
    </p:spTree>
    <p:extLst>
      <p:ext uri="{BB962C8B-B14F-4D97-AF65-F5344CB8AC3E}">
        <p14:creationId xmlns:p14="http://schemas.microsoft.com/office/powerpoint/2010/main" val="3682460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ACT 5 · 확인된 제품 변화">
            <a:extLst xmlns:a="http://schemas.openxmlformats.org/drawingml/2006/main">
              <a:ext uri="{FF2B5EF4-FFF2-40B4-BE49-F238E27FC236}">
                <a16:creationId xmlns:a16="http://schemas.microsoft.com/office/drawing/2014/main" id="{1B715D16-5507-4174-A703-20BCED0D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확인된 제품 변화</a:t>
            </a:r>
          </a:p>
        </p:txBody>
      </p:sp>
      <p:sp>
        <p:nvSpPr>
          <p:cNvPr id="2" name="S74">
            <a:extLst xmlns:a="http://schemas.openxmlformats.org/drawingml/2006/main">
              <a:ext uri="{FF2B5EF4-FFF2-40B4-BE49-F238E27FC236}">
                <a16:creationId xmlns:a16="http://schemas.microsoft.com/office/drawing/2014/main" id="{6C6A8D9A-214A-4B26-A143-2D823033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S74</a:t>
            </a:r>
          </a:p>
        </p:txBody>
      </p:sp>
      <p:sp>
        <p:nvSpPr>
          <p:cNvPr id="3" name="하나의 Repository가 문제에 대응해 진화했다">
            <a:extLst xmlns:a="http://schemas.openxmlformats.org/drawingml/2006/main">
              <a:ext uri="{FF2B5EF4-FFF2-40B4-BE49-F238E27FC236}">
                <a16:creationId xmlns:a16="http://schemas.microsoft.com/office/drawing/2014/main" id="{696927DD-84DA-47D3-9E94-3EF743EB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하나의 Repository가 문제에 대응해 진화했다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F0CC36-586B-4CA2-B444-800F50F4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MO-12 · 실제 Git State 이력 · S16 / S32 / S45 발표자료 발췌">
            <a:extLst xmlns:a="http://schemas.openxmlformats.org/drawingml/2006/main">
              <a:ext uri="{FF2B5EF4-FFF2-40B4-BE49-F238E27FC236}">
                <a16:creationId xmlns:a16="http://schemas.microsoft.com/office/drawing/2014/main" id="{9D4B5258-B673-4F9D-89D4-E136E8A3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DEMO-12 · 실제 Git State 이력 · S16 / S32 / S45 발표자료 발췌</a:t>
            </a:r>
          </a:p>
        </p:txBody>
      </p:sp>
      <p:sp>
        <p:nvSpPr>
          <p:cNvPr id="6" name="원본 실행 화면 아님 · 성능은 해당 코드·입력·환경 범위 · State는 성숙도 등급이나 Product L">
            <a:extLst xmlns:a="http://schemas.openxmlformats.org/drawingml/2006/main">
              <a:ext uri="{FF2B5EF4-FFF2-40B4-BE49-F238E27FC236}">
                <a16:creationId xmlns:a16="http://schemas.microsoft.com/office/drawing/2014/main" id="{ED55AB6D-AC0E-46C3-A820-7FB560B7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원본 실행 화면 아님 · 성능은 해당 코드·입력·환경 범위 · State는 성숙도 등급이나 Product Loop가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68A6A-ABEC-406E-9D76-610AEE9C9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56A82595-CE8D-4EAE-B4EE-1A55505E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STATE-00">
            <a:extLst xmlns:a="http://schemas.openxmlformats.org/drawingml/2006/main">
              <a:ext uri="{FF2B5EF4-FFF2-40B4-BE49-F238E27FC236}">
                <a16:creationId xmlns:a16="http://schemas.microsoft.com/office/drawing/2014/main" id="{63374AF7-4381-449F-83EA-1366555F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</a:t>
            </a:r>
          </a:p>
        </p:txBody>
      </p:sp>
      <p:sp>
        <p:nvSpPr>
          <p:cNvPr id="10" name="crop 경계 문제">
            <a:extLst xmlns:a="http://schemas.openxmlformats.org/drawingml/2006/main">
              <a:ext uri="{FF2B5EF4-FFF2-40B4-BE49-F238E27FC236}">
                <a16:creationId xmlns:a16="http://schemas.microsoft.com/office/drawing/2014/main" id="{02DC74C9-E634-48D4-8627-237F7B5E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문제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6BAC32-5EA4-4AA6-B87B-A3D5F55A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D3161E-EBDA-45AD-829C-A03B72A6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3498811B-D7AB-4897-8FAE-0FCE40EC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STATE-00-FIXED">
            <a:extLst xmlns:a="http://schemas.openxmlformats.org/drawingml/2006/main">
              <a:ext uri="{FF2B5EF4-FFF2-40B4-BE49-F238E27FC236}">
                <a16:creationId xmlns:a16="http://schemas.microsoft.com/office/drawing/2014/main" id="{E153E282-2A7A-4448-9145-D5904665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STATE-00-FIXED</a:t>
            </a:r>
          </a:p>
        </p:txBody>
      </p:sp>
      <p:sp>
        <p:nvSpPr>
          <p:cNvPr id="15" name="계약에 맞게 수정">
            <a:extLst xmlns:a="http://schemas.openxmlformats.org/drawingml/2006/main">
              <a:ext uri="{FF2B5EF4-FFF2-40B4-BE49-F238E27FC236}">
                <a16:creationId xmlns:a16="http://schemas.microsoft.com/office/drawing/2014/main" id="{FCD2941A-1CA7-4CF6-88A7-FE69DE7E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계약에 맞게 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1AE1F2-42E2-4B86-BC2C-F5214B6B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3223DB-B9D1-4BAE-8D4F-D042B85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A511B3A6-3FBA-45F5-A2EF-168AB008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STATE-01">
            <a:extLst xmlns:a="http://schemas.openxmlformats.org/drawingml/2006/main">
              <a:ext uri="{FF2B5EF4-FFF2-40B4-BE49-F238E27FC236}">
                <a16:creationId xmlns:a16="http://schemas.microsoft.com/office/drawing/2014/main" id="{336DF2BF-62E8-46FC-B53E-D8F7A434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20" name="프로젝트 지침">
            <a:extLst xmlns:a="http://schemas.openxmlformats.org/drawingml/2006/main">
              <a:ext uri="{FF2B5EF4-FFF2-40B4-BE49-F238E27FC236}">
                <a16:creationId xmlns:a16="http://schemas.microsoft.com/office/drawing/2014/main" id="{F5D1AAF5-17AE-4595-8857-0ECA9EF7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064DFA-C0E3-408B-A6CE-0B35017D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0C10F9-FC9F-4E13-AF01-B6173BD0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A766A794-89C4-4A4B-8244-EE4441E8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STATE-02">
            <a:extLst xmlns:a="http://schemas.openxmlformats.org/drawingml/2006/main">
              <a:ext uri="{FF2B5EF4-FFF2-40B4-BE49-F238E27FC236}">
                <a16:creationId xmlns:a16="http://schemas.microsoft.com/office/drawing/2014/main" id="{DEF106E4-137D-4142-A6BE-F2E9EAD5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STATE-02</a:t>
            </a:r>
          </a:p>
        </p:txBody>
      </p:sp>
      <p:sp>
        <p:nvSpPr>
          <p:cNvPr id="25" name="Context 증가">
            <a:extLst xmlns:a="http://schemas.openxmlformats.org/drawingml/2006/main">
              <a:ext uri="{FF2B5EF4-FFF2-40B4-BE49-F238E27FC236}">
                <a16:creationId xmlns:a16="http://schemas.microsoft.com/office/drawing/2014/main" id="{71874F78-D5C8-4277-823D-1EFCDBFE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 증가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3A4730-84CE-4A44-B588-A8D69FB1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7" name="05">
            <a:extLst xmlns:a="http://schemas.openxmlformats.org/drawingml/2006/main">
              <a:ext uri="{FF2B5EF4-FFF2-40B4-BE49-F238E27FC236}">
                <a16:creationId xmlns:a16="http://schemas.microsoft.com/office/drawing/2014/main" id="{C5A1C572-9DA7-4321-9A6D-AFEE64E7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8" name="STATE-03">
            <a:extLst xmlns:a="http://schemas.openxmlformats.org/drawingml/2006/main">
              <a:ext uri="{FF2B5EF4-FFF2-40B4-BE49-F238E27FC236}">
                <a16:creationId xmlns:a16="http://schemas.microsoft.com/office/drawing/2014/main" id="{C421AB54-6CAD-4919-A9B0-D6101256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STATE-03</a:t>
            </a:r>
          </a:p>
        </p:txBody>
      </p:sp>
      <p:sp>
        <p:nvSpPr>
          <p:cNvPr id="29" name="상세 정보로 연결">
            <a:extLst xmlns:a="http://schemas.openxmlformats.org/drawingml/2006/main">
              <a:ext uri="{FF2B5EF4-FFF2-40B4-BE49-F238E27FC236}">
                <a16:creationId xmlns:a16="http://schemas.microsoft.com/office/drawing/2014/main" id="{8C6A702B-E0E9-46FB-AF97-7FAA56D2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정보로 연결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75C09B-BEB3-4F73-990A-4C6EFC5D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D1A4F1-68C5-47F8-BC22-806A964D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32" name="06">
            <a:extLst xmlns:a="http://schemas.openxmlformats.org/drawingml/2006/main">
              <a:ext uri="{FF2B5EF4-FFF2-40B4-BE49-F238E27FC236}">
                <a16:creationId xmlns:a16="http://schemas.microsoft.com/office/drawing/2014/main" id="{9CCB42A4-BF42-46E2-B022-3F576335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3" name="STATE-04">
            <a:extLst xmlns:a="http://schemas.openxmlformats.org/drawingml/2006/main">
              <a:ext uri="{FF2B5EF4-FFF2-40B4-BE49-F238E27FC236}">
                <a16:creationId xmlns:a16="http://schemas.microsoft.com/office/drawing/2014/main" id="{C79CCBF9-415E-4131-A1B8-96520D46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STATE-04</a:t>
            </a:r>
          </a:p>
        </p:txBody>
      </p:sp>
      <p:sp>
        <p:nvSpPr>
          <p:cNvPr id="34" name="재사용 Workflow">
            <a:extLst xmlns:a="http://schemas.openxmlformats.org/drawingml/2006/main">
              <a:ext uri="{FF2B5EF4-FFF2-40B4-BE49-F238E27FC236}">
                <a16:creationId xmlns:a16="http://schemas.microsoft.com/office/drawing/2014/main" id="{3B6999C5-D97C-4DF4-9275-AAE5B98E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58916D-9362-44CE-89EA-1C866FA6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162A39-3EA5-45F5-A30F-8C04F173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6B4D"/>
            </a:solidFill>
            <a:prstDash val="solid"/>
          </a:ln>
        </p:spPr>
      </p:sp>
      <p:sp>
        <p:nvSpPr>
          <p:cNvPr id="37" name="07">
            <a:extLst xmlns:a="http://schemas.openxmlformats.org/drawingml/2006/main">
              <a:ext uri="{FF2B5EF4-FFF2-40B4-BE49-F238E27FC236}">
                <a16:creationId xmlns:a16="http://schemas.microsoft.com/office/drawing/2014/main" id="{6B1F621C-21EF-4483-92D4-94357DE5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38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6C11AC42-5092-4843-A523-8E75CEC5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76B4D"/>
                </a:solidFill>
                <a:latin typeface="Consolas"/>
                <a:ea typeface="Consolas"/>
                <a:cs typeface="Consolas"/>
              </a:rPr>
              <a:t>STATE-04-PERF</a:t>
            </a:r>
          </a:p>
        </p:txBody>
      </p:sp>
      <p:sp>
        <p:nvSpPr>
          <p:cNvPr id="39" name="검증된 제품 변경">
            <a:extLst xmlns:a="http://schemas.openxmlformats.org/drawingml/2006/main">
              <a:ext uri="{FF2B5EF4-FFF2-40B4-BE49-F238E27FC236}">
                <a16:creationId xmlns:a16="http://schemas.microsoft.com/office/drawing/2014/main" id="{99269418-7830-48DD-805E-0C09736A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검증된 제품 변경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F582EC-E6A3-4BA1-AF30-6280E451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2390775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ACA4CA-ECA8-4395-AB70-5964EFCD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42" name="앞서 본 근거 다시 보기">
            <a:extLst xmlns:a="http://schemas.openxmlformats.org/drawingml/2006/main">
              <a:ext uri="{FF2B5EF4-FFF2-40B4-BE49-F238E27FC236}">
                <a16:creationId xmlns:a16="http://schemas.microsoft.com/office/drawing/2014/main" id="{B6526B7B-BE62-43AC-AE63-D2FBFEC2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근거 다시 보기</a:t>
            </a:r>
          </a:p>
        </p:txBody>
      </p:sp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5601A4-9852-4F00-AC57-E8B17A1C0A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2724c7ea34e3f"/>
          <a:srcRect xmlns:a="http://schemas.openxmlformats.org/drawingml/2006/main" l="5000" t="40741" r="5000" b="18519"/>
          <a:stretch xmlns:a="http://schemas.openxmlformats.org/drawingml/2006/main"/>
        </p:blipFill>
        <p:spPr>
          <a:xfrm xmlns:a="http://schemas.openxmlformats.org/drawingml/2006/main">
            <a:off x="914400" y="4027135"/>
            <a:ext cx="2895600" cy="737306"/>
          </a:xfrm>
          <a:prstGeom xmlns:a="http://schemas.openxmlformats.org/drawingml/2006/main" prst="rect">
            <a:avLst/>
          </a:prstGeom>
        </p:spPr>
      </p:pic>
      <p:sp>
        <p:nvSpPr>
          <p:cNvPr id="44" name="crop 계약 수정">
            <a:extLst xmlns:a="http://schemas.openxmlformats.org/drawingml/2006/main">
              <a:ext uri="{FF2B5EF4-FFF2-40B4-BE49-F238E27FC236}">
                <a16:creationId xmlns:a16="http://schemas.microsoft.com/office/drawing/2014/main" id="{3ED1C895-6DD1-4869-A4CC-FCE3D9A2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수정</a:t>
            </a:r>
          </a:p>
        </p:txBody>
      </p:sp>
      <p:sp>
        <p:nvSpPr>
          <p:cNvPr id="45" name="S16 · STATE-00 → STATE-00-FIXED">
            <a:extLst xmlns:a="http://schemas.openxmlformats.org/drawingml/2006/main">
              <a:ext uri="{FF2B5EF4-FFF2-40B4-BE49-F238E27FC236}">
                <a16:creationId xmlns:a16="http://schemas.microsoft.com/office/drawing/2014/main" id="{287CBA64-0727-4891-B785-6DF55CCD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S16 · STATE-00 → STATE-00-FIXED</a:t>
            </a:r>
          </a:p>
        </p:txBody>
      </p:sp>
      <p:pic>
        <p:nvPic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B925A2-4069-4943-8F7E-CD0D242548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42ee72041243ed"/>
          <a:srcRect xmlns:a="http://schemas.openxmlformats.org/drawingml/2006/main" l="5000" t="39352" r="5000" b="26852"/>
          <a:stretch xmlns:a="http://schemas.openxmlformats.org/drawingml/2006/main"/>
        </p:blipFill>
        <p:spPr>
          <a:xfrm xmlns:a="http://schemas.openxmlformats.org/drawingml/2006/main">
            <a:off x="4648200" y="4089973"/>
            <a:ext cx="2895600" cy="611628"/>
          </a:xfrm>
          <a:prstGeom xmlns:a="http://schemas.openxmlformats.org/drawingml/2006/main" prst="rect">
            <a:avLst/>
          </a:prstGeom>
        </p:spPr>
      </p:pic>
      <p:sp>
        <p:nvSpPr>
          <p:cNvPr id="47" name="상세 문서로 분리">
            <a:extLst xmlns:a="http://schemas.openxmlformats.org/drawingml/2006/main">
              <a:ext uri="{FF2B5EF4-FFF2-40B4-BE49-F238E27FC236}">
                <a16:creationId xmlns:a16="http://schemas.microsoft.com/office/drawing/2014/main" id="{3FFAAED7-7125-4347-AC5D-765769D3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상세 문서로 분리</a:t>
            </a:r>
          </a:p>
        </p:txBody>
      </p:sp>
      <p:sp>
        <p:nvSpPr>
          <p:cNvPr id="48" name="S32 · STATE-02 → STATE-03">
            <a:extLst xmlns:a="http://schemas.openxmlformats.org/drawingml/2006/main">
              <a:ext uri="{FF2B5EF4-FFF2-40B4-BE49-F238E27FC236}">
                <a16:creationId xmlns:a16="http://schemas.microsoft.com/office/drawing/2014/main" id="{6102B4CA-2C0F-4FCA-8A83-FBCB7ADE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S32 · STATE-02 → STATE-03</a:t>
            </a:r>
          </a:p>
        </p:txBody>
      </p:sp>
      <p:pic>
        <p:nvPic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67B525F-EAEC-47A6-906B-F78726D7CD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5c9401fca64949"/>
          <a:srcRect xmlns:a="http://schemas.openxmlformats.org/drawingml/2006/main" l="5000" t="33333" r="5000" b="16667"/>
          <a:stretch xmlns:a="http://schemas.openxmlformats.org/drawingml/2006/main"/>
        </p:blipFill>
        <p:spPr>
          <a:xfrm xmlns:a="http://schemas.openxmlformats.org/drawingml/2006/main">
            <a:off x="8382000" y="3943350"/>
            <a:ext cx="2895600" cy="904875"/>
          </a:xfrm>
          <a:prstGeom xmlns:a="http://schemas.openxmlformats.org/drawingml/2006/main" prst="rect">
            <a:avLst/>
          </a:prstGeom>
        </p:spPr>
      </p:pic>
      <p:sp>
        <p:nvSpPr>
          <p:cNvPr id="50" name="같은 조건의 성능 비교">
            <a:extLst xmlns:a="http://schemas.openxmlformats.org/drawingml/2006/main">
              <a:ext uri="{FF2B5EF4-FFF2-40B4-BE49-F238E27FC236}">
                <a16:creationId xmlns:a16="http://schemas.microsoft.com/office/drawing/2014/main" id="{00F64884-8803-417F-9E49-DE9815F2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조건의 성능 비교</a:t>
            </a:r>
          </a:p>
        </p:txBody>
      </p:sp>
      <p:sp>
        <p:nvSpPr>
          <p:cNvPr id="51" name="S45 · STATE-04 → STATE-04-PERF">
            <a:extLst xmlns:a="http://schemas.openxmlformats.org/drawingml/2006/main">
              <a:ext uri="{FF2B5EF4-FFF2-40B4-BE49-F238E27FC236}">
                <a16:creationId xmlns:a16="http://schemas.microsoft.com/office/drawing/2014/main" id="{1268DBEF-FCD4-466F-8E87-FFA558EF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S45 · STATE-04 → STATE-04-PERF</a:t>
            </a:r>
          </a:p>
        </p:txBody>
      </p:sp>
      <p:sp>
        <p:nvSpPr>
          <p:cNvPr id="52" name="각 변화의 출발점은, 그때 마주친 문제였다.">
            <a:extLst xmlns:a="http://schemas.openxmlformats.org/drawingml/2006/main">
              <a:ext uri="{FF2B5EF4-FFF2-40B4-BE49-F238E27FC236}">
                <a16:creationId xmlns:a16="http://schemas.microsoft.com/office/drawing/2014/main" id="{86E18AED-8E53-42B7-876F-CA3C52FE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각 변화의 출발점은, 그때 마주친 문제였다.</a:t>
            </a:r>
          </a:p>
        </p:txBody>
      </p:sp>
    </p:spTree>
    <p:extLst>
      <p:ext uri="{BB962C8B-B14F-4D97-AF65-F5344CB8AC3E}">
        <p14:creationId xmlns:p14="http://schemas.microsoft.com/office/powerpoint/2010/main" val="19754100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5 · 이번 Demo의 선택 기준">
            <a:extLst xmlns:a="http://schemas.openxmlformats.org/drawingml/2006/main">
              <a:ext uri="{FF2B5EF4-FFF2-40B4-BE49-F238E27FC236}">
                <a16:creationId xmlns:a16="http://schemas.microsoft.com/office/drawing/2014/main" id="{5CBFB3CC-9AF2-4D46-9FBA-85783C48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이번 Demo의 선택 기준</a:t>
            </a:r>
          </a:p>
        </p:txBody>
      </p:sp>
      <p:sp>
        <p:nvSpPr>
          <p:cNvPr id="2" name="S75">
            <a:extLst xmlns:a="http://schemas.openxmlformats.org/drawingml/2006/main">
              <a:ext uri="{FF2B5EF4-FFF2-40B4-BE49-F238E27FC236}">
                <a16:creationId xmlns:a16="http://schemas.microsoft.com/office/drawing/2014/main" id="{7D64A9B2-10CF-4C2C-9E7A-3508B770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S75</a:t>
            </a:r>
          </a:p>
        </p:txBody>
      </p:sp>
      <p:sp>
        <p:nvSpPr>
          <p:cNvPr id="3" name="필요성이 입증되지 않은 것은 보류했다">
            <a:extLst xmlns:a="http://schemas.openxmlformats.org/drawingml/2006/main">
              <a:ext uri="{FF2B5EF4-FFF2-40B4-BE49-F238E27FC236}">
                <a16:creationId xmlns:a16="http://schemas.microsoft.com/office/drawing/2014/main" id="{EFED9EB6-9634-4BBB-8298-58F3B3DB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필요성이 입증되지 않은 것은 보류했다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81783A-8797-4FA7-B43A-C2FC5B80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DEC-0018 · 이번 작업의 선택을 회고">
            <a:extLst xmlns:a="http://schemas.openxmlformats.org/drawingml/2006/main">
              <a:ext uri="{FF2B5EF4-FFF2-40B4-BE49-F238E27FC236}">
                <a16:creationId xmlns:a16="http://schemas.microsoft.com/office/drawing/2014/main" id="{447E82BD-C098-4127-A528-7CEE2ACA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DEC-0018 · 이번 작업의 선택을 회고</a:t>
            </a:r>
          </a:p>
        </p:txBody>
      </p:sp>
      <p:sp>
        <p:nvSpPr>
          <p:cNvPr id="6" name="모든 프로젝트에서 Subagent·Memory가 불필요하거나 적을수록 좋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1F3EBBAC-A60F-48DE-B82A-4B392574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프로젝트에서 Subagent·Memory가 불필요하거나 적을수록 좋다는 뜻은 아니다.</a:t>
            </a:r>
          </a:p>
        </p:txBody>
      </p:sp>
      <p:sp>
        <p:nvSpPr>
          <p:cNvPr id="7" name="이 구성요소가 현재 문제에 필요한가?">
            <a:extLst xmlns:a="http://schemas.openxmlformats.org/drawingml/2006/main">
              <a:ext uri="{FF2B5EF4-FFF2-40B4-BE49-F238E27FC236}">
                <a16:creationId xmlns:a16="http://schemas.microsoft.com/office/drawing/2014/main" id="{B30C61FF-0D92-4502-951D-15B1CBBB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구성요소가 현재 문제에 필요한가?</a:t>
            </a:r>
          </a:p>
        </p:txBody>
      </p:sp>
      <p:sp>
        <p:nvSpPr>
          <p:cNvPr id="8" name="이번 문제에 필요했던 것">
            <a:extLst xmlns:a="http://schemas.openxmlformats.org/drawingml/2006/main">
              <a:ext uri="{FF2B5EF4-FFF2-40B4-BE49-F238E27FC236}">
                <a16:creationId xmlns:a16="http://schemas.microsoft.com/office/drawing/2014/main" id="{CFFB7B32-3448-4831-8E8D-E421EBB9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문제에 필요했던 것</a:t>
            </a:r>
          </a:p>
        </p:txBody>
      </p:sp>
      <p:sp>
        <p:nvSpPr>
          <p:cNvPr id="9" name="이번에는 정당화하지 못한 것">
            <a:extLst xmlns:a="http://schemas.openxmlformats.org/drawingml/2006/main">
              <a:ext uri="{FF2B5EF4-FFF2-40B4-BE49-F238E27FC236}">
                <a16:creationId xmlns:a16="http://schemas.microsoft.com/office/drawing/2014/main" id="{71F8E312-F226-4D83-BBD2-B2F21BA6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이번에는 정당화하지 못한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F2FC13-9600-4A85-8644-D3238ED9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00D9F8-DB40-4422-9B46-FFFF849E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solid"/>
          </a:ln>
        </p:spPr>
      </p:sp>
      <p:sp>
        <p:nvSpPr>
          <p:cNvPr id="12" name="Task Prompt&#10;Context와 Routing&#10;재사용 Workflow&#10;Tests와 Benchmark">
            <a:extLst xmlns:a="http://schemas.openxmlformats.org/drawingml/2006/main">
              <a:ext uri="{FF2B5EF4-FFF2-40B4-BE49-F238E27FC236}">
                <a16:creationId xmlns:a16="http://schemas.microsoft.com/office/drawing/2014/main" id="{8334FCCB-0DD6-441A-855F-0A6405A0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51816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Context와 Routing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Tests와 Benchmark</a:t>
            </a:r>
          </a:p>
        </p:txBody>
      </p:sp>
      <p:sp>
        <p:nvSpPr>
          <p:cNvPr id="13" name="Subagent&#10;Memory">
            <a:extLst xmlns:a="http://schemas.openxmlformats.org/drawingml/2006/main">
              <a:ext uri="{FF2B5EF4-FFF2-40B4-BE49-F238E27FC236}">
                <a16:creationId xmlns:a16="http://schemas.microsoft.com/office/drawing/2014/main" id="{A626D053-CF0F-49C2-9AF7-2DF49C4D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</a:t>
            </a:r>
          </a:p>
        </p:txBody>
      </p:sp>
      <p:sp>
        <p:nvSpPr>
          <p:cNvPr id="14" name="현재 문제가 필요로 하는 만큼 설계한다.">
            <a:extLst xmlns:a="http://schemas.openxmlformats.org/drawingml/2006/main">
              <a:ext uri="{FF2B5EF4-FFF2-40B4-BE49-F238E27FC236}">
                <a16:creationId xmlns:a16="http://schemas.microsoft.com/office/drawing/2014/main" id="{1BC0C0FC-3365-423F-8BF8-AFD44B3D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문제가 필요로 하는 만큼 설계한다.</a:t>
            </a:r>
          </a:p>
        </p:txBody>
      </p:sp>
    </p:spTree>
    <p:extLst>
      <p:ext uri="{BB962C8B-B14F-4D97-AF65-F5344CB8AC3E}">
        <p14:creationId xmlns:p14="http://schemas.microsoft.com/office/powerpoint/2010/main" val="2411494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5 · 개발자의 판단">
            <a:extLst xmlns:a="http://schemas.openxmlformats.org/drawingml/2006/main">
              <a:ext uri="{FF2B5EF4-FFF2-40B4-BE49-F238E27FC236}">
                <a16:creationId xmlns:a16="http://schemas.microsoft.com/office/drawing/2014/main" id="{D33712EE-75E2-42D8-B209-5E77D9A4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개발자의 판단</a:t>
            </a:r>
          </a:p>
        </p:txBody>
      </p:sp>
      <p:sp>
        <p:nvSpPr>
          <p:cNvPr id="2" name="S76">
            <a:extLst xmlns:a="http://schemas.openxmlformats.org/drawingml/2006/main">
              <a:ext uri="{FF2B5EF4-FFF2-40B4-BE49-F238E27FC236}">
                <a16:creationId xmlns:a16="http://schemas.microsoft.com/office/drawing/2014/main" id="{E9364AFA-FA10-4A41-8F17-911176D1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S76</a:t>
            </a:r>
          </a:p>
        </p:txBody>
      </p:sp>
      <p:sp>
        <p:nvSpPr>
          <p:cNvPr id="3" name="위임이 늘어도 개발자 책임은 남는다">
            <a:extLst xmlns:a="http://schemas.openxmlformats.org/drawingml/2006/main">
              <a:ext uri="{FF2B5EF4-FFF2-40B4-BE49-F238E27FC236}">
                <a16:creationId xmlns:a16="http://schemas.microsoft.com/office/drawing/2014/main" id="{1B2BFE54-07FC-4A13-A066-5DC62911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위임이 늘어도 개발자 책임은 남는다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36E98-98B9-42AD-838D-81BE2135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1–062 · 이 교육의 책임 원칙">
            <a:extLst xmlns:a="http://schemas.openxmlformats.org/drawingml/2006/main">
              <a:ext uri="{FF2B5EF4-FFF2-40B4-BE49-F238E27FC236}">
                <a16:creationId xmlns:a16="http://schemas.microsoft.com/office/drawing/2014/main" id="{72BF7AA3-AEDA-434E-A30E-4A0E6F38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BEAT-061–062 · 이 교육의 책임 원칙</a:t>
            </a:r>
          </a:p>
        </p:txBody>
      </p:sp>
      <p:sp>
        <p:nvSpPr>
          <p:cNvPr id="6" name="Agent와 개발자의 역할을 고정된 분업표로 제시하는 것은 아니다.">
            <a:extLst xmlns:a="http://schemas.openxmlformats.org/drawingml/2006/main">
              <a:ext uri="{FF2B5EF4-FFF2-40B4-BE49-F238E27FC236}">
                <a16:creationId xmlns:a16="http://schemas.microsoft.com/office/drawing/2014/main" id="{A0282967-5DAD-4F04-85DC-10825E4C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Agent와 개발자의 역할을 고정된 분업표로 제시하는 것은 아니다.</a:t>
            </a:r>
          </a:p>
        </p:txBody>
      </p:sp>
      <p:sp>
        <p:nvSpPr>
          <p:cNvPr id="7" name="AI가 조사·생성·변경·실행·비교를 도와도">
            <a:extLst xmlns:a="http://schemas.openxmlformats.org/drawingml/2006/main">
              <a:ext uri="{FF2B5EF4-FFF2-40B4-BE49-F238E27FC236}">
                <a16:creationId xmlns:a16="http://schemas.microsoft.com/office/drawing/2014/main" id="{C77E5267-7E52-46E9-9C4A-16BBBDFC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AI가 조사·생성·변경·실행·비교를 도와도</a:t>
            </a:r>
          </a:p>
        </p:txBody>
      </p:sp>
      <p:sp>
        <p:nvSpPr>
          <p:cNvPr id="8" name="결과를 수용하는 판단은 누가 하는가?">
            <a:extLst xmlns:a="http://schemas.openxmlformats.org/drawingml/2006/main">
              <a:ext uri="{FF2B5EF4-FFF2-40B4-BE49-F238E27FC236}">
                <a16:creationId xmlns:a16="http://schemas.microsoft.com/office/drawing/2014/main" id="{9D86B0F8-726C-4465-919B-3D20625E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결과를 수용하는 판단은 누가 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D6D316-8181-49DF-9116-DD3F2E3A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목표">
            <a:extLst xmlns:a="http://schemas.openxmlformats.org/drawingml/2006/main">
              <a:ext uri="{FF2B5EF4-FFF2-40B4-BE49-F238E27FC236}">
                <a16:creationId xmlns:a16="http://schemas.microsoft.com/office/drawing/2014/main" id="{C21A6551-7C12-4CD4-B66B-B7E9B175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11" name="무엇을 해결할까?">
            <a:extLst xmlns:a="http://schemas.openxmlformats.org/drawingml/2006/main">
              <a:ext uri="{FF2B5EF4-FFF2-40B4-BE49-F238E27FC236}">
                <a16:creationId xmlns:a16="http://schemas.microsoft.com/office/drawing/2014/main" id="{45B22B06-F6FD-4C9E-9721-43078264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해결할까?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B0055-0434-4C60-B8CD-A7565EE6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판단">
            <a:extLst xmlns:a="http://schemas.openxmlformats.org/drawingml/2006/main">
              <a:ext uri="{FF2B5EF4-FFF2-40B4-BE49-F238E27FC236}">
                <a16:creationId xmlns:a16="http://schemas.microsoft.com/office/drawing/2014/main" id="{380633FC-52FD-47DD-A351-3A6DD3AF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14" name="어떤 선택이&#10;적절할까?">
            <a:extLst xmlns:a="http://schemas.openxmlformats.org/drawingml/2006/main">
              <a:ext uri="{FF2B5EF4-FFF2-40B4-BE49-F238E27FC236}">
                <a16:creationId xmlns:a16="http://schemas.microsoft.com/office/drawing/2014/main" id="{066D27DD-DAD6-49AD-9A5B-DB5838D7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선택이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적절할까?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AFEE0-6528-494D-AF31-95F2C6E4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93BE4D69-AC38-4DC8-9F20-6B9D335E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무엇으로&#10;확인할까?">
            <a:extLst xmlns:a="http://schemas.openxmlformats.org/drawingml/2006/main">
              <a:ext uri="{FF2B5EF4-FFF2-40B4-BE49-F238E27FC236}">
                <a16:creationId xmlns:a16="http://schemas.microsoft.com/office/drawing/2014/main" id="{7D235468-306D-4A63-BE90-14DA59FD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확인할까?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72964C-5E0D-4C14-9A0B-555C4E95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책임">
            <a:extLst xmlns:a="http://schemas.openxmlformats.org/drawingml/2006/main">
              <a:ext uri="{FF2B5EF4-FFF2-40B4-BE49-F238E27FC236}">
                <a16:creationId xmlns:a16="http://schemas.microsoft.com/office/drawing/2014/main" id="{0A7AC1E1-3D01-4B08-80B3-DA638B5C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책임</a:t>
            </a:r>
          </a:p>
        </p:txBody>
      </p:sp>
      <p:sp>
        <p:nvSpPr>
          <p:cNvPr id="20" name="완료를&#10;수용해도 될까?">
            <a:extLst xmlns:a="http://schemas.openxmlformats.org/drawingml/2006/main">
              <a:ext uri="{FF2B5EF4-FFF2-40B4-BE49-F238E27FC236}">
                <a16:creationId xmlns:a16="http://schemas.microsoft.com/office/drawing/2014/main" id="{D9350574-AC5A-4B79-8742-265DE9BB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수용해도 될까?</a:t>
            </a:r>
          </a:p>
        </p:txBody>
      </p:sp>
      <p:sp>
        <p:nvSpPr>
          <p:cNvPr id="21" name="결과를 받는 일에는, 결과를 판단하는 책임이 함께 남는다.">
            <a:extLst xmlns:a="http://schemas.openxmlformats.org/drawingml/2006/main">
              <a:ext uri="{FF2B5EF4-FFF2-40B4-BE49-F238E27FC236}">
                <a16:creationId xmlns:a16="http://schemas.microsoft.com/office/drawing/2014/main" id="{811A7859-593B-40B2-AFE5-6D442A53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받는 일에는, 결과를 판단하는 책임이 함께 남는다.</a:t>
            </a:r>
          </a:p>
        </p:txBody>
      </p:sp>
    </p:spTree>
    <p:extLst>
      <p:ext uri="{BB962C8B-B14F-4D97-AF65-F5344CB8AC3E}">
        <p14:creationId xmlns:p14="http://schemas.microsoft.com/office/powerpoint/2010/main" val="17571461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5 · 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F477FDA1-407F-485D-B8DE-8C13DBD6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일하는 환경을 설계한다</a:t>
            </a:r>
          </a:p>
        </p:txBody>
      </p:sp>
      <p:sp>
        <p:nvSpPr>
          <p:cNvPr id="2" name="S77">
            <a:extLst xmlns:a="http://schemas.openxmlformats.org/drawingml/2006/main">
              <a:ext uri="{FF2B5EF4-FFF2-40B4-BE49-F238E27FC236}">
                <a16:creationId xmlns:a16="http://schemas.microsoft.com/office/drawing/2014/main" id="{6760AE51-0FD4-48A4-B2AB-3007314F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S77</a:t>
            </a:r>
          </a:p>
        </p:txBody>
      </p:sp>
      <p:sp>
        <p:nvSpPr>
          <p:cNvPr id="3" name="AI-Native Development는&#10;이 교육의 운영 모델">
            <a:extLst xmlns:a="http://schemas.openxmlformats.org/drawingml/2006/main">
              <a:ext uri="{FF2B5EF4-FFF2-40B4-BE49-F238E27FC236}">
                <a16:creationId xmlns:a16="http://schemas.microsoft.com/office/drawing/2014/main" id="{2F92443E-3DD4-4CAC-B525-13762DB1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AI-Native Development는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교육의 운영 모델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593743-DB79-4528-B396-95AFA6B3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과정에서 사용하는 운영 모델">
            <a:extLst xmlns:a="http://schemas.openxmlformats.org/drawingml/2006/main">
              <a:ext uri="{FF2B5EF4-FFF2-40B4-BE49-F238E27FC236}">
                <a16:creationId xmlns:a16="http://schemas.microsoft.com/office/drawing/2014/main" id="{F0E8ACDF-068C-4403-BE8E-2DC23FFC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과정에서 사용하는 운영 모델</a:t>
            </a:r>
          </a:p>
        </p:txBody>
      </p:sp>
      <p:sp>
        <p:nvSpPr>
          <p:cNvPr id="6" name="공식·보편 정의가 아니며, 모든 Task에 모든 구성요소를 넣으라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DCAA350E-745E-43EE-A533-6651174D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공식·보편 정의가 아니며, 모든 Task에 모든 구성요소를 넣으라는 뜻은 아니다.</a:t>
            </a:r>
          </a:p>
        </p:txBody>
      </p:sp>
      <p:sp>
        <p:nvSpPr>
          <p:cNvPr id="7" name="AI가 일할 조건과, 결과를 확인할 경로를 설계한다.">
            <a:extLst xmlns:a="http://schemas.openxmlformats.org/drawingml/2006/main">
              <a:ext uri="{FF2B5EF4-FFF2-40B4-BE49-F238E27FC236}">
                <a16:creationId xmlns:a16="http://schemas.microsoft.com/office/drawing/2014/main" id="{A26AB74D-357A-4E1A-AA5E-1FE92934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AI가 일할 조건과, 결과를 확인할 경로를 설계한다.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FF266B-3828-4C60-8935-4E2B763E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작업 경계">
            <a:extLst xmlns:a="http://schemas.openxmlformats.org/drawingml/2006/main">
              <a:ext uri="{FF2B5EF4-FFF2-40B4-BE49-F238E27FC236}">
                <a16:creationId xmlns:a16="http://schemas.microsoft.com/office/drawing/2014/main" id="{2FC0EFBC-92B2-4DA1-94B4-62F7FC21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 경계</a:t>
            </a:r>
          </a:p>
        </p:txBody>
      </p:sp>
      <p:sp>
        <p:nvSpPr>
          <p:cNvPr id="10" name="무엇을 맡기고&#10;어디까지 바꿀까?">
            <a:extLst xmlns:a="http://schemas.openxmlformats.org/drawingml/2006/main">
              <a:ext uri="{FF2B5EF4-FFF2-40B4-BE49-F238E27FC236}">
                <a16:creationId xmlns:a16="http://schemas.microsoft.com/office/drawing/2014/main" id="{7B3E3E6D-FC6D-44B0-8A60-F4B0741E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맡기고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2206D-4B98-49C5-ADB7-5A76D9E7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식 · 절차">
            <a:extLst xmlns:a="http://schemas.openxmlformats.org/drawingml/2006/main">
              <a:ext uri="{FF2B5EF4-FFF2-40B4-BE49-F238E27FC236}">
                <a16:creationId xmlns:a16="http://schemas.microsoft.com/office/drawing/2014/main" id="{B576E4CB-5120-4B8F-B458-37B62E3D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지식 · 절차</a:t>
            </a:r>
          </a:p>
        </p:txBody>
      </p:sp>
      <p:sp>
        <p:nvSpPr>
          <p:cNvPr id="13" name="무엇을 알고&#10;어떤 방식으로 일할까?">
            <a:extLst xmlns:a="http://schemas.openxmlformats.org/drawingml/2006/main">
              <a:ext uri="{FF2B5EF4-FFF2-40B4-BE49-F238E27FC236}">
                <a16:creationId xmlns:a16="http://schemas.microsoft.com/office/drawing/2014/main" id="{8254916F-C9E0-4413-BAA3-C1FDA0B3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알고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방식으로 일할까?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B62682-0462-4014-84C6-8AA3E695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검증 · 피드백">
            <a:extLst xmlns:a="http://schemas.openxmlformats.org/drawingml/2006/main">
              <a:ext uri="{FF2B5EF4-FFF2-40B4-BE49-F238E27FC236}">
                <a16:creationId xmlns:a16="http://schemas.microsoft.com/office/drawing/2014/main" id="{22A559C5-3B40-4B5D-90B8-600235C6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피드백</a:t>
            </a:r>
          </a:p>
        </p:txBody>
      </p:sp>
      <p:sp>
        <p:nvSpPr>
          <p:cNvPr id="16" name="어떻게 확인하고&#10;다음 작업을 바꿀까?">
            <a:extLst xmlns:a="http://schemas.openxmlformats.org/drawingml/2006/main">
              <a:ext uri="{FF2B5EF4-FFF2-40B4-BE49-F238E27FC236}">
                <a16:creationId xmlns:a16="http://schemas.microsoft.com/office/drawing/2014/main" id="{2040E573-26FE-4622-94F0-3DA00B26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어떻게 확인하고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작업을 바꿀까?</a:t>
            </a:r>
          </a:p>
        </p:txBody>
      </p:sp>
    </p:spTree>
    <p:extLst>
      <p:ext uri="{BB962C8B-B14F-4D97-AF65-F5344CB8AC3E}">
        <p14:creationId xmlns:p14="http://schemas.microsoft.com/office/powerpoint/2010/main" val="16628201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T 5 · C++ VISION / 내 업무로 연결">
            <a:extLst xmlns:a="http://schemas.openxmlformats.org/drawingml/2006/main">
              <a:ext uri="{FF2B5EF4-FFF2-40B4-BE49-F238E27FC236}">
                <a16:creationId xmlns:a16="http://schemas.microsoft.com/office/drawing/2014/main" id="{AF57DC6D-C2D1-4A02-AF71-1FF736D8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C++ VISION / 내 업무로 연결</a:t>
            </a:r>
          </a:p>
        </p:txBody>
      </p:sp>
      <p:sp>
        <p:nvSpPr>
          <p:cNvPr id="2" name="S78">
            <a:extLst xmlns:a="http://schemas.openxmlformats.org/drawingml/2006/main">
              <a:ext uri="{FF2B5EF4-FFF2-40B4-BE49-F238E27FC236}">
                <a16:creationId xmlns:a16="http://schemas.microsoft.com/office/drawing/2014/main" id="{4302B228-C1A9-40A7-B2FA-58E32420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S78</a:t>
            </a:r>
          </a:p>
        </p:txBody>
      </p:sp>
      <p:sp>
        <p:nvSpPr>
          <p:cNvPr id="3" name="어느 Layer에서 마찰이 반복되는가?">
            <a:extLst xmlns:a="http://schemas.openxmlformats.org/drawingml/2006/main">
              <a:ext uri="{FF2B5EF4-FFF2-40B4-BE49-F238E27FC236}">
                <a16:creationId xmlns:a16="http://schemas.microsoft.com/office/drawing/2014/main" id="{C1346B85-E64E-4709-BA51-F2DBDAD7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Layer에서 마찰이 반복되는가?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E848D-DB66-4184-9943-332B55A8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8–069 · 업무 적용을 위한 교육용 질문">
            <a:extLst xmlns:a="http://schemas.openxmlformats.org/drawingml/2006/main">
              <a:ext uri="{FF2B5EF4-FFF2-40B4-BE49-F238E27FC236}">
                <a16:creationId xmlns:a16="http://schemas.microsoft.com/office/drawing/2014/main" id="{68EB95D8-2541-450E-82DC-126E31C3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BEAT-068–069 · 업무 적용을 위한 교육용 질문</a:t>
            </a:r>
          </a:p>
        </p:txBody>
      </p:sp>
      <p:sp>
        <p:nvSpPr>
          <p:cNvPr id="6" name="같은 수준의 선택지다. 특정 C++ 프로젝트에서 검증된 절차나 필수 도입 순서가 아니다.">
            <a:extLst xmlns:a="http://schemas.openxmlformats.org/drawingml/2006/main">
              <a:ext uri="{FF2B5EF4-FFF2-40B4-BE49-F238E27FC236}">
                <a16:creationId xmlns:a16="http://schemas.microsoft.com/office/drawing/2014/main" id="{ACE1835F-48F7-4924-A7E1-B3A33971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수준의 선택지다. 특정 C++ 프로젝트에서 검증된 절차나 필수 도입 순서가 아니다.</a:t>
            </a:r>
          </a:p>
        </p:txBody>
      </p:sp>
      <p:sp>
        <p:nvSpPr>
          <p:cNvPr id="7" name="지금 내 업무와 가장 가까운 한 곳을 떠올려 본다.">
            <a:extLst xmlns:a="http://schemas.openxmlformats.org/drawingml/2006/main">
              <a:ext uri="{FF2B5EF4-FFF2-40B4-BE49-F238E27FC236}">
                <a16:creationId xmlns:a16="http://schemas.microsoft.com/office/drawing/2014/main" id="{0C30E1B0-97F3-4D2D-8433-AE535BC5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지금 내 업무와 가장 가까운 한 곳을 떠올려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F13BA-5394-48B1-88A1-8AABFFB2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EE7AD2-C38D-4234-BD9D-8CD27326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">
            <a:extLst xmlns:a="http://schemas.openxmlformats.org/drawingml/2006/main">
              <a:ext uri="{FF2B5EF4-FFF2-40B4-BE49-F238E27FC236}">
                <a16:creationId xmlns:a16="http://schemas.microsoft.com/office/drawing/2014/main" id="{8377521D-206E-4598-AB7E-5235FC15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A</a:t>
            </a:r>
          </a:p>
        </p:txBody>
      </p:sp>
      <p:sp>
        <p:nvSpPr>
          <p:cNvPr id="11" name="Task">
            <a:extLst xmlns:a="http://schemas.openxmlformats.org/drawingml/2006/main">
              <a:ext uri="{FF2B5EF4-FFF2-40B4-BE49-F238E27FC236}">
                <a16:creationId xmlns:a16="http://schemas.microsoft.com/office/drawing/2014/main" id="{C721C2A1-F778-4372-9209-247E66A5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5241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2" name="조사할 성능 병목의 범위가 흐리다">
            <a:extLst xmlns:a="http://schemas.openxmlformats.org/drawingml/2006/main">
              <a:ext uri="{FF2B5EF4-FFF2-40B4-BE49-F238E27FC236}">
                <a16:creationId xmlns:a16="http://schemas.microsoft.com/office/drawing/2014/main" id="{3DDFC2C7-D351-4466-98AB-5D114915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5241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조사할 성능 병목의 범위가 흐리다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636B27-6879-4377-9060-C92BFC5B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7EF77-82A7-480E-8EE3-401C4DF7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">
            <a:extLst xmlns:a="http://schemas.openxmlformats.org/drawingml/2006/main">
              <a:ext uri="{FF2B5EF4-FFF2-40B4-BE49-F238E27FC236}">
                <a16:creationId xmlns:a16="http://schemas.microsoft.com/office/drawing/2014/main" id="{BA049B71-29B3-415F-94C7-0651BE45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B</a:t>
            </a:r>
          </a:p>
        </p:txBody>
      </p:sp>
      <p:sp>
        <p:nvSpPr>
          <p:cNvPr id="16" name="Context">
            <a:extLst xmlns:a="http://schemas.openxmlformats.org/drawingml/2006/main">
              <a:ext uri="{FF2B5EF4-FFF2-40B4-BE49-F238E27FC236}">
                <a16:creationId xmlns:a16="http://schemas.microsoft.com/office/drawing/2014/main" id="{339F9D1C-22EF-478B-B084-0319DB8F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432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7" name="빌드 조건·계약·하드웨어 가정을 반복 설명한다">
            <a:extLst xmlns:a="http://schemas.openxmlformats.org/drawingml/2006/main">
              <a:ext uri="{FF2B5EF4-FFF2-40B4-BE49-F238E27FC236}">
                <a16:creationId xmlns:a16="http://schemas.microsoft.com/office/drawing/2014/main" id="{B1471D6C-B32F-4AC3-84AE-F630BAC6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4325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조건·계약·하드웨어 가정을 반복 설명한다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6CB467-8F99-4F38-8770-D7BCB96C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45F0BB-A863-4920-8E44-586AD4D5A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">
            <a:extLst xmlns:a="http://schemas.openxmlformats.org/drawingml/2006/main">
              <a:ext uri="{FF2B5EF4-FFF2-40B4-BE49-F238E27FC236}">
                <a16:creationId xmlns:a16="http://schemas.microsoft.com/office/drawing/2014/main" id="{B325C53F-3D7F-4FBD-B14F-AD3FA40B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C</a:t>
            </a:r>
          </a:p>
        </p:txBody>
      </p:sp>
      <p:sp>
        <p:nvSpPr>
          <p:cNvPr id="21" name="Workflow">
            <a:extLst xmlns:a="http://schemas.openxmlformats.org/drawingml/2006/main">
              <a:ext uri="{FF2B5EF4-FFF2-40B4-BE49-F238E27FC236}">
                <a16:creationId xmlns:a16="http://schemas.microsoft.com/office/drawing/2014/main" id="{B9659F38-6000-4FA8-94AE-AF5BDCDF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6237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22" name="분석 → 변경 → 측정 → 회귀 확인을 매번 적는다">
            <a:extLst xmlns:a="http://schemas.openxmlformats.org/drawingml/2006/main">
              <a:ext uri="{FF2B5EF4-FFF2-40B4-BE49-F238E27FC236}">
                <a16:creationId xmlns:a16="http://schemas.microsoft.com/office/drawing/2014/main" id="{C3CC11D4-325A-4074-AA6F-7EDFD664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76237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분석 → 변경 → 측정 → 회귀 확인을 매번 적는다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77C434-6869-4C41-A4CA-F430C3E5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2A9B7B-7CEE-48DD-8277-CE41A28F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">
            <a:extLst xmlns:a="http://schemas.openxmlformats.org/drawingml/2006/main">
              <a:ext uri="{FF2B5EF4-FFF2-40B4-BE49-F238E27FC236}">
                <a16:creationId xmlns:a16="http://schemas.microsoft.com/office/drawing/2014/main" id="{9E36A9AE-2BF6-4775-8D95-49F1CC13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</a:t>
            </a:r>
          </a:p>
        </p:txBody>
      </p:sp>
      <p:sp>
        <p:nvSpPr>
          <p:cNvPr id="26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D4C8A8D6-F08C-4F59-AECE-07C27BE7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8150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Verification</a:t>
            </a:r>
          </a:p>
        </p:txBody>
      </p:sp>
      <p:sp>
        <p:nvSpPr>
          <p:cNvPr id="27" name="테스트와 Benchmark의 확인 기준이 모호하다">
            <a:extLst xmlns:a="http://schemas.openxmlformats.org/drawingml/2006/main">
              <a:ext uri="{FF2B5EF4-FFF2-40B4-BE49-F238E27FC236}">
                <a16:creationId xmlns:a16="http://schemas.microsoft.com/office/drawing/2014/main" id="{83318096-E5D5-4E70-8347-790AC9A4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8150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테스트와 Benchmark의 확인 기준이 모호하다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383BE5-210D-49D7-A594-A65269C8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1AEFD8-B880-4366-BFB5-AC88D885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E">
            <a:extLst xmlns:a="http://schemas.openxmlformats.org/drawingml/2006/main">
              <a:ext uri="{FF2B5EF4-FFF2-40B4-BE49-F238E27FC236}">
                <a16:creationId xmlns:a16="http://schemas.microsoft.com/office/drawing/2014/main" id="{FC840908-2E65-446B-B475-A988DADE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E</a:t>
            </a:r>
          </a:p>
        </p:txBody>
      </p:sp>
      <p:sp>
        <p:nvSpPr>
          <p:cNvPr id="31" name="Feedback Loop">
            <a:extLst xmlns:a="http://schemas.openxmlformats.org/drawingml/2006/main">
              <a:ext uri="{FF2B5EF4-FFF2-40B4-BE49-F238E27FC236}">
                <a16:creationId xmlns:a16="http://schemas.microsoft.com/office/drawing/2014/main" id="{77D9B149-1D59-4B03-904B-FDE84D2F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0006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 Loop</a:t>
            </a:r>
          </a:p>
        </p:txBody>
      </p:sp>
      <p:sp>
        <p:nvSpPr>
          <p:cNvPr id="32" name="같은 문제가 다시 생겨도 관련 시스템을 안 바꾼다">
            <a:extLst xmlns:a="http://schemas.openxmlformats.org/drawingml/2006/main">
              <a:ext uri="{FF2B5EF4-FFF2-40B4-BE49-F238E27FC236}">
                <a16:creationId xmlns:a16="http://schemas.microsoft.com/office/drawing/2014/main" id="{8ED5AC77-B604-4E6E-95C5-D6F5EB1E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50006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다시 생겨도 관련 시스템을 안 바꾼다</a:t>
            </a:r>
          </a:p>
        </p:txBody>
      </p:sp>
    </p:spTree>
    <p:extLst>
      <p:ext uri="{BB962C8B-B14F-4D97-AF65-F5344CB8AC3E}">
        <p14:creationId xmlns:p14="http://schemas.microsoft.com/office/powerpoint/2010/main" val="8769250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5 · 잠시 생각해 보기">
            <a:extLst xmlns:a="http://schemas.openxmlformats.org/drawingml/2006/main">
              <a:ext uri="{FF2B5EF4-FFF2-40B4-BE49-F238E27FC236}">
                <a16:creationId xmlns:a16="http://schemas.microsoft.com/office/drawing/2014/main" id="{5D348CEB-FF71-420B-82ED-28844C90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잠시 생각해 보기</a:t>
            </a:r>
          </a:p>
        </p:txBody>
      </p:sp>
      <p:sp>
        <p:nvSpPr>
          <p:cNvPr id="2" name="S79">
            <a:extLst xmlns:a="http://schemas.openxmlformats.org/drawingml/2006/main">
              <a:ext uri="{FF2B5EF4-FFF2-40B4-BE49-F238E27FC236}">
                <a16:creationId xmlns:a16="http://schemas.microsoft.com/office/drawing/2014/main" id="{22F530DB-FAE2-4638-AD0A-770EBF4C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S79</a:t>
            </a:r>
          </a:p>
        </p:txBody>
      </p:sp>
      <p:sp>
        <p:nvSpPr>
          <p:cNvPr id="3" name="다음 작은 행동을 개인적으로 고른다">
            <a:extLst xmlns:a="http://schemas.openxmlformats.org/drawingml/2006/main">
              <a:ext uri="{FF2B5EF4-FFF2-40B4-BE49-F238E27FC236}">
                <a16:creationId xmlns:a16="http://schemas.microsoft.com/office/drawing/2014/main" id="{15850EA3-3416-4E2E-B8C9-46DFEE59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작은 행동을 개인적으로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8B964-D274-45D1-AD92-3B6D1DD1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개인 성찰">
            <a:extLst xmlns:a="http://schemas.openxmlformats.org/drawingml/2006/main">
              <a:ext uri="{FF2B5EF4-FFF2-40B4-BE49-F238E27FC236}">
                <a16:creationId xmlns:a16="http://schemas.microsoft.com/office/drawing/2014/main" id="{FFF0FF51-90F7-47DA-9C30-D3D88FBD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개인 성찰</a:t>
            </a:r>
          </a:p>
        </p:txBody>
      </p:sp>
      <p:sp>
        <p:nvSpPr>
          <p:cNvPr id="6" name="마음속으로 떠올리는 시간이다. 기록·발표·제출은 요구하지 않는다.">
            <a:extLst xmlns:a="http://schemas.openxmlformats.org/drawingml/2006/main">
              <a:ext uri="{FF2B5EF4-FFF2-40B4-BE49-F238E27FC236}">
                <a16:creationId xmlns:a16="http://schemas.microsoft.com/office/drawing/2014/main" id="{9F922572-E361-4CFC-8984-C16E352B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마음속으로 떠올리는 시간이다. 기록·발표·제출은 요구하지 않는다.</a:t>
            </a:r>
          </a:p>
        </p:txBody>
      </p:sp>
      <p:sp>
        <p:nvSpPr>
          <p:cNvPr id="7" name="떠올린 마찰에서, 작은 행동 하나를 마음속으로.">
            <a:extLst xmlns:a="http://schemas.openxmlformats.org/drawingml/2006/main">
              <a:ext uri="{FF2B5EF4-FFF2-40B4-BE49-F238E27FC236}">
                <a16:creationId xmlns:a16="http://schemas.microsoft.com/office/drawing/2014/main" id="{51E6F678-837A-4944-ADEF-C2DA3DC6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떠올린 마찰에서, 작은 행동 하나를 마음속으로.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46E7D-FB9A-430C-BAE4-3B9A5F9C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3F8917EC-D121-4C2D-80E1-90C37D37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반복 설명 하나를 다음 작업에서는 어떻게 줄일까?">
            <a:extLst xmlns:a="http://schemas.openxmlformats.org/drawingml/2006/main">
              <a:ext uri="{FF2B5EF4-FFF2-40B4-BE49-F238E27FC236}">
                <a16:creationId xmlns:a16="http://schemas.microsoft.com/office/drawing/2014/main" id="{4798B0CF-0234-441A-A3F3-4B6500B6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037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설명 하나를 다음 작업에서는 어떻게 줄일까?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0F3257-4CF7-4B1F-8353-6ABE56DD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28CCF4EB-B536-4173-871C-ACCBA247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AI가 다시 찾는 프로젝트 사실 하나를 어디에 둘까?">
            <a:extLst xmlns:a="http://schemas.openxmlformats.org/drawingml/2006/main">
              <a:ext uri="{FF2B5EF4-FFF2-40B4-BE49-F238E27FC236}">
                <a16:creationId xmlns:a16="http://schemas.microsoft.com/office/drawing/2014/main" id="{3C09A695-B8BA-42C9-B78E-087658ED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67150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다시 찾는 프로젝트 사실 하나를 어디에 둘까?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8A799C-5066-46B3-965F-804FE622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39837F4F-7D12-4E11-B289-BEBAE9E0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6" name="같은 실패가 또 생기면 어느 Layer부터 확인할까?">
            <a:extLst xmlns:a="http://schemas.openxmlformats.org/drawingml/2006/main">
              <a:ext uri="{FF2B5EF4-FFF2-40B4-BE49-F238E27FC236}">
                <a16:creationId xmlns:a16="http://schemas.microsoft.com/office/drawing/2014/main" id="{971D7183-ADE8-4313-95AB-821FA0D1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3392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또 생기면 어느 Layer부터 확인할까?</a:t>
            </a:r>
          </a:p>
        </p:txBody>
      </p:sp>
    </p:spTree>
    <p:extLst>
      <p:ext uri="{BB962C8B-B14F-4D97-AF65-F5344CB8AC3E}">
        <p14:creationId xmlns:p14="http://schemas.microsoft.com/office/powerpoint/2010/main" val="4164507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ACT 5 · 마지막 질문">
            <a:extLst xmlns:a="http://schemas.openxmlformats.org/drawingml/2006/main">
              <a:ext uri="{FF2B5EF4-FFF2-40B4-BE49-F238E27FC236}">
                <a16:creationId xmlns:a16="http://schemas.microsoft.com/office/drawing/2014/main" id="{7D96FFFE-25A0-4B96-A52E-415B43AE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마지막 질문</a:t>
            </a:r>
          </a:p>
        </p:txBody>
      </p:sp>
      <p:sp>
        <p:nvSpPr>
          <p:cNvPr id="2" name="S80">
            <a:extLst xmlns:a="http://schemas.openxmlformats.org/drawingml/2006/main">
              <a:ext uri="{FF2B5EF4-FFF2-40B4-BE49-F238E27FC236}">
                <a16:creationId xmlns:a16="http://schemas.microsoft.com/office/drawing/2014/main" id="{3387D80F-234D-4375-B2A7-7F28D173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S80</a:t>
            </a:r>
          </a:p>
        </p:txBody>
      </p:sp>
      <p:sp>
        <p:nvSpPr>
          <p:cNvPr id="3" name="Q&amp;A와 교육 마무리">
            <a:extLst xmlns:a="http://schemas.openxmlformats.org/drawingml/2006/main">
              <a:ext uri="{FF2B5EF4-FFF2-40B4-BE49-F238E27FC236}">
                <a16:creationId xmlns:a16="http://schemas.microsoft.com/office/drawing/2014/main" id="{EC8F1C09-12A5-477D-86EA-164BB932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Q&amp;A와 교육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721356-9D15-4410-9267-9F3FE57F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이 교육의 마무리">
            <a:extLst xmlns:a="http://schemas.openxmlformats.org/drawingml/2006/main">
              <a:ext uri="{FF2B5EF4-FFF2-40B4-BE49-F238E27FC236}">
                <a16:creationId xmlns:a16="http://schemas.microsoft.com/office/drawing/2014/main" id="{F19C6821-E4C3-4FAA-95DF-968CED4F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이 교육의 마무리</a:t>
            </a:r>
          </a:p>
        </p:txBody>
      </p:sp>
      <p:sp>
        <p:nvSpPr>
          <p:cNvPr id="6" name="목표 · 판단 · 검증 · 책임은 개발자에게 남는다.">
            <a:extLst xmlns:a="http://schemas.openxmlformats.org/drawingml/2006/main">
              <a:ext uri="{FF2B5EF4-FFF2-40B4-BE49-F238E27FC236}">
                <a16:creationId xmlns:a16="http://schemas.microsoft.com/office/drawing/2014/main" id="{7577F20F-30D8-4567-A506-E3FCFE81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· 판단 · 검증 · 책임은 개발자에게 남는다.</a:t>
            </a:r>
          </a:p>
        </p:txBody>
      </p:sp>
      <p:sp>
        <p:nvSpPr>
          <p:cNvPr id="7" name="내 업무에서 무엇부터 바꿀까요?">
            <a:extLst xmlns:a="http://schemas.openxmlformats.org/drawingml/2006/main">
              <a:ext uri="{FF2B5EF4-FFF2-40B4-BE49-F238E27FC236}">
                <a16:creationId xmlns:a16="http://schemas.microsoft.com/office/drawing/2014/main" id="{D1FC0B92-CCEF-4066-9E3C-D30D352F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무엇부터 바꿀까요?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90FFA-2BCF-4A46-A069-255A73F1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9" name="AI가 잘 일할 환경을&#10;설계한다.">
            <a:extLst xmlns:a="http://schemas.openxmlformats.org/drawingml/2006/main">
              <a:ext uri="{FF2B5EF4-FFF2-40B4-BE49-F238E27FC236}">
                <a16:creationId xmlns:a16="http://schemas.microsoft.com/office/drawing/2014/main" id="{136FDCFF-5378-4319-A4DF-5DEEF6BF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잘 일할 환경을</a:t>
            </a:r>
          </a:p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설계한다.</a:t>
            </a:r>
          </a:p>
        </p:txBody>
      </p:sp>
      <p:sp>
        <p:nvSpPr>
          <p:cNvPr id="10" name="Question  →  Task  →  Context  →  System  →  Feedback Loop">
            <a:extLst xmlns:a="http://schemas.openxmlformats.org/drawingml/2006/main">
              <a:ext uri="{FF2B5EF4-FFF2-40B4-BE49-F238E27FC236}">
                <a16:creationId xmlns:a16="http://schemas.microsoft.com/office/drawing/2014/main" id="{3374A3B6-F829-4F34-B3DA-AF06A3FE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Question  →  Task  →  Context  →  System  →  Feedback Loop</a:t>
            </a:r>
          </a:p>
        </p:txBody>
      </p:sp>
    </p:spTree>
    <p:extLst>
      <p:ext uri="{BB962C8B-B14F-4D97-AF65-F5344CB8AC3E}">
        <p14:creationId xmlns:p14="http://schemas.microsoft.com/office/powerpoint/2010/main" val="5759872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2026-10-20T01:26:57.2200000Z</dcterms:created>
  <dcterms:modified xsi:type="dcterms:W3CDTF">2026-10-20T01:26:57.2200000Z</dcterms:modified>
</coreProperties>
</file>