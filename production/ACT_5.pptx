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3856da15bf4d8f" /><Relationship Type="http://schemas.openxmlformats.org/officeDocument/2006/relationships/notesMaster" Target="/ppt/notesMasters/notesMaster1.xml" Id="R173d970c57ae4e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내 업무에 맞게 조합하고 덜어내기</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“제품 기능을 활용하면서, 우리 업무에는 무엇을 조합하고 덜어낼까요?”</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S103에서 Goal 기능을 포함한 전체 대응의 선택 지도를 회수한다. 다음 실제 제품 이력과 Goal 사용의 문서 안내를 구분한다.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production/preview/full/S102.png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문제에 맞춰, 일하는 방식을 넓혔다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전체 여정은 필요한 대응의 선택지다. 플랫폼이 맡는 기능을 활용하고 내 문제에 필요한 기준과 검토를 조합한다.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(0:00–0:35 / Lecture) S101의 개인 적용과 S102의 제목을 받아 필요한 대응의 선택 지도를 연다. Goal을 모든 프로젝트에 요구하거나 기능별 도입 순서로 제시하지 않는다.</a:t>
            </a:r>
          </a:p>
          <a:p xmlns:a="http://schemas.openxmlformats.org/drawingml/2006/main">
            <a:r>
              <a:t>2. (0:35–2:50 / Lecture) 다섯 열을 한 문장씩 짚는다. 모호한 요청은 Prompt, 반복 지식은 Context, 반복 방법은 Harness, 다음 검토·수정의 단절은 Loop로 대응했다. 새 Goal 팁은 계속 수행을 제품 기능으로 활용하는 한 경로이며 전체 검증·모델 역할 설계를 자동 해결하지 않는다.</a:t>
            </a:r>
          </a:p>
          <a:p xmlns:a="http://schemas.openxmlformats.org/drawingml/2006/main">
            <a:r>
              <a:t>3. (2:50–4:00 / Lecture) 필요한 기준과 검토를 조합한다는 하단 문장을 읽고 S104의 실제 제품 이력으로 범위를 좁힌다. 각 ACT를 재강의하지 않는다.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목표에 이르기까지 검토와 수정을 연결하는 Loop를 전체 여정에서 회수한다.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S111/S110에 남긴다.</a:t>
            </a:r>
          </a:p>
          <a:p xmlns:a="http://schemas.openxmlformats.org/drawingml/2006/main">
            <a:r>
              <a:t/>
            </a:r>
          </a:p>
          <a:p xmlns:a="http://schemas.openxmlformats.org/drawingml/2006/main">
            <a:r>
              <a:t>**Transition:**</a:t>
            </a:r>
          </a:p>
          <a:p xmlns:a="http://schemas.openxmlformats.org/drawingml/2006/main">
            <a:r>
              <a:t>방금은 적용할 대응의 전체 지도였습니다. 다음 S104에서는 Goal과 다중 모델 설계를 제외하고, 제품 저장소에서 실제 확인한 변화만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실제 Demo는 문제에 맞춰 바뀌었다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Product State 이력은 기존 관찰대로 보존한다. 다중 모델 반복과 Goal 사용은 이 제품에서 실행 검증하지 않았다.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실제 제품 저장소의 변화만 보여 주는 장임을 먼저 읽는다. Goal 기능의 공식 안내와 다중 모델 설계는 이 제품의 실행 검증이 아니다.</a:t>
            </a:r>
          </a:p>
          <a:p xmlns:a="http://schemas.openxmlformats.org/drawingml/2006/main">
            <a:r>
              <a:t>2. (1:00–2:30 / VISUAL Demo) crop 수정, 기본 안내·상세 문서 분리, Skill 재사용과 밝기 통계 변경 검증을 세 행으로 회상한다. 실제 일곱 State와 TRIAL-002/003/004/005/008의 의미를 보존한다. 수치·코드·개별 실행을 다시 설명하지 않는다.</a:t>
            </a:r>
          </a:p>
          <a:p xmlns:a="http://schemas.openxmlformats.org/drawingml/2006/main">
            <a:r>
              <a:t>3. (2:30–3:00 / VISUAL Demo) Product endpoint가 STATE-04-PERF임을 확인한다. 이어서 이 작업에 실제로 쓰지 않은 구성과 그 보류 이유를 S105에서 살펴본다.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TRIAL-002/S23–S24, 지침·문서 재구성은 TRIAL-003/004/005A/B 및 S39–S53, Skill과 제품 성능 검증은 TRIAL-008·STATE-04-PERF/S61–S66에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FROZEN WITH SCOPE — 실제 Product State와 기존 Trial의 한정된 관찰. 다중 모델 반복과 Goal 사용은 이 제품에서 실행 검증하지 않았다. 공식 문서·연구·설계를 제품 실행 이력에 합치지 않는다.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실제 Product State의 변화는 기존 관찰대로 보존하고, 다중 모델 루프는 앞 ACT의 설계·연구라는 경계를 밝힌다.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제품에 실제 사용한 구성만 보았습니다. Subagent와 별도 Memory를 보류했던 작업별 이유를 S105에서 확인합니다.</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production/evaluation/GOAL_TIPS_AND_ACT5_HANDOFF.md를 따른다. ACT_5_FLOW_REVISION.md는 이전 판본의 검토다.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이번 문제에 필요한 구성만 선택했다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S104의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S106로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이 과거 작업의 Subagent·별도 Memory 보류 이유는 조사·변경·검증의 의존관계와 기존 지식 출처다. 현재 모든 과제의 도입 금지나 Goal의 자동 검토 능력 근거로 일반화하지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구성을 골랐더라도 제품의 완료 보고만으로 수용하지 않습니다. S106에서 Goal 완료 표시와 사람이 확인할 근거를 연결합니다.</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결과를 수용할지는 사람이 판단한다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Goal이 완료를 보고하더라도 사람은 목표·선택·검증 근거·남은 위험을 확인해 결과를 수용한다.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(0:00–0:35 / Lecture) Goal의 완료 보고와 사람의 수용 판단을 구분한다. 앞 장의 구성 선택 뒤에도 판단할 책임은 남는다.</a:t>
            </a:r>
          </a:p>
          <a:p xmlns:a="http://schemas.openxmlformats.org/drawingml/2006/main">
            <a:r>
              <a:t>2. (0:35–2:30 / Lecture) AI의 변경·실행·검사 기록을 오른쪽 목표·판단·검증·책임의 네 질문과 대조한다. 반복이 끝났다는 표시보다 원하는 결과와 독립적인 확인 근거를 본다.</a:t>
            </a:r>
          </a:p>
          <a:p xmlns:a="http://schemas.openxmlformats.org/drawingml/2006/main">
            <a:r>
              <a:t>3. (2:30–3:00 / Lecture) 수용할 근거가 나오도록 맡길 범위·일할 조건·확인 경로를 설계한다는 S107로 넘긴다.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TEACHING_MODEL — 교육의 결과 수용 책임 원칙. Goal 완료의 오류율·실행 실패·자동 검토 결과를 관찰한 주장이 아니며 실제 사례를 추가하지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수용 판단에 필요한 근거가 나오도록, 우리가 정할 작업 조건과 제품 기능을 S107에서 함께 정리합니다.</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AI가 일할 조건과 확인 경로를 설계한다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목표·Context·수행 방법·검증과 목표까지의 수정·재검토를 업무에 맞게 설계한다.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S106의 수용 판단을 받아, 그 판단에 필요한 근거가 나오도록 작업 조건을 설계하는 관점으로 이동한다.</a:t>
            </a:r>
          </a:p>
          <a:p xmlns:a="http://schemas.openxmlformats.org/drawingml/2006/main">
            <a:r>
              <a:t>2. (0:30–2:20 / Lecture) 맡길 범위는 목표·제약·변경 범위, 일할 조건은 프로젝트 지식과 재사용할 수행 방법, 확인과 피드백은 검증 근거와 목표까지의 수정·재검토다. 앞의 다섯 관점을 세 책임 영역에 연결하며 새 필수 단계로 만들지 않는다.</a:t>
            </a:r>
          </a:p>
          <a:p xmlns:a="http://schemas.openxmlformats.org/drawingml/2006/main">
            <a:r>
              <a:t>3. (2:20–3:00 / Lecture) 이 과정의 AI-Native Development라는 이름을 회수한다. 이후 S108에서 모델·플랫폼·업무 조건이 달라지면 이미 만든 구조도 재평가해야 한다는 질문을 연다. 통합·제거의 상세 내용은 다음 세 장에 남긴다.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목표·Context·수행 방법·검증과 목표까지의 수정·재검토를 업무에 맞게 설계한다.</a:t>
            </a:r>
          </a:p>
          <a:p xmlns:a="http://schemas.openxmlformats.org/drawingml/2006/main">
            <a:r>
              <a:t/>
            </a:r>
          </a:p>
          <a:p xmlns:a="http://schemas.openxmlformats.org/drawingml/2006/main">
            <a:r>
              <a:t>**C++ Vision Bridge:**</a:t>
            </a:r>
          </a:p>
          <a:p xmlns:a="http://schemas.openxmlformats.org/drawingml/2006/main">
            <a:r>
              <a:t>재평가3장을 거쳐 S111에서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앞서 본 Goal처럼 플랫폼이 계속 수행을 제공할 수 있습니다. 다음은 모델·플랫폼이 달라졌을 때 기존 보조 역할을 다시 판단하는 별도 공개 사례입니다.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모델·플랫폼이 바뀌면 Harness도 다시 본다</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“Goal처럼 플랫폼이 일부 역할을 제공한다면, 이전에 만든 보조 장치도 계속 필요할까요?”</a:t>
            </a:r>
          </a:p>
          <a:p xmlns:a="http://schemas.openxmlformats.org/drawingml/2006/main">
            <a:r>
              <a:t/>
            </a:r>
          </a:p>
          <a:p xmlns:a="http://schemas.openxmlformats.org/drawingml/2006/main">
            <a:r>
              <a:t>**Speaker Flow:**</a:t>
            </a:r>
          </a:p>
          <a:p xmlns:a="http://schemas.openxmlformats.org/drawingml/2006/main">
            <a:r>
              <a:t>1. (0:00–0:25 / Lecture) S107의 설계 관점에서 “그때 필요했던 보조 장치가 지금도 필요한가?”를 묻는다. S105은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S109의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Goal은 앞 ACT의 OpenAI 공식 기능 안내다. 이 화면의 Anthropic 기업 Agent 통합 사례는 별도 출처이며 같은 실험·제품·효과로 합치지 않는다. 통합/제거는 실제 대표 작업의 결과와 회귀를 확인한 뒤 판단한다.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무엇을 남기고, 무엇을 덜어낼까?</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S108의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S110으로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덜어낸 뒤에도 필요한 일을 하는가?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S109에서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S111에서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내 업무에서는 무엇이 반복해서 막힐까?</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S112에서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S112의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고른 문제에서, 다음 행동 하나로</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S111에서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S113–S115의 찾아보기에서 팁 위치만 짚고 S116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S111과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S113의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S111의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작업 환경과 기준</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S12, S48, S58, S63, S68, S70, S80, S99다.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S114으로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S114으로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요청 작성</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S115로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검증과 개선</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S87, S91, S100, S109, S110이다.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S109 무엇을 남기고, 무엇을 덜어낼까? / S110 덜어낸 뒤에도 필요한 일을 하는가?.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Q&amp;A와 교육 마무리</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S112에서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S103과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S112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S116와 production/preview/act5/S116.png를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7fd3de9e1204d07" /><Relationship Type="http://schemas.openxmlformats.org/officeDocument/2006/relationships/notesSlide" Target="/ppt/notesSlides/notesSlide12.xml" Id="R3c6263a1977f48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16E50F15-A26C-475E-9D10-5D7E482A08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3">
            <a:extLst xmlns:a="http://schemas.openxmlformats.org/drawingml/2006/main">
              <a:ext uri="{FF2B5EF4-FFF2-40B4-BE49-F238E27FC236}">
                <a16:creationId xmlns:a16="http://schemas.microsoft.com/office/drawing/2014/main" id="{DA3ABFAE-7006-4F43-8D5A-2638C8210F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문제에 맞춰, 일하는 방식을 넓혔다">
            <a:extLst xmlns:a="http://schemas.openxmlformats.org/drawingml/2006/main">
              <a:ext uri="{FF2B5EF4-FFF2-40B4-BE49-F238E27FC236}">
                <a16:creationId xmlns:a16="http://schemas.microsoft.com/office/drawing/2014/main" id="{97452EAE-D797-46F5-8858-853B5AB098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4E3F30FC-B3BA-4320-B5BF-3F2EBE90E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E36157C9-5E83-43AD-BCD0-2356EA4B34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370485D-B641-4A5E-A146-90806C8C90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배운 대응 중, 내 문제에 필요한 것을 고른다">
            <a:extLst xmlns:a="http://schemas.openxmlformats.org/drawingml/2006/main">
              <a:ext uri="{FF2B5EF4-FFF2-40B4-BE49-F238E27FC236}">
                <a16:creationId xmlns:a16="http://schemas.microsoft.com/office/drawing/2014/main" id="{FF6E81E7-95FC-4E4E-BBE8-4795444BE596}"/>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배운 대응 중, 내 문제에 필요한 것을 고른다</a:t>
            </a:r>
          </a:p>
        </p:txBody>
      </p:sp>
      <p:sp>
        <p:nvSpPr>
          <p:cNvPr id="8" name="답을 구하던 출발점">
            <a:extLst xmlns:a="http://schemas.openxmlformats.org/drawingml/2006/main">
              <a:ext uri="{FF2B5EF4-FFF2-40B4-BE49-F238E27FC236}">
                <a16:creationId xmlns:a16="http://schemas.microsoft.com/office/drawing/2014/main" id="{A0892763-5192-4921-982E-4A7126B29EA6}"/>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3C191C21-4E63-452A-A1EE-F3746C990456}"/>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1D53588-BFDA-499F-9D45-FF4CE5AA4EEE}"/>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8CA7AF2D-DC2B-47BB-9EC8-31E2FEE1EA41}"/>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F7054B70-D218-471A-874C-5C054A94A93B}"/>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EA2CB319-259A-4F6E-8295-7672F41EB0B3}"/>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A37A2919-F4B4-454C-A811-911CCFA2E8E9}"/>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DECDE1DC-5F35-4141-BDED-42AC5E72779A}"/>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9331C43-276A-48C2-A5CB-BF66770E0F62}"/>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FE0D5D88-BF81-4EC5-B91F-48196C1BD041}"/>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F8C44FCE-13CB-47BD-BDDC-B58D209B2EC6}"/>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2048F40B-A4A6-47F3-9B29-08878235150D}"/>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1E807A1-EF9C-4619-8EBA-7E289F80406A}"/>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7F3194A4-89FE-42BD-B61E-ED0F0A9CCFC8}"/>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AF76D5A2-F1CB-4E7B-B88B-B73AB56421AA}"/>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2099E290-F10A-43CF-A7FF-9571140F1502}"/>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B7128F33-C545-42A7-8D86-3BD14118B2D1}"/>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1A03180B-417A-4E8F-9CDE-59B8F5F4870B}"/>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E67D0906-144A-44A4-9E5D-5617FAEC32DB}"/>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802120D4-1B9D-4A96-855F-92F5E5EF543A}"/>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다음 수정이 끊기면">
            <a:extLst xmlns:a="http://schemas.openxmlformats.org/drawingml/2006/main">
              <a:ext uri="{FF2B5EF4-FFF2-40B4-BE49-F238E27FC236}">
                <a16:creationId xmlns:a16="http://schemas.microsoft.com/office/drawing/2014/main" id="{6DAD2D4A-2396-42F5-AB14-07032E73A005}"/>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다음 수정이 끊기면</a:t>
            </a:r>
          </a:p>
        </p:txBody>
      </p:sp>
      <p:sp>
        <p:nvSpPr>
          <p:cNvPr id="29" name="">
            <a:extLst xmlns:a="http://schemas.openxmlformats.org/drawingml/2006/main">
              <a:ext uri="{FF2B5EF4-FFF2-40B4-BE49-F238E27FC236}">
                <a16:creationId xmlns:a16="http://schemas.microsoft.com/office/drawing/2014/main" id="{66202CAC-B214-4C06-91E0-9A0D291965B9}"/>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A9D4A601-022B-4E0B-BB8E-8577294C3454}"/>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목표 충족까지&#10;검토·수정한다">
            <a:extLst xmlns:a="http://schemas.openxmlformats.org/drawingml/2006/main">
              <a:ext uri="{FF2B5EF4-FFF2-40B4-BE49-F238E27FC236}">
                <a16:creationId xmlns:a16="http://schemas.microsoft.com/office/drawing/2014/main" id="{B4C3E218-570D-44BC-B94D-4307456F6351}"/>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충족까지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검토·수정한다</a:t>
            </a:r>
          </a:p>
        </p:txBody>
      </p:sp>
      <p:sp>
        <p:nvSpPr>
          <p:cNvPr id="32" name="플랫폼이 맡는 기능은 활용하고, 필요한 기준과 검토를 조합한다">
            <a:extLst xmlns:a="http://schemas.openxmlformats.org/drawingml/2006/main">
              <a:ext uri="{FF2B5EF4-FFF2-40B4-BE49-F238E27FC236}">
                <a16:creationId xmlns:a16="http://schemas.microsoft.com/office/drawing/2014/main" id="{AD9409ED-B3DF-4F24-8445-08359979D35D}"/>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플랫폼이 맡는 기능은 활용하고, 필요한 기준과 검토를 조합한다</a:t>
            </a:r>
          </a:p>
        </p:txBody>
      </p:sp>
      <p:sp>
        <p:nvSpPr>
          <p:cNvPr id="33" name="Legacy module connection">
            <a:extLst xmlns:a="http://schemas.openxmlformats.org/drawingml/2006/main">
              <a:ext uri="{FF2B5EF4-FFF2-40B4-BE49-F238E27FC236}">
                <a16:creationId xmlns:a16="http://schemas.microsoft.com/office/drawing/2014/main" id="{4F380A56-70B6-48BF-9E8E-E669381CEA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1566927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4BA28391-C625-4ED1-96A2-D41E621610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4">
            <a:extLst xmlns:a="http://schemas.openxmlformats.org/drawingml/2006/main">
              <a:ext uri="{FF2B5EF4-FFF2-40B4-BE49-F238E27FC236}">
                <a16:creationId xmlns:a16="http://schemas.microsoft.com/office/drawing/2014/main" id="{DA9C6D08-CC63-49F0-BA12-FFCD748533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실제 Demo는 문제에 맞춰 바뀌었다">
            <a:extLst xmlns:a="http://schemas.openxmlformats.org/drawingml/2006/main">
              <a:ext uri="{FF2B5EF4-FFF2-40B4-BE49-F238E27FC236}">
                <a16:creationId xmlns:a16="http://schemas.microsoft.com/office/drawing/2014/main" id="{21F17691-21FA-4A79-BDD8-1D8EB7FE35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E6F83A9D-2857-4314-B63F-73FCDBA715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B2777283-E1C1-4281-A890-9F6DD5C3B1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D48FA66B-61AB-4205-B807-1DC5C16294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5FA21CE2-BD81-4446-9F43-1AD2D897CD8F}"/>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CA0260AB-4E25-4275-B4B8-DFAAF00F8588}"/>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802C8B0-3D85-46CA-A630-C76D8B7E1D74}"/>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C774C9BC-E28A-4289-8B4D-FB3472F3C76E}"/>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412C0763-F072-4DDB-8992-F719FF2CFEB8}"/>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EDE25D96-25CA-4670-AC8E-ED989EAF309B}"/>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D9026DDB-79CC-4163-BC2D-9C2E1EFA3A86}"/>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4E3050DC-DB68-497F-8A39-170C92C422AE}"/>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50AC01B6-C681-4F99-9910-DD2DB343424C}"/>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0D340E9D-567F-4F80-A864-3B3A4B7D69B0}"/>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ACEC88A0-275E-4734-9B85-743726580EAD}"/>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A233DA80-915C-46B6-BC16-45F0944E0AE4}"/>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C258597F-F8B6-46C8-824C-31E853364EDB}"/>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1E6D46E1-CED3-42D9-A8C8-DF9EBBF7940C}"/>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00D8A9E1-0D73-4271-B513-64173F4F7D56}"/>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AFF969A9-372F-4340-BE67-DCB4686F0ECB}"/>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1DF2FBC5-17F2-4466-8D1D-F5F2D5808F33}"/>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2ADBDFA9-BEDA-4F8A-BF71-34784709EA32}"/>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다중 모델 루프·Goal 사용은 이 제품에서 실행 검증하지 않았다">
            <a:extLst xmlns:a="http://schemas.openxmlformats.org/drawingml/2006/main">
              <a:ext uri="{FF2B5EF4-FFF2-40B4-BE49-F238E27FC236}">
                <a16:creationId xmlns:a16="http://schemas.microsoft.com/office/drawing/2014/main" id="{C55C1D36-A31D-47E0-99BE-B59BE74A6DC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다중 모델 루프·Goal 사용은 이 제품에서 실행 검증하지 않았다</a:t>
            </a:r>
          </a:p>
        </p:txBody>
      </p:sp>
      <p:sp>
        <p:nvSpPr>
          <p:cNvPr id="26" name="Legacy module connection">
            <a:extLst xmlns:a="http://schemas.openxmlformats.org/drawingml/2006/main">
              <a:ext uri="{FF2B5EF4-FFF2-40B4-BE49-F238E27FC236}">
                <a16:creationId xmlns:a16="http://schemas.microsoft.com/office/drawing/2014/main" id="{23866008-B918-45CE-82FF-108F0F1276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511244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2BBFE098-C9D7-4537-9354-6AA8897C50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5">
            <a:extLst xmlns:a="http://schemas.openxmlformats.org/drawingml/2006/main">
              <a:ext uri="{FF2B5EF4-FFF2-40B4-BE49-F238E27FC236}">
                <a16:creationId xmlns:a16="http://schemas.microsoft.com/office/drawing/2014/main" id="{E56DB3F3-BC9E-4151-85B7-91AB284A71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이번 문제에 필요한 구성만 선택했다">
            <a:extLst xmlns:a="http://schemas.openxmlformats.org/drawingml/2006/main">
              <a:ext uri="{FF2B5EF4-FFF2-40B4-BE49-F238E27FC236}">
                <a16:creationId xmlns:a16="http://schemas.microsoft.com/office/drawing/2014/main" id="{3C8C0A88-043F-40E6-B58E-A272849376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9E613C6B-EF86-4898-8634-074BB32F37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9BD6550B-E46F-4F6F-B5FA-26FFC2E1C0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ECF88680-42FF-4B57-BC94-229CBC5F94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E64FB780-6CAE-4CFC-8A5A-14F1AC626560}"/>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8ADA4C52-58C8-4C57-ABCB-D8155B1D9AD5}"/>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259DB885-A4C4-4F83-BED2-422E241063AC}"/>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E58E6D05-29FC-4AD6-BC7C-943C654140E6}"/>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25342B6B-A254-41FC-9FA1-1326EE6EDC30}"/>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6607A5DA-47A3-4A1A-9958-5209B2039495}"/>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94860F8C-A2EE-469C-9F28-D05B60099816}"/>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1D5F353E-0AD5-4529-A57B-E519F21A6C03}"/>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CBE66D66-9017-4FA5-BE0F-18B99013E7A9}"/>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A20320B5-A8FF-4473-9F37-A06AED63913E}"/>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CE1DD93F-EB2E-47E6-A535-F9294917D614}"/>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8CBB28F2-AD3F-4AD1-9CAD-8D3C42D9C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96058411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D769C094-7F49-4296-B990-5840869559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6">
            <a:extLst xmlns:a="http://schemas.openxmlformats.org/drawingml/2006/main">
              <a:ext uri="{FF2B5EF4-FFF2-40B4-BE49-F238E27FC236}">
                <a16:creationId xmlns:a16="http://schemas.microsoft.com/office/drawing/2014/main" id="{D087597F-EC66-434F-B7D0-4F301DCEE7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결과를 수용할지는 사람이 판단한다">
            <a:extLst xmlns:a="http://schemas.openxmlformats.org/drawingml/2006/main">
              <a:ext uri="{FF2B5EF4-FFF2-40B4-BE49-F238E27FC236}">
                <a16:creationId xmlns:a16="http://schemas.microsoft.com/office/drawing/2014/main" id="{A9F9CE75-DE43-4948-8503-C61B2E3C98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2F5EABF-8BCA-4E1C-9EB0-20BE8A5E32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C47913A-6016-417B-B993-03CB56B63D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F2D0F8B-F35A-4FAC-A16D-18BA9AC312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Goal이 완료를 보고해도, 수용할 근거는 사람이 확인한다">
            <a:extLst xmlns:a="http://schemas.openxmlformats.org/drawingml/2006/main">
              <a:ext uri="{FF2B5EF4-FFF2-40B4-BE49-F238E27FC236}">
                <a16:creationId xmlns:a16="http://schemas.microsoft.com/office/drawing/2014/main" id="{0F88E5C8-3586-4807-B563-AA7E499F3347}"/>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Goal이 완료를 보고해도, 수용할 근거는 사람이 확인한다</a:t>
            </a:r>
          </a:p>
        </p:txBody>
      </p:sp>
      <p:sp>
        <p:nvSpPr>
          <p:cNvPr id="8" name="AI의 작업 결과">
            <a:extLst xmlns:a="http://schemas.openxmlformats.org/drawingml/2006/main">
              <a:ext uri="{FF2B5EF4-FFF2-40B4-BE49-F238E27FC236}">
                <a16:creationId xmlns:a16="http://schemas.microsoft.com/office/drawing/2014/main" id="{0BBB40E9-AFEF-49CC-B02C-A6E416D9C76F}"/>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3074AF4D-F238-4BE6-B6DD-4E0F0A7159A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6DF3E6FC-96E6-4DFD-A058-41129B03EA83}"/>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025AFE50-F4E4-4479-9016-4B0B5C3EFCC1}"/>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35A12B42-17E5-4859-BF6A-B53BDE09B3E4}"/>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A9A108C2-D43C-4954-9A54-BEB484E830E8}"/>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85718857-805F-4B6A-B605-B4DE68F6B630}"/>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AAA9F4FD-4418-4793-A0D4-D0E252F76987}"/>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E1E5D87A-F8F3-48EC-9E25-7848AE7F9630}"/>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3247FE7C-E7A9-46E6-8686-C44F5A762911}"/>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3DED6154-219E-432D-91B8-BCEF328217F6}"/>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A3AA072B-4FE7-4CC0-9392-CBF30A8A9431}"/>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C45C12A-62BA-490C-8B4F-026D5ACC2B53}"/>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27C78D55-C025-4CC7-882F-4CDC29D53C3F}"/>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558F5F4E-C527-496F-95F1-08AEA06C479C}"/>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C5C9245F-7F95-429D-8BDE-56CCEAB31E76}"/>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67C2F27A-D786-43C5-9A2F-9332A42E6089}"/>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B738E612-E867-48C2-8FD5-8AA52B1D17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45888390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D80F61FF-E776-4F71-9803-3F398ACB13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7">
            <a:extLst xmlns:a="http://schemas.openxmlformats.org/drawingml/2006/main">
              <a:ext uri="{FF2B5EF4-FFF2-40B4-BE49-F238E27FC236}">
                <a16:creationId xmlns:a16="http://schemas.microsoft.com/office/drawing/2014/main" id="{86E91A56-621F-4CA1-BF0D-291A7B8B3E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가 일할 조건과 확인 경로를 설계한다">
            <a:extLst xmlns:a="http://schemas.openxmlformats.org/drawingml/2006/main">
              <a:ext uri="{FF2B5EF4-FFF2-40B4-BE49-F238E27FC236}">
                <a16:creationId xmlns:a16="http://schemas.microsoft.com/office/drawing/2014/main" id="{595A9E5D-33C5-40FA-9354-6CB8446E8E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0A8983C8-FA54-485E-B715-C507BA4C87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4B0B4C9F-9672-46CD-8696-C65CFAF139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37D9CC6F-3333-4F9C-A705-4E73D1E84B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7165991F-B044-4AC2-A7DE-A0FAF3B8C66D}"/>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90319630-D598-4E70-9029-2A329AC0262E}"/>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A0D54D8D-EAAD-42D6-BEFC-1A8BE7388911}"/>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6985DF0F-1811-4A36-BA67-604DBF1DAC78}"/>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167DA2CD-8FB7-44A0-9F9B-598CDFDAA4F2}"/>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0E7455CF-9380-4050-B0E9-4BC467C7961C}"/>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EB543D61-E10B-4CF0-B3D8-D8C5BE4A59A9}"/>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C0922F2D-C0F5-45C2-A02D-478150C055D2}"/>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4A01884A-79E0-48C8-AC13-16D56428D358}"/>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7AF9A6C8-9AAC-4643-879B-23340A8CA0AE}"/>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4871EDE7-BBA2-4222-B70A-97875F60DD74}"/>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18B287C5-1480-456F-A7AA-E9E9C1D75B1C}"/>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F3DF2C88-4D01-4D3A-99CF-0E7032F57C55}"/>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목표까지 수정·재검토">
            <a:extLst xmlns:a="http://schemas.openxmlformats.org/drawingml/2006/main">
              <a:ext uri="{FF2B5EF4-FFF2-40B4-BE49-F238E27FC236}">
                <a16:creationId xmlns:a16="http://schemas.microsoft.com/office/drawing/2014/main" id="{B5492C82-73D1-403F-8386-717E7B7197CD}"/>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목표까지 수정·재검토</a:t>
            </a:r>
          </a:p>
        </p:txBody>
      </p:sp>
      <p:sp>
        <p:nvSpPr>
          <p:cNvPr id="21" name="Verification · Feedback Loop">
            <a:extLst xmlns:a="http://schemas.openxmlformats.org/drawingml/2006/main">
              <a:ext uri="{FF2B5EF4-FFF2-40B4-BE49-F238E27FC236}">
                <a16:creationId xmlns:a16="http://schemas.microsoft.com/office/drawing/2014/main" id="{9BC7E113-79B8-4A4E-A33F-15CFBC00FBA8}"/>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86470D71-2A6C-4693-B5B8-33AEC82EA311}"/>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70F8E52C-9EB8-4408-8E53-291B9FEDF4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2466737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FFA11895-3883-43A0-A4A6-263B19A114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05C497E8-2D1A-4D15-800B-838AEA9E5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0B6DEF2B-E781-4859-B3B0-ADCF0A853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38C2386-9E63-420C-A80E-F237C2E2EA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5E7045AF-45C1-493E-AB9F-95B68A8136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923AA80A-3F4B-4CAA-A56E-4CEE3CE6EB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AB33795F-89EB-4D3C-9EE4-2C306E3689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F16B4E24-ABB2-4E87-94C7-3EA5A2F577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작업 환경과 기준">
            <a:extLst xmlns:a="http://schemas.openxmlformats.org/drawingml/2006/main">
              <a:ext uri="{FF2B5EF4-FFF2-40B4-BE49-F238E27FC236}">
                <a16:creationId xmlns:a16="http://schemas.microsoft.com/office/drawing/2014/main" id="{8110A1D8-A934-4637-9454-E8606C4B4E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4A83DAAF-2729-45DB-AADA-392E27FB7F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EC68528-4E31-4FE4-9CEE-823423855D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674E21F-7AD0-4CDA-9D39-2001932202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DAA33D51-4DEA-4E50-B1C7-E51626706DF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B9BBC062-BEC5-4B41-B076-1AF43478A85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AFF01B4-2E8F-40CD-94C5-3C2C2B50A86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B93BDC5-2EA5-4AE9-8293-B4D2498BA726}"/>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6BDD6D5-0363-4AF9-9964-7C8694C76B0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EBE82B44-D774-4872-A773-EC6759C8153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6AE7E016-E241-4100-8C69-17DF3A24219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633A1DA0-93F3-4149-9E47-42A7E94D2E1E}"/>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95D217E-551F-48AE-88FB-59C699A8478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2E205A01-370A-4B6D-AFE0-707217C0F0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08394634-BE6E-4143-AB02-63D35A9E19CE}"/>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FD5B9B57-CC0A-4977-A172-0FE62B1DDD2F}"/>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EE4C459-F5F5-45CF-ACBA-8484F49C049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03EC8001-6FB4-4AB0-B5C3-C3BF9E81968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8023BF51-D28C-4379-BD1D-87E2575209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5194EA86-651A-4671-A4A1-FAB4AA85BBEE}"/>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887B636-3061-4534-A77A-7AD8754AFED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9644105E-D533-4B9B-9EA7-0E023FAACA4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CDDAD4B4-700B-4AE4-9C81-67AD562A20CB}"/>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405C5E1-26F7-4959-817B-38244F00DDC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FAFC349-CFB0-4838-8DE2-ED0CF005EC2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09DC94E3-14C9-440C-922C-AFBFC2C0DA0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24319486-0AD7-41FB-979C-FFC34F617D9B}"/>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8BACBCD5-7062-4610-9599-C29F9F39AA6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F1C86927-CAA8-47E5-813A-8CB7BA9AD62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DC929ABA-1170-4FAF-9FF3-D158E0D8FCF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0F22F3B4-D8C1-447E-AD49-873F508E2829}"/>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1D5A4576-62D6-46F9-A11E-84365BB2BE6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6D9FBCF-BBA9-42F6-98DA-45096597B87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F30F58B2-E5B0-45FB-9928-0726ECD54DC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다음 수정에 넘길 기록">
            <a:extLst xmlns:a="http://schemas.openxmlformats.org/drawingml/2006/main">
              <a:ext uri="{FF2B5EF4-FFF2-40B4-BE49-F238E27FC236}">
                <a16:creationId xmlns:a16="http://schemas.microsoft.com/office/drawing/2014/main" id="{4AE598C5-7DF3-490C-AB89-8091656B60B3}"/>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B41F0E43-A440-487F-AF68-0CE20764F3E4}"/>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10DA62E-E781-4FE6-B4B6-97B3897BF6E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4456D7D3-420D-4707-B740-76A68FECAEE5}"/>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S99</a:t>
            </a:r>
          </a:p>
        </p:txBody>
      </p:sp>
      <p:sp>
        <p:nvSpPr>
          <p:cNvPr id="41" name="Goal이 목표와 다음 작업을 이어준다">
            <a:extLst xmlns:a="http://schemas.openxmlformats.org/drawingml/2006/main">
              <a:ext uri="{FF2B5EF4-FFF2-40B4-BE49-F238E27FC236}">
                <a16:creationId xmlns:a16="http://schemas.microsoft.com/office/drawing/2014/main" id="{1FA8EB86-5CF8-4A6E-891C-20A102731EB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3C7739A4-4169-4CCC-AB49-A90D3DB7FC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669324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133BD1D-972E-40A3-B64C-772A6DAC04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3D1AB4B-A032-4FA8-8097-504AD96F15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E2DBB700-F732-4F2F-AB3E-F23F538222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6AE7047-2BC4-467C-BAD3-60C555550F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681F1E7-88C7-48A5-9538-EA683A6C10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