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7f5c09ca684d19" /><Relationship Type="http://schemas.openxmlformats.org/officeDocument/2006/relationships/extended-properties" Target="/docProps/app.xml" Id="R7682b6c39caf4e20" /><Relationship Type="http://schemas.openxmlformats.org/officeDocument/2006/relationships/officeDocument" Target="/ppt/presentation.xml" Id="Rb8ad004a3f8c423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8688b9691ff47cc"/>
  </p:sldMasterIdLst>
  <p:notesMasterIdLst>
    <p:notesMasterId xmlns:r="http://schemas.openxmlformats.org/officeDocument/2006/relationships" r:id="Rdaa3ff4db9c24670"/>
  </p:notesMasterIdLst>
  <p:sldIdLst>
    <p:sldId xmlns:r="http://schemas.openxmlformats.org/officeDocument/2006/relationships" id="256" r:id="R96c2151d6fd248de"/>
    <p:sldId xmlns:r="http://schemas.openxmlformats.org/officeDocument/2006/relationships" id="257" r:id="Ra438ff973b5c47e4"/>
    <p:sldId xmlns:r="http://schemas.openxmlformats.org/officeDocument/2006/relationships" id="258" r:id="R7a5d4587535b4654"/>
    <p:sldId xmlns:r="http://schemas.openxmlformats.org/officeDocument/2006/relationships" id="259" r:id="R12c2aa9a80a4433f"/>
    <p:sldId xmlns:r="http://schemas.openxmlformats.org/officeDocument/2006/relationships" id="260" r:id="Rd08b8c6880d54e53"/>
    <p:sldId xmlns:r="http://schemas.openxmlformats.org/officeDocument/2006/relationships" id="261" r:id="R4b0f37d66cb44a9d"/>
    <p:sldId xmlns:r="http://schemas.openxmlformats.org/officeDocument/2006/relationships" id="262" r:id="R209173db9d6e4f11"/>
    <p:sldId xmlns:r="http://schemas.openxmlformats.org/officeDocument/2006/relationships" id="263" r:id="R97e8fdb8c95b49d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36f9b335894285" /><Relationship Type="http://schemas.openxmlformats.org/officeDocument/2006/relationships/slideMaster" Target="/ppt/slideMasters/slideMaster1.xml" Id="R08688b9691ff47cc" /><Relationship Type="http://schemas.openxmlformats.org/officeDocument/2006/relationships/notesMaster" Target="/ppt/notesMasters/notesMaster1.xml" Id="Rdaa3ff4db9c24670" /><Relationship Type="http://schemas.openxmlformats.org/officeDocument/2006/relationships/presProps" Target="/ppt/presProps.xml" Id="Rd3cede27a9234bc8" /><Relationship Type="http://schemas.openxmlformats.org/officeDocument/2006/relationships/tableStyles" Target="/ppt/tableStyles.xml" Id="R64029b7536ac4f81" /><Relationship Type="http://schemas.openxmlformats.org/officeDocument/2006/relationships/slide" Target="/ppt/slides/slide1.xml" Id="R96c2151d6fd248de" /><Relationship Type="http://schemas.openxmlformats.org/officeDocument/2006/relationships/slide" Target="/ppt/slides/slide2.xml" Id="Ra438ff973b5c47e4" /><Relationship Type="http://schemas.openxmlformats.org/officeDocument/2006/relationships/slide" Target="/ppt/slides/slide3.xml" Id="R7a5d4587535b4654" /><Relationship Type="http://schemas.openxmlformats.org/officeDocument/2006/relationships/slide" Target="/ppt/slides/slide4.xml" Id="R12c2aa9a80a4433f" /><Relationship Type="http://schemas.openxmlformats.org/officeDocument/2006/relationships/slide" Target="/ppt/slides/slide5.xml" Id="Rd08b8c6880d54e53" /><Relationship Type="http://schemas.openxmlformats.org/officeDocument/2006/relationships/slide" Target="/ppt/slides/slide6.xml" Id="R4b0f37d66cb44a9d" /><Relationship Type="http://schemas.openxmlformats.org/officeDocument/2006/relationships/slide" Target="/ppt/slides/slide7.xml" Id="R209173db9d6e4f11" /><Relationship Type="http://schemas.openxmlformats.org/officeDocument/2006/relationships/slide" Target="/ppt/slides/slide8.xml" Id="R97e8fdb8c95b49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61aa4817a54c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8d94dc2d7994031" /><Relationship Type="http://schemas.openxmlformats.org/officeDocument/2006/relationships/notesMaster" Target="/ppt/notesMasters/notesMaster1.xml" Id="Rcda301d616e1401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d6e1ae43b3342d8" /><Relationship Type="http://schemas.openxmlformats.org/officeDocument/2006/relationships/notesMaster" Target="/ppt/notesMasters/notesMaster1.xml" Id="Reec289dcbca047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77ce6f122d4ebf" /><Relationship Type="http://schemas.openxmlformats.org/officeDocument/2006/relationships/notesMaster" Target="/ppt/notesMasters/notesMaster1.xml" Id="R33c52c0aa2374da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0de47c40e740ab" /><Relationship Type="http://schemas.openxmlformats.org/officeDocument/2006/relationships/notesMaster" Target="/ppt/notesMasters/notesMaster1.xml" Id="Rf00af84ed9ae42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69c1ba3e474a40" /><Relationship Type="http://schemas.openxmlformats.org/officeDocument/2006/relationships/notesMaster" Target="/ppt/notesMasters/notesMaster1.xml" Id="R3eaa4a85f42e47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4f93f7dfcec4495" /><Relationship Type="http://schemas.openxmlformats.org/officeDocument/2006/relationships/notesMaster" Target="/ppt/notesMasters/notesMaster1.xml" Id="R9670366bcb72473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7c96764f895494a" /><Relationship Type="http://schemas.openxmlformats.org/officeDocument/2006/relationships/notesMaster" Target="/ppt/notesMasters/notesMaster1.xml" Id="Ree51738bb744426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2168a0ddcc34335" /><Relationship Type="http://schemas.openxmlformats.org/officeDocument/2006/relationships/notesMaster" Target="/ppt/notesMasters/notesMaster1.xml" Id="Rfa80c26f484544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S83 — 여섯 시간의 Story를 한 장으로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여섯 시간의 Story를 한 장으로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FULL STORY RECAP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Chatbot은 답을 구하고, Prompt는 Task를 구체화하며, Context는 필요한 Project 지식을 제공하고, Harness는 작업 환경을 설계하며, Loop는 Feedback으로 System을 개선한다.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“나는 지금 AI를 어떤 방식으로 사용하고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처음의 질문으로 돌아가 다섯 방식을 한눈에 보여준다.</a:t>
            </a:r>
          </a:p>
          <a:p xmlns:a="http://schemas.openxmlformats.org/drawingml/2006/main">
            <a:r>
              <a:t>2. (0:30–2:45 / Lecture) 각 행의 행동만 회수한다: 답을 구하기, 이번 작업 구체화, 프로젝트 지식 제공, 일하는 환경 설계, 피드백으로 시스템 수정. 새 용어를 덧붙이지 않는다.</a:t>
            </a:r>
          </a:p>
          <a:p xmlns:a="http://schemas.openxmlformats.org/drawingml/2006/main">
            <a:r>
              <a:t>3. (2:45–4:00 / Lecture) 앞의 방식이 사라지지 않고 문제에 맞는 대응이 더해졌다고 정리한다. S84 실제 Repository 이력→S85 선택 기준→S86 책임을 거쳐 S87에서 AI-Native 운영 모델을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다섯 방식이 어떤 문제에 대응했는지 여정을 회수한다. 실제 State 이름이나 책임 목록을 여기서 모두 설명하지 않고 S84와 S86에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BEAT-060 · 앞선 ACT의 Story callback. 새 Demo는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문제-driven 진화 모델이다. 각 단계는 앞 단계를 대체하거나 모든 개발자가 같은 maturity 순서로 이동해야 한다는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현재 사용 방식에서 다음으로 필요한 작은 engineering 대응 하나를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어떤 문제가 다음 단계의 접근을 필요하게 했는지 시스템 관점으로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기존 Vision 사례를 선택적으로 회상할 수 있다. 새 C++ 기술 사례는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다섯 개 행동 행을 차례로 가리킨다. 새로운 실행이나 상태를 추가하지 않는다. S87의 정의를 바로 다음 장에서 설명한다고 예고하지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Opening question을 띄우고 개인적으로 떠올리게 한다. 답변이나 현재 수준 발표를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“전체 교육 모델 가운데, 하나의 Repository에서 실제로 확인한 변화만 다시 보겠습니다.” S84로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총 4분, Lecture 4분. 각 단계 설명을 한 문장에 제한하고 앞선 ACT 내용을 다시 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S83와 production/preview/act5/S83.png를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S84 — 하나의 Repository가 문제에 대응해 진화했다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S84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하나의 Repository가 문제에 대응해 진화했다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5 / 5A  PRIMARY DEMO EVOLUTION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1분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각 State는 해당 문제에 대응해 기록된 Engineering history다. State 순서는 기능 성숙도 등급이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Repository는 어떤 문제를 만나며 바뀌었나?”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전체 교육 모델 가운데 실제 Product 이력만 회수하는 장임을 안내한다. 일곱 이름을 번호·화살표 순서로 읽고, 상단 왼쪽에서 오른쪽으로, 다음 하단 오른쪽에서 왼쪽으로 이동한다. State는 당시 문제에 대응한 이력임을 말한다.</a:t>
            </a:r>
          </a:p>
          <a:p xmlns:a="http://schemas.openxmlformats.org/drawingml/2006/main">
            <a:r>
              <a:t>2. (1:00–2:30 / VISUAL Demo) 아래 세 발췌(S18 crop 수정, S42 상세 문서 분리, S55 같은 조건의 성능 비교)를 가리키며 위의 일곱 State 변화와 연결한다. 작은 그림은 기억을 회수하는 용도이며 코드·경로·수치를 다시 읽는 시간이 아니다.</a:t>
            </a:r>
          </a:p>
          <a:p xmlns:a="http://schemas.openxmlformats.org/drawingml/2006/main">
            <a:r>
              <a:t>3. (2:30–3:00 / VISUAL Demo) STATE-04-PERF의 bounded endpoint에서 닫는다. Benchmark 준비 commit은 추가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State rail의 번호 01–07과 화살표를 따라간다. 상단은 왼쪽→오른쪽, 아래로 내려간 뒤 하단은 오른쪽→왼쪽으로 읽는다. 하단 발췌는 rail과 구분된 회상 자료이며 작은 코드·수치를 다시 읽거나 바로 위 State와 열 기준으로 대응시키지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OBSERVED_PRODUCT · `ai-dev-training-demo`의 named Git State/tag 기록과 DEMO-12. State 순서는 STATE-00 → STATE-00-FIXED → STATE-01 → STATE-02 → STATE-03 → STATE-04 → STATE-04-PERF다. 발췌 원본: assets/slide-illustrations/recap/S16-source.png, S32-source.png, S45-source.png. 파일명은 최초80장판 캡처 시점의 번호이며 현재 대응은 S18/S42/S55다. 실제 Trial 원본 화면이 아닌 당시 production PNG 발췌다. S18은 TRIAL-002 diff 재구성, S42는 STATE-02→03 문구 발췌, S55는 STATE-04→04-PERF 단일 코드·입력·환경 비교다. SHA-256과 native crop 범위: assets/slide-illustrations/ASSET_MANIFEST.json.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기록된 State와 Demo evidence 범위에 한정한다. Benchmark preparation commits는 supporting history이며 별도 State가 아니다. Subagent, Memory, stale Harness 또는 Loop를 Product State로 표시하지 않는다. 세 그림은 기존 발표자료 발췌이며 원본 실행 캡처가 아니다. S42로 Routing 우월성·토큰 절감을 주장하지 않고, S55는 tracemalloc 피크와 이 환경의 코드 변경 결과로 한정하며 RSS·Harness 단독 인과성으로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변화가 기능 수를 늘리기 위한 것이 아니라 당시 확인된 문제에 대응했다는 점을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Product State와 Conceptual 또는 Observed Meta 사례를 구분하고 bounded Product endpoint를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DEMO-12 · VISUAL, 2분. 실제 Product State/tag를 요약한 static timeline이다. 새 Trial·repository 실행·추가 state는 없다. Benchmark preparation은 별도 State로 그리지 않는다. 세 발췌와 seven-State rail을 함께 사용하되 개별 Trial을 새로 실행하거나 재설명하지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질문에 맞춰 각 State 아래 한 문구를 함께 훑는다. 평가 점수나 성숙도 단계로 읽지 않게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“그러면 이 작업에서 Subagent와 Memory는 왜 없었을까요?” S85로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 1분 + VISUAL Demo 2분 = 3분. 세부 Trial을 재설명하지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production/ACT_5.pptx의 S84와 production/preview/act5/S84.png를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S85 — 필요성이 입증되지 않은 것은 보류했다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필요성이 입증되지 않은 것은 보류했다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MINIMUM EFFECTIVE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bounded task에서는 Subagent와 Memory를 추가할 충분한 근거가 없었다. “Use what the problem justifies.”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“왜 현재 Demo의 최종 그림에 Subagent와 Memory가 없을까?”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이번 작업에서 쓴 왼쪽 요소와 보류한 오른쪽 요소를 비교한다.</a:t>
            </a:r>
          </a:p>
          <a:p xmlns:a="http://schemas.openxmlformats.org/drawingml/2006/main">
            <a:r>
              <a:t>2. (0:30–1:20 / Lecture) STATE-04-PERF와 DEC-0018의 bounded 범위에서 Subagent·Memory 추가의 이득이 충분히 정당화되지 않았다고 설명한다.</a:t>
            </a:r>
          </a:p>
          <a:p xmlns:a="http://schemas.openxmlformats.org/drawingml/2006/main">
            <a:r>
              <a:t>3. (1:20–2:00 / Lecture) “현재 문제가 필요로 하는 만큼 설계한다”는 기준을 남긴다. 기능 수가 많거나 적다는 이유만으로 성숙도를 판단하지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이번 Demo에서 채택한 구성과 필요성을 입증하지 못한 구성을 대비한다. 여정 요약보다 무엇을 보류할지 판단한 기준에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OBSERVED_PRODUCT / TEACHING_MODEL · STATE-04-PERF와 DEC-0018. 사용한 요소: task Prompt, Project Context/routing, reusable Skill/workflow, Tests와 benchmark. 이번 bounded task에서 Subagent와 Memory는 사용되지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Demo의 bounded 작업과 이 교육의 프로젝트별 heuristic이다. 모든 Project에 Subagent/Memory가 불필요하거나 적게 쓰는 것이 항상 낫다는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처음부터 모든 기능을 넣지 않고 지금 반복되는 마찰과 필요한 지원부터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구성요소별 비용과 이득을 실제 task, context, verification 요구에 맞춰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자신의 Repository에서도 같은 정당화 질문을 적용할 수 있다. 새 C++ 절차는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왼쪽은 STATE-04-PERF의 system components, 오른쪽은 이번 사례에서 정당화되지 않은 Subagent/Memory다. 상태와 일반 규칙을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차이를 보고 “Use what the problem justifies”라는 기준을 가져간다. 도구 선택 답변이나 투표는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“필요한 구성요소를 선택한 뒤에도, 그 결과가 충분한지 판단하는 책임은 남습니다. 무엇을 확인하고 완료를 수용해야 할까요?” S86으로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2분. 구성요소를 다시 강의하지 않고 판단 근거와 범위에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S85와 production/preview/act5/S85.png를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S86 — 위임이 늘어도 개발자 책임은 남는다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위임이 늘어도 개발자 책임은 남는다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DEVELOPER RESPONSIBILITY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Agent는 조사·생성·변경·실행·비교를 도울 수 있다. 개발자는 목표, 제약, 판단, Verification, 완료 여부와 결과 책임을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“AI가 더 많은 일을 맡아도 개발자가 계속 책임지는 것은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(0:00–0:40 / Lecture) S85의 구성요소 선택에서 결과를 수용하는 판단으로 이어 간다. AI가 도울 수 있는 행동은 상단 한 문장으로만 읽는다.</a:t>
            </a:r>
          </a:p>
          <a:p xmlns:a="http://schemas.openxmlformats.org/drawingml/2006/main">
            <a:r>
              <a:t>2. (0:40–2:20 / Lecture) 네 질문을 차례로 짚는다: 해결할 목표, 적절한 선택, 확인 근거, 완료 수용 여부.</a:t>
            </a:r>
          </a:p>
          <a:p xmlns:a="http://schemas.openxmlformats.org/drawingml/2006/main">
            <a:r>
              <a:t>3. (2:20–3:00 / Lecture) 역할의 절대적 분업이 아니라 개발자의 판단과 책임을 강조하고 S87의 운영 모델로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AI가 도울 수 있는 행동은 짧게 읽고 개발자에게 남는 목표·판단·검증·책임의 질문을 차례로 확인한다. 이전 장의 도구 채택 목록을 반복하지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BEAT-061–062. 새 Product feature나 책임 handoff evidence는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교육에서 고정한 책임 원칙이다. Agent와 개발자의 역할을 절대적인 분업 규칙으로 제시하지 않는다. AI fear/control framing을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AI가 결과를 만들 수 있어도 무엇이 맞고 완료인지 판단하는 일은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위임 범위, 제약, 검증 기준과 최종 수용 기준을 함께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실행 없음. 정적 role/responsibility diagram.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네 가지 책임 축을 읽고 자신의 완료 기준을 떠올리게 한다. 응답 요구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 역할 변화를 이 교육에서는 어떤 모델로 부를까요?” S87로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3분. 다섯 Agent 행동을 상세 제품 기능처럼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S86와 production/preview/act5/S86.png를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S87 — AI-Native Development는 이 교육의 운영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AI-Native Development는 이 교육의 운영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AI-NATIVE DEVELOPMENT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교육은 Task Boundary, Project Context, Reusable Workflow, Verification, Feedback Loop를 의도적으로 설계·운영하는 방식을 AI-Native Development의 operational model로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“AI에게 일을 많이 맡기면 AI-Native일까?”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이 과정이 AI가 일할 조건과 결과 확인 경로를 설계하는 방식에 AI-Native Development라는 운영 모델 이름을 붙였음을 밝힌다.</a:t>
            </a:r>
          </a:p>
          <a:p xmlns:a="http://schemas.openxmlformats.org/drawingml/2006/main">
            <a:r>
              <a:t>2. (0:30–2:20 / Lecture) 작업 경계, 프로젝트 지식·절차, 검증·피드백 세 행에서 각각 Task Boundary, Project Context/Reusable Workflow, Verification/Feedback Loop가 맡는 질문을 연결한다.</a:t>
            </a:r>
          </a:p>
          <a:p xmlns:a="http://schemas.openxmlformats.org/drawingml/2006/main">
            <a:r>
              <a:t>3. (2:20–3:00 / Lecture) 모든 Task에 모든 요소를 의무적으로 넣으라는 보편 정의가 아님을 한정하고 자신의 반복 마찰을 찾는 S88로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다섯 구성요소를 이 교육의 설계 질문으로 묶는다. 작업 경계→지식과 절차→검증과 피드백을 설명하되 공식·보편 정의나 의무적인 maturity 순서로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DEC-0023의 course-specific operational framing.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공식·보편 업계 표준 정의라고 말하지 않는다. 모든 task 또는 Demo에 다섯 구성요소를 의무적으로 도입하라는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 사용량을 늘리는 것만으로 끝내지 않고 반복되는 작은 마찰을 하나 개선한다.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Model capability와 작업 System/Harness 설계를 구분해 다음 병목을 진단한다.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다음 S88에서 C++ Vision 업무와 자신의 Repository로 transfer한다.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실행 없음. 다섯 구성요소는 비교 가능한 system components로 보이며 maturity 순서가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Opening question을 남긴 뒤 course model의 범위를 확인한다. 공식 용어 정의나 정답 발표를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“내 Repository에서는 어떤 Layer에서 마찰이 반복될까요?” S88로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3분. AI 사용량과 설계된 work system의 차이만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S87와 production/preview/act5/S87.png를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S88 — 어느 Layer에서 마찰이 반복되는가?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어느 Layer에서 마찰이 반복되는가?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C++ VISION / MY REPOSITORY TRANSFER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1분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Task, Context, Workflow, Verification, Repeated Failure Loop 중 현재 가장 큰 마찰과 가까운 한 곳을 선택한다. 정해진 maturity sequence가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“내 Repository에서 다음 주에 하나만 바꾼다면?”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C++ Vision의 병목 범위, 빌드 조건·계약·하드웨어 가정, 분석·측정 절차를 업무에 비춰 보는 교육용 예시라고 밝힌다. 실제 프로젝트 사건이 아니다.</a:t>
            </a:r>
          </a:p>
          <a:p xmlns:a="http://schemas.openxmlformats.org/drawingml/2006/main">
            <a:r>
              <a:t>2. (1:00–3:00 / Transition) 다섯 행의 증상 질문을 읽으며 현재 자기 업무와 가까운 것이 있는지 마음속으로 떠올리게 한다. 같은 수준의 선택지이며 반드시 위에서부터 도입하는 순서가 아니다.</a:t>
            </a:r>
          </a:p>
          <a:p xmlns:a="http://schemas.openxmlformats.org/drawingml/2006/main">
            <a:r>
              <a:t>3. (3:00–5:00 / Transition) 떠올린 마찰 한 곳을 다음 작업의 작은 행동 하나로 좁히겠다고 안내하고 S89의 세 질문으로 연결한다. Task/Context/Workflow/Verification/Feedback의 새 개념 설명은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자기 업무의 반복 마찰 한 곳을 고르는 적용 질문에 집중한다. 모든 Layer를 도입하라는 체크리스트로 읽지 않고 현재 문제와 가장 가까운 한 곳만 고르게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C++ Vision engineering-pattern transfer. 실제 C++ Project, hardware, toolchain 또는 benchmark 결과는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다섯 선택지는 같은 높이의 적용 후보이며 순서가 있는 maturity ladder가 아니다. 특정 C++ Project 규칙·도구·hardware 또는 검증된 procedure를 보장하지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전체 Harness를 새로 만들기 전에 반복해서 설명하거나 확인하는 부분 하나를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반복 비용, 위험과 verification surface를 보고 투자 지점을 고른다.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Primary bridge. 예시: 성능 병목 조사 Task; build mode/algorithm contract/hardware assumptions Context; profile → change → benchmark → regression Workflow; tests + benchmark Verification; 반복 이슈가 다시 생기면 관련 System 수정. 실제 project procedure가 아닌 pattern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새 Demo가 없다. 왼쪽 Layer 이름보다 오른쪽 반복되는 마찰을 먼저 읽고, 선택지들은 같은 높이의 적용 후보임을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선택지를 강사 주도로 비교한다. 청중에게 선택 발표, 투표, 실습, 제출을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“방금 떠올린 한 곳에서, 다음 작업 때 다르게 해 볼 작은 행동 하나를 마음속으로 골라 봅시다.” S89로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1분 + Transition 4분 = 5분. Transition 동안 새 사례를 열지 않고 reflection handoff만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S88와 production/preview/act5/S88.png를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S89 — 다음 작은 행동을 개인적으로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다음 작은 행동을 개인적으로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FINAL REFLECTION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Reflection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반복해서 적는 설명, AI가 다시 찾는 Project 사실, 반복되는 실패에서 고칠 System layer 가운데 한 가지를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“방금 떠올린 마찰에서, 다음 작업 때 다르게 해 볼 작은 행동 하나는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S88에서 떠올린 반복 마찰 한 곳을 이어 받아, 다음 작업에서 다르게 해 볼 작은 행동 하나를 고르는 시간이라고 안내한다.</a:t>
            </a:r>
          </a:p>
          <a:p xmlns:a="http://schemas.openxmlformats.org/drawingml/2006/main">
            <a:r>
              <a:t>2. (1:00–2:00 / Lecture) 화면의 반복 설명 하나를 줄이는 방법, 다시 찾는 프로젝트 사실 하나를 둘 곳, 같은 실패 때 먼저 확인할 Layer의 세 질문을 읽는다. 자신과 가까운 질문 하나를 바탕으로 다음 행동을 떠올리게 한다.</a:t>
            </a:r>
          </a:p>
          <a:p xmlns:a="http://schemas.openxmlformats.org/drawingml/2006/main">
            <a:r>
              <a:t>3. (2:00–4:00 / Reflection) 두 분 동안 다음 행동 하나를 조용히 개인적으로 고를 시간을 둔다. 답변·기록·발표·제출을 요구하지 않는다. 시간 뒤 S90 질문 시간으로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이번 장은 개인적인 선택을 위한 침묵을 허용한다. 앞의 여정·State·모델을 다시 강의하지 않고 작은 다음 행동 하나를 생각하게 한다. 답변·공유·공개 약속은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승인된 private reflection prompt. 개인 업무에 대한 새 관찰 근거는 수집하지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개인 Reflection이며 응답, 공유, written commitment 또는 실제 업무 변경을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반복되는 설명이나 Project 사실을 AI가 다시 찾는 지점부터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같은 실패가 반복될 때 Prompt 밖의 어떤 System layer가 원인인지 떠올린다.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자신의 Vision 또는 개발 Repository에 같은 질문을 개인적으로 적용할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Demo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떠올린 마찰에 맞는 다음 행동 하나를 마음속으로 고르는 개인 성찰로 진행한다. 공유나 실천 약속을 요구하지 않고 응답을 받기 위해 기다리지 않는다. 2분 뒤 바로 S90으로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“이제 질문을 받고, 마지막 공통 모델로 마무리하겠습니다.” S90으로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Reflection 2분 = 4분. Reflection은 2분에 종료하고 Q&amp;A와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S89와 production/preview/act5/S89.png를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S90 — Q&amp;A와 교육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Q&amp;A와 교육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FINAL Q&amp;A / CLOSING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Q&amp;A 4분 + Closing Transition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Goal, Judgment, Verification, Responsibility를 유지하면서 AI가 일할 환경과 Feedback을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“남은 질문은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(0:00–4:00 / Q&amp;A) 상단의 “내 업무에서 무엇부터 바꿀까요?”를 가리키고 질문을 받는다. 질문이 없으면 “반복 설명을 줄이려면 Task와 Project Context 중 무엇을 살필까요?” 또는 “결과 확인 기준을 먼저 정한다면 어떤 업무부터 볼까요?”를 사용해 앞의 교육 모델 안에서 짧게 정리한다.</a:t>
            </a:r>
          </a:p>
          <a:p xmlns:a="http://schemas.openxmlformats.org/drawingml/2006/main">
            <a:r>
              <a:t>2. (4:00–6:00 / Closing Transition) 질문을 마감하고 중앙의 “AI가 잘 일할 환경을 설계한다”로 마무리한다. 하단 Question→Task→Context→System→Feedback Loop를 짧게 회수한다.</a:t>
            </a:r>
          </a:p>
          <a:p xmlns:a="http://schemas.openxmlformats.org/drawingml/2006/main">
            <a:r>
              <a:t>3. 종료 cue: “목표·판단·검증·책임을 유지하면서, AI가 잘 일할 환경을 설계합시다.”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BEAT-070–071. 새로운 Product claim이나 기술 개념은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AI-Native Development의 course-specific framing으로 닫는다. 제품 기능, 자동화 수준 또는 모든 상황의 단일 처방을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 사용량 대신 내 일에 필요한 환경과 확인 기준을 기억한다.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Goal, Judgment, Verification, Responsibility를 유지하며 System의 Feedback 경로를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Q&amp;A 운영 지시와 시간표는 Notes에만 두고 화면에는 질문과 마지막 한 문장을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Q&amp;A 4분. 질문이 없으면 FAQ 또는 개발 업무 적용 질문 하나를 사용하며 새로운 강의 topic을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2분 closing transition: Question → Task → Context → System → Feedback Loop를 회수하고 교육을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Q&amp;A 4분 + Closing Transition 2분 = 6분. Q&amp;A는 4분에 마감하고 추가 질문을 이유로 시간을 늘리지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S90와 production/preview/act5/S90.png를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7850407424407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dfa89fdc7544b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9aefde54444b9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f3b7e3dcd04a3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5965ae6f5a4d6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a6fc8235234e8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6BDFA19-9364-482F-9F1B-334BE1A17E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87576FC-F4C8-4406-A063-E6EB68C0AD5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7765621-1597-4DCC-9096-67A6904DBF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8A6023D-3DD3-4395-A838-C5989FAB8F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50FF485-9316-4BEC-A18B-6F9108FD06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550B743-BB0F-4302-92B6-9FD7A7605D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BB01B30-590C-4AA4-AC36-A7C70FFF132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01CB071-5AF0-4511-B1A7-DA1774FF4A4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8C71329-57D9-4A82-963E-EE3EAB8E80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4CB99F2-2ED8-485C-A243-ECF283368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c8262663104700" /><Relationship Type="http://schemas.openxmlformats.org/officeDocument/2006/relationships/slideLayout" Target="/ppt/slideLayouts/slideLayout1.xml" Id="Rf6dd621553e14551" /><Relationship Type="http://schemas.openxmlformats.org/officeDocument/2006/relationships/slideLayout" Target="/ppt/slideLayouts/slideLayout2.xml" Id="Rc0c0cca1a5d2457a" /><Relationship Type="http://schemas.openxmlformats.org/officeDocument/2006/relationships/slideLayout" Target="/ppt/slideLayouts/slideLayout3.xml" Id="Rc4fa3edd0bff4116" /><Relationship Type="http://schemas.openxmlformats.org/officeDocument/2006/relationships/slideLayout" Target="/ppt/slideLayouts/slideLayout4.xml" Id="R5b33173aef914146" /><Relationship Type="http://schemas.openxmlformats.org/officeDocument/2006/relationships/slideLayout" Target="/ppt/slideLayouts/slideLayout5.xml" Id="R3ca7e079b15045fb" /><Relationship Type="http://schemas.openxmlformats.org/officeDocument/2006/relationships/slideLayout" Target="/ppt/slideLayouts/slideLayout6.xml" Id="R4a32a6e70d04423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dd621553e14551"/>
    <p:sldLayoutId xmlns:r="http://schemas.openxmlformats.org/officeDocument/2006/relationships" id="2147483650" r:id="Rc0c0cca1a5d2457a"/>
    <p:sldLayoutId xmlns:r="http://schemas.openxmlformats.org/officeDocument/2006/relationships" id="2147483651" r:id="Rc4fa3edd0bff4116"/>
    <p:sldLayoutId xmlns:r="http://schemas.openxmlformats.org/officeDocument/2006/relationships" id="2147483652" r:id="R5b33173aef914146"/>
    <p:sldLayoutId xmlns:r="http://schemas.openxmlformats.org/officeDocument/2006/relationships" id="2147483653" r:id="R3ca7e079b15045fb"/>
    <p:sldLayoutId xmlns:r="http://schemas.openxmlformats.org/officeDocument/2006/relationships" id="2147483654" r:id="R4a32a6e70d04423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309ffb337648e2" /><Relationship Type="http://schemas.openxmlformats.org/officeDocument/2006/relationships/notesSlide" Target="/ppt/notesSlides/notesSlide1.xml" Id="R804185503b7b4f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b7814b156b4854" /><Relationship Type="http://schemas.openxmlformats.org/officeDocument/2006/relationships/image" Target="/ppt/media/image.png" Id="Rcdbce1d957e14689" /><Relationship Type="http://schemas.openxmlformats.org/officeDocument/2006/relationships/image" Target="/ppt/media/image2.png" Id="R81b9c9f6c60b4a43" /><Relationship Type="http://schemas.openxmlformats.org/officeDocument/2006/relationships/image" Target="/ppt/media/image3.png" Id="R6a09f8cfb40f451b" /><Relationship Type="http://schemas.openxmlformats.org/officeDocument/2006/relationships/notesSlide" Target="/ppt/notesSlides/notesSlide2.xml" Id="R9197c4c766584e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07ef9c6b564ca1" /><Relationship Type="http://schemas.openxmlformats.org/officeDocument/2006/relationships/notesSlide" Target="/ppt/notesSlides/notesSlide3.xml" Id="R79f0d83f13874f5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57682465964747" /><Relationship Type="http://schemas.openxmlformats.org/officeDocument/2006/relationships/notesSlide" Target="/ppt/notesSlides/notesSlide4.xml" Id="R1c79f2dbfe1e4ea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529426a762444a" /><Relationship Type="http://schemas.openxmlformats.org/officeDocument/2006/relationships/notesSlide" Target="/ppt/notesSlides/notesSlide5.xml" Id="R2d2ebe486a7d40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069f45958a4415" /><Relationship Type="http://schemas.openxmlformats.org/officeDocument/2006/relationships/notesSlide" Target="/ppt/notesSlides/notesSlide6.xml" Id="Rfbd7b81463af436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d24044f9f1400a" /><Relationship Type="http://schemas.openxmlformats.org/officeDocument/2006/relationships/notesSlide" Target="/ppt/notesSlides/notesSlide7.xml" Id="Rbf3a1cc49195460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79899ea7564c41" /><Relationship Type="http://schemas.openxmlformats.org/officeDocument/2006/relationships/notesSlide" Target="/ppt/notesSlides/notesSlide8.xml" Id="R02324ac7ae1645a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ACT 5 · 전체 여정 회수">
            <a:extLst xmlns:a="http://schemas.openxmlformats.org/drawingml/2006/main">
              <a:ext uri="{FF2B5EF4-FFF2-40B4-BE49-F238E27FC236}">
                <a16:creationId xmlns:a16="http://schemas.microsoft.com/office/drawing/2014/main" id="{D96B2794-E4A5-4F76-8422-ADCE746A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전체 여정 회수</a:t>
            </a:r>
          </a:p>
        </p:txBody>
      </p:sp>
      <p:sp>
        <p:nvSpPr>
          <p:cNvPr id="2" name="S83">
            <a:extLst xmlns:a="http://schemas.openxmlformats.org/drawingml/2006/main">
              <a:ext uri="{FF2B5EF4-FFF2-40B4-BE49-F238E27FC236}">
                <a16:creationId xmlns:a16="http://schemas.microsoft.com/office/drawing/2014/main" id="{352E97D1-D5B3-4A34-842D-364E29E70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S83</a:t>
            </a:r>
          </a:p>
        </p:txBody>
      </p:sp>
      <p:sp>
        <p:nvSpPr>
          <p:cNvPr id="3" name="여섯 시간의 Story를 한 장으로">
            <a:extLst xmlns:a="http://schemas.openxmlformats.org/drawingml/2006/main">
              <a:ext uri="{FF2B5EF4-FFF2-40B4-BE49-F238E27FC236}">
                <a16:creationId xmlns:a16="http://schemas.microsoft.com/office/drawing/2014/main" id="{50AD4981-C6B6-4A73-B373-4E25EE0D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여섯 시간의 Story를 한 장으로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3F77F5-7627-44FA-923D-806C51618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0 · 이 교육의 문제 중심 진화 모델">
            <a:extLst xmlns:a="http://schemas.openxmlformats.org/drawingml/2006/main">
              <a:ext uri="{FF2B5EF4-FFF2-40B4-BE49-F238E27FC236}">
                <a16:creationId xmlns:a16="http://schemas.microsoft.com/office/drawing/2014/main" id="{89EA282F-421D-4890-BBC7-11FACFEC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BEAT-060 · 이 교육의 문제 중심 진화 모델</a:t>
            </a:r>
          </a:p>
        </p:txBody>
      </p:sp>
      <p:sp>
        <p:nvSpPr>
          <p:cNvPr id="6" name="앞의 방식을 버리거나, 모든 프로젝트가 같은 순서로 발전해야 한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B47B5972-87E2-4FB1-A78E-E80A8492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방식을 버리거나, 모든 프로젝트가 같은 순서로 발전해야 한다는 뜻은 아니다.</a:t>
            </a:r>
          </a:p>
        </p:txBody>
      </p:sp>
      <p:sp>
        <p:nvSpPr>
          <p:cNvPr id="7" name="문제가 넓어질수록, 필요한 대응이 더해졌다.">
            <a:extLst xmlns:a="http://schemas.openxmlformats.org/drawingml/2006/main">
              <a:ext uri="{FF2B5EF4-FFF2-40B4-BE49-F238E27FC236}">
                <a16:creationId xmlns:a16="http://schemas.microsoft.com/office/drawing/2014/main" id="{565D4194-1D2B-441F-B7A2-A04D0B799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문제가 넓어질수록, 필요한 대응이 더해졌다.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6D9E7530-2CED-4A81-B210-B19D744F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088DC3-6654-401D-BC56-D824BD23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Chatbot">
            <a:extLst xmlns:a="http://schemas.openxmlformats.org/drawingml/2006/main">
              <a:ext uri="{FF2B5EF4-FFF2-40B4-BE49-F238E27FC236}">
                <a16:creationId xmlns:a16="http://schemas.microsoft.com/office/drawing/2014/main" id="{662C8359-DBD9-4CB2-9414-A002220F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Chatbot</a:t>
            </a:r>
          </a:p>
        </p:txBody>
      </p:sp>
      <p:sp>
        <p:nvSpPr>
          <p:cNvPr id="11" name="답을 구한다">
            <a:extLst xmlns:a="http://schemas.openxmlformats.org/drawingml/2006/main">
              <a:ext uri="{FF2B5EF4-FFF2-40B4-BE49-F238E27FC236}">
                <a16:creationId xmlns:a16="http://schemas.microsoft.com/office/drawing/2014/main" id="{4B3B7F8D-D8A6-47E4-9D8E-59F6E4BA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구한다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28F0B7-FBAB-4816-A0C1-151E0E1A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3" name="02">
            <a:extLst xmlns:a="http://schemas.openxmlformats.org/drawingml/2006/main">
              <a:ext uri="{FF2B5EF4-FFF2-40B4-BE49-F238E27FC236}">
                <a16:creationId xmlns:a16="http://schemas.microsoft.com/office/drawing/2014/main" id="{341B590A-3F66-4997-A110-3D6F3FE8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6BAA09-49B5-49B0-8B89-DAB5DB65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Prompt">
            <a:extLst xmlns:a="http://schemas.openxmlformats.org/drawingml/2006/main">
              <a:ext uri="{FF2B5EF4-FFF2-40B4-BE49-F238E27FC236}">
                <a16:creationId xmlns:a16="http://schemas.microsoft.com/office/drawing/2014/main" id="{E9D912D9-2423-453D-B00F-13AA3124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Prompt</a:t>
            </a:r>
          </a:p>
        </p:txBody>
      </p:sp>
      <p:sp>
        <p:nvSpPr>
          <p:cNvPr id="16" name="이번 작업을&#10;구체화한다">
            <a:extLst xmlns:a="http://schemas.openxmlformats.org/drawingml/2006/main">
              <a:ext uri="{FF2B5EF4-FFF2-40B4-BE49-F238E27FC236}">
                <a16:creationId xmlns:a16="http://schemas.microsoft.com/office/drawing/2014/main" id="{6CE30F67-AEC4-4589-AEF2-01995006F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작업을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구체화한다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651712-EBAD-486D-A097-0A71C88B8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03">
            <a:extLst xmlns:a="http://schemas.openxmlformats.org/drawingml/2006/main">
              <a:ext uri="{FF2B5EF4-FFF2-40B4-BE49-F238E27FC236}">
                <a16:creationId xmlns:a16="http://schemas.microsoft.com/office/drawing/2014/main" id="{3F5FEF59-E15B-406F-9701-64A7262B2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4A2C43-1625-442A-879C-5AE0628C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0" name="Context">
            <a:extLst xmlns:a="http://schemas.openxmlformats.org/drawingml/2006/main">
              <a:ext uri="{FF2B5EF4-FFF2-40B4-BE49-F238E27FC236}">
                <a16:creationId xmlns:a16="http://schemas.microsoft.com/office/drawing/2014/main" id="{BF6C41CF-C2A0-423B-8432-267C40FEC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21" name="프로젝트 지식을&#10;제공한다">
            <a:extLst xmlns:a="http://schemas.openxmlformats.org/drawingml/2006/main">
              <a:ext uri="{FF2B5EF4-FFF2-40B4-BE49-F238E27FC236}">
                <a16:creationId xmlns:a16="http://schemas.microsoft.com/office/drawing/2014/main" id="{95DDEE49-26BC-429D-8A0C-79EE5989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지식을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제공한다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415EC8-8C7D-41E3-8ACF-E772D622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3" name="04">
            <a:extLst xmlns:a="http://schemas.openxmlformats.org/drawingml/2006/main">
              <a:ext uri="{FF2B5EF4-FFF2-40B4-BE49-F238E27FC236}">
                <a16:creationId xmlns:a16="http://schemas.microsoft.com/office/drawing/2014/main" id="{D0C28045-088D-42B0-AB5A-AFAA18FB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31B2CC-9198-477A-89F7-26415A72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5" name="Harness">
            <a:extLst xmlns:a="http://schemas.openxmlformats.org/drawingml/2006/main">
              <a:ext uri="{FF2B5EF4-FFF2-40B4-BE49-F238E27FC236}">
                <a16:creationId xmlns:a16="http://schemas.microsoft.com/office/drawing/2014/main" id="{6CA35EC3-F3D2-4019-9D57-EC8FE934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Harness</a:t>
            </a:r>
          </a:p>
        </p:txBody>
      </p:sp>
      <p:sp>
        <p:nvSpPr>
          <p:cNvPr id="26" name="일하는 환경을&#10;설계한다">
            <a:extLst xmlns:a="http://schemas.openxmlformats.org/drawingml/2006/main">
              <a:ext uri="{FF2B5EF4-FFF2-40B4-BE49-F238E27FC236}">
                <a16:creationId xmlns:a16="http://schemas.microsoft.com/office/drawing/2014/main" id="{C590DA66-772B-46F9-90F2-DC1FA8FD2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일하는 환경을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설계한다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8EDA88-611C-48BE-8FB6-27C27814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8" name="05">
            <a:extLst xmlns:a="http://schemas.openxmlformats.org/drawingml/2006/main">
              <a:ext uri="{FF2B5EF4-FFF2-40B4-BE49-F238E27FC236}">
                <a16:creationId xmlns:a16="http://schemas.microsoft.com/office/drawing/2014/main" id="{17D399A1-E720-41C5-AFA2-2DA6D12B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5A8FDB-AB94-494C-8A40-C1CBFDC6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0" name="Loop">
            <a:extLst xmlns:a="http://schemas.openxmlformats.org/drawingml/2006/main">
              <a:ext uri="{FF2B5EF4-FFF2-40B4-BE49-F238E27FC236}">
                <a16:creationId xmlns:a16="http://schemas.microsoft.com/office/drawing/2014/main" id="{37435F33-A708-4DFF-8573-486F9A4FF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Loop</a:t>
            </a:r>
          </a:p>
        </p:txBody>
      </p:sp>
      <p:sp>
        <p:nvSpPr>
          <p:cNvPr id="31" name="피드백으로&#10;시스템을 고친다">
            <a:extLst xmlns:a="http://schemas.openxmlformats.org/drawingml/2006/main">
              <a:ext uri="{FF2B5EF4-FFF2-40B4-BE49-F238E27FC236}">
                <a16:creationId xmlns:a16="http://schemas.microsoft.com/office/drawing/2014/main" id="{2AB81FC9-2C80-42FE-A5A5-14E12184B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피드백으로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시스템을 고친다</a:t>
            </a:r>
          </a:p>
        </p:txBody>
      </p:sp>
      <p:sp>
        <p:nvSpPr>
          <p:cNvPr id="32" name="지금 나는 AI를 어떤 방식으로 사용하고 있을까?">
            <a:extLst xmlns:a="http://schemas.openxmlformats.org/drawingml/2006/main">
              <a:ext uri="{FF2B5EF4-FFF2-40B4-BE49-F238E27FC236}">
                <a16:creationId xmlns:a16="http://schemas.microsoft.com/office/drawing/2014/main" id="{C3CF4256-13A3-44A6-AC25-5BA71BD4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지금 나는 AI를 어떤 방식으로 사용하고 있을까?</a:t>
            </a:r>
          </a:p>
        </p:txBody>
      </p:sp>
      <p:sp>
        <p:nvSpPr>
          <p:cNvPr id="3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0574E31-1CB3-44E8-ABEF-6E62685A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M2</a:t>
            </a:r>
          </a:p>
        </p:txBody>
      </p:sp>
    </p:spTree>
    <p:extLst>
      <p:ext uri="{BB962C8B-B14F-4D97-AF65-F5344CB8AC3E}">
        <p14:creationId xmlns:p14="http://schemas.microsoft.com/office/powerpoint/2010/main" val="21022954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ACT 5 · 확인된 제품 변화">
            <a:extLst xmlns:a="http://schemas.openxmlformats.org/drawingml/2006/main">
              <a:ext uri="{FF2B5EF4-FFF2-40B4-BE49-F238E27FC236}">
                <a16:creationId xmlns:a16="http://schemas.microsoft.com/office/drawing/2014/main" id="{217E1920-DBD5-451D-B2BE-C748AF828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확인된 제품 변화</a:t>
            </a:r>
          </a:p>
        </p:txBody>
      </p:sp>
      <p:sp>
        <p:nvSpPr>
          <p:cNvPr id="2" name="S84">
            <a:extLst xmlns:a="http://schemas.openxmlformats.org/drawingml/2006/main">
              <a:ext uri="{FF2B5EF4-FFF2-40B4-BE49-F238E27FC236}">
                <a16:creationId xmlns:a16="http://schemas.microsoft.com/office/drawing/2014/main" id="{19C1A9E0-480C-4C01-A41A-A684AFDC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S84</a:t>
            </a:r>
          </a:p>
        </p:txBody>
      </p:sp>
      <p:sp>
        <p:nvSpPr>
          <p:cNvPr id="3" name="하나의 Repository가 문제에 대응해 진화했다">
            <a:extLst xmlns:a="http://schemas.openxmlformats.org/drawingml/2006/main">
              <a:ext uri="{FF2B5EF4-FFF2-40B4-BE49-F238E27FC236}">
                <a16:creationId xmlns:a16="http://schemas.microsoft.com/office/drawing/2014/main" id="{CACCE858-F541-4440-AD47-A71A40CF5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하나의 Repository가 문제에 대응해 진화했다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B9D08B-FD99-4E13-B0A3-76A10454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MO-12 · 실제 Git State 이력 · S18 / S42 / S55 발표자료 발췌">
            <a:extLst xmlns:a="http://schemas.openxmlformats.org/drawingml/2006/main">
              <a:ext uri="{FF2B5EF4-FFF2-40B4-BE49-F238E27FC236}">
                <a16:creationId xmlns:a16="http://schemas.microsoft.com/office/drawing/2014/main" id="{D839B420-2EAC-44F3-B54C-B430038BF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DEMO-12 · 실제 Git State 이력 · S18 / S42 / S55 발표자료 발췌</a:t>
            </a:r>
          </a:p>
        </p:txBody>
      </p:sp>
      <p:sp>
        <p:nvSpPr>
          <p:cNvPr id="6" name="원본 실행 화면 아님 · 성능은 해당 코드·입력·환경 범위 · State는 성숙도 등급이나 Product L">
            <a:extLst xmlns:a="http://schemas.openxmlformats.org/drawingml/2006/main">
              <a:ext uri="{FF2B5EF4-FFF2-40B4-BE49-F238E27FC236}">
                <a16:creationId xmlns:a16="http://schemas.microsoft.com/office/drawing/2014/main" id="{163954F6-909C-4F49-AB8A-0F05CDF0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원본 실행 화면 아님 · 성능은 해당 코드·입력·환경 범위 · State는 성숙도 등급이나 Product Loop가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28C19E-ED47-41DF-9C1D-891785AC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AACCA936-B292-42B0-A6D9-180BBF53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STATE-00">
            <a:extLst xmlns:a="http://schemas.openxmlformats.org/drawingml/2006/main">
              <a:ext uri="{FF2B5EF4-FFF2-40B4-BE49-F238E27FC236}">
                <a16:creationId xmlns:a16="http://schemas.microsoft.com/office/drawing/2014/main" id="{09CAB909-DAA4-4E33-9B6C-D1B31513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STATE-00</a:t>
            </a:r>
          </a:p>
        </p:txBody>
      </p:sp>
      <p:sp>
        <p:nvSpPr>
          <p:cNvPr id="10" name="crop 경계 문제">
            <a:extLst xmlns:a="http://schemas.openxmlformats.org/drawingml/2006/main">
              <a:ext uri="{FF2B5EF4-FFF2-40B4-BE49-F238E27FC236}">
                <a16:creationId xmlns:a16="http://schemas.microsoft.com/office/drawing/2014/main" id="{4F41913F-3D6F-472E-8CC4-89CC61A1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문제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DF21AA-00FA-46CA-8C05-40048459F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2124B6-1FDA-41AC-A9F3-4BEE1605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3" name="02">
            <a:extLst xmlns:a="http://schemas.openxmlformats.org/drawingml/2006/main">
              <a:ext uri="{FF2B5EF4-FFF2-40B4-BE49-F238E27FC236}">
                <a16:creationId xmlns:a16="http://schemas.microsoft.com/office/drawing/2014/main" id="{649B7E83-D0E2-470E-9C1C-B95DD298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STATE-00-FIXED">
            <a:extLst xmlns:a="http://schemas.openxmlformats.org/drawingml/2006/main">
              <a:ext uri="{FF2B5EF4-FFF2-40B4-BE49-F238E27FC236}">
                <a16:creationId xmlns:a16="http://schemas.microsoft.com/office/drawing/2014/main" id="{BF6DD9C7-EC38-4275-B144-5CF2D36B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STATE-00-FIXED</a:t>
            </a:r>
          </a:p>
        </p:txBody>
      </p:sp>
      <p:sp>
        <p:nvSpPr>
          <p:cNvPr id="15" name="계약에 맞게 수정">
            <a:extLst xmlns:a="http://schemas.openxmlformats.org/drawingml/2006/main">
              <a:ext uri="{FF2B5EF4-FFF2-40B4-BE49-F238E27FC236}">
                <a16:creationId xmlns:a16="http://schemas.microsoft.com/office/drawing/2014/main" id="{854A33CD-2EAD-4BEB-A3F3-9667EB43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계약에 맞게 수정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1EB076-DDD7-4C67-BC39-AB91BC7B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AC83F-8ACD-49EE-BB6D-B796C209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8" name="03">
            <a:extLst xmlns:a="http://schemas.openxmlformats.org/drawingml/2006/main">
              <a:ext uri="{FF2B5EF4-FFF2-40B4-BE49-F238E27FC236}">
                <a16:creationId xmlns:a16="http://schemas.microsoft.com/office/drawing/2014/main" id="{F4D3CACB-F323-4014-B738-DEA740218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STATE-01">
            <a:extLst xmlns:a="http://schemas.openxmlformats.org/drawingml/2006/main">
              <a:ext uri="{FF2B5EF4-FFF2-40B4-BE49-F238E27FC236}">
                <a16:creationId xmlns:a16="http://schemas.microsoft.com/office/drawing/2014/main" id="{FADB7A62-7FB2-4931-B1A5-58B521BE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STATE-01</a:t>
            </a:r>
          </a:p>
        </p:txBody>
      </p:sp>
      <p:sp>
        <p:nvSpPr>
          <p:cNvPr id="20" name="프로젝트 지침">
            <a:extLst xmlns:a="http://schemas.openxmlformats.org/drawingml/2006/main">
              <a:ext uri="{FF2B5EF4-FFF2-40B4-BE49-F238E27FC236}">
                <a16:creationId xmlns:a16="http://schemas.microsoft.com/office/drawing/2014/main" id="{CA08E7A4-E878-47A1-B4A5-F2AC47E5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지침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007C04-A26E-4208-847C-E8134F1B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B59B39-CF1C-43B9-A421-0D96E613B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3" name="04">
            <a:extLst xmlns:a="http://schemas.openxmlformats.org/drawingml/2006/main">
              <a:ext uri="{FF2B5EF4-FFF2-40B4-BE49-F238E27FC236}">
                <a16:creationId xmlns:a16="http://schemas.microsoft.com/office/drawing/2014/main" id="{72ED71F9-7DCE-4372-AA8C-895FC37B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STATE-02">
            <a:extLst xmlns:a="http://schemas.openxmlformats.org/drawingml/2006/main">
              <a:ext uri="{FF2B5EF4-FFF2-40B4-BE49-F238E27FC236}">
                <a16:creationId xmlns:a16="http://schemas.microsoft.com/office/drawing/2014/main" id="{937AB14C-858E-44C5-A198-F5514D53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STATE-02</a:t>
            </a:r>
          </a:p>
        </p:txBody>
      </p:sp>
      <p:sp>
        <p:nvSpPr>
          <p:cNvPr id="25" name="Context 증가">
            <a:extLst xmlns:a="http://schemas.openxmlformats.org/drawingml/2006/main">
              <a:ext uri="{FF2B5EF4-FFF2-40B4-BE49-F238E27FC236}">
                <a16:creationId xmlns:a16="http://schemas.microsoft.com/office/drawing/2014/main" id="{7B009DDF-131F-4299-B0DB-7674A7A9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 증가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90ABD1-E72F-4C49-8E8E-01A88CD7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7" name="05">
            <a:extLst xmlns:a="http://schemas.openxmlformats.org/drawingml/2006/main">
              <a:ext uri="{FF2B5EF4-FFF2-40B4-BE49-F238E27FC236}">
                <a16:creationId xmlns:a16="http://schemas.microsoft.com/office/drawing/2014/main" id="{A299C04B-9BE0-4F2A-9E1C-A4D6E0C4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8" name="STATE-03">
            <a:extLst xmlns:a="http://schemas.openxmlformats.org/drawingml/2006/main">
              <a:ext uri="{FF2B5EF4-FFF2-40B4-BE49-F238E27FC236}">
                <a16:creationId xmlns:a16="http://schemas.microsoft.com/office/drawing/2014/main" id="{A14E3366-6D81-4091-A5EC-7C63E17F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STATE-03</a:t>
            </a:r>
          </a:p>
        </p:txBody>
      </p:sp>
      <p:sp>
        <p:nvSpPr>
          <p:cNvPr id="29" name="상세 정보로 연결">
            <a:extLst xmlns:a="http://schemas.openxmlformats.org/drawingml/2006/main">
              <a:ext uri="{FF2B5EF4-FFF2-40B4-BE49-F238E27FC236}">
                <a16:creationId xmlns:a16="http://schemas.microsoft.com/office/drawing/2014/main" id="{4CD2CACB-C3C6-4AE0-BC27-8A493031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정보로 연결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A47837-DE17-4239-AA2F-EF22217B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3105150"/>
            <a:ext cx="228600" cy="1524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DE37DE-0B8B-4A63-95B2-3911EF34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32" name="06">
            <a:extLst xmlns:a="http://schemas.openxmlformats.org/drawingml/2006/main">
              <a:ext uri="{FF2B5EF4-FFF2-40B4-BE49-F238E27FC236}">
                <a16:creationId xmlns:a16="http://schemas.microsoft.com/office/drawing/2014/main" id="{99D9FE3B-1733-4838-BC25-3BB57DDD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33" name="STATE-04">
            <a:extLst xmlns:a="http://schemas.openxmlformats.org/drawingml/2006/main">
              <a:ext uri="{FF2B5EF4-FFF2-40B4-BE49-F238E27FC236}">
                <a16:creationId xmlns:a16="http://schemas.microsoft.com/office/drawing/2014/main" id="{096780B2-370E-4F79-9677-1CD3F07A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STATE-04</a:t>
            </a:r>
          </a:p>
        </p:txBody>
      </p:sp>
      <p:sp>
        <p:nvSpPr>
          <p:cNvPr id="34" name="재사용 Workflow">
            <a:extLst xmlns:a="http://schemas.openxmlformats.org/drawingml/2006/main">
              <a:ext uri="{FF2B5EF4-FFF2-40B4-BE49-F238E27FC236}">
                <a16:creationId xmlns:a16="http://schemas.microsoft.com/office/drawing/2014/main" id="{6AC3455A-453E-4B7B-BF87-04A67B49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Workflow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DCFE5F-D1E8-46EF-9983-210AB088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105150"/>
            <a:ext cx="228600" cy="1524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AEE1B6-847C-4C65-A9F8-012F6541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6B4D"/>
            </a:solidFill>
            <a:prstDash val="solid"/>
          </a:ln>
        </p:spPr>
      </p:sp>
      <p:sp>
        <p:nvSpPr>
          <p:cNvPr id="37" name="07">
            <a:extLst xmlns:a="http://schemas.openxmlformats.org/drawingml/2006/main">
              <a:ext uri="{FF2B5EF4-FFF2-40B4-BE49-F238E27FC236}">
                <a16:creationId xmlns:a16="http://schemas.microsoft.com/office/drawing/2014/main" id="{6614C635-5731-4361-9D0E-08FF59BA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38" name="STATE-04-PERF">
            <a:extLst xmlns:a="http://schemas.openxmlformats.org/drawingml/2006/main">
              <a:ext uri="{FF2B5EF4-FFF2-40B4-BE49-F238E27FC236}">
                <a16:creationId xmlns:a16="http://schemas.microsoft.com/office/drawing/2014/main" id="{939F9032-CA51-4455-9FA7-290574FD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76B4D"/>
                </a:solidFill>
                <a:latin typeface="Consolas"/>
                <a:ea typeface="Consolas"/>
                <a:cs typeface="Consolas"/>
              </a:rPr>
              <a:t>STATE-04-PERF</a:t>
            </a:r>
          </a:p>
        </p:txBody>
      </p:sp>
      <p:sp>
        <p:nvSpPr>
          <p:cNvPr id="39" name="검증된 제품 변경">
            <a:extLst xmlns:a="http://schemas.openxmlformats.org/drawingml/2006/main">
              <a:ext uri="{FF2B5EF4-FFF2-40B4-BE49-F238E27FC236}">
                <a16:creationId xmlns:a16="http://schemas.microsoft.com/office/drawing/2014/main" id="{EDFD3E2E-E6F4-4C35-8D56-35EDAECE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검증된 제품 변경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ACE59F-BC71-49A7-8FAD-A78A6F2D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2390775"/>
            <a:ext cx="209550" cy="2286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DBB410D-2BF4-4D17-87CD-32FC5E7D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42" name="앞서 본 근거 다시 보기">
            <a:extLst xmlns:a="http://schemas.openxmlformats.org/drawingml/2006/main">
              <a:ext uri="{FF2B5EF4-FFF2-40B4-BE49-F238E27FC236}">
                <a16:creationId xmlns:a16="http://schemas.microsoft.com/office/drawing/2014/main" id="{5587AB44-7E68-4B35-9907-0F07B2A65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앞서 본 근거 다시 보기</a:t>
            </a:r>
          </a:p>
        </p:txBody>
      </p:sp>
      <p:pic>
        <p:nvPic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4412E54-52AD-43E9-99A7-831BBE2A36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bce1d957e14689"/>
          <a:srcRect xmlns:a="http://schemas.openxmlformats.org/drawingml/2006/main" l="5000" t="40741" r="5000" b="18519"/>
          <a:stretch xmlns:a="http://schemas.openxmlformats.org/drawingml/2006/main"/>
        </p:blipFill>
        <p:spPr>
          <a:xfrm xmlns:a="http://schemas.openxmlformats.org/drawingml/2006/main">
            <a:off x="914400" y="4027135"/>
            <a:ext cx="2895600" cy="737306"/>
          </a:xfrm>
          <a:prstGeom xmlns:a="http://schemas.openxmlformats.org/drawingml/2006/main" prst="rect">
            <a:avLst/>
          </a:prstGeom>
        </p:spPr>
      </p:pic>
      <p:sp>
        <p:nvSpPr>
          <p:cNvPr id="44" name="crop 계약 수정">
            <a:extLst xmlns:a="http://schemas.openxmlformats.org/drawingml/2006/main">
              <a:ext uri="{FF2B5EF4-FFF2-40B4-BE49-F238E27FC236}">
                <a16:creationId xmlns:a16="http://schemas.microsoft.com/office/drawing/2014/main" id="{A4E96786-B9B7-46AE-970B-890B804D8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계약 수정</a:t>
            </a:r>
          </a:p>
        </p:txBody>
      </p:sp>
      <p:sp>
        <p:nvSpPr>
          <p:cNvPr id="45" name="S18 · STATE-00 → STATE-00-FIXED">
            <a:extLst xmlns:a="http://schemas.openxmlformats.org/drawingml/2006/main">
              <a:ext uri="{FF2B5EF4-FFF2-40B4-BE49-F238E27FC236}">
                <a16:creationId xmlns:a16="http://schemas.microsoft.com/office/drawing/2014/main" id="{0C239C58-DB0B-428C-B08A-2AC37FB8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S18 · STATE-00 → STATE-00-FIXED</a:t>
            </a:r>
          </a:p>
        </p:txBody>
      </p:sp>
      <p:pic>
        <p:nvPic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B0F1BF0-4437-49D5-BBBA-FF15B23688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b9c9f6c60b4a43"/>
          <a:srcRect xmlns:a="http://schemas.openxmlformats.org/drawingml/2006/main" l="5000" t="39352" r="5000" b="26852"/>
          <a:stretch xmlns:a="http://schemas.openxmlformats.org/drawingml/2006/main"/>
        </p:blipFill>
        <p:spPr>
          <a:xfrm xmlns:a="http://schemas.openxmlformats.org/drawingml/2006/main">
            <a:off x="4648200" y="4089973"/>
            <a:ext cx="2895600" cy="611628"/>
          </a:xfrm>
          <a:prstGeom xmlns:a="http://schemas.openxmlformats.org/drawingml/2006/main" prst="rect">
            <a:avLst/>
          </a:prstGeom>
        </p:spPr>
      </p:pic>
      <p:sp>
        <p:nvSpPr>
          <p:cNvPr id="47" name="상세 문서로 분리">
            <a:extLst xmlns:a="http://schemas.openxmlformats.org/drawingml/2006/main">
              <a:ext uri="{FF2B5EF4-FFF2-40B4-BE49-F238E27FC236}">
                <a16:creationId xmlns:a16="http://schemas.microsoft.com/office/drawing/2014/main" id="{85FCFCA0-93F4-4B6D-B672-3353CFA9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상세 문서로 분리</a:t>
            </a:r>
          </a:p>
        </p:txBody>
      </p:sp>
      <p:sp>
        <p:nvSpPr>
          <p:cNvPr id="48" name="S42 · STATE-02 → STATE-03">
            <a:extLst xmlns:a="http://schemas.openxmlformats.org/drawingml/2006/main">
              <a:ext uri="{FF2B5EF4-FFF2-40B4-BE49-F238E27FC236}">
                <a16:creationId xmlns:a16="http://schemas.microsoft.com/office/drawing/2014/main" id="{D1C4CB32-25A7-4E7F-BC36-709B39BF1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S42 · STATE-02 → STATE-03</a:t>
            </a:r>
          </a:p>
        </p:txBody>
      </p:sp>
      <p:pic>
        <p:nvPic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E00783C-7A31-41C4-A509-D9A64BF59D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09f8cfb40f451b"/>
          <a:srcRect xmlns:a="http://schemas.openxmlformats.org/drawingml/2006/main" l="5000" t="33333" r="5000" b="16667"/>
          <a:stretch xmlns:a="http://schemas.openxmlformats.org/drawingml/2006/main"/>
        </p:blipFill>
        <p:spPr>
          <a:xfrm xmlns:a="http://schemas.openxmlformats.org/drawingml/2006/main">
            <a:off x="8382000" y="3943350"/>
            <a:ext cx="2895600" cy="904875"/>
          </a:xfrm>
          <a:prstGeom xmlns:a="http://schemas.openxmlformats.org/drawingml/2006/main" prst="rect">
            <a:avLst/>
          </a:prstGeom>
        </p:spPr>
      </p:pic>
      <p:sp>
        <p:nvSpPr>
          <p:cNvPr id="50" name="같은 조건의 성능 비교">
            <a:extLst xmlns:a="http://schemas.openxmlformats.org/drawingml/2006/main">
              <a:ext uri="{FF2B5EF4-FFF2-40B4-BE49-F238E27FC236}">
                <a16:creationId xmlns:a16="http://schemas.microsoft.com/office/drawing/2014/main" id="{7E6C2A39-3AF2-42C4-899B-8842782A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조건의 성능 비교</a:t>
            </a:r>
          </a:p>
        </p:txBody>
      </p:sp>
      <p:sp>
        <p:nvSpPr>
          <p:cNvPr id="51" name="S55 · STATE-04 → STATE-04-PERF">
            <a:extLst xmlns:a="http://schemas.openxmlformats.org/drawingml/2006/main">
              <a:ext uri="{FF2B5EF4-FFF2-40B4-BE49-F238E27FC236}">
                <a16:creationId xmlns:a16="http://schemas.microsoft.com/office/drawing/2014/main" id="{A9DE7642-2FD8-4196-A7FB-B81A4A90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S55 · STATE-04 → STATE-04-PERF</a:t>
            </a:r>
          </a:p>
        </p:txBody>
      </p:sp>
      <p:sp>
        <p:nvSpPr>
          <p:cNvPr id="52" name="각 변화의 출발점은, 그때 마주친 문제였다.">
            <a:extLst xmlns:a="http://schemas.openxmlformats.org/drawingml/2006/main">
              <a:ext uri="{FF2B5EF4-FFF2-40B4-BE49-F238E27FC236}">
                <a16:creationId xmlns:a16="http://schemas.microsoft.com/office/drawing/2014/main" id="{713B0037-0294-4CC2-9E9C-362655E4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각 변화의 출발점은, 그때 마주친 문제였다.</a:t>
            </a:r>
          </a:p>
        </p:txBody>
      </p:sp>
      <p:sp>
        <p:nvSpPr>
          <p:cNvPr id="5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242A164-C4EE-45A1-AF47-F3EA0C7E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295548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5 · 이번 Demo의 선택 기준">
            <a:extLst xmlns:a="http://schemas.openxmlformats.org/drawingml/2006/main">
              <a:ext uri="{FF2B5EF4-FFF2-40B4-BE49-F238E27FC236}">
                <a16:creationId xmlns:a16="http://schemas.microsoft.com/office/drawing/2014/main" id="{B842D864-35C1-4A78-9008-0926C30A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이번 Demo의 선택 기준</a:t>
            </a:r>
          </a:p>
        </p:txBody>
      </p:sp>
      <p:sp>
        <p:nvSpPr>
          <p:cNvPr id="2" name="S85">
            <a:extLst xmlns:a="http://schemas.openxmlformats.org/drawingml/2006/main">
              <a:ext uri="{FF2B5EF4-FFF2-40B4-BE49-F238E27FC236}">
                <a16:creationId xmlns:a16="http://schemas.microsoft.com/office/drawing/2014/main" id="{763E6DD6-23EE-43C0-B833-8B928D47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S85</a:t>
            </a:r>
          </a:p>
        </p:txBody>
      </p:sp>
      <p:sp>
        <p:nvSpPr>
          <p:cNvPr id="3" name="필요성이 입증되지 않은 것은 보류했다">
            <a:extLst xmlns:a="http://schemas.openxmlformats.org/drawingml/2006/main">
              <a:ext uri="{FF2B5EF4-FFF2-40B4-BE49-F238E27FC236}">
                <a16:creationId xmlns:a16="http://schemas.microsoft.com/office/drawing/2014/main" id="{182ABFCB-AC4D-42A6-A37A-57DA9F76B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필요성이 입증되지 않은 것은 보류했다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EC2254-7888-49DC-86BE-C38F49AC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DEC-0018 · 이번 작업의 선택을 회고">
            <a:extLst xmlns:a="http://schemas.openxmlformats.org/drawingml/2006/main">
              <a:ext uri="{FF2B5EF4-FFF2-40B4-BE49-F238E27FC236}">
                <a16:creationId xmlns:a16="http://schemas.microsoft.com/office/drawing/2014/main" id="{8A04B21F-3F2E-4F3D-85C2-DE23C4DBF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DEC-0018 · 이번 작업의 선택을 회고</a:t>
            </a:r>
          </a:p>
        </p:txBody>
      </p:sp>
      <p:sp>
        <p:nvSpPr>
          <p:cNvPr id="6" name="모든 프로젝트에서 Subagent·Memory가 불필요하거나 적을수록 좋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9BE3D2E3-6680-4B1D-B618-B293BFB78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모든 프로젝트에서 Subagent·Memory가 불필요하거나 적을수록 좋다는 뜻은 아니다.</a:t>
            </a:r>
          </a:p>
        </p:txBody>
      </p:sp>
      <p:sp>
        <p:nvSpPr>
          <p:cNvPr id="7" name="이 구성요소가 현재 문제에 필요한가?">
            <a:extLst xmlns:a="http://schemas.openxmlformats.org/drawingml/2006/main">
              <a:ext uri="{FF2B5EF4-FFF2-40B4-BE49-F238E27FC236}">
                <a16:creationId xmlns:a16="http://schemas.microsoft.com/office/drawing/2014/main" id="{D2A78921-E518-4FB6-BFB3-ECCB39AD4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 구성요소가 현재 문제에 필요한가?</a:t>
            </a:r>
          </a:p>
        </p:txBody>
      </p:sp>
      <p:sp>
        <p:nvSpPr>
          <p:cNvPr id="8" name="이번 문제에 필요했던 것">
            <a:extLst xmlns:a="http://schemas.openxmlformats.org/drawingml/2006/main">
              <a:ext uri="{FF2B5EF4-FFF2-40B4-BE49-F238E27FC236}">
                <a16:creationId xmlns:a16="http://schemas.microsoft.com/office/drawing/2014/main" id="{2D82997E-62F7-4C49-906C-26FBA682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문제에 필요했던 것</a:t>
            </a:r>
          </a:p>
        </p:txBody>
      </p:sp>
      <p:sp>
        <p:nvSpPr>
          <p:cNvPr id="9" name="이번에는 정당화하지 못한 것">
            <a:extLst xmlns:a="http://schemas.openxmlformats.org/drawingml/2006/main">
              <a:ext uri="{FF2B5EF4-FFF2-40B4-BE49-F238E27FC236}">
                <a16:creationId xmlns:a16="http://schemas.microsoft.com/office/drawing/2014/main" id="{AF259D31-1361-4B15-8E04-817AAF5B9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이번에는 정당화하지 못한 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B421C9-6640-4CFB-861C-39F85588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518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D6617B-A214-45E0-8E10-25B14C92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766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solid"/>
          </a:ln>
        </p:spPr>
      </p:sp>
      <p:sp>
        <p:nvSpPr>
          <p:cNvPr id="12" name="Task Prompt&#10;Context와 Routing&#10;재사용 Workflow&#10;Tests와 Benchmark">
            <a:extLst xmlns:a="http://schemas.openxmlformats.org/drawingml/2006/main">
              <a:ext uri="{FF2B5EF4-FFF2-40B4-BE49-F238E27FC236}">
                <a16:creationId xmlns:a16="http://schemas.microsoft.com/office/drawing/2014/main" id="{879CD844-452A-49AB-97DF-ABC43EC7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51816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Context와 Routing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Workflow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Tests와 Benchmark</a:t>
            </a:r>
          </a:p>
        </p:txBody>
      </p:sp>
      <p:sp>
        <p:nvSpPr>
          <p:cNvPr id="13" name="Subagent&#10;Memory">
            <a:extLst xmlns:a="http://schemas.openxmlformats.org/drawingml/2006/main">
              <a:ext uri="{FF2B5EF4-FFF2-40B4-BE49-F238E27FC236}">
                <a16:creationId xmlns:a16="http://schemas.microsoft.com/office/drawing/2014/main" id="{951CC118-FBDA-4E82-9CA0-5E628E9C4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4876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Subagent</a:t>
            </a:r>
          </a:p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Memory</a:t>
            </a:r>
          </a:p>
        </p:txBody>
      </p:sp>
      <p:sp>
        <p:nvSpPr>
          <p:cNvPr id="14" name="현재 문제가 필요로 하는 만큼 설계한다.">
            <a:extLst xmlns:a="http://schemas.openxmlformats.org/drawingml/2006/main">
              <a:ext uri="{FF2B5EF4-FFF2-40B4-BE49-F238E27FC236}">
                <a16:creationId xmlns:a16="http://schemas.microsoft.com/office/drawing/2014/main" id="{635F10A4-4840-4C71-8E67-011E1C59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문제가 필요로 하는 만큼 설계한다.</a:t>
            </a:r>
          </a:p>
        </p:txBody>
      </p:sp>
      <p:sp>
        <p:nvSpPr>
          <p:cNvPr id="1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2CA1FA7-1034-4299-B2A2-9B481E26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M8 · M9</a:t>
            </a:r>
          </a:p>
        </p:txBody>
      </p:sp>
    </p:spTree>
    <p:extLst>
      <p:ext uri="{BB962C8B-B14F-4D97-AF65-F5344CB8AC3E}">
        <p14:creationId xmlns:p14="http://schemas.microsoft.com/office/powerpoint/2010/main" val="8387198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5 · 개발자의 판단">
            <a:extLst xmlns:a="http://schemas.openxmlformats.org/drawingml/2006/main">
              <a:ext uri="{FF2B5EF4-FFF2-40B4-BE49-F238E27FC236}">
                <a16:creationId xmlns:a16="http://schemas.microsoft.com/office/drawing/2014/main" id="{9F6E3CE3-28CB-44B9-89DC-CF2ACD56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개발자의 판단</a:t>
            </a:r>
          </a:p>
        </p:txBody>
      </p:sp>
      <p:sp>
        <p:nvSpPr>
          <p:cNvPr id="2" name="S86">
            <a:extLst xmlns:a="http://schemas.openxmlformats.org/drawingml/2006/main">
              <a:ext uri="{FF2B5EF4-FFF2-40B4-BE49-F238E27FC236}">
                <a16:creationId xmlns:a16="http://schemas.microsoft.com/office/drawing/2014/main" id="{F800472B-B23A-43A6-8B4F-1B668A58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S86</a:t>
            </a:r>
          </a:p>
        </p:txBody>
      </p:sp>
      <p:sp>
        <p:nvSpPr>
          <p:cNvPr id="3" name="위임이 늘어도 개발자 책임은 남는다">
            <a:extLst xmlns:a="http://schemas.openxmlformats.org/drawingml/2006/main">
              <a:ext uri="{FF2B5EF4-FFF2-40B4-BE49-F238E27FC236}">
                <a16:creationId xmlns:a16="http://schemas.microsoft.com/office/drawing/2014/main" id="{8B99A25C-8560-40E4-8D5C-76E967F0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위임이 늘어도 개발자 책임은 남는다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9B4881-5C34-40BB-9EF3-FFBB38835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1–062 · 이 교육의 책임 원칙">
            <a:extLst xmlns:a="http://schemas.openxmlformats.org/drawingml/2006/main">
              <a:ext uri="{FF2B5EF4-FFF2-40B4-BE49-F238E27FC236}">
                <a16:creationId xmlns:a16="http://schemas.microsoft.com/office/drawing/2014/main" id="{BA6F7DB2-DC55-4539-A92C-C0912A66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BEAT-061–062 · 이 교육의 책임 원칙</a:t>
            </a:r>
          </a:p>
        </p:txBody>
      </p:sp>
      <p:sp>
        <p:nvSpPr>
          <p:cNvPr id="6" name="Agent와 개발자의 역할을 고정된 분업표로 제시하는 것은 아니다.">
            <a:extLst xmlns:a="http://schemas.openxmlformats.org/drawingml/2006/main">
              <a:ext uri="{FF2B5EF4-FFF2-40B4-BE49-F238E27FC236}">
                <a16:creationId xmlns:a16="http://schemas.microsoft.com/office/drawing/2014/main" id="{9768693A-34E6-4E34-A52D-C3842250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Agent와 개발자의 역할을 고정된 분업표로 제시하는 것은 아니다.</a:t>
            </a:r>
          </a:p>
        </p:txBody>
      </p:sp>
      <p:sp>
        <p:nvSpPr>
          <p:cNvPr id="7" name="AI가 조사·생성·변경·실행·비교를 도와도">
            <a:extLst xmlns:a="http://schemas.openxmlformats.org/drawingml/2006/main">
              <a:ext uri="{FF2B5EF4-FFF2-40B4-BE49-F238E27FC236}">
                <a16:creationId xmlns:a16="http://schemas.microsoft.com/office/drawing/2014/main" id="{88D56A26-8805-4B70-822E-CAC728C8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AI가 조사·생성·변경·실행·비교를 도와도</a:t>
            </a:r>
          </a:p>
        </p:txBody>
      </p:sp>
      <p:sp>
        <p:nvSpPr>
          <p:cNvPr id="8" name="결과를 수용하는 판단은 누가 하는가?">
            <a:extLst xmlns:a="http://schemas.openxmlformats.org/drawingml/2006/main">
              <a:ext uri="{FF2B5EF4-FFF2-40B4-BE49-F238E27FC236}">
                <a16:creationId xmlns:a16="http://schemas.microsoft.com/office/drawing/2014/main" id="{80C5382D-54D2-4BEB-BDB4-A9F46AF2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결과를 수용하는 판단은 누가 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FC4DA9-5B8E-4BBF-96AF-0B25BDD4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목표">
            <a:extLst xmlns:a="http://schemas.openxmlformats.org/drawingml/2006/main">
              <a:ext uri="{FF2B5EF4-FFF2-40B4-BE49-F238E27FC236}">
                <a16:creationId xmlns:a16="http://schemas.microsoft.com/office/drawing/2014/main" id="{EB21F8F1-251B-4033-8394-8A1764BD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11" name="무엇을 해결할까?">
            <a:extLst xmlns:a="http://schemas.openxmlformats.org/drawingml/2006/main">
              <a:ext uri="{FF2B5EF4-FFF2-40B4-BE49-F238E27FC236}">
                <a16:creationId xmlns:a16="http://schemas.microsoft.com/office/drawing/2014/main" id="{20CD83C9-3B66-4500-8BBD-5F3EEE7E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해결할까?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5A40E5-9CB0-47D4-ABEC-A5C02AC1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판단">
            <a:extLst xmlns:a="http://schemas.openxmlformats.org/drawingml/2006/main">
              <a:ext uri="{FF2B5EF4-FFF2-40B4-BE49-F238E27FC236}">
                <a16:creationId xmlns:a16="http://schemas.microsoft.com/office/drawing/2014/main" id="{EE6431D6-A5CC-40C6-BADD-C3D59456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판단</a:t>
            </a:r>
          </a:p>
        </p:txBody>
      </p:sp>
      <p:sp>
        <p:nvSpPr>
          <p:cNvPr id="14" name="어떤 선택이&#10;적절할까?">
            <a:extLst xmlns:a="http://schemas.openxmlformats.org/drawingml/2006/main">
              <a:ext uri="{FF2B5EF4-FFF2-40B4-BE49-F238E27FC236}">
                <a16:creationId xmlns:a16="http://schemas.microsoft.com/office/drawing/2014/main" id="{45084A3E-8927-4527-ADF7-77608F8C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선택이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적절할까?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4503EE-9ED6-413F-9340-9953CEA1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6" name="검증">
            <a:extLst xmlns:a="http://schemas.openxmlformats.org/drawingml/2006/main">
              <a:ext uri="{FF2B5EF4-FFF2-40B4-BE49-F238E27FC236}">
                <a16:creationId xmlns:a16="http://schemas.microsoft.com/office/drawing/2014/main" id="{B59E2AF2-F877-464B-9942-BA8F7C573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7" name="무엇으로&#10;확인할까?">
            <a:extLst xmlns:a="http://schemas.openxmlformats.org/drawingml/2006/main">
              <a:ext uri="{FF2B5EF4-FFF2-40B4-BE49-F238E27FC236}">
                <a16:creationId xmlns:a16="http://schemas.microsoft.com/office/drawing/2014/main" id="{AEFFB6A3-B412-414C-A8F8-553BC3CB4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무엇으로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확인할까?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439A01-809B-44CE-A9F9-A7B4A1BC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책임">
            <a:extLst xmlns:a="http://schemas.openxmlformats.org/drawingml/2006/main">
              <a:ext uri="{FF2B5EF4-FFF2-40B4-BE49-F238E27FC236}">
                <a16:creationId xmlns:a16="http://schemas.microsoft.com/office/drawing/2014/main" id="{0EEB8913-80AD-44DC-9934-97DDA682E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책임</a:t>
            </a:r>
          </a:p>
        </p:txBody>
      </p:sp>
      <p:sp>
        <p:nvSpPr>
          <p:cNvPr id="20" name="완료를&#10;수용해도 될까?">
            <a:extLst xmlns:a="http://schemas.openxmlformats.org/drawingml/2006/main">
              <a:ext uri="{FF2B5EF4-FFF2-40B4-BE49-F238E27FC236}">
                <a16:creationId xmlns:a16="http://schemas.microsoft.com/office/drawing/2014/main" id="{BD32FABA-7088-4EBC-9804-99DDAA0F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완료를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수용해도 될까?</a:t>
            </a:r>
          </a:p>
        </p:txBody>
      </p:sp>
      <p:sp>
        <p:nvSpPr>
          <p:cNvPr id="21" name="결과를 받는 일에는, 결과를 판단하는 책임이 함께 남는다.">
            <a:extLst xmlns:a="http://schemas.openxmlformats.org/drawingml/2006/main">
              <a:ext uri="{FF2B5EF4-FFF2-40B4-BE49-F238E27FC236}">
                <a16:creationId xmlns:a16="http://schemas.microsoft.com/office/drawing/2014/main" id="{B2D9C7F3-4084-44A9-B372-202485D9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결과를 받는 일에는, 결과를 판단하는 책임이 함께 남는다.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0DAF445A-35B8-4EF5-ACC6-40E61316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M2 · M4 · M5 · M6 · M9</a:t>
            </a:r>
          </a:p>
        </p:txBody>
      </p:sp>
    </p:spTree>
    <p:extLst>
      <p:ext uri="{BB962C8B-B14F-4D97-AF65-F5344CB8AC3E}">
        <p14:creationId xmlns:p14="http://schemas.microsoft.com/office/powerpoint/2010/main" val="14540433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5 · 일하는 환경을 설계한다">
            <a:extLst xmlns:a="http://schemas.openxmlformats.org/drawingml/2006/main">
              <a:ext uri="{FF2B5EF4-FFF2-40B4-BE49-F238E27FC236}">
                <a16:creationId xmlns:a16="http://schemas.microsoft.com/office/drawing/2014/main" id="{9B211AA1-939D-45E8-B135-6B583E97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일하는 환경을 설계한다</a:t>
            </a:r>
          </a:p>
        </p:txBody>
      </p:sp>
      <p:sp>
        <p:nvSpPr>
          <p:cNvPr id="2" name="S87">
            <a:extLst xmlns:a="http://schemas.openxmlformats.org/drawingml/2006/main">
              <a:ext uri="{FF2B5EF4-FFF2-40B4-BE49-F238E27FC236}">
                <a16:creationId xmlns:a16="http://schemas.microsoft.com/office/drawing/2014/main" id="{A5B1D69A-67ED-45DC-A8F7-1A6ACB75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S87</a:t>
            </a:r>
          </a:p>
        </p:txBody>
      </p:sp>
      <p:sp>
        <p:nvSpPr>
          <p:cNvPr id="3" name="AI-Native Development는&#10;이 교육의 운영 모델">
            <a:extLst xmlns:a="http://schemas.openxmlformats.org/drawingml/2006/main">
              <a:ext uri="{FF2B5EF4-FFF2-40B4-BE49-F238E27FC236}">
                <a16:creationId xmlns:a16="http://schemas.microsoft.com/office/drawing/2014/main" id="{62F11DBB-F1AF-48D4-9915-A5DA95DBC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AI-Native Development는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교육의 운영 모델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4C732E-BC4F-4685-ADEB-0E16DB4B2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과정에서 사용하는 운영 모델">
            <a:extLst xmlns:a="http://schemas.openxmlformats.org/drawingml/2006/main">
              <a:ext uri="{FF2B5EF4-FFF2-40B4-BE49-F238E27FC236}">
                <a16:creationId xmlns:a16="http://schemas.microsoft.com/office/drawing/2014/main" id="{858CFD7C-168B-47ED-9D5F-D69C1CC9F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과정에서 사용하는 운영 모델</a:t>
            </a:r>
          </a:p>
        </p:txBody>
      </p:sp>
      <p:sp>
        <p:nvSpPr>
          <p:cNvPr id="6" name="공식·보편 정의가 아니며, 모든 Task에 모든 구성요소를 넣으라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9B2DBA03-2740-4CEB-B269-62323109B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공식·보편 정의가 아니며, 모든 Task에 모든 구성요소를 넣으라는 뜻은 아니다.</a:t>
            </a:r>
          </a:p>
        </p:txBody>
      </p:sp>
      <p:sp>
        <p:nvSpPr>
          <p:cNvPr id="7" name="AI가 일할 조건과, 결과를 확인할 경로를 설계한다.">
            <a:extLst xmlns:a="http://schemas.openxmlformats.org/drawingml/2006/main">
              <a:ext uri="{FF2B5EF4-FFF2-40B4-BE49-F238E27FC236}">
                <a16:creationId xmlns:a16="http://schemas.microsoft.com/office/drawing/2014/main" id="{E25C1812-68E1-4B40-9CF6-AF80306B4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AI가 일할 조건과, 결과를 확인할 경로를 설계한다.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C27722-BD8B-4B8C-B4BC-50B2C2B7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작업 경계">
            <a:extLst xmlns:a="http://schemas.openxmlformats.org/drawingml/2006/main">
              <a:ext uri="{FF2B5EF4-FFF2-40B4-BE49-F238E27FC236}">
                <a16:creationId xmlns:a16="http://schemas.microsoft.com/office/drawing/2014/main" id="{C30E4274-980A-43AF-8F60-2D58495B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 경계</a:t>
            </a:r>
          </a:p>
        </p:txBody>
      </p:sp>
      <p:sp>
        <p:nvSpPr>
          <p:cNvPr id="10" name="무엇을 맡기고&#10;어디까지 바꿀까?">
            <a:extLst xmlns:a="http://schemas.openxmlformats.org/drawingml/2006/main">
              <a:ext uri="{FF2B5EF4-FFF2-40B4-BE49-F238E27FC236}">
                <a16:creationId xmlns:a16="http://schemas.microsoft.com/office/drawing/2014/main" id="{6BABE98A-576B-4BD2-B0EB-4BF66FE89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맡기고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바꿀까?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73233E-C6C8-47DC-874C-E06AC9342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지식 · 절차">
            <a:extLst xmlns:a="http://schemas.openxmlformats.org/drawingml/2006/main">
              <a:ext uri="{FF2B5EF4-FFF2-40B4-BE49-F238E27FC236}">
                <a16:creationId xmlns:a16="http://schemas.microsoft.com/office/drawing/2014/main" id="{BB12F4A7-3412-4730-B383-8BDB4770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지식 · 절차</a:t>
            </a:r>
          </a:p>
        </p:txBody>
      </p:sp>
      <p:sp>
        <p:nvSpPr>
          <p:cNvPr id="13" name="무엇을 알고&#10;어떤 방식으로 일할까?">
            <a:extLst xmlns:a="http://schemas.openxmlformats.org/drawingml/2006/main">
              <a:ext uri="{FF2B5EF4-FFF2-40B4-BE49-F238E27FC236}">
                <a16:creationId xmlns:a16="http://schemas.microsoft.com/office/drawing/2014/main" id="{640E55CB-DD83-49A8-9055-6C1FBB31A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알고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방식으로 일할까?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7C8C11-0203-403B-B5C2-2B37F129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검증 · 피드백">
            <a:extLst xmlns:a="http://schemas.openxmlformats.org/drawingml/2006/main">
              <a:ext uri="{FF2B5EF4-FFF2-40B4-BE49-F238E27FC236}">
                <a16:creationId xmlns:a16="http://schemas.microsoft.com/office/drawing/2014/main" id="{47C3CF85-297E-4E95-8E7E-189DBCF8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피드백</a:t>
            </a:r>
          </a:p>
        </p:txBody>
      </p:sp>
      <p:sp>
        <p:nvSpPr>
          <p:cNvPr id="16" name="어떻게 확인하고&#10;다음 작업을 바꿀까?">
            <a:extLst xmlns:a="http://schemas.openxmlformats.org/drawingml/2006/main">
              <a:ext uri="{FF2B5EF4-FFF2-40B4-BE49-F238E27FC236}">
                <a16:creationId xmlns:a16="http://schemas.microsoft.com/office/drawing/2014/main" id="{4A6CB78F-9E31-4B91-8E8D-FB4632F6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어떻게 확인하고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작업을 바꿀까?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CA44E10-B09A-46B3-BF33-5C8CCC04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0387670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ACT 5 · C++ VISION / 내 업무로 연결">
            <a:extLst xmlns:a="http://schemas.openxmlformats.org/drawingml/2006/main">
              <a:ext uri="{FF2B5EF4-FFF2-40B4-BE49-F238E27FC236}">
                <a16:creationId xmlns:a16="http://schemas.microsoft.com/office/drawing/2014/main" id="{E9353AC0-BD34-458A-9425-497DE7A8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C++ VISION / 내 업무로 연결</a:t>
            </a:r>
          </a:p>
        </p:txBody>
      </p:sp>
      <p:sp>
        <p:nvSpPr>
          <p:cNvPr id="2" name="S88">
            <a:extLst xmlns:a="http://schemas.openxmlformats.org/drawingml/2006/main">
              <a:ext uri="{FF2B5EF4-FFF2-40B4-BE49-F238E27FC236}">
                <a16:creationId xmlns:a16="http://schemas.microsoft.com/office/drawing/2014/main" id="{F9F59FAC-0E06-4D35-BAA4-AB5519CE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S88</a:t>
            </a:r>
          </a:p>
        </p:txBody>
      </p:sp>
      <p:sp>
        <p:nvSpPr>
          <p:cNvPr id="3" name="어느 Layer에서 마찰이 반복되는가?">
            <a:extLst xmlns:a="http://schemas.openxmlformats.org/drawingml/2006/main">
              <a:ext uri="{FF2B5EF4-FFF2-40B4-BE49-F238E27FC236}">
                <a16:creationId xmlns:a16="http://schemas.microsoft.com/office/drawing/2014/main" id="{3A49B3C0-E9B3-43C7-8F95-E8682FB9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어느 Layer에서 마찰이 반복되는가?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382B3A-760E-49D8-BCC9-14FB99B1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8–069 · 업무 적용을 위한 교육용 질문">
            <a:extLst xmlns:a="http://schemas.openxmlformats.org/drawingml/2006/main">
              <a:ext uri="{FF2B5EF4-FFF2-40B4-BE49-F238E27FC236}">
                <a16:creationId xmlns:a16="http://schemas.microsoft.com/office/drawing/2014/main" id="{BF8FEA0E-1312-433C-84F7-806238BC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BEAT-068–069 · 업무 적용을 위한 교육용 질문</a:t>
            </a:r>
          </a:p>
        </p:txBody>
      </p:sp>
      <p:sp>
        <p:nvSpPr>
          <p:cNvPr id="6" name="같은 수준의 선택지다. 특정 C++ 프로젝트에서 검증된 절차나 필수 도입 순서가 아니다.">
            <a:extLst xmlns:a="http://schemas.openxmlformats.org/drawingml/2006/main">
              <a:ext uri="{FF2B5EF4-FFF2-40B4-BE49-F238E27FC236}">
                <a16:creationId xmlns:a16="http://schemas.microsoft.com/office/drawing/2014/main" id="{4F6E7E16-7594-486D-9A30-03F01FFE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수준의 선택지다. 특정 C++ 프로젝트에서 검증된 절차나 필수 도입 순서가 아니다.</a:t>
            </a:r>
          </a:p>
        </p:txBody>
      </p:sp>
      <p:sp>
        <p:nvSpPr>
          <p:cNvPr id="7" name="지금 내 업무와 가장 가까운 한 곳을 떠올려 본다.">
            <a:extLst xmlns:a="http://schemas.openxmlformats.org/drawingml/2006/main">
              <a:ext uri="{FF2B5EF4-FFF2-40B4-BE49-F238E27FC236}">
                <a16:creationId xmlns:a16="http://schemas.microsoft.com/office/drawing/2014/main" id="{61220B4E-5357-4348-AB70-E191AECF9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지금 내 업무와 가장 가까운 한 곳을 떠올려 본다.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0A7902-8D22-48B8-8B9C-F7F6E760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FAD7BF-A94D-4CCE-AC21-E13B7479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">
            <a:extLst xmlns:a="http://schemas.openxmlformats.org/drawingml/2006/main">
              <a:ext uri="{FF2B5EF4-FFF2-40B4-BE49-F238E27FC236}">
                <a16:creationId xmlns:a16="http://schemas.microsoft.com/office/drawing/2014/main" id="{BD2EEEF7-68DC-44B8-9EFA-D5245EA7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A</a:t>
            </a:r>
          </a:p>
        </p:txBody>
      </p:sp>
      <p:sp>
        <p:nvSpPr>
          <p:cNvPr id="11" name="Task">
            <a:extLst xmlns:a="http://schemas.openxmlformats.org/drawingml/2006/main">
              <a:ext uri="{FF2B5EF4-FFF2-40B4-BE49-F238E27FC236}">
                <a16:creationId xmlns:a16="http://schemas.microsoft.com/office/drawing/2014/main" id="{709E2A64-C0DA-4738-8504-D4340CFF4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52412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</p:txBody>
      </p:sp>
      <p:sp>
        <p:nvSpPr>
          <p:cNvPr id="12" name="조사할 성능 병목의 범위가 흐리다">
            <a:extLst xmlns:a="http://schemas.openxmlformats.org/drawingml/2006/main">
              <a:ext uri="{FF2B5EF4-FFF2-40B4-BE49-F238E27FC236}">
                <a16:creationId xmlns:a16="http://schemas.microsoft.com/office/drawing/2014/main" id="{F03765E1-553E-4624-A4C5-B9795B9DA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52412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조사할 성능 병목의 범위가 흐리다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059EA7-6870-42BB-B63A-1746E8E1C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BEB0A9-807A-4DA1-8066-C683E4A4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B">
            <a:extLst xmlns:a="http://schemas.openxmlformats.org/drawingml/2006/main">
              <a:ext uri="{FF2B5EF4-FFF2-40B4-BE49-F238E27FC236}">
                <a16:creationId xmlns:a16="http://schemas.microsoft.com/office/drawing/2014/main" id="{F7C6481B-00EA-4C76-AE47-0A3F12CB0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B</a:t>
            </a:r>
          </a:p>
        </p:txBody>
      </p:sp>
      <p:sp>
        <p:nvSpPr>
          <p:cNvPr id="16" name="Context">
            <a:extLst xmlns:a="http://schemas.openxmlformats.org/drawingml/2006/main">
              <a:ext uri="{FF2B5EF4-FFF2-40B4-BE49-F238E27FC236}">
                <a16:creationId xmlns:a16="http://schemas.microsoft.com/office/drawing/2014/main" id="{66797C3A-702D-4733-98AA-4F6CA805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14325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7" name="빌드 조건·계약·하드웨어 가정을 반복 설명한다">
            <a:extLst xmlns:a="http://schemas.openxmlformats.org/drawingml/2006/main">
              <a:ext uri="{FF2B5EF4-FFF2-40B4-BE49-F238E27FC236}">
                <a16:creationId xmlns:a16="http://schemas.microsoft.com/office/drawing/2014/main" id="{AD5ED72A-310D-42CC-8BDA-1C912AC8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143250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조건·계약·하드웨어 가정을 반복 설명한다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06648F-6492-4AF7-827C-D2949D73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831497-1645-43D3-A282-050DE78B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">
            <a:extLst xmlns:a="http://schemas.openxmlformats.org/drawingml/2006/main">
              <a:ext uri="{FF2B5EF4-FFF2-40B4-BE49-F238E27FC236}">
                <a16:creationId xmlns:a16="http://schemas.microsoft.com/office/drawing/2014/main" id="{38836124-B8F0-4103-B55F-8B0A2E57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C</a:t>
            </a:r>
          </a:p>
        </p:txBody>
      </p:sp>
      <p:sp>
        <p:nvSpPr>
          <p:cNvPr id="21" name="Workflow">
            <a:extLst xmlns:a="http://schemas.openxmlformats.org/drawingml/2006/main">
              <a:ext uri="{FF2B5EF4-FFF2-40B4-BE49-F238E27FC236}">
                <a16:creationId xmlns:a16="http://schemas.microsoft.com/office/drawing/2014/main" id="{F0C5F217-05C5-4DB0-BEA6-579EC49E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76237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22" name="분석 → 변경 → 측정 → 회귀 확인을 매번 적는다">
            <a:extLst xmlns:a="http://schemas.openxmlformats.org/drawingml/2006/main">
              <a:ext uri="{FF2B5EF4-FFF2-40B4-BE49-F238E27FC236}">
                <a16:creationId xmlns:a16="http://schemas.microsoft.com/office/drawing/2014/main" id="{1BB756DE-E92E-4F64-A0CC-56B527D1D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76237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분석 → 변경 → 측정 → 회귀 확인을 매번 적는다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DD480B-FFD4-412C-A0E6-FDDB76186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B35D36-0198-4DE3-A838-64408ACA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">
            <a:extLst xmlns:a="http://schemas.openxmlformats.org/drawingml/2006/main">
              <a:ext uri="{FF2B5EF4-FFF2-40B4-BE49-F238E27FC236}">
                <a16:creationId xmlns:a16="http://schemas.microsoft.com/office/drawing/2014/main" id="{45CDF66F-5611-4D74-A843-A73B737CC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</a:t>
            </a:r>
          </a:p>
        </p:txBody>
      </p:sp>
      <p:sp>
        <p:nvSpPr>
          <p:cNvPr id="26" name="Verification">
            <a:extLst xmlns:a="http://schemas.openxmlformats.org/drawingml/2006/main">
              <a:ext uri="{FF2B5EF4-FFF2-40B4-BE49-F238E27FC236}">
                <a16:creationId xmlns:a16="http://schemas.microsoft.com/office/drawing/2014/main" id="{9C6C2D66-4DC6-439D-A547-17E7334A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8150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Verification</a:t>
            </a:r>
          </a:p>
        </p:txBody>
      </p:sp>
      <p:sp>
        <p:nvSpPr>
          <p:cNvPr id="27" name="테스트와 Benchmark의 확인 기준이 모호하다">
            <a:extLst xmlns:a="http://schemas.openxmlformats.org/drawingml/2006/main">
              <a:ext uri="{FF2B5EF4-FFF2-40B4-BE49-F238E27FC236}">
                <a16:creationId xmlns:a16="http://schemas.microsoft.com/office/drawing/2014/main" id="{1C7C4FB8-37B5-4EDE-9EFE-F81BF3C6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381500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테스트와 Benchmark의 확인 기준이 모호하다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05F4E8-0F14-4D64-A108-0ED6FE76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6FB53F-1808-46A2-8D53-E1591A959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E">
            <a:extLst xmlns:a="http://schemas.openxmlformats.org/drawingml/2006/main">
              <a:ext uri="{FF2B5EF4-FFF2-40B4-BE49-F238E27FC236}">
                <a16:creationId xmlns:a16="http://schemas.microsoft.com/office/drawing/2014/main" id="{4BEC0EDE-D881-4FAF-BDD7-DB0CC598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E</a:t>
            </a:r>
          </a:p>
        </p:txBody>
      </p:sp>
      <p:sp>
        <p:nvSpPr>
          <p:cNvPr id="31" name="Feedback Loop">
            <a:extLst xmlns:a="http://schemas.openxmlformats.org/drawingml/2006/main">
              <a:ext uri="{FF2B5EF4-FFF2-40B4-BE49-F238E27FC236}">
                <a16:creationId xmlns:a16="http://schemas.microsoft.com/office/drawing/2014/main" id="{5FBA6086-3509-45A0-82A9-E6A38325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00062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 Loop</a:t>
            </a:r>
          </a:p>
        </p:txBody>
      </p:sp>
      <p:sp>
        <p:nvSpPr>
          <p:cNvPr id="32" name="같은 문제가 다시 생겨도 관련 시스템을 안 바꾼다">
            <a:extLst xmlns:a="http://schemas.openxmlformats.org/drawingml/2006/main">
              <a:ext uri="{FF2B5EF4-FFF2-40B4-BE49-F238E27FC236}">
                <a16:creationId xmlns:a16="http://schemas.microsoft.com/office/drawing/2014/main" id="{8BACEDA6-62F9-4F9D-8EB5-7492F244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500062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다시 생겨도 관련 시스템을 안 바꾼다</a:t>
            </a:r>
          </a:p>
        </p:txBody>
      </p:sp>
      <p:sp>
        <p:nvSpPr>
          <p:cNvPr id="3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03D895B4-FF87-4A51-922D-A5E360EC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8811501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5 · 잠시 생각해 보기">
            <a:extLst xmlns:a="http://schemas.openxmlformats.org/drawingml/2006/main">
              <a:ext uri="{FF2B5EF4-FFF2-40B4-BE49-F238E27FC236}">
                <a16:creationId xmlns:a16="http://schemas.microsoft.com/office/drawing/2014/main" id="{17B762EE-12B3-4D20-B590-D00E8BA6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잠시 생각해 보기</a:t>
            </a:r>
          </a:p>
        </p:txBody>
      </p:sp>
      <p:sp>
        <p:nvSpPr>
          <p:cNvPr id="2" name="S89">
            <a:extLst xmlns:a="http://schemas.openxmlformats.org/drawingml/2006/main">
              <a:ext uri="{FF2B5EF4-FFF2-40B4-BE49-F238E27FC236}">
                <a16:creationId xmlns:a16="http://schemas.microsoft.com/office/drawing/2014/main" id="{8FDD5C10-4476-4638-925B-83E3BF54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S89</a:t>
            </a:r>
          </a:p>
        </p:txBody>
      </p:sp>
      <p:sp>
        <p:nvSpPr>
          <p:cNvPr id="3" name="다음 작은 행동을 개인적으로 고른다">
            <a:extLst xmlns:a="http://schemas.openxmlformats.org/drawingml/2006/main">
              <a:ext uri="{FF2B5EF4-FFF2-40B4-BE49-F238E27FC236}">
                <a16:creationId xmlns:a16="http://schemas.microsoft.com/office/drawing/2014/main" id="{3AB8A09C-B647-4274-BCE3-9869D517A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작은 행동을 개인적으로 고른다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B5199-FC6C-4A28-8D56-DB5A890A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70–071 · 개인 성찰">
            <a:extLst xmlns:a="http://schemas.openxmlformats.org/drawingml/2006/main">
              <a:ext uri="{FF2B5EF4-FFF2-40B4-BE49-F238E27FC236}">
                <a16:creationId xmlns:a16="http://schemas.microsoft.com/office/drawing/2014/main" id="{3603B7B0-B76A-4BED-B773-9FA5CF8B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BEAT-070–071 · 개인 성찰</a:t>
            </a:r>
          </a:p>
        </p:txBody>
      </p:sp>
      <p:sp>
        <p:nvSpPr>
          <p:cNvPr id="6" name="마음속으로 떠올리는 시간이다. 기록·발표·제출은 요구하지 않는다.">
            <a:extLst xmlns:a="http://schemas.openxmlformats.org/drawingml/2006/main">
              <a:ext uri="{FF2B5EF4-FFF2-40B4-BE49-F238E27FC236}">
                <a16:creationId xmlns:a16="http://schemas.microsoft.com/office/drawing/2014/main" id="{7BDBAF69-0368-442F-84AB-6073E62C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마음속으로 떠올리는 시간이다. 기록·발표·제출은 요구하지 않는다.</a:t>
            </a:r>
          </a:p>
        </p:txBody>
      </p:sp>
      <p:sp>
        <p:nvSpPr>
          <p:cNvPr id="7" name="떠올린 마찰에서, 작은 행동 하나를 마음속으로.">
            <a:extLst xmlns:a="http://schemas.openxmlformats.org/drawingml/2006/main">
              <a:ext uri="{FF2B5EF4-FFF2-40B4-BE49-F238E27FC236}">
                <a16:creationId xmlns:a16="http://schemas.microsoft.com/office/drawing/2014/main" id="{AC700CC5-81F5-4BA0-99C3-ECDA756AE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떠올린 마찰에서, 작은 행동 하나를 마음속으로.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D2A7CC-D6C5-4A00-B985-D70E1B25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A7359FA6-9A45-4506-B419-609ADA6FC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0" name="반복 설명 하나를 다음 작업에서는 어떻게 줄일까?">
            <a:extLst xmlns:a="http://schemas.openxmlformats.org/drawingml/2006/main">
              <a:ext uri="{FF2B5EF4-FFF2-40B4-BE49-F238E27FC236}">
                <a16:creationId xmlns:a16="http://schemas.microsoft.com/office/drawing/2014/main" id="{10167B50-2904-4FC5-9C64-9C45029B6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000375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 설명 하나를 다음 작업에서는 어떻게 줄일까?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C7D972-2319-4F0E-A2B6-A15B3AD1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51764AC7-A25B-4E02-8E11-6A0BA69C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AI가 다시 찾는 프로젝트 사실 하나를 어디에 둘까?">
            <a:extLst xmlns:a="http://schemas.openxmlformats.org/drawingml/2006/main">
              <a:ext uri="{FF2B5EF4-FFF2-40B4-BE49-F238E27FC236}">
                <a16:creationId xmlns:a16="http://schemas.microsoft.com/office/drawing/2014/main" id="{B3DEEF9D-3B51-445A-9BCB-426087F3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867150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AI가 다시 찾는 프로젝트 사실 하나를 어디에 둘까?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94A3EA-FA99-4FED-86D4-B37626E6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03">
            <a:extLst xmlns:a="http://schemas.openxmlformats.org/drawingml/2006/main">
              <a:ext uri="{FF2B5EF4-FFF2-40B4-BE49-F238E27FC236}">
                <a16:creationId xmlns:a16="http://schemas.microsoft.com/office/drawing/2014/main" id="{BB0C3DEA-53B9-479B-8605-342C8CD3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6" name="같은 실패가 또 생기면 어느 Layer부터 확인할까?">
            <a:extLst xmlns:a="http://schemas.openxmlformats.org/drawingml/2006/main">
              <a:ext uri="{FF2B5EF4-FFF2-40B4-BE49-F238E27FC236}">
                <a16:creationId xmlns:a16="http://schemas.microsoft.com/office/drawing/2014/main" id="{CCEA07E5-2A0A-41C6-8850-BD968E1C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33925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실패가 또 생기면 어느 Layer부터 확인할까?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C7ADA6F-850E-49C6-8E93-6529432A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M8</a:t>
            </a:r>
          </a:p>
        </p:txBody>
      </p:sp>
    </p:spTree>
    <p:extLst>
      <p:ext uri="{BB962C8B-B14F-4D97-AF65-F5344CB8AC3E}">
        <p14:creationId xmlns:p14="http://schemas.microsoft.com/office/powerpoint/2010/main" val="12924634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ACT 5 · 마지막 질문">
            <a:extLst xmlns:a="http://schemas.openxmlformats.org/drawingml/2006/main">
              <a:ext uri="{FF2B5EF4-FFF2-40B4-BE49-F238E27FC236}">
                <a16:creationId xmlns:a16="http://schemas.microsoft.com/office/drawing/2014/main" id="{1BD090D0-B220-4C89-A028-7AABED8A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마지막 질문</a:t>
            </a:r>
          </a:p>
        </p:txBody>
      </p:sp>
      <p:sp>
        <p:nvSpPr>
          <p:cNvPr id="2" name="S90">
            <a:extLst xmlns:a="http://schemas.openxmlformats.org/drawingml/2006/main">
              <a:ext uri="{FF2B5EF4-FFF2-40B4-BE49-F238E27FC236}">
                <a16:creationId xmlns:a16="http://schemas.microsoft.com/office/drawing/2014/main" id="{39193DF2-5E56-4384-B4D3-79DBE1BC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S90</a:t>
            </a:r>
          </a:p>
        </p:txBody>
      </p:sp>
      <p:sp>
        <p:nvSpPr>
          <p:cNvPr id="3" name="Q&amp;A와 교육 마무리">
            <a:extLst xmlns:a="http://schemas.openxmlformats.org/drawingml/2006/main">
              <a:ext uri="{FF2B5EF4-FFF2-40B4-BE49-F238E27FC236}">
                <a16:creationId xmlns:a16="http://schemas.microsoft.com/office/drawing/2014/main" id="{D40DE2D9-0349-40CF-8836-D1AEC35C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Q&amp;A와 교육 마무리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A25BAD-1A6C-4584-9F38-191F0C42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70–071 · 이 교육의 마무리">
            <a:extLst xmlns:a="http://schemas.openxmlformats.org/drawingml/2006/main">
              <a:ext uri="{FF2B5EF4-FFF2-40B4-BE49-F238E27FC236}">
                <a16:creationId xmlns:a16="http://schemas.microsoft.com/office/drawing/2014/main" id="{7A255A8C-F0B1-4A00-9A15-B85D2D68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BEAT-070–071 · 이 교육의 마무리</a:t>
            </a:r>
          </a:p>
        </p:txBody>
      </p:sp>
      <p:sp>
        <p:nvSpPr>
          <p:cNvPr id="6" name="목표 · 판단 · 검증 · 책임은 개발자에게 남는다.">
            <a:extLst xmlns:a="http://schemas.openxmlformats.org/drawingml/2006/main">
              <a:ext uri="{FF2B5EF4-FFF2-40B4-BE49-F238E27FC236}">
                <a16:creationId xmlns:a16="http://schemas.microsoft.com/office/drawing/2014/main" id="{11E2F897-D092-44CF-8DDB-60310803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목표 · 판단 · 검증 · 책임은 개발자에게 남는다.</a:t>
            </a:r>
          </a:p>
        </p:txBody>
      </p:sp>
      <p:sp>
        <p:nvSpPr>
          <p:cNvPr id="7" name="내 업무에서 무엇부터 바꿀까요?">
            <a:extLst xmlns:a="http://schemas.openxmlformats.org/drawingml/2006/main">
              <a:ext uri="{FF2B5EF4-FFF2-40B4-BE49-F238E27FC236}">
                <a16:creationId xmlns:a16="http://schemas.microsoft.com/office/drawing/2014/main" id="{9BA86A7F-8A6F-489D-8AE0-531EFC76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내 업무에서 무엇부터 바꿀까요?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FCE43E-28F9-45DE-B8FF-E1FF86FB4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9" name="AI가 잘 일할 환경을&#10;설계한다.">
            <a:extLst xmlns:a="http://schemas.openxmlformats.org/drawingml/2006/main">
              <a:ext uri="{FF2B5EF4-FFF2-40B4-BE49-F238E27FC236}">
                <a16:creationId xmlns:a16="http://schemas.microsoft.com/office/drawing/2014/main" id="{8EA99484-449B-4249-B04C-C9477A5E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AI가 잘 일할 환경을</a:t>
            </a:r>
          </a:p>
          <a:p xmlns:a="http://schemas.openxmlformats.org/drawingml/2006/main">
            <a: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설계한다.</a:t>
            </a:r>
          </a:p>
        </p:txBody>
      </p:sp>
      <p:sp>
        <p:nvSpPr>
          <p:cNvPr id="10" name="Question  →  Task  →  Context  →  System  →  Feedback Loop">
            <a:extLst xmlns:a="http://schemas.openxmlformats.org/drawingml/2006/main">
              <a:ext uri="{FF2B5EF4-FFF2-40B4-BE49-F238E27FC236}">
                <a16:creationId xmlns:a16="http://schemas.microsoft.com/office/drawing/2014/main" id="{64A04B1A-9368-4A65-AEEF-AE87014A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Question  →  Task  →  Context  →  System  →  Feedback Loop</a:t>
            </a:r>
          </a:p>
        </p:txBody>
      </p:sp>
      <p:sp>
        <p:nvSpPr>
          <p:cNvPr id="1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C8AF543-1044-4045-90FD-57F10702E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</a:t>
            </a:r>
          </a:p>
        </p:txBody>
      </p:sp>
    </p:spTree>
    <p:extLst>
      <p:ext uri="{BB962C8B-B14F-4D97-AF65-F5344CB8AC3E}">
        <p14:creationId xmlns:p14="http://schemas.microsoft.com/office/powerpoint/2010/main" val="10651075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2026-10-21T13:46:35.8920000Z</dcterms:created>
  <dcterms:modified xsi:type="dcterms:W3CDTF">2026-10-21T13:46:35.8920000Z</dcterms:modified>
</coreProperties>
</file>