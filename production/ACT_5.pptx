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S73 — 여섯 시간의 Story를 한 장으로
**Slide ID:**
S73
**Working Title:**
여섯 시간의 Story를 한 장으로
**ACT / Section:**
ACT 5 / 5A  FULL STORY RECAP
**Allocated Time:**
4 minutes
**Mode Split:**
Lecture 4분
**Primary Message:**
Chatbot은 답을 구하고, Prompt는 Task를 구체화하며, Context는 필요한 Project 지식을 제공하고, Harness는 작업 환경을 설계하며, Loop는 Feedback으로 System을 개선한다.
**Opening Question:**
“나는 지금 AI를 어떤 방식으로 사용하고 있을까?”
**Speaker Flow:**
1. (0:00–0:30) 질문을 던지고 다섯 단계가 놓인 흐름을 전체로 보여준다.
2. (0:30–2:45) 각 단계의 한 문장 역할을 차례로 짚는다: 답을 구하기, Task를 구체화하기, Project 지식 제공하기, 작업 환경 설계하기, Feedback으로 System 개선하기.
3. (2:45–4:00) 단계가 앞 단계를 대체하지 않는다고 정리하고 하나의 Repository에서 보인 실제 변화로 넘긴다.
**Evidence / Source:**
TEACHING_MODEL · BEAT-060 · 앞선 ACT의 Story callback. 새 Demo는 실행하지 않는다.
**Claim Boundary:**
이 교육의 문제-driven 진화 모델이다. 각 단계는 앞 단계를 대체하거나 모든 개발자가 같은 maturity 순서로 이동해야 한다는 뜻이 아니다.
**Beginner Explanation:**
현재 사용 방식에서 다음으로 필요한 작은 engineering 대응 하나를 찾는다.
**Advanced Insight:**
어떤 문제가 다음 단계의 접근을 필요하게 했는지 시스템 관점으로 설명한다.
**C++ Vision Bridge:**
기존 Vision 사례를 선택적으로 회상할 수 있다. 새 C++ 기술 사례는 추가하지 않는다.
**Demo Operation:**
추가 실행 없음. 앞선 사례를 한 문장씩 연결하는 static diagram만 사용한다.
**Audience Interaction:**
Opening question을 띄우고 개인적으로 떠올리게 한다. 답변이나 현재 수준 발표를 요구하지 않는다.
**Transition:**
“이 흐름이 하나의 Repository에서는 어떤 변화로 기록됐을까요?” S74로 넘긴다.
**Time Management:**
총 4분, Lecture 4분. 각 단계 설명을 한 문장에 제한하고 앞선 ACT 내용을 다시 강의하지 않는다.
**Fallback:**
정적 vector diagram으로 진행한다. 애니메이션 또는 Live Demo가 필요하지 않다.
**Validation Status:**
LOCAL REVIEW COMPLETE — 5-step teaching diagram is legible and the non-ladder boundary is clear. Presenter pacing, Windows PowerPoint,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S74 — 하나의 Repository가 문제에 대응해 진화했다
**Slide ID:**
S74
**Working Title:**
하나의 Repository가 문제에 대응해 진화했다
**ACT / Section:**
ACT 5 / 5A  PRIMARY DEMO EVOLUTION
**Allocated Time:**
3 minutes
**Mode Split:**
Lecture 1분 + Demo 2분 (VISUAL)
**Primary Message:**
각 State는 해당 문제에 대응해 기록된 Engineering history다. State 순서는 기능 성숙도 등급이 아니다.
**Opening Question:**
“이 Repository는 어떤 문제를 만나며 바뀌었나?”
**Speaker Flow:**
1. (0:00–1:00) State rail을 왼쪽부터 읽고, 각 변화가 특정 문제에 대응해 기록됐다고 설명한다.
2. (1:00–2:30) 두 번째 줄의 짧은 labels를 보며 bug fix, project context, routing, reusable workflow, bounded product change를 구분한다.
3. (2:30–3:00) 마지막 STATE-04-PERF를 bounded Working Harness Success로 닫고, benchmark-preparation commits는 named States가 아니라고 덧붙인다.
**Evidence / Source:**
OBSERVED_PRODUCT · `ai-dev-training-demo`의 named Git State/tag 기록과 DEMO-12. State 순서는 STATE-00 → STATE-00-FIXED → STATE-01 → STATE-02 → STATE-03 → STATE-04 → STATE-04-PERF다.
**Claim Boundary:**
기록된 State와 Demo evidence 범위에 한정한다. Benchmark preparation commits는 supporting history이며 별도 State가 아니다. Subagent, Memory, stale Harness 또는 Loop를 Product State로 표시하지 않는다.
**Beginner Explanation:**
변화가 기능 수를 늘리기 위한 것이 아니라 당시 확인된 문제에 대응했다는 점을 본다.
**Advanced Insight:**
Product State와 Conceptual 또는 Observed Meta 사례를 구분하고 bounded Product endpoint를 읽는다.
**C++ Vision Bridge:**
N/A.
**Demo Operation:**
DEMO-12 · VISUAL, 2분. 실제 Product State/tag를 요약한 static timeline이다. 새 Trial·repository 실행·추가 state는 없다. Benchmark preparation은 별도 State로 그리지 않는다.
**Audience Interaction:**
질문에 맞춰 각 State 아래 한 문구를 함께 훑는다. 평가 점수나 성숙도 단계로 읽지 않게 안내한다.
**Transition:**
“그러면 이 작업에서 Subagent와 Memory는 왜 없었을까요?” S75로 전환한다.
**Time Management:**
Lecture 1분 + VISUAL Demo 2분 = 3분. 세부 Trial을 재설명하지 않는다.
**Fallback:**
READY — 이 static vector timeline 자체가 기본 presentation path다. 외부 실행은 필요하지 않다.
**Validation Status:**
LOCAL REVIEW COMPLETE — all seven named States and bounded endpoint are legible; supporting benchmark history is not a State.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S75 — 필요성이 입증되지 않은 것은 보류했다
**Slide ID:**
S75
**Working Title:**
필요성이 입증되지 않은 것은 보류했다
**ACT / Section:**
ACT 5 / 5A  MINIMUM EFFECTIVE HARNESS CALLBACK
**Allocated Time:**
2 minutes
**Mode Split:**
Lecture 2분
**Primary Message:**
이 bounded task에서는 Subagent와 Memory를 추가할 충분한 근거가 없었다. “Use what the problem justifies.”
**Opening Question:**
“왜 현재 Demo의 최종 그림에 Subagent와 Memory가 없을까?”
**Speaker Flow:**
1. (0:00–0:30) 실제로 사용한 요소와 이번 사례에서 정당화되지 않은 요소를 시각적으로 나눠 보여준다.
2. (0:30–1:20) STATE-04-PERF의 bounded 성공과 DEC-0018의 범위를 설명한다.
3. (1:20–2:00) “More features ≠ More mature”와 “Less is always better도 아니다”를 짚고 기준을 남긴다.
**Evidence / Source:**
OBSERVED_PRODUCT / TEACHING_MODEL · STATE-04-PERF와 DEC-0018. 사용한 요소: task Prompt, Project Context/routing, reusable Skill/workflow, Tests와 benchmark. 이번 bounded task에서 Subagent와 Memory는 사용되지 않았다.
**Claim Boundary:**
이 Demo의 bounded 작업과 이 교육의 프로젝트별 heuristic이다. 모든 Project에 Subagent/Memory가 불필요하거나 적게 쓰는 것이 항상 낫다는 뜻이 아니다.
**Beginner Explanation:**
처음부터 모든 기능을 넣지 않고 지금 반복되는 마찰과 필요한 지원부터 찾는다.
**Advanced Insight:**
구성요소별 비용과 이득을 실제 task, context, verification 요구에 맞춰 평가한다.
**C++ Vision Bridge:**
자신의 Repository에서도 같은 정당화 질문을 적용할 수 있다. 새 C++ 절차는 추가하지 않는다.
**Demo Operation:**
추가 실행 없음. 왼쪽은 STATE-04-PERF의 system components, 오른쪽은 이번 사례에서 정당화되지 않은 Subagent/Memory다. 상태와 일반 규칙을 섞지 않는다.
**Audience Interaction:**
차이를 보고 “Use what the problem justifies”라는 기준을 가져간다. 도구 선택 답변이나 투표는 요구하지 않는다.
**Transition:**
“AI에게 더 많은 일을 맡겨도 개발자에게 남는 책임은 무엇일까요?” S76으로 이동한다.
**Time Management:**
Lecture 2분. 구성요소를 다시 강의하지 않고 판단 근거와 범위에 집중한다.
**Fallback:**
정적 2-panel evidence/model visual을 사용한다. 실행 기록이나 feature-count score는 사용하지 않는다.
**Validation Status:**
LOCAL REVIEW COMPLETE — observed task components are separated from Subagent/Memory non-use; this remains task-bounded.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S76 — 위임이 늘어도 개발자 책임은 남는다
**Slide ID:**
S76
**Working Title:**
위임이 늘어도 개발자 책임은 남는다
**ACT / Section:**
ACT 5 / 5A  DEVELOPER RESPONSIBILITY
**Allocated Time:**
3 minutes
**Mode Split:**
Lecture 3분
**Primary Message:**
Agent는 조사·생성·변경·실행·비교를 도울 수 있다. 개발자는 목표, 제약, 판단, Verification, 완료 여부와 결과 책임을 유지한다.
**Opening Question:**
“AI가 더 많은 일을 맡아도 개발자가 계속 책임지는 것은 무엇인가?”
**Speaker Flow:**
1. (0:00–0:40) Agent가 지원할 수 있는 행동 다섯 가지를 보여준다.
2. (0:40–2:20) Goal, Judgment, Verification, Responsibility를 중심으로 네 질문을 설명한다.
3. (2:20–3:00) 역할을 절대적으로 나누는 규칙이 아니라 결과 판단과 책임이 개발자에게 남는다는 점으로 닫는다.
**Evidence / Source:**
TEACHING_MODEL · BEAT-061–062. 새 Product feature나 책임 handoff evidence는 없다.
**Claim Boundary:**
이 교육에서 고정한 책임 원칙이다. Agent와 개발자의 역할을 절대적인 분업 규칙으로 제시하지 않는다. AI fear/control framing을 사용하지 않는다.
**Beginner Explanation:**
AI가 결과를 만들 수 있어도 무엇이 맞고 완료인지 판단하는 일은 남는다.
**Advanced Insight:**
위임 범위, 제약, 검증 기준과 최종 수용 기준을 함께 설계한다.
**C++ Vision Bridge:**
N/A.
**Demo Operation:**
N/A — 별도 실행 없음. 정적 role/responsibility diagram.
**Audience Interaction:**
네 가지 책임 축을 읽고 자신의 완료 기준을 떠올리게 한다. 응답 요구 없음.
**Transition:**
“이 역할 변화를 이 교육에서는 어떤 모델로 부를까요?” S77로 이동한다.
**Time Management:**
Lecture 3분. 다섯 Agent 행동을 상세 제품 기능처럼 설명하지 않는다.
**Fallback:**
정적 diagram으로 진행하며 발표자가 각 responsibility card를 차례로 가리킨다.
**Validation Status:**
LOCAL REVIEW COMPLETE — support actions and developer responsibilities are distinct; no absolute role split is implied.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S77 — AI-Native Development는 이 교육의 운영 모델
**Slide ID:**
S77
**Working Title:**
AI-Native Development는 이 교육의 운영 모델
**ACT / Section:**
ACT 5 / 5A  AI-NATIVE DEVELOPMENT
**Allocated Time:**
3 minutes
**Mode Split:**
Lecture 3분
**Primary Message:**
이 교육은 Task Boundary, Project Context, Reusable Workflow, Verification, Feedback Loop를 의도적으로 설계·운영하는 방식을 AI-Native Development의 operational model로 사용한다.
**Opening Question:**
“AI에게 일을 많이 맡기면 AI-Native일까?”
**Speaker Flow:**
1. (0:00–0:30) 사용량 자체가 이 교육의 기준인지 묻는다.
2. (0:30–2:20) 다섯 구성요소를 하나의 working system 모델로 보여준다.
3. (2:20–3:00) 이는 이 교육의 framing이며 모든 task에 모든 component가 반드시 필요한 것은 아니라고 한정한다.
**Evidence / Source:**
TEACHING_MODEL · DEC-0023의 course-specific operational framing.
**Claim Boundary:**
공식·보편 업계 표준 정의라고 말하지 않는다. 모든 task 또는 Demo에 다섯 구성요소를 의무적으로 도입하라는 뜻이 아니다.
**Beginner Explanation:**
AI 사용량을 늘리는 것만으로 끝내지 않고 반복되는 작은 마찰을 하나 개선한다.
**Advanced Insight:**
Model capability와 작업 System/Harness 설계를 구분해 다음 병목을 진단한다.
**C++ Vision Bridge:**
다음 S78에서 C++ Vision 업무와 자신의 Repository로 transfer한다.
**Demo Operation:**
N/A — 별도 실행 없음. 다섯 구성요소는 비교 가능한 system components로 보이며 maturity 순서가 아니다.
**Audience Interaction:**
Opening question을 남긴 뒤 course model의 범위를 확인한다. 공식 용어 정의나 정답 발표를 요구하지 않는다.
**Transition:**
“내 Repository에서는 어떤 Layer에서 마찰이 반복될까요?” S78로 넘긴다.
**Time Management:**
Lecture 3분. AI 사용량과 설계된 work system의 차이만 설명한다.
**Fallback:**
정적 component model로 진행한다. 용어가 추가 정의로 확장되지 않게 DEC-0023 문구를 따른다.
**Validation Status:**
LOCAL REVIEW COMPLETE — course-specific operational model and non-universal scope are visible.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S78 — 어느 Layer에서 마찰이 반복되는가?
**Slide ID:**
S78
**Working Title:**
어느 Layer에서 마찰이 반복되는가?
**ACT / Section:**
ACT 5 / 5B  C++ VISION / MY REPOSITORY TRANSFER
**Allocated Time:**
5 minutes
**Mode Split:**
Case 1분 + Transition 4분
**Primary Message:**
Task, Context, Workflow, Verification, Repeated Failure Loop 중 현재 가장 큰 마찰과 가까운 한 곳을 선택한다. 정해진 maturity sequence가 아니다.
**Opening Question:**
“내 Repository에서 다음 주에 하나만 바꾼다면?”
**Speaker Flow:**
1. (0:00–1:00) C++ Vision transfer example을 보여주고 실제 project procedure가 아니라 pattern transfer임을 밝힌다.
2. (1:00–5:00) 다섯 선택지를 같은 수준으로 소개한다. 현재 가장 큰 반복 마찰을 생각하게 하고 S79 개인 Reflection으로 넘긴다.
**Evidence / Source:**
TEACHING_MODEL · C++ Vision engineering-pattern transfer. 실제 C++ Project, hardware, toolchain 또는 benchmark 결과는 사용하지 않는다.
**Claim Boundary:**
다섯 선택지는 같은 높이의 적용 후보이며 순서가 있는 maturity ladder가 아니다. 특정 C++ Project 규칙·도구·hardware 또는 검증된 procedure를 보장하지 않는다.
**Beginner Explanation:**
전체 Harness를 새로 만들기 전에 반복해서 설명하거나 확인하는 부분 하나를 찾는다.
**Advanced Insight:**
반복 비용, 위험과 verification surface를 보고 투자 지점을 고른다.
**C++ Vision Bridge:**
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
**Demo Operation:**
N/A — 별도 Demo 없음. Case 1분은 transfer model 설명, Transition 4분은 S79 개인 Reflection으로 초점을 이동하는 cue다.
**Audience Interaction:**
선택지를 강사 주도로 비교한다. 청중에게 선택 발표, 투표, 실습, 제출을 요구하지 않는다.
**Transition:**
“마지막으로, 각자 업무에서 반복되는 마찰을 개인적으로 생각해 봅시다.” S79로 이동한다.
**Time Management:**
Case 1분 + Transition 4분 = 5분. Transition 동안 새 사례를 열지 않고 reflection handoff만 수행한다.
**Fallback:**
정적 5-option matrix를 사용한다. 특정 C++ toolchain이나 hardware 설명으로 확장하지 않는다.
**Validation Status:**
LOCAL REVIEW COMPLETE — five transfer options use equal visual weight; C++ example is labeled a pattern transfer. Target project applicability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S79 — 다음 작은 행동을 개인적으로 고른다
**Slide ID:**
S79
**Working Title:**
다음 작은 행동을 개인적으로 고른다
**ACT / Section:**
ACT 5 / 5B  FINAL REFLECTION
**Allocated Time:**
4 minutes
**Mode Split:**
Lecture 2분 + Reflection 2분
**Primary Message:**
반복해서 적는 설명, AI가 다시 찾는 Project 사실, 반복되는 실패에서 고칠 System layer 가운데 한 가지를 생각한다.
**Opening Question:**
“내가 AI와 개발하는 방식에서 다음에 바꿀 수 있는 것은 무엇인가?”
**Speaker Flow:**
1. (0:00–1:00) S78의 다섯 선택지는 순서가 아니라는 점을 짧게 회수한다.
2. (1:00–2:00) 화면의 질문 세 가지를 차례로 소개한다.
3. (2:00–4:00) 두 분 동안 개인적으로 생각할 시간을 둔다. 답, 기록, 발표, 제출을 요구하지 않는다.
**Evidence / Source:**
TEACHING_MODEL · 승인된 private reflection prompt. 개인 업무에 대한 새 관찰 근거는 수집하지 않는다.
**Claim Boundary:**
개인 Reflection이며 응답, 공유, written commitment 또는 실제 업무 변경을 요구하지 않는다.
**Beginner Explanation:**
반복되는 설명이나 Project 사실을 AI가 다시 찾는 지점부터 생각한다.
**Advanced Insight:**
같은 실패가 반복될 때 Prompt 밖의 어떤 System layer가 원인인지 떠올린다.
**C++ Vision Bridge:**
자신의 Vision 또는 개발 Repository에 같은 질문을 개인적으로 적용할 수 있다.
**Demo Operation:**
N/A — 별도 Demo 없음.
**Audience Interaction:**
공유하지 않는 개인 성찰로 진행한다. 응답을 받기 위해 기다리지 않는다. 2분 뒤 바로 S80으로 이동한다.
**Transition:**
“이제 질문을 받고, 마지막 공통 모델로 마무리하겠습니다.” S80으로 넘긴다.
**Time Management:**
Lecture 2분 + Reflection 2분 = 4분. Reflection은 2분에 종료하고 Q&amp;A와 섞지 않는다.
**Fallback:**
응답이나 기록이 없어도 문제 없이 진행한다. 질문이 끝나면 정해진 시간대로 종료한다.
**Validation Status:**
LOCAL REVIEW COMPLETE — private reflection boundary and no-response requirement are legible. Two-minute live pacing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S80 — Q&amp;A와 교육 마무리
**Slide ID:**
S80
**Working Title:**
Q&amp;A와 교육 마무리
**ACT / Section:**
ACT 5 / 5B  FINAL Q&amp;A / CLOSING
**Allocated Time:**
6 minutes
**Mode Split:**
Q&amp;A 4분 + Closing Transition 2분
**Primary Message:**
Goal, Judgment, Verification, Responsibility를 유지하면서 AI가 일할 환경과 Feedback을 설계한다.
**Opening Question:**
“남은 질문은 무엇인가?”
**Speaker Flow:**
1. (0:00–4:00) Q&amp;A를 진행한다. 질문이 없으면 준비된 FAQ 또는 개발 업무 적용 질문 “내 업무에서 먼저 살펴볼 layer는 무엇인가?”를 사용한다.
2. (4:00–6:00) Q&amp;A를 종료하고 마지막 model과 closing line을 보여준다.
3. 종료 cue: “AI를 더 많이 쓰기보다, AI가 잘 일할 환경을 설계합니다.”
**Evidence / Source:**
TEACHING_MODEL · BEAT-070–071. 새로운 Product claim이나 기술 개념은 추가하지 않는다.
**Claim Boundary:**
AI-Native Development의 course-specific framing으로 닫는다. 제품 기능, 자동화 수준 또는 모든 상황의 단일 처방을 주장하지 않는다.
**Beginner Explanation:**
AI 사용량 대신 내 일에 필요한 환경과 확인 기준을 기억한다.
**Advanced Insight:**
Goal, Judgment, Verification, Responsibility를 유지하며 System의 Feedback 경로를 설계한다.
**C++ Vision Bridge:**
N/A.
**Demo Operation:**
N/A — Q&amp;A와 closing visual만 사용한다.
**Audience Interaction:**
Q&amp;A 4분. 질문이 없으면 FAQ 또는 개발 업무 적용 질문 하나를 사용하며 새로운 강의 topic을 열지 않는다.
**Transition:**
2분 closing transition: Question → Task → Context → System → Feedback Loop를 회수하고 교육을 마친다.
**Time Management:**
Q&amp;A 4분 + Closing Transition 2분 = 6분. Q&amp;A는 4분에 마감하고 추가 질문을 이유로 시간을 늘리지 않는다.
**Fallback:**
질문이 없으면 준비된 FAQ 또는 “내 업무에서 먼저 살펴볼 layer는 무엇인가?”를 묻는다. 답이 없어도 closing visual로 바로 전환한다.
**Validation Status:**
LOCAL REVIEW COMPLETE — Q&amp;A fallback, 4+2 time split, closing statement, and final model are legible.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6428232"/>
            <a:ext cx="1095451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649224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FULL STORY RECAP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S73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시간의 Story를 한 장으로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지금 AI를 어떤 방식으로 사용하고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BEAT-060  ·  Course evolution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32104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 for an answer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34640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145536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64408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264408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Specify the task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148072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58968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77840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Provide relevant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knowledge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461504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772400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91272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891272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7918704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the working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74936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85832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EAF0F5"/>
          </a:solidFill>
          <a:ln w="15875">
            <a:solidFill>
              <a:srgbClr val="334B6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04704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0204704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0232136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Improve the system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feedback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261872" y="4361688"/>
            <a:ext cx="9646920" cy="749808"/>
          </a:xfrm>
          <a:prstGeom prst="roundRect">
            <a:avLst>
              <a:gd name="adj" fmla="val 731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481328" y="4553712"/>
            <a:ext cx="9217152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문제가 넓어질수록 필요한 Engineering 대응이 더해진다  ·  앞 단계는 남는다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5413248"/>
            <a:ext cx="9875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AI-Native Development는 다음 장에서 이 Story를 묶는 교육의 운영 모델로 회수한다.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PRIMARY DEMO EVOLUTION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S74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Repository가 문제에 대응해 진화했다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Repository는 어떤 문제를 만나며 바뀌었나?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NAMED GIT STATES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DEMO-12  ·  OBSERVED_PRODUCT  ·  STATE-00 → STATE-04-PERF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7824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510" dirty="0"/>
          </a:p>
        </p:txBody>
      </p:sp>
      <p:sp>
        <p:nvSpPr>
          <p:cNvPr id="13" name="Shape 11"/>
          <p:cNvSpPr/>
          <p:nvPr/>
        </p:nvSpPr>
        <p:spPr>
          <a:xfrm>
            <a:off x="2217420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77440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</a:t>
            </a:r>
            <a:endParaRPr lang="en-US" sz="13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</a:t>
            </a:r>
            <a:endParaRPr lang="en-US" sz="1360" dirty="0"/>
          </a:p>
        </p:txBody>
      </p:sp>
      <p:sp>
        <p:nvSpPr>
          <p:cNvPr id="16" name="Text 14"/>
          <p:cNvSpPr txBox="1"/>
          <p:nvPr/>
        </p:nvSpPr>
        <p:spPr>
          <a:xfrm>
            <a:off x="2450592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fix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verified</a:t>
            </a:r>
            <a:endParaRPr lang="en-US" sz="1510" dirty="0"/>
          </a:p>
        </p:txBody>
      </p:sp>
      <p:sp>
        <p:nvSpPr>
          <p:cNvPr id="17" name="Shape 15"/>
          <p:cNvSpPr/>
          <p:nvPr/>
        </p:nvSpPr>
        <p:spPr>
          <a:xfrm>
            <a:off x="3790188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50208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23360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33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instructions</a:t>
            </a:r>
            <a:endParaRPr lang="en-US" sz="1510" dirty="0"/>
          </a:p>
        </p:txBody>
      </p:sp>
      <p:sp>
        <p:nvSpPr>
          <p:cNvPr id="21" name="Shape 19"/>
          <p:cNvSpPr/>
          <p:nvPr/>
        </p:nvSpPr>
        <p:spPr>
          <a:xfrm>
            <a:off x="5362956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22976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96128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1510" dirty="0"/>
          </a:p>
        </p:txBody>
      </p:sp>
      <p:sp>
        <p:nvSpPr>
          <p:cNvPr id="25" name="Shape 23"/>
          <p:cNvSpPr/>
          <p:nvPr/>
        </p:nvSpPr>
        <p:spPr>
          <a:xfrm>
            <a:off x="6935724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68896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330" dirty="0"/>
          </a:p>
        </p:txBody>
      </p:sp>
      <p:sp>
        <p:nvSpPr>
          <p:cNvPr id="28" name="Text 26"/>
          <p:cNvSpPr txBox="1"/>
          <p:nvPr/>
        </p:nvSpPr>
        <p:spPr>
          <a:xfrm>
            <a:off x="7168896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Structured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1510" dirty="0"/>
          </a:p>
        </p:txBody>
      </p:sp>
      <p:sp>
        <p:nvSpPr>
          <p:cNvPr id="29" name="Shape 27"/>
          <p:cNvSpPr/>
          <p:nvPr/>
        </p:nvSpPr>
        <p:spPr>
          <a:xfrm>
            <a:off x="8508492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668512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41664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</a:t>
            </a:r>
            <a:endParaRPr lang="en-US" sz="1330" dirty="0"/>
          </a:p>
        </p:txBody>
      </p:sp>
      <p:sp>
        <p:nvSpPr>
          <p:cNvPr id="32" name="Text 30"/>
          <p:cNvSpPr txBox="1"/>
          <p:nvPr/>
        </p:nvSpPr>
        <p:spPr>
          <a:xfrm>
            <a:off x="8741664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510" dirty="0"/>
          </a:p>
        </p:txBody>
      </p:sp>
      <p:sp>
        <p:nvSpPr>
          <p:cNvPr id="33" name="Shape 31"/>
          <p:cNvSpPr/>
          <p:nvPr/>
        </p:nvSpPr>
        <p:spPr>
          <a:xfrm>
            <a:off x="10081260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241280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E7F2EC"/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314432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</a:t>
            </a:r>
            <a:endParaRPr lang="en-US" sz="13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</a:t>
            </a:r>
            <a:endParaRPr lang="en-US" sz="1360" dirty="0"/>
          </a:p>
        </p:txBody>
      </p:sp>
      <p:sp>
        <p:nvSpPr>
          <p:cNvPr id="36" name="Text 34"/>
          <p:cNvSpPr txBox="1"/>
          <p:nvPr/>
        </p:nvSpPr>
        <p:spPr>
          <a:xfrm>
            <a:off x="10314432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Bounded product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success</a:t>
            </a:r>
            <a:endParaRPr lang="en-US" sz="1510" dirty="0"/>
          </a:p>
        </p:txBody>
      </p:sp>
      <p:sp>
        <p:nvSpPr>
          <p:cNvPr id="37" name="Text 35"/>
          <p:cNvSpPr txBox="1"/>
          <p:nvPr/>
        </p:nvSpPr>
        <p:spPr>
          <a:xfrm>
            <a:off x="905256" y="4087368"/>
            <a:ext cx="3383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PATH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905256" y="4416552"/>
            <a:ext cx="7772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 대응한 기록된 변화  ·  기능 성숙도 점수가 아님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05256" y="4928616"/>
            <a:ext cx="10314432" cy="0"/>
          </a:xfrm>
          <a:prstGeom prst="line">
            <a:avLst/>
          </a:prstGeom>
          <a:noFill/>
          <a:ln w="11430">
            <a:solidFill>
              <a:srgbClr val="C7D0DA"/>
            </a:solidFill>
            <a:prstDash val="solid"/>
            <a:tailEnd type="none"/>
          </a:ln>
        </p:spPr>
      </p:sp>
      <p:sp>
        <p:nvSpPr>
          <p:cNvPr id="40" name="Text 38"/>
          <p:cNvSpPr txBox="1"/>
          <p:nvPr/>
        </p:nvSpPr>
        <p:spPr>
          <a:xfrm>
            <a:off x="914400" y="5184648"/>
            <a:ext cx="10241280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preparation commits = supporting history, not named States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MINIMUM EFFECTIVE HARNESS CALLBACK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S75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필요성이 입증되지 않은 것은 보류했다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현재 Demo의 최종 그림에 Subagent와 Memory가 없을까?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+  COURSE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  ·  DEC-0018  ·  bounded rationale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32688" y="1975104"/>
            <a:ext cx="5559552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3970">
            <a:solidFill>
              <a:srgbClr val="176B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084832"/>
            <a:ext cx="52669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USED IN THIS BOUNDED TASK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633472"/>
            <a:ext cx="5266944" cy="1673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   ·   Project Context + routing</a:t>
            </a:r>
            <a:endParaRPr lang="en-US" sz="17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Skill / workflow</a:t>
            </a:r>
            <a:endParaRPr lang="en-US" sz="17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 + benchmark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6903720" y="1975104"/>
            <a:ext cx="4315968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50024" y="2084832"/>
            <a:ext cx="40233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JUSTIFIED YET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50024" y="2688336"/>
            <a:ext cx="4023360" cy="1618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</a:t>
            </a:r>
            <a:endParaRPr lang="en-US" sz="2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709160"/>
            <a:ext cx="48463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More features  ≠  More mature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4709160"/>
            <a:ext cx="52120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Less is always better  ≠  기준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3035808" y="5257800"/>
            <a:ext cx="6144768" cy="475488"/>
          </a:xfrm>
          <a:prstGeom prst="roundRect">
            <a:avLst>
              <a:gd name="adj" fmla="val 11538"/>
            </a:avLst>
          </a:prstGeom>
          <a:solidFill>
            <a:srgbClr val="E7F1F2"/>
          </a:solidFill>
          <a:ln w="11430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5340096"/>
            <a:ext cx="581558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WHAT THE PROBLEM JUSTIFIES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DEVELOPER RESPONSIBILITY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S76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위임이 늘어도 개발자 책임은 남는다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더 많은 일을 맡아도 개발자가 계속 책임지는 것은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DEVELOPER RESPONSIBILITY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BEAT-061–062  ·  developer responsibility teaching model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947672"/>
            <a:ext cx="459028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CAN SUPPORT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947672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DEVELOPER KEEPS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8755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070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6207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3522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3659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974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920240" y="3127248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93392" y="3140964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794760" y="3127248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67912" y="3140964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989320" y="2487168"/>
            <a:ext cx="0" cy="1307592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6519672" y="2395728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11112" y="2496312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611112" y="2770632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달성할까?</a:t>
            </a:r>
            <a:endParaRPr lang="en-US" sz="1430" dirty="0"/>
          </a:p>
        </p:txBody>
      </p:sp>
      <p:sp>
        <p:nvSpPr>
          <p:cNvPr id="26" name="Shape 24"/>
          <p:cNvSpPr/>
          <p:nvPr/>
        </p:nvSpPr>
        <p:spPr>
          <a:xfrm>
            <a:off x="8887968" y="2395728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79408" y="2496312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JUDGMENT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770632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제약이 중요할까?</a:t>
            </a:r>
            <a:endParaRPr lang="en-US" sz="1430" dirty="0"/>
          </a:p>
        </p:txBody>
      </p:sp>
      <p:sp>
        <p:nvSpPr>
          <p:cNvPr id="29" name="Shape 27"/>
          <p:cNvSpPr/>
          <p:nvPr/>
        </p:nvSpPr>
        <p:spPr>
          <a:xfrm>
            <a:off x="6519672" y="3419856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11112" y="3520440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6611112" y="3794760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신뢰할 수 있을까?</a:t>
            </a:r>
            <a:endParaRPr lang="en-US" sz="1430" dirty="0"/>
          </a:p>
        </p:txBody>
      </p:sp>
      <p:sp>
        <p:nvSpPr>
          <p:cNvPr id="32" name="Shape 30"/>
          <p:cNvSpPr/>
          <p:nvPr/>
        </p:nvSpPr>
        <p:spPr>
          <a:xfrm>
            <a:off x="8887968" y="3419856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79408" y="3520440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RESPONSIBILITY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3794760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완료인가?</a:t>
            </a:r>
            <a:endParaRPr lang="en-US" sz="14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책임은 누구에게?</a:t>
            </a:r>
            <a:endParaRPr lang="en-US" sz="143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" y="4919472"/>
            <a:ext cx="100584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절대 분업표가 아니다  ·  결과의 목표·판단·완료·책임은 개발자에게 남는다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AI-NATIVE DEVELOPMENT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S77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AI-Native Development는 이 교육의 운영 모델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일을 많이 맡기면 AI-Native일까?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DEC-0023  ·  course operational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32688" y="2304288"/>
            <a:ext cx="2267712" cy="1901952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414016"/>
            <a:ext cx="197510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USE VOLUME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990088"/>
            <a:ext cx="1975104" cy="11064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일을 많이 맡기는 것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자체가 정의는 아님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1956816"/>
            <a:ext cx="74523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교육의 Operational Model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3419856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93008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93008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Boundary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878324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010912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84064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084064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69380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601968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75120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060436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93024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66176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266176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651492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784080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57232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857232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3401568" y="4315968"/>
            <a:ext cx="8366760" cy="694944"/>
          </a:xfrm>
          <a:prstGeom prst="roundRect">
            <a:avLst>
              <a:gd name="adj" fmla="val 789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84448" y="4507992"/>
            <a:ext cx="80010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 ·  JUDGMENT  ·  VERIFICATION  ·  RESPONSIBILITY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5321808"/>
            <a:ext cx="1014984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6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Course-specific framing  ·  공식·보편 업계 표준 정의가 아님  ·  모든 task에 모든 component가 필요한 것도 아님</a:t>
            </a:r>
            <a:endParaRPr lang="en-US" sz="1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C++ VISION / MY REPOSITORY TRANSFER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S78  ·  5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Layer에서 마찰이 반복되는가?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Repository에서 다음 주에 하나만 바꾼다면?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TRANSFER MODEL  ·  C++ VISION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334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BEAT-068–069  ·  C++ Vision transfer teaching model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941832" y="1938528"/>
            <a:ext cx="102412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FIVE EQUAL OPTIONS  ·  현재 반복 마찰에 가장 가까운 곳부터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77824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SPECIFICATION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병목을 조사할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3154680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46120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60" dirty="0"/>
          </a:p>
        </p:txBody>
      </p:sp>
      <p:sp>
        <p:nvSpPr>
          <p:cNvPr id="16" name="Text 14"/>
          <p:cNvSpPr txBox="1"/>
          <p:nvPr/>
        </p:nvSpPr>
        <p:spPr>
          <a:xfrm>
            <a:off x="3264408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mode · contract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hardware assumptions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31536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22976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560" dirty="0"/>
          </a:p>
        </p:txBody>
      </p:sp>
      <p:sp>
        <p:nvSpPr>
          <p:cNvPr id="19" name="Text 17"/>
          <p:cNvSpPr txBox="1"/>
          <p:nvPr/>
        </p:nvSpPr>
        <p:spPr>
          <a:xfrm>
            <a:off x="5541264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profile → change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benchmark → regression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7708392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99832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56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benchmark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9985248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76688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LOOP</a:t>
            </a:r>
            <a:endParaRPr lang="en-US" sz="1560" dirty="0"/>
          </a:p>
        </p:txBody>
      </p:sp>
      <p:sp>
        <p:nvSpPr>
          <p:cNvPr id="25" name="Text 23"/>
          <p:cNvSpPr txBox="1"/>
          <p:nvPr/>
        </p:nvSpPr>
        <p:spPr>
          <a:xfrm>
            <a:off x="10094976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이슈를 보고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System 수정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855464"/>
            <a:ext cx="1033272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업무에서 먼저 검토할 하나를 마음속으로 고르고, 다음 장의 개인 Reflection으로 이어간다.</a:t>
            </a:r>
            <a:endParaRPr lang="en-US" sz="172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41324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7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예시는 pattern transfer이며 특정 C++ Repository의 검증된 절차가 아니다.</a:t>
            </a:r>
            <a:endParaRPr lang="en-US" sz="14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FINAL REFLECTION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S79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작은 행동을 개인적으로 고른다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AI와 개발하는 방식에서 다음에 바꿀 수 있는 것은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PRIVATE REFLECTION  ·  NO RESPONSE REQUIRED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334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BEAT-070–071  ·  private reflection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1078992" y="2148840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98448" y="2331720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029968" y="2276856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반복해서 적는 것은 무엇인가?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78992" y="3081528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98448" y="3264408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029968" y="3209544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반복해서 다시 찾는 Project 사실은 무엇인가?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078992" y="4014216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98448" y="4197096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029968" y="4142232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실패가 반복되면 어디를 고칠 것인가?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175504"/>
            <a:ext cx="101041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동안 개인적으로 생각한다  ·  기록·발표·제출을 요구하지 않는다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FINAL Q&amp;A / CLOSING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S80  ·  6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Q&amp;A와 교육 마무리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질문은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·  CLOSING TRANSITION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BEAT-070–071  ·  Closing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41832" y="2084832"/>
            <a:ext cx="4800600" cy="2322576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88136" y="2194560"/>
            <a:ext cx="450799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·  4 MIN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88136" y="2779776"/>
            <a:ext cx="4507992" cy="1517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질문을 받는다.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없으면 FAQ 또는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업무 적용 질문으로 진행.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19088" y="2084832"/>
            <a:ext cx="4800600" cy="2322576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65392" y="2194560"/>
            <a:ext cx="450799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TRANSITION  ·  2 MIN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2871216"/>
            <a:ext cx="4507992" cy="1426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더 많이 쓰기보다,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잘 일할 환경을 설계한다.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32688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Question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2912364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54680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09544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5134356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76672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31536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7356348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598664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53528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9578340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820656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75520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 Loop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1463040" y="5596128"/>
            <a:ext cx="9144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 ·  JUDGMENT  ·  VERIFICATION  ·  RESPONSIBILITY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Internal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Developer Training — ACT 5</dc:title>
  <dc:subject>ACT 5 production, S73-S80</dc:subject>
  <dc:creator>AI Dev Training</dc:creator>
  <cp:lastModifiedBy>AI Dev Training</cp:lastModifiedBy>
  <cp:revision>1</cp:revision>
  <dcterms:created xsi:type="dcterms:W3CDTF">2026-10-13T11:59:11Z</dcterms:created>
  <dcterms:modified xsi:type="dcterms:W3CDTF">2026-10-13T11:59:11Z</dcterms:modified>
</cp:coreProperties>
</file>