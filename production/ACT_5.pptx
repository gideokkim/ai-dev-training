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bdc394cf94f26" /><Relationship Type="http://schemas.openxmlformats.org/officeDocument/2006/relationships/extended-properties" Target="/docProps/app.xml" Id="Rbc4e85c820c24df1" /><Relationship Type="http://schemas.openxmlformats.org/officeDocument/2006/relationships/officeDocument" Target="/ppt/presentation.xml" Id="Rb93bf1aea77b42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b8e5469fba425c"/>
  </p:sldMasterIdLst>
  <p:notesMasterIdLst>
    <p:notesMasterId xmlns:r="http://schemas.openxmlformats.org/officeDocument/2006/relationships" r:id="R820b6b4da15d42b1"/>
  </p:notesMasterIdLst>
  <p:sldIdLst>
    <p:sldId xmlns:r="http://schemas.openxmlformats.org/officeDocument/2006/relationships" id="256" r:id="R11a145d5a8904e11"/>
    <p:sldId xmlns:r="http://schemas.openxmlformats.org/officeDocument/2006/relationships" id="257" r:id="Rddc7e5815c114cbd"/>
    <p:sldId xmlns:r="http://schemas.openxmlformats.org/officeDocument/2006/relationships" id="258" r:id="Rcf61a088eadc4d88"/>
    <p:sldId xmlns:r="http://schemas.openxmlformats.org/officeDocument/2006/relationships" id="259" r:id="R825b6d22b9fc4bf9"/>
    <p:sldId xmlns:r="http://schemas.openxmlformats.org/officeDocument/2006/relationships" id="260" r:id="Rbf51bf8b0e1a458a"/>
    <p:sldId xmlns:r="http://schemas.openxmlformats.org/officeDocument/2006/relationships" id="261" r:id="R03a34d48defe4d67"/>
    <p:sldId xmlns:r="http://schemas.openxmlformats.org/officeDocument/2006/relationships" id="262" r:id="Ra787c97a40ef4cf5"/>
    <p:sldId xmlns:r="http://schemas.openxmlformats.org/officeDocument/2006/relationships" id="263" r:id="Rb9b6021a1a7147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427c5aa5c042d6" /><Relationship Type="http://schemas.openxmlformats.org/officeDocument/2006/relationships/slideMaster" Target="/ppt/slideMasters/slideMaster1.xml" Id="R3bb8e5469fba425c" /><Relationship Type="http://schemas.openxmlformats.org/officeDocument/2006/relationships/notesMaster" Target="/ppt/notesMasters/notesMaster1.xml" Id="R820b6b4da15d42b1" /><Relationship Type="http://schemas.openxmlformats.org/officeDocument/2006/relationships/presProps" Target="/ppt/presProps.xml" Id="R6237a8b025c0405a" /><Relationship Type="http://schemas.openxmlformats.org/officeDocument/2006/relationships/tableStyles" Target="/ppt/tableStyles.xml" Id="Rc459beba38034652" /><Relationship Type="http://schemas.openxmlformats.org/officeDocument/2006/relationships/slide" Target="/ppt/slides/slide1.xml" Id="R11a145d5a8904e11" /><Relationship Type="http://schemas.openxmlformats.org/officeDocument/2006/relationships/slide" Target="/ppt/slides/slide2.xml" Id="Rddc7e5815c114cbd" /><Relationship Type="http://schemas.openxmlformats.org/officeDocument/2006/relationships/slide" Target="/ppt/slides/slide3.xml" Id="Rcf61a088eadc4d88" /><Relationship Type="http://schemas.openxmlformats.org/officeDocument/2006/relationships/slide" Target="/ppt/slides/slide4.xml" Id="R825b6d22b9fc4bf9" /><Relationship Type="http://schemas.openxmlformats.org/officeDocument/2006/relationships/slide" Target="/ppt/slides/slide5.xml" Id="Rbf51bf8b0e1a458a" /><Relationship Type="http://schemas.openxmlformats.org/officeDocument/2006/relationships/slide" Target="/ppt/slides/slide6.xml" Id="R03a34d48defe4d67" /><Relationship Type="http://schemas.openxmlformats.org/officeDocument/2006/relationships/slide" Target="/ppt/slides/slide7.xml" Id="Ra787c97a40ef4cf5" /><Relationship Type="http://schemas.openxmlformats.org/officeDocument/2006/relationships/slide" Target="/ppt/slides/slide8.xml" Id="Rb9b6021a1a7147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8ffd29341440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ff0f96e1f142aa" /><Relationship Type="http://schemas.openxmlformats.org/officeDocument/2006/relationships/notesMaster" Target="/ppt/notesMasters/notesMaster1.xml" Id="Rcafaa0aa757245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e70771ba0a445a" /><Relationship Type="http://schemas.openxmlformats.org/officeDocument/2006/relationships/notesMaster" Target="/ppt/notesMasters/notesMaster1.xml" Id="R75a4989bbf434c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eb0884beff4ab5" /><Relationship Type="http://schemas.openxmlformats.org/officeDocument/2006/relationships/notesMaster" Target="/ppt/notesMasters/notesMaster1.xml" Id="R988fb687680645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89cd78ca7c4230" /><Relationship Type="http://schemas.openxmlformats.org/officeDocument/2006/relationships/notesMaster" Target="/ppt/notesMasters/notesMaster1.xml" Id="R40d53331dea8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51546bc7f42a7" /><Relationship Type="http://schemas.openxmlformats.org/officeDocument/2006/relationships/notesMaster" Target="/ppt/notesMasters/notesMaster1.xml" Id="Ra266a3ed04954c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732249d2384460" /><Relationship Type="http://schemas.openxmlformats.org/officeDocument/2006/relationships/notesMaster" Target="/ppt/notesMasters/notesMaster1.xml" Id="Re7c51cf2e3844a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87d274e05f429a" /><Relationship Type="http://schemas.openxmlformats.org/officeDocument/2006/relationships/notesMaster" Target="/ppt/notesMasters/notesMaster1.xml" Id="Rec17370c3c6d48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0b1d7a15f44dc1" /><Relationship Type="http://schemas.openxmlformats.org/officeDocument/2006/relationships/notesMaster" Target="/ppt/notesMasters/notesMaster1.xml" Id="Rfc92724264914e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S86 — 문제에 맞춰, 일하는 방식을 넓혔다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**Slide ID:**</a:t>
            </a:r>
          </a:p>
          <a:p xmlns:a="http://schemas.openxmlformats.org/drawingml/2006/main">
            <a:r>
              <a:t>S86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**Working Title:**</a:t>
            </a:r>
          </a:p>
          <a:p xmlns:a="http://schemas.openxmlformats.org/drawingml/2006/main">
            <a:r>
              <a:t>문제에 맞춰, 일하는 방식을 넓혔다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**ACT / Section:**</a:t>
            </a:r>
          </a:p>
          <a:p xmlns:a="http://schemas.openxmlformats.org/drawingml/2006/main">
            <a:r>
              <a:t>ACT 5 / 5A  FULL STORY RECAP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**Allocated Time:**</a:t>
            </a:r>
          </a:p>
          <a:p xmlns:a="http://schemas.openxmlformats.org/drawingml/2006/main">
            <a:r>
              <a:t>4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**Mode Split:**</a:t>
            </a:r>
          </a:p>
          <a:p xmlns:a="http://schemas.openxmlformats.org/drawingml/2006/main">
            <a:r>
              <a:t>Lecture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**Primary Message:**</a:t>
            </a:r>
          </a:p>
          <a:p xmlns:a="http://schemas.openxmlformats.org/drawingml/2006/main">
            <a:r>
              <a:t>답을 구하던 출발점에서 요청의 모호함, 프로젝트 설명 반복, 수행 절차 반복, 조건 변화에 대응하며 Prompt·Context·Harness·Loop를 필요에 따라 더했다. 앞의 방식이 사라지는 필수 성숙도 순서가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**Opening Question:**</a:t>
            </a:r>
          </a:p>
          <a:p xmlns:a="http://schemas.openxmlformats.org/drawingml/2006/main">
            <a:r>
              <a:t>“어떤 문제 때문에 다음 대응이 필요했을까요?”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**Speaker Flow:**</a:t>
            </a:r>
          </a:p>
          <a:p xmlns:a="http://schemas.openxmlformats.org/drawingml/2006/main">
            <a:r>
              <a:t>1. (0:00–0:30 / Lecture) S85가 닫은 검증 조건·유지 판단에서 전체 여정으로 시야를 넓힌다. 이번 장은 학습자 수준 평가나 새 성찰 시간이 아니라 문제와 대응의 회수다.</a:t>
            </a:r>
          </a:p>
          <a:p xmlns:a="http://schemas.openxmlformats.org/drawingml/2006/main">
            <a:r>
              <a:t>2. (0:30–2:45 / Lecture) 다섯 열을 왼쪽부터 읽는다. Chatbot은 답을 구하던 출발점, 요청이 모호하면 이번 작업 구체화, 설명을 반복하면 프로젝트 지식 출처, 절차를 반복하면 일하는 환경, 조건이 달라지면 근거를 확인한 시스템 개선이다. 이미 다룬 문제만 한 문장씩 회수한다.</a:t>
            </a:r>
          </a:p>
          <a:p xmlns:a="http://schemas.openxmlformats.org/drawingml/2006/main">
            <a:r>
              <a:t>3. (2:45–4:00 / Lecture) 필요한 대응이 더해졌고 모든 프로젝트가 같은 순서로 이동하거나 모든 구성요소를 도입할 필요는 없다고 한정한다. 다음 S87은 이 전체 모델 가운데 실제 Product 이력만 별도로 회수한다.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 / Source:**</a:t>
            </a:r>
          </a:p>
          <a:p xmlns:a="http://schemas.openxmlformats.org/drawingml/2006/main">
            <a:r>
              <a:t>TEACHING_MODEL · BEAT-060 · 앞선 ACT의 Story callback. 새 Demo는 실행하지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**Claim Boundary:**</a:t>
            </a:r>
          </a:p>
          <a:p xmlns:a="http://schemas.openxmlformats.org/drawingml/2006/main">
            <a:r>
              <a:t>이 교육의 문제-driven 진화 모델이다. 각 단계는 앞 단계를 대체하거나 모든 개발자가 같은 maturity 순서로 이동해야 한다는 뜻이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**Beginner Explanation:**</a:t>
            </a:r>
          </a:p>
          <a:p xmlns:a="http://schemas.openxmlformats.org/drawingml/2006/main">
            <a:r>
              <a:t>외워야 할 단계보다, 지금 겪는 문제가 어떤 대응을 필요하게 하는지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**Advanced Insight:**</a:t>
            </a:r>
          </a:p>
          <a:p xmlns:a="http://schemas.openxmlformats.org/drawingml/2006/main">
            <a:r>
              <a:t>문제 범위에 맞춘 대응과 고정된 기능 성숙도 평가를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**C++ Vision Bridge:**</a:t>
            </a:r>
          </a:p>
          <a:p xmlns:a="http://schemas.openxmlformats.org/drawingml/2006/main">
            <a:r>
              <a:t>기존 Vision 사례를 선택적으로 회상할 수 있다. 새 C++ 기술 사례는 추가하지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 Operation:**</a:t>
            </a:r>
          </a:p>
          <a:p xmlns:a="http://schemas.openxmlformats.org/drawingml/2006/main">
            <a:r>
              <a:t>위의 문제 단서→가운데 다섯 방식→아래 행동을 열별로 읽는다. 화살표는 교육 Story의 진행이며 강제 도입 순서·측정된 인과 관계가 아니다. 새 Demo나 State를 추가하지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**Audience Interaction:**</a:t>
            </a:r>
          </a:p>
          <a:p xmlns:a="http://schemas.openxmlformats.org/drawingml/2006/main">
            <a:r>
              <a:t>앞선 사례를 회상하게 하되 현재 수준 발표·투표·응답은 요구하지 않는다. 다음 행동의 개인 선택은 S91/S92에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**Transition:**</a:t>
            </a:r>
          </a:p>
          <a:p xmlns:a="http://schemas.openxmlformats.org/drawingml/2006/main">
            <a:r>
              <a:t>“전체 교육 모델 중, 제품 저장소에서 실제로 확인한 변화만 다시 보겠습니다.”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**Time Management:**</a:t>
            </a:r>
          </a:p>
          <a:p xmlns:a="http://schemas.openxmlformats.org/drawingml/2006/main">
            <a:r>
              <a:t>Lecture4분. 다섯 문제·대응을 짧게 회수하고 각 ACT를 다시 강의하지 않는다. State 이력·구성 선택·책임·다음 행동은 뒤 장에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**Fallback:**</a:t>
            </a:r>
          </a:p>
          <a:p xmlns:a="http://schemas.openxmlformats.org/drawingml/2006/main">
            <a:r>
              <a:t>LOCAL STATIC ARTIFACT — production/ACT_5.pptx의 S86와 production/preview/act5/S86.png를 사용한다. 새 실행·원본 실행 캡처로 표현하지 않는다. 현재 화면과 Notes 검토는 production/evaluation/ACT_5_FLOW_REVISION.md에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**Validation Status:**</a:t>
            </a:r>
          </a:p>
          <a:p xmlns:a="http://schemas.openxmlformats.org/drawingml/2006/main">
            <a:r>
              <a:t>LOCAL CONTENT REVIEW COMPLETE — DEC-0082. 최종 패키지/PNG/내장 Notes 대조 결과는 production/evaluation/ACT_5_FLOW_REVISION.md와 ACT_5_FLOW_VALIDATION.json에 별도 기록한다. Windows PowerPoint, 발표 PC 글꼴, 제품·계정·교육장·실측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S87 — 실제 Demo는 문제에 맞춰 바뀌었다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**Slide ID:**</a:t>
            </a:r>
          </a:p>
          <a:p xmlns:a="http://schemas.openxmlformats.org/drawingml/2006/main">
            <a:r>
              <a:t>S87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**Working Title:**</a:t>
            </a:r>
          </a:p>
          <a:p xmlns:a="http://schemas.openxmlformats.org/drawingml/2006/main">
            <a:r>
              <a:t>실제 Demo는 문제에 맞춰 바뀌었다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**ACT / Section:**</a:t>
            </a:r>
          </a:p>
          <a:p xmlns:a="http://schemas.openxmlformats.org/drawingml/2006/main">
            <a:r>
              <a:t>ACT 5 / 5A  PRIMARY DEMO EVOLUTION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**Allocated Time:**</a:t>
            </a:r>
          </a:p>
          <a:p xmlns:a="http://schemas.openxmlformats.org/drawingml/2006/main">
            <a:r>
              <a:t>3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**Mode Split:**</a:t>
            </a:r>
          </a:p>
          <a:p xmlns:a="http://schemas.openxmlformats.org/drawingml/2006/main">
            <a:r>
              <a:t>Lecture 1분 + Demo 2분 (VISUAL)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**Primary Message:**</a:t>
            </a:r>
          </a:p>
          <a:p xmlns:a="http://schemas.openxmlformats.org/drawingml/2006/main">
            <a:r>
              <a:t>실제 제품 변경을 crop 경계 수정, 프로젝트 지침·상세 문서 정리, 재사용 Skill·검증의 세 시간순 묶음으로 회고한다. 일곱 Git State는 모두 유지하며 Loop의 가상 사례·실제 제작 기록은 Product 이력에 합치지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**Opening Question:**</a:t>
            </a:r>
          </a:p>
          <a:p xmlns:a="http://schemas.openxmlformats.org/drawingml/2006/main">
            <a:r>
              <a:t>“실제 Demo 제품은 어떤 문제에 대응해 바뀌었을까요?”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**Speaker Flow:**</a:t>
            </a:r>
          </a:p>
          <a:p xmlns:a="http://schemas.openxmlformats.org/drawingml/2006/main">
            <a:r>
              <a:t>1. (0:00–1:00 / Lecture) 상단의 제품 저장소에서 확인한 변화만이라는 범위를 읽는다. 왼쪽 문제와 오른쪽 변경을 위에서 아래로 세 묶음으로 연결한다. 세 묶음은 새 Git State가 아니라 일곱 기존 State를 읽기 쉽게 모은 설명이다.</a:t>
            </a:r>
          </a:p>
          <a:p xmlns:a="http://schemas.openxmlformats.org/drawingml/2006/main">
            <a:r>
              <a:t>2. (1:00–2:30 / VISUAL Demo) 첫째 crop 경계 오류를 끝 좌표 제외 명세에 맞게 고쳤다(STATE-00→STATE-00-FIXED, TRIAL-002/S18). 둘째 지침의 반복·증가를 기본 안내와 상세 문서로 정리했다(STATE-01→STATE-02→STATE-03, TRIAL-003/004/005A/B 및 S43). 셋째 반복 절차를 Skill로 재사용하고 밝기 통계 제품 변경을 검증했다(STATE-04→STATE-04-PERF, TRIAL-008/S58). 각 변화와 문제의 연결만 회수하고 수치·전체 코드·개별 Trial을 다시 읽지 않는다.</a:t>
            </a:r>
          </a:p>
          <a:p xmlns:a="http://schemas.openxmlformats.org/drawingml/2006/main">
            <a:r>
              <a:t>3. (2:30–3:00 / VISUAL Demo) Product endpoint는 STATE-04-PERF다. Loop는 앞 ACT에서 분리한 가상 지침 사례와 실제 교육 제작의 평가·보고 기록에서 보았다. 새 Product State나 성공한 Product Loop를 덧붙이지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 / Source:**</a:t>
            </a:r>
          </a:p>
          <a:p xmlns:a="http://schemas.openxmlformats.org/drawingml/2006/main">
            <a:r>
              <a:t>OBSERVED_PRODUCT · DEMO-12 · ai-dev-training-demo의 named Git State/tag 이력. 전체 순서는 STATE-00→STATE-00-FIXED→STATE-01→STATE-02→STATE-03→STATE-04→STATE-04-PERF다. crop 수정은 TRIAL-002/S18, 지침·문서 재구성은 TRIAL-003/004/005A/B 및 S43, Skill과 제품 성능 검증은 TRIAL-008·STATE-04-PERF/S58에 연결한다. 화면은 기록을 요약한 Native 도식이며 실행 Screenshot이 아니다.</a:t>
            </a:r>
          </a:p>
          <a:p xmlns:a="http://schemas.openxmlformats.org/drawingml/2006/main">
            <a:r>
              <a:t>이전 화면의 세 발표자료 발췌는 가독성 때문에 현재 화면에서 내렸다. 원본·provenance는 assets/slide-illustrations/recap/S16-source.png, S32-source.png, S47-source.png 및 ASSET_MANIFEST.json에 보존한다. 최초80장판 파일명이며 현재 대응은 S18/S43/S58다. 해당 그림은 원본 실행 화면이 아닌 당시 발표자료 발췌였다.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**Claim Boundary:**</a:t>
            </a:r>
          </a:p>
          <a:p xmlns:a="http://schemas.openxmlformats.org/drawingml/2006/main">
            <a:r>
              <a:t>기록된 State와 Demo evidence 범위에 한정한다. Benchmark preparation commits는 supporting history이며 별도 State가 아니다. Subagent, Memory, stale Harness 또는 Loop를 Product State로 표시하지 않는다. 화면의 세 묶음은 기존 일곱 State의 시간순 요약이며 새 State·실행 캡처가 아니다. Routing 우월성·토큰 절감을 주장하지 않고 성능은 tracemalloc 피크와 해당 코드·입력·환경의 결과로 한정하며 RSS·Harness 단독 인과성으로 확대하지 않는다. 이전 세 발췌의 원본·provenance는 보존한다.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**Beginner Explanation:**</a:t>
            </a:r>
          </a:p>
          <a:p xmlns:a="http://schemas.openxmlformats.org/drawingml/2006/main">
            <a:r>
              <a:t>내부 State 이름을 외우지 않고, 실제 문제가 생겨 무엇을 바꿨는지 세 묶음으로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**Advanced Insight:**</a:t>
            </a:r>
          </a:p>
          <a:p xmlns:a="http://schemas.openxmlformats.org/drawingml/2006/main">
            <a:r>
              <a:t>제품 변경 이력과 교육 모델·가상 사례·실제 Meta 이력의 범위를 나누고 bounded Product endpoint를 유지한다.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**C++ Vision Bridge:**</a:t>
            </a:r>
          </a:p>
          <a:p xmlns:a="http://schemas.openxmlformats.org/drawingml/2006/main">
            <a:r>
              <a:t>N/A.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 Operation:**</a:t>
            </a:r>
          </a:p>
          <a:p xmlns:a="http://schemas.openxmlformats.org/drawingml/2006/main">
            <a:r>
              <a:t>DEMO-12 · VISUAL2분. 왼쪽 문제→오른쪽 실제 변경을 세 행 위에서 아래로 읽는다. 각 행 아래 작은 글자는 실제 State 순서의 추적 식별자다. 새 실행·추가 State·가상 복구를 넣지 않는다. 이전 작은 PNG 발췌는 현재 화면에 없으므로 그림·코드·성능 수치를 가리키는 Cue를 사용하지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**Audience Interaction:**</a:t>
            </a:r>
          </a:p>
          <a:p xmlns:a="http://schemas.openxmlformats.org/drawingml/2006/main">
            <a:r>
              <a:t>실제 변경을 문제와 대응으로 함께 회상한다. State ID를 읽거나 성숙도 점수를 답하게 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**Transition:**</a:t>
            </a:r>
          </a:p>
          <a:p xmlns:a="http://schemas.openxmlformats.org/drawingml/2006/main">
            <a:r>
              <a:t>“이 실제 작업에서 Subagent와 Memory는 왜 추가하지 않았을까요?”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**Time Management:**</a:t>
            </a:r>
          </a:p>
          <a:p xmlns:a="http://schemas.openxmlformats.org/drawingml/2006/main">
            <a:r>
              <a:t>Lecture1분+VISUAL Demo2분=3분. 세 묶음은 새 학습 단계를 뜻하지 않는다. Loop 사례를 다시 열지 않고 제품 이력과 구별하는 한 문장만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**Fallback:**</a:t>
            </a:r>
          </a:p>
          <a:p xmlns:a="http://schemas.openxmlformats.org/drawingml/2006/main">
            <a:r>
              <a:t>LOCAL STATIC ARTIFACT — production/ACT_5.pptx의 S87와 production/preview/act5/S87.png를 사용한다. 새 실행·원본 실행 캡처로 표현하지 않는다. 현재 화면과 Notes 검토는 production/evaluation/ACT_5_FLOW_REVISION.md에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**Validation Status:**</a:t>
            </a:r>
          </a:p>
          <a:p xmlns:a="http://schemas.openxmlformats.org/drawingml/2006/main">
            <a:r>
              <a:t>LOCAL CONTENT REVIEW COMPLETE — DEC-0082. 최종 패키지/PNG/내장 Notes 대조 결과는 production/evaluation/ACT_5_FLOW_REVISION.md와 ACT_5_FLOW_VALIDATION.json에 별도 기록한다. Windows PowerPoint, 발표 PC 글꼴, 제품·계정·교육장·실측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S88 — 이번 문제에 필요한 구성만 선택했다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**Slide ID:**</a:t>
            </a:r>
          </a:p>
          <a:p xmlns:a="http://schemas.openxmlformats.org/drawingml/2006/main">
            <a:r>
              <a:t>S88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**Working Title:**</a:t>
            </a:r>
          </a:p>
          <a:p xmlns:a="http://schemas.openxmlformats.org/drawingml/2006/main">
            <a:r>
              <a:t>이번 문제에 필요한 구성만 선택했다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**ACT / Section:**</a:t>
            </a:r>
          </a:p>
          <a:p xmlns:a="http://schemas.openxmlformats.org/drawingml/2006/main">
            <a:r>
              <a:t>ACT 5 / 5A  MINIMUM EFFECTIVE HARNESS CALLBACK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**Allocated Time:**</a:t>
            </a:r>
          </a:p>
          <a:p xmlns:a="http://schemas.openxmlformats.org/drawingml/2006/main">
            <a:r>
              <a:t>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**Mode Split:**</a:t>
            </a:r>
          </a:p>
          <a:p xmlns:a="http://schemas.openxmlformats.org/drawingml/2006/main">
            <a:r>
              <a:t>Lecture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**Primary Message:**</a:t>
            </a:r>
          </a:p>
          <a:p xmlns:a="http://schemas.openxmlformats.org/drawingml/2006/main">
            <a:r>
              <a:t>현재 제품 작업은 Task Prompt·Context/routing·재사용 Skill·검증 도구를 썼다. 같은 코드의 의존 작업과 기존 지식 출처를 감사해 Subagent·별도 Memory를 보류했다. 이 선택은 비교 실험으로 우월성을 입증한 결과가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**Opening Question:**</a:t>
            </a:r>
          </a:p>
          <a:p xmlns:a="http://schemas.openxmlformats.org/drawingml/2006/main">
            <a:r>
              <a:t>“이 작업에서 각 구성요소가 필요했던 이유는 무엇일까요?”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**Speaker Flow:**</a:t>
            </a:r>
          </a:p>
          <a:p xmlns:a="http://schemas.openxmlformats.org/drawingml/2006/main">
            <a:r>
              <a:t>1. (0:00–0:30 / Lecture) S87의 실제 이력을 이어 받아 왼쪽 사용한 구성은 짧게만 회수한다. Task Prompt, Context와 Routing, 재사용 Skill, 테스트와 Benchmark다.</a:t>
            </a:r>
          </a:p>
          <a:p xmlns:a="http://schemas.openxmlformats.org/drawingml/2006/main">
            <a:r>
              <a:t>2. (0:30–1:20 / Lecture) 오른쪽 보류 이유를 읽는다. 밝기 통계의 조사→변경→검증은 같은 코드·출력 명세에 의존했고, 필요한 지식은 코드·문서·Skill·Trial 기록에 이미 있었다. DEC-0018과 기존 출처 감사의 당시 판단을 회수하며 Subagent/Memory 강의를 다시 열지 않는다.</a:t>
            </a:r>
          </a:p>
          <a:p xmlns:a="http://schemas.openxmlformats.org/drawingml/2006/main">
            <a:r>
              <a:t>3. (1:20–2:00 / Lecture) 현재 문제가 필요로 하는 만큼 설계한다는 기준을 남긴다. 미사용 자체가 더 빠르거나 정확하다는 측정 결과는 없다. 필요한 구성 선택 다음에도 결과의 수용 판단은 남는다고 S89로 넘긴다.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 / Source:**</a:t>
            </a:r>
          </a:p>
          <a:p xmlns:a="http://schemas.openxmlformats.org/drawingml/2006/main">
            <a:r>
              <a:t>OBSERVED_PRODUCT / TEACHING_MODEL · STATE-04-PERF와 DEC-0018. 사용한 요소: task Prompt, Project Context/routing, reusable Skill/workflow, Tests와 benchmark. 이번 bounded task에서 Subagent와 Memory는 사용되지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**Claim Boundary:**</a:t>
            </a:r>
          </a:p>
          <a:p xmlns:a="http://schemas.openxmlformats.org/drawingml/2006/main">
            <a:r>
              <a:t>이 Demo의 bounded 작업과 이 교육의 프로젝트별 heuristic이다. 모든 Project에 Subagent/Memory가 불필요하거나 적게 쓰는 것이 항상 낫다는 뜻이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**Beginner Explanation:**</a:t>
            </a:r>
          </a:p>
          <a:p xmlns:a="http://schemas.openxmlformats.org/drawingml/2006/main">
            <a:r>
              <a:t>도구 이름보다 지금 그 도구가 어떤 문제를 해결하는지 먼저 묻는다.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**Advanced Insight:**</a:t>
            </a:r>
          </a:p>
          <a:p xmlns:a="http://schemas.openxmlformats.org/drawingml/2006/main">
            <a:r>
              <a:t>역할 간 의존성과 지식 원출처를 보고 구성 추가의 필요성을 평가한다. 실험하지 않은 대안의 효과를 단정하지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**C++ Vision Bridge:**</a:t>
            </a:r>
          </a:p>
          <a:p xmlns:a="http://schemas.openxmlformats.org/drawingml/2006/main">
            <a:r>
              <a:t>자신의 Repository에서도 같은 정당화 질문을 적용할 수 있다. 새 C++ 절차는 추가하지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 Operation:**</a:t>
            </a:r>
          </a:p>
          <a:p xmlns:a="http://schemas.openxmlformats.org/drawingml/2006/main">
            <a:r>
              <a:t>왼쪽은 사용한 구성 목록, 오른쪽은 두 보류 판단과 각각의 이유다. 실제 Subagent 실행·Memory 저장·비교 실험이 없다. 코드→문서→Skill→기록은 S62에서 이미 본 출처다.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**Audience Interaction:**</a:t>
            </a:r>
          </a:p>
          <a:p xmlns:a="http://schemas.openxmlformats.org/drawingml/2006/main">
            <a:r>
              <a:t>기능 도입 여부를 투표하지 않고, 보류한 구성에도 이유가 있다는 점을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**Transition:**</a:t>
            </a:r>
          </a:p>
          <a:p xmlns:a="http://schemas.openxmlformats.org/drawingml/2006/main">
            <a:r>
              <a:t>“필요한 구성을 골랐더라도, 나온 결과를 받아들일지는 누가 판단할까요?”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**Time Management:**</a:t>
            </a:r>
          </a:p>
          <a:p xmlns:a="http://schemas.openxmlformats.org/drawingml/2006/main">
            <a:r>
              <a:t>Lecture2분. ACT3의 역할 분리·Memory 개념을 반복하지 않고 현재 사례의 판단 이유 두 개와 범위만 회수한다.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**Fallback:**</a:t>
            </a:r>
          </a:p>
          <a:p xmlns:a="http://schemas.openxmlformats.org/drawingml/2006/main">
            <a:r>
              <a:t>LOCAL STATIC ARTIFACT — production/ACT_5.pptx의 S88와 production/preview/act5/S88.png를 사용한다. 새 실행·원본 실행 캡처로 표현하지 않는다. 현재 화면과 Notes 검토는 production/evaluation/ACT_5_FLOW_REVISION.md에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**Validation Status:**</a:t>
            </a:r>
          </a:p>
          <a:p xmlns:a="http://schemas.openxmlformats.org/drawingml/2006/main">
            <a:r>
              <a:t>LOCAL CONTENT REVIEW COMPLETE — DEC-0082. 최종 패키지/PNG/내장 Notes 대조 결과는 production/evaluation/ACT_5_FLOW_REVISION.md와 ACT_5_FLOW_VALIDATION.json에 별도 기록한다. Windows PowerPoint, 발표 PC 글꼴, 제품·계정·교육장·실측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S89 — 결과를 수용할지는 사람이 판단한다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**Slide ID:**</a:t>
            </a:r>
          </a:p>
          <a:p xmlns:a="http://schemas.openxmlformats.org/drawingml/2006/main">
            <a:r>
              <a:t>S89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**Working Title:**</a:t>
            </a:r>
          </a:p>
          <a:p xmlns:a="http://schemas.openxmlformats.org/drawingml/2006/main">
            <a:r>
              <a:t>결과를 수용할지는 사람이 판단한다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**ACT / Section:**</a:t>
            </a:r>
          </a:p>
          <a:p xmlns:a="http://schemas.openxmlformats.org/drawingml/2006/main">
            <a:r>
              <a:t>ACT 5 / 5A  DEVELOPER RESPONSIBILITY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**Allocated Time:**</a:t>
            </a:r>
          </a:p>
          <a:p xmlns:a="http://schemas.openxmlformats.org/drawingml/2006/main">
            <a:r>
              <a:t>3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**Mode Split:**</a:t>
            </a:r>
          </a:p>
          <a:p xmlns:a="http://schemas.openxmlformats.org/drawingml/2006/main">
            <a:r>
              <a:t>Lecture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**Primary Message:**</a:t>
            </a:r>
          </a:p>
          <a:p xmlns:a="http://schemas.openxmlformats.org/drawingml/2006/main">
            <a:r>
              <a:t>AI가 만든 변경 내용·실행·검사·비교 기록을 받아도 목표와 제약, 선택의 적절성, 검증 근거, 남은 위험과 완료 수용은 개발자가 판단한다.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**Opening Question:**</a:t>
            </a:r>
          </a:p>
          <a:p xmlns:a="http://schemas.openxmlformats.org/drawingml/2006/main">
            <a:r>
              <a:t>“AI가 결과를 가져왔을 때, 무엇을 보고 받아들일까요?”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**Speaker Flow:**</a:t>
            </a:r>
          </a:p>
          <a:p xmlns:a="http://schemas.openxmlformats.org/drawingml/2006/main">
            <a:r>
              <a:t>1. (0:00–0:40 / Lecture) S88의 구성 선택에서 결과 수용으로 넘어간다. 왼쪽 AI의 작업 결과는 교육용 묶음이지 실제 실행 보고서나 제품 UI가 아니다. AI는 조사·생성·변경·실행·비교를 도울 수 있다.</a:t>
            </a:r>
          </a:p>
          <a:p xmlns:a="http://schemas.openxmlformats.org/drawingml/2006/main">
            <a:r>
              <a:t>2. (0:40–2:20 / Lecture) 오른쪽 네 질문을 위 행 왼쪽→오른쪽, 아래 행 왼쪽→오른쪽으로 읽는다. 목표·제약에 맞는가, 선택이 적절한가, 근거로 확인했는가, 남은 위험을 보고 완료를 수용할 수 있는가. 목표와 제약은 작업 전에 정하고 결과에서도 대조한다.</a:t>
            </a:r>
          </a:p>
          <a:p xmlns:a="http://schemas.openxmlformats.org/drawingml/2006/main">
            <a:r>
              <a:t>3. (2:20–3:00 / Lecture) 고정된 인간/Agent 분업이 아니라 개발자의 판단과 책임을 강조한다. S90에서는 이 판단에 필요한 자료가 나오도록 작업 환경을 준비하는 설계로 시점을 바꾼다.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 / Source:**</a:t>
            </a:r>
          </a:p>
          <a:p xmlns:a="http://schemas.openxmlformats.org/drawingml/2006/main">
            <a:r>
              <a:t>TEACHING_MODEL · BEAT-061–062. 새 Product feature나 책임 handoff evidence는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**Claim Boundary:**</a:t>
            </a:r>
          </a:p>
          <a:p xmlns:a="http://schemas.openxmlformats.org/drawingml/2006/main">
            <a:r>
              <a:t>이 교육에서 고정한 책임 원칙이다. Agent와 개발자의 역할을 절대적인 분업 규칙으로 제시하지 않는다. AI fear/control framing을 사용하지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**Beginner Explanation:**</a:t>
            </a:r>
          </a:p>
          <a:p xmlns:a="http://schemas.openxmlformats.org/drawingml/2006/main">
            <a:r>
              <a:t>완료라는 말만 받지 말고, 원하는 변화와 확인 근거·남은 위험을 보고 수용한다.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**Advanced Insight:**</a:t>
            </a:r>
          </a:p>
          <a:p xmlns:a="http://schemas.openxmlformats.org/drawingml/2006/main">
            <a:r>
              <a:t>위임 범위와 제약, 위험 판단, 검증과 최종 수용을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**C++ Vision Bridge:**</a:t>
            </a:r>
          </a:p>
          <a:p xmlns:a="http://schemas.openxmlformats.org/drawingml/2006/main">
            <a:r>
              <a:t>N/A.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 Operation:**</a:t>
            </a:r>
          </a:p>
          <a:p xmlns:a="http://schemas.openxmlformats.org/drawingml/2006/main">
            <a:r>
              <a:t>왼쪽 작업 결과→오른쪽 사람의 네 질문이라는 정적 관계도다. 질문은 목표/판단/검증/책임 순으로 읽는다. 새 실행이나 승인 자동화 기능을 의미하지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**Audience Interaction:**</a:t>
            </a:r>
          </a:p>
          <a:p xmlns:a="http://schemas.openxmlformats.org/drawingml/2006/main">
            <a:r>
              <a:t>네 질문을 자신의 결과 검토에 비춰 보게 한다. 답변·공유·제출은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**Transition:**</a:t>
            </a:r>
          </a:p>
          <a:p xmlns:a="http://schemas.openxmlformats.org/drawingml/2006/main">
            <a:r>
              <a:t>“그 판단에 필요한 근거가 나오도록, AI의 작업 환경을 어떻게 준비할까요?”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**Time Management:**</a:t>
            </a:r>
          </a:p>
          <a:p xmlns:a="http://schemas.openxmlformats.org/drawingml/2006/main">
            <a:r>
              <a:t>Lecture3분. 도구 선택 목록과 책임 결론을 반복하지 않고 결과를 수용할 네 질문을 한 번씩 다룬다.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**Fallback:**</a:t>
            </a:r>
          </a:p>
          <a:p xmlns:a="http://schemas.openxmlformats.org/drawingml/2006/main">
            <a:r>
              <a:t>LOCAL STATIC ARTIFACT — production/ACT_5.pptx의 S89와 production/preview/act5/S89.png를 사용한다. 새 실행·원본 실행 캡처로 표현하지 않는다. 현재 화면과 Notes 검토는 production/evaluation/ACT_5_FLOW_REVISION.md에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**Validation Status:**</a:t>
            </a:r>
          </a:p>
          <a:p xmlns:a="http://schemas.openxmlformats.org/drawingml/2006/main">
            <a:r>
              <a:t>LOCAL CONTENT REVIEW COMPLETE — DEC-0082. 최종 패키지/PNG/내장 Notes 대조 결과는 production/evaluation/ACT_5_FLOW_REVISION.md와 ACT_5_FLOW_VALIDATION.json에 별도 기록한다. Windows PowerPoint, 발표 PC 글꼴, 제품·계정·교육장·실측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S90 — AI가 일할 조건과 확인 경로를 설계한다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**Slide ID:**</a:t>
            </a:r>
          </a:p>
          <a:p xmlns:a="http://schemas.openxmlformats.org/drawingml/2006/main">
            <a:r>
              <a:t>S90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**Working Title:**</a:t>
            </a:r>
          </a:p>
          <a:p xmlns:a="http://schemas.openxmlformats.org/drawingml/2006/main">
            <a:r>
              <a:t>AI가 일할 조건과 확인 경로를 설계한다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**ACT / Section:**</a:t>
            </a:r>
          </a:p>
          <a:p xmlns:a="http://schemas.openxmlformats.org/drawingml/2006/main">
            <a:r>
              <a:t>ACT 5 / 5A  AI-NATIVE DEVELOPMENT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**Allocated Time:**</a:t>
            </a:r>
          </a:p>
          <a:p xmlns:a="http://schemas.openxmlformats.org/drawingml/2006/main">
            <a:r>
              <a:t>3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**Mode Split:**</a:t>
            </a:r>
          </a:p>
          <a:p xmlns:a="http://schemas.openxmlformats.org/drawingml/2006/main">
            <a:r>
              <a:t>Lecture 3분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**Primary Message:**</a:t>
            </a:r>
          </a:p>
          <a:p xmlns:a="http://schemas.openxmlformats.org/drawingml/2006/main">
            <a:r>
              <a:t>맡길 범위, 프로젝트 지식·재사용 절차, 검증·피드백 경로를 의도적으로 설계·운영하는 방식을 이 교육에서는 AI-Native Development라고 부른다. 새 기능이나 보편 표준의 도입이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**Opening Question:**</a:t>
            </a:r>
          </a:p>
          <a:p xmlns:a="http://schemas.openxmlformats.org/drawingml/2006/main">
            <a:r>
              <a:t>“판단할 근거가 나오도록 어떤 작업 조건을 준비해야 할까요?”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**Speaker Flow:**</a:t>
            </a:r>
          </a:p>
          <a:p xmlns:a="http://schemas.openxmlformats.org/drawingml/2006/main">
            <a:r>
              <a:t>1. (0:00–0:30 / Lecture) S89의 사람이 판단할 질문을 이어 받는다. 이번 장은 판단 책임을 다시 나열하지 않고, 판단할 근거가 나올 작업 조건을 설계하는 관점이다.</a:t>
            </a:r>
          </a:p>
          <a:p xmlns:a="http://schemas.openxmlformats.org/drawingml/2006/main">
            <a:r>
              <a:t>2. (0:30–2:20 / Lecture) 가로 세 열을 읽는다. 맡길 범위는 Task boundary(목표·제약·변경 범위), 일할 조건은 Project Context와 Reusable Workflow(프로젝트 지식·재사용 수행 방법), 확인과 피드백은 Verification과 Feedback Loop(검증 근거·다음 작업의 개선)다. 앞에서 배운 다섯 요소를 세 질문으로 묶었으며 새 단계나 필수 도입 순서가 아니다.</a:t>
            </a:r>
          </a:p>
          <a:p xmlns:a="http://schemas.openxmlformats.org/drawingml/2006/main">
            <a:r>
              <a:t>3. (2:20–3:00 / Lecture) 이 설계·운영 방식을 이 과정의 AI-Native Development로 부른다고 이름만 회수한다. 공식·보편 정의 또는 모든 Task의 의무 목록이 아니다. 이제 자신의 반복 마찰 하나를 고르는 S91로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 / Source:**</a:t>
            </a:r>
          </a:p>
          <a:p xmlns:a="http://schemas.openxmlformats.org/drawingml/2006/main">
            <a:r>
              <a:t>TEACHING_MODEL · DEC-0023의 course-specific operational framing.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**Claim Boundary:**</a:t>
            </a:r>
          </a:p>
          <a:p xmlns:a="http://schemas.openxmlformats.org/drawingml/2006/main">
            <a:r>
              <a:t>공식·보편 업계 표준 정의라고 말하지 않는다. 모든 task 또는 Demo에 다섯 구성요소를 의무적으로 도입하라는 뜻이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**Beginner Explanation:**</a:t>
            </a:r>
          </a:p>
          <a:p xmlns:a="http://schemas.openxmlformats.org/drawingml/2006/main">
            <a:r>
              <a:t>AI에게 무엇을 맡기고, 어떤 정보를 보게 하며, 무엇으로 확인할지 준비한다.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**Advanced Insight:**</a:t>
            </a:r>
          </a:p>
          <a:p xmlns:a="http://schemas.openxmlformats.org/drawingml/2006/main">
            <a:r>
              <a:t>Model capability와 작업 System 설계를 구분하고, 필요한 근거·피드백 경로를 설계한다.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**C++ Vision Bridge:**</a:t>
            </a:r>
          </a:p>
          <a:p xmlns:a="http://schemas.openxmlformats.org/drawingml/2006/main">
            <a:r>
              <a:t>다음 S91에서 C++ Vision 업무와 자신의 Repository로 transfer한다.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 Operation:**</a:t>
            </a:r>
          </a:p>
          <a:p xmlns:a="http://schemas.openxmlformats.org/drawingml/2006/main">
            <a:r>
              <a:t>맡길 범위→일할 조건→확인과 피드백의 세 열을 읽는다. 이는 설계 질문의 관계다. 실제 UI, 자동 실행 경로, 또 하나의 maturity ladder가 아니다. 이 과정의 이름은 맨 아래에서 회수한다.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**Audience Interaction:**</a:t>
            </a:r>
          </a:p>
          <a:p xmlns:a="http://schemas.openxmlformats.org/drawingml/2006/main">
            <a:r>
              <a:t>모든 구성요소를 도입하라는 체크리스트로 읽지 않게 한다. 정의 암기나 응답은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**Transition:**</a:t>
            </a:r>
          </a:p>
          <a:p xmlns:a="http://schemas.openxmlformats.org/drawingml/2006/main">
            <a:r>
              <a:t>“이 가운데 내 업무에서 반복해서 막히는 문제 하나는 무엇일까요?”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**Time Management:**</a:t>
            </a:r>
          </a:p>
          <a:p xmlns:a="http://schemas.openxmlformats.org/drawingml/2006/main">
            <a:r>
              <a:t>Lecture3분. 새 개념 강의를 열지 않고 앞서 본 설계 질문과 course-specific 이름을 회수한다.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**Fallback:**</a:t>
            </a:r>
          </a:p>
          <a:p xmlns:a="http://schemas.openxmlformats.org/drawingml/2006/main">
            <a:r>
              <a:t>LOCAL STATIC ARTIFACT — production/ACT_5.pptx의 S90와 production/preview/act5/S90.png를 사용한다. 새 실행·원본 실행 캡처로 표현하지 않는다. 현재 화면과 Notes 검토는 production/evaluation/ACT_5_FLOW_REVISION.md에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**Validation Status:**</a:t>
            </a:r>
          </a:p>
          <a:p xmlns:a="http://schemas.openxmlformats.org/drawingml/2006/main">
            <a:r>
              <a:t>LOCAL CONTENT REVIEW COMPLETE — DEC-0082. 최종 패키지/PNG/내장 Notes 대조 결과는 production/evaluation/ACT_5_FLOW_REVISION.md와 ACT_5_FLOW_VALIDATION.json에 별도 기록한다. Windows PowerPoint, 발표 PC 글꼴, 제품·계정·교육장·실측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S91 — 내 업무에서는 무엇이 반복해서 막힐까?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**Slide ID:**</a:t>
            </a:r>
          </a:p>
          <a:p xmlns:a="http://schemas.openxmlformats.org/drawingml/2006/main">
            <a:r>
              <a:t>S91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**Working Title:**</a:t>
            </a:r>
          </a:p>
          <a:p xmlns:a="http://schemas.openxmlformats.org/drawingml/2006/main">
            <a:r>
              <a:t>내 업무에서는 무엇이 반복해서 막힐까?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**ACT / Section:**</a:t>
            </a:r>
          </a:p>
          <a:p xmlns:a="http://schemas.openxmlformats.org/drawingml/2006/main">
            <a:r>
              <a:t>ACT 5 / 5B  C++ VISION / MY REPOSITORY TRANSFER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**Allocated Time:**</a:t>
            </a:r>
          </a:p>
          <a:p xmlns:a="http://schemas.openxmlformats.org/drawingml/2006/main">
            <a:r>
              <a:t>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**Mode Split:**</a:t>
            </a:r>
          </a:p>
          <a:p xmlns:a="http://schemas.openxmlformats.org/drawingml/2006/main">
            <a:r>
              <a:t>Case 1분 + Transition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**Primary Message:**</a:t>
            </a:r>
          </a:p>
          <a:p xmlns:a="http://schemas.openxmlformats.org/drawingml/2006/main">
            <a:r>
              <a:t>성능 조사·빌드·측정 업무의 반복 마찰을 증상부터 읽고 Task/Context/Workflow/Verification/Feedback 중 가까운 문제 하나를 고른다. 원인 확인 없이 시스템 갱신을 처방하지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**Opening Question:**</a:t>
            </a:r>
          </a:p>
          <a:p xmlns:a="http://schemas.openxmlformats.org/drawingml/2006/main">
            <a:r>
              <a:t>“내 업무에서는 어떤 문제가 반복해서 막히나요?”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**Speaker Flow:**</a:t>
            </a:r>
          </a:p>
          <a:p xmlns:a="http://schemas.openxmlformats.org/drawingml/2006/main">
            <a:r>
              <a:t>1. (0:00–1:00 / Case) C++ Vision 업무에 비춰 보는 교육용 질문임을 밝힌다. 성능 조사 범위, 빌드·동작 명세·장치 조건, 분석·변경·측정·회귀 확인을 앞의 Demo와 같은 engineering 관점으로 연결한다. 실제 회사 사건이나 검증된 절차가 아니다.</a:t>
            </a:r>
          </a:p>
          <a:p xmlns:a="http://schemas.openxmlformats.org/drawingml/2006/main">
            <a:r>
              <a:t>2. (1:00–3:00 / Transition) A–E의 가운데 증상을 먼저 읽고 오른쪽 분류를 보조로 연결한다. A 요청 범위, B 반복하는 프로젝트 사실, C 반복 수행 방법, D 완료 판단의 검사 기준, E 반복 실패의 원인·기준 재검토다. 다섯 항목은 같은 수준의 적용 후보이지 순서가 아니다.</a:t>
            </a:r>
          </a:p>
          <a:p xmlns:a="http://schemas.openxmlformats.org/drawingml/2006/main">
            <a:r>
              <a:t>3. (3:00–5:00 / Transition) 자기 업무와 가까운 문제 하나만 마음속으로 떠올리게 한다. E는 실패가 반복됐으니 무조건 시스템을 바꾸라는 뜻이 아니라 기록·원인·기준을 다시 보는 출발점이다. S92에서 같은 글자의 다음 행동과 확인 근거를 생각하게 한다. 새 분류 이론·Demo를 열지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 / Source:**</a:t>
            </a:r>
          </a:p>
          <a:p xmlns:a="http://schemas.openxmlformats.org/drawingml/2006/main">
            <a:r>
              <a:t>TEACHING_MODEL · C++ Vision engineering-pattern transfer. 실제 C++ Project, hardware, toolchain 또는 benchmark 결과는 사용하지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**Claim Boundary:**</a:t>
            </a:r>
          </a:p>
          <a:p xmlns:a="http://schemas.openxmlformats.org/drawingml/2006/main">
            <a:r>
              <a:t>다섯 선택지는 같은 높이의 적용 후보이며 순서가 있는 maturity ladder가 아니다. 특정 C++ Project 규칙·도구·hardware 또는 검증된 procedure를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**Beginner Explanation:**</a:t>
            </a:r>
          </a:p>
          <a:p xmlns:a="http://schemas.openxmlformats.org/drawingml/2006/main">
            <a:r>
              <a:t>영어 Layer 이름보다 내가 겪는 증상을 먼저 읽고 가까운 것 하나를 찾는다.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**Advanced Insight:**</a:t>
            </a:r>
          </a:p>
          <a:p xmlns:a="http://schemas.openxmlformats.org/drawingml/2006/main">
            <a:r>
              <a:t>반복 비용과 위험·확인 근거에 맞는 적용 지점을 고르고, 원인 확인과 시스템 변경을 분리한다.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**C++ Vision Bridge:**</a:t>
            </a:r>
          </a:p>
          <a:p xmlns:a="http://schemas.openxmlformats.org/drawingml/2006/main">
            <a:r>
              <a:t>Primary bridge. A 성능 병목 조사의 범위, B build mode/동작 명세/hardware assumption, C profile→change→benchmark→regression, D tests+benchmark의 기대 기준, E 반복 이슈의 원문·검증 기준 대조다. 실제 C++ 프로젝트 도구·절차·결과를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 Operation:**</a:t>
            </a:r>
          </a:p>
          <a:p xmlns:a="http://schemas.openxmlformats.org/drawingml/2006/main">
            <a:r>
              <a:t>새 Demo 없음. 각 행은 A–E 표식→가운데 증상→오른쪽 한국어·영어 분류 순으로 본다. 가로 화살표나 단계 진행은 없으며 다섯 선택지를 동등하게 둔다. 증상 설명을 다시 강의하지 않고 가까운 하나를 선택하는 전환으로 운영한다.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**Audience Interaction:**</a:t>
            </a:r>
          </a:p>
          <a:p xmlns:a="http://schemas.openxmlformats.org/drawingml/2006/main">
            <a:r>
              <a:t>청중의 선택 발표·투표·실습·제출을 요구하지 않는다. 고른 문제의 A–E를 마음속에 남기고 S92의 같은 글자로 이어간다.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**Transition:**</a:t>
            </a:r>
          </a:p>
          <a:p xmlns:a="http://schemas.openxmlformats.org/drawingml/2006/main">
            <a:r>
              <a:t>“방금 고른 문제의 같은 글자를 따라, 다음 작업의 작은 행동 하나를 생각해 봅시다.”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**Time Management:**</a:t>
            </a:r>
          </a:p>
          <a:p xmlns:a="http://schemas.openxmlformats.org/drawingml/2006/main">
            <a:r>
              <a:t>Case1분+Transition4분=5분. 1분은 업무 전이의 범위, 나머지는 증상 비교와 개인 선택의 handoff다. 실제 리허설은 미검증이며 새 강의·사례를 추가하지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**Fallback:**</a:t>
            </a:r>
          </a:p>
          <a:p xmlns:a="http://schemas.openxmlformats.org/drawingml/2006/main">
            <a:r>
              <a:t>LOCAL STATIC ARTIFACT — production/ACT_5.pptx의 S91와 production/preview/act5/S91.png를 사용한다. 새 실행·원본 실행 캡처로 표현하지 않는다. 현재 화면과 Notes 검토는 production/evaluation/ACT_5_FLOW_REVISION.md에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**Validation Status:**</a:t>
            </a:r>
          </a:p>
          <a:p xmlns:a="http://schemas.openxmlformats.org/drawingml/2006/main">
            <a:r>
              <a:t>LOCAL CONTENT REVIEW COMPLETE — DEC-0082. 최종 패키지/PNG/내장 Notes 대조 결과는 production/evaluation/ACT_5_FLOW_REVISION.md와 ACT_5_FLOW_VALIDATION.json에 별도 기록한다. Windows PowerPoint, 발표 PC 글꼴, 제품·계정·교육장·실측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S92 — 고른 문제에서, 다음 행동 하나로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**Slide ID:**</a:t>
            </a:r>
          </a:p>
          <a:p xmlns:a="http://schemas.openxmlformats.org/drawingml/2006/main">
            <a:r>
              <a:t>S92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**Working Title:**</a:t>
            </a:r>
          </a:p>
          <a:p xmlns:a="http://schemas.openxmlformats.org/drawingml/2006/main">
            <a:r>
              <a:t>고른 문제에서, 다음 행동 하나로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**ACT / Section:**</a:t>
            </a:r>
          </a:p>
          <a:p xmlns:a="http://schemas.openxmlformats.org/drawingml/2006/main">
            <a:r>
              <a:t>ACT 5 / 5B  FINAL REFLECTION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**Allocated Time:**</a:t>
            </a:r>
          </a:p>
          <a:p xmlns:a="http://schemas.openxmlformats.org/drawingml/2006/main">
            <a:r>
              <a:t>4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**Mode Split:**</a:t>
            </a:r>
          </a:p>
          <a:p xmlns:a="http://schemas.openxmlformats.org/drawingml/2006/main">
            <a:r>
              <a:t>Lecture 2분 + Reflection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**Primary Message:**</a:t>
            </a:r>
          </a:p>
          <a:p xmlns:a="http://schemas.openxmlformats.org/drawingml/2006/main">
            <a:r>
              <a:t>S91에서 고른 A–E의 문제를 같은 글자의 작은 다음 행동으로 이어 받고, 무엇이 달라졌는지 볼 확인 근거 하나를 개인적으로 생각한다. 다섯 행동을 모두 수행하거나 약속할 필요는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**Opening Question:**</a:t>
            </a:r>
          </a:p>
          <a:p xmlns:a="http://schemas.openxmlformats.org/drawingml/2006/main">
            <a:r>
              <a:t>“고른 문제에서 무엇을 작게 바꾸고, 어떤 근거로 확인해 볼까요?”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**Speaker Flow:**</a:t>
            </a:r>
          </a:p>
          <a:p xmlns:a="http://schemas.openxmlformats.org/drawingml/2006/main">
            <a:r>
              <a:t>1. (0:00–1:00 / Lecture) S91에서 마음속으로 고른 같은 글자의 행동만 생각하도록 안내한다. A 목표·변경 범위를 요청에 적기, B 반복 사실의 출처·검토자, C 절차를 둘 곳·갱신자, D 완료 판단 검사, E 반복 실패의 기록·원인 대조다. 모든 항목을 도입하는 목록이 아니다.</a:t>
            </a:r>
          </a:p>
          <a:p xmlns:a="http://schemas.openxmlformats.org/drawingml/2006/main">
            <a:r>
              <a:t>2. (1:00–2:00 / Lecture) 오른쪽의 확인 근거 질문을 읽는다. 무엇이 달라졌는지 어떤 기록으로 볼지 생각한다. 예를 들어 A 목표와 변경 범위 대조, B 원출처와 참조 경로, C 실제 적용 절차 기록, D 명세와 검사 결과, E 원문과 현재 기준을 볼 수 있다. 이는 앞으로 확인할 자료 후보이며 이미 실행하거나 좋아진 결과가 아니다. 원인에 따라 변경하지 않는 선택도 가능하다.</a:t>
            </a:r>
          </a:p>
          <a:p xmlns:a="http://schemas.openxmlformats.org/drawingml/2006/main">
            <a:r>
              <a:t>3. (2:00–4:00 / Reflection) 두 분 동안 선택한 문제→작은 행동→확인 근거를 조용히 마음속으로 연결하게 한다. 답변·기록·발표·제출·실천 약속은 요구하지 않는다. 도구나 문서를 새로 만드는 과제가 아니며 기존 출처로 충분하면 그대로 쓸 수 있다. 2분 뒤 Q&amp;A로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 / Source:**</a:t>
            </a:r>
          </a:p>
          <a:p xmlns:a="http://schemas.openxmlformats.org/drawingml/2006/main">
            <a:r>
              <a:t>TEACHING_MODEL · 승인된 private reflection prompt. 개인 업무에 대한 새 관찰 근거는 수집하지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**Claim Boundary:**</a:t>
            </a:r>
          </a:p>
          <a:p xmlns:a="http://schemas.openxmlformats.org/drawingml/2006/main">
            <a:r>
              <a:t>개인 Reflection이며 응답, 공유, written commitment 또는 실제 업무 변경을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**Beginner Explanation:**</a:t>
            </a:r>
          </a:p>
          <a:p xmlns:a="http://schemas.openxmlformats.org/drawingml/2006/main">
            <a:r>
              <a:t>고른 문제 하나에 대해 다음 작업에서 작게 달리할 행동과 확인할 자료 하나를 떠올린다.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**Advanced Insight:**</a:t>
            </a:r>
          </a:p>
          <a:p xmlns:a="http://schemas.openxmlformats.org/drawingml/2006/main">
            <a:r>
              <a:t>개선 후보를 근거와 유지 위치·검토 책임에 연결하되 원인 미확인 상태의 시스템 변경을 강요하지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**C++ Vision Bridge:**</a:t>
            </a:r>
          </a:p>
          <a:p xmlns:a="http://schemas.openxmlformats.org/drawingml/2006/main">
            <a:r>
              <a:t>자신의 Vision 또는 개발 Repository에 같은 질문을 개인적으로 적용할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 Operation:**</a:t>
            </a:r>
          </a:p>
          <a:p xmlns:a="http://schemas.openxmlformats.org/drawingml/2006/main">
            <a:r>
              <a:t>왼쪽 A–E 행동은 S91과 같은 글자로 대응한다. 오른쪽은 모든 선택에 공통인 확인 근거 질문이다. 새 Trial이나 실행 결과·성공 판정은 없다. 선택은 마음속으로 하며 화면상 특정 항목을 강제로 선택하지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**Audience Interaction:**</a:t>
            </a:r>
          </a:p>
          <a:p xmlns:a="http://schemas.openxmlformats.org/drawingml/2006/main">
            <a:r>
              <a:t>개인 성찰2분. 하나의 행동과 확인 근거를 마음속으로 고르게 하고 공유나 실천 약속을 받지 않는다. 침묵을 허용하며 응답을 기다리지 않고 정해진 시점에 Q&amp;A로 넘긴다.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**Transition:**</a:t>
            </a:r>
          </a:p>
          <a:p xmlns:a="http://schemas.openxmlformats.org/drawingml/2006/main">
            <a:r>
              <a:t>“생각한 한 가지는 마음속에 두고, 이제 남은 질문을 받겠습니다.”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**Time Management:**</a:t>
            </a:r>
          </a:p>
          <a:p xmlns:a="http://schemas.openxmlformats.org/drawingml/2006/main">
            <a:r>
              <a:t>Lecture2분+Reflection2분=4분. S91의 증상을 다시 읽거나 다섯 기술을 재강의하지 않는다. Reflection은2분에 끝내고 Q&amp;A와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**Fallback:**</a:t>
            </a:r>
          </a:p>
          <a:p xmlns:a="http://schemas.openxmlformats.org/drawingml/2006/main">
            <a:r>
              <a:t>LOCAL STATIC ARTIFACT — production/ACT_5.pptx의 S92와 production/preview/act5/S92.png를 사용한다. 새 실행·원본 실행 캡처로 표현하지 않는다. 현재 화면과 Notes 검토는 production/evaluation/ACT_5_FLOW_REVISION.md에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**Validation Status:**</a:t>
            </a:r>
          </a:p>
          <a:p xmlns:a="http://schemas.openxmlformats.org/drawingml/2006/main">
            <a:r>
              <a:t>LOCAL CONTENT REVIEW COMPLETE — DEC-0082. 최종 패키지/PNG/내장 Notes 대조 결과는 production/evaluation/ACT_5_FLOW_REVISION.md와 ACT_5_FLOW_VALIDATION.json에 별도 기록한다. Windows PowerPoint, 발표 PC 글꼴, 제품·계정·교육장·실측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S93 — Q&amp;A와 교육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**Slide ID:**</a:t>
            </a:r>
          </a:p>
          <a:p xmlns:a="http://schemas.openxmlformats.org/drawingml/2006/main">
            <a:r>
              <a:t>S93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**Working Title:**</a:t>
            </a:r>
          </a:p>
          <a:p xmlns:a="http://schemas.openxmlformats.org/drawingml/2006/main">
            <a:r>
              <a:t>Q&amp;A와 교육 마무리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**ACT / Section:**</a:t>
            </a:r>
          </a:p>
          <a:p xmlns:a="http://schemas.openxmlformats.org/drawingml/2006/main">
            <a:r>
              <a:t>ACT 5 / 5B  FINAL Q&amp;A / CLOSING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**Allocated Time:**</a:t>
            </a:r>
          </a:p>
          <a:p xmlns:a="http://schemas.openxmlformats.org/drawingml/2006/main">
            <a:r>
              <a:t>6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**Mode Split:**</a:t>
            </a:r>
          </a:p>
          <a:p xmlns:a="http://schemas.openxmlformats.org/drawingml/2006/main">
            <a:r>
              <a:t>Q&amp;A 4분 + Closing Transition 2분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**Primary Message:**</a:t>
            </a:r>
          </a:p>
          <a:p xmlns:a="http://schemas.openxmlformats.org/drawingml/2006/main">
            <a:r>
              <a:t>남은 질문을 받은 뒤 Chatbot→Prompt→Context→Harness→Loop의 같은 용어로 여정을 닫는다. 목표·판단·검증·책임을 유지하며 AI가 잘 일할 환경을 설계한다.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**Opening Question:**</a:t>
            </a:r>
          </a:p>
          <a:p xmlns:a="http://schemas.openxmlformats.org/drawingml/2006/main">
            <a:r>
              <a:t>“남은 질문은 무엇인가요?”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**Speaker Flow:**</a:t>
            </a:r>
          </a:p>
          <a:p xmlns:a="http://schemas.openxmlformats.org/drawingml/2006/main">
            <a:r>
              <a:t>1. (0:00–4:00 / Q&amp;A) 상단의 남은 질문은 무엇인가요를 가리키며 질문을 받는다. S92에서 고른 행동을 다시 발표시키지 않는다. 질문이 없으면 “결과를 수용할 때 어떤 근거를 받아야 할까요?” 또는 “반복되는 실패라면 바꾸기 전에 어떤 기록을 먼저 봐야 할까요?”를 사용한다. 새 제품 사실·설명·Demo를 추가하지 않는다.</a:t>
            </a:r>
          </a:p>
          <a:p xmlns:a="http://schemas.openxmlformats.org/drawingml/2006/main">
            <a:r>
              <a:t>2. (4:00–6:00 / Closing Transition) 질문을 마감한다. 중앙의 AI가 잘 일할 환경을 설계한다를 남기고 하단의 Chatbot→Prompt→Context→Harness→Loop를 짧게 회수한다. S86과 같은 용어이며 Question/Task/System을 새 단계로 소개하지 않는다. 개인 선택 질문이나 전체 강의를 다시 열지 않는다.</a:t>
            </a:r>
          </a:p>
          <a:p xmlns:a="http://schemas.openxmlformats.org/drawingml/2006/main">
            <a:r>
              <a:t>3. 종료 Cue: “목표·판단·검증·책임을 유지하면서, AI가 잘 일할 환경을 설계합시다.”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 / Source:**</a:t>
            </a:r>
          </a:p>
          <a:p xmlns:a="http://schemas.openxmlformats.org/drawingml/2006/main">
            <a:r>
              <a:t>TEACHING_MODEL · BEAT-070–071. 새로운 Product claim이나 기술 개념은 추가하지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**Claim Boundary:**</a:t>
            </a:r>
          </a:p>
          <a:p xmlns:a="http://schemas.openxmlformats.org/drawingml/2006/main">
            <a:r>
              <a:t>AI-Native Development의 course-specific framing으로 닫는다. 제품 기능, 자동화 수준 또는 모든 상황의 단일 처방을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**Beginner Explanation:**</a:t>
            </a:r>
          </a:p>
          <a:p xmlns:a="http://schemas.openxmlformats.org/drawingml/2006/main">
            <a:r>
              <a:t>문제에 맞는 작은 대응과 결과를 확인할 근거를 기억한다.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**Advanced Insight:**</a:t>
            </a:r>
          </a:p>
          <a:p xmlns:a="http://schemas.openxmlformats.org/drawingml/2006/main">
            <a:r>
              <a:t>위임과 작업 System의 설계·평가·피드백을 개발자의 판단과 책임에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**C++ Vision Bridge:**</a:t>
            </a:r>
          </a:p>
          <a:p xmlns:a="http://schemas.openxmlformats.org/drawingml/2006/main">
            <a:r>
              <a:t>N/A.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 Operation:**</a:t>
            </a:r>
          </a:p>
          <a:p xmlns:a="http://schemas.openxmlformats.org/drawingml/2006/main">
            <a:r>
              <a:t>추가 실행 없음. Q&amp;A 때는 위쪽 질문, 종료 때는 중앙 한 문장과 아래 여정에 발표자 초점을 옮긴다. 원래 전체 교육 모델의 다섯 이름만 사용한다. 운영 지시와 시간표는 Notes에 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**Audience Interaction:**</a:t>
            </a:r>
          </a:p>
          <a:p xmlns:a="http://schemas.openxmlformats.org/drawingml/2006/main">
            <a:r>
              <a:t>Q&amp;A4분. 질문이 없으면 기존 교육 범위의 확인 질문 하나로 운영한다. S92 개인 성찰을 공개 제출·실천 약속으로 바꾸지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**Transition:**</a:t>
            </a:r>
          </a:p>
          <a:p xmlns:a="http://schemas.openxmlformats.org/drawingml/2006/main">
            <a:r>
              <a:t>Q&amp;A4분 뒤 Closing Transition2분. Chatbot → Prompt → Context → Harness → Loop와 마지막 한 문장으로 교육 종료.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**Time Management:**</a:t>
            </a:r>
          </a:p>
          <a:p xmlns:a="http://schemas.openxmlformats.org/drawingml/2006/main">
            <a:r>
              <a:t>Q&amp;A4분+Closing Transition2분=6분. 4분에 질문을 마감하고 마지막2분에 새로운 개념·다른 분류·추가 행동 선택을 열지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**Fallback:**</a:t>
            </a:r>
          </a:p>
          <a:p xmlns:a="http://schemas.openxmlformats.org/drawingml/2006/main">
            <a:r>
              <a:t>LOCAL STATIC ARTIFACT — production/ACT_5.pptx의 S93와 production/preview/act5/S93.png를 사용한다. 새 실행·원본 실행 캡처로 표현하지 않는다. 현재 화면과 Notes 검토는 production/evaluation/ACT_5_FLOW_REVISION.md에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**Validation Status:**</a:t>
            </a:r>
          </a:p>
          <a:p xmlns:a="http://schemas.openxmlformats.org/drawingml/2006/main">
            <a:r>
              <a:t>LOCAL CONTENT REVIEW COMPLETE — DEC-0082. 최종 패키지/PNG/내장 Notes 대조 결과는 production/evaluation/ACT_5_FLOW_REVISION.md와 ACT_5_FLOW_VALIDATION.json에 별도 기록한다. Windows PowerPoint, 발표 PC 글꼴, 제품·계정·교육장·실측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db6bd7c6a4f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132bbdffd4e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6bb42315341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bb1be50dd47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481b74b9a40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ffb62158045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6FB1D2-2DFC-494A-83A1-B5F9A1DBA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AC9F74-8F02-470A-AC6F-26CBC9D0CA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2E21D8-23D9-49C1-939C-03D8143490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6D5832-419C-4E86-8CC3-900F15653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67B4C6-ED44-4FE4-9A52-66AFED6742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AB8544-430C-484A-989D-918B6198D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F76427-8349-4BFC-811E-AE88C23421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15B4BF-B33C-4B56-B874-4AED9C7F0E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14C93B-C317-406C-AC3A-34C2AC84FB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06B310-02A4-4E5C-8D1B-62263DC065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1600fcb6fc47bb" /><Relationship Type="http://schemas.openxmlformats.org/officeDocument/2006/relationships/slideLayout" Target="/ppt/slideLayouts/slideLayout1.xml" Id="R2bf42faa3cde4d9e" /><Relationship Type="http://schemas.openxmlformats.org/officeDocument/2006/relationships/slideLayout" Target="/ppt/slideLayouts/slideLayout2.xml" Id="Rcddd444524fa4517" /><Relationship Type="http://schemas.openxmlformats.org/officeDocument/2006/relationships/slideLayout" Target="/ppt/slideLayouts/slideLayout3.xml" Id="R937d62635fb34ba6" /><Relationship Type="http://schemas.openxmlformats.org/officeDocument/2006/relationships/slideLayout" Target="/ppt/slideLayouts/slideLayout4.xml" Id="Rfaf59f9dc6be489e" /><Relationship Type="http://schemas.openxmlformats.org/officeDocument/2006/relationships/slideLayout" Target="/ppt/slideLayouts/slideLayout5.xml" Id="R28f95c2e7eb5448b" /><Relationship Type="http://schemas.openxmlformats.org/officeDocument/2006/relationships/slideLayout" Target="/ppt/slideLayouts/slideLayout6.xml" Id="Rcee17281b2fc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f42faa3cde4d9e"/>
    <p:sldLayoutId xmlns:r="http://schemas.openxmlformats.org/officeDocument/2006/relationships" id="2147483650" r:id="Rcddd444524fa4517"/>
    <p:sldLayoutId xmlns:r="http://schemas.openxmlformats.org/officeDocument/2006/relationships" id="2147483651" r:id="R937d62635fb34ba6"/>
    <p:sldLayoutId xmlns:r="http://schemas.openxmlformats.org/officeDocument/2006/relationships" id="2147483652" r:id="Rfaf59f9dc6be489e"/>
    <p:sldLayoutId xmlns:r="http://schemas.openxmlformats.org/officeDocument/2006/relationships" id="2147483653" r:id="R28f95c2e7eb5448b"/>
    <p:sldLayoutId xmlns:r="http://schemas.openxmlformats.org/officeDocument/2006/relationships" id="2147483654" r:id="Rcee17281b2fc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f6fa982364c05" /><Relationship Type="http://schemas.openxmlformats.org/officeDocument/2006/relationships/notesSlide" Target="/ppt/notesSlides/notesSlide1.xml" Id="Rdff95822216141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e72e2237e4a54" /><Relationship Type="http://schemas.openxmlformats.org/officeDocument/2006/relationships/notesSlide" Target="/ppt/notesSlides/notesSlide2.xml" Id="Rcbab60599eab4c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109f080254bc6" /><Relationship Type="http://schemas.openxmlformats.org/officeDocument/2006/relationships/notesSlide" Target="/ppt/notesSlides/notesSlide3.xml" Id="Rd1d2c405709147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5beddb93f4eb0" /><Relationship Type="http://schemas.openxmlformats.org/officeDocument/2006/relationships/notesSlide" Target="/ppt/notesSlides/notesSlide4.xml" Id="R67a706e17c094d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faac644154619" /><Relationship Type="http://schemas.openxmlformats.org/officeDocument/2006/relationships/notesSlide" Target="/ppt/notesSlides/notesSlide5.xml" Id="R0c7f17ee6c414a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54ff9bcce4c29" /><Relationship Type="http://schemas.openxmlformats.org/officeDocument/2006/relationships/notesSlide" Target="/ppt/notesSlides/notesSlide6.xml" Id="R6945db098d0542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52dcfd1b040eb" /><Relationship Type="http://schemas.openxmlformats.org/officeDocument/2006/relationships/notesSlide" Target="/ppt/notesSlides/notesSlide7.xml" Id="Rc4a9c01cb2a446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5a0753e4c74bf7" /><Relationship Type="http://schemas.openxmlformats.org/officeDocument/2006/relationships/notesSlide" Target="/ppt/notesSlides/notesSlide8.xml" Id="R7c25453f4f2948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ACT 5 · 전체 여정 회수">
            <a:extLst xmlns:a="http://schemas.openxmlformats.org/drawingml/2006/main">
              <a:ext uri="{FF2B5EF4-FFF2-40B4-BE49-F238E27FC236}">
                <a16:creationId xmlns:a16="http://schemas.microsoft.com/office/drawing/2014/main" id="{C1B4DE78-AA5E-4E5C-95B6-92BD0477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5 · 전체 여정 회수</a:t>
            </a:r>
          </a:p>
        </p:txBody>
      </p:sp>
      <p:sp>
        <p:nvSpPr>
          <p:cNvPr id="2" name="S86">
            <a:extLst xmlns:a="http://schemas.openxmlformats.org/drawingml/2006/main">
              <a:ext uri="{FF2B5EF4-FFF2-40B4-BE49-F238E27FC236}">
                <a16:creationId xmlns:a16="http://schemas.microsoft.com/office/drawing/2014/main" id="{4AE0AB0F-7389-4E0A-9D44-ACEAC719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S86</a:t>
            </a:r>
          </a:p>
        </p:txBody>
      </p:sp>
      <p:sp>
        <p:nvSpPr>
          <p:cNvPr id="3" name="문제에 맞춰, 일하는 방식을 넓혔다">
            <a:extLst xmlns:a="http://schemas.openxmlformats.org/drawingml/2006/main">
              <a:ext uri="{FF2B5EF4-FFF2-40B4-BE49-F238E27FC236}">
                <a16:creationId xmlns:a16="http://schemas.microsoft.com/office/drawing/2014/main" id="{30C2BC56-6513-491E-81C9-D9CBCFFC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문제에 맞춰, 일하는 방식을 넓혔다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B0011-AC57-4239-9C04-133AEAD5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BEAT-060 · 이 교육의 문제 중심 진화 모델">
            <a:extLst xmlns:a="http://schemas.openxmlformats.org/drawingml/2006/main">
              <a:ext uri="{FF2B5EF4-FFF2-40B4-BE49-F238E27FC236}">
                <a16:creationId xmlns:a16="http://schemas.microsoft.com/office/drawing/2014/main" id="{0A075D76-E28E-488A-AC3B-4167B94C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BEAT-060 · 이 교육의 문제 중심 진화 모델</a:t>
            </a:r>
          </a:p>
        </p:txBody>
      </p:sp>
      <p:sp>
        <p:nvSpPr>
          <p:cNvPr id="6" name="앞의 방식을 버리거나, 모든 프로젝트가 같은 순서로 발전해야 한다는 뜻은 아니다.">
            <a:extLst xmlns:a="http://schemas.openxmlformats.org/drawingml/2006/main">
              <a:ext uri="{FF2B5EF4-FFF2-40B4-BE49-F238E27FC236}">
                <a16:creationId xmlns:a16="http://schemas.microsoft.com/office/drawing/2014/main" id="{B126E8AF-6AC7-48FD-A85D-552CD33D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앞의 방식을 버리거나, 모든 프로젝트가 같은 순서로 발전해야 한다는 뜻은 아니다.</a:t>
            </a:r>
          </a:p>
        </p:txBody>
      </p:sp>
      <p:sp>
        <p:nvSpPr>
          <p:cNvPr id="7" name="필요한 대응을 더하며, 여기까지 왔다">
            <a:extLst xmlns:a="http://schemas.openxmlformats.org/drawingml/2006/main">
              <a:ext uri="{FF2B5EF4-FFF2-40B4-BE49-F238E27FC236}">
                <a16:creationId xmlns:a16="http://schemas.microsoft.com/office/drawing/2014/main" id="{4A9B82EF-DDBD-43C4-AC32-E7E60E8A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필요한 대응을 더하며, 여기까지 왔다</a:t>
            </a:r>
          </a:p>
        </p:txBody>
      </p:sp>
      <p:sp>
        <p:nvSpPr>
          <p:cNvPr id="8" name="답을 구하던 출발점">
            <a:extLst xmlns:a="http://schemas.openxmlformats.org/drawingml/2006/main">
              <a:ext uri="{FF2B5EF4-FFF2-40B4-BE49-F238E27FC236}">
                <a16:creationId xmlns:a16="http://schemas.microsoft.com/office/drawing/2014/main" id="{023E29B5-1049-4A75-9A82-F1B0E49C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답을 구하던 출발점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14EE2-9A47-4051-8BAE-2F0993DA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0" name="Chatbot">
            <a:extLst xmlns:a="http://schemas.openxmlformats.org/drawingml/2006/main">
              <a:ext uri="{FF2B5EF4-FFF2-40B4-BE49-F238E27FC236}">
                <a16:creationId xmlns:a16="http://schemas.microsoft.com/office/drawing/2014/main" id="{E9EA06A5-6FEE-4FDF-80FE-6945C223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981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Chatbot</a:t>
            </a:r>
          </a:p>
        </p:txBody>
      </p:sp>
      <p:sp>
        <p:nvSpPr>
          <p:cNvPr id="11" name="질문하고&#10;답을 받는다">
            <a:extLst xmlns:a="http://schemas.openxmlformats.org/drawingml/2006/main">
              <a:ext uri="{FF2B5EF4-FFF2-40B4-BE49-F238E27FC236}">
                <a16:creationId xmlns:a16="http://schemas.microsoft.com/office/drawing/2014/main" id="{3439AF19-98F3-4FC8-B74C-62543ED2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98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질문하고</a:t>
            </a:r>
          </a:p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답을 받는다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2AB7F-7824-4FD0-90ED-0A8C0E1915AC}"/>
              </a:ext>
            </a:extLst>
          </p:cNvPr>
          <p:cNvCxnSpPr/>
          <p:nvPr/>
        </p:nvCxnSpPr>
        <p:spPr>
          <a:xfrm xmlns:a="http://schemas.openxmlformats.org/drawingml/2006/main">
            <a:off x="2647950" y="37528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3" name="요청이 모호하면">
            <a:extLst xmlns:a="http://schemas.openxmlformats.org/drawingml/2006/main">
              <a:ext uri="{FF2B5EF4-FFF2-40B4-BE49-F238E27FC236}">
                <a16:creationId xmlns:a16="http://schemas.microsoft.com/office/drawing/2014/main" id="{9CED2F1D-081C-4C2E-B9C8-1BA36C73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요청이 모호하면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01C57-9696-425D-B351-4C445C3D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432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5" name="Prompt">
            <a:extLst xmlns:a="http://schemas.openxmlformats.org/drawingml/2006/main">
              <a:ext uri="{FF2B5EF4-FFF2-40B4-BE49-F238E27FC236}">
                <a16:creationId xmlns:a16="http://schemas.microsoft.com/office/drawing/2014/main" id="{58AE5C6A-4A98-4EC6-8708-DAB217B2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1981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Prompt</a:t>
            </a:r>
          </a:p>
        </p:txBody>
      </p:sp>
      <p:sp>
        <p:nvSpPr>
          <p:cNvPr id="16" name="이번 작업을&#10;구체화한다">
            <a:extLst xmlns:a="http://schemas.openxmlformats.org/drawingml/2006/main">
              <a:ext uri="{FF2B5EF4-FFF2-40B4-BE49-F238E27FC236}">
                <a16:creationId xmlns:a16="http://schemas.microsoft.com/office/drawing/2014/main" id="{862C8DE1-DB06-4C37-93B1-82CED5D3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198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이번 작업을</a:t>
            </a:r>
          </a:p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구체화한다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03990-0351-400C-9365-1C362BF74717}"/>
              </a:ext>
            </a:extLst>
          </p:cNvPr>
          <p:cNvCxnSpPr/>
          <p:nvPr/>
        </p:nvCxnSpPr>
        <p:spPr>
          <a:xfrm xmlns:a="http://schemas.openxmlformats.org/drawingml/2006/main">
            <a:off x="4895850" y="37528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8" name="설명을 반복하면">
            <a:extLst xmlns:a="http://schemas.openxmlformats.org/drawingml/2006/main">
              <a:ext uri="{FF2B5EF4-FFF2-40B4-BE49-F238E27FC236}">
                <a16:creationId xmlns:a16="http://schemas.microsoft.com/office/drawing/2014/main" id="{FBA27FCD-C504-4029-8D19-30CA580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설명을 반복하면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4081B-6D9F-43DC-8D10-716434A7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432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20" name="Context">
            <a:extLst xmlns:a="http://schemas.openxmlformats.org/drawingml/2006/main">
              <a:ext uri="{FF2B5EF4-FFF2-40B4-BE49-F238E27FC236}">
                <a16:creationId xmlns:a16="http://schemas.microsoft.com/office/drawing/2014/main" id="{939BC9DD-14BF-4ACA-B5C8-3AE9B0A3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1981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Context</a:t>
            </a:r>
          </a:p>
        </p:txBody>
      </p:sp>
      <p:sp>
        <p:nvSpPr>
          <p:cNvPr id="21" name="프로젝트 지식의&#10;출처를 둔다">
            <a:extLst xmlns:a="http://schemas.openxmlformats.org/drawingml/2006/main">
              <a:ext uri="{FF2B5EF4-FFF2-40B4-BE49-F238E27FC236}">
                <a16:creationId xmlns:a16="http://schemas.microsoft.com/office/drawing/2014/main" id="{7E814B69-97B8-43F9-BB06-6525ABC6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19575"/>
            <a:ext cx="198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프로젝트 지식의</a:t>
            </a:r>
          </a:p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출처를 둔다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BB199-2C40-45EE-B7BF-F1262BC4BC32}"/>
              </a:ext>
            </a:extLst>
          </p:cNvPr>
          <p:cNvCxnSpPr/>
          <p:nvPr/>
        </p:nvCxnSpPr>
        <p:spPr>
          <a:xfrm xmlns:a="http://schemas.openxmlformats.org/drawingml/2006/main">
            <a:off x="7143750" y="37528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23" name="절차를 반복하면">
            <a:extLst xmlns:a="http://schemas.openxmlformats.org/drawingml/2006/main">
              <a:ext uri="{FF2B5EF4-FFF2-40B4-BE49-F238E27FC236}">
                <a16:creationId xmlns:a16="http://schemas.microsoft.com/office/drawing/2014/main" id="{6E570239-F44E-4647-BCB3-B35A0899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절차를 반복하면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26EAD-39D3-47C7-BA5C-BD7FCD66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432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25" name="Harness">
            <a:extLst xmlns:a="http://schemas.openxmlformats.org/drawingml/2006/main">
              <a:ext uri="{FF2B5EF4-FFF2-40B4-BE49-F238E27FC236}">
                <a16:creationId xmlns:a16="http://schemas.microsoft.com/office/drawing/2014/main" id="{CF3A5F17-EFC8-4BE4-91A0-2DDAEFE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24250"/>
            <a:ext cx="1981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Harness</a:t>
            </a:r>
          </a:p>
        </p:txBody>
      </p:sp>
      <p:sp>
        <p:nvSpPr>
          <p:cNvPr id="26" name="일하는 환경을&#10;설계한다">
            <a:extLst xmlns:a="http://schemas.openxmlformats.org/drawingml/2006/main">
              <a:ext uri="{FF2B5EF4-FFF2-40B4-BE49-F238E27FC236}">
                <a16:creationId xmlns:a16="http://schemas.microsoft.com/office/drawing/2014/main" id="{24D0AA68-EBDB-4746-8936-4520CEF8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19575"/>
            <a:ext cx="198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일하는 환경을</a:t>
            </a:r>
          </a:p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설계한다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F5D5B-AB3C-4835-BDAC-99DD80DFB53F}"/>
              </a:ext>
            </a:extLst>
          </p:cNvPr>
          <p:cNvCxnSpPr/>
          <p:nvPr/>
        </p:nvCxnSpPr>
        <p:spPr>
          <a:xfrm xmlns:a="http://schemas.openxmlformats.org/drawingml/2006/main">
            <a:off x="9391650" y="37528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28" name="조건이 달라지면">
            <a:extLst xmlns:a="http://schemas.openxmlformats.org/drawingml/2006/main">
              <a:ext uri="{FF2B5EF4-FFF2-40B4-BE49-F238E27FC236}">
                <a16:creationId xmlns:a16="http://schemas.microsoft.com/office/drawing/2014/main" id="{E1A6BC35-7AD2-4745-8BA6-4FBB040E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조건이 달라지면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7497EA-69C0-45EA-AED9-F020AEB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432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30" name="Loop">
            <a:extLst xmlns:a="http://schemas.openxmlformats.org/drawingml/2006/main">
              <a:ext uri="{FF2B5EF4-FFF2-40B4-BE49-F238E27FC236}">
                <a16:creationId xmlns:a16="http://schemas.microsoft.com/office/drawing/2014/main" id="{48B0F358-1176-4E1F-84FD-6A76D2DD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24250"/>
            <a:ext cx="1981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Loop</a:t>
            </a:r>
          </a:p>
        </p:txBody>
      </p:sp>
      <p:sp>
        <p:nvSpPr>
          <p:cNvPr id="31" name="근거를 확인해&#10;시스템을 고친다">
            <a:extLst xmlns:a="http://schemas.openxmlformats.org/drawingml/2006/main">
              <a:ext uri="{FF2B5EF4-FFF2-40B4-BE49-F238E27FC236}">
                <a16:creationId xmlns:a16="http://schemas.microsoft.com/office/drawing/2014/main" id="{47E1F735-602C-43E4-9F31-AD2F31F0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19575"/>
            <a:ext cx="198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근거를 확인해</a:t>
            </a:r>
          </a:p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시스템을 고친다</a:t>
            </a:r>
          </a:p>
        </p:txBody>
      </p:sp>
      <p:sp>
        <p:nvSpPr>
          <p:cNvPr id="32" name="문제에 따라 더해진 대응이지, 기능을 모두 갖추는 순서는 아니다">
            <a:extLst xmlns:a="http://schemas.openxmlformats.org/drawingml/2006/main">
              <a:ext uri="{FF2B5EF4-FFF2-40B4-BE49-F238E27FC236}">
                <a16:creationId xmlns:a16="http://schemas.microsoft.com/office/drawing/2014/main" id="{6F4F5624-22B4-490F-A184-0567A3AC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문제에 따라 더해진 대응이지, 기능을 모두 갖추는 순서는 아니다</a:t>
            </a:r>
          </a:p>
        </p:txBody>
      </p:sp>
      <p:sp>
        <p:nvSpPr>
          <p:cNvPr id="33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796C7F8E-F2BD-49B7-83A8-E27A17F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M1 · M2</a:t>
            </a:r>
          </a:p>
        </p:txBody>
      </p:sp>
    </p:spTree>
    <p:extLst>
      <p:ext uri="{BB962C8B-B14F-4D97-AF65-F5344CB8AC3E}">
        <p14:creationId xmlns:p14="http://schemas.microsoft.com/office/powerpoint/2010/main" val="151843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T 5 · OBSERVED PRODUCT / 제품 저장소의 변경 이력">
            <a:extLst xmlns:a="http://schemas.openxmlformats.org/drawingml/2006/main">
              <a:ext uri="{FF2B5EF4-FFF2-40B4-BE49-F238E27FC236}">
                <a16:creationId xmlns:a16="http://schemas.microsoft.com/office/drawing/2014/main" id="{C214F9D0-28FE-478D-B264-55DE1706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5 · OBSERVED PRODUCT / 제품 저장소의 변경 이력</a:t>
            </a:r>
          </a:p>
        </p:txBody>
      </p:sp>
      <p:sp>
        <p:nvSpPr>
          <p:cNvPr id="2" name="S87">
            <a:extLst xmlns:a="http://schemas.openxmlformats.org/drawingml/2006/main">
              <a:ext uri="{FF2B5EF4-FFF2-40B4-BE49-F238E27FC236}">
                <a16:creationId xmlns:a16="http://schemas.microsoft.com/office/drawing/2014/main" id="{3AFDB28A-407D-4472-8AE5-6D7520BA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S87</a:t>
            </a:r>
          </a:p>
        </p:txBody>
      </p:sp>
      <p:sp>
        <p:nvSpPr>
          <p:cNvPr id="3" name="실제 Demo는 문제에 맞춰 바뀌었다">
            <a:extLst xmlns:a="http://schemas.openxmlformats.org/drawingml/2006/main">
              <a:ext uri="{FF2B5EF4-FFF2-40B4-BE49-F238E27FC236}">
                <a16:creationId xmlns:a16="http://schemas.microsoft.com/office/drawing/2014/main" id="{CA2B2A33-AA64-4BCD-B96C-5218F5D6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실제 Demo는 문제에 맞춰 바뀌었다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A4849-B21A-4FFB-A58E-BB4187C1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DEMO-12 · 실제 Git State 이력 · TRIAL-002 / TRIAL-005 / STATE-04">
            <a:extLst xmlns:a="http://schemas.openxmlformats.org/drawingml/2006/main">
              <a:ext uri="{FF2B5EF4-FFF2-40B4-BE49-F238E27FC236}">
                <a16:creationId xmlns:a16="http://schemas.microsoft.com/office/drawing/2014/main" id="{B6F4EDA5-5B73-4104-B16A-E103D2DC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DEMO-12 · 실제 Git State 이력 · TRIAL-002 / TRIAL-005 / STATE-04-PERF</a:t>
            </a:r>
          </a:p>
        </p:txBody>
      </p:sp>
      <p:sp>
        <p:nvSpPr>
          <p:cNvPr id="6" name="기록을 요약한 도식 · State는 성숙도 등급이 아님 · 성능은 해당 코드·입력·환경 범위">
            <a:extLst xmlns:a="http://schemas.openxmlformats.org/drawingml/2006/main">
              <a:ext uri="{FF2B5EF4-FFF2-40B4-BE49-F238E27FC236}">
                <a16:creationId xmlns:a16="http://schemas.microsoft.com/office/drawing/2014/main" id="{405DB39E-9C1A-4A84-9BED-74F0C0F2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기록을 요약한 도식 · State는 성숙도 등급이 아님 · 성능은 해당 코드·입력·환경 범위</a:t>
            </a:r>
          </a:p>
        </p:txBody>
      </p:sp>
      <p:sp>
        <p:nvSpPr>
          <p:cNvPr id="7" name="전체 교육 모델 중, 제품 저장소에서 확인한 변화만">
            <a:extLst xmlns:a="http://schemas.openxmlformats.org/drawingml/2006/main">
              <a:ext uri="{FF2B5EF4-FFF2-40B4-BE49-F238E27FC236}">
                <a16:creationId xmlns:a16="http://schemas.microsoft.com/office/drawing/2014/main" id="{62702500-0FB7-4D98-9E30-524F8A50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전체 교육 모델 중, 제품 저장소에서 확인한 변화만</a:t>
            </a:r>
          </a:p>
        </p:txBody>
      </p:sp>
      <p:sp>
        <p:nvSpPr>
          <p:cNvPr id="8" name="마주친 문제">
            <a:extLst xmlns:a="http://schemas.openxmlformats.org/drawingml/2006/main">
              <a:ext uri="{FF2B5EF4-FFF2-40B4-BE49-F238E27FC236}">
                <a16:creationId xmlns:a16="http://schemas.microsoft.com/office/drawing/2014/main" id="{475A117A-9324-40D7-8F23-DC16265C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마주친 문제</a:t>
            </a:r>
          </a:p>
        </p:txBody>
      </p:sp>
      <p:sp>
        <p:nvSpPr>
          <p:cNvPr id="9" name="실제로 바꾼 것">
            <a:extLst xmlns:a="http://schemas.openxmlformats.org/drawingml/2006/main">
              <a:ext uri="{FF2B5EF4-FFF2-40B4-BE49-F238E27FC236}">
                <a16:creationId xmlns:a16="http://schemas.microsoft.com/office/drawing/2014/main" id="{2CF72205-CFA7-4FD7-BAFB-EFF3779D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9825"/>
            <a:ext cx="7439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실제로 바꾼 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3F42A-89DB-4137-BAE9-4147722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crop 경계 오류">
            <a:extLst xmlns:a="http://schemas.openxmlformats.org/drawingml/2006/main">
              <a:ext uri="{FF2B5EF4-FFF2-40B4-BE49-F238E27FC236}">
                <a16:creationId xmlns:a16="http://schemas.microsoft.com/office/drawing/2014/main" id="{AEAD880D-E9A6-4516-A14B-9C71845D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crop 경계 오류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422B9-D32B-44ED-B5F0-7B1B9F74BAC3}"/>
              </a:ext>
            </a:extLst>
          </p:cNvPr>
          <p:cNvCxnSpPr/>
          <p:nvPr/>
        </p:nvCxnSpPr>
        <p:spPr>
          <a:xfrm xmlns:a="http://schemas.openxmlformats.org/drawingml/2006/main">
            <a:off x="3667125" y="32099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3" name="끝 좌표 제외 명세에 맞춰 구현 수정">
            <a:extLst xmlns:a="http://schemas.openxmlformats.org/drawingml/2006/main">
              <a:ext uri="{FF2B5EF4-FFF2-40B4-BE49-F238E27FC236}">
                <a16:creationId xmlns:a16="http://schemas.microsoft.com/office/drawing/2014/main" id="{8EC3202C-EFBB-40C9-808D-2A9BD176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24175"/>
            <a:ext cx="7439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끝 좌표 제외 명세에 맞춰 구현 수정</a:t>
            </a:r>
          </a:p>
        </p:txBody>
      </p:sp>
      <p:sp>
        <p:nvSpPr>
          <p:cNvPr id="14" name="STATE-00  →  STATE-00-FIXED">
            <a:extLst xmlns:a="http://schemas.openxmlformats.org/drawingml/2006/main">
              <a:ext uri="{FF2B5EF4-FFF2-40B4-BE49-F238E27FC236}">
                <a16:creationId xmlns:a16="http://schemas.microsoft.com/office/drawing/2014/main" id="{B56FE66A-AAC2-4135-AB0F-DF6A043E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14700"/>
            <a:ext cx="7439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4D5A68"/>
                </a:solidFill>
                <a:latin typeface="Consolas"/>
                <a:ea typeface="Consolas"/>
                <a:cs typeface="Consolas"/>
              </a:rPr>
              <a:t>STATE-00  →  STATE-00-FIXED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92516-CC35-4EBB-B676-EFBDA487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6" name="프로젝트 지침의&#10;반복·증가">
            <a:extLst xmlns:a="http://schemas.openxmlformats.org/drawingml/2006/main">
              <a:ext uri="{FF2B5EF4-FFF2-40B4-BE49-F238E27FC236}">
                <a16:creationId xmlns:a16="http://schemas.microsoft.com/office/drawing/2014/main" id="{D4BDFD97-7754-4E65-9F23-515DB9D7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프로젝트 지침의</a:t>
            </a:r>
          </a:p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반복·증가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38FA5-A27B-4052-991D-B9247EBA6B9B}"/>
              </a:ext>
            </a:extLst>
          </p:cNvPr>
          <p:cNvCxnSpPr/>
          <p:nvPr/>
        </p:nvCxnSpPr>
        <p:spPr>
          <a:xfrm xmlns:a="http://schemas.openxmlformats.org/drawingml/2006/main">
            <a:off x="3667125" y="40100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8" name="기본 안내와 필요한 상세 문서로 정리">
            <a:extLst xmlns:a="http://schemas.openxmlformats.org/drawingml/2006/main">
              <a:ext uri="{FF2B5EF4-FFF2-40B4-BE49-F238E27FC236}">
                <a16:creationId xmlns:a16="http://schemas.microsoft.com/office/drawing/2014/main" id="{BCA9C34D-7700-4CCA-82C2-FF682BC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24275"/>
            <a:ext cx="7439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기본 안내와 필요한 상세 문서로 정리</a:t>
            </a:r>
          </a:p>
        </p:txBody>
      </p:sp>
      <p:sp>
        <p:nvSpPr>
          <p:cNvPr id="19" name="STATE-01  →  STATE-02  →  STATE-03">
            <a:extLst xmlns:a="http://schemas.openxmlformats.org/drawingml/2006/main">
              <a:ext uri="{FF2B5EF4-FFF2-40B4-BE49-F238E27FC236}">
                <a16:creationId xmlns:a16="http://schemas.microsoft.com/office/drawing/2014/main" id="{A776B84B-794E-4747-8405-6F801B15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14800"/>
            <a:ext cx="7439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4D5A68"/>
                </a:solidFill>
                <a:latin typeface="Consolas"/>
                <a:ea typeface="Consolas"/>
                <a:cs typeface="Consolas"/>
              </a:rPr>
              <a:t>STATE-01  →  STATE-02  →  STATE-03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AD0CF-6894-49F8-80AE-A7306C4E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1" name="같은 조사·검증&#10;절차 반복">
            <a:extLst xmlns:a="http://schemas.openxmlformats.org/drawingml/2006/main">
              <a:ext uri="{FF2B5EF4-FFF2-40B4-BE49-F238E27FC236}">
                <a16:creationId xmlns:a16="http://schemas.microsoft.com/office/drawing/2014/main" id="{F5BBE066-1C38-4643-B388-D72B478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조사·검증</a:t>
            </a:r>
          </a:p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절차 반복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D32E9-91B2-4A55-AA5B-30BD70BB3290}"/>
              </a:ext>
            </a:extLst>
          </p:cNvPr>
          <p:cNvCxnSpPr/>
          <p:nvPr/>
        </p:nvCxnSpPr>
        <p:spPr>
          <a:xfrm xmlns:a="http://schemas.openxmlformats.org/drawingml/2006/main">
            <a:off x="3667125" y="48101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23" name="Skill을 재사용하고 제품 변경을 검증">
            <a:extLst xmlns:a="http://schemas.openxmlformats.org/drawingml/2006/main">
              <a:ext uri="{FF2B5EF4-FFF2-40B4-BE49-F238E27FC236}">
                <a16:creationId xmlns:a16="http://schemas.microsoft.com/office/drawing/2014/main" id="{2E51A2D0-4D9D-44F1-9650-79E2165B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24375"/>
            <a:ext cx="7439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Skill을 재사용하고 제품 변경을 검증</a:t>
            </a:r>
          </a:p>
        </p:txBody>
      </p:sp>
      <p:sp>
        <p:nvSpPr>
          <p:cNvPr id="24" name="STATE-04  →  STATE-04-PERF">
            <a:extLst xmlns:a="http://schemas.openxmlformats.org/drawingml/2006/main">
              <a:ext uri="{FF2B5EF4-FFF2-40B4-BE49-F238E27FC236}">
                <a16:creationId xmlns:a16="http://schemas.microsoft.com/office/drawing/2014/main" id="{758697D1-C7EF-466E-A33D-5692E419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14900"/>
            <a:ext cx="7439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4D5A68"/>
                </a:solidFill>
                <a:latin typeface="Consolas"/>
                <a:ea typeface="Consolas"/>
                <a:cs typeface="Consolas"/>
              </a:rPr>
              <a:t>STATE-04  →  STATE-04-PERF</a:t>
            </a:r>
          </a:p>
        </p:txBody>
      </p:sp>
      <p:sp>
        <p:nvSpPr>
          <p:cNvPr id="25" name="Loop는 앞 ACT의 가상 사례·실제 제작 기록에서 따로 살펴봤다">
            <a:extLst xmlns:a="http://schemas.openxmlformats.org/drawingml/2006/main">
              <a:ext uri="{FF2B5EF4-FFF2-40B4-BE49-F238E27FC236}">
                <a16:creationId xmlns:a16="http://schemas.microsoft.com/office/drawing/2014/main" id="{0B54D4CA-DD59-4F59-BB4F-378F2B6B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Loop는 앞 ACT의 가상 사례·실제 제작 기록에서 따로 살펴봤다</a:t>
            </a:r>
          </a:p>
        </p:txBody>
      </p:sp>
      <p:sp>
        <p:nvSpPr>
          <p:cNvPr id="26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79602C45-2B86-4154-97C4-6D9B02A6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M5 · M6</a:t>
            </a:r>
          </a:p>
        </p:txBody>
      </p:sp>
    </p:spTree>
    <p:extLst>
      <p:ext uri="{BB962C8B-B14F-4D97-AF65-F5344CB8AC3E}">
        <p14:creationId xmlns:p14="http://schemas.microsoft.com/office/powerpoint/2010/main" val="784074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T 5 · 이번 Demo의 선택 기준">
            <a:extLst xmlns:a="http://schemas.openxmlformats.org/drawingml/2006/main">
              <a:ext uri="{FF2B5EF4-FFF2-40B4-BE49-F238E27FC236}">
                <a16:creationId xmlns:a16="http://schemas.microsoft.com/office/drawing/2014/main" id="{31ED4BE0-D978-4164-B197-31FAD951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5 · 이번 Demo의 선택 기준</a:t>
            </a:r>
          </a:p>
        </p:txBody>
      </p:sp>
      <p:sp>
        <p:nvSpPr>
          <p:cNvPr id="2" name="S88">
            <a:extLst xmlns:a="http://schemas.openxmlformats.org/drawingml/2006/main">
              <a:ext uri="{FF2B5EF4-FFF2-40B4-BE49-F238E27FC236}">
                <a16:creationId xmlns:a16="http://schemas.microsoft.com/office/drawing/2014/main" id="{9AA6A0EF-10F3-471E-918D-E99BDB7C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S88</a:t>
            </a:r>
          </a:p>
        </p:txBody>
      </p:sp>
      <p:sp>
        <p:nvSpPr>
          <p:cNvPr id="3" name="이번 문제에 필요한 구성만 선택했다">
            <a:extLst xmlns:a="http://schemas.openxmlformats.org/drawingml/2006/main">
              <a:ext uri="{FF2B5EF4-FFF2-40B4-BE49-F238E27FC236}">
                <a16:creationId xmlns:a16="http://schemas.microsoft.com/office/drawing/2014/main" id="{BADBB270-0FCF-4C67-AC2D-4A6A10F7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이번 문제에 필요한 구성만 선택했다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ED859-84D8-47D9-AAE4-AE01AD36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STATE-04-PERF · DEC-0018 · 현재 작업의 구성·지식 출처 감사">
            <a:extLst xmlns:a="http://schemas.openxmlformats.org/drawingml/2006/main">
              <a:ext uri="{FF2B5EF4-FFF2-40B4-BE49-F238E27FC236}">
                <a16:creationId xmlns:a16="http://schemas.microsoft.com/office/drawing/2014/main" id="{1EF1D9A9-948A-4737-BA47-D901F5A3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STATE-04-PERF · DEC-0018 · 현재 작업의 구성·지식 출처 감사</a:t>
            </a:r>
          </a:p>
        </p:txBody>
      </p:sp>
      <p:sp>
        <p:nvSpPr>
          <p:cNvPr id="6" name="비교 실험 결과가 아님 · 모든 프로젝트에 Subagent·Memory가 불필요하거나 적을수록 좋다는 뜻은 ">
            <a:extLst xmlns:a="http://schemas.openxmlformats.org/drawingml/2006/main">
              <a:ext uri="{FF2B5EF4-FFF2-40B4-BE49-F238E27FC236}">
                <a16:creationId xmlns:a16="http://schemas.microsoft.com/office/drawing/2014/main" id="{26791231-7D85-4033-AC53-CFEE9453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비교 실험 결과가 아님 · 모든 프로젝트에 Subagent·Memory가 불필요하거나 적을수록 좋다는 뜻은 아님</a:t>
            </a:r>
          </a:p>
        </p:txBody>
      </p:sp>
      <p:sp>
        <p:nvSpPr>
          <p:cNvPr id="7" name="도구 수보다, 현재 문제에서 필요한 이유를 본다">
            <a:extLst xmlns:a="http://schemas.openxmlformats.org/drawingml/2006/main">
              <a:ext uri="{FF2B5EF4-FFF2-40B4-BE49-F238E27FC236}">
                <a16:creationId xmlns:a16="http://schemas.microsoft.com/office/drawing/2014/main" id="{2DFB630A-DE5B-45B2-A700-EBA407DA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도구 수보다, 현재 문제에서 필요한 이유를 본다</a:t>
            </a:r>
          </a:p>
        </p:txBody>
      </p:sp>
      <p:sp>
        <p:nvSpPr>
          <p:cNvPr id="8" name="사용한 구성">
            <a:extLst xmlns:a="http://schemas.openxmlformats.org/drawingml/2006/main">
              <a:ext uri="{FF2B5EF4-FFF2-40B4-BE49-F238E27FC236}">
                <a16:creationId xmlns:a16="http://schemas.microsoft.com/office/drawing/2014/main" id="{536FD92F-7CB3-4DA2-8325-7BB68E19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사용한 구성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B1F42-5576-41A0-B150-78D43DD2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0" name="작업 요청&#10;Context와 Routing&#10;재사용 Skill&#10;테스트와 Benchmark">
            <a:extLst xmlns:a="http://schemas.openxmlformats.org/drawingml/2006/main">
              <a:ext uri="{FF2B5EF4-FFF2-40B4-BE49-F238E27FC236}">
                <a16:creationId xmlns:a16="http://schemas.microsoft.com/office/drawing/2014/main" id="{D0CBA8AA-F783-4BE3-8D79-3EC80BC0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810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작업 요청</a:t>
            </a:r>
          </a:p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Context와 Routing</a:t>
            </a:r>
          </a:p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재사용 Skill</a:t>
            </a:r>
          </a:p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테스트와 Benchmark</a:t>
            </a:r>
          </a:p>
        </p:txBody>
      </p:sp>
      <p:sp>
        <p:nvSpPr>
          <p:cNvPr id="11" name="이번에는 보류한 이유">
            <a:extLst xmlns:a="http://schemas.openxmlformats.org/drawingml/2006/main">
              <a:ext uri="{FF2B5EF4-FFF2-40B4-BE49-F238E27FC236}">
                <a16:creationId xmlns:a16="http://schemas.microsoft.com/office/drawing/2014/main" id="{F1775D91-E126-4817-AC89-3178883B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28900"/>
            <a:ext cx="624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이번에는 보류한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A4D65-3135-41BD-B082-B9A258F7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624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solid"/>
          </a:ln>
        </p:spPr>
      </p:sp>
      <p:sp>
        <p:nvSpPr>
          <p:cNvPr id="13" name="Subagent">
            <a:extLst xmlns:a="http://schemas.openxmlformats.org/drawingml/2006/main">
              <a:ext uri="{FF2B5EF4-FFF2-40B4-BE49-F238E27FC236}">
                <a16:creationId xmlns:a16="http://schemas.microsoft.com/office/drawing/2014/main" id="{73F68F52-F56B-420C-98F4-8D7A64D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Subagent</a:t>
            </a:r>
          </a:p>
        </p:txBody>
      </p:sp>
      <p:sp>
        <p:nvSpPr>
          <p:cNvPr id="14" name="같은 코드의 조사 → 변경 → 검증이 이어짐">
            <a:extLst xmlns:a="http://schemas.openxmlformats.org/drawingml/2006/main">
              <a:ext uri="{FF2B5EF4-FFF2-40B4-BE49-F238E27FC236}">
                <a16:creationId xmlns:a16="http://schemas.microsoft.com/office/drawing/2014/main" id="{422A26E9-2F42-4267-A600-21539EBF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43325"/>
            <a:ext cx="6248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코드의 조사 → 변경 → 검증이 이어짐</a:t>
            </a:r>
          </a:p>
        </p:txBody>
      </p:sp>
      <p:sp>
        <p:nvSpPr>
          <p:cNvPr id="15" name="Memory">
            <a:extLst xmlns:a="http://schemas.openxmlformats.org/drawingml/2006/main">
              <a:ext uri="{FF2B5EF4-FFF2-40B4-BE49-F238E27FC236}">
                <a16:creationId xmlns:a16="http://schemas.microsoft.com/office/drawing/2014/main" id="{89B70419-2CE2-4586-B04E-F467C8A2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291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Memory</a:t>
            </a:r>
          </a:p>
        </p:txBody>
      </p:sp>
      <p:sp>
        <p:nvSpPr>
          <p:cNvPr id="16" name="필요한 지식이 기존 출처에 이미 있었음">
            <a:extLst xmlns:a="http://schemas.openxmlformats.org/drawingml/2006/main">
              <a:ext uri="{FF2B5EF4-FFF2-40B4-BE49-F238E27FC236}">
                <a16:creationId xmlns:a16="http://schemas.microsoft.com/office/drawing/2014/main" id="{7DA74CE2-8832-4B67-A26F-11743820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38700"/>
            <a:ext cx="6248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필요한 지식이 기존 출처에 이미 있었음</a:t>
            </a:r>
          </a:p>
        </p:txBody>
      </p:sp>
      <p:sp>
        <p:nvSpPr>
          <p:cNvPr id="17" name="현재 문제가 필요로 하는 만큼 설계한다">
            <a:extLst xmlns:a="http://schemas.openxmlformats.org/drawingml/2006/main">
              <a:ext uri="{FF2B5EF4-FFF2-40B4-BE49-F238E27FC236}">
                <a16:creationId xmlns:a16="http://schemas.microsoft.com/office/drawing/2014/main" id="{5F78CE69-DB2A-487D-8368-95206C09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현재 문제가 필요로 하는 만큼 설계한다</a:t>
            </a:r>
          </a:p>
        </p:txBody>
      </p:sp>
      <p:sp>
        <p:nvSpPr>
          <p:cNvPr id="18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62E77C8B-4983-44D8-9510-1DB74A2F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M8 · M9</a:t>
            </a:r>
          </a:p>
        </p:txBody>
      </p:sp>
    </p:spTree>
    <p:extLst>
      <p:ext uri="{BB962C8B-B14F-4D97-AF65-F5344CB8AC3E}">
        <p14:creationId xmlns:p14="http://schemas.microsoft.com/office/powerpoint/2010/main" val="447719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CT 5 · 개발자에게 남는 판단과 책임">
            <a:extLst xmlns:a="http://schemas.openxmlformats.org/drawingml/2006/main">
              <a:ext uri="{FF2B5EF4-FFF2-40B4-BE49-F238E27FC236}">
                <a16:creationId xmlns:a16="http://schemas.microsoft.com/office/drawing/2014/main" id="{1059C97E-D8BB-4053-8EC2-5A008761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5 · 개발자에게 남는 판단과 책임</a:t>
            </a:r>
          </a:p>
        </p:txBody>
      </p:sp>
      <p:sp>
        <p:nvSpPr>
          <p:cNvPr id="2" name="S89">
            <a:extLst xmlns:a="http://schemas.openxmlformats.org/drawingml/2006/main">
              <a:ext uri="{FF2B5EF4-FFF2-40B4-BE49-F238E27FC236}">
                <a16:creationId xmlns:a16="http://schemas.microsoft.com/office/drawing/2014/main" id="{7025FA88-C70D-47B4-8A75-726D714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S89</a:t>
            </a:r>
          </a:p>
        </p:txBody>
      </p:sp>
      <p:sp>
        <p:nvSpPr>
          <p:cNvPr id="3" name="결과를 수용할지는 사람이 판단한다">
            <a:extLst xmlns:a="http://schemas.openxmlformats.org/drawingml/2006/main">
              <a:ext uri="{FF2B5EF4-FFF2-40B4-BE49-F238E27FC236}">
                <a16:creationId xmlns:a16="http://schemas.microsoft.com/office/drawing/2014/main" id="{A32C6AD8-4D13-46C1-BC23-8D2399B2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결과를 수용할지는 사람이 판단한다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5D727-E213-4E51-8E83-E06F4693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BEAT-061–062 · 이 교육의 책임 원칙">
            <a:extLst xmlns:a="http://schemas.openxmlformats.org/drawingml/2006/main">
              <a:ext uri="{FF2B5EF4-FFF2-40B4-BE49-F238E27FC236}">
                <a16:creationId xmlns:a16="http://schemas.microsoft.com/office/drawing/2014/main" id="{9B84DC0E-A394-4F46-B4A5-B1753C00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BEAT-061–062 · 이 교육의 책임 원칙</a:t>
            </a:r>
          </a:p>
        </p:txBody>
      </p:sp>
      <p:sp>
        <p:nvSpPr>
          <p:cNvPr id="6" name="Agent와 개발자의 역할을 고정된 분업표로 제시하는 것은 아니다.">
            <a:extLst xmlns:a="http://schemas.openxmlformats.org/drawingml/2006/main">
              <a:ext uri="{FF2B5EF4-FFF2-40B4-BE49-F238E27FC236}">
                <a16:creationId xmlns:a16="http://schemas.microsoft.com/office/drawing/2014/main" id="{345FE88B-48E5-4A59-8540-7F49DC0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Agent와 개발자의 역할을 고정된 분업표로 제시하는 것은 아니다.</a:t>
            </a:r>
          </a:p>
        </p:txBody>
      </p:sp>
      <p:sp>
        <p:nvSpPr>
          <p:cNvPr id="7" name="AI가 조사·생성·변경·실행·비교를 도와도">
            <a:extLst xmlns:a="http://schemas.openxmlformats.org/drawingml/2006/main">
              <a:ext uri="{FF2B5EF4-FFF2-40B4-BE49-F238E27FC236}">
                <a16:creationId xmlns:a16="http://schemas.microsoft.com/office/drawing/2014/main" id="{D1B84390-5150-45F1-8CD7-C6F9074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AI가 조사·생성·변경·실행·비교를 도와도</a:t>
            </a:r>
          </a:p>
        </p:txBody>
      </p:sp>
      <p:sp>
        <p:nvSpPr>
          <p:cNvPr id="8" name="AI의 작업 결과">
            <a:extLst xmlns:a="http://schemas.openxmlformats.org/drawingml/2006/main">
              <a:ext uri="{FF2B5EF4-FFF2-40B4-BE49-F238E27FC236}">
                <a16:creationId xmlns:a16="http://schemas.microsoft.com/office/drawing/2014/main" id="{8CDAEB57-BFA8-46CB-B5F4-9FF1DCE1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AI의 작업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A4908-1E4D-42F4-A4E2-5EC0ABC1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29527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변경 내용&#10;실행·검사·비교 기록">
            <a:extLst xmlns:a="http://schemas.openxmlformats.org/drawingml/2006/main">
              <a:ext uri="{FF2B5EF4-FFF2-40B4-BE49-F238E27FC236}">
                <a16:creationId xmlns:a16="http://schemas.microsoft.com/office/drawing/2014/main" id="{B996D07F-9265-48B2-AAAD-6581F98C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2609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변경 내용</a:t>
            </a:r>
          </a:p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실행·검사·비교 기록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28856-C73C-4E2D-87AC-38374C92B99B}"/>
              </a:ext>
            </a:extLst>
          </p:cNvPr>
          <p:cNvCxnSpPr/>
          <p:nvPr/>
        </p:nvCxnSpPr>
        <p:spPr>
          <a:xfrm xmlns:a="http://schemas.openxmlformats.org/drawingml/2006/main">
            <a:off x="3781425" y="4095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2" name="사람의 수용 판단">
            <a:extLst xmlns:a="http://schemas.openxmlformats.org/drawingml/2006/main">
              <a:ext uri="{FF2B5EF4-FFF2-40B4-BE49-F238E27FC236}">
                <a16:creationId xmlns:a16="http://schemas.microsoft.com/office/drawing/2014/main" id="{462A29EE-5871-4CE5-B37D-6A08B857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672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사람의 수용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8A5EF-659C-42D9-B0B6-1F266B22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4" name="목표">
            <a:extLst xmlns:a="http://schemas.openxmlformats.org/drawingml/2006/main">
              <a:ext uri="{FF2B5EF4-FFF2-40B4-BE49-F238E27FC236}">
                <a16:creationId xmlns:a16="http://schemas.microsoft.com/office/drawing/2014/main" id="{53DC86CA-D912-463D-8229-6C666C16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15" name="목표·제약에 맞나?">
            <a:extLst xmlns:a="http://schemas.openxmlformats.org/drawingml/2006/main">
              <a:ext uri="{FF2B5EF4-FFF2-40B4-BE49-F238E27FC236}">
                <a16:creationId xmlns:a16="http://schemas.microsoft.com/office/drawing/2014/main" id="{211A902D-2E02-43D2-B5DA-55843B35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861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목표·제약에 맞나?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0D75D-D4DE-44E2-9BFD-555C07D1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7" name="판단">
            <a:extLst xmlns:a="http://schemas.openxmlformats.org/drawingml/2006/main">
              <a:ext uri="{FF2B5EF4-FFF2-40B4-BE49-F238E27FC236}">
                <a16:creationId xmlns:a16="http://schemas.microsoft.com/office/drawing/2014/main" id="{1F074E86-89C1-4330-9428-7FBE0D5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8" name="선택이 적절한가?">
            <a:extLst xmlns:a="http://schemas.openxmlformats.org/drawingml/2006/main">
              <a:ext uri="{FF2B5EF4-FFF2-40B4-BE49-F238E27FC236}">
                <a16:creationId xmlns:a16="http://schemas.microsoft.com/office/drawing/2014/main" id="{16216C8C-0FFD-4A1A-8BFF-76C1D8FA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861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선택이 적절한가?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5AA2E-54F1-4A43-97EA-BA19420B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6245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20" name="검증">
            <a:extLst xmlns:a="http://schemas.openxmlformats.org/drawingml/2006/main">
              <a:ext uri="{FF2B5EF4-FFF2-40B4-BE49-F238E27FC236}">
                <a16:creationId xmlns:a16="http://schemas.microsoft.com/office/drawing/2014/main" id="{39104CEA-E8E1-4BA3-A4C5-3DB1A31D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21" name="근거로 확인했나?">
            <a:extLst xmlns:a="http://schemas.openxmlformats.org/drawingml/2006/main">
              <a:ext uri="{FF2B5EF4-FFF2-40B4-BE49-F238E27FC236}">
                <a16:creationId xmlns:a16="http://schemas.microsoft.com/office/drawing/2014/main" id="{A3AE37BF-CCA6-4A47-82CB-76CD3754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053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근거로 확인했나?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25E73-B424-42EF-8A76-E20130F3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6245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23" name="책임">
            <a:extLst xmlns:a="http://schemas.openxmlformats.org/drawingml/2006/main">
              <a:ext uri="{FF2B5EF4-FFF2-40B4-BE49-F238E27FC236}">
                <a16:creationId xmlns:a16="http://schemas.microsoft.com/office/drawing/2014/main" id="{BAE1EA24-954B-4287-A913-A6BC1B22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책임</a:t>
            </a:r>
          </a:p>
        </p:txBody>
      </p:sp>
      <p:sp>
        <p:nvSpPr>
          <p:cNvPr id="24" name="남은 위험을 수용할까?">
            <a:extLst xmlns:a="http://schemas.openxmlformats.org/drawingml/2006/main">
              <a:ext uri="{FF2B5EF4-FFF2-40B4-BE49-F238E27FC236}">
                <a16:creationId xmlns:a16="http://schemas.microsoft.com/office/drawing/2014/main" id="{0D5EA454-F6A1-46DC-B6EF-5EDEB9CC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053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남은 위험을 수용할까?</a:t>
            </a:r>
          </a:p>
        </p:txBody>
      </p:sp>
      <p:sp>
        <p:nvSpPr>
          <p:cNvPr id="25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C5946A0B-5F8F-4233-92EF-A92F0CEE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M1 · M2 · M4 · M5 · M6 · M9</a:t>
            </a:r>
          </a:p>
        </p:txBody>
      </p:sp>
    </p:spTree>
    <p:extLst>
      <p:ext uri="{BB962C8B-B14F-4D97-AF65-F5344CB8AC3E}">
        <p14:creationId xmlns:p14="http://schemas.microsoft.com/office/powerpoint/2010/main" val="2069494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T 5 · AI-Native Development / 이 교육의 운영 모델">
            <a:extLst xmlns:a="http://schemas.openxmlformats.org/drawingml/2006/main">
              <a:ext uri="{FF2B5EF4-FFF2-40B4-BE49-F238E27FC236}">
                <a16:creationId xmlns:a16="http://schemas.microsoft.com/office/drawing/2014/main" id="{455411A1-0933-4A5C-9FBD-EEB20583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5 · AI-Native Development / 이 교육의 운영 모델</a:t>
            </a:r>
          </a:p>
        </p:txBody>
      </p:sp>
      <p:sp>
        <p:nvSpPr>
          <p:cNvPr id="2" name="S90">
            <a:extLst xmlns:a="http://schemas.openxmlformats.org/drawingml/2006/main">
              <a:ext uri="{FF2B5EF4-FFF2-40B4-BE49-F238E27FC236}">
                <a16:creationId xmlns:a16="http://schemas.microsoft.com/office/drawing/2014/main" id="{A2ED7EF5-8B40-4A9F-A160-0D6B416C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S90</a:t>
            </a:r>
          </a:p>
        </p:txBody>
      </p:sp>
      <p:sp>
        <p:nvSpPr>
          <p:cNvPr id="3" name="AI가 일할 조건과 확인 경로를 설계한다">
            <a:extLst xmlns:a="http://schemas.openxmlformats.org/drawingml/2006/main">
              <a:ext uri="{FF2B5EF4-FFF2-40B4-BE49-F238E27FC236}">
                <a16:creationId xmlns:a16="http://schemas.microsoft.com/office/drawing/2014/main" id="{125E9AC5-A847-4F61-87AD-65FA23D3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AI가 일할 조건과 확인 경로를 설계한다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C6F4E-D966-4417-A1B1-BA47C497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DEC-0023 · 과정에서 사용하는 운영 모델">
            <a:extLst xmlns:a="http://schemas.openxmlformats.org/drawingml/2006/main">
              <a:ext uri="{FF2B5EF4-FFF2-40B4-BE49-F238E27FC236}">
                <a16:creationId xmlns:a16="http://schemas.microsoft.com/office/drawing/2014/main" id="{09A02D2D-1D9B-4DD9-9F6F-03E603AC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DEC-0023 · 과정에서 사용하는 운영 모델</a:t>
            </a:r>
          </a:p>
        </p:txBody>
      </p:sp>
      <p:sp>
        <p:nvSpPr>
          <p:cNvPr id="6" name="공식·보편 정의가 아니며, 모든 Task에 모든 구성요소를 넣으라는 뜻은 아니다.">
            <a:extLst xmlns:a="http://schemas.openxmlformats.org/drawingml/2006/main">
              <a:ext uri="{FF2B5EF4-FFF2-40B4-BE49-F238E27FC236}">
                <a16:creationId xmlns:a16="http://schemas.microsoft.com/office/drawing/2014/main" id="{60FC9A97-D843-425C-BA2A-FF5DC449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공식·보편 정의가 아니며, 모든 Task에 모든 구성요소를 넣으라는 뜻은 아니다.</a:t>
            </a:r>
          </a:p>
        </p:txBody>
      </p:sp>
      <p:sp>
        <p:nvSpPr>
          <p:cNvPr id="7" name="판단할 근거가 나오도록, 작업 환경을 준비한다">
            <a:extLst xmlns:a="http://schemas.openxmlformats.org/drawingml/2006/main">
              <a:ext uri="{FF2B5EF4-FFF2-40B4-BE49-F238E27FC236}">
                <a16:creationId xmlns:a16="http://schemas.microsoft.com/office/drawing/2014/main" id="{FBA818A9-6B75-496F-AEF4-3A25DCFA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판단할 근거가 나오도록, 작업 환경을 준비한다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7797B-8A85-45E3-8772-E7AC862E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9" name="맡길 범위">
            <a:extLst xmlns:a="http://schemas.openxmlformats.org/drawingml/2006/main">
              <a:ext uri="{FF2B5EF4-FFF2-40B4-BE49-F238E27FC236}">
                <a16:creationId xmlns:a16="http://schemas.microsoft.com/office/drawing/2014/main" id="{153BD7AF-1127-47C4-8262-23870879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맡길 범위</a:t>
            </a:r>
          </a:p>
        </p:txBody>
      </p:sp>
      <p:sp>
        <p:nvSpPr>
          <p:cNvPr id="10" name="목표·제약·변경 범위">
            <a:extLst xmlns:a="http://schemas.openxmlformats.org/drawingml/2006/main">
              <a:ext uri="{FF2B5EF4-FFF2-40B4-BE49-F238E27FC236}">
                <a16:creationId xmlns:a16="http://schemas.microsoft.com/office/drawing/2014/main" id="{5DFF7247-EF65-4AFD-AB89-B71779AD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35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목표·제약·변경 범위</a:t>
            </a:r>
          </a:p>
        </p:txBody>
      </p:sp>
      <p:sp>
        <p:nvSpPr>
          <p:cNvPr id="11" name="Task boundary">
            <a:extLst xmlns:a="http://schemas.openxmlformats.org/drawingml/2006/main">
              <a:ext uri="{FF2B5EF4-FFF2-40B4-BE49-F238E27FC236}">
                <a16:creationId xmlns:a16="http://schemas.microsoft.com/office/drawing/2014/main" id="{73B61186-46A2-431B-957E-7C89ED7B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335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Task boundary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BCF5C-E0D9-4A5A-A5DD-5864286D2C9D}"/>
              </a:ext>
            </a:extLst>
          </p:cNvPr>
          <p:cNvCxnSpPr/>
          <p:nvPr/>
        </p:nvCxnSpPr>
        <p:spPr>
          <a:xfrm xmlns:a="http://schemas.openxmlformats.org/drawingml/2006/main">
            <a:off x="4048125" y="41148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B2F00-08F8-4A1B-8D4B-B1137DDB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4" name="일할 조건">
            <a:extLst xmlns:a="http://schemas.openxmlformats.org/drawingml/2006/main">
              <a:ext uri="{FF2B5EF4-FFF2-40B4-BE49-F238E27FC236}">
                <a16:creationId xmlns:a16="http://schemas.microsoft.com/office/drawing/2014/main" id="{2D706775-6548-4632-852C-D2757A12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일할 조건</a:t>
            </a:r>
          </a:p>
        </p:txBody>
      </p:sp>
      <p:sp>
        <p:nvSpPr>
          <p:cNvPr id="15" name="프로젝트 지식&#10;재사용할 수행 방법">
            <a:extLst xmlns:a="http://schemas.openxmlformats.org/drawingml/2006/main">
              <a:ext uri="{FF2B5EF4-FFF2-40B4-BE49-F238E27FC236}">
                <a16:creationId xmlns:a16="http://schemas.microsoft.com/office/drawing/2014/main" id="{0A63E048-BF56-4CA3-9E38-0E8FDDFB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335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프로젝트 지식</a:t>
            </a:r>
          </a:p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재사용할 수행 방법</a:t>
            </a:r>
          </a:p>
        </p:txBody>
      </p:sp>
      <p:sp>
        <p:nvSpPr>
          <p:cNvPr id="16" name="Context · Workflow">
            <a:extLst xmlns:a="http://schemas.openxmlformats.org/drawingml/2006/main">
              <a:ext uri="{FF2B5EF4-FFF2-40B4-BE49-F238E27FC236}">
                <a16:creationId xmlns:a16="http://schemas.microsoft.com/office/drawing/2014/main" id="{7EAF940E-C643-4239-AC9A-93E3EF15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48225"/>
            <a:ext cx="335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Context · Workflow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8E15A-E786-44DF-8ACF-017030D80A7D}"/>
              </a:ext>
            </a:extLst>
          </p:cNvPr>
          <p:cNvCxnSpPr/>
          <p:nvPr/>
        </p:nvCxnSpPr>
        <p:spPr>
          <a:xfrm xmlns:a="http://schemas.openxmlformats.org/drawingml/2006/main">
            <a:off x="7858125" y="41148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6172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90B5C-F973-45DC-8081-98E33C4D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172"/>
            </a:solidFill>
            <a:prstDash val="solid"/>
          </a:ln>
        </p:spPr>
      </p:sp>
      <p:sp>
        <p:nvSpPr>
          <p:cNvPr id="19" name="확인과 피드백">
            <a:extLst xmlns:a="http://schemas.openxmlformats.org/drawingml/2006/main">
              <a:ext uri="{FF2B5EF4-FFF2-40B4-BE49-F238E27FC236}">
                <a16:creationId xmlns:a16="http://schemas.microsoft.com/office/drawing/2014/main" id="{F2BDB7A2-31A8-48DB-BD12-60501AB7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확인과 피드백</a:t>
            </a:r>
          </a:p>
        </p:txBody>
      </p:sp>
      <p:sp>
        <p:nvSpPr>
          <p:cNvPr id="20" name="검증 근거&#10;다음 작업의 개선">
            <a:extLst xmlns:a="http://schemas.openxmlformats.org/drawingml/2006/main">
              <a:ext uri="{FF2B5EF4-FFF2-40B4-BE49-F238E27FC236}">
                <a16:creationId xmlns:a16="http://schemas.microsoft.com/office/drawing/2014/main" id="{CEB0542F-FE31-4DE1-BF09-66D67A8B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35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검증 근거</a:t>
            </a:r>
          </a:p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다음 작업의 개선</a:t>
            </a:r>
          </a:p>
        </p:txBody>
      </p:sp>
      <p:sp>
        <p:nvSpPr>
          <p:cNvPr id="21" name="Verification · Feedback Loop">
            <a:extLst xmlns:a="http://schemas.openxmlformats.org/drawingml/2006/main">
              <a:ext uri="{FF2B5EF4-FFF2-40B4-BE49-F238E27FC236}">
                <a16:creationId xmlns:a16="http://schemas.microsoft.com/office/drawing/2014/main" id="{8C2103FD-4CCF-4F78-9994-08317EEF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48225"/>
            <a:ext cx="335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Verification · Feedback Loop</a:t>
            </a:r>
          </a:p>
        </p:txBody>
      </p:sp>
      <p:sp>
        <p:nvSpPr>
          <p:cNvPr id="22" name="이 설계·운영 방식을, 이 교육에서는 AI-Native Development로 부른다">
            <a:extLst xmlns:a="http://schemas.openxmlformats.org/drawingml/2006/main">
              <a:ext uri="{FF2B5EF4-FFF2-40B4-BE49-F238E27FC236}">
                <a16:creationId xmlns:a16="http://schemas.microsoft.com/office/drawing/2014/main" id="{59FA673D-D6F5-4044-B971-1CEFE6C9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 설계·운영 방식을, 이 교육에서는 AI-Native Development로 부른다</a:t>
            </a:r>
          </a:p>
        </p:txBody>
      </p:sp>
      <p:sp>
        <p:nvSpPr>
          <p:cNvPr id="23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C583C042-4D8F-4A8E-8955-FFA824CF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신규 확장</a:t>
            </a:r>
          </a:p>
        </p:txBody>
      </p:sp>
    </p:spTree>
    <p:extLst>
      <p:ext uri="{BB962C8B-B14F-4D97-AF65-F5344CB8AC3E}">
        <p14:creationId xmlns:p14="http://schemas.microsoft.com/office/powerpoint/2010/main" val="1550761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ACT 5 · C++ VISION / 문제 하나 고르기">
            <a:extLst xmlns:a="http://schemas.openxmlformats.org/drawingml/2006/main">
              <a:ext uri="{FF2B5EF4-FFF2-40B4-BE49-F238E27FC236}">
                <a16:creationId xmlns:a16="http://schemas.microsoft.com/office/drawing/2014/main" id="{81A08CA7-5F48-4B8F-AAED-DD5CEF40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5 · C++ VISION / 문제 하나 고르기</a:t>
            </a:r>
          </a:p>
        </p:txBody>
      </p:sp>
      <p:sp>
        <p:nvSpPr>
          <p:cNvPr id="2" name="S91">
            <a:extLst xmlns:a="http://schemas.openxmlformats.org/drawingml/2006/main">
              <a:ext uri="{FF2B5EF4-FFF2-40B4-BE49-F238E27FC236}">
                <a16:creationId xmlns:a16="http://schemas.microsoft.com/office/drawing/2014/main" id="{5247F25A-C159-4745-8A3B-C1CA3017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S91</a:t>
            </a:r>
          </a:p>
        </p:txBody>
      </p:sp>
      <p:sp>
        <p:nvSpPr>
          <p:cNvPr id="3" name="내 업무에서는 무엇이 반복해서 막힐까?">
            <a:extLst xmlns:a="http://schemas.openxmlformats.org/drawingml/2006/main">
              <a:ext uri="{FF2B5EF4-FFF2-40B4-BE49-F238E27FC236}">
                <a16:creationId xmlns:a16="http://schemas.microsoft.com/office/drawing/2014/main" id="{DC7B8728-90F2-42DB-BA37-996076AB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내 업무에서는 무엇이 반복해서 막힐까?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FBE8C-F358-4E15-AF65-D091A42C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BEAT-068–069 · 업무 적용을 위한 교육용 질문">
            <a:extLst xmlns:a="http://schemas.openxmlformats.org/drawingml/2006/main">
              <a:ext uri="{FF2B5EF4-FFF2-40B4-BE49-F238E27FC236}">
                <a16:creationId xmlns:a16="http://schemas.microsoft.com/office/drawing/2014/main" id="{F3621030-00ED-4E0C-8B3D-1BA0CD38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BEAT-068–069 · 업무 적용을 위한 교육용 질문</a:t>
            </a:r>
          </a:p>
        </p:txBody>
      </p:sp>
      <p:sp>
        <p:nvSpPr>
          <p:cNvPr id="6" name="A–E는 같은 수준의 선택지 · 필수 도입 순서나 검증된 C++ 프로젝트 절차가 아님">
            <a:extLst xmlns:a="http://schemas.openxmlformats.org/drawingml/2006/main">
              <a:ext uri="{FF2B5EF4-FFF2-40B4-BE49-F238E27FC236}">
                <a16:creationId xmlns:a16="http://schemas.microsoft.com/office/drawing/2014/main" id="{E885F0AC-8C9C-4F8C-8816-9FC4B2F6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A–E는 같은 수준의 선택지 · 필수 도입 순서나 검증된 C++ 프로젝트 절차가 아님</a:t>
            </a:r>
          </a:p>
        </p:txBody>
      </p:sp>
      <p:sp>
        <p:nvSpPr>
          <p:cNvPr id="7" name="성능 조사·빌드·측정 업무에서, 가까운 문제 하나만">
            <a:extLst xmlns:a="http://schemas.openxmlformats.org/drawingml/2006/main">
              <a:ext uri="{FF2B5EF4-FFF2-40B4-BE49-F238E27FC236}">
                <a16:creationId xmlns:a16="http://schemas.microsoft.com/office/drawing/2014/main" id="{FC470A29-822F-4507-AE03-56A54B73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성능 조사·빌드·측정 업무에서, 가까운 문제 하나만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FE67E-4780-46C2-B77F-66A512E2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EC64A-1043-4B02-BB53-0B0B3CA4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">
            <a:extLst xmlns:a="http://schemas.openxmlformats.org/drawingml/2006/main">
              <a:ext uri="{FF2B5EF4-FFF2-40B4-BE49-F238E27FC236}">
                <a16:creationId xmlns:a16="http://schemas.microsoft.com/office/drawing/2014/main" id="{1D21DC79-282A-42AD-9633-5CD4B224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1" name="성능 조사 범위가 모호하다">
            <a:extLst xmlns:a="http://schemas.openxmlformats.org/drawingml/2006/main">
              <a:ext uri="{FF2B5EF4-FFF2-40B4-BE49-F238E27FC236}">
                <a16:creationId xmlns:a16="http://schemas.microsoft.com/office/drawing/2014/main" id="{CE441436-37E0-4634-950C-A8F8207C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0507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성능 조사 범위가 모호하다</a:t>
            </a:r>
          </a:p>
        </p:txBody>
      </p:sp>
      <p:sp>
        <p:nvSpPr>
          <p:cNvPr id="12" name="요청 · Task">
            <a:extLst xmlns:a="http://schemas.openxmlformats.org/drawingml/2006/main">
              <a:ext uri="{FF2B5EF4-FFF2-40B4-BE49-F238E27FC236}">
                <a16:creationId xmlns:a16="http://schemas.microsoft.com/office/drawing/2014/main" id="{EF6532BB-3E9E-402D-9F14-122E05A6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050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요청 · 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9D839-CCAC-4E40-82F4-371744FC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F33D5-B018-4544-B5D2-685FA2E3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">
            <a:extLst xmlns:a="http://schemas.openxmlformats.org/drawingml/2006/main">
              <a:ext uri="{FF2B5EF4-FFF2-40B4-BE49-F238E27FC236}">
                <a16:creationId xmlns:a16="http://schemas.microsoft.com/office/drawing/2014/main" id="{13A58AC2-50D9-4E48-8551-3CD9CCF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16" name="빌드·명세·장치 조건을 반복 설명한다">
            <a:extLst xmlns:a="http://schemas.openxmlformats.org/drawingml/2006/main">
              <a:ext uri="{FF2B5EF4-FFF2-40B4-BE49-F238E27FC236}">
                <a16:creationId xmlns:a16="http://schemas.microsoft.com/office/drawing/2014/main" id="{38677289-DCBC-4136-A9A3-0AA93BB0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빌드·명세·장치 조건을 반복 설명한다</a:t>
            </a:r>
          </a:p>
        </p:txBody>
      </p:sp>
      <p:sp>
        <p:nvSpPr>
          <p:cNvPr id="17" name="지식 · Context">
            <a:extLst xmlns:a="http://schemas.openxmlformats.org/drawingml/2006/main">
              <a:ext uri="{FF2B5EF4-FFF2-40B4-BE49-F238E27FC236}">
                <a16:creationId xmlns:a16="http://schemas.microsoft.com/office/drawing/2014/main" id="{0FC1E1D1-FD10-4E89-9688-BD2F6080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지식 ·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E2BD3-3BEE-43F2-9D9F-85ABFCFB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911ED-F0A9-49C3-8D16-99D6E677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">
            <a:extLst xmlns:a="http://schemas.openxmlformats.org/drawingml/2006/main">
              <a:ext uri="{FF2B5EF4-FFF2-40B4-BE49-F238E27FC236}">
                <a16:creationId xmlns:a16="http://schemas.microsoft.com/office/drawing/2014/main" id="{8895F2AB-C3D0-44F3-A9C5-50FDC1BA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21" name="분석·변경·측정·회귀 확인을 매번 적는다">
            <a:extLst xmlns:a="http://schemas.openxmlformats.org/drawingml/2006/main">
              <a:ext uri="{FF2B5EF4-FFF2-40B4-BE49-F238E27FC236}">
                <a16:creationId xmlns:a16="http://schemas.microsoft.com/office/drawing/2014/main" id="{36643D24-F834-42C8-9C21-8DC4E603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433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분석·변경·측정·회귀 확인을 매번 적는다</a:t>
            </a:r>
          </a:p>
        </p:txBody>
      </p:sp>
      <p:sp>
        <p:nvSpPr>
          <p:cNvPr id="22" name="수행 방법 · Workflow">
            <a:extLst xmlns:a="http://schemas.openxmlformats.org/drawingml/2006/main">
              <a:ext uri="{FF2B5EF4-FFF2-40B4-BE49-F238E27FC236}">
                <a16:creationId xmlns:a16="http://schemas.microsoft.com/office/drawing/2014/main" id="{AFA55BBD-51CF-4D27-9CF3-7E1F4017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4332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수행 방법 ·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09728-B072-4BE3-B352-482E89EE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67952-B3E4-4E3F-BB97-8B52620D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">
            <a:extLst xmlns:a="http://schemas.openxmlformats.org/drawingml/2006/main">
              <a:ext uri="{FF2B5EF4-FFF2-40B4-BE49-F238E27FC236}">
                <a16:creationId xmlns:a16="http://schemas.microsoft.com/office/drawing/2014/main" id="{A4BE7D1F-634F-4CAF-ABF7-73143806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26" name="테스트·측정의 확인 기준이 모호하다">
            <a:extLst xmlns:a="http://schemas.openxmlformats.org/drawingml/2006/main">
              <a:ext uri="{FF2B5EF4-FFF2-40B4-BE49-F238E27FC236}">
                <a16:creationId xmlns:a16="http://schemas.microsoft.com/office/drawing/2014/main" id="{588F7477-3143-4D0A-B454-23F8F38B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테스트·측정의 확인 기준이 모호하다</a:t>
            </a:r>
          </a:p>
        </p:txBody>
      </p:sp>
      <p:sp>
        <p:nvSpPr>
          <p:cNvPr id="27" name="검증 · Verification">
            <a:extLst xmlns:a="http://schemas.openxmlformats.org/drawingml/2006/main">
              <a:ext uri="{FF2B5EF4-FFF2-40B4-BE49-F238E27FC236}">
                <a16:creationId xmlns:a16="http://schemas.microsoft.com/office/drawing/2014/main" id="{E93C261D-D40A-42F0-A946-55B56EB9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6245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검증 · Verification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68249-16EE-49A6-8F02-E64FAFB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20C568-624E-48BD-8097-3B1AA978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">
            <a:extLst xmlns:a="http://schemas.openxmlformats.org/drawingml/2006/main">
              <a:ext uri="{FF2B5EF4-FFF2-40B4-BE49-F238E27FC236}">
                <a16:creationId xmlns:a16="http://schemas.microsoft.com/office/drawing/2014/main" id="{5A4F6B0B-EBC9-4F9D-8060-5B164EFD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E</a:t>
            </a:r>
          </a:p>
        </p:txBody>
      </p:sp>
      <p:sp>
        <p:nvSpPr>
          <p:cNvPr id="31" name="같은 실패 뒤에도 원인·기준을 다시 안 본다">
            <a:extLst xmlns:a="http://schemas.openxmlformats.org/drawingml/2006/main">
              <a:ext uri="{FF2B5EF4-FFF2-40B4-BE49-F238E27FC236}">
                <a16:creationId xmlns:a16="http://schemas.microsoft.com/office/drawing/2014/main" id="{9907A970-29AF-4C44-B4BA-4787CD9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8157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실패 뒤에도 원인·기준을 다시 안 본다</a:t>
            </a:r>
          </a:p>
        </p:txBody>
      </p:sp>
      <p:sp>
        <p:nvSpPr>
          <p:cNvPr id="32" name="개선 · Feedback Loop">
            <a:extLst xmlns:a="http://schemas.openxmlformats.org/drawingml/2006/main">
              <a:ext uri="{FF2B5EF4-FFF2-40B4-BE49-F238E27FC236}">
                <a16:creationId xmlns:a16="http://schemas.microsoft.com/office/drawing/2014/main" id="{953F5216-F8D6-4CBF-9FA1-9C25C02D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815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개선 · Feedback Loop</a:t>
            </a:r>
          </a:p>
        </p:txBody>
      </p:sp>
      <p:sp>
        <p:nvSpPr>
          <p:cNvPr id="33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F549649B-AC46-41C5-9EFF-5E882D9A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M2 · M8</a:t>
            </a:r>
          </a:p>
        </p:txBody>
      </p:sp>
    </p:spTree>
    <p:extLst>
      <p:ext uri="{BB962C8B-B14F-4D97-AF65-F5344CB8AC3E}">
        <p14:creationId xmlns:p14="http://schemas.microsoft.com/office/powerpoint/2010/main" val="808757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ACT 5 · 개인 성찰 / 같은 글자로 이어 보기">
            <a:extLst xmlns:a="http://schemas.openxmlformats.org/drawingml/2006/main">
              <a:ext uri="{FF2B5EF4-FFF2-40B4-BE49-F238E27FC236}">
                <a16:creationId xmlns:a16="http://schemas.microsoft.com/office/drawing/2014/main" id="{0FC28CA6-B169-4191-8D16-E199C582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5 · 개인 성찰 / 같은 글자로 이어 보기</a:t>
            </a:r>
          </a:p>
        </p:txBody>
      </p:sp>
      <p:sp>
        <p:nvSpPr>
          <p:cNvPr id="2" name="S92">
            <a:extLst xmlns:a="http://schemas.openxmlformats.org/drawingml/2006/main">
              <a:ext uri="{FF2B5EF4-FFF2-40B4-BE49-F238E27FC236}">
                <a16:creationId xmlns:a16="http://schemas.microsoft.com/office/drawing/2014/main" id="{A31EF5F5-A3BE-4308-BCEE-02BFF5B3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S92</a:t>
            </a:r>
          </a:p>
        </p:txBody>
      </p:sp>
      <p:sp>
        <p:nvSpPr>
          <p:cNvPr id="3" name="고른 문제에서, 다음 행동 하나로">
            <a:extLst xmlns:a="http://schemas.openxmlformats.org/drawingml/2006/main">
              <a:ext uri="{FF2B5EF4-FFF2-40B4-BE49-F238E27FC236}">
                <a16:creationId xmlns:a16="http://schemas.microsoft.com/office/drawing/2014/main" id="{A09C56C6-7456-4694-B586-15377AB3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고른 문제에서, 다음 행동 하나로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D3842-858F-4F3C-8DA0-87491698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BEAT-070–071 · 다음 행동과 확인 근거를 떠올리는 개인 성찰">
            <a:extLst xmlns:a="http://schemas.openxmlformats.org/drawingml/2006/main">
              <a:ext uri="{FF2B5EF4-FFF2-40B4-BE49-F238E27FC236}">
                <a16:creationId xmlns:a16="http://schemas.microsoft.com/office/drawing/2014/main" id="{69513A72-E01A-4520-A73F-F5A479F2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BEAT-070–071 · 다음 행동과 확인 근거를 떠올리는 개인 성찰</a:t>
            </a:r>
          </a:p>
        </p:txBody>
      </p:sp>
      <p:sp>
        <p:nvSpPr>
          <p:cNvPr id="6" name="마음속으로 떠올리는 시간 · 기록·발표·제출·실천 약속은 요구하지 않음">
            <a:extLst xmlns:a="http://schemas.openxmlformats.org/drawingml/2006/main">
              <a:ext uri="{FF2B5EF4-FFF2-40B4-BE49-F238E27FC236}">
                <a16:creationId xmlns:a16="http://schemas.microsoft.com/office/drawing/2014/main" id="{35DE9001-C95E-4ABE-9DDE-86C47D96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마음속으로 떠올리는 시간 · 기록·발표·제출·실천 약속은 요구하지 않음</a:t>
            </a:r>
          </a:p>
        </p:txBody>
      </p:sp>
      <p:sp>
        <p:nvSpPr>
          <p:cNvPr id="7" name="방금 고른 A–E에서, 다음 작업의 작은 행동 하나만">
            <a:extLst xmlns:a="http://schemas.openxmlformats.org/drawingml/2006/main">
              <a:ext uri="{FF2B5EF4-FFF2-40B4-BE49-F238E27FC236}">
                <a16:creationId xmlns:a16="http://schemas.microsoft.com/office/drawing/2014/main" id="{371798D0-F612-434F-A1E7-CA8D3695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방금 고른 A–E에서, 다음 작업의 작은 행동 하나만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C3CB5-8279-47EA-9B8D-5FFEA059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290A9-3A5B-4F62-802F-EDEA310D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">
            <a:extLst xmlns:a="http://schemas.openxmlformats.org/drawingml/2006/main">
              <a:ext uri="{FF2B5EF4-FFF2-40B4-BE49-F238E27FC236}">
                <a16:creationId xmlns:a16="http://schemas.microsoft.com/office/drawing/2014/main" id="{3D1C224F-7B42-42D6-B001-79DFF8F7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1" name="목표·변경 범위를 요청에 적어 본다">
            <a:extLst xmlns:a="http://schemas.openxmlformats.org/drawingml/2006/main">
              <a:ext uri="{FF2B5EF4-FFF2-40B4-BE49-F238E27FC236}">
                <a16:creationId xmlns:a16="http://schemas.microsoft.com/office/drawing/2014/main" id="{77BE8807-DB8A-469B-BB9A-05E33B1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00325"/>
            <a:ext cx="6581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목표·변경 범위를 요청에 적어 본다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60CEB-31EF-44BC-8CAE-A65B3F51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B28C5-9282-495F-8343-7135B67D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">
            <a:extLst xmlns:a="http://schemas.openxmlformats.org/drawingml/2006/main">
              <a:ext uri="{FF2B5EF4-FFF2-40B4-BE49-F238E27FC236}">
                <a16:creationId xmlns:a16="http://schemas.microsoft.com/office/drawing/2014/main" id="{F69CDE90-F112-47B7-8194-F9CC2313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15" name="반복 사실의 출처·검토자를 생각한다">
            <a:extLst xmlns:a="http://schemas.openxmlformats.org/drawingml/2006/main">
              <a:ext uri="{FF2B5EF4-FFF2-40B4-BE49-F238E27FC236}">
                <a16:creationId xmlns:a16="http://schemas.microsoft.com/office/drawing/2014/main" id="{8DFEE0BE-3A26-440E-8027-F9CE6CC6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62300"/>
            <a:ext cx="6581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반복 사실의 출처·검토자를 생각한다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3A9C2-134D-425D-8782-736F12A6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21B7D-9BCD-4A47-9D9C-9108A3C7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">
            <a:extLst xmlns:a="http://schemas.openxmlformats.org/drawingml/2006/main">
              <a:ext uri="{FF2B5EF4-FFF2-40B4-BE49-F238E27FC236}">
                <a16:creationId xmlns:a16="http://schemas.microsoft.com/office/drawing/2014/main" id="{C6DDD0D3-207E-45B9-9DAB-8A36F784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19" name="절차를 둘 곳·갱신할 사람을 생각한다">
            <a:extLst xmlns:a="http://schemas.openxmlformats.org/drawingml/2006/main">
              <a:ext uri="{FF2B5EF4-FFF2-40B4-BE49-F238E27FC236}">
                <a16:creationId xmlns:a16="http://schemas.microsoft.com/office/drawing/2014/main" id="{C4DD3E9C-2F7B-451C-97E7-2463BE81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724275"/>
            <a:ext cx="6581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절차를 둘 곳·갱신할 사람을 생각한다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9D714-2339-466D-9442-81D81343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2B3B9-A8DC-476F-89FE-8BE31278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">
            <a:extLst xmlns:a="http://schemas.openxmlformats.org/drawingml/2006/main">
              <a:ext uri="{FF2B5EF4-FFF2-40B4-BE49-F238E27FC236}">
                <a16:creationId xmlns:a16="http://schemas.microsoft.com/office/drawing/2014/main" id="{86DDC2F7-35B4-4E9D-ABBC-F40684C7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23" name="완료 판단에 필요한 검사를 정해 본다">
            <a:extLst xmlns:a="http://schemas.openxmlformats.org/drawingml/2006/main">
              <a:ext uri="{FF2B5EF4-FFF2-40B4-BE49-F238E27FC236}">
                <a16:creationId xmlns:a16="http://schemas.microsoft.com/office/drawing/2014/main" id="{C9FDB1AF-60CC-4616-B141-C917BA9A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86250"/>
            <a:ext cx="6581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완료 판단에 필요한 검사를 정해 본다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EEB4F-96FA-47AC-B341-050033E2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2ACBB-F037-4236-B4B1-D38F7BB6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E">
            <a:extLst xmlns:a="http://schemas.openxmlformats.org/drawingml/2006/main">
              <a:ext uri="{FF2B5EF4-FFF2-40B4-BE49-F238E27FC236}">
                <a16:creationId xmlns:a16="http://schemas.microsoft.com/office/drawing/2014/main" id="{815D1472-EC8A-4CF7-918E-A9095159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E</a:t>
            </a:r>
          </a:p>
        </p:txBody>
      </p:sp>
      <p:sp>
        <p:nvSpPr>
          <p:cNvPr id="27" name="반복 실패의 기록·원인부터 대조한다">
            <a:extLst xmlns:a="http://schemas.openxmlformats.org/drawingml/2006/main">
              <a:ext uri="{FF2B5EF4-FFF2-40B4-BE49-F238E27FC236}">
                <a16:creationId xmlns:a16="http://schemas.microsoft.com/office/drawing/2014/main" id="{9032CDA4-2FB7-481D-92B6-B91D7FE9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48225"/>
            <a:ext cx="6581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반복 실패의 기록·원인부터 대조한다</a:t>
            </a:r>
          </a:p>
        </p:txBody>
      </p:sp>
      <p:sp>
        <p:nvSpPr>
          <p:cNvPr id="28" name="그리고,&#10;확인할 근거 하나">
            <a:extLst xmlns:a="http://schemas.openxmlformats.org/drawingml/2006/main">
              <a:ext uri="{FF2B5EF4-FFF2-40B4-BE49-F238E27FC236}">
                <a16:creationId xmlns:a16="http://schemas.microsoft.com/office/drawing/2014/main" id="{D7C7D6A1-1F61-4FD9-A0DC-7B78E4EA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67025"/>
            <a:ext cx="3409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그리고,</a:t>
            </a:r>
          </a:p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확인할 근거 하나</a:t>
            </a:r>
          </a:p>
        </p:txBody>
      </p:sp>
      <p:sp>
        <p:nvSpPr>
          <p:cNvPr id="29" name="무엇이 달라졌는지&#10;어떤 기록으로 볼까?">
            <a:extLst xmlns:a="http://schemas.openxmlformats.org/drawingml/2006/main">
              <a:ext uri="{FF2B5EF4-FFF2-40B4-BE49-F238E27FC236}">
                <a16:creationId xmlns:a16="http://schemas.microsoft.com/office/drawing/2014/main" id="{1223094F-3D02-4857-B8B4-892D009E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95725"/>
            <a:ext cx="3409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무엇이 달라졌는지</a:t>
            </a:r>
          </a:p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어떤 기록으로 볼까?</a:t>
            </a:r>
          </a:p>
        </p:txBody>
      </p:sp>
      <p:sp>
        <p:nvSpPr>
          <p:cNvPr id="30" name="요청 · 문서 · 검사 · 원문 기록">
            <a:extLst xmlns:a="http://schemas.openxmlformats.org/drawingml/2006/main">
              <a:ext uri="{FF2B5EF4-FFF2-40B4-BE49-F238E27FC236}">
                <a16:creationId xmlns:a16="http://schemas.microsoft.com/office/drawing/2014/main" id="{67DA92B6-E06F-41F1-9275-83BE5A81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33975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요청 · 문서 · 검사 · 원문 기록</a:t>
            </a:r>
          </a:p>
        </p:txBody>
      </p:sp>
      <p:sp>
        <p:nvSpPr>
          <p:cNvPr id="31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C5D91E02-4259-4EDC-A40E-41632C01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M1 · M8</a:t>
            </a:r>
          </a:p>
        </p:txBody>
      </p:sp>
    </p:spTree>
    <p:extLst>
      <p:ext uri="{BB962C8B-B14F-4D97-AF65-F5344CB8AC3E}">
        <p14:creationId xmlns:p14="http://schemas.microsoft.com/office/powerpoint/2010/main" val="16013174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T 5 · 남은 질문과 마지막 한 문장">
            <a:extLst xmlns:a="http://schemas.openxmlformats.org/drawingml/2006/main">
              <a:ext uri="{FF2B5EF4-FFF2-40B4-BE49-F238E27FC236}">
                <a16:creationId xmlns:a16="http://schemas.microsoft.com/office/drawing/2014/main" id="{9AAE9D86-EAEB-4616-92CD-8E185386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5 · 남은 질문과 마지막 한 문장</a:t>
            </a:r>
          </a:p>
        </p:txBody>
      </p:sp>
      <p:sp>
        <p:nvSpPr>
          <p:cNvPr id="2" name="S93">
            <a:extLst xmlns:a="http://schemas.openxmlformats.org/drawingml/2006/main">
              <a:ext uri="{FF2B5EF4-FFF2-40B4-BE49-F238E27FC236}">
                <a16:creationId xmlns:a16="http://schemas.microsoft.com/office/drawing/2014/main" id="{59BCC090-890D-4413-A729-7EA653D0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S93</a:t>
            </a:r>
          </a:p>
        </p:txBody>
      </p:sp>
      <p:sp>
        <p:nvSpPr>
          <p:cNvPr id="3" name="Q&amp;A와 교육 마무리">
            <a:extLst xmlns:a="http://schemas.openxmlformats.org/drawingml/2006/main">
              <a:ext uri="{FF2B5EF4-FFF2-40B4-BE49-F238E27FC236}">
                <a16:creationId xmlns:a16="http://schemas.microsoft.com/office/drawing/2014/main" id="{59464BC3-4AEC-43AC-9A40-69964E7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Q&amp;A와 교육 마무리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C3EF7-98D9-4C92-9E5E-7A2AD873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BEAT-070–071 · 이 교육의 마무리">
            <a:extLst xmlns:a="http://schemas.openxmlformats.org/drawingml/2006/main">
              <a:ext uri="{FF2B5EF4-FFF2-40B4-BE49-F238E27FC236}">
                <a16:creationId xmlns:a16="http://schemas.microsoft.com/office/drawing/2014/main" id="{2B47FC41-15C1-4E8C-BEC0-147FF8B5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BEAT-070–071 · 이 교육의 마무리</a:t>
            </a:r>
          </a:p>
        </p:txBody>
      </p:sp>
      <p:sp>
        <p:nvSpPr>
          <p:cNvPr id="6" name="목표 · 판단 · 검증 · 책임은 개발자에게 남는다.">
            <a:extLst xmlns:a="http://schemas.openxmlformats.org/drawingml/2006/main">
              <a:ext uri="{FF2B5EF4-FFF2-40B4-BE49-F238E27FC236}">
                <a16:creationId xmlns:a16="http://schemas.microsoft.com/office/drawing/2014/main" id="{CBDAA3C6-FFF2-4A9C-8213-B557742C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목표 · 판단 · 검증 · 책임은 개발자에게 남는다.</a:t>
            </a:r>
          </a:p>
        </p:txBody>
      </p:sp>
      <p:sp>
        <p:nvSpPr>
          <p:cNvPr id="7" name="남은 질문은 무엇인가요?">
            <a:extLst xmlns:a="http://schemas.openxmlformats.org/drawingml/2006/main">
              <a:ext uri="{FF2B5EF4-FFF2-40B4-BE49-F238E27FC236}">
                <a16:creationId xmlns:a16="http://schemas.microsoft.com/office/drawing/2014/main" id="{2254ED42-9468-42A5-A050-A864CC8B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남은 질문은 무엇인가요?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ABC23-1B0A-4A8B-A8FF-648DEDB1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9" name="AI가 잘 일할 환경을&#10;설계한다.">
            <a:extLst xmlns:a="http://schemas.openxmlformats.org/drawingml/2006/main">
              <a:ext uri="{FF2B5EF4-FFF2-40B4-BE49-F238E27FC236}">
                <a16:creationId xmlns:a16="http://schemas.microsoft.com/office/drawing/2014/main" id="{1E7FE644-8054-4555-BB98-E6C69298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AI가 잘 일할 환경을</a:t>
            </a:r>
          </a:p>
          <a:p xmlns:a="http://schemas.openxmlformats.org/drawingml/2006/main">
            <a:pPr algn="l">
              <a:def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설계한다.</a:t>
            </a:r>
          </a:p>
        </p:txBody>
      </p:sp>
      <p:sp>
        <p:nvSpPr>
          <p:cNvPr id="10" name="Chatbot  →  Prompt  →  Context  →  Harness  →  Loop">
            <a:extLst xmlns:a="http://schemas.openxmlformats.org/drawingml/2006/main">
              <a:ext uri="{FF2B5EF4-FFF2-40B4-BE49-F238E27FC236}">
                <a16:creationId xmlns:a16="http://schemas.microsoft.com/office/drawing/2014/main" id="{B1F0A1BF-D16B-4BA7-B124-EFD91BAF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Chatbot  →  Prompt  →  Context  →  Harness  →  Loop</a:t>
            </a:r>
          </a:p>
        </p:txBody>
      </p:sp>
      <p:sp>
        <p:nvSpPr>
          <p:cNvPr id="11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1F5C67C4-051B-431B-8B58-BCED1E76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M1</a:t>
            </a:r>
          </a:p>
        </p:txBody>
      </p:sp>
    </p:spTree>
    <p:extLst>
      <p:ext uri="{BB962C8B-B14F-4D97-AF65-F5344CB8AC3E}">
        <p14:creationId xmlns:p14="http://schemas.microsoft.com/office/powerpoint/2010/main" val="131889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2026-10-24T09:55:16.1790000Z</dcterms:created>
  <dcterms:modified xsi:type="dcterms:W3CDTF">2026-10-24T09:55:16.1790000Z</dcterms:modified>
</coreProperties>
</file>