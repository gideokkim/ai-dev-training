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c9cf8f05c94a88" /><Relationship Type="http://schemas.openxmlformats.org/officeDocument/2006/relationships/extended-properties" Target="/docProps/app.xml" Id="Rb28c7aa153fa4cfa" /><Relationship Type="http://schemas.openxmlformats.org/officeDocument/2006/relationships/officeDocument" Target="/ppt/presentation.xml" Id="Rdc6c8a8650a747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4b893411164117"/>
  </p:sldMasterIdLst>
  <p:notesMasterIdLst>
    <p:notesMasterId xmlns:r="http://schemas.openxmlformats.org/officeDocument/2006/relationships" r:id="R81f10824ba3045e8"/>
  </p:notesMasterIdLst>
  <p:sldIdLst>
    <p:sldId xmlns:r="http://schemas.openxmlformats.org/officeDocument/2006/relationships" id="256" r:id="Rffb218b0ce8343d0"/>
    <p:sldId xmlns:r="http://schemas.openxmlformats.org/officeDocument/2006/relationships" id="257" r:id="Rfb8f76d66f524499"/>
    <p:sldId xmlns:r="http://schemas.openxmlformats.org/officeDocument/2006/relationships" id="258" r:id="Ra392536be1e0440f"/>
    <p:sldId xmlns:r="http://schemas.openxmlformats.org/officeDocument/2006/relationships" id="259" r:id="R1556db91e91a454f"/>
    <p:sldId xmlns:r="http://schemas.openxmlformats.org/officeDocument/2006/relationships" id="260" r:id="R7cffe5bcf3a6470d"/>
    <p:sldId xmlns:r="http://schemas.openxmlformats.org/officeDocument/2006/relationships" id="261" r:id="R0ea39dedcb964b70"/>
    <p:sldId xmlns:r="http://schemas.openxmlformats.org/officeDocument/2006/relationships" id="262" r:id="R3c164b39672841c5"/>
    <p:sldId xmlns:r="http://schemas.openxmlformats.org/officeDocument/2006/relationships" id="263" r:id="R5b74ece69b5a40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bf7c224d5844f7" /><Relationship Type="http://schemas.openxmlformats.org/officeDocument/2006/relationships/slideMaster" Target="/ppt/slideMasters/slideMaster1.xml" Id="R024b893411164117" /><Relationship Type="http://schemas.openxmlformats.org/officeDocument/2006/relationships/notesMaster" Target="/ppt/notesMasters/notesMaster1.xml" Id="R81f10824ba3045e8" /><Relationship Type="http://schemas.openxmlformats.org/officeDocument/2006/relationships/presProps" Target="/ppt/presProps.xml" Id="R3908ea0bc295497c" /><Relationship Type="http://schemas.openxmlformats.org/officeDocument/2006/relationships/tableStyles" Target="/ppt/tableStyles.xml" Id="R5ebc0c9a7e6545d2" /><Relationship Type="http://schemas.openxmlformats.org/officeDocument/2006/relationships/slide" Target="/ppt/slides/slide1.xml" Id="Rffb218b0ce8343d0" /><Relationship Type="http://schemas.openxmlformats.org/officeDocument/2006/relationships/slide" Target="/ppt/slides/slide2.xml" Id="Rfb8f76d66f524499" /><Relationship Type="http://schemas.openxmlformats.org/officeDocument/2006/relationships/slide" Target="/ppt/slides/slide3.xml" Id="Ra392536be1e0440f" /><Relationship Type="http://schemas.openxmlformats.org/officeDocument/2006/relationships/slide" Target="/ppt/slides/slide4.xml" Id="R1556db91e91a454f" /><Relationship Type="http://schemas.openxmlformats.org/officeDocument/2006/relationships/slide" Target="/ppt/slides/slide5.xml" Id="R7cffe5bcf3a6470d" /><Relationship Type="http://schemas.openxmlformats.org/officeDocument/2006/relationships/slide" Target="/ppt/slides/slide6.xml" Id="R0ea39dedcb964b70" /><Relationship Type="http://schemas.openxmlformats.org/officeDocument/2006/relationships/slide" Target="/ppt/slides/slide7.xml" Id="R3c164b39672841c5" /><Relationship Type="http://schemas.openxmlformats.org/officeDocument/2006/relationships/slide" Target="/ppt/slides/slide8.xml" Id="R5b74ece69b5a40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9599b5c79d240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708172ceea4e2b" /><Relationship Type="http://schemas.openxmlformats.org/officeDocument/2006/relationships/notesMaster" Target="/ppt/notesMasters/notesMaster1.xml" Id="R77afc4b6187147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3a9261bf9946c1" /><Relationship Type="http://schemas.openxmlformats.org/officeDocument/2006/relationships/notesMaster" Target="/ppt/notesMasters/notesMaster1.xml" Id="R3062d3cceb5847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5121418795455b" /><Relationship Type="http://schemas.openxmlformats.org/officeDocument/2006/relationships/notesMaster" Target="/ppt/notesMasters/notesMaster1.xml" Id="R894d3815524a49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789988740d424c" /><Relationship Type="http://schemas.openxmlformats.org/officeDocument/2006/relationships/notesMaster" Target="/ppt/notesMasters/notesMaster1.xml" Id="Rf7d88154d5314c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2c5bf6c4ba492f" /><Relationship Type="http://schemas.openxmlformats.org/officeDocument/2006/relationships/notesMaster" Target="/ppt/notesMasters/notesMaster1.xml" Id="Rf1bd21dffabf4f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3adf3e60e04770" /><Relationship Type="http://schemas.openxmlformats.org/officeDocument/2006/relationships/notesMaster" Target="/ppt/notesMasters/notesMaster1.xml" Id="R57f8b05ef6ef4d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cf98b59911412c" /><Relationship Type="http://schemas.openxmlformats.org/officeDocument/2006/relationships/notesMaster" Target="/ppt/notesMasters/notesMaster1.xml" Id="R4d5f9f48293b43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43b385f8164875" /><Relationship Type="http://schemas.openxmlformats.org/officeDocument/2006/relationships/notesMaster" Target="/ppt/notesMasters/notesMaster1.xml" Id="R9d1f8c554a1b40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S75 — 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FULL STORY RECAP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Chatbot은 답을 구하고, Prompt는 Task를 구체화하며, Context는 필요한 Project 지식을 제공하고, Harness는 작업 환경을 설계하며, Loop는 Feedback으로 System을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“나는 지금 AI를 어떤 방식으로 사용하고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처음의 질문으로 돌아가 다섯 방식을 한눈에 보여준다.</a:t>
            </a:r>
          </a:p>
          <a:p xmlns:a="http://schemas.openxmlformats.org/drawingml/2006/main">
            <a:r>
              <a:t>2. (0:30–2:45 / Lecture) 각 행의 행동만 회수한다: 답을 구하기, 이번 작업 구체화, 프로젝트 지식 제공, 일하는 환경 설계, 피드백으로 시스템 수정. 새 용어를 덧붙이지 않는다.</a:t>
            </a:r>
          </a:p>
          <a:p xmlns:a="http://schemas.openxmlformats.org/drawingml/2006/main">
            <a:r>
              <a:t>3. (2:45–4:00 / Lecture) 앞의 방식이 사라지지 않고 문제에 맞는 대응이 더해졌다고 정리한다. S76 실제 Repository 이력→S77 선택 기준→S78 책임을 거쳐 S79에서 AI-Native 운영 모델을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다섯 방식이 어떤 문제에 대응했는지 여정을 회수한다. 실제 State 이름이나 책임 목록을 여기서 모두 설명하지 않고 S76와 S78에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BEAT-060 · 앞선 ACT의 Story callback. 새 Demo는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문제-driven 진화 모델이다. 각 단계는 앞 단계를 대체하거나 모든 개발자가 같은 maturity 순서로 이동해야 한다는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현재 사용 방식에서 다음으로 필요한 작은 engineering 대응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어떤 문제가 다음 단계의 접근을 필요하게 했는지 시스템 관점으로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기존 Vision 사례를 선택적으로 회상할 수 있다. 새 C++ 기술 사례는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다섯 개 행동 행을 차례로 가리킨다. 새로운 실행이나 상태를 추가하지 않는다. S79의 정의를 바로 다음 장에서 설명한다고 예고하지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띄우고 개인적으로 떠올리게 한다. 답변이나 현재 수준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“전체 교육 모델 가운데, 하나의 Repository에서 실제로 확인한 변화만 다시 보겠습니다.” S76로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총 4분, Lecture 4분. 각 단계 설명을 한 문장에 제한하고 앞선 ACT 내용을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S75와 production/preview/act5/S75.png를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S76 —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5 / 5A  PRIMARY DEMO EVOLUTION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각 State는 해당 문제에 대응해 기록된 Engineering history다. State 순서는 기능 성숙도 등급이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Repository는 어떤 문제를 만나며 바뀌었나?”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전체 교육 모델 가운데 실제 Product 이력만 회수하는 장임을 안내한다. 일곱 이름을 번호·화살표 순서로 읽고, 상단 왼쪽에서 오른쪽으로, 다음 하단 오른쪽에서 왼쪽으로 이동한다. State는 당시 문제에 대응한 이력임을 말한다.</a:t>
            </a:r>
          </a:p>
          <a:p xmlns:a="http://schemas.openxmlformats.org/drawingml/2006/main">
            <a:r>
              <a:t>2. (1:00–2:30 / VISUAL Demo) 아래 세 발췌(S18 crop 수정, S34 상세 문서 분리, S47 같은 조건의 성능 비교)를 가리키며 위의 일곱 State 변화와 연결한다. 작은 그림은 기억을 회수하는 용도이며 코드·경로·수치를 다시 읽는 시간이 아니다.</a:t>
            </a:r>
          </a:p>
          <a:p xmlns:a="http://schemas.openxmlformats.org/drawingml/2006/main">
            <a:r>
              <a:t>3. (2:30–3:00 / VISUAL Demo) STATE-04-PERF의 bounded endpoint에서 닫는다. Benchmark 준비 commit은 추가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State rail의 번호 01–07과 화살표를 따라간다. 상단은 왼쪽→오른쪽, 아래로 내려간 뒤 하단은 오른쪽→왼쪽으로 읽는다. 하단 발췌는 rail과 구분된 회상 자료이며 작은 코드·수치를 다시 읽거나 바로 위 State와 열 기준으로 대응시키지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OBSERVED_PRODUCT · `ai-dev-training-demo`의 named Git State/tag 기록과 DEMO-12. State 순서는 STATE-00 → STATE-00-FIXED → STATE-01 → STATE-02 → STATE-03 → STATE-04 → STATE-04-PERF다. 발췌 원본: assets/slide-illustrations/recap/S16-source.png, S34-source.png, S47-source.png (기존 production PNG와 동일). S18은 TRIAL-002 diff 재구성, S34는 STATE-02→03 문구 발췌, S47는 STATE-04→04-PERF 단일 코드·입력·환경 비교다. SHA-256과 native crop 범위: assets/slide-illustrations/ASSET_MANIFEST.json.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기록된 State와 Demo evidence 범위에 한정한다. Benchmark preparation commits는 supporting history이며 별도 State가 아니다. Subagent, Memory, stale Harness 또는 Loop를 Product State로 표시하지 않는다. 세 그림은 기존 발표자료 발췌이며 원본 실행 캡처가 아니다. S34로 Routing 우월성·토큰 절감을 주장하지 않고, S47는 tracemalloc 피크와 이 환경의 코드 변경 결과로 한정하며 RSS·Harness 단독 인과성으로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변화가 기능 수를 늘리기 위한 것이 아니라 당시 확인된 문제에 대응했다는 점을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Product State와 Conceptual 또는 Observed Meta 사례를 구분하고 bounded Product endpoint를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DEMO-12 · VISUAL, 2분. 실제 Product State/tag를 요약한 static timeline이다. 새 Trial·repository 실행·추가 state는 없다. Benchmark preparation은 별도 State로 그리지 않는다. 세 발췌와 seven-State rail을 함께 사용하되 개별 Trial을 새로 실행하거나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질문에 맞춰 각 State 아래 한 문구를 함께 훑는다. 평가 점수나 성숙도 단계로 읽지 않게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“그러면 이 작업에서 Subagent와 Memory는 왜 없었을까요?” S77로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1분 + VISUAL Demo 2분 = 3분. 세부 Trial을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production/ACT_5.pptx의 S76와 production/preview/act5/S76.png를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S77 — 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MINIMUM EFFECTIVE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bounded task에서는 Subagent와 Memory를 추가할 충분한 근거가 없었다. “Use what the problem justifies.”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“왜 현재 Demo의 최종 그림에 Subagent와 Memory가 없을까?”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이번 작업에서 쓴 왼쪽 요소와 보류한 오른쪽 요소를 비교한다.</a:t>
            </a:r>
          </a:p>
          <a:p xmlns:a="http://schemas.openxmlformats.org/drawingml/2006/main">
            <a:r>
              <a:t>2. (0:30–1:20 / Lecture) STATE-04-PERF와 DEC-0018의 bounded 범위에서 Subagent·Memory 추가의 이득이 충분히 정당화되지 않았다고 설명한다.</a:t>
            </a:r>
          </a:p>
          <a:p xmlns:a="http://schemas.openxmlformats.org/drawingml/2006/main">
            <a:r>
              <a:t>3. (1:20–2:00 / Lecture) “현재 문제가 필요로 하는 만큼 설계한다”는 기준을 남긴다. 기능 수가 많거나 적다는 이유만으로 성숙도를 판단하지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Demo에서 채택한 구성과 필요성을 입증하지 못한 구성을 대비한다. 여정 요약보다 무엇을 보류할지 판단한 기준에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OBSERVED_PRODUCT / TEACHING_MODEL · STATE-04-PERF와 DEC-0018. 사용한 요소: task Prompt, Project Context/routing, reusable Skill/workflow, Tests와 benchmark. 이번 bounded task에서 Subagent와 Memory는 사용되지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Demo의 bounded 작업과 이 교육의 프로젝트별 heuristic이다. 모든 Project에 Subagent/Memory가 불필요하거나 적게 쓰는 것이 항상 낫다는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처음부터 모든 기능을 넣지 않고 지금 반복되는 마찰과 필요한 지원부터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구성요소별 비용과 이득을 실제 task, context, verification 요구에 맞춰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Repository에서도 같은 정당화 질문을 적용할 수 있다. 새 C++ 절차는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왼쪽은 STATE-04-PERF의 system components, 오른쪽은 이번 사례에서 정당화되지 않은 Subagent/Memory다. 상태와 일반 규칙을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차이를 보고 “Use what the problem justifies”라는 기준을 가져간다. 도구 선택 답변이나 투표는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“필요한 구성요소를 선택한 뒤에도, 그 결과가 충분한지 판단하는 책임은 남습니다. 무엇을 확인하고 완료를 수용해야 할까요?” S78으로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2분. 구성요소를 다시 강의하지 않고 판단 근거와 범위에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S77와 production/preview/act5/S77.png를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S78 — 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DEVELOPER RESPONSIBILITY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Agent는 조사·생성·변경·실행·비교를 도울 수 있다. 개발자는 목표, 제약, 판단, Verification, 완료 여부와 결과 책임을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“AI가 더 많은 일을 맡아도 개발자가 계속 책임지는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(0:00–0:40 / Lecture) S77의 구성요소 선택에서 결과를 수용하는 판단으로 이어 간다. AI가 도울 수 있는 행동은 상단 한 문장으로만 읽는다.</a:t>
            </a:r>
          </a:p>
          <a:p xmlns:a="http://schemas.openxmlformats.org/drawingml/2006/main">
            <a:r>
              <a:t>2. (0:40–2:20 / Lecture) 네 질문을 차례로 짚는다: 해결할 목표, 적절한 선택, 확인 근거, 완료 수용 여부.</a:t>
            </a:r>
          </a:p>
          <a:p xmlns:a="http://schemas.openxmlformats.org/drawingml/2006/main">
            <a:r>
              <a:t>3. (2:20–3:00 / Lecture) 역할의 절대적 분업이 아니라 개발자의 판단과 책임을 강조하고 S79의 운영 모델로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AI가 도울 수 있는 행동은 짧게 읽고 개발자에게 남는 목표·판단·검증·책임의 질문을 차례로 확인한다. 이전 장의 도구 채택 목록을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BEAT-061–062. 새 Product feature나 책임 handoff evidence는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교육에서 고정한 책임 원칙이다. Agent와 개발자의 역할을 절대적인 분업 규칙으로 제시하지 않는다. AI fear/control framing을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AI가 결과를 만들 수 있어도 무엇이 맞고 완료인지 판단하는 일은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위임 범위, 제약, 검증 기준과 최종 수용 기준을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정적 role/responsibility diagram.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네 가지 책임 축을 읽고 자신의 완료 기준을 떠올리게 한다. 응답 요구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역할 변화를 이 교육에서는 어떤 모델로 부를까요?” S79로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다섯 Agent 행동을 상세 제품 기능처럼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S78와 production/preview/act5/S78.png를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S79 — 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AI-NATIVE DEVELOPMENT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교육은 Task Boundary, Project Context, Reusable Workflow, Verification, Feedback Loop를 의도적으로 설계·운영하는 방식을 AI-Native Development의 operational model로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“AI에게 일을 많이 맡기면 AI-Native일까?”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 과정이 AI가 일할 조건과 결과 확인 경로를 설계하는 방식에 AI-Native Development라는 운영 모델 이름을 붙였음을 밝힌다.</a:t>
            </a:r>
          </a:p>
          <a:p xmlns:a="http://schemas.openxmlformats.org/drawingml/2006/main">
            <a:r>
              <a:t>2. (0:30–2:20 / Lecture) 작업 경계, 프로젝트 지식·절차, 검증·피드백 세 행에서 각각 Task Boundary, Project Context/Reusable Workflow, Verification/Feedback Loop가 맡는 질문을 연결한다.</a:t>
            </a:r>
          </a:p>
          <a:p xmlns:a="http://schemas.openxmlformats.org/drawingml/2006/main">
            <a:r>
              <a:t>3. (2:20–3:00 / Lecture) 모든 Task에 모든 요소를 의무적으로 넣으라는 보편 정의가 아님을 한정하고 자신의 반복 마찰을 찾는 S80로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다섯 구성요소를 이 교육의 설계 질문으로 묶는다. 작업 경계→지식과 절차→검증과 피드백을 설명하되 공식·보편 정의나 의무적인 maturity 순서로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DEC-0023의 course-specific operational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공식·보편 업계 표준 정의라고 말하지 않는다. 모든 task 또는 Demo에 다섯 구성요소를 의무적으로 도입하라는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사용량을 늘리는 것만으로 끝내지 않고 반복되는 작은 마찰을 하나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Model capability와 작업 System/Harness 설계를 구분해 다음 병목을 진단한다.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다음 S80에서 C++ Vision 업무와 자신의 Repository로 transfer한다.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다섯 구성요소는 비교 가능한 system components로 보이며 maturity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남긴 뒤 course model의 범위를 확인한다. 공식 용어 정의나 정답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“내 Repository에서는 어떤 Layer에서 마찰이 반복될까요?” S80로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AI 사용량과 설계된 work system의 차이만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S79와 production/preview/act5/S79.png를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S80 — 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C++ VISION / MY REPOSITORY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1분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Task, Context, Workflow, Verification, Repeated Failure Loop 중 현재 가장 큰 마찰과 가까운 한 곳을 선택한다. 정해진 maturity sequence가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 Repository에서 다음 주에 하나만 바꾼다면?”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C++ Vision의 병목 범위, 빌드 조건·계약·하드웨어 가정, 분석·측정 절차를 업무에 비춰 보는 교육용 예시라고 밝힌다. 실제 프로젝트 사건이 아니다.</a:t>
            </a:r>
          </a:p>
          <a:p xmlns:a="http://schemas.openxmlformats.org/drawingml/2006/main">
            <a:r>
              <a:t>2. (1:00–3:00 / Transition) 다섯 행의 증상 질문을 읽으며 현재 자기 업무와 가까운 것이 있는지 마음속으로 떠올리게 한다. 같은 수준의 선택지이며 반드시 위에서부터 도입하는 순서가 아니다.</a:t>
            </a:r>
          </a:p>
          <a:p xmlns:a="http://schemas.openxmlformats.org/drawingml/2006/main">
            <a:r>
              <a:t>3. (3:00–5:00 / Transition) 떠올린 마찰 한 곳을 다음 작업의 작은 행동 하나로 좁히겠다고 안내하고 S81의 세 질문으로 연결한다. Task/Context/Workflow/Verification/Feedback의 새 개념 설명은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자기 업무의 반복 마찰 한 곳을 고르는 적용 질문에 집중한다. 모든 Layer를 도입하라는 체크리스트로 읽지 않고 현재 문제와 가장 가까운 한 곳만 고르게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C++ Vision engineering-pattern transfer. 실제 C++ Project, hardware, toolchain 또는 benchmark 결과는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다섯 선택지는 같은 높이의 적용 후보이며 순서가 있는 maturity ladder가 아니다. 특정 C++ Project 규칙·도구·hardware 또는 검증된 procedure를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전체 Harness를 새로 만들기 전에 반복해서 설명하거나 확인하는 부분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 비용, 위험과 verification surface를 보고 투자 지점을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새 Demo가 없다. 왼쪽 Layer 이름보다 오른쪽 반복되는 마찰을 먼저 읽고, 선택지들은 같은 높이의 적용 후보임을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선택지를 강사 주도로 비교한다. 청중에게 선택 발표, 투표, 실습, 제출을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“방금 떠올린 한 곳에서, 다음 작업 때 다르게 해 볼 작은 행동 하나를 마음속으로 골라 봅시다.” S81로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1분 + Transition 4분 = 5분. Transition 동안 새 사례를 열지 않고 reflection handoff만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S80와 production/preview/act5/S80.png를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S81 — 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반복해서 적는 설명, AI가 다시 찾는 Project 사실, 반복되는 실패에서 고칠 System layer 가운데 한 가지를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“방금 떠올린 마찰에서, 다음 작업 때 다르게 해 볼 작은 행동 하나는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S80에서 떠올린 반복 마찰 한 곳을 이어 받아, 다음 작업에서 다르게 해 볼 작은 행동 하나를 고르는 시간이라고 안내한다.</a:t>
            </a:r>
          </a:p>
          <a:p xmlns:a="http://schemas.openxmlformats.org/drawingml/2006/main">
            <a:r>
              <a:t>2. (1:00–2:00 / Lecture) 화면의 반복 설명 하나를 줄이는 방법, 다시 찾는 프로젝트 사실 하나를 둘 곳, 같은 실패 때 먼저 확인할 Layer의 세 질문을 읽는다. 자신과 가까운 질문 하나를 바탕으로 다음 행동을 떠올리게 한다.</a:t>
            </a:r>
          </a:p>
          <a:p xmlns:a="http://schemas.openxmlformats.org/drawingml/2006/main">
            <a:r>
              <a:t>3. (2:00–4:00 / Reflection) 두 분 동안 다음 행동 하나를 조용히 개인적으로 고를 시간을 둔다. 답변·기록·발표·제출을 요구하지 않는다. 시간 뒤 S82 질문 시간으로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장은 개인적인 선택을 위한 침묵을 허용한다. 앞의 여정·State·모델을 다시 강의하지 않고 작은 다음 행동 하나를 생각하게 한다. 답변·공유·공개 약속은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승인된 private reflection prompt. 개인 업무에 대한 새 관찰 근거는 수집하지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개인 Reflection이며 응답, 공유, written commitment 또는 실제 업무 변경을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반복되는 설명이나 Project 사실을 AI가 다시 찾는 지점부터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같은 실패가 반복될 때 Prompt 밖의 어떤 System layer가 원인인지 떠올린다.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Vision 또는 개발 Repository에 같은 질문을 개인적으로 적용할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Demo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떠올린 마찰에 맞는 다음 행동 하나를 마음속으로 고르는 개인 성찰로 진행한다. 공유나 실천 약속을 요구하지 않고 응답을 받기 위해 기다리지 않는다. 2분 뒤 바로 S82으로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“이제 질문을 받고, 마지막 공통 모델로 마무리하겠습니다.” S82으로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Reflection 2분 = 4분. Reflection은 2분에 종료하고 Q&amp;A와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S81와 production/preview/act5/S81.png를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S82 — 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Q&amp;A / CLOSING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Q&amp;A 4분 + Closing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Goal, Judgment, Verification, Responsibility를 유지하면서 AI가 일할 환경과 Feedback을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“남은 질문은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(0:00–4:00 / Q&amp;A) 상단의 “내 업무에서 무엇부터 바꿀까요?”를 가리키고 질문을 받는다. 질문이 없으면 “반복 설명을 줄이려면 Task와 Project Context 중 무엇을 살필까요?” 또는 “결과 확인 기준을 먼저 정한다면 어떤 업무부터 볼까요?”를 사용해 앞의 교육 모델 안에서 짧게 정리한다.</a:t>
            </a:r>
          </a:p>
          <a:p xmlns:a="http://schemas.openxmlformats.org/drawingml/2006/main">
            <a:r>
              <a:t>2. (4:00–6:00 / Closing Transition) 질문을 마감하고 중앙의 “AI가 잘 일할 환경을 설계한다”로 마무리한다. 하단 Question→Task→Context→System→Feedback Loop를 짧게 회수한다.</a:t>
            </a:r>
          </a:p>
          <a:p xmlns:a="http://schemas.openxmlformats.org/drawingml/2006/main">
            <a:r>
              <a:t>3. 종료 cue: “목표·판단·검증·책임을 유지하면서, AI가 잘 일할 환경을 설계합시다.”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BEAT-070–071. 새로운 Product claim이나 기술 개념은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AI-Native Development의 course-specific framing으로 닫는다. 제품 기능, 자동화 수준 또는 모든 상황의 단일 처방을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 대신 내 일에 필요한 환경과 확인 기준을 기억한다.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Goal, Judgment, Verification, Responsibility를 유지하며 System의 Feedback 경로를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Q&amp;A 운영 지시와 시간표는 Notes에만 두고 화면에는 질문과 마지막 한 문장을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Q&amp;A 4분. 질문이 없으면 FAQ 또는 개발 업무 적용 질문 하나를 사용하며 새로운 강의 topic을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2분 closing transition: Question → Task → Context → System → Feedback Loop를 회수하고 교육을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Q&amp;A 4분 + Closing Transition 2분 = 6분. Q&amp;A는 4분에 마감하고 추가 질문을 이유로 시간을 늘리지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S82와 production/preview/act5/S82.png를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0ee602250c407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96016abee473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bfe8bc0a0640e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5b29852e3f49d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dc88dcc660498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693018c7e84b0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A66CC7-B65A-4924-8B5A-6028075D31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B787D54-2E5E-49EA-9069-1F1B5C51859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24A9014-54A8-4579-81C5-8513A7CFAD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6612CF-D441-4DC4-B19C-AEC920F462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59F93D1-6E94-400E-848E-15E7EFFF82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B823DB6-1635-4446-AE5E-C866533451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5B6F1E1-AE5D-4E62-8DCC-B9B8FFFC01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4638617-70A7-43E0-828A-17A8A7F08FF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713C286-7F97-4155-A454-B2A3A6B44B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7C60B4-1A7A-4E29-973F-8EC8B800F2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469116d0d44229" /><Relationship Type="http://schemas.openxmlformats.org/officeDocument/2006/relationships/slideLayout" Target="/ppt/slideLayouts/slideLayout1.xml" Id="R52fd62b776c7498d" /><Relationship Type="http://schemas.openxmlformats.org/officeDocument/2006/relationships/slideLayout" Target="/ppt/slideLayouts/slideLayout2.xml" Id="Ra3f2dd512d7549ad" /><Relationship Type="http://schemas.openxmlformats.org/officeDocument/2006/relationships/slideLayout" Target="/ppt/slideLayouts/slideLayout3.xml" Id="Ra6989b9906d343b7" /><Relationship Type="http://schemas.openxmlformats.org/officeDocument/2006/relationships/slideLayout" Target="/ppt/slideLayouts/slideLayout4.xml" Id="R0779426a3d5148ef" /><Relationship Type="http://schemas.openxmlformats.org/officeDocument/2006/relationships/slideLayout" Target="/ppt/slideLayouts/slideLayout5.xml" Id="Rb9d5a0e6b89647d2" /><Relationship Type="http://schemas.openxmlformats.org/officeDocument/2006/relationships/slideLayout" Target="/ppt/slideLayouts/slideLayout6.xml" Id="R4a7c9563b92842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fd62b776c7498d"/>
    <p:sldLayoutId xmlns:r="http://schemas.openxmlformats.org/officeDocument/2006/relationships" id="2147483650" r:id="Ra3f2dd512d7549ad"/>
    <p:sldLayoutId xmlns:r="http://schemas.openxmlformats.org/officeDocument/2006/relationships" id="2147483651" r:id="Ra6989b9906d343b7"/>
    <p:sldLayoutId xmlns:r="http://schemas.openxmlformats.org/officeDocument/2006/relationships" id="2147483652" r:id="R0779426a3d5148ef"/>
    <p:sldLayoutId xmlns:r="http://schemas.openxmlformats.org/officeDocument/2006/relationships" id="2147483653" r:id="Rb9d5a0e6b89647d2"/>
    <p:sldLayoutId xmlns:r="http://schemas.openxmlformats.org/officeDocument/2006/relationships" id="2147483654" r:id="R4a7c9563b92842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35a53d91814121" /><Relationship Type="http://schemas.openxmlformats.org/officeDocument/2006/relationships/notesSlide" Target="/ppt/notesSlides/notesSlide1.xml" Id="R7b36988847304a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2b06849844493b" /><Relationship Type="http://schemas.openxmlformats.org/officeDocument/2006/relationships/image" Target="/ppt/media/image.png" Id="Ref72274178504cdc" /><Relationship Type="http://schemas.openxmlformats.org/officeDocument/2006/relationships/image" Target="/ppt/media/image2.png" Id="R9e04dfb23f494810" /><Relationship Type="http://schemas.openxmlformats.org/officeDocument/2006/relationships/image" Target="/ppt/media/image3.png" Id="R0aba3254f1154a97" /><Relationship Type="http://schemas.openxmlformats.org/officeDocument/2006/relationships/notesSlide" Target="/ppt/notesSlides/notesSlide2.xml" Id="R2956f8d057a244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866dba889b462c" /><Relationship Type="http://schemas.openxmlformats.org/officeDocument/2006/relationships/notesSlide" Target="/ppt/notesSlides/notesSlide3.xml" Id="Rd7397955736b4c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1056e138de4b24" /><Relationship Type="http://schemas.openxmlformats.org/officeDocument/2006/relationships/notesSlide" Target="/ppt/notesSlides/notesSlide4.xml" Id="R2369ed63928b49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6bfdc86d8c4ba4" /><Relationship Type="http://schemas.openxmlformats.org/officeDocument/2006/relationships/notesSlide" Target="/ppt/notesSlides/notesSlide5.xml" Id="R68e1d928045d4f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c336d0551640b2" /><Relationship Type="http://schemas.openxmlformats.org/officeDocument/2006/relationships/notesSlide" Target="/ppt/notesSlides/notesSlide6.xml" Id="R397e27de148144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15c3d998034583" /><Relationship Type="http://schemas.openxmlformats.org/officeDocument/2006/relationships/notesSlide" Target="/ppt/notesSlides/notesSlide7.xml" Id="R4aefb08767194cf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efd423fbc54ef9" /><Relationship Type="http://schemas.openxmlformats.org/officeDocument/2006/relationships/notesSlide" Target="/ppt/notesSlides/notesSlide8.xml" Id="R129265563cc848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T 5 · 전체 여정 회수">
            <a:extLst xmlns:a="http://schemas.openxmlformats.org/drawingml/2006/main">
              <a:ext uri="{FF2B5EF4-FFF2-40B4-BE49-F238E27FC236}">
                <a16:creationId xmlns:a16="http://schemas.microsoft.com/office/drawing/2014/main" id="{72077F1F-1BD5-4A05-9364-7DBD1EC8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전체 여정 회수</a:t>
            </a:r>
          </a:p>
        </p:txBody>
      </p:sp>
      <p:sp>
        <p:nvSpPr>
          <p:cNvPr id="2" name="S75">
            <a:extLst xmlns:a="http://schemas.openxmlformats.org/drawingml/2006/main">
              <a:ext uri="{FF2B5EF4-FFF2-40B4-BE49-F238E27FC236}">
                <a16:creationId xmlns:a16="http://schemas.microsoft.com/office/drawing/2014/main" id="{203E06A8-EB98-456E-B6C4-8500A61C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S75</a:t>
            </a:r>
          </a:p>
        </p:txBody>
      </p:sp>
      <p:sp>
        <p:nvSpPr>
          <p:cNvPr id="3" name="여섯 시간의 Story를 한 장으로">
            <a:extLst xmlns:a="http://schemas.openxmlformats.org/drawingml/2006/main">
              <a:ext uri="{FF2B5EF4-FFF2-40B4-BE49-F238E27FC236}">
                <a16:creationId xmlns:a16="http://schemas.microsoft.com/office/drawing/2014/main" id="{FBD1CDE5-D0D9-4A44-BACD-7E659D8B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여섯 시간의 Story를 한 장으로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059C3-EB20-4335-AB83-2B0040D6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0 · 이 교육의 문제 중심 진화 모델">
            <a:extLst xmlns:a="http://schemas.openxmlformats.org/drawingml/2006/main">
              <a:ext uri="{FF2B5EF4-FFF2-40B4-BE49-F238E27FC236}">
                <a16:creationId xmlns:a16="http://schemas.microsoft.com/office/drawing/2014/main" id="{D26D2670-7882-4E6F-9441-59300AFC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BEAT-060 · 이 교육의 문제 중심 진화 모델</a:t>
            </a:r>
          </a:p>
        </p:txBody>
      </p:sp>
      <p:sp>
        <p:nvSpPr>
          <p:cNvPr id="6" name="앞의 방식을 버리거나, 모든 프로젝트가 같은 순서로 발전해야 한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817B241A-10BC-4557-B92C-E974F20F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방식을 버리거나, 모든 프로젝트가 같은 순서로 발전해야 한다는 뜻은 아니다.</a:t>
            </a:r>
          </a:p>
        </p:txBody>
      </p:sp>
      <p:sp>
        <p:nvSpPr>
          <p:cNvPr id="7" name="문제가 넓어질수록, 필요한 대응이 더해졌다.">
            <a:extLst xmlns:a="http://schemas.openxmlformats.org/drawingml/2006/main">
              <a:ext uri="{FF2B5EF4-FFF2-40B4-BE49-F238E27FC236}">
                <a16:creationId xmlns:a16="http://schemas.microsoft.com/office/drawing/2014/main" id="{76398C78-D47D-4C55-9AC7-9B02D63B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문제가 넓어질수록, 필요한 대응이 더해졌다.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52C39058-721D-4F30-B69D-BFFE22B7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348A72-51BE-4709-B2CE-ADDCFEEE3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Chatbot">
            <a:extLst xmlns:a="http://schemas.openxmlformats.org/drawingml/2006/main">
              <a:ext uri="{FF2B5EF4-FFF2-40B4-BE49-F238E27FC236}">
                <a16:creationId xmlns:a16="http://schemas.microsoft.com/office/drawing/2014/main" id="{D7696E11-A302-47A3-81A2-8EB95035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Chatbot</a:t>
            </a:r>
          </a:p>
        </p:txBody>
      </p:sp>
      <p:sp>
        <p:nvSpPr>
          <p:cNvPr id="11" name="답을 구한다">
            <a:extLst xmlns:a="http://schemas.openxmlformats.org/drawingml/2006/main">
              <a:ext uri="{FF2B5EF4-FFF2-40B4-BE49-F238E27FC236}">
                <a16:creationId xmlns:a16="http://schemas.microsoft.com/office/drawing/2014/main" id="{5F9AFB38-A5C9-4569-9376-04EFD033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구한다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481DA-C147-4B30-8B38-4AF5A619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407B9E69-A0BB-4572-A6E2-339B4D5E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ABF85F-971A-44EF-BFFF-7EED220C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Prompt">
            <a:extLst xmlns:a="http://schemas.openxmlformats.org/drawingml/2006/main">
              <a:ext uri="{FF2B5EF4-FFF2-40B4-BE49-F238E27FC236}">
                <a16:creationId xmlns:a16="http://schemas.microsoft.com/office/drawing/2014/main" id="{D8E3BFBC-AAE1-40C0-A4F8-B3F3DFDF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16" name="이번 작업을&#10;구체화한다">
            <a:extLst xmlns:a="http://schemas.openxmlformats.org/drawingml/2006/main">
              <a:ext uri="{FF2B5EF4-FFF2-40B4-BE49-F238E27FC236}">
                <a16:creationId xmlns:a16="http://schemas.microsoft.com/office/drawing/2014/main" id="{93A20AFB-63B3-4F74-ABF1-C1164C8C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54FB19-FF3A-4146-8392-93348B94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C21D0A10-C287-42D7-8120-CE94E6AA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E2F2F9-6456-40E8-B7B5-618250F9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Context">
            <a:extLst xmlns:a="http://schemas.openxmlformats.org/drawingml/2006/main">
              <a:ext uri="{FF2B5EF4-FFF2-40B4-BE49-F238E27FC236}">
                <a16:creationId xmlns:a16="http://schemas.microsoft.com/office/drawing/2014/main" id="{515F18AF-3950-4421-BCDA-F502C12E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21" name="프로젝트 지식을&#10;제공한다">
            <a:extLst xmlns:a="http://schemas.openxmlformats.org/drawingml/2006/main">
              <a:ext uri="{FF2B5EF4-FFF2-40B4-BE49-F238E27FC236}">
                <a16:creationId xmlns:a16="http://schemas.microsoft.com/office/drawing/2014/main" id="{148686BA-0F16-4997-B6CB-E0E5ADAF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지식을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제공한다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2FB783-F668-46A6-B103-79F21F4F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5EC79E24-F68B-4413-838A-EBE7C61F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E7E263-5BFD-44E6-B8CA-1BFBB51B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5" name="Harness">
            <a:extLst xmlns:a="http://schemas.openxmlformats.org/drawingml/2006/main">
              <a:ext uri="{FF2B5EF4-FFF2-40B4-BE49-F238E27FC236}">
                <a16:creationId xmlns:a16="http://schemas.microsoft.com/office/drawing/2014/main" id="{46281DA5-E4EC-4DA3-B832-5EF1D038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26" name="일하는 환경을&#10;설계한다">
            <a:extLst xmlns:a="http://schemas.openxmlformats.org/drawingml/2006/main">
              <a:ext uri="{FF2B5EF4-FFF2-40B4-BE49-F238E27FC236}">
                <a16:creationId xmlns:a16="http://schemas.microsoft.com/office/drawing/2014/main" id="{C2FB814B-EC6A-4117-B28B-F08D3D0C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일하는 환경을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7D3DB6-C28C-496F-8C3A-2E4A740F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8" name="05">
            <a:extLst xmlns:a="http://schemas.openxmlformats.org/drawingml/2006/main">
              <a:ext uri="{FF2B5EF4-FFF2-40B4-BE49-F238E27FC236}">
                <a16:creationId xmlns:a16="http://schemas.microsoft.com/office/drawing/2014/main" id="{9E54DAE4-B4D4-4E9B-9792-066154A9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BB55C4-32B6-4E41-8FEB-99A71A5D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0" name="Loop">
            <a:extLst xmlns:a="http://schemas.openxmlformats.org/drawingml/2006/main">
              <a:ext uri="{FF2B5EF4-FFF2-40B4-BE49-F238E27FC236}">
                <a16:creationId xmlns:a16="http://schemas.microsoft.com/office/drawing/2014/main" id="{047C0AA3-1896-4F96-BDB7-EDCA8A33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31" name="피드백으로&#10;시스템을 고친다">
            <a:extLst xmlns:a="http://schemas.openxmlformats.org/drawingml/2006/main">
              <a:ext uri="{FF2B5EF4-FFF2-40B4-BE49-F238E27FC236}">
                <a16:creationId xmlns:a16="http://schemas.microsoft.com/office/drawing/2014/main" id="{47B97F4C-AEF7-45D2-82D8-19F971D3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피드백으로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시스템을 고친다</a:t>
            </a:r>
          </a:p>
        </p:txBody>
      </p:sp>
      <p:sp>
        <p:nvSpPr>
          <p:cNvPr id="32" name="지금 나는 AI를 어떤 방식으로 사용하고 있을까?">
            <a:extLst xmlns:a="http://schemas.openxmlformats.org/drawingml/2006/main">
              <a:ext uri="{FF2B5EF4-FFF2-40B4-BE49-F238E27FC236}">
                <a16:creationId xmlns:a16="http://schemas.microsoft.com/office/drawing/2014/main" id="{D50970B5-81F1-4983-A46C-AF5A8F38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나는 AI를 어떤 방식으로 사용하고 있을까?</a:t>
            </a:r>
          </a:p>
        </p:txBody>
      </p:sp>
      <p:sp>
        <p:nvSpPr>
          <p:cNvPr id="3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2B2258C-67CD-4106-8363-647065C5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</a:t>
            </a:r>
          </a:p>
        </p:txBody>
      </p:sp>
    </p:spTree>
    <p:extLst>
      <p:ext uri="{BB962C8B-B14F-4D97-AF65-F5344CB8AC3E}">
        <p14:creationId xmlns:p14="http://schemas.microsoft.com/office/powerpoint/2010/main" val="9354218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ACT 5 · 확인된 제품 변화">
            <a:extLst xmlns:a="http://schemas.openxmlformats.org/drawingml/2006/main">
              <a:ext uri="{FF2B5EF4-FFF2-40B4-BE49-F238E27FC236}">
                <a16:creationId xmlns:a16="http://schemas.microsoft.com/office/drawing/2014/main" id="{980AB2BC-5C72-4238-895C-5DFD0411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확인된 제품 변화</a:t>
            </a:r>
          </a:p>
        </p:txBody>
      </p:sp>
      <p:sp>
        <p:nvSpPr>
          <p:cNvPr id="2" name="S76">
            <a:extLst xmlns:a="http://schemas.openxmlformats.org/drawingml/2006/main">
              <a:ext uri="{FF2B5EF4-FFF2-40B4-BE49-F238E27FC236}">
                <a16:creationId xmlns:a16="http://schemas.microsoft.com/office/drawing/2014/main" id="{F6EF799C-BFC5-4550-A591-DCC76C44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S76</a:t>
            </a:r>
          </a:p>
        </p:txBody>
      </p:sp>
      <p:sp>
        <p:nvSpPr>
          <p:cNvPr id="3" name="하나의 Repository가 문제에 대응해 진화했다">
            <a:extLst xmlns:a="http://schemas.openxmlformats.org/drawingml/2006/main">
              <a:ext uri="{FF2B5EF4-FFF2-40B4-BE49-F238E27FC236}">
                <a16:creationId xmlns:a16="http://schemas.microsoft.com/office/drawing/2014/main" id="{B4CF4C13-0FD0-4B8D-A390-83C817B3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하나의 Repository가 문제에 대응해 진화했다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C1805D-4F19-431C-93C2-2D3A42F2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MO-12 · 실제 Git State 이력 · S18 / S34 / S47 발표자료 발췌">
            <a:extLst xmlns:a="http://schemas.openxmlformats.org/drawingml/2006/main">
              <a:ext uri="{FF2B5EF4-FFF2-40B4-BE49-F238E27FC236}">
                <a16:creationId xmlns:a16="http://schemas.microsoft.com/office/drawing/2014/main" id="{7695EBD6-03B6-40F9-8B3E-CE291FD6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DEMO-12 · 실제 Git State 이력 · S18 / S34 / S47 발표자료 발췌</a:t>
            </a:r>
          </a:p>
        </p:txBody>
      </p:sp>
      <p:sp>
        <p:nvSpPr>
          <p:cNvPr id="6" name="원본 실행 화면 아님 · 성능은 해당 코드·입력·환경 범위 · State는 성숙도 등급이나 Product L">
            <a:extLst xmlns:a="http://schemas.openxmlformats.org/drawingml/2006/main">
              <a:ext uri="{FF2B5EF4-FFF2-40B4-BE49-F238E27FC236}">
                <a16:creationId xmlns:a16="http://schemas.microsoft.com/office/drawing/2014/main" id="{5D924AB4-B785-4B0E-942F-0FD61A3D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원본 실행 화면 아님 · 성능은 해당 코드·입력·환경 범위 · State는 성숙도 등급이나 Product Loop가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BF15A-78BF-4ECA-AA25-6ED16C34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E005657E-0D95-4D8A-9DF7-FB3782D7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STATE-00">
            <a:extLst xmlns:a="http://schemas.openxmlformats.org/drawingml/2006/main">
              <a:ext uri="{FF2B5EF4-FFF2-40B4-BE49-F238E27FC236}">
                <a16:creationId xmlns:a16="http://schemas.microsoft.com/office/drawing/2014/main" id="{2B6587E1-D726-4EA7-90C9-734C856CE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</a:t>
            </a:r>
          </a:p>
        </p:txBody>
      </p:sp>
      <p:sp>
        <p:nvSpPr>
          <p:cNvPr id="10" name="crop 경계 문제">
            <a:extLst xmlns:a="http://schemas.openxmlformats.org/drawingml/2006/main">
              <a:ext uri="{FF2B5EF4-FFF2-40B4-BE49-F238E27FC236}">
                <a16:creationId xmlns:a16="http://schemas.microsoft.com/office/drawing/2014/main" id="{9C8C7605-6CD9-4367-8BAE-D2D58408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문제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757E8-2B58-40F2-8187-FBA8BCCA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3AA3D4-0C91-4ABD-B7B0-EE4F7E71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4829847F-53C9-4DBB-89B3-8549C387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STATE-00-FIXED">
            <a:extLst xmlns:a="http://schemas.openxmlformats.org/drawingml/2006/main">
              <a:ext uri="{FF2B5EF4-FFF2-40B4-BE49-F238E27FC236}">
                <a16:creationId xmlns:a16="http://schemas.microsoft.com/office/drawing/2014/main" id="{14A535D0-EF78-476A-9C1B-6B02D9F9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STATE-00-FIXED</a:t>
            </a:r>
          </a:p>
        </p:txBody>
      </p:sp>
      <p:sp>
        <p:nvSpPr>
          <p:cNvPr id="15" name="계약에 맞게 수정">
            <a:extLst xmlns:a="http://schemas.openxmlformats.org/drawingml/2006/main">
              <a:ext uri="{FF2B5EF4-FFF2-40B4-BE49-F238E27FC236}">
                <a16:creationId xmlns:a16="http://schemas.microsoft.com/office/drawing/2014/main" id="{07DDF706-1482-4DCF-A061-A605BCA8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계약에 맞게 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0AEEDC-57CF-4A20-A09A-AB7B5938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7CB4C6-8D68-4DBB-A500-92F6C2B9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1910E92A-978B-4FA6-B2C8-13423FB0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STATE-01">
            <a:extLst xmlns:a="http://schemas.openxmlformats.org/drawingml/2006/main">
              <a:ext uri="{FF2B5EF4-FFF2-40B4-BE49-F238E27FC236}">
                <a16:creationId xmlns:a16="http://schemas.microsoft.com/office/drawing/2014/main" id="{C47649E5-6FD3-4460-B591-D04CFDC8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20" name="프로젝트 지침">
            <a:extLst xmlns:a="http://schemas.openxmlformats.org/drawingml/2006/main">
              <a:ext uri="{FF2B5EF4-FFF2-40B4-BE49-F238E27FC236}">
                <a16:creationId xmlns:a16="http://schemas.microsoft.com/office/drawing/2014/main" id="{1F4027F9-9845-48B5-AEBD-10F6A3F2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8EBB6B-FA8E-4C8F-B874-EE1B26AD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F0B5FA-715F-4101-AD64-34200B88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27F3A741-E84D-491A-8BEB-05210F9B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STATE-02">
            <a:extLst xmlns:a="http://schemas.openxmlformats.org/drawingml/2006/main">
              <a:ext uri="{FF2B5EF4-FFF2-40B4-BE49-F238E27FC236}">
                <a16:creationId xmlns:a16="http://schemas.microsoft.com/office/drawing/2014/main" id="{29F2AF19-86B2-42E0-BC1F-DEBD4D89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STATE-02</a:t>
            </a:r>
          </a:p>
        </p:txBody>
      </p:sp>
      <p:sp>
        <p:nvSpPr>
          <p:cNvPr id="25" name="Context 증가">
            <a:extLst xmlns:a="http://schemas.openxmlformats.org/drawingml/2006/main">
              <a:ext uri="{FF2B5EF4-FFF2-40B4-BE49-F238E27FC236}">
                <a16:creationId xmlns:a16="http://schemas.microsoft.com/office/drawing/2014/main" id="{2D8745A8-D186-4999-8949-A92AD242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 증가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18272D-233B-4F5A-A70E-9EBF0284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7" name="05">
            <a:extLst xmlns:a="http://schemas.openxmlformats.org/drawingml/2006/main">
              <a:ext uri="{FF2B5EF4-FFF2-40B4-BE49-F238E27FC236}">
                <a16:creationId xmlns:a16="http://schemas.microsoft.com/office/drawing/2014/main" id="{F5DF28D5-066A-4C80-9F44-0B8DD5F4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8" name="STATE-03">
            <a:extLst xmlns:a="http://schemas.openxmlformats.org/drawingml/2006/main">
              <a:ext uri="{FF2B5EF4-FFF2-40B4-BE49-F238E27FC236}">
                <a16:creationId xmlns:a16="http://schemas.microsoft.com/office/drawing/2014/main" id="{131B3A6E-746D-4D4D-B5E0-7AF1B7F4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STATE-03</a:t>
            </a:r>
          </a:p>
        </p:txBody>
      </p:sp>
      <p:sp>
        <p:nvSpPr>
          <p:cNvPr id="29" name="상세 정보로 연결">
            <a:extLst xmlns:a="http://schemas.openxmlformats.org/drawingml/2006/main">
              <a:ext uri="{FF2B5EF4-FFF2-40B4-BE49-F238E27FC236}">
                <a16:creationId xmlns:a16="http://schemas.microsoft.com/office/drawing/2014/main" id="{0693F74D-DBAE-41D3-9DB4-90D2262D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정보로 연결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80B70A-1393-4825-BCC5-36F6DD97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D58641-7A72-4A58-BA2D-53F015EA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32" name="06">
            <a:extLst xmlns:a="http://schemas.openxmlformats.org/drawingml/2006/main">
              <a:ext uri="{FF2B5EF4-FFF2-40B4-BE49-F238E27FC236}">
                <a16:creationId xmlns:a16="http://schemas.microsoft.com/office/drawing/2014/main" id="{E74848A9-7243-4EE0-9F67-EBA8F840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3" name="STATE-04">
            <a:extLst xmlns:a="http://schemas.openxmlformats.org/drawingml/2006/main">
              <a:ext uri="{FF2B5EF4-FFF2-40B4-BE49-F238E27FC236}">
                <a16:creationId xmlns:a16="http://schemas.microsoft.com/office/drawing/2014/main" id="{609F2300-0ED6-4683-8A05-CEE17A21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STATE-04</a:t>
            </a:r>
          </a:p>
        </p:txBody>
      </p:sp>
      <p:sp>
        <p:nvSpPr>
          <p:cNvPr id="34" name="재사용 Workflow">
            <a:extLst xmlns:a="http://schemas.openxmlformats.org/drawingml/2006/main">
              <a:ext uri="{FF2B5EF4-FFF2-40B4-BE49-F238E27FC236}">
                <a16:creationId xmlns:a16="http://schemas.microsoft.com/office/drawing/2014/main" id="{8B60963C-9CB0-494A-99A4-B0F5BB65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D101864-198B-4F37-AB21-B990B88A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08658D-B27E-4C77-A2F4-24A784E2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6B4D"/>
            </a:solidFill>
            <a:prstDash val="solid"/>
          </a:ln>
        </p:spPr>
      </p:sp>
      <p:sp>
        <p:nvSpPr>
          <p:cNvPr id="37" name="07">
            <a:extLst xmlns:a="http://schemas.openxmlformats.org/drawingml/2006/main">
              <a:ext uri="{FF2B5EF4-FFF2-40B4-BE49-F238E27FC236}">
                <a16:creationId xmlns:a16="http://schemas.microsoft.com/office/drawing/2014/main" id="{749B3D03-4397-48D7-B383-E3B10B43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38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76A3DA21-0105-4989-91B5-41C8085D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76B4D"/>
                </a:solidFill>
                <a:latin typeface="Consolas"/>
                <a:ea typeface="Consolas"/>
                <a:cs typeface="Consolas"/>
              </a:rPr>
              <a:t>STATE-04-PERF</a:t>
            </a:r>
          </a:p>
        </p:txBody>
      </p:sp>
      <p:sp>
        <p:nvSpPr>
          <p:cNvPr id="39" name="검증된 제품 변경">
            <a:extLst xmlns:a="http://schemas.openxmlformats.org/drawingml/2006/main">
              <a:ext uri="{FF2B5EF4-FFF2-40B4-BE49-F238E27FC236}">
                <a16:creationId xmlns:a16="http://schemas.microsoft.com/office/drawing/2014/main" id="{BCACBBD1-9CFB-4D61-B5D8-041B3D4B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검증된 제품 변경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260E23-4CB9-457B-AC77-809A52B7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2390775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4A8F12-F92E-4506-9BFA-23261315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42" name="앞서 본 근거 다시 보기">
            <a:extLst xmlns:a="http://schemas.openxmlformats.org/drawingml/2006/main">
              <a:ext uri="{FF2B5EF4-FFF2-40B4-BE49-F238E27FC236}">
                <a16:creationId xmlns:a16="http://schemas.microsoft.com/office/drawing/2014/main" id="{364FC956-E18B-4C04-AA8D-580351F0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근거 다시 보기</a:t>
            </a:r>
          </a:p>
        </p:txBody>
      </p:sp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1FE45D-288C-43B7-837E-F34580E625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72274178504cdc"/>
          <a:srcRect xmlns:a="http://schemas.openxmlformats.org/drawingml/2006/main" l="5000" t="40741" r="5000" b="18519"/>
          <a:stretch xmlns:a="http://schemas.openxmlformats.org/drawingml/2006/main"/>
        </p:blipFill>
        <p:spPr>
          <a:xfrm xmlns:a="http://schemas.openxmlformats.org/drawingml/2006/main">
            <a:off x="914400" y="4027135"/>
            <a:ext cx="2895600" cy="737306"/>
          </a:xfrm>
          <a:prstGeom xmlns:a="http://schemas.openxmlformats.org/drawingml/2006/main" prst="rect">
            <a:avLst/>
          </a:prstGeom>
        </p:spPr>
      </p:pic>
      <p:sp>
        <p:nvSpPr>
          <p:cNvPr id="44" name="crop 계약 수정">
            <a:extLst xmlns:a="http://schemas.openxmlformats.org/drawingml/2006/main">
              <a:ext uri="{FF2B5EF4-FFF2-40B4-BE49-F238E27FC236}">
                <a16:creationId xmlns:a16="http://schemas.microsoft.com/office/drawing/2014/main" id="{494002FD-0F31-4AFF-8DA5-F26FC67F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수정</a:t>
            </a:r>
          </a:p>
        </p:txBody>
      </p:sp>
      <p:sp>
        <p:nvSpPr>
          <p:cNvPr id="45" name="S18 · STATE-00 → STATE-00-FIXED">
            <a:extLst xmlns:a="http://schemas.openxmlformats.org/drawingml/2006/main">
              <a:ext uri="{FF2B5EF4-FFF2-40B4-BE49-F238E27FC236}">
                <a16:creationId xmlns:a16="http://schemas.microsoft.com/office/drawing/2014/main" id="{8CD60AE3-D865-45E6-8F82-B4D17F01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S18 · STATE-00 → STATE-00-FIXED</a:t>
            </a:r>
          </a:p>
        </p:txBody>
      </p:sp>
      <p:pic>
        <p:nvPic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3C2905A-BFEB-403D-B0B5-9C14B0E1F6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04dfb23f494810"/>
          <a:srcRect xmlns:a="http://schemas.openxmlformats.org/drawingml/2006/main" l="5000" t="39352" r="5000" b="26852"/>
          <a:stretch xmlns:a="http://schemas.openxmlformats.org/drawingml/2006/main"/>
        </p:blipFill>
        <p:spPr>
          <a:xfrm xmlns:a="http://schemas.openxmlformats.org/drawingml/2006/main">
            <a:off x="4648200" y="4089973"/>
            <a:ext cx="2895600" cy="611628"/>
          </a:xfrm>
          <a:prstGeom xmlns:a="http://schemas.openxmlformats.org/drawingml/2006/main" prst="rect">
            <a:avLst/>
          </a:prstGeom>
        </p:spPr>
      </p:pic>
      <p:sp>
        <p:nvSpPr>
          <p:cNvPr id="47" name="상세 문서로 분리">
            <a:extLst xmlns:a="http://schemas.openxmlformats.org/drawingml/2006/main">
              <a:ext uri="{FF2B5EF4-FFF2-40B4-BE49-F238E27FC236}">
                <a16:creationId xmlns:a16="http://schemas.microsoft.com/office/drawing/2014/main" id="{986D4F95-D313-4F92-B28F-DE0DB928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상세 문서로 분리</a:t>
            </a:r>
          </a:p>
        </p:txBody>
      </p:sp>
      <p:sp>
        <p:nvSpPr>
          <p:cNvPr id="48" name="S34 · STATE-02 → STATE-03">
            <a:extLst xmlns:a="http://schemas.openxmlformats.org/drawingml/2006/main">
              <a:ext uri="{FF2B5EF4-FFF2-40B4-BE49-F238E27FC236}">
                <a16:creationId xmlns:a16="http://schemas.microsoft.com/office/drawing/2014/main" id="{CF56B814-E34D-43BB-8640-C820369E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S34 · STATE-02 → STATE-03</a:t>
            </a:r>
          </a:p>
        </p:txBody>
      </p:sp>
      <p:pic>
        <p:nvPic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87FF3A7-4193-454A-8477-25FFD52BAB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a3254f1154a97"/>
          <a:srcRect xmlns:a="http://schemas.openxmlformats.org/drawingml/2006/main" l="5000" t="33333" r="5000" b="16667"/>
          <a:stretch xmlns:a="http://schemas.openxmlformats.org/drawingml/2006/main"/>
        </p:blipFill>
        <p:spPr>
          <a:xfrm xmlns:a="http://schemas.openxmlformats.org/drawingml/2006/main">
            <a:off x="8382000" y="3943350"/>
            <a:ext cx="2895600" cy="904875"/>
          </a:xfrm>
          <a:prstGeom xmlns:a="http://schemas.openxmlformats.org/drawingml/2006/main" prst="rect">
            <a:avLst/>
          </a:prstGeom>
        </p:spPr>
      </p:pic>
      <p:sp>
        <p:nvSpPr>
          <p:cNvPr id="50" name="같은 조건의 성능 비교">
            <a:extLst xmlns:a="http://schemas.openxmlformats.org/drawingml/2006/main">
              <a:ext uri="{FF2B5EF4-FFF2-40B4-BE49-F238E27FC236}">
                <a16:creationId xmlns:a16="http://schemas.microsoft.com/office/drawing/2014/main" id="{D1B17C0C-DDED-40FB-9D82-91316F82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조건의 성능 비교</a:t>
            </a:r>
          </a:p>
        </p:txBody>
      </p:sp>
      <p:sp>
        <p:nvSpPr>
          <p:cNvPr id="51" name="S47 · STATE-04 → STATE-04-PERF">
            <a:extLst xmlns:a="http://schemas.openxmlformats.org/drawingml/2006/main">
              <a:ext uri="{FF2B5EF4-FFF2-40B4-BE49-F238E27FC236}">
                <a16:creationId xmlns:a16="http://schemas.microsoft.com/office/drawing/2014/main" id="{C20B33A6-AAA7-4DE3-A717-E38983DF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S47 · STATE-04 → STATE-04-PERF</a:t>
            </a:r>
          </a:p>
        </p:txBody>
      </p:sp>
      <p:sp>
        <p:nvSpPr>
          <p:cNvPr id="52" name="각 변화의 출발점은, 그때 마주친 문제였다.">
            <a:extLst xmlns:a="http://schemas.openxmlformats.org/drawingml/2006/main">
              <a:ext uri="{FF2B5EF4-FFF2-40B4-BE49-F238E27FC236}">
                <a16:creationId xmlns:a16="http://schemas.microsoft.com/office/drawing/2014/main" id="{90684A85-1CD4-407E-80E9-B9173E75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각 변화의 출발점은, 그때 마주친 문제였다.</a:t>
            </a:r>
          </a:p>
        </p:txBody>
      </p:sp>
      <p:sp>
        <p:nvSpPr>
          <p:cNvPr id="5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0E55144-24C3-4AF1-8F59-848F906E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119933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5 · 이번 Demo의 선택 기준">
            <a:extLst xmlns:a="http://schemas.openxmlformats.org/drawingml/2006/main">
              <a:ext uri="{FF2B5EF4-FFF2-40B4-BE49-F238E27FC236}">
                <a16:creationId xmlns:a16="http://schemas.microsoft.com/office/drawing/2014/main" id="{2379145D-6EB0-41F6-B549-A3068CB2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이번 Demo의 선택 기준</a:t>
            </a:r>
          </a:p>
        </p:txBody>
      </p:sp>
      <p:sp>
        <p:nvSpPr>
          <p:cNvPr id="2" name="S77">
            <a:extLst xmlns:a="http://schemas.openxmlformats.org/drawingml/2006/main">
              <a:ext uri="{FF2B5EF4-FFF2-40B4-BE49-F238E27FC236}">
                <a16:creationId xmlns:a16="http://schemas.microsoft.com/office/drawing/2014/main" id="{8CDD190F-0C0E-44C0-B23C-DD66ADD7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S77</a:t>
            </a:r>
          </a:p>
        </p:txBody>
      </p:sp>
      <p:sp>
        <p:nvSpPr>
          <p:cNvPr id="3" name="필요성이 입증되지 않은 것은 보류했다">
            <a:extLst xmlns:a="http://schemas.openxmlformats.org/drawingml/2006/main">
              <a:ext uri="{FF2B5EF4-FFF2-40B4-BE49-F238E27FC236}">
                <a16:creationId xmlns:a16="http://schemas.microsoft.com/office/drawing/2014/main" id="{0EF310D9-2D20-4D26-8725-480F611C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필요성이 입증되지 않은 것은 보류했다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3A25BE-0F14-4810-BC9A-96F27ABF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DEC-0018 · 이번 작업의 선택을 회고">
            <a:extLst xmlns:a="http://schemas.openxmlformats.org/drawingml/2006/main">
              <a:ext uri="{FF2B5EF4-FFF2-40B4-BE49-F238E27FC236}">
                <a16:creationId xmlns:a16="http://schemas.microsoft.com/office/drawing/2014/main" id="{7E6E8D9B-88F0-45D6-A371-EE2CA1E8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DEC-0018 · 이번 작업의 선택을 회고</a:t>
            </a:r>
          </a:p>
        </p:txBody>
      </p:sp>
      <p:sp>
        <p:nvSpPr>
          <p:cNvPr id="6" name="모든 프로젝트에서 Subagent·Memory가 불필요하거나 적을수록 좋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CA15A768-B81B-4996-9A58-BED696BF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프로젝트에서 Subagent·Memory가 불필요하거나 적을수록 좋다는 뜻은 아니다.</a:t>
            </a:r>
          </a:p>
        </p:txBody>
      </p:sp>
      <p:sp>
        <p:nvSpPr>
          <p:cNvPr id="7" name="이 구성요소가 현재 문제에 필요한가?">
            <a:extLst xmlns:a="http://schemas.openxmlformats.org/drawingml/2006/main">
              <a:ext uri="{FF2B5EF4-FFF2-40B4-BE49-F238E27FC236}">
                <a16:creationId xmlns:a16="http://schemas.microsoft.com/office/drawing/2014/main" id="{02872E4F-2E3E-42B6-818A-A0A8553D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구성요소가 현재 문제에 필요한가?</a:t>
            </a:r>
          </a:p>
        </p:txBody>
      </p:sp>
      <p:sp>
        <p:nvSpPr>
          <p:cNvPr id="8" name="이번 문제에 필요했던 것">
            <a:extLst xmlns:a="http://schemas.openxmlformats.org/drawingml/2006/main">
              <a:ext uri="{FF2B5EF4-FFF2-40B4-BE49-F238E27FC236}">
                <a16:creationId xmlns:a16="http://schemas.microsoft.com/office/drawing/2014/main" id="{EC633CA3-3885-40C3-9BDE-9C701A64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문제에 필요했던 것</a:t>
            </a:r>
          </a:p>
        </p:txBody>
      </p:sp>
      <p:sp>
        <p:nvSpPr>
          <p:cNvPr id="9" name="이번에는 정당화하지 못한 것">
            <a:extLst xmlns:a="http://schemas.openxmlformats.org/drawingml/2006/main">
              <a:ext uri="{FF2B5EF4-FFF2-40B4-BE49-F238E27FC236}">
                <a16:creationId xmlns:a16="http://schemas.microsoft.com/office/drawing/2014/main" id="{25EAF9E9-DE03-44F3-9FF1-AD4504B5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이번에는 정당화하지 못한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83FC74-0C08-41B5-8871-207C9657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48972-BB59-4747-8F50-4FF8BB5D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solid"/>
          </a:ln>
        </p:spPr>
      </p:sp>
      <p:sp>
        <p:nvSpPr>
          <p:cNvPr id="12" name="Task Prompt&#10;Context와 Routing&#10;재사용 Workflow&#10;Tests와 Benchmark">
            <a:extLst xmlns:a="http://schemas.openxmlformats.org/drawingml/2006/main">
              <a:ext uri="{FF2B5EF4-FFF2-40B4-BE49-F238E27FC236}">
                <a16:creationId xmlns:a16="http://schemas.microsoft.com/office/drawing/2014/main" id="{F3A7671A-986A-41C2-A157-F5FA16D1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51816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Context와 Routing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Tests와 Benchmark</a:t>
            </a:r>
          </a:p>
        </p:txBody>
      </p:sp>
      <p:sp>
        <p:nvSpPr>
          <p:cNvPr id="13" name="Subagent&#10;Memory">
            <a:extLst xmlns:a="http://schemas.openxmlformats.org/drawingml/2006/main">
              <a:ext uri="{FF2B5EF4-FFF2-40B4-BE49-F238E27FC236}">
                <a16:creationId xmlns:a16="http://schemas.microsoft.com/office/drawing/2014/main" id="{0DFE5AEF-ABA3-44BC-A953-2FA4D82F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</a:t>
            </a:r>
          </a:p>
        </p:txBody>
      </p:sp>
      <p:sp>
        <p:nvSpPr>
          <p:cNvPr id="14" name="현재 문제가 필요로 하는 만큼 설계한다.">
            <a:extLst xmlns:a="http://schemas.openxmlformats.org/drawingml/2006/main">
              <a:ext uri="{FF2B5EF4-FFF2-40B4-BE49-F238E27FC236}">
                <a16:creationId xmlns:a16="http://schemas.microsoft.com/office/drawing/2014/main" id="{A3560A1C-F4B1-44CD-B012-619079AD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문제가 필요로 하는 만큼 설계한다.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19491CB-045D-4A98-B40A-8D835D21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M8 · M9</a:t>
            </a:r>
          </a:p>
        </p:txBody>
      </p:sp>
    </p:spTree>
    <p:extLst>
      <p:ext uri="{BB962C8B-B14F-4D97-AF65-F5344CB8AC3E}">
        <p14:creationId xmlns:p14="http://schemas.microsoft.com/office/powerpoint/2010/main" val="519289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5 · 개발자의 판단">
            <a:extLst xmlns:a="http://schemas.openxmlformats.org/drawingml/2006/main">
              <a:ext uri="{FF2B5EF4-FFF2-40B4-BE49-F238E27FC236}">
                <a16:creationId xmlns:a16="http://schemas.microsoft.com/office/drawing/2014/main" id="{91583F6A-1AC2-4EB1-8C37-6CC664B6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개발자의 판단</a:t>
            </a:r>
          </a:p>
        </p:txBody>
      </p:sp>
      <p:sp>
        <p:nvSpPr>
          <p:cNvPr id="2" name="S78">
            <a:extLst xmlns:a="http://schemas.openxmlformats.org/drawingml/2006/main">
              <a:ext uri="{FF2B5EF4-FFF2-40B4-BE49-F238E27FC236}">
                <a16:creationId xmlns:a16="http://schemas.microsoft.com/office/drawing/2014/main" id="{844E485F-3E98-4A77-9DF8-4B36BC31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S78</a:t>
            </a:r>
          </a:p>
        </p:txBody>
      </p:sp>
      <p:sp>
        <p:nvSpPr>
          <p:cNvPr id="3" name="위임이 늘어도 개발자 책임은 남는다">
            <a:extLst xmlns:a="http://schemas.openxmlformats.org/drawingml/2006/main">
              <a:ext uri="{FF2B5EF4-FFF2-40B4-BE49-F238E27FC236}">
                <a16:creationId xmlns:a16="http://schemas.microsoft.com/office/drawing/2014/main" id="{70EEC3FA-B48B-4D72-BC0B-A616CD91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위임이 늘어도 개발자 책임은 남는다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738709-93F5-4C85-90DB-DD8EAE16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1–062 · 이 교육의 책임 원칙">
            <a:extLst xmlns:a="http://schemas.openxmlformats.org/drawingml/2006/main">
              <a:ext uri="{FF2B5EF4-FFF2-40B4-BE49-F238E27FC236}">
                <a16:creationId xmlns:a16="http://schemas.microsoft.com/office/drawing/2014/main" id="{6890871F-2263-41D1-99F3-ED93B971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BEAT-061–062 · 이 교육의 책임 원칙</a:t>
            </a:r>
          </a:p>
        </p:txBody>
      </p:sp>
      <p:sp>
        <p:nvSpPr>
          <p:cNvPr id="6" name="Agent와 개발자의 역할을 고정된 분업표로 제시하는 것은 아니다.">
            <a:extLst xmlns:a="http://schemas.openxmlformats.org/drawingml/2006/main">
              <a:ext uri="{FF2B5EF4-FFF2-40B4-BE49-F238E27FC236}">
                <a16:creationId xmlns:a16="http://schemas.microsoft.com/office/drawing/2014/main" id="{60CD882D-A695-4645-9120-B6EFFCA1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Agent와 개발자의 역할을 고정된 분업표로 제시하는 것은 아니다.</a:t>
            </a:r>
          </a:p>
        </p:txBody>
      </p:sp>
      <p:sp>
        <p:nvSpPr>
          <p:cNvPr id="7" name="AI가 조사·생성·변경·실행·비교를 도와도">
            <a:extLst xmlns:a="http://schemas.openxmlformats.org/drawingml/2006/main">
              <a:ext uri="{FF2B5EF4-FFF2-40B4-BE49-F238E27FC236}">
                <a16:creationId xmlns:a16="http://schemas.microsoft.com/office/drawing/2014/main" id="{B01FA810-F9F0-4067-A42C-3F209E5B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AI가 조사·생성·변경·실행·비교를 도와도</a:t>
            </a:r>
          </a:p>
        </p:txBody>
      </p:sp>
      <p:sp>
        <p:nvSpPr>
          <p:cNvPr id="8" name="결과를 수용하는 판단은 누가 하는가?">
            <a:extLst xmlns:a="http://schemas.openxmlformats.org/drawingml/2006/main">
              <a:ext uri="{FF2B5EF4-FFF2-40B4-BE49-F238E27FC236}">
                <a16:creationId xmlns:a16="http://schemas.microsoft.com/office/drawing/2014/main" id="{F8CBAFCE-6E1C-4FD3-ACD1-F5683A83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결과를 수용하는 판단은 누가 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D295A-BC0A-473B-AE60-DDB80303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목표">
            <a:extLst xmlns:a="http://schemas.openxmlformats.org/drawingml/2006/main">
              <a:ext uri="{FF2B5EF4-FFF2-40B4-BE49-F238E27FC236}">
                <a16:creationId xmlns:a16="http://schemas.microsoft.com/office/drawing/2014/main" id="{1112E457-2DD7-4631-979E-C72D0200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11" name="무엇을 해결할까?">
            <a:extLst xmlns:a="http://schemas.openxmlformats.org/drawingml/2006/main">
              <a:ext uri="{FF2B5EF4-FFF2-40B4-BE49-F238E27FC236}">
                <a16:creationId xmlns:a16="http://schemas.microsoft.com/office/drawing/2014/main" id="{7C84D503-6C36-43A9-A0F7-46BC51D4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해결할까?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6754B-FF85-478F-B446-5FE3E4EC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판단">
            <a:extLst xmlns:a="http://schemas.openxmlformats.org/drawingml/2006/main">
              <a:ext uri="{FF2B5EF4-FFF2-40B4-BE49-F238E27FC236}">
                <a16:creationId xmlns:a16="http://schemas.microsoft.com/office/drawing/2014/main" id="{530D77CF-93A3-4C8F-B565-84A989E9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14" name="어떤 선택이&#10;적절할까?">
            <a:extLst xmlns:a="http://schemas.openxmlformats.org/drawingml/2006/main">
              <a:ext uri="{FF2B5EF4-FFF2-40B4-BE49-F238E27FC236}">
                <a16:creationId xmlns:a16="http://schemas.microsoft.com/office/drawing/2014/main" id="{A600E92B-B7E3-4BAE-A036-41C50FA9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선택이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적절할까?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428495-6C6D-4FF4-AA4C-24DB0A27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50649667-09E1-4CD4-B5B2-681F0346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무엇으로&#10;확인할까?">
            <a:extLst xmlns:a="http://schemas.openxmlformats.org/drawingml/2006/main">
              <a:ext uri="{FF2B5EF4-FFF2-40B4-BE49-F238E27FC236}">
                <a16:creationId xmlns:a16="http://schemas.microsoft.com/office/drawing/2014/main" id="{88522F36-27D3-40F2-AB2D-8787E3FC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확인할까?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84AC53-CEAB-4952-9615-0553A691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책임">
            <a:extLst xmlns:a="http://schemas.openxmlformats.org/drawingml/2006/main">
              <a:ext uri="{FF2B5EF4-FFF2-40B4-BE49-F238E27FC236}">
                <a16:creationId xmlns:a16="http://schemas.microsoft.com/office/drawing/2014/main" id="{30AA101F-D952-4944-82CC-2475EA5F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책임</a:t>
            </a:r>
          </a:p>
        </p:txBody>
      </p:sp>
      <p:sp>
        <p:nvSpPr>
          <p:cNvPr id="20" name="완료를&#10;수용해도 될까?">
            <a:extLst xmlns:a="http://schemas.openxmlformats.org/drawingml/2006/main">
              <a:ext uri="{FF2B5EF4-FFF2-40B4-BE49-F238E27FC236}">
                <a16:creationId xmlns:a16="http://schemas.microsoft.com/office/drawing/2014/main" id="{E0C90068-05C4-4071-A456-C573ED3D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수용해도 될까?</a:t>
            </a:r>
          </a:p>
        </p:txBody>
      </p:sp>
      <p:sp>
        <p:nvSpPr>
          <p:cNvPr id="21" name="결과를 받는 일에는, 결과를 판단하는 책임이 함께 남는다.">
            <a:extLst xmlns:a="http://schemas.openxmlformats.org/drawingml/2006/main">
              <a:ext uri="{FF2B5EF4-FFF2-40B4-BE49-F238E27FC236}">
                <a16:creationId xmlns:a16="http://schemas.microsoft.com/office/drawing/2014/main" id="{B71CDF5D-6ACC-4C63-838B-E71A93D92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받는 일에는, 결과를 판단하는 책임이 함께 남는다.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C889AD7-429F-4235-8886-0430978D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M4 · M5 · M6 · M9</a:t>
            </a:r>
          </a:p>
        </p:txBody>
      </p:sp>
    </p:spTree>
    <p:extLst>
      <p:ext uri="{BB962C8B-B14F-4D97-AF65-F5344CB8AC3E}">
        <p14:creationId xmlns:p14="http://schemas.microsoft.com/office/powerpoint/2010/main" val="5737014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5 · 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017D9344-AD95-4F5B-AAB8-4ED23965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일하는 환경을 설계한다</a:t>
            </a:r>
          </a:p>
        </p:txBody>
      </p:sp>
      <p:sp>
        <p:nvSpPr>
          <p:cNvPr id="2" name="S79">
            <a:extLst xmlns:a="http://schemas.openxmlformats.org/drawingml/2006/main">
              <a:ext uri="{FF2B5EF4-FFF2-40B4-BE49-F238E27FC236}">
                <a16:creationId xmlns:a16="http://schemas.microsoft.com/office/drawing/2014/main" id="{3564C3ED-3DD5-4F39-BB48-1F3EDAAA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S79</a:t>
            </a:r>
          </a:p>
        </p:txBody>
      </p:sp>
      <p:sp>
        <p:nvSpPr>
          <p:cNvPr id="3" name="AI-Native Development는&#10;이 교육의 운영 모델">
            <a:extLst xmlns:a="http://schemas.openxmlformats.org/drawingml/2006/main">
              <a:ext uri="{FF2B5EF4-FFF2-40B4-BE49-F238E27FC236}">
                <a16:creationId xmlns:a16="http://schemas.microsoft.com/office/drawing/2014/main" id="{02F95639-7E18-4D55-ADC6-456F47B5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AI-Native Development는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교육의 운영 모델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CE086C-7D6C-4472-8E7D-07D8D4BC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과정에서 사용하는 운영 모델">
            <a:extLst xmlns:a="http://schemas.openxmlformats.org/drawingml/2006/main">
              <a:ext uri="{FF2B5EF4-FFF2-40B4-BE49-F238E27FC236}">
                <a16:creationId xmlns:a16="http://schemas.microsoft.com/office/drawing/2014/main" id="{0ABCBAD6-8B02-4251-AE41-6F1AE25A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과정에서 사용하는 운영 모델</a:t>
            </a:r>
          </a:p>
        </p:txBody>
      </p:sp>
      <p:sp>
        <p:nvSpPr>
          <p:cNvPr id="6" name="공식·보편 정의가 아니며, 모든 Task에 모든 구성요소를 넣으라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E3FB58A6-F60A-4B21-8D4B-4DA06201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공식·보편 정의가 아니며, 모든 Task에 모든 구성요소를 넣으라는 뜻은 아니다.</a:t>
            </a:r>
          </a:p>
        </p:txBody>
      </p:sp>
      <p:sp>
        <p:nvSpPr>
          <p:cNvPr id="7" name="AI가 일할 조건과, 결과를 확인할 경로를 설계한다.">
            <a:extLst xmlns:a="http://schemas.openxmlformats.org/drawingml/2006/main">
              <a:ext uri="{FF2B5EF4-FFF2-40B4-BE49-F238E27FC236}">
                <a16:creationId xmlns:a16="http://schemas.microsoft.com/office/drawing/2014/main" id="{F52DB6DC-D209-4798-87BC-AE5E548C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AI가 일할 조건과, 결과를 확인할 경로를 설계한다.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D5998C-5FF5-4856-83DB-44651171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작업 경계">
            <a:extLst xmlns:a="http://schemas.openxmlformats.org/drawingml/2006/main">
              <a:ext uri="{FF2B5EF4-FFF2-40B4-BE49-F238E27FC236}">
                <a16:creationId xmlns:a16="http://schemas.microsoft.com/office/drawing/2014/main" id="{EF679C80-4CC8-4A81-9627-463148D2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 경계</a:t>
            </a:r>
          </a:p>
        </p:txBody>
      </p:sp>
      <p:sp>
        <p:nvSpPr>
          <p:cNvPr id="10" name="무엇을 맡기고&#10;어디까지 바꿀까?">
            <a:extLst xmlns:a="http://schemas.openxmlformats.org/drawingml/2006/main">
              <a:ext uri="{FF2B5EF4-FFF2-40B4-BE49-F238E27FC236}">
                <a16:creationId xmlns:a16="http://schemas.microsoft.com/office/drawing/2014/main" id="{F19CC072-5B03-4761-AF3E-48051C1C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맡기고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4FEBE0-C574-4813-BEA9-C0EDD1F4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식 · 절차">
            <a:extLst xmlns:a="http://schemas.openxmlformats.org/drawingml/2006/main">
              <a:ext uri="{FF2B5EF4-FFF2-40B4-BE49-F238E27FC236}">
                <a16:creationId xmlns:a16="http://schemas.microsoft.com/office/drawing/2014/main" id="{104D7C2F-EBDF-489B-B9C6-9FBBB3AD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지식 · 절차</a:t>
            </a:r>
          </a:p>
        </p:txBody>
      </p:sp>
      <p:sp>
        <p:nvSpPr>
          <p:cNvPr id="13" name="무엇을 알고&#10;어떤 방식으로 일할까?">
            <a:extLst xmlns:a="http://schemas.openxmlformats.org/drawingml/2006/main">
              <a:ext uri="{FF2B5EF4-FFF2-40B4-BE49-F238E27FC236}">
                <a16:creationId xmlns:a16="http://schemas.microsoft.com/office/drawing/2014/main" id="{924F9EEC-CAF3-4D81-B8F7-2D3F43B4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알고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방식으로 일할까?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FDF1F5-DC0B-464A-9F6A-75EF48B5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검증 · 피드백">
            <a:extLst xmlns:a="http://schemas.openxmlformats.org/drawingml/2006/main">
              <a:ext uri="{FF2B5EF4-FFF2-40B4-BE49-F238E27FC236}">
                <a16:creationId xmlns:a16="http://schemas.microsoft.com/office/drawing/2014/main" id="{4B67AD95-B5F1-49BD-A3C2-2281A7DE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피드백</a:t>
            </a:r>
          </a:p>
        </p:txBody>
      </p:sp>
      <p:sp>
        <p:nvSpPr>
          <p:cNvPr id="16" name="어떻게 확인하고&#10;다음 작업을 바꿀까?">
            <a:extLst xmlns:a="http://schemas.openxmlformats.org/drawingml/2006/main">
              <a:ext uri="{FF2B5EF4-FFF2-40B4-BE49-F238E27FC236}">
                <a16:creationId xmlns:a16="http://schemas.microsoft.com/office/drawing/2014/main" id="{32C31BE0-678C-48B8-919B-9616AEAC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어떻게 확인하고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작업을 바꿀까?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7D69A4B-B8F6-4EBC-8696-420BF1AD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0757874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T 5 · C++ VISION / 내 업무로 연결">
            <a:extLst xmlns:a="http://schemas.openxmlformats.org/drawingml/2006/main">
              <a:ext uri="{FF2B5EF4-FFF2-40B4-BE49-F238E27FC236}">
                <a16:creationId xmlns:a16="http://schemas.microsoft.com/office/drawing/2014/main" id="{52FFEA04-CE92-4694-8E79-8CDE517B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C++ VISION / 내 업무로 연결</a:t>
            </a:r>
          </a:p>
        </p:txBody>
      </p:sp>
      <p:sp>
        <p:nvSpPr>
          <p:cNvPr id="2" name="S80">
            <a:extLst xmlns:a="http://schemas.openxmlformats.org/drawingml/2006/main">
              <a:ext uri="{FF2B5EF4-FFF2-40B4-BE49-F238E27FC236}">
                <a16:creationId xmlns:a16="http://schemas.microsoft.com/office/drawing/2014/main" id="{E602536E-C357-462E-A9BD-9C6B5D46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S80</a:t>
            </a:r>
          </a:p>
        </p:txBody>
      </p:sp>
      <p:sp>
        <p:nvSpPr>
          <p:cNvPr id="3" name="어느 Layer에서 마찰이 반복되는가?">
            <a:extLst xmlns:a="http://schemas.openxmlformats.org/drawingml/2006/main">
              <a:ext uri="{FF2B5EF4-FFF2-40B4-BE49-F238E27FC236}">
                <a16:creationId xmlns:a16="http://schemas.microsoft.com/office/drawing/2014/main" id="{C6EBC4D2-680A-4D68-AE1B-B3BAF90D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Layer에서 마찰이 반복되는가?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AFC9A-7060-4F14-83D7-A3D98FBF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8–069 · 업무 적용을 위한 교육용 질문">
            <a:extLst xmlns:a="http://schemas.openxmlformats.org/drawingml/2006/main">
              <a:ext uri="{FF2B5EF4-FFF2-40B4-BE49-F238E27FC236}">
                <a16:creationId xmlns:a16="http://schemas.microsoft.com/office/drawing/2014/main" id="{3B1DB53C-45ED-416A-A008-E2479CC0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BEAT-068–069 · 업무 적용을 위한 교육용 질문</a:t>
            </a:r>
          </a:p>
        </p:txBody>
      </p:sp>
      <p:sp>
        <p:nvSpPr>
          <p:cNvPr id="6" name="같은 수준의 선택지다. 특정 C++ 프로젝트에서 검증된 절차나 필수 도입 순서가 아니다.">
            <a:extLst xmlns:a="http://schemas.openxmlformats.org/drawingml/2006/main">
              <a:ext uri="{FF2B5EF4-FFF2-40B4-BE49-F238E27FC236}">
                <a16:creationId xmlns:a16="http://schemas.microsoft.com/office/drawing/2014/main" id="{619AB857-DDA2-4AD5-BBE0-31926ACA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수준의 선택지다. 특정 C++ 프로젝트에서 검증된 절차나 필수 도입 순서가 아니다.</a:t>
            </a:r>
          </a:p>
        </p:txBody>
      </p:sp>
      <p:sp>
        <p:nvSpPr>
          <p:cNvPr id="7" name="지금 내 업무와 가장 가까운 한 곳을 떠올려 본다.">
            <a:extLst xmlns:a="http://schemas.openxmlformats.org/drawingml/2006/main">
              <a:ext uri="{FF2B5EF4-FFF2-40B4-BE49-F238E27FC236}">
                <a16:creationId xmlns:a16="http://schemas.microsoft.com/office/drawing/2014/main" id="{D6B28F5E-583C-41CB-93DF-57452B8C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지금 내 업무와 가장 가까운 한 곳을 떠올려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08D8A-B5B2-4B05-97C9-6C5204C5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B2F87D-BCB3-4A45-B771-D597A115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">
            <a:extLst xmlns:a="http://schemas.openxmlformats.org/drawingml/2006/main">
              <a:ext uri="{FF2B5EF4-FFF2-40B4-BE49-F238E27FC236}">
                <a16:creationId xmlns:a16="http://schemas.microsoft.com/office/drawing/2014/main" id="{20BDFC51-5FB7-4763-A66C-79CB7047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A</a:t>
            </a:r>
          </a:p>
        </p:txBody>
      </p:sp>
      <p:sp>
        <p:nvSpPr>
          <p:cNvPr id="11" name="Task">
            <a:extLst xmlns:a="http://schemas.openxmlformats.org/drawingml/2006/main">
              <a:ext uri="{FF2B5EF4-FFF2-40B4-BE49-F238E27FC236}">
                <a16:creationId xmlns:a16="http://schemas.microsoft.com/office/drawing/2014/main" id="{FEB17018-E02F-4836-979B-E56333A3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5241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2" name="조사할 성능 병목의 범위가 흐리다">
            <a:extLst xmlns:a="http://schemas.openxmlformats.org/drawingml/2006/main">
              <a:ext uri="{FF2B5EF4-FFF2-40B4-BE49-F238E27FC236}">
                <a16:creationId xmlns:a16="http://schemas.microsoft.com/office/drawing/2014/main" id="{6C081B9C-FCD7-4C18-83BD-D34EC7B3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5241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조사할 성능 병목의 범위가 흐리다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C0A979-CCEC-43DA-B905-6947DDD8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951190-9BBC-4DAF-99A4-D6C44AD6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">
            <a:extLst xmlns:a="http://schemas.openxmlformats.org/drawingml/2006/main">
              <a:ext uri="{FF2B5EF4-FFF2-40B4-BE49-F238E27FC236}">
                <a16:creationId xmlns:a16="http://schemas.microsoft.com/office/drawing/2014/main" id="{D00C5D31-368B-4AB6-8FEC-8C7CDD90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B</a:t>
            </a:r>
          </a:p>
        </p:txBody>
      </p:sp>
      <p:sp>
        <p:nvSpPr>
          <p:cNvPr id="16" name="Context">
            <a:extLst xmlns:a="http://schemas.openxmlformats.org/drawingml/2006/main">
              <a:ext uri="{FF2B5EF4-FFF2-40B4-BE49-F238E27FC236}">
                <a16:creationId xmlns:a16="http://schemas.microsoft.com/office/drawing/2014/main" id="{85323F6E-D2E8-4206-AC35-1231D028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432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7" name="빌드 조건·계약·하드웨어 가정을 반복 설명한다">
            <a:extLst xmlns:a="http://schemas.openxmlformats.org/drawingml/2006/main">
              <a:ext uri="{FF2B5EF4-FFF2-40B4-BE49-F238E27FC236}">
                <a16:creationId xmlns:a16="http://schemas.microsoft.com/office/drawing/2014/main" id="{F73EEEC0-34B0-478A-BCB5-8E3EF711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4325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조건·계약·하드웨어 가정을 반복 설명한다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766B7-2A25-40DE-B654-57BBBDFC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811DC0-55C6-4CF5-931F-6853E231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">
            <a:extLst xmlns:a="http://schemas.openxmlformats.org/drawingml/2006/main">
              <a:ext uri="{FF2B5EF4-FFF2-40B4-BE49-F238E27FC236}">
                <a16:creationId xmlns:a16="http://schemas.microsoft.com/office/drawing/2014/main" id="{7EEE0149-6B3C-41A1-A775-B67CF857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C</a:t>
            </a:r>
          </a:p>
        </p:txBody>
      </p:sp>
      <p:sp>
        <p:nvSpPr>
          <p:cNvPr id="21" name="Workflow">
            <a:extLst xmlns:a="http://schemas.openxmlformats.org/drawingml/2006/main">
              <a:ext uri="{FF2B5EF4-FFF2-40B4-BE49-F238E27FC236}">
                <a16:creationId xmlns:a16="http://schemas.microsoft.com/office/drawing/2014/main" id="{7C190719-70B7-4A4B-B2BC-FEE8DFEA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6237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22" name="분석 → 변경 → 측정 → 회귀 확인을 매번 적는다">
            <a:extLst xmlns:a="http://schemas.openxmlformats.org/drawingml/2006/main">
              <a:ext uri="{FF2B5EF4-FFF2-40B4-BE49-F238E27FC236}">
                <a16:creationId xmlns:a16="http://schemas.microsoft.com/office/drawing/2014/main" id="{327EDE9A-CE9B-4FFE-8141-6CA5FE41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76237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분석 → 변경 → 측정 → 회귀 확인을 매번 적는다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2DA16B-28DE-48A8-97E7-2794EBE3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DA8DCA-A63C-4DAD-9532-A4EA947D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">
            <a:extLst xmlns:a="http://schemas.openxmlformats.org/drawingml/2006/main">
              <a:ext uri="{FF2B5EF4-FFF2-40B4-BE49-F238E27FC236}">
                <a16:creationId xmlns:a16="http://schemas.microsoft.com/office/drawing/2014/main" id="{16F0E4F1-097C-4785-B211-6CFDE6B1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</a:t>
            </a:r>
          </a:p>
        </p:txBody>
      </p:sp>
      <p:sp>
        <p:nvSpPr>
          <p:cNvPr id="26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9D58CC32-F5BF-4C93-9221-B403F61A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8150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Verification</a:t>
            </a:r>
          </a:p>
        </p:txBody>
      </p:sp>
      <p:sp>
        <p:nvSpPr>
          <p:cNvPr id="27" name="테스트와 Benchmark의 확인 기준이 모호하다">
            <a:extLst xmlns:a="http://schemas.openxmlformats.org/drawingml/2006/main">
              <a:ext uri="{FF2B5EF4-FFF2-40B4-BE49-F238E27FC236}">
                <a16:creationId xmlns:a16="http://schemas.microsoft.com/office/drawing/2014/main" id="{4EA6F1BA-CF22-493E-B2CB-A8B80FBC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8150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테스트와 Benchmark의 확인 기준이 모호하다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334547-F0C5-4ACE-8440-5D0B0299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986F25-9C1C-4A68-A6F4-FD9AF592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E">
            <a:extLst xmlns:a="http://schemas.openxmlformats.org/drawingml/2006/main">
              <a:ext uri="{FF2B5EF4-FFF2-40B4-BE49-F238E27FC236}">
                <a16:creationId xmlns:a16="http://schemas.microsoft.com/office/drawing/2014/main" id="{69C5B106-E889-45EB-8A7D-464E6FDD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E</a:t>
            </a:r>
          </a:p>
        </p:txBody>
      </p:sp>
      <p:sp>
        <p:nvSpPr>
          <p:cNvPr id="31" name="Feedback Loop">
            <a:extLst xmlns:a="http://schemas.openxmlformats.org/drawingml/2006/main">
              <a:ext uri="{FF2B5EF4-FFF2-40B4-BE49-F238E27FC236}">
                <a16:creationId xmlns:a16="http://schemas.microsoft.com/office/drawing/2014/main" id="{FC41E196-8938-4E86-AB0E-CCAD3001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0006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 Loop</a:t>
            </a:r>
          </a:p>
        </p:txBody>
      </p:sp>
      <p:sp>
        <p:nvSpPr>
          <p:cNvPr id="32" name="같은 문제가 다시 생겨도 관련 시스템을 안 바꾼다">
            <a:extLst xmlns:a="http://schemas.openxmlformats.org/drawingml/2006/main">
              <a:ext uri="{FF2B5EF4-FFF2-40B4-BE49-F238E27FC236}">
                <a16:creationId xmlns:a16="http://schemas.microsoft.com/office/drawing/2014/main" id="{2F36CDA1-7881-4385-B7A8-D32A9E10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50006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다시 생겨도 관련 시스템을 안 바꾼다</a:t>
            </a:r>
          </a:p>
        </p:txBody>
      </p:sp>
      <p:sp>
        <p:nvSpPr>
          <p:cNvPr id="3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296CD9A-F8CA-424F-95CF-99C5E622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4223816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5 · 잠시 생각해 보기">
            <a:extLst xmlns:a="http://schemas.openxmlformats.org/drawingml/2006/main">
              <a:ext uri="{FF2B5EF4-FFF2-40B4-BE49-F238E27FC236}">
                <a16:creationId xmlns:a16="http://schemas.microsoft.com/office/drawing/2014/main" id="{AA36D6AF-F628-4878-9534-BA3290D3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잠시 생각해 보기</a:t>
            </a:r>
          </a:p>
        </p:txBody>
      </p:sp>
      <p:sp>
        <p:nvSpPr>
          <p:cNvPr id="2" name="S81">
            <a:extLst xmlns:a="http://schemas.openxmlformats.org/drawingml/2006/main">
              <a:ext uri="{FF2B5EF4-FFF2-40B4-BE49-F238E27FC236}">
                <a16:creationId xmlns:a16="http://schemas.microsoft.com/office/drawing/2014/main" id="{F7D32D61-CB0C-4A8B-AA19-BE16788F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S81</a:t>
            </a:r>
          </a:p>
        </p:txBody>
      </p:sp>
      <p:sp>
        <p:nvSpPr>
          <p:cNvPr id="3" name="다음 작은 행동을 개인적으로 고른다">
            <a:extLst xmlns:a="http://schemas.openxmlformats.org/drawingml/2006/main">
              <a:ext uri="{FF2B5EF4-FFF2-40B4-BE49-F238E27FC236}">
                <a16:creationId xmlns:a16="http://schemas.microsoft.com/office/drawing/2014/main" id="{0B32EC31-D333-4948-9760-DDA1CC72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작은 행동을 개인적으로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3B5021-F1F0-4226-ADFE-E465B796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개인 성찰">
            <a:extLst xmlns:a="http://schemas.openxmlformats.org/drawingml/2006/main">
              <a:ext uri="{FF2B5EF4-FFF2-40B4-BE49-F238E27FC236}">
                <a16:creationId xmlns:a16="http://schemas.microsoft.com/office/drawing/2014/main" id="{296B41DB-D230-4B82-9D81-17738B97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개인 성찰</a:t>
            </a:r>
          </a:p>
        </p:txBody>
      </p:sp>
      <p:sp>
        <p:nvSpPr>
          <p:cNvPr id="6" name="마음속으로 떠올리는 시간이다. 기록·발표·제출은 요구하지 않는다.">
            <a:extLst xmlns:a="http://schemas.openxmlformats.org/drawingml/2006/main">
              <a:ext uri="{FF2B5EF4-FFF2-40B4-BE49-F238E27FC236}">
                <a16:creationId xmlns:a16="http://schemas.microsoft.com/office/drawing/2014/main" id="{C0ACDBAD-0B5E-4CBF-B3C8-CAC5596E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마음속으로 떠올리는 시간이다. 기록·발표·제출은 요구하지 않는다.</a:t>
            </a:r>
          </a:p>
        </p:txBody>
      </p:sp>
      <p:sp>
        <p:nvSpPr>
          <p:cNvPr id="7" name="떠올린 마찰에서, 작은 행동 하나를 마음속으로.">
            <a:extLst xmlns:a="http://schemas.openxmlformats.org/drawingml/2006/main">
              <a:ext uri="{FF2B5EF4-FFF2-40B4-BE49-F238E27FC236}">
                <a16:creationId xmlns:a16="http://schemas.microsoft.com/office/drawing/2014/main" id="{E7477CAA-DFAB-4EFC-ADE5-97CE4C67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떠올린 마찰에서, 작은 행동 하나를 마음속으로.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07814-D804-4F28-9B78-0E21BB15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27382909-367D-425D-B0B9-D57063B5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반복 설명 하나를 다음 작업에서는 어떻게 줄일까?">
            <a:extLst xmlns:a="http://schemas.openxmlformats.org/drawingml/2006/main">
              <a:ext uri="{FF2B5EF4-FFF2-40B4-BE49-F238E27FC236}">
                <a16:creationId xmlns:a16="http://schemas.microsoft.com/office/drawing/2014/main" id="{88752A65-8AC5-470F-BCE8-085DE4E7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037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설명 하나를 다음 작업에서는 어떻게 줄일까?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D84DCB-5541-495F-8794-5C38F81F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26E9442B-EAC7-4ABA-9013-0BB090FC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AI가 다시 찾는 프로젝트 사실 하나를 어디에 둘까?">
            <a:extLst xmlns:a="http://schemas.openxmlformats.org/drawingml/2006/main">
              <a:ext uri="{FF2B5EF4-FFF2-40B4-BE49-F238E27FC236}">
                <a16:creationId xmlns:a16="http://schemas.microsoft.com/office/drawing/2014/main" id="{10AC7CF8-96B1-4D96-B1A0-45A5E66A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67150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다시 찾는 프로젝트 사실 하나를 어디에 둘까?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60242C-FC10-412D-889D-88B1E4F0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B2D5428F-1A1E-46AD-94A7-3BC4CA12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6" name="같은 실패가 또 생기면 어느 Layer부터 확인할까?">
            <a:extLst xmlns:a="http://schemas.openxmlformats.org/drawingml/2006/main">
              <a:ext uri="{FF2B5EF4-FFF2-40B4-BE49-F238E27FC236}">
                <a16:creationId xmlns:a16="http://schemas.microsoft.com/office/drawing/2014/main" id="{38BD7716-0CC5-42DD-BA4B-2450C3EF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3392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또 생기면 어느 Layer부터 확인할까?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F6EC5C6-44BA-49A5-85FA-B1D6E502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M8</a:t>
            </a:r>
          </a:p>
        </p:txBody>
      </p:sp>
    </p:spTree>
    <p:extLst>
      <p:ext uri="{BB962C8B-B14F-4D97-AF65-F5344CB8AC3E}">
        <p14:creationId xmlns:p14="http://schemas.microsoft.com/office/powerpoint/2010/main" val="9823144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T 5 · 마지막 질문">
            <a:extLst xmlns:a="http://schemas.openxmlformats.org/drawingml/2006/main">
              <a:ext uri="{FF2B5EF4-FFF2-40B4-BE49-F238E27FC236}">
                <a16:creationId xmlns:a16="http://schemas.microsoft.com/office/drawing/2014/main" id="{9ABB7564-98B2-4148-8DDA-E4862EEF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마지막 질문</a:t>
            </a:r>
          </a:p>
        </p:txBody>
      </p:sp>
      <p:sp>
        <p:nvSpPr>
          <p:cNvPr id="2" name="S82">
            <a:extLst xmlns:a="http://schemas.openxmlformats.org/drawingml/2006/main">
              <a:ext uri="{FF2B5EF4-FFF2-40B4-BE49-F238E27FC236}">
                <a16:creationId xmlns:a16="http://schemas.microsoft.com/office/drawing/2014/main" id="{13FFE012-E599-4E42-A40D-30762284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S82</a:t>
            </a:r>
          </a:p>
        </p:txBody>
      </p:sp>
      <p:sp>
        <p:nvSpPr>
          <p:cNvPr id="3" name="Q&amp;A와 교육 마무리">
            <a:extLst xmlns:a="http://schemas.openxmlformats.org/drawingml/2006/main">
              <a:ext uri="{FF2B5EF4-FFF2-40B4-BE49-F238E27FC236}">
                <a16:creationId xmlns:a16="http://schemas.microsoft.com/office/drawing/2014/main" id="{FEC6D1A3-8A5A-429F-A811-8304CB37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Q&amp;A와 교육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51F9A5-05AD-4E13-8B9C-B7FF1885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이 교육의 마무리">
            <a:extLst xmlns:a="http://schemas.openxmlformats.org/drawingml/2006/main">
              <a:ext uri="{FF2B5EF4-FFF2-40B4-BE49-F238E27FC236}">
                <a16:creationId xmlns:a16="http://schemas.microsoft.com/office/drawing/2014/main" id="{FAEDA35A-5B2D-47C3-86D8-49EEFEF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이 교육의 마무리</a:t>
            </a:r>
          </a:p>
        </p:txBody>
      </p:sp>
      <p:sp>
        <p:nvSpPr>
          <p:cNvPr id="6" name="목표 · 판단 · 검증 · 책임은 개발자에게 남는다.">
            <a:extLst xmlns:a="http://schemas.openxmlformats.org/drawingml/2006/main">
              <a:ext uri="{FF2B5EF4-FFF2-40B4-BE49-F238E27FC236}">
                <a16:creationId xmlns:a16="http://schemas.microsoft.com/office/drawing/2014/main" id="{01B000D6-4C9A-46E3-AE2A-CDBE78DD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· 판단 · 검증 · 책임은 개발자에게 남는다.</a:t>
            </a:r>
          </a:p>
        </p:txBody>
      </p:sp>
      <p:sp>
        <p:nvSpPr>
          <p:cNvPr id="7" name="내 업무에서 무엇부터 바꿀까요?">
            <a:extLst xmlns:a="http://schemas.openxmlformats.org/drawingml/2006/main">
              <a:ext uri="{FF2B5EF4-FFF2-40B4-BE49-F238E27FC236}">
                <a16:creationId xmlns:a16="http://schemas.microsoft.com/office/drawing/2014/main" id="{F125DB15-C8E5-4D48-B62B-4FACB93E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무엇부터 바꿀까요?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DC379-B864-40BA-ADFA-5EC757FE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9" name="AI가 잘 일할 환경을&#10;설계한다.">
            <a:extLst xmlns:a="http://schemas.openxmlformats.org/drawingml/2006/main">
              <a:ext uri="{FF2B5EF4-FFF2-40B4-BE49-F238E27FC236}">
                <a16:creationId xmlns:a16="http://schemas.microsoft.com/office/drawing/2014/main" id="{5F31874C-3337-42CD-BA7F-590F19C3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잘 일할 환경을</a:t>
            </a:r>
          </a:p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설계한다.</a:t>
            </a:r>
          </a:p>
        </p:txBody>
      </p:sp>
      <p:sp>
        <p:nvSpPr>
          <p:cNvPr id="10" name="Question  →  Task  →  Context  →  System  →  Feedback Loop">
            <a:extLst xmlns:a="http://schemas.openxmlformats.org/drawingml/2006/main">
              <a:ext uri="{FF2B5EF4-FFF2-40B4-BE49-F238E27FC236}">
                <a16:creationId xmlns:a16="http://schemas.microsoft.com/office/drawing/2014/main" id="{EDD103C1-84DC-4FA6-B69A-5EC77329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Question  →  Task  →  Context  →  System  →  Feedback Loop</a:t>
            </a:r>
          </a:p>
        </p:txBody>
      </p:sp>
      <p:sp>
        <p:nvSpPr>
          <p:cNvPr id="1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A16F9BA-33F7-49E2-A101-1059B6A6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</a:t>
            </a:r>
          </a:p>
        </p:txBody>
      </p:sp>
    </p:spTree>
    <p:extLst>
      <p:ext uri="{BB962C8B-B14F-4D97-AF65-F5344CB8AC3E}">
        <p14:creationId xmlns:p14="http://schemas.microsoft.com/office/powerpoint/2010/main" val="14366637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2026-10-21T12:43:31.5800000Z</dcterms:created>
  <dcterms:modified xsi:type="dcterms:W3CDTF">2026-10-21T12:43:31.5800000Z</dcterms:modified>
</coreProperties>
</file>