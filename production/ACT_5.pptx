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076da2dc34544a48" /><Relationship Type="http://schemas.openxmlformats.org/officeDocument/2006/relationships/extended-properties" Target="/docProps/app.xml" Id="Rd01402743edb45bc" /><Relationship Type="http://schemas.openxmlformats.org/officeDocument/2006/relationships/officeDocument" Target="/ppt/presentation.xml" Id="Rd865cf8347934a23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d71069ea440a454b"/>
  </p:sldMasterIdLst>
  <p:notesMasterIdLst>
    <p:notesMasterId xmlns:r="http://schemas.openxmlformats.org/officeDocument/2006/relationships" r:id="Rbb027d479c504880"/>
  </p:notesMasterIdLst>
  <p:sldIdLst>
    <p:sldId xmlns:r="http://schemas.openxmlformats.org/officeDocument/2006/relationships" id="256" r:id="Raf7f2ab6c8bb47a1"/>
    <p:sldId xmlns:r="http://schemas.openxmlformats.org/officeDocument/2006/relationships" id="257" r:id="Ra095a837f4ba4763"/>
    <p:sldId xmlns:r="http://schemas.openxmlformats.org/officeDocument/2006/relationships" id="258" r:id="R756b2914b9a34817"/>
    <p:sldId xmlns:r="http://schemas.openxmlformats.org/officeDocument/2006/relationships" id="259" r:id="R52de862ac9ab47c2"/>
    <p:sldId xmlns:r="http://schemas.openxmlformats.org/officeDocument/2006/relationships" id="260" r:id="R7160d72e952f431e"/>
    <p:sldId xmlns:r="http://schemas.openxmlformats.org/officeDocument/2006/relationships" id="261" r:id="Rf1894859ac11411b"/>
    <p:sldId xmlns:r="http://schemas.openxmlformats.org/officeDocument/2006/relationships" id="262" r:id="Ra6ebd25d1a76449f"/>
    <p:sldId xmlns:r="http://schemas.openxmlformats.org/officeDocument/2006/relationships" id="263" r:id="R486af796f79c49d7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3e6f3931afdd4e31" /><Relationship Type="http://schemas.openxmlformats.org/officeDocument/2006/relationships/slideMaster" Target="/ppt/slideMasters/slideMaster1.xml" Id="Rd71069ea440a454b" /><Relationship Type="http://schemas.openxmlformats.org/officeDocument/2006/relationships/notesMaster" Target="/ppt/notesMasters/notesMaster1.xml" Id="Rbb027d479c504880" /><Relationship Type="http://schemas.openxmlformats.org/officeDocument/2006/relationships/presProps" Target="/ppt/presProps.xml" Id="Rd8dfdfb30c9849e3" /><Relationship Type="http://schemas.openxmlformats.org/officeDocument/2006/relationships/tableStyles" Target="/ppt/tableStyles.xml" Id="R0e8fbe0ca06946e2" /><Relationship Type="http://schemas.openxmlformats.org/officeDocument/2006/relationships/slide" Target="/ppt/slides/slide1.xml" Id="Raf7f2ab6c8bb47a1" /><Relationship Type="http://schemas.openxmlformats.org/officeDocument/2006/relationships/slide" Target="/ppt/slides/slide2.xml" Id="Ra095a837f4ba4763" /><Relationship Type="http://schemas.openxmlformats.org/officeDocument/2006/relationships/slide" Target="/ppt/slides/slide3.xml" Id="R756b2914b9a34817" /><Relationship Type="http://schemas.openxmlformats.org/officeDocument/2006/relationships/slide" Target="/ppt/slides/slide4.xml" Id="R52de862ac9ab47c2" /><Relationship Type="http://schemas.openxmlformats.org/officeDocument/2006/relationships/slide" Target="/ppt/slides/slide5.xml" Id="R7160d72e952f431e" /><Relationship Type="http://schemas.openxmlformats.org/officeDocument/2006/relationships/slide" Target="/ppt/slides/slide6.xml" Id="Rf1894859ac11411b" /><Relationship Type="http://schemas.openxmlformats.org/officeDocument/2006/relationships/slide" Target="/ppt/slides/slide7.xml" Id="Ra6ebd25d1a76449f" /><Relationship Type="http://schemas.openxmlformats.org/officeDocument/2006/relationships/slide" Target="/ppt/slides/slide8.xml" Id="R486af796f79c49d7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2cf2254a5c6b4bbd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Malgun Gothic"/>
        <a:ea typeface=""/>
        <a:cs typeface=""/>
      </a:majorFont>
      <a:minorFont>
        <a:latin typeface="Malgun Gothic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f60e4adbd75d4dc8" /><Relationship Type="http://schemas.openxmlformats.org/officeDocument/2006/relationships/notesMaster" Target="/ppt/notesMasters/notesMaster1.xml" Id="R6b129d4b07bd4037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aa8de06adb2e4e55" /><Relationship Type="http://schemas.openxmlformats.org/officeDocument/2006/relationships/notesMaster" Target="/ppt/notesMasters/notesMaster1.xml" Id="Rfbd7f8c24b78405a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35e9f269e68a4a1d" /><Relationship Type="http://schemas.openxmlformats.org/officeDocument/2006/relationships/notesMaster" Target="/ppt/notesMasters/notesMaster1.xml" Id="Rb044b8aabe964121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dbd6dd57866c4fa0" /><Relationship Type="http://schemas.openxmlformats.org/officeDocument/2006/relationships/notesMaster" Target="/ppt/notesMasters/notesMaster1.xml" Id="R618f66efdabd4800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59fc5a610d944c00" /><Relationship Type="http://schemas.openxmlformats.org/officeDocument/2006/relationships/notesMaster" Target="/ppt/notesMasters/notesMaster1.xml" Id="Rd51cb7e4df474e5f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9845f5b22f924d42" /><Relationship Type="http://schemas.openxmlformats.org/officeDocument/2006/relationships/notesMaster" Target="/ppt/notesMasters/notesMaster1.xml" Id="Rd53be238753e407a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c74f20f75ef140b6" /><Relationship Type="http://schemas.openxmlformats.org/officeDocument/2006/relationships/notesMaster" Target="/ppt/notesMasters/notesMaster1.xml" Id="R3b8cde0e264b4c30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21f5e5fd1e874682" /><Relationship Type="http://schemas.openxmlformats.org/officeDocument/2006/relationships/notesMaster" Target="/ppt/notesMasters/notesMaster1.xml" Id="R504f3f906c024a7b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## S73 — 여섯 시간의 Story를 한 장으로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**Slide ID:**</a:t>
            </a:r>
          </a:p>
          <a:p xmlns:a="http://schemas.openxmlformats.org/drawingml/2006/main">
            <a:r>
              <a:t>S73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**Working Title:**</a:t>
            </a:r>
          </a:p>
          <a:p xmlns:a="http://schemas.openxmlformats.org/drawingml/2006/main">
            <a:r>
              <a:t>여섯 시간의 Story를 한 장으로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**ACT / Section:**</a:t>
            </a:r>
          </a:p>
          <a:p xmlns:a="http://schemas.openxmlformats.org/drawingml/2006/main">
            <a:r>
              <a:t>ACT 5 / 5A  FULL STORY RECAP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**Allocated Time:**</a:t>
            </a:r>
          </a:p>
          <a:p xmlns:a="http://schemas.openxmlformats.org/drawingml/2006/main">
            <a:r>
              <a:t>4 minutes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**Mode Split:**</a:t>
            </a:r>
          </a:p>
          <a:p xmlns:a="http://schemas.openxmlformats.org/drawingml/2006/main">
            <a:r>
              <a:t>Lecture 4분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**Primary Message:**</a:t>
            </a:r>
          </a:p>
          <a:p xmlns:a="http://schemas.openxmlformats.org/drawingml/2006/main">
            <a:r>
              <a:t>Chatbot은 답을 구하고, Prompt는 Task를 구체화하며, Context는 필요한 Project 지식을 제공하고, Harness는 작업 환경을 설계하며, Loop는 Feedback으로 System을 개선한다.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**Opening Question:**</a:t>
            </a:r>
          </a:p>
          <a:p xmlns:a="http://schemas.openxmlformats.org/drawingml/2006/main">
            <a:r>
              <a:t>“나는 지금 AI를 어떤 방식으로 사용하고 있을까?”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**Speaker Flow:**</a:t>
            </a:r>
          </a:p>
          <a:p xmlns:a="http://schemas.openxmlformats.org/drawingml/2006/main">
            <a:r>
              <a:t>1. (0:00–0:30 / Lecture) 처음의 질문으로 돌아가 다섯 방식을 한눈에 보여준다.</a:t>
            </a:r>
          </a:p>
          <a:p xmlns:a="http://schemas.openxmlformats.org/drawingml/2006/main">
            <a:r>
              <a:t>2. (0:30–2:45 / Lecture) 각 행의 행동만 회수한다: 답을 구하기, 이번 작업 구체화, 프로젝트 지식 제공, 일하는 환경 설계, 피드백으로 시스템 수정. 새 용어를 덧붙이지 않는다.</a:t>
            </a:r>
          </a:p>
          <a:p xmlns:a="http://schemas.openxmlformats.org/drawingml/2006/main">
            <a:r>
              <a:t>3. (2:45–4:00 / Lecture) 앞의 방식이 사라지지 않고 문제에 맞는 대응이 더해졌다고 정리한다. S74 실제 Repository 이력→S75 선택 기준→S76 책임을 거쳐 S77에서 AI-Native 운영 모델을 회수한다.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**Evidence / Source:**</a:t>
            </a:r>
          </a:p>
          <a:p xmlns:a="http://schemas.openxmlformats.org/drawingml/2006/main">
            <a:r>
              <a:t>TEACHING_MODEL · BEAT-060 · 앞선 ACT의 Story callback. 새 Demo는 실행하지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**Claim Boundary:**</a:t>
            </a:r>
          </a:p>
          <a:p xmlns:a="http://schemas.openxmlformats.org/drawingml/2006/main">
            <a:r>
              <a:t>이 교육의 문제-driven 진화 모델이다. 각 단계는 앞 단계를 대체하거나 모든 개발자가 같은 maturity 순서로 이동해야 한다는 뜻이 아니다.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**Beginner Explanation:**</a:t>
            </a:r>
          </a:p>
          <a:p xmlns:a="http://schemas.openxmlformats.org/drawingml/2006/main">
            <a:r>
              <a:t>현재 사용 방식에서 다음으로 필요한 작은 engineering 대응 하나를 찾는다.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**Advanced Insight:**</a:t>
            </a:r>
          </a:p>
          <a:p xmlns:a="http://schemas.openxmlformats.org/drawingml/2006/main">
            <a:r>
              <a:t>어떤 문제가 다음 단계의 접근을 필요하게 했는지 시스템 관점으로 설명한다.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**C++ Vision Bridge:**</a:t>
            </a:r>
          </a:p>
          <a:p xmlns:a="http://schemas.openxmlformats.org/drawingml/2006/main">
            <a:r>
              <a:t>기존 Vision 사례를 선택적으로 회상할 수 있다. 새 C++ 기술 사례는 추가하지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**Demo Operation:**</a:t>
            </a:r>
          </a:p>
          <a:p xmlns:a="http://schemas.openxmlformats.org/drawingml/2006/main">
            <a:r>
              <a:t>다섯 개 행동 행을 차례로 가리킨다. 새로운 실행이나 상태를 추가하지 않는다. S77의 정의를 바로 다음 장에서 설명한다고 예고하지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**Audience Interaction:**</a:t>
            </a:r>
          </a:p>
          <a:p xmlns:a="http://schemas.openxmlformats.org/drawingml/2006/main">
            <a:r>
              <a:t>Opening question을 띄우고 개인적으로 떠올리게 한다. 답변이나 현재 수준 발표를 요구하지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**Transition:**</a:t>
            </a:r>
          </a:p>
          <a:p xmlns:a="http://schemas.openxmlformats.org/drawingml/2006/main">
            <a:r>
              <a:t>“이 흐름이 하나의 Repository에서는 어떤 변화로 기록됐을까요?” S74로 넘긴다.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**Time Management:**</a:t>
            </a:r>
          </a:p>
          <a:p xmlns:a="http://schemas.openxmlformats.org/drawingml/2006/main">
            <a:r>
              <a:t>총 4분, Lecture 4분. 각 단계 설명을 한 문장에 제한하고 앞선 ACT 내용을 다시 강의하지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**Fallback:**</a:t>
            </a:r>
          </a:p>
          <a:p xmlns:a="http://schemas.openxmlformats.org/drawingml/2006/main">
            <a:r>
              <a:t>LOCAL STATIC ARTIFACT — production/ACT_5.pptx의 S73와 production/preview/act5/S73.png를 사용한다. 원본 실행 캡처 또는 새로운 Trial 결과로 표현하지 않는다. 로컬 렌더링 검토 결과는 통합 평가 문서에 기록한다.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**Validation Status:**</a:t>
            </a:r>
          </a:p>
          <a:p xmlns:a="http://schemas.openxmlformats.org/drawingml/2006/main">
            <a:r>
              <a:t>REVIEWED — 원문·Claim 경계, 화면의 설명 순서와 운영 지침을 대조했다. 최종 PPT/Notes/PNG 대조 결과는 production/evaluation/FULL_DECK_PRESENTATION_REVISION.md에 기록한다. Windows PowerPoint, 발표 PC 글꼴, 교육장 투사, 실제 시간 리허설은 UNVERIFIED.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## S74 — 하나의 Repository가 문제에 대응해 진화했다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Slide ID: S74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Working Title: 하나의 Repository가 문제에 대응해 진화했다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ACT / Section: ACT 5 / 5A  PRIMARY DEMO EVOLUTION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Allocated Time: 3 minutes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Mode Split: Lecture 1분 + Demo 2분 (VISUAL)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Primary Message: 각 State는 해당 문제에 대응해 기록된 Engineering history다. State 순서는 기능 성숙도 등급이 아니다.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Opening Question: “이 Repository는 어떤 문제를 만나며 바뀌었나?”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Speaker Flow: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1. (0:00–1:00 / Lecture) 일곱 이름을 위쪽 왼쪽부터 오른쪽, 다음 아래쪽 왼쪽부터 읽는다. State는 당시 문제에 대응한 이력임을 말한다.</a:t>
            </a:r>
          </a:p>
          <a:p xmlns:a="http://schemas.openxmlformats.org/drawingml/2006/main">
            <a:r>
              <a:t>2. (1:00–2:30 / VISUAL Demo) 아래 세 발췌(S16 crop 수정, S32 상세 문서 분리, S45 같은 조건의 성능 비교)를 가리키며 위의 일곱 State 변화와 연결한다. 작은 그림은 기억을 회수하는 용도이며 코드·경로·수치를 다시 읽는 시간이 아니다.</a:t>
            </a:r>
          </a:p>
          <a:p xmlns:a="http://schemas.openxmlformats.org/drawingml/2006/main">
            <a:r>
              <a:t>3. (2:30–3:00 / VISUAL Demo) STATE-04-PERF의 bounded endpoint에서 닫는다. Benchmark 준비 commit은 추가 State가 아니다.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Evidence / Source: OBSERVED_PRODUCT · `ai-dev-training-demo`의 named Git State/tag 기록과 DEMO-12. State 순서는 STATE-00 → STATE-00-FIXED → STATE-01 → STATE-02 → STATE-03 → STATE-04 → STATE-04-PERF다. 발췌 원본: assets/slide-illustrations/recap/S16-source.png, S32-source.png, S45-source.png (기존 production PNG와 동일). S16은 TRIAL-002 diff 재구성, S32는 STATE-02→03 문구 발췌, S45는 STATE-04→04-PERF 단일 코드·입력·환경 비교다. SHA-256과 native crop 범위: assets/slide-illustrations/ASSET_MANIFEST.json.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Claim Boundary: 기록된 State와 Demo evidence 범위에 한정한다. Benchmark preparation commits는 supporting history이며 별도 State가 아니다. Subagent, Memory, stale Harness 또는 Loop를 Product State로 표시하지 않는다. 세 그림은 기존 발표자료 발췌이며 원본 실행 캡처가 아니다. S32로 Routing 우월성·토큰 절감을 주장하지 않고, S45는 tracemalloc 피크와 이 환경의 코드 변경 결과로 한정하며 RSS·Harness 단독 인과성으로 확대하지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Beginner Explanation: 변화가 기능 수를 늘리기 위한 것이 아니라 당시 확인된 문제에 대응했다는 점을 본다.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Advanced Insight: Product State와 Conceptual 또는 Observed Meta 사례를 구분하고 bounded Product endpoint를 읽는다.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C++ Vision Bridge: N/A.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Demo Operation: DEMO-12 · VISUAL, 2분. 실제 Product State/tag를 요약한 static timeline이다. 새 Trial·repository 실행·추가 state는 없다. Benchmark preparation은 별도 State로 그리지 않는다. 세 발췌와 seven-State rail을 함께 사용하되 개별 Trial을 새로 실행하거나 재설명하지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Audience Interaction: 질문에 맞춰 각 State 아래 한 문구를 함께 훑는다. 평가 점수나 성숙도 단계로 읽지 않게 안내한다.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Transition: “그러면 이 작업에서 Subagent와 Memory는 왜 없었을까요?” S75로 전환한다.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Time Management: Lecture 1분 + VISUAL Demo 2분 = 3분. 세부 Trial을 재설명하지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Fallback: LOCAL STATIC ARTIFACT — production/ACT_5.pptx의 S74와 production/preview/act5/S74.png를 사용한다. 원본 실행 캡처 또는 새로운 Trial 결과로 표현하지 않는다. 로컬 렌더링 검토 결과는 통합 평가 문서에 기록한다.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Validation Status: REVIEWED — 승인된 전체 이미지 후보의 반영과 로컬 렌더링 결과는 production/evaluation/FULL_DECK_IMAGE_EXPANSION.md에 기록한다. Windows PowerPoint, 발표 PC 글꼴, 교육장 투사, 실제 시간 리허설은 UNVERIFIED.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## S75 — 필요성이 입증되지 않은 것은 보류했다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**Slide ID:**</a:t>
            </a:r>
          </a:p>
          <a:p xmlns:a="http://schemas.openxmlformats.org/drawingml/2006/main">
            <a:r>
              <a:t>S75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**Working Title:**</a:t>
            </a:r>
          </a:p>
          <a:p xmlns:a="http://schemas.openxmlformats.org/drawingml/2006/main">
            <a:r>
              <a:t>필요성이 입증되지 않은 것은 보류했다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**ACT / Section:**</a:t>
            </a:r>
          </a:p>
          <a:p xmlns:a="http://schemas.openxmlformats.org/drawingml/2006/main">
            <a:r>
              <a:t>ACT 5 / 5A  MINIMUM EFFECTIVE HARNESS CALLBACK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**Allocated Time:**</a:t>
            </a:r>
          </a:p>
          <a:p xmlns:a="http://schemas.openxmlformats.org/drawingml/2006/main">
            <a:r>
              <a:t>2 minutes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**Mode Split:**</a:t>
            </a:r>
          </a:p>
          <a:p xmlns:a="http://schemas.openxmlformats.org/drawingml/2006/main">
            <a:r>
              <a:t>Lecture 2분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**Primary Message:**</a:t>
            </a:r>
          </a:p>
          <a:p xmlns:a="http://schemas.openxmlformats.org/drawingml/2006/main">
            <a:r>
              <a:t>이 bounded task에서는 Subagent와 Memory를 추가할 충분한 근거가 없었다. “Use what the problem justifies.”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**Opening Question:**</a:t>
            </a:r>
          </a:p>
          <a:p xmlns:a="http://schemas.openxmlformats.org/drawingml/2006/main">
            <a:r>
              <a:t>“왜 현재 Demo의 최종 그림에 Subagent와 Memory가 없을까?”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**Speaker Flow:**</a:t>
            </a:r>
          </a:p>
          <a:p xmlns:a="http://schemas.openxmlformats.org/drawingml/2006/main">
            <a:r>
              <a:t>1. (0:00–0:30 / Lecture) 이번 작업에서 쓴 왼쪽 요소와 보류한 오른쪽 요소를 비교한다.</a:t>
            </a:r>
          </a:p>
          <a:p xmlns:a="http://schemas.openxmlformats.org/drawingml/2006/main">
            <a:r>
              <a:t>2. (0:30–1:20 / Lecture) STATE-04-PERF와 DEC-0018의 bounded 범위에서 Subagent·Memory 추가의 이득이 충분히 정당화되지 않았다고 설명한다.</a:t>
            </a:r>
          </a:p>
          <a:p xmlns:a="http://schemas.openxmlformats.org/drawingml/2006/main">
            <a:r>
              <a:t>3. (1:20–2:00 / Lecture) “현재 문제가 필요로 하는 만큼 설계한다”는 기준을 남긴다. 기능 수가 많거나 적다는 이유만으로 성숙도를 판단하지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**Evidence / Source:**</a:t>
            </a:r>
          </a:p>
          <a:p xmlns:a="http://schemas.openxmlformats.org/drawingml/2006/main">
            <a:r>
              <a:t>OBSERVED_PRODUCT / TEACHING_MODEL · STATE-04-PERF와 DEC-0018. 사용한 요소: task Prompt, Project Context/routing, reusable Skill/workflow, Tests와 benchmark. 이번 bounded task에서 Subagent와 Memory는 사용되지 않았다.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**Claim Boundary:**</a:t>
            </a:r>
          </a:p>
          <a:p xmlns:a="http://schemas.openxmlformats.org/drawingml/2006/main">
            <a:r>
              <a:t>이 Demo의 bounded 작업과 이 교육의 프로젝트별 heuristic이다. 모든 Project에 Subagent/Memory가 불필요하거나 적게 쓰는 것이 항상 낫다는 뜻이 아니다.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**Beginner Explanation:**</a:t>
            </a:r>
          </a:p>
          <a:p xmlns:a="http://schemas.openxmlformats.org/drawingml/2006/main">
            <a:r>
              <a:t>처음부터 모든 기능을 넣지 않고 지금 반복되는 마찰과 필요한 지원부터 찾는다.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**Advanced Insight:**</a:t>
            </a:r>
          </a:p>
          <a:p xmlns:a="http://schemas.openxmlformats.org/drawingml/2006/main">
            <a:r>
              <a:t>구성요소별 비용과 이득을 실제 task, context, verification 요구에 맞춰 평가한다.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**C++ Vision Bridge:**</a:t>
            </a:r>
          </a:p>
          <a:p xmlns:a="http://schemas.openxmlformats.org/drawingml/2006/main">
            <a:r>
              <a:t>자신의 Repository에서도 같은 정당화 질문을 적용할 수 있다. 새 C++ 절차는 추가하지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**Demo Operation:**</a:t>
            </a:r>
          </a:p>
          <a:p xmlns:a="http://schemas.openxmlformats.org/drawingml/2006/main">
            <a:r>
              <a:t>추가 실행 없음. 왼쪽은 STATE-04-PERF의 system components, 오른쪽은 이번 사례에서 정당화되지 않은 Subagent/Memory다. 상태와 일반 규칙을 섞지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**Audience Interaction:**</a:t>
            </a:r>
          </a:p>
          <a:p xmlns:a="http://schemas.openxmlformats.org/drawingml/2006/main">
            <a:r>
              <a:t>차이를 보고 “Use what the problem justifies”라는 기준을 가져간다. 도구 선택 답변이나 투표는 요구하지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**Transition:**</a:t>
            </a:r>
          </a:p>
          <a:p xmlns:a="http://schemas.openxmlformats.org/drawingml/2006/main">
            <a:r>
              <a:t>“AI에게 더 많은 일을 맡겨도 개발자에게 남는 책임은 무엇일까요?” S76으로 이동한다.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**Time Management:**</a:t>
            </a:r>
          </a:p>
          <a:p xmlns:a="http://schemas.openxmlformats.org/drawingml/2006/main">
            <a:r>
              <a:t>Lecture 2분. 구성요소를 다시 강의하지 않고 판단 근거와 범위에 집중한다.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**Fallback:**</a:t>
            </a:r>
          </a:p>
          <a:p xmlns:a="http://schemas.openxmlformats.org/drawingml/2006/main">
            <a:r>
              <a:t>LOCAL STATIC ARTIFACT — production/ACT_5.pptx의 S75와 production/preview/act5/S75.png를 사용한다. 원본 실행 캡처 또는 새로운 Trial 결과로 표현하지 않는다. 로컬 렌더링 검토 결과는 통합 평가 문서에 기록한다.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**Validation Status:**</a:t>
            </a:r>
          </a:p>
          <a:p xmlns:a="http://schemas.openxmlformats.org/drawingml/2006/main">
            <a:r>
              <a:t>REVIEWED — 원문·Claim 경계, 화면의 설명 순서와 운영 지침을 대조했다. 최종 PPT/Notes/PNG 대조 결과는 production/evaluation/FULL_DECK_PRESENTATION_REVISION.md에 기록한다. Windows PowerPoint, 발표 PC 글꼴, 교육장 투사, 실제 시간 리허설은 UNVERIFIED.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## S76 — 위임이 늘어도 개발자 책임은 남는다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**Slide ID:**</a:t>
            </a:r>
          </a:p>
          <a:p xmlns:a="http://schemas.openxmlformats.org/drawingml/2006/main">
            <a:r>
              <a:t>S76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**Working Title:**</a:t>
            </a:r>
          </a:p>
          <a:p xmlns:a="http://schemas.openxmlformats.org/drawingml/2006/main">
            <a:r>
              <a:t>위임이 늘어도 개발자 책임은 남는다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**ACT / Section:**</a:t>
            </a:r>
          </a:p>
          <a:p xmlns:a="http://schemas.openxmlformats.org/drawingml/2006/main">
            <a:r>
              <a:t>ACT 5 / 5A  DEVELOPER RESPONSIBILITY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**Allocated Time:**</a:t>
            </a:r>
          </a:p>
          <a:p xmlns:a="http://schemas.openxmlformats.org/drawingml/2006/main">
            <a:r>
              <a:t>3 minutes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**Mode Split:**</a:t>
            </a:r>
          </a:p>
          <a:p xmlns:a="http://schemas.openxmlformats.org/drawingml/2006/main">
            <a:r>
              <a:t>Lecture 3분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**Primary Message:**</a:t>
            </a:r>
          </a:p>
          <a:p xmlns:a="http://schemas.openxmlformats.org/drawingml/2006/main">
            <a:r>
              <a:t>Agent는 조사·생성·변경·실행·비교를 도울 수 있다. 개발자는 목표, 제약, 판단, Verification, 완료 여부와 결과 책임을 유지한다.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**Opening Question:**</a:t>
            </a:r>
          </a:p>
          <a:p xmlns:a="http://schemas.openxmlformats.org/drawingml/2006/main">
            <a:r>
              <a:t>“AI가 더 많은 일을 맡아도 개발자가 계속 책임지는 것은 무엇인가?”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**Speaker Flow:**</a:t>
            </a:r>
          </a:p>
          <a:p xmlns:a="http://schemas.openxmlformats.org/drawingml/2006/main">
            <a:r>
              <a:t>1. (0:00–0:40 / Lecture) AI가 도울 수 있는 행동은 상단 한 문장으로만 읽는다.</a:t>
            </a:r>
          </a:p>
          <a:p xmlns:a="http://schemas.openxmlformats.org/drawingml/2006/main">
            <a:r>
              <a:t>2. (0:40–2:20 / Lecture) 네 질문을 차례로 짚는다: 해결할 목표, 적절한 선택, 확인 근거, 완료 수용 여부.</a:t>
            </a:r>
          </a:p>
          <a:p xmlns:a="http://schemas.openxmlformats.org/drawingml/2006/main">
            <a:r>
              <a:t>3. (2:20–3:00 / Lecture) 역할의 절대적 분업이 아니라 개발자의 판단과 책임을 강조하고 S77의 운영 모델로 연결한다.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**Evidence / Source:**</a:t>
            </a:r>
          </a:p>
          <a:p xmlns:a="http://schemas.openxmlformats.org/drawingml/2006/main">
            <a:r>
              <a:t>TEACHING_MODEL · BEAT-061–062. 새 Product feature나 책임 handoff evidence는 없다.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**Claim Boundary:**</a:t>
            </a:r>
          </a:p>
          <a:p xmlns:a="http://schemas.openxmlformats.org/drawingml/2006/main">
            <a:r>
              <a:t>이 교육에서 고정한 책임 원칙이다. Agent와 개발자의 역할을 절대적인 분업 규칙으로 제시하지 않는다. AI fear/control framing을 사용하지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**Beginner Explanation:**</a:t>
            </a:r>
          </a:p>
          <a:p xmlns:a="http://schemas.openxmlformats.org/drawingml/2006/main">
            <a:r>
              <a:t>AI가 결과를 만들 수 있어도 무엇이 맞고 완료인지 판단하는 일은 남는다.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**Advanced Insight:**</a:t>
            </a:r>
          </a:p>
          <a:p xmlns:a="http://schemas.openxmlformats.org/drawingml/2006/main">
            <a:r>
              <a:t>위임 범위, 제약, 검증 기준과 최종 수용 기준을 함께 설계한다.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**C++ Vision Bridge:**</a:t>
            </a:r>
          </a:p>
          <a:p xmlns:a="http://schemas.openxmlformats.org/drawingml/2006/main">
            <a:r>
              <a:t>N/A.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**Demo Operation:**</a:t>
            </a:r>
          </a:p>
          <a:p xmlns:a="http://schemas.openxmlformats.org/drawingml/2006/main">
            <a:r>
              <a:t>N/A — 별도 실행 없음. 정적 role/responsibility diagram.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**Audience Interaction:**</a:t>
            </a:r>
          </a:p>
          <a:p xmlns:a="http://schemas.openxmlformats.org/drawingml/2006/main">
            <a:r>
              <a:t>네 가지 책임 축을 읽고 자신의 완료 기준을 떠올리게 한다. 응답 요구 없음.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**Transition:**</a:t>
            </a:r>
          </a:p>
          <a:p xmlns:a="http://schemas.openxmlformats.org/drawingml/2006/main">
            <a:r>
              <a:t>“이 역할 변화를 이 교육에서는 어떤 모델로 부를까요?” S77로 이동한다.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**Time Management:**</a:t>
            </a:r>
          </a:p>
          <a:p xmlns:a="http://schemas.openxmlformats.org/drawingml/2006/main">
            <a:r>
              <a:t>Lecture 3분. 다섯 Agent 행동을 상세 제품 기능처럼 설명하지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**Fallback:**</a:t>
            </a:r>
          </a:p>
          <a:p xmlns:a="http://schemas.openxmlformats.org/drawingml/2006/main">
            <a:r>
              <a:t>LOCAL STATIC ARTIFACT — production/ACT_5.pptx의 S76와 production/preview/act5/S76.png를 사용한다. 원본 실행 캡처 또는 새로운 Trial 결과로 표현하지 않는다. 로컬 렌더링 검토 결과는 통합 평가 문서에 기록한다.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**Validation Status:**</a:t>
            </a:r>
          </a:p>
          <a:p xmlns:a="http://schemas.openxmlformats.org/drawingml/2006/main">
            <a:r>
              <a:t>REVIEWED — 원문·Claim 경계, 화면의 설명 순서와 운영 지침을 대조했다. 최종 PPT/Notes/PNG 대조 결과는 production/evaluation/FULL_DECK_PRESENTATION_REVISION.md에 기록한다. Windows PowerPoint, 발표 PC 글꼴, 교육장 투사, 실제 시간 리허설은 UNVERIFIED.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## S77 — AI-Native Development는 이 교육의 운영 모델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**Slide ID:**</a:t>
            </a:r>
          </a:p>
          <a:p xmlns:a="http://schemas.openxmlformats.org/drawingml/2006/main">
            <a:r>
              <a:t>S77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**Working Title:**</a:t>
            </a:r>
          </a:p>
          <a:p xmlns:a="http://schemas.openxmlformats.org/drawingml/2006/main">
            <a:r>
              <a:t>AI-Native Development는 이 교육의 운영 모델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**ACT / Section:**</a:t>
            </a:r>
          </a:p>
          <a:p xmlns:a="http://schemas.openxmlformats.org/drawingml/2006/main">
            <a:r>
              <a:t>ACT 5 / 5A  AI-NATIVE DEVELOPMENT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**Allocated Time:**</a:t>
            </a:r>
          </a:p>
          <a:p xmlns:a="http://schemas.openxmlformats.org/drawingml/2006/main">
            <a:r>
              <a:t>3 minutes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**Mode Split:**</a:t>
            </a:r>
          </a:p>
          <a:p xmlns:a="http://schemas.openxmlformats.org/drawingml/2006/main">
            <a:r>
              <a:t>Lecture 3분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**Primary Message:**</a:t>
            </a:r>
          </a:p>
          <a:p xmlns:a="http://schemas.openxmlformats.org/drawingml/2006/main">
            <a:r>
              <a:t>이 교육은 Task Boundary, Project Context, Reusable Workflow, Verification, Feedback Loop를 의도적으로 설계·운영하는 방식을 AI-Native Development의 operational model로 사용한다.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**Opening Question:**</a:t>
            </a:r>
          </a:p>
          <a:p xmlns:a="http://schemas.openxmlformats.org/drawingml/2006/main">
            <a:r>
              <a:t>“AI에게 일을 많이 맡기면 AI-Native일까?”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**Speaker Flow:**</a:t>
            </a:r>
          </a:p>
          <a:p xmlns:a="http://schemas.openxmlformats.org/drawingml/2006/main">
            <a:r>
              <a:t>1. (0:00–0:30 / Lecture) 이 과정이 AI가 일할 조건과 결과 확인 경로를 설계하는 방식에 AI-Native Development라는 운영 모델 이름을 붙였음을 밝힌다.</a:t>
            </a:r>
          </a:p>
          <a:p xmlns:a="http://schemas.openxmlformats.org/drawingml/2006/main">
            <a:r>
              <a:t>2. (0:30–2:20 / Lecture) 작업 경계, 프로젝트 지식·절차, 검증·피드백 세 행에서 각각 Task Boundary, Project Context/Reusable Workflow, Verification/Feedback Loop가 맡는 질문을 연결한다.</a:t>
            </a:r>
          </a:p>
          <a:p xmlns:a="http://schemas.openxmlformats.org/drawingml/2006/main">
            <a:r>
              <a:t>3. (2:20–3:00 / Lecture) 모든 Task에 모든 요소를 의무적으로 넣으라는 보편 정의가 아님을 한정하고 자신의 반복 마찰을 찾는 S78로 이동한다.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**Evidence / Source:**</a:t>
            </a:r>
          </a:p>
          <a:p xmlns:a="http://schemas.openxmlformats.org/drawingml/2006/main">
            <a:r>
              <a:t>TEACHING_MODEL · DEC-0023의 course-specific operational framing.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**Claim Boundary:**</a:t>
            </a:r>
          </a:p>
          <a:p xmlns:a="http://schemas.openxmlformats.org/drawingml/2006/main">
            <a:r>
              <a:t>공식·보편 업계 표준 정의라고 말하지 않는다. 모든 task 또는 Demo에 다섯 구성요소를 의무적으로 도입하라는 뜻이 아니다.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**Beginner Explanation:**</a:t>
            </a:r>
          </a:p>
          <a:p xmlns:a="http://schemas.openxmlformats.org/drawingml/2006/main">
            <a:r>
              <a:t>AI 사용량을 늘리는 것만으로 끝내지 않고 반복되는 작은 마찰을 하나 개선한다.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**Advanced Insight:**</a:t>
            </a:r>
          </a:p>
          <a:p xmlns:a="http://schemas.openxmlformats.org/drawingml/2006/main">
            <a:r>
              <a:t>Model capability와 작업 System/Harness 설계를 구분해 다음 병목을 진단한다.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**C++ Vision Bridge:**</a:t>
            </a:r>
          </a:p>
          <a:p xmlns:a="http://schemas.openxmlformats.org/drawingml/2006/main">
            <a:r>
              <a:t>다음 S78에서 C++ Vision 업무와 자신의 Repository로 transfer한다.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**Demo Operation:**</a:t>
            </a:r>
          </a:p>
          <a:p xmlns:a="http://schemas.openxmlformats.org/drawingml/2006/main">
            <a:r>
              <a:t>N/A — 별도 실행 없음. 다섯 구성요소는 비교 가능한 system components로 보이며 maturity 순서가 아니다.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**Audience Interaction:**</a:t>
            </a:r>
          </a:p>
          <a:p xmlns:a="http://schemas.openxmlformats.org/drawingml/2006/main">
            <a:r>
              <a:t>Opening question을 남긴 뒤 course model의 범위를 확인한다. 공식 용어 정의나 정답 발표를 요구하지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**Transition:**</a:t>
            </a:r>
          </a:p>
          <a:p xmlns:a="http://schemas.openxmlformats.org/drawingml/2006/main">
            <a:r>
              <a:t>“내 Repository에서는 어떤 Layer에서 마찰이 반복될까요?” S78로 넘긴다.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**Time Management:**</a:t>
            </a:r>
          </a:p>
          <a:p xmlns:a="http://schemas.openxmlformats.org/drawingml/2006/main">
            <a:r>
              <a:t>Lecture 3분. AI 사용량과 설계된 work system의 차이만 설명한다.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**Fallback:**</a:t>
            </a:r>
          </a:p>
          <a:p xmlns:a="http://schemas.openxmlformats.org/drawingml/2006/main">
            <a:r>
              <a:t>LOCAL STATIC ARTIFACT — production/ACT_5.pptx의 S77와 production/preview/act5/S77.png를 사용한다. 원본 실행 캡처 또는 새로운 Trial 결과로 표현하지 않는다. 로컬 렌더링 검토 결과는 통합 평가 문서에 기록한다.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**Validation Status:**</a:t>
            </a:r>
          </a:p>
          <a:p xmlns:a="http://schemas.openxmlformats.org/drawingml/2006/main">
            <a:r>
              <a:t>REVIEWED — 원문·Claim 경계, 화면의 설명 순서와 운영 지침을 대조했다. 최종 PPT/Notes/PNG 대조 결과는 production/evaluation/FULL_DECK_PRESENTATION_REVISION.md에 기록한다. Windows PowerPoint, 발표 PC 글꼴, 교육장 투사, 실제 시간 리허설은 UNVERIFIED.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## S78 — 어느 Layer에서 마찰이 반복되는가?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**Slide ID:**</a:t>
            </a:r>
          </a:p>
          <a:p xmlns:a="http://schemas.openxmlformats.org/drawingml/2006/main">
            <a:r>
              <a:t>S78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**Working Title:**</a:t>
            </a:r>
          </a:p>
          <a:p xmlns:a="http://schemas.openxmlformats.org/drawingml/2006/main">
            <a:r>
              <a:t>어느 Layer에서 마찰이 반복되는가?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**ACT / Section:**</a:t>
            </a:r>
          </a:p>
          <a:p xmlns:a="http://schemas.openxmlformats.org/drawingml/2006/main">
            <a:r>
              <a:t>ACT 5 / 5B  C++ VISION / MY REPOSITORY TRANSFER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**Allocated Time:**</a:t>
            </a:r>
          </a:p>
          <a:p xmlns:a="http://schemas.openxmlformats.org/drawingml/2006/main">
            <a:r>
              <a:t>5 minutes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**Mode Split:**</a:t>
            </a:r>
          </a:p>
          <a:p xmlns:a="http://schemas.openxmlformats.org/drawingml/2006/main">
            <a:r>
              <a:t>Case 1분 + Transition 4분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**Primary Message:**</a:t>
            </a:r>
          </a:p>
          <a:p xmlns:a="http://schemas.openxmlformats.org/drawingml/2006/main">
            <a:r>
              <a:t>Task, Context, Workflow, Verification, Repeated Failure Loop 중 현재 가장 큰 마찰과 가까운 한 곳을 선택한다. 정해진 maturity sequence가 아니다.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**Opening Question:**</a:t>
            </a:r>
          </a:p>
          <a:p xmlns:a="http://schemas.openxmlformats.org/drawingml/2006/main">
            <a:r>
              <a:t>“내 Repository에서 다음 주에 하나만 바꾼다면?”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**Speaker Flow:**</a:t>
            </a:r>
          </a:p>
          <a:p xmlns:a="http://schemas.openxmlformats.org/drawingml/2006/main">
            <a:r>
              <a:t>1. (0:00–1:00 / Case) C++ Vision의 병목 범위, 빌드 조건·계약·하드웨어 가정, 분석·측정 절차를 업무에 비춰 보는 교육용 예시라고 밝힌다. 실제 프로젝트 사건이 아니다.</a:t>
            </a:r>
          </a:p>
          <a:p xmlns:a="http://schemas.openxmlformats.org/drawingml/2006/main">
            <a:r>
              <a:t>2. (1:00–3:00 / Transition) 다섯 행의 증상 질문을 읽으며 현재 자기 업무와 가까운 것이 있는지 마음속으로 떠올리게 한다. 같은 수준의 선택지이며 반드시 위에서부터 도입하는 순서가 아니다.</a:t>
            </a:r>
          </a:p>
          <a:p xmlns:a="http://schemas.openxmlformats.org/drawingml/2006/main">
            <a:r>
              <a:t>3. (3:00–5:00 / Transition) Task/Context/Workflow/Verification/Feedback의 새 개념 설명은 하지 않고 S79의 개인 성찰 세 질문으로 좁혀 준다.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**Evidence / Source:**</a:t>
            </a:r>
          </a:p>
          <a:p xmlns:a="http://schemas.openxmlformats.org/drawingml/2006/main">
            <a:r>
              <a:t>TEACHING_MODEL · C++ Vision engineering-pattern transfer. 실제 C++ Project, hardware, toolchain 또는 benchmark 결과는 사용하지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**Claim Boundary:**</a:t>
            </a:r>
          </a:p>
          <a:p xmlns:a="http://schemas.openxmlformats.org/drawingml/2006/main">
            <a:r>
              <a:t>다섯 선택지는 같은 높이의 적용 후보이며 순서가 있는 maturity ladder가 아니다. 특정 C++ Project 규칙·도구·hardware 또는 검증된 procedure를 보장하지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**Beginner Explanation:**</a:t>
            </a:r>
          </a:p>
          <a:p xmlns:a="http://schemas.openxmlformats.org/drawingml/2006/main">
            <a:r>
              <a:t>전체 Harness를 새로 만들기 전에 반복해서 설명하거나 확인하는 부분 하나를 찾는다.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**Advanced Insight:**</a:t>
            </a:r>
          </a:p>
          <a:p xmlns:a="http://schemas.openxmlformats.org/drawingml/2006/main">
            <a:r>
              <a:t>반복 비용, 위험과 verification surface를 보고 투자 지점을 고른다.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**C++ Vision Bridge:**</a:t>
            </a:r>
          </a:p>
          <a:p xmlns:a="http://schemas.openxmlformats.org/drawingml/2006/main">
            <a:r>
              <a:t>Primary bridge. 예시: 성능 병목 조사 Task; build mode/algorithm contract/hardware assumptions Context; profile → change → benchmark → regression Workflow; tests + benchmark Verification; 반복 이슈가 다시 생기면 관련 System 수정. 실제 project procedure가 아닌 pattern transfer.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**Demo Operation:**</a:t>
            </a:r>
          </a:p>
          <a:p xmlns:a="http://schemas.openxmlformats.org/drawingml/2006/main">
            <a:r>
              <a:t>새 Demo가 없다. 왼쪽 Layer 이름보다 오른쪽 반복되는 마찰을 먼저 읽고, 선택지들은 같은 높이의 적용 후보임을 유지한다.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**Audience Interaction:**</a:t>
            </a:r>
          </a:p>
          <a:p xmlns:a="http://schemas.openxmlformats.org/drawingml/2006/main">
            <a:r>
              <a:t>선택지를 강사 주도로 비교한다. 청중에게 선택 발표, 투표, 실습, 제출을 요구하지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**Transition:**</a:t>
            </a:r>
          </a:p>
          <a:p xmlns:a="http://schemas.openxmlformats.org/drawingml/2006/main">
            <a:r>
              <a:t>“마지막으로, 각자 업무에서 반복되는 마찰을 개인적으로 생각해 봅시다.” S79로 이동한다.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**Time Management:**</a:t>
            </a:r>
          </a:p>
          <a:p xmlns:a="http://schemas.openxmlformats.org/drawingml/2006/main">
            <a:r>
              <a:t>Case 1분 + Transition 4분 = 5분. Transition 동안 새 사례를 열지 않고 reflection handoff만 수행한다.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**Fallback:**</a:t>
            </a:r>
          </a:p>
          <a:p xmlns:a="http://schemas.openxmlformats.org/drawingml/2006/main">
            <a:r>
              <a:t>LOCAL STATIC ARTIFACT — production/ACT_5.pptx의 S78와 production/preview/act5/S78.png를 사용한다. 원본 실행 캡처 또는 새로운 Trial 결과로 표현하지 않는다. 로컬 렌더링 검토 결과는 통합 평가 문서에 기록한다.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**Validation Status:**</a:t>
            </a:r>
          </a:p>
          <a:p xmlns:a="http://schemas.openxmlformats.org/drawingml/2006/main">
            <a:r>
              <a:t>REVIEWED — 원문·Claim 경계, 화면의 설명 순서와 운영 지침을 대조했다. 최종 PPT/Notes/PNG 대조 결과는 production/evaluation/FULL_DECK_PRESENTATION_REVISION.md에 기록한다. Windows PowerPoint, 발표 PC 글꼴, 교육장 투사, 실제 시간 리허설은 UNVERIFIED.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## S79 — 다음 작은 행동을 개인적으로 고른다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**Slide ID:**</a:t>
            </a:r>
          </a:p>
          <a:p xmlns:a="http://schemas.openxmlformats.org/drawingml/2006/main">
            <a:r>
              <a:t>S79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**Working Title:**</a:t>
            </a:r>
          </a:p>
          <a:p xmlns:a="http://schemas.openxmlformats.org/drawingml/2006/main">
            <a:r>
              <a:t>다음 작은 행동을 개인적으로 고른다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**ACT / Section:**</a:t>
            </a:r>
          </a:p>
          <a:p xmlns:a="http://schemas.openxmlformats.org/drawingml/2006/main">
            <a:r>
              <a:t>ACT 5 / 5B  FINAL REFLECTION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**Allocated Time:**</a:t>
            </a:r>
          </a:p>
          <a:p xmlns:a="http://schemas.openxmlformats.org/drawingml/2006/main">
            <a:r>
              <a:t>4 minutes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**Mode Split:**</a:t>
            </a:r>
          </a:p>
          <a:p xmlns:a="http://schemas.openxmlformats.org/drawingml/2006/main">
            <a:r>
              <a:t>Lecture 2분 + Reflection 2분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**Primary Message:**</a:t>
            </a:r>
          </a:p>
          <a:p xmlns:a="http://schemas.openxmlformats.org/drawingml/2006/main">
            <a:r>
              <a:t>반복해서 적는 설명, AI가 다시 찾는 Project 사실, 반복되는 실패에서 고칠 System layer 가운데 한 가지를 생각한다.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**Opening Question:**</a:t>
            </a:r>
          </a:p>
          <a:p xmlns:a="http://schemas.openxmlformats.org/drawingml/2006/main">
            <a:r>
              <a:t>“내가 AI와 개발하는 방식에서 다음에 바꿀 수 있는 것은 무엇인가?”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**Speaker Flow:**</a:t>
            </a:r>
          </a:p>
          <a:p xmlns:a="http://schemas.openxmlformats.org/drawingml/2006/main">
            <a:r>
              <a:t>1. (0:00–1:00 / Lecture) S78에서 떠올린 반복 마찰을 이어 간다.</a:t>
            </a:r>
          </a:p>
          <a:p xmlns:a="http://schemas.openxmlformats.org/drawingml/2006/main">
            <a:r>
              <a:t>2. (1:00–2:00 / Lecture) 화면의 반복 설명, 재탐색하는 프로젝트 사실, 두 번째 실패의 수정 위치 세 질문을 차례로 읽는다.</a:t>
            </a:r>
          </a:p>
          <a:p xmlns:a="http://schemas.openxmlformats.org/drawingml/2006/main">
            <a:r>
              <a:t>3. (2:00–4:00 / Reflection) 두 분 동안 조용히 개인적으로 생각할 시간을 둔다. 답변·기록·발표·제출을 요구하지 않는다. 시간 뒤 S80 질문 시간으로 넘어간다.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**Evidence / Source:**</a:t>
            </a:r>
          </a:p>
          <a:p xmlns:a="http://schemas.openxmlformats.org/drawingml/2006/main">
            <a:r>
              <a:t>TEACHING_MODEL · 승인된 private reflection prompt. 개인 업무에 대한 새 관찰 근거는 수집하지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**Claim Boundary:**</a:t>
            </a:r>
          </a:p>
          <a:p xmlns:a="http://schemas.openxmlformats.org/drawingml/2006/main">
            <a:r>
              <a:t>개인 Reflection이며 응답, 공유, written commitment 또는 실제 업무 변경을 요구하지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**Beginner Explanation:**</a:t>
            </a:r>
          </a:p>
          <a:p xmlns:a="http://schemas.openxmlformats.org/drawingml/2006/main">
            <a:r>
              <a:t>반복되는 설명이나 Project 사실을 AI가 다시 찾는 지점부터 생각한다.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**Advanced Insight:**</a:t>
            </a:r>
          </a:p>
          <a:p xmlns:a="http://schemas.openxmlformats.org/drawingml/2006/main">
            <a:r>
              <a:t>같은 실패가 반복될 때 Prompt 밖의 어떤 System layer가 원인인지 떠올린다.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**C++ Vision Bridge:**</a:t>
            </a:r>
          </a:p>
          <a:p xmlns:a="http://schemas.openxmlformats.org/drawingml/2006/main">
            <a:r>
              <a:t>자신의 Vision 또는 개발 Repository에 같은 질문을 개인적으로 적용할 수 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**Demo Operation:**</a:t>
            </a:r>
          </a:p>
          <a:p xmlns:a="http://schemas.openxmlformats.org/drawingml/2006/main">
            <a:r>
              <a:t>N/A — 별도 Demo 없음.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**Audience Interaction:**</a:t>
            </a:r>
          </a:p>
          <a:p xmlns:a="http://schemas.openxmlformats.org/drawingml/2006/main">
            <a:r>
              <a:t>공유하지 않는 개인 성찰로 진행한다. 응답을 받기 위해 기다리지 않는다. 2분 뒤 바로 S80으로 이동한다.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**Transition:**</a:t>
            </a:r>
          </a:p>
          <a:p xmlns:a="http://schemas.openxmlformats.org/drawingml/2006/main">
            <a:r>
              <a:t>“이제 질문을 받고, 마지막 공통 모델로 마무리하겠습니다.” S80으로 넘긴다.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**Time Management:**</a:t>
            </a:r>
          </a:p>
          <a:p xmlns:a="http://schemas.openxmlformats.org/drawingml/2006/main">
            <a:r>
              <a:t>Lecture 2분 + Reflection 2분 = 4분. Reflection은 2분에 종료하고 Q&amp;A와 섞지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**Fallback:**</a:t>
            </a:r>
          </a:p>
          <a:p xmlns:a="http://schemas.openxmlformats.org/drawingml/2006/main">
            <a:r>
              <a:t>LOCAL STATIC ARTIFACT — production/ACT_5.pptx의 S79와 production/preview/act5/S79.png를 사용한다. 원본 실행 캡처 또는 새로운 Trial 결과로 표현하지 않는다. 로컬 렌더링 검토 결과는 통합 평가 문서에 기록한다.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**Validation Status:**</a:t>
            </a:r>
          </a:p>
          <a:p xmlns:a="http://schemas.openxmlformats.org/drawingml/2006/main">
            <a:r>
              <a:t>REVIEWED — 원문·Claim 경계, 화면의 설명 순서와 운영 지침을 대조했다. 최종 PPT/Notes/PNG 대조 결과는 production/evaluation/FULL_DECK_PRESENTATION_REVISION.md에 기록한다. Windows PowerPoint, 발표 PC 글꼴, 교육장 투사, 실제 시간 리허설은 UNVERIFIED.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## S80 — Q&amp;A와 교육 마무리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**Slide ID:**</a:t>
            </a:r>
          </a:p>
          <a:p xmlns:a="http://schemas.openxmlformats.org/drawingml/2006/main">
            <a:r>
              <a:t>S80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**Working Title:**</a:t>
            </a:r>
          </a:p>
          <a:p xmlns:a="http://schemas.openxmlformats.org/drawingml/2006/main">
            <a:r>
              <a:t>Q&amp;A와 교육 마무리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**ACT / Section:**</a:t>
            </a:r>
          </a:p>
          <a:p xmlns:a="http://schemas.openxmlformats.org/drawingml/2006/main">
            <a:r>
              <a:t>ACT 5 / 5B  FINAL Q&amp;A / CLOSING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**Allocated Time:**</a:t>
            </a:r>
          </a:p>
          <a:p xmlns:a="http://schemas.openxmlformats.org/drawingml/2006/main">
            <a:r>
              <a:t>6 minutes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**Mode Split:**</a:t>
            </a:r>
          </a:p>
          <a:p xmlns:a="http://schemas.openxmlformats.org/drawingml/2006/main">
            <a:r>
              <a:t>Q&amp;A 4분 + Closing Transition 2분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**Primary Message:**</a:t>
            </a:r>
          </a:p>
          <a:p xmlns:a="http://schemas.openxmlformats.org/drawingml/2006/main">
            <a:r>
              <a:t>Goal, Judgment, Verification, Responsibility를 유지하면서 AI가 일할 환경과 Feedback을 설계한다.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**Opening Question:**</a:t>
            </a:r>
          </a:p>
          <a:p xmlns:a="http://schemas.openxmlformats.org/drawingml/2006/main">
            <a:r>
              <a:t>“남은 질문은 무엇인가?”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**Speaker Flow:**</a:t>
            </a:r>
          </a:p>
          <a:p xmlns:a="http://schemas.openxmlformats.org/drawingml/2006/main">
            <a:r>
              <a:t>1. (0:00–4:00 / Q&amp;A) 상단의 “내 업무에서 무엇부터 바꿀까요?”를 가리키고 질문을 받는다. 질문이 없으면 “반복 설명을 줄이려면 Task와 Project Context 중 무엇을 살필까요?” 또는 “결과 확인 기준을 먼저 정한다면 어떤 업무부터 볼까요?”를 사용해 앞의 교육 모델 안에서 짧게 정리한다.</a:t>
            </a:r>
          </a:p>
          <a:p xmlns:a="http://schemas.openxmlformats.org/drawingml/2006/main">
            <a:r>
              <a:t>2. (4:00–6:00 / Closing Transition) 질문을 마감하고 중앙의 “AI가 잘 일할 환경을 설계한다”로 마무리한다. 하단 Question→Task→Context→System→Feedback Loop를 짧게 회수한다.</a:t>
            </a:r>
          </a:p>
          <a:p xmlns:a="http://schemas.openxmlformats.org/drawingml/2006/main">
            <a:r>
              <a:t>3. 종료 cue: “목표·판단·검증·책임을 유지하면서, AI가 잘 일할 환경을 설계합시다.”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**Evidence / Source:**</a:t>
            </a:r>
          </a:p>
          <a:p xmlns:a="http://schemas.openxmlformats.org/drawingml/2006/main">
            <a:r>
              <a:t>TEACHING_MODEL · BEAT-070–071. 새로운 Product claim이나 기술 개념은 추가하지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**Claim Boundary:**</a:t>
            </a:r>
          </a:p>
          <a:p xmlns:a="http://schemas.openxmlformats.org/drawingml/2006/main">
            <a:r>
              <a:t>AI-Native Development의 course-specific framing으로 닫는다. 제품 기능, 자동화 수준 또는 모든 상황의 단일 처방을 주장하지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**Beginner Explanation:**</a:t>
            </a:r>
          </a:p>
          <a:p xmlns:a="http://schemas.openxmlformats.org/drawingml/2006/main">
            <a:r>
              <a:t>AI 사용량 대신 내 일에 필요한 환경과 확인 기준을 기억한다.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**Advanced Insight:**</a:t>
            </a:r>
          </a:p>
          <a:p xmlns:a="http://schemas.openxmlformats.org/drawingml/2006/main">
            <a:r>
              <a:t>Goal, Judgment, Verification, Responsibility를 유지하며 System의 Feedback 경로를 설계한다.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**C++ Vision Bridge:**</a:t>
            </a:r>
          </a:p>
          <a:p xmlns:a="http://schemas.openxmlformats.org/drawingml/2006/main">
            <a:r>
              <a:t>N/A.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**Demo Operation:**</a:t>
            </a:r>
          </a:p>
          <a:p xmlns:a="http://schemas.openxmlformats.org/drawingml/2006/main">
            <a:r>
              <a:t>추가 실행 없음. Q&amp;A 운영 지시와 시간표는 Notes에만 두고 화면에는 질문과 마지막 한 문장을 남긴다.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**Audience Interaction:**</a:t>
            </a:r>
          </a:p>
          <a:p xmlns:a="http://schemas.openxmlformats.org/drawingml/2006/main">
            <a:r>
              <a:t>Q&amp;A 4분. 질문이 없으면 FAQ 또는 개발 업무 적용 질문 하나를 사용하며 새로운 강의 topic을 열지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**Transition:**</a:t>
            </a:r>
          </a:p>
          <a:p xmlns:a="http://schemas.openxmlformats.org/drawingml/2006/main">
            <a:r>
              <a:t>2분 closing transition: Question → Task → Context → System → Feedback Loop를 회수하고 교육을 마친다.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**Time Management:**</a:t>
            </a:r>
          </a:p>
          <a:p xmlns:a="http://schemas.openxmlformats.org/drawingml/2006/main">
            <a:r>
              <a:t>Q&amp;A 4분 + Closing Transition 2분 = 6분. Q&amp;A는 4분에 마감하고 추가 질문을 이유로 시간을 늘리지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**Fallback:**</a:t>
            </a:r>
          </a:p>
          <a:p xmlns:a="http://schemas.openxmlformats.org/drawingml/2006/main">
            <a:r>
              <a:t>LOCAL STATIC ARTIFACT — production/ACT_5.pptx의 S80와 production/preview/act5/S80.png를 사용한다. 원본 실행 캡처 또는 새로운 Trial 결과로 표현하지 않는다. 로컬 렌더링 검토 결과는 통합 평가 문서에 기록한다.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**Validation Status:**</a:t>
            </a:r>
          </a:p>
          <a:p xmlns:a="http://schemas.openxmlformats.org/drawingml/2006/main">
            <a:r>
              <a:t>REVIEWED — 원문·Claim 경계, 화면의 설명 순서와 운영 지침을 대조했다. 최종 PPT/Notes/PNG 대조 결과는 production/evaluation/FULL_DECK_PRESENTATION_REVISION.md에 기록한다. Windows PowerPoint, 발표 PC 글꼴, 교육장 투사, 실제 시간 리허설은 UNVERIFIED.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4cfd072b21f4d67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089ad7a59934ecd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6260c751d364cb4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f938e92a07a4f26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148eac5bca2415a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688edcc55d04f59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39837B45-E663-481F-A834-51B40F686984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590800"/>
            <a:ext cx="97536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Subtitle">
            <a:extLst xmlns:a="http://schemas.openxmlformats.org/drawingml/2006/main">
              <a:ext uri="{FF2B5EF4-FFF2-40B4-BE49-F238E27FC236}">
                <a16:creationId xmlns:a16="http://schemas.microsoft.com/office/drawing/2014/main" id="{F0CB4CEE-98E1-474F-97C1-35124EB981CF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828800" y="3771900"/>
            <a:ext cx="8534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2.xml><?xml version="1.0" encoding="utf-8"?>
<p:sldLayout xmlns:p="http://schemas.openxmlformats.org/presentationml/2006/main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ection title">
            <a:extLst xmlns:a="http://schemas.openxmlformats.org/drawingml/2006/main">
              <a:ext uri="{FF2B5EF4-FFF2-40B4-BE49-F238E27FC236}">
                <a16:creationId xmlns:a16="http://schemas.microsoft.com/office/drawing/2014/main" id="{5677E5CE-D035-4C91-BBC9-2EC53ABA281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857500"/>
            <a:ext cx="97536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3.xml><?xml version="1.0" encoding="utf-8"?>
<p:sldLayout xmlns:p="http://schemas.openxmlformats.org/presentationml/2006/main">
  <p:cSld name="Title and Bod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B0B8CE79-6EB7-4A33-B15A-1E5B53A2369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1E344702-9B2B-4E03-A315-E94E54AD94FC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108204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4.xml><?xml version="1.0" encoding="utf-8"?>
<p:sldLayout xmlns:p="http://schemas.openxmlformats.org/presentationml/2006/main">
  <p:cSld name="Title and Two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EB0799DE-187A-4E95-A279-73B2412DFB2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D286DA50-4805-4132-BCEC-8AC05E70047A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  <p:sp>
        <p:nvSpPr>
          <p:cNvPr id="3" name="Right column">
            <a:extLst xmlns:a="http://schemas.openxmlformats.org/drawingml/2006/main">
              <a:ext uri="{FF2B5EF4-FFF2-40B4-BE49-F238E27FC236}">
                <a16:creationId xmlns:a16="http://schemas.microsoft.com/office/drawing/2014/main" id="{F45E9038-263D-442A-972D-33527AC6F87D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4770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5.xml><?xml version="1.0" encoding="utf-8"?>
<p:sldLayout xmlns:p="http://schemas.openxmlformats.org/presentationml/2006/main">
  <p:cSld name="Title and One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058F2F35-FA93-4A23-A289-DE17C6D531B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07F2F931-2E8F-4B60-AD10-E60C3C17BC6A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6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828e8c1451d84221" /><Relationship Type="http://schemas.openxmlformats.org/officeDocument/2006/relationships/slideLayout" Target="/ppt/slideLayouts/slideLayout1.xml" Id="R6327e0bc31a34243" /><Relationship Type="http://schemas.openxmlformats.org/officeDocument/2006/relationships/slideLayout" Target="/ppt/slideLayouts/slideLayout2.xml" Id="Rbe3bcd04c7034296" /><Relationship Type="http://schemas.openxmlformats.org/officeDocument/2006/relationships/slideLayout" Target="/ppt/slideLayouts/slideLayout3.xml" Id="R0960889eacec410d" /><Relationship Type="http://schemas.openxmlformats.org/officeDocument/2006/relationships/slideLayout" Target="/ppt/slideLayouts/slideLayout4.xml" Id="R79a4058057b24f6b" /><Relationship Type="http://schemas.openxmlformats.org/officeDocument/2006/relationships/slideLayout" Target="/ppt/slideLayouts/slideLayout5.xml" Id="R8b77e9d2d7f84de9" /><Relationship Type="http://schemas.openxmlformats.org/officeDocument/2006/relationships/slideLayout" Target="/ppt/slideLayouts/slideLayout6.xml" Id="R1a9cdcb3f093445b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6327e0bc31a34243"/>
    <p:sldLayoutId xmlns:r="http://schemas.openxmlformats.org/officeDocument/2006/relationships" id="2147483650" r:id="Rbe3bcd04c7034296"/>
    <p:sldLayoutId xmlns:r="http://schemas.openxmlformats.org/officeDocument/2006/relationships" id="2147483651" r:id="R0960889eacec410d"/>
    <p:sldLayoutId xmlns:r="http://schemas.openxmlformats.org/officeDocument/2006/relationships" id="2147483652" r:id="R79a4058057b24f6b"/>
    <p:sldLayoutId xmlns:r="http://schemas.openxmlformats.org/officeDocument/2006/relationships" id="2147483653" r:id="R8b77e9d2d7f84de9"/>
    <p:sldLayoutId xmlns:r="http://schemas.openxmlformats.org/officeDocument/2006/relationships" id="2147483654" r:id="R1a9cdcb3f093445b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Malgun Gothic"/>
        <a:ea typeface=""/>
        <a:cs typeface=""/>
      </a:majorFont>
      <a:minorFont>
        <a:latin typeface="Malgun Gothic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ae1a3ef020b845d2" /><Relationship Type="http://schemas.openxmlformats.org/officeDocument/2006/relationships/notesSlide" Target="/ppt/notesSlides/notesSlide1.xml" Id="R9e9dc3de15ac4bbb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7d1cad39b4094d22" /><Relationship Type="http://schemas.openxmlformats.org/officeDocument/2006/relationships/image" Target="/ppt/media/image.png" Id="R86850e788c5d4dc9" /><Relationship Type="http://schemas.openxmlformats.org/officeDocument/2006/relationships/image" Target="/ppt/media/image2.png" Id="R90ca400899e54db7" /><Relationship Type="http://schemas.openxmlformats.org/officeDocument/2006/relationships/image" Target="/ppt/media/image3.png" Id="R0ab28e15fdee42c4" /><Relationship Type="http://schemas.openxmlformats.org/officeDocument/2006/relationships/notesSlide" Target="/ppt/notesSlides/notesSlide2.xml" Id="Rb90bbb08406e4828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4ad95eb737ba415b" /><Relationship Type="http://schemas.openxmlformats.org/officeDocument/2006/relationships/notesSlide" Target="/ppt/notesSlides/notesSlide3.xml" Id="R3bff64c5dacc45d9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5b7a1543cf7d4518" /><Relationship Type="http://schemas.openxmlformats.org/officeDocument/2006/relationships/notesSlide" Target="/ppt/notesSlides/notesSlide4.xml" Id="R1ac5a25aa7ae436a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3227fefb4e534eac" /><Relationship Type="http://schemas.openxmlformats.org/officeDocument/2006/relationships/notesSlide" Target="/ppt/notesSlides/notesSlide5.xml" Id="R579b9546879d432c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34941a71a12c4e87" /><Relationship Type="http://schemas.openxmlformats.org/officeDocument/2006/relationships/notesSlide" Target="/ppt/notesSlides/notesSlide6.xml" Id="R4581c2140d42436b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c139e1d9de7e42c2" /><Relationship Type="http://schemas.openxmlformats.org/officeDocument/2006/relationships/notesSlide" Target="/ppt/notesSlides/notesSlide7.xml" Id="R4fda76a9c4e74482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5f180aa1c9b54738" /><Relationship Type="http://schemas.openxmlformats.org/officeDocument/2006/relationships/notesSlide" Target="/ppt/notesSlides/notesSlide8.xml" Id="R5ae5521f4488459a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4F6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ACT 5 · 전체 여정 회수">
            <a:extLst xmlns:a="http://schemas.openxmlformats.org/drawingml/2006/main">
              <a:ext uri="{FF2B5EF4-FFF2-40B4-BE49-F238E27FC236}">
                <a16:creationId xmlns:a16="http://schemas.microsoft.com/office/drawing/2014/main" id="{78F445EE-31D2-4797-847F-65D53CA5CC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9810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ACT 5 · 전체 여정 회수</a:t>
            </a:r>
          </a:p>
        </p:txBody>
      </p:sp>
      <p:sp>
        <p:nvSpPr>
          <p:cNvPr id="2" name="S73">
            <a:extLst xmlns:a="http://schemas.openxmlformats.org/drawingml/2006/main">
              <a:ext uri="{FF2B5EF4-FFF2-40B4-BE49-F238E27FC236}">
                <a16:creationId xmlns:a16="http://schemas.microsoft.com/office/drawing/2014/main" id="{FE8E82CD-6998-4EDD-9E44-95631C5426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457200"/>
            <a:ext cx="914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S73</a:t>
            </a:r>
          </a:p>
        </p:txBody>
      </p:sp>
      <p:sp>
        <p:nvSpPr>
          <p:cNvPr id="3" name="여섯 시간의 Story를 한 장으로">
            <a:extLst xmlns:a="http://schemas.openxmlformats.org/drawingml/2006/main">
              <a:ext uri="{FF2B5EF4-FFF2-40B4-BE49-F238E27FC236}">
                <a16:creationId xmlns:a16="http://schemas.microsoft.com/office/drawing/2014/main" id="{38B2BD01-9795-4B05-BEEE-005F593345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여섯 시간의 Story를 한 장으로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8E3C864-05E7-4CF9-86A3-D45F050A24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293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5" name="BEAT-060 · 이 교육의 문제 중심 진화 모델">
            <a:extLst xmlns:a="http://schemas.openxmlformats.org/drawingml/2006/main">
              <a:ext uri="{FF2B5EF4-FFF2-40B4-BE49-F238E27FC236}">
                <a16:creationId xmlns:a16="http://schemas.microsoft.com/office/drawing/2014/main" id="{F38ACB50-C2A5-4062-87F1-5298F33C6F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15025"/>
            <a:ext cx="109728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BEAT-060 · 이 교육의 문제 중심 진화 모델</a:t>
            </a:r>
          </a:p>
        </p:txBody>
      </p:sp>
      <p:sp>
        <p:nvSpPr>
          <p:cNvPr id="6" name="앞의 방식을 버리거나, 모든 프로젝트가 같은 순서로 발전해야 한다는 뜻은 아니다.">
            <a:extLst xmlns:a="http://schemas.openxmlformats.org/drawingml/2006/main">
              <a:ext uri="{FF2B5EF4-FFF2-40B4-BE49-F238E27FC236}">
                <a16:creationId xmlns:a16="http://schemas.microsoft.com/office/drawing/2014/main" id="{3A868131-517E-4465-AD8D-9AD72F83CA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91250"/>
            <a:ext cx="10972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앞의 방식을 버리거나, 모든 프로젝트가 같은 순서로 발전해야 한다는 뜻은 아니다.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2A35773-BBC6-4140-844C-3166D351B8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955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8" name="Chatbot">
            <a:extLst xmlns:a="http://schemas.openxmlformats.org/drawingml/2006/main">
              <a:ext uri="{FF2B5EF4-FFF2-40B4-BE49-F238E27FC236}">
                <a16:creationId xmlns:a16="http://schemas.microsoft.com/office/drawing/2014/main" id="{F61A06E0-3B6C-4BB2-B5A0-B365B58055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190750"/>
            <a:ext cx="2476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Chatbot</a:t>
            </a:r>
          </a:p>
        </p:txBody>
      </p:sp>
      <p:sp>
        <p:nvSpPr>
          <p:cNvPr id="9" name="답을 구한다">
            <a:extLst xmlns:a="http://schemas.openxmlformats.org/drawingml/2006/main">
              <a:ext uri="{FF2B5EF4-FFF2-40B4-BE49-F238E27FC236}">
                <a16:creationId xmlns:a16="http://schemas.microsoft.com/office/drawing/2014/main" id="{F1C95BBE-D38F-41DB-91E4-3BE90D0BF6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0" y="2190750"/>
            <a:ext cx="79629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2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2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2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2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2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2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2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2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2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2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2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2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답을 구한다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4DBEDEB-C29B-44A1-80E3-D9FFF5959E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714625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11" name="Prompt">
            <a:extLst xmlns:a="http://schemas.openxmlformats.org/drawingml/2006/main">
              <a:ext uri="{FF2B5EF4-FFF2-40B4-BE49-F238E27FC236}">
                <a16:creationId xmlns:a16="http://schemas.microsoft.com/office/drawing/2014/main" id="{79A905D6-4908-4A2F-B4E6-1B7357332C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09875"/>
            <a:ext cx="2476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Prompt</a:t>
            </a:r>
          </a:p>
        </p:txBody>
      </p:sp>
      <p:sp>
        <p:nvSpPr>
          <p:cNvPr id="12" name="이번 작업을 구체화한다">
            <a:extLst xmlns:a="http://schemas.openxmlformats.org/drawingml/2006/main">
              <a:ext uri="{FF2B5EF4-FFF2-40B4-BE49-F238E27FC236}">
                <a16:creationId xmlns:a16="http://schemas.microsoft.com/office/drawing/2014/main" id="{00E7784B-C298-407C-A1A4-EB34A973ED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0" y="2809875"/>
            <a:ext cx="79629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2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2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2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2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2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2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2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2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2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2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2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2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이번 작업을 구체화한다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D8A8DEE-FFCA-4258-AFAC-32CE76ED15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337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14" name="Context">
            <a:extLst xmlns:a="http://schemas.openxmlformats.org/drawingml/2006/main">
              <a:ext uri="{FF2B5EF4-FFF2-40B4-BE49-F238E27FC236}">
                <a16:creationId xmlns:a16="http://schemas.microsoft.com/office/drawing/2014/main" id="{5126764C-AAB0-4989-B4D9-D3CA53E9B2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29000"/>
            <a:ext cx="2476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Context</a:t>
            </a:r>
          </a:p>
        </p:txBody>
      </p:sp>
      <p:sp>
        <p:nvSpPr>
          <p:cNvPr id="15" name="프로젝트 지식을 제공한다">
            <a:extLst xmlns:a="http://schemas.openxmlformats.org/drawingml/2006/main">
              <a:ext uri="{FF2B5EF4-FFF2-40B4-BE49-F238E27FC236}">
                <a16:creationId xmlns:a16="http://schemas.microsoft.com/office/drawing/2014/main" id="{D33AE3C0-CBFE-46F4-BF23-C6308DE80A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0" y="3429000"/>
            <a:ext cx="79629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2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2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2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2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2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2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2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2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2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2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2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2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프로젝트 지식을 제공한다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909D2BA-5733-4431-BB06-2C0F26BC27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952875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17" name="Harness">
            <a:extLst xmlns:a="http://schemas.openxmlformats.org/drawingml/2006/main">
              <a:ext uri="{FF2B5EF4-FFF2-40B4-BE49-F238E27FC236}">
                <a16:creationId xmlns:a16="http://schemas.microsoft.com/office/drawing/2014/main" id="{43A68797-CA99-4347-81CE-E44DF74D1D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48125"/>
            <a:ext cx="2476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Harness</a:t>
            </a:r>
          </a:p>
        </p:txBody>
      </p:sp>
      <p:sp>
        <p:nvSpPr>
          <p:cNvPr id="18" name="일하는 환경을 설계한다">
            <a:extLst xmlns:a="http://schemas.openxmlformats.org/drawingml/2006/main">
              <a:ext uri="{FF2B5EF4-FFF2-40B4-BE49-F238E27FC236}">
                <a16:creationId xmlns:a16="http://schemas.microsoft.com/office/drawing/2014/main" id="{5E89F7A1-BD40-4653-BC92-873A11449D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0" y="4048125"/>
            <a:ext cx="79629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2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2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2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2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2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2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2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2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2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2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2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2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일하는 환경을 설계한다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3C6955D-5223-44E9-9BE5-0646EA645B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20" name="Loop">
            <a:extLst xmlns:a="http://schemas.openxmlformats.org/drawingml/2006/main">
              <a:ext uri="{FF2B5EF4-FFF2-40B4-BE49-F238E27FC236}">
                <a16:creationId xmlns:a16="http://schemas.microsoft.com/office/drawing/2014/main" id="{607CFFE1-57ED-4F77-ACEB-9473D82230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667250"/>
            <a:ext cx="2476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Loop</a:t>
            </a:r>
          </a:p>
        </p:txBody>
      </p:sp>
      <p:sp>
        <p:nvSpPr>
          <p:cNvPr id="21" name="피드백으로 시스템을 고친다">
            <a:extLst xmlns:a="http://schemas.openxmlformats.org/drawingml/2006/main">
              <a:ext uri="{FF2B5EF4-FFF2-40B4-BE49-F238E27FC236}">
                <a16:creationId xmlns:a16="http://schemas.microsoft.com/office/drawing/2014/main" id="{9F9354EC-8031-4C9C-B931-10E0A5DE6A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0" y="4667250"/>
            <a:ext cx="79629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2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2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2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2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2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2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2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2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2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2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2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2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피드백으로 시스템을 고친다</a:t>
            </a:r>
          </a:p>
        </p:txBody>
      </p:sp>
      <p:sp>
        <p:nvSpPr>
          <p:cNvPr id="22" name="문제가 넓어질수록, 필요한 대응이 더해졌다.">
            <a:extLst xmlns:a="http://schemas.openxmlformats.org/drawingml/2006/main">
              <a:ext uri="{FF2B5EF4-FFF2-40B4-BE49-F238E27FC236}">
                <a16:creationId xmlns:a16="http://schemas.microsoft.com/office/drawing/2014/main" id="{008EAF0C-8977-4292-82CB-E18A1FA800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391150"/>
            <a:ext cx="109728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문제가 넓어질수록, 필요한 대응이 더해졌다.</a:t>
            </a:r>
          </a:p>
        </p:txBody>
      </p:sp>
    </p:spTree>
    <p:extLst>
      <p:ext uri="{BB962C8B-B14F-4D97-AF65-F5344CB8AC3E}">
        <p14:creationId xmlns:p14="http://schemas.microsoft.com/office/powerpoint/2010/main" val="1470220950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4F6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0" name="ACT 5 · 확인된 제품 변화">
            <a:extLst xmlns:a="http://schemas.openxmlformats.org/drawingml/2006/main">
              <a:ext uri="{FF2B5EF4-FFF2-40B4-BE49-F238E27FC236}">
                <a16:creationId xmlns:a16="http://schemas.microsoft.com/office/drawing/2014/main" id="{AEFF4AC1-3DDB-44D5-A44E-2848249DF2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9810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ACT 5 · 확인된 제품 변화</a:t>
            </a:r>
          </a:p>
        </p:txBody>
      </p:sp>
      <p:sp>
        <p:nvSpPr>
          <p:cNvPr id="2" name="S74">
            <a:extLst xmlns:a="http://schemas.openxmlformats.org/drawingml/2006/main">
              <a:ext uri="{FF2B5EF4-FFF2-40B4-BE49-F238E27FC236}">
                <a16:creationId xmlns:a16="http://schemas.microsoft.com/office/drawing/2014/main" id="{C0C8FCF9-8358-4FA2-9C3F-F17E532AFE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457200"/>
            <a:ext cx="914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S74</a:t>
            </a:r>
          </a:p>
        </p:txBody>
      </p:sp>
      <p:sp>
        <p:nvSpPr>
          <p:cNvPr id="3" name="하나의 Repository가 문제에 대응해 진화했다">
            <a:extLst xmlns:a="http://schemas.openxmlformats.org/drawingml/2006/main">
              <a:ext uri="{FF2B5EF4-FFF2-40B4-BE49-F238E27FC236}">
                <a16:creationId xmlns:a16="http://schemas.microsoft.com/office/drawing/2014/main" id="{53187228-C97B-4575-A865-44CDD10976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하나의 Repository가 문제에 대응해 진화했다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EFA480D-7146-4753-B790-57985BE830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293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5" name="DEMO-12 · 실제 Git State 이력 · S16 / S32 / S45 발표자료 발췌">
            <a:extLst xmlns:a="http://schemas.openxmlformats.org/drawingml/2006/main">
              <a:ext uri="{FF2B5EF4-FFF2-40B4-BE49-F238E27FC236}">
                <a16:creationId xmlns:a16="http://schemas.microsoft.com/office/drawing/2014/main" id="{216A5579-FE59-4205-BCB0-F4CC1B653A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15025"/>
            <a:ext cx="109728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DEMO-12 · 실제 Git State 이력 · S16 / S32 / S45 발표자료 발췌</a:t>
            </a:r>
          </a:p>
        </p:txBody>
      </p:sp>
      <p:sp>
        <p:nvSpPr>
          <p:cNvPr id="6" name="원본 실행 화면 아님 · 성능은 해당 코드·입력·환경 범위 · State는 성숙도 등급이나 Product L">
            <a:extLst xmlns:a="http://schemas.openxmlformats.org/drawingml/2006/main">
              <a:ext uri="{FF2B5EF4-FFF2-40B4-BE49-F238E27FC236}">
                <a16:creationId xmlns:a16="http://schemas.microsoft.com/office/drawing/2014/main" id="{3483A10B-7D5C-4058-85C1-217BC343B7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91250"/>
            <a:ext cx="10972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원본 실행 화면 아님 · 성능은 해당 코드·입력·환경 범위 · State는 성숙도 등급이나 Product Loop가 아님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AF0229E-3D6E-4013-B78B-996DF04E96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71625"/>
            <a:ext cx="2514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B6172"/>
            </a:solidFill>
            <a:prstDash val="solid"/>
          </a:ln>
        </p:spPr>
      </p:sp>
      <p:sp>
        <p:nvSpPr>
          <p:cNvPr id="8" name="STATE-00">
            <a:extLst xmlns:a="http://schemas.openxmlformats.org/drawingml/2006/main">
              <a:ext uri="{FF2B5EF4-FFF2-40B4-BE49-F238E27FC236}">
                <a16:creationId xmlns:a16="http://schemas.microsoft.com/office/drawing/2014/main" id="{E60BBB08-4683-4EC6-869B-0BF27EB120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66875"/>
            <a:ext cx="25146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650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defPPr>
            <a:lvl1pPr algn="l">
              <a:defRPr sz="1650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1pPr>
            <a:lvl2pPr algn="l">
              <a:defRPr sz="1650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2pPr>
            <a:lvl3pPr algn="l">
              <a:defRPr sz="1650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3pPr>
            <a:lvl4pPr algn="l">
              <a:defRPr sz="1650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4pPr>
            <a:lvl5pPr algn="l">
              <a:defRPr sz="1650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5pPr>
            <a:lvl6pPr algn="l">
              <a:defRPr sz="1650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6pPr>
            <a:lvl7pPr algn="l">
              <a:defRPr sz="1650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7pPr>
            <a:lvl8pPr algn="l">
              <a:defRPr sz="1650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8pPr>
            <a:lvl9pPr algn="l">
              <a:defRPr sz="1650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defRPr sz="1650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pPr>
            <a:r>
              <a:rPr sz="1650" b="1">
                <a:solidFill>
                  <a:srgbClr val="0B6172"/>
                </a:solidFill>
                <a:latin typeface="Consolas"/>
                <a:ea typeface="Consolas"/>
                <a:cs typeface="Consolas"/>
              </a:rPr>
              <a:t>STATE-00</a:t>
            </a:r>
          </a:p>
        </p:txBody>
      </p:sp>
      <p:sp>
        <p:nvSpPr>
          <p:cNvPr id="9" name="crop 경계 문제">
            <a:extLst xmlns:a="http://schemas.openxmlformats.org/drawingml/2006/main">
              <a:ext uri="{FF2B5EF4-FFF2-40B4-BE49-F238E27FC236}">
                <a16:creationId xmlns:a16="http://schemas.microsoft.com/office/drawing/2014/main" id="{1C5FC2D0-D9F5-49ED-BB67-57622DA8FA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19300"/>
            <a:ext cx="25146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crop 경계 문제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D90FF4E-FC5D-4EC5-9207-D9478958CC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9950" y="1571625"/>
            <a:ext cx="2514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B6172"/>
            </a:solidFill>
            <a:prstDash val="solid"/>
          </a:ln>
        </p:spPr>
      </p:sp>
      <p:sp>
        <p:nvSpPr>
          <p:cNvPr id="11" name="STATE-00-FIXED">
            <a:extLst xmlns:a="http://schemas.openxmlformats.org/drawingml/2006/main">
              <a:ext uri="{FF2B5EF4-FFF2-40B4-BE49-F238E27FC236}">
                <a16:creationId xmlns:a16="http://schemas.microsoft.com/office/drawing/2014/main" id="{1F5A6CC3-6C3B-414A-93F0-1658E0851B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9950" y="1666875"/>
            <a:ext cx="25146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650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defPPr>
            <a:lvl1pPr algn="l">
              <a:defRPr sz="1650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1pPr>
            <a:lvl2pPr algn="l">
              <a:defRPr sz="1650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2pPr>
            <a:lvl3pPr algn="l">
              <a:defRPr sz="1650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3pPr>
            <a:lvl4pPr algn="l">
              <a:defRPr sz="1650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4pPr>
            <a:lvl5pPr algn="l">
              <a:defRPr sz="1650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5pPr>
            <a:lvl6pPr algn="l">
              <a:defRPr sz="1650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6pPr>
            <a:lvl7pPr algn="l">
              <a:defRPr sz="1650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7pPr>
            <a:lvl8pPr algn="l">
              <a:defRPr sz="1650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8pPr>
            <a:lvl9pPr algn="l">
              <a:defRPr sz="1650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defRPr sz="1650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pPr>
            <a:r>
              <a:rPr sz="1650" b="1">
                <a:solidFill>
                  <a:srgbClr val="0B6172"/>
                </a:solidFill>
                <a:latin typeface="Consolas"/>
                <a:ea typeface="Consolas"/>
                <a:cs typeface="Consolas"/>
              </a:rPr>
              <a:t>STATE-00-FIXED</a:t>
            </a:r>
          </a:p>
        </p:txBody>
      </p:sp>
      <p:sp>
        <p:nvSpPr>
          <p:cNvPr id="12" name="계약에 맞게 수정">
            <a:extLst xmlns:a="http://schemas.openxmlformats.org/drawingml/2006/main">
              <a:ext uri="{FF2B5EF4-FFF2-40B4-BE49-F238E27FC236}">
                <a16:creationId xmlns:a16="http://schemas.microsoft.com/office/drawing/2014/main" id="{B5F800FD-780A-4102-A5DD-78133A9279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9950" y="2019300"/>
            <a:ext cx="25146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계약에 맞게 수정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449D71A-665E-402A-857D-E4E9CFEEF8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1571625"/>
            <a:ext cx="2514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B6172"/>
            </a:solidFill>
            <a:prstDash val="solid"/>
          </a:ln>
        </p:spPr>
      </p:sp>
      <p:sp>
        <p:nvSpPr>
          <p:cNvPr id="14" name="STATE-01">
            <a:extLst xmlns:a="http://schemas.openxmlformats.org/drawingml/2006/main">
              <a:ext uri="{FF2B5EF4-FFF2-40B4-BE49-F238E27FC236}">
                <a16:creationId xmlns:a16="http://schemas.microsoft.com/office/drawing/2014/main" id="{5DF6EE7A-6B53-4B4D-B8CB-F3529175CA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1666875"/>
            <a:ext cx="25146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650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defPPr>
            <a:lvl1pPr algn="l">
              <a:defRPr sz="1650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1pPr>
            <a:lvl2pPr algn="l">
              <a:defRPr sz="1650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2pPr>
            <a:lvl3pPr algn="l">
              <a:defRPr sz="1650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3pPr>
            <a:lvl4pPr algn="l">
              <a:defRPr sz="1650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4pPr>
            <a:lvl5pPr algn="l">
              <a:defRPr sz="1650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5pPr>
            <a:lvl6pPr algn="l">
              <a:defRPr sz="1650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6pPr>
            <a:lvl7pPr algn="l">
              <a:defRPr sz="1650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7pPr>
            <a:lvl8pPr algn="l">
              <a:defRPr sz="1650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8pPr>
            <a:lvl9pPr algn="l">
              <a:defRPr sz="1650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defRPr sz="1650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pPr>
            <a:r>
              <a:rPr sz="1650" b="1">
                <a:solidFill>
                  <a:srgbClr val="0B6172"/>
                </a:solidFill>
                <a:latin typeface="Consolas"/>
                <a:ea typeface="Consolas"/>
                <a:cs typeface="Consolas"/>
              </a:rPr>
              <a:t>STATE-01</a:t>
            </a:r>
          </a:p>
        </p:txBody>
      </p:sp>
      <p:sp>
        <p:nvSpPr>
          <p:cNvPr id="15" name="프로젝트 지침">
            <a:extLst xmlns:a="http://schemas.openxmlformats.org/drawingml/2006/main">
              <a:ext uri="{FF2B5EF4-FFF2-40B4-BE49-F238E27FC236}">
                <a16:creationId xmlns:a16="http://schemas.microsoft.com/office/drawing/2014/main" id="{4A6D85A9-2BE3-453D-8265-F4A03C5B85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2019300"/>
            <a:ext cx="25146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프로젝트 지침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03BC629-F11B-440D-BEF7-C87DA55CAB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0650" y="1571625"/>
            <a:ext cx="2514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B6172"/>
            </a:solidFill>
            <a:prstDash val="solid"/>
          </a:ln>
        </p:spPr>
      </p:sp>
      <p:sp>
        <p:nvSpPr>
          <p:cNvPr id="17" name="STATE-02">
            <a:extLst xmlns:a="http://schemas.openxmlformats.org/drawingml/2006/main">
              <a:ext uri="{FF2B5EF4-FFF2-40B4-BE49-F238E27FC236}">
                <a16:creationId xmlns:a16="http://schemas.microsoft.com/office/drawing/2014/main" id="{5119BA66-42EE-4682-B804-4FFC48A8EB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0650" y="1666875"/>
            <a:ext cx="25146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650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defPPr>
            <a:lvl1pPr algn="l">
              <a:defRPr sz="1650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1pPr>
            <a:lvl2pPr algn="l">
              <a:defRPr sz="1650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2pPr>
            <a:lvl3pPr algn="l">
              <a:defRPr sz="1650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3pPr>
            <a:lvl4pPr algn="l">
              <a:defRPr sz="1650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4pPr>
            <a:lvl5pPr algn="l">
              <a:defRPr sz="1650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5pPr>
            <a:lvl6pPr algn="l">
              <a:defRPr sz="1650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6pPr>
            <a:lvl7pPr algn="l">
              <a:defRPr sz="1650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7pPr>
            <a:lvl8pPr algn="l">
              <a:defRPr sz="1650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8pPr>
            <a:lvl9pPr algn="l">
              <a:defRPr sz="1650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defRPr sz="1650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pPr>
            <a:r>
              <a:rPr sz="1650" b="1">
                <a:solidFill>
                  <a:srgbClr val="0B6172"/>
                </a:solidFill>
                <a:latin typeface="Consolas"/>
                <a:ea typeface="Consolas"/>
                <a:cs typeface="Consolas"/>
              </a:rPr>
              <a:t>STATE-02</a:t>
            </a:r>
          </a:p>
        </p:txBody>
      </p:sp>
      <p:sp>
        <p:nvSpPr>
          <p:cNvPr id="18" name="Context 증가">
            <a:extLst xmlns:a="http://schemas.openxmlformats.org/drawingml/2006/main">
              <a:ext uri="{FF2B5EF4-FFF2-40B4-BE49-F238E27FC236}">
                <a16:creationId xmlns:a16="http://schemas.microsoft.com/office/drawing/2014/main" id="{039DD8FF-112C-47B8-BBE9-6CEA13726A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0650" y="2019300"/>
            <a:ext cx="25146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Context 증가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9874045-92DC-4F1D-9E8F-CA3BAEAC30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57450"/>
            <a:ext cx="3505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B6172"/>
            </a:solidFill>
            <a:prstDash val="solid"/>
          </a:ln>
        </p:spPr>
      </p:sp>
      <p:sp>
        <p:nvSpPr>
          <p:cNvPr id="20" name="STATE-03">
            <a:extLst xmlns:a="http://schemas.openxmlformats.org/drawingml/2006/main">
              <a:ext uri="{FF2B5EF4-FFF2-40B4-BE49-F238E27FC236}">
                <a16:creationId xmlns:a16="http://schemas.microsoft.com/office/drawing/2014/main" id="{1CF0CA32-E909-456C-A5A4-864E6BCD9B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52700"/>
            <a:ext cx="35052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650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defPPr>
            <a:lvl1pPr algn="l">
              <a:defRPr sz="1650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1pPr>
            <a:lvl2pPr algn="l">
              <a:defRPr sz="1650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2pPr>
            <a:lvl3pPr algn="l">
              <a:defRPr sz="1650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3pPr>
            <a:lvl4pPr algn="l">
              <a:defRPr sz="1650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4pPr>
            <a:lvl5pPr algn="l">
              <a:defRPr sz="1650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5pPr>
            <a:lvl6pPr algn="l">
              <a:defRPr sz="1650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6pPr>
            <a:lvl7pPr algn="l">
              <a:defRPr sz="1650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7pPr>
            <a:lvl8pPr algn="l">
              <a:defRPr sz="1650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8pPr>
            <a:lvl9pPr algn="l">
              <a:defRPr sz="1650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defRPr sz="1650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pPr>
            <a:r>
              <a:rPr sz="1650" b="1">
                <a:solidFill>
                  <a:srgbClr val="0B6172"/>
                </a:solidFill>
                <a:latin typeface="Consolas"/>
                <a:ea typeface="Consolas"/>
                <a:cs typeface="Consolas"/>
              </a:rPr>
              <a:t>STATE-03</a:t>
            </a:r>
          </a:p>
        </p:txBody>
      </p:sp>
      <p:sp>
        <p:nvSpPr>
          <p:cNvPr id="21" name="상세 정보로 연결">
            <a:extLst xmlns:a="http://schemas.openxmlformats.org/drawingml/2006/main">
              <a:ext uri="{FF2B5EF4-FFF2-40B4-BE49-F238E27FC236}">
                <a16:creationId xmlns:a16="http://schemas.microsoft.com/office/drawing/2014/main" id="{F7B245EE-6216-4BE1-BF2C-AD58BFF21B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05125"/>
            <a:ext cx="35052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상세 정보로 연결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2773B53-EA1A-4815-BD5C-FCD535087A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2457450"/>
            <a:ext cx="3505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B6172"/>
            </a:solidFill>
            <a:prstDash val="solid"/>
          </a:ln>
        </p:spPr>
      </p:sp>
      <p:sp>
        <p:nvSpPr>
          <p:cNvPr id="23" name="STATE-04">
            <a:extLst xmlns:a="http://schemas.openxmlformats.org/drawingml/2006/main">
              <a:ext uri="{FF2B5EF4-FFF2-40B4-BE49-F238E27FC236}">
                <a16:creationId xmlns:a16="http://schemas.microsoft.com/office/drawing/2014/main" id="{648409CF-A53C-490C-8360-6BB8485955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2552700"/>
            <a:ext cx="35052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650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defPPr>
            <a:lvl1pPr algn="l">
              <a:defRPr sz="1650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1pPr>
            <a:lvl2pPr algn="l">
              <a:defRPr sz="1650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2pPr>
            <a:lvl3pPr algn="l">
              <a:defRPr sz="1650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3pPr>
            <a:lvl4pPr algn="l">
              <a:defRPr sz="1650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4pPr>
            <a:lvl5pPr algn="l">
              <a:defRPr sz="1650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5pPr>
            <a:lvl6pPr algn="l">
              <a:defRPr sz="1650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6pPr>
            <a:lvl7pPr algn="l">
              <a:defRPr sz="1650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7pPr>
            <a:lvl8pPr algn="l">
              <a:defRPr sz="1650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8pPr>
            <a:lvl9pPr algn="l">
              <a:defRPr sz="1650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defRPr sz="1650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pPr>
            <a:r>
              <a:rPr sz="1650" b="1">
                <a:solidFill>
                  <a:srgbClr val="0B6172"/>
                </a:solidFill>
                <a:latin typeface="Consolas"/>
                <a:ea typeface="Consolas"/>
                <a:cs typeface="Consolas"/>
              </a:rPr>
              <a:t>STATE-04</a:t>
            </a:r>
          </a:p>
        </p:txBody>
      </p:sp>
      <p:sp>
        <p:nvSpPr>
          <p:cNvPr id="24" name="재사용 Workflow">
            <a:extLst xmlns:a="http://schemas.openxmlformats.org/drawingml/2006/main">
              <a:ext uri="{FF2B5EF4-FFF2-40B4-BE49-F238E27FC236}">
                <a16:creationId xmlns:a16="http://schemas.microsoft.com/office/drawing/2014/main" id="{B5CC3632-FF76-4307-A809-B74E0C2489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2905125"/>
            <a:ext cx="35052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재사용 Workflow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CF68B687-9BB0-4CD0-8AD8-E40F7F6086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2457450"/>
            <a:ext cx="3505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176B4D"/>
            </a:solidFill>
            <a:prstDash val="solid"/>
          </a:ln>
        </p:spPr>
      </p:sp>
      <p:sp>
        <p:nvSpPr>
          <p:cNvPr id="26" name="STATE-04-PERF">
            <a:extLst xmlns:a="http://schemas.openxmlformats.org/drawingml/2006/main">
              <a:ext uri="{FF2B5EF4-FFF2-40B4-BE49-F238E27FC236}">
                <a16:creationId xmlns:a16="http://schemas.microsoft.com/office/drawing/2014/main" id="{B0A84330-A11C-4DDE-8CAC-1E0FE78320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2552700"/>
            <a:ext cx="35052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650" b="1">
                <a:solidFill>
                  <a:srgbClr val="176B4D"/>
                </a:solidFill>
                <a:latin typeface="Consolas"/>
                <a:ea typeface="Consolas"/>
                <a:cs typeface="Consolas"/>
              </a:defRPr>
            </a:defPPr>
            <a:lvl1pPr algn="l">
              <a:defRPr sz="1650" b="1">
                <a:solidFill>
                  <a:srgbClr val="176B4D"/>
                </a:solidFill>
                <a:latin typeface="Consolas"/>
                <a:ea typeface="Consolas"/>
                <a:cs typeface="Consolas"/>
              </a:defRPr>
            </a:lvl1pPr>
            <a:lvl2pPr algn="l">
              <a:defRPr sz="1650" b="1">
                <a:solidFill>
                  <a:srgbClr val="176B4D"/>
                </a:solidFill>
                <a:latin typeface="Consolas"/>
                <a:ea typeface="Consolas"/>
                <a:cs typeface="Consolas"/>
              </a:defRPr>
            </a:lvl2pPr>
            <a:lvl3pPr algn="l">
              <a:defRPr sz="1650" b="1">
                <a:solidFill>
                  <a:srgbClr val="176B4D"/>
                </a:solidFill>
                <a:latin typeface="Consolas"/>
                <a:ea typeface="Consolas"/>
                <a:cs typeface="Consolas"/>
              </a:defRPr>
            </a:lvl3pPr>
            <a:lvl4pPr algn="l">
              <a:defRPr sz="1650" b="1">
                <a:solidFill>
                  <a:srgbClr val="176B4D"/>
                </a:solidFill>
                <a:latin typeface="Consolas"/>
                <a:ea typeface="Consolas"/>
                <a:cs typeface="Consolas"/>
              </a:defRPr>
            </a:lvl4pPr>
            <a:lvl5pPr algn="l">
              <a:defRPr sz="1650" b="1">
                <a:solidFill>
                  <a:srgbClr val="176B4D"/>
                </a:solidFill>
                <a:latin typeface="Consolas"/>
                <a:ea typeface="Consolas"/>
                <a:cs typeface="Consolas"/>
              </a:defRPr>
            </a:lvl5pPr>
            <a:lvl6pPr algn="l">
              <a:defRPr sz="1650" b="1">
                <a:solidFill>
                  <a:srgbClr val="176B4D"/>
                </a:solidFill>
                <a:latin typeface="Consolas"/>
                <a:ea typeface="Consolas"/>
                <a:cs typeface="Consolas"/>
              </a:defRPr>
            </a:lvl6pPr>
            <a:lvl7pPr algn="l">
              <a:defRPr sz="1650" b="1">
                <a:solidFill>
                  <a:srgbClr val="176B4D"/>
                </a:solidFill>
                <a:latin typeface="Consolas"/>
                <a:ea typeface="Consolas"/>
                <a:cs typeface="Consolas"/>
              </a:defRPr>
            </a:lvl7pPr>
            <a:lvl8pPr algn="l">
              <a:defRPr sz="1650" b="1">
                <a:solidFill>
                  <a:srgbClr val="176B4D"/>
                </a:solidFill>
                <a:latin typeface="Consolas"/>
                <a:ea typeface="Consolas"/>
                <a:cs typeface="Consolas"/>
              </a:defRPr>
            </a:lvl8pPr>
            <a:lvl9pPr algn="l">
              <a:defRPr sz="1650" b="1">
                <a:solidFill>
                  <a:srgbClr val="176B4D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defRPr sz="1650" b="1">
                <a:solidFill>
                  <a:srgbClr val="176B4D"/>
                </a:solidFill>
                <a:latin typeface="Consolas"/>
                <a:ea typeface="Consolas"/>
                <a:cs typeface="Consolas"/>
              </a:defRPr>
            </a:pPr>
            <a:r>
              <a:rPr sz="1650" b="1">
                <a:solidFill>
                  <a:srgbClr val="176B4D"/>
                </a:solidFill>
                <a:latin typeface="Consolas"/>
                <a:ea typeface="Consolas"/>
                <a:cs typeface="Consolas"/>
              </a:rPr>
              <a:t>STATE-04-PERF</a:t>
            </a:r>
          </a:p>
        </p:txBody>
      </p:sp>
      <p:sp>
        <p:nvSpPr>
          <p:cNvPr id="27" name="검증된 제품 변경">
            <a:extLst xmlns:a="http://schemas.openxmlformats.org/drawingml/2006/main">
              <a:ext uri="{FF2B5EF4-FFF2-40B4-BE49-F238E27FC236}">
                <a16:creationId xmlns:a16="http://schemas.microsoft.com/office/drawing/2014/main" id="{848009E9-0422-4003-8AFA-881F882468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2905125"/>
            <a:ext cx="35052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검증된 제품 변경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0D9ACD69-C661-475D-927D-7DDD44073B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43275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29" name="앞서 본 근거 다시 보기">
            <a:extLst xmlns:a="http://schemas.openxmlformats.org/drawingml/2006/main">
              <a:ext uri="{FF2B5EF4-FFF2-40B4-BE49-F238E27FC236}">
                <a16:creationId xmlns:a16="http://schemas.microsoft.com/office/drawing/2014/main" id="{84288B89-CB0E-47FB-BB81-9891058D88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81375"/>
            <a:ext cx="109728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앞서 본 근거 다시 보기</a:t>
            </a:r>
          </a:p>
        </p:txBody>
      </p:sp>
      <p:pic>
        <p:nvPic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3BD3D4BE-4B50-4ED5-8356-E76E753FD6CB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6850e788c5d4dc9"/>
          <a:srcRect xmlns:a="http://schemas.openxmlformats.org/drawingml/2006/main" l="5000" t="40741" r="5000" b="18519"/>
          <a:stretch xmlns:a="http://schemas.openxmlformats.org/drawingml/2006/main"/>
        </p:blipFill>
        <p:spPr>
          <a:xfrm xmlns:a="http://schemas.openxmlformats.org/drawingml/2006/main">
            <a:off x="609600" y="3778074"/>
            <a:ext cx="3505200" cy="892528"/>
          </a:xfrm>
          <a:prstGeom xmlns:a="http://schemas.openxmlformats.org/drawingml/2006/main" prst="rect">
            <a:avLst/>
          </a:prstGeom>
        </p:spPr>
      </p:pic>
      <p:sp>
        <p:nvSpPr>
          <p:cNvPr id="31" name="crop 계약 수정">
            <a:extLst xmlns:a="http://schemas.openxmlformats.org/drawingml/2006/main">
              <a:ext uri="{FF2B5EF4-FFF2-40B4-BE49-F238E27FC236}">
                <a16:creationId xmlns:a16="http://schemas.microsoft.com/office/drawing/2014/main" id="{D5E3F386-A2EA-4500-A2E5-E0757BC355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829175"/>
            <a:ext cx="3505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7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7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7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7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7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7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7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7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7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7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7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crop 계약 수정</a:t>
            </a:r>
          </a:p>
        </p:txBody>
      </p:sp>
      <p:sp>
        <p:nvSpPr>
          <p:cNvPr id="32" name="S16 · STATE-00 → STATE-00-FIXED">
            <a:extLst xmlns:a="http://schemas.openxmlformats.org/drawingml/2006/main">
              <a:ext uri="{FF2B5EF4-FFF2-40B4-BE49-F238E27FC236}">
                <a16:creationId xmlns:a16="http://schemas.microsoft.com/office/drawing/2014/main" id="{B6C0D1CE-EF90-4660-8D2E-EB337FED8E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33975"/>
            <a:ext cx="3505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defPPr>
            <a:lvl1pPr algn="l">
              <a:defRPr sz="1425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1pPr>
            <a:lvl2pPr algn="l">
              <a:defRPr sz="1425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2pPr>
            <a:lvl3pPr algn="l">
              <a:defRPr sz="1425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3pPr>
            <a:lvl4pPr algn="l">
              <a:defRPr sz="1425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4pPr>
            <a:lvl5pPr algn="l">
              <a:defRPr sz="1425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5pPr>
            <a:lvl6pPr algn="l">
              <a:defRPr sz="1425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6pPr>
            <a:lvl7pPr algn="l">
              <a:defRPr sz="1425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7pPr>
            <a:lvl8pPr algn="l">
              <a:defRPr sz="1425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8pPr>
            <a:lvl9pPr algn="l">
              <a:defRPr sz="1425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defRPr sz="1425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pPr>
            <a:r>
              <a:rPr sz="1425" b="0">
                <a:solidFill>
                  <a:srgbClr val="4D5A68"/>
                </a:solidFill>
                <a:latin typeface="Consolas"/>
                <a:ea typeface="Consolas"/>
                <a:cs typeface="Consolas"/>
              </a:rPr>
              <a:t>S16 · STATE-00 → STATE-00-FIXED</a:t>
            </a:r>
          </a:p>
        </p:txBody>
      </p:sp>
      <p:pic>
        <p:nvPic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11AEB5C8-071F-44E1-A2CE-BC972FAAC676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0ca400899e54db7"/>
          <a:srcRect xmlns:a="http://schemas.openxmlformats.org/drawingml/2006/main" l="5000" t="39352" r="5000" b="26852"/>
          <a:stretch xmlns:a="http://schemas.openxmlformats.org/drawingml/2006/main"/>
        </p:blipFill>
        <p:spPr>
          <a:xfrm xmlns:a="http://schemas.openxmlformats.org/drawingml/2006/main">
            <a:off x="4343400" y="3854141"/>
            <a:ext cx="3505200" cy="740392"/>
          </a:xfrm>
          <a:prstGeom xmlns:a="http://schemas.openxmlformats.org/drawingml/2006/main" prst="rect">
            <a:avLst/>
          </a:prstGeom>
        </p:spPr>
      </p:pic>
      <p:sp>
        <p:nvSpPr>
          <p:cNvPr id="34" name="상세 문서로 분리">
            <a:extLst xmlns:a="http://schemas.openxmlformats.org/drawingml/2006/main">
              <a:ext uri="{FF2B5EF4-FFF2-40B4-BE49-F238E27FC236}">
                <a16:creationId xmlns:a16="http://schemas.microsoft.com/office/drawing/2014/main" id="{7F0F2E51-F9CC-4745-9826-49C8C02787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4829175"/>
            <a:ext cx="3505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7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7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7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7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7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7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7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7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7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7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7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상세 문서로 분리</a:t>
            </a:r>
          </a:p>
        </p:txBody>
      </p:sp>
      <p:sp>
        <p:nvSpPr>
          <p:cNvPr id="35" name="S32 · STATE-02 → STATE-03">
            <a:extLst xmlns:a="http://schemas.openxmlformats.org/drawingml/2006/main">
              <a:ext uri="{FF2B5EF4-FFF2-40B4-BE49-F238E27FC236}">
                <a16:creationId xmlns:a16="http://schemas.microsoft.com/office/drawing/2014/main" id="{2A6ABFB1-427B-4606-BEA3-6FADB6ECD1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5133975"/>
            <a:ext cx="3505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defPPr>
            <a:lvl1pPr algn="l">
              <a:defRPr sz="1425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1pPr>
            <a:lvl2pPr algn="l">
              <a:defRPr sz="1425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2pPr>
            <a:lvl3pPr algn="l">
              <a:defRPr sz="1425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3pPr>
            <a:lvl4pPr algn="l">
              <a:defRPr sz="1425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4pPr>
            <a:lvl5pPr algn="l">
              <a:defRPr sz="1425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5pPr>
            <a:lvl6pPr algn="l">
              <a:defRPr sz="1425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6pPr>
            <a:lvl7pPr algn="l">
              <a:defRPr sz="1425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7pPr>
            <a:lvl8pPr algn="l">
              <a:defRPr sz="1425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8pPr>
            <a:lvl9pPr algn="l">
              <a:defRPr sz="1425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defRPr sz="1425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pPr>
            <a:r>
              <a:rPr sz="1425" b="0">
                <a:solidFill>
                  <a:srgbClr val="4D5A68"/>
                </a:solidFill>
                <a:latin typeface="Consolas"/>
                <a:ea typeface="Consolas"/>
                <a:cs typeface="Consolas"/>
              </a:rPr>
              <a:t>S32 · STATE-02 → STATE-03</a:t>
            </a:r>
          </a:p>
        </p:txBody>
      </p:sp>
      <p:pic>
        <p:nvPic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25648082-560A-47FA-A655-6255FA403196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ab28e15fdee42c4"/>
          <a:srcRect xmlns:a="http://schemas.openxmlformats.org/drawingml/2006/main" l="5000" t="33333" r="5000" b="16667"/>
          <a:stretch xmlns:a="http://schemas.openxmlformats.org/drawingml/2006/main"/>
        </p:blipFill>
        <p:spPr>
          <a:xfrm xmlns:a="http://schemas.openxmlformats.org/drawingml/2006/main">
            <a:off x="8077200" y="3676650"/>
            <a:ext cx="3505200" cy="1095375"/>
          </a:xfrm>
          <a:prstGeom xmlns:a="http://schemas.openxmlformats.org/drawingml/2006/main" prst="rect">
            <a:avLst/>
          </a:prstGeom>
        </p:spPr>
      </p:pic>
      <p:sp>
        <p:nvSpPr>
          <p:cNvPr id="37" name="같은 조건의 성능 비교">
            <a:extLst xmlns:a="http://schemas.openxmlformats.org/drawingml/2006/main">
              <a:ext uri="{FF2B5EF4-FFF2-40B4-BE49-F238E27FC236}">
                <a16:creationId xmlns:a16="http://schemas.microsoft.com/office/drawing/2014/main" id="{FBB814C4-2375-42E9-9F3D-AFA6248045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4829175"/>
            <a:ext cx="3505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7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7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7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7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7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7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7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7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7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7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7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같은 조건의 성능 비교</a:t>
            </a:r>
          </a:p>
        </p:txBody>
      </p:sp>
      <p:sp>
        <p:nvSpPr>
          <p:cNvPr id="38" name="S45 · STATE-04 → STATE-04-PERF">
            <a:extLst xmlns:a="http://schemas.openxmlformats.org/drawingml/2006/main">
              <a:ext uri="{FF2B5EF4-FFF2-40B4-BE49-F238E27FC236}">
                <a16:creationId xmlns:a16="http://schemas.microsoft.com/office/drawing/2014/main" id="{5E36D390-9187-4D1B-9529-74F460D771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5133975"/>
            <a:ext cx="3505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defPPr>
            <a:lvl1pPr algn="l">
              <a:defRPr sz="1425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1pPr>
            <a:lvl2pPr algn="l">
              <a:defRPr sz="1425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2pPr>
            <a:lvl3pPr algn="l">
              <a:defRPr sz="1425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3pPr>
            <a:lvl4pPr algn="l">
              <a:defRPr sz="1425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4pPr>
            <a:lvl5pPr algn="l">
              <a:defRPr sz="1425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5pPr>
            <a:lvl6pPr algn="l">
              <a:defRPr sz="1425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6pPr>
            <a:lvl7pPr algn="l">
              <a:defRPr sz="1425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7pPr>
            <a:lvl8pPr algn="l">
              <a:defRPr sz="1425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8pPr>
            <a:lvl9pPr algn="l">
              <a:defRPr sz="1425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defRPr sz="1425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pPr>
            <a:r>
              <a:rPr sz="1425" b="0">
                <a:solidFill>
                  <a:srgbClr val="4D5A68"/>
                </a:solidFill>
                <a:latin typeface="Consolas"/>
                <a:ea typeface="Consolas"/>
                <a:cs typeface="Consolas"/>
              </a:rPr>
              <a:t>S45 · STATE-04 → STATE-04-PERF</a:t>
            </a:r>
          </a:p>
        </p:txBody>
      </p:sp>
      <p:sp>
        <p:nvSpPr>
          <p:cNvPr id="39" name="각 변화의 출발점은, 그때 마주친 문제였다.">
            <a:extLst xmlns:a="http://schemas.openxmlformats.org/drawingml/2006/main">
              <a:ext uri="{FF2B5EF4-FFF2-40B4-BE49-F238E27FC236}">
                <a16:creationId xmlns:a16="http://schemas.microsoft.com/office/drawing/2014/main" id="{0A29B031-1818-4ED7-9700-3A921639AB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48300"/>
            <a:ext cx="10972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각 변화의 출발점은, 그때 마주친 문제였다.</a:t>
            </a:r>
          </a:p>
        </p:txBody>
      </p:sp>
    </p:spTree>
    <p:extLst>
      <p:ext uri="{BB962C8B-B14F-4D97-AF65-F5344CB8AC3E}">
        <p14:creationId xmlns:p14="http://schemas.microsoft.com/office/powerpoint/2010/main" val="181315728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4F6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ACT 5 · 이번 Demo의 선택 기준">
            <a:extLst xmlns:a="http://schemas.openxmlformats.org/drawingml/2006/main">
              <a:ext uri="{FF2B5EF4-FFF2-40B4-BE49-F238E27FC236}">
                <a16:creationId xmlns:a16="http://schemas.microsoft.com/office/drawing/2014/main" id="{9A5FCFB6-B6D7-45DA-A444-5CF67B40A9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9810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ACT 5 · 이번 Demo의 선택 기준</a:t>
            </a:r>
          </a:p>
        </p:txBody>
      </p:sp>
      <p:sp>
        <p:nvSpPr>
          <p:cNvPr id="2" name="S75">
            <a:extLst xmlns:a="http://schemas.openxmlformats.org/drawingml/2006/main">
              <a:ext uri="{FF2B5EF4-FFF2-40B4-BE49-F238E27FC236}">
                <a16:creationId xmlns:a16="http://schemas.microsoft.com/office/drawing/2014/main" id="{3AD4764F-A322-43D6-8831-912D8A181E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457200"/>
            <a:ext cx="914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S75</a:t>
            </a:r>
          </a:p>
        </p:txBody>
      </p:sp>
      <p:sp>
        <p:nvSpPr>
          <p:cNvPr id="3" name="필요성이 입증되지 않은 것은 보류했다">
            <a:extLst xmlns:a="http://schemas.openxmlformats.org/drawingml/2006/main">
              <a:ext uri="{FF2B5EF4-FFF2-40B4-BE49-F238E27FC236}">
                <a16:creationId xmlns:a16="http://schemas.microsoft.com/office/drawing/2014/main" id="{342E39BC-F5A8-4E7F-8E38-4F28699659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필요성이 입증되지 않은 것은 보류했다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9F319B4-1863-4302-AD36-C29BAB068B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293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5" name="STATE-04-PERF · DEC-0018 · 이번 작업의 선택을 회고">
            <a:extLst xmlns:a="http://schemas.openxmlformats.org/drawingml/2006/main">
              <a:ext uri="{FF2B5EF4-FFF2-40B4-BE49-F238E27FC236}">
                <a16:creationId xmlns:a16="http://schemas.microsoft.com/office/drawing/2014/main" id="{9CA6E4E7-679E-4D86-9417-46D5900410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15025"/>
            <a:ext cx="109728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STATE-04-PERF · DEC-0018 · 이번 작업의 선택을 회고</a:t>
            </a:r>
          </a:p>
        </p:txBody>
      </p:sp>
      <p:sp>
        <p:nvSpPr>
          <p:cNvPr id="6" name="모든 프로젝트에서 Subagent·Memory가 불필요하거나 적을수록 좋다는 뜻은 아니다.">
            <a:extLst xmlns:a="http://schemas.openxmlformats.org/drawingml/2006/main">
              <a:ext uri="{FF2B5EF4-FFF2-40B4-BE49-F238E27FC236}">
                <a16:creationId xmlns:a16="http://schemas.microsoft.com/office/drawing/2014/main" id="{4364D9F1-478C-461F-81D0-202AA81494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91250"/>
            <a:ext cx="10972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모든 프로젝트에서 Subagent·Memory가 불필요하거나 적을수록 좋다는 뜻은 아니다.</a:t>
            </a:r>
          </a:p>
        </p:txBody>
      </p:sp>
      <p:sp>
        <p:nvSpPr>
          <p:cNvPr id="7" name="이번 문제에 필요했던 것">
            <a:extLst xmlns:a="http://schemas.openxmlformats.org/drawingml/2006/main">
              <a:ext uri="{FF2B5EF4-FFF2-40B4-BE49-F238E27FC236}">
                <a16:creationId xmlns:a16="http://schemas.microsoft.com/office/drawing/2014/main" id="{49C93D1F-9D69-451C-A5F5-5F19278171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38375"/>
            <a:ext cx="4876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이번 문제에 필요했던 것</a:t>
            </a:r>
          </a:p>
        </p:txBody>
      </p:sp>
      <p:sp>
        <p:nvSpPr>
          <p:cNvPr id="8" name="이번에는 정당화하지 못한 것">
            <a:extLst xmlns:a="http://schemas.openxmlformats.org/drawingml/2006/main">
              <a:ext uri="{FF2B5EF4-FFF2-40B4-BE49-F238E27FC236}">
                <a16:creationId xmlns:a16="http://schemas.microsoft.com/office/drawing/2014/main" id="{1167FC9D-8DA2-4159-A638-AC9764BCF4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2238375"/>
            <a:ext cx="4876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25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25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25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25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25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25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25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25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25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25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25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pPr>
            <a:r>
              <a:rPr sz="225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rPr>
              <a:t>이번에는 정당화하지 못한 것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8E263D1-0BB5-44CF-969F-AC9A56B238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52750"/>
            <a:ext cx="4876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B6172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8961453-0A49-4E2C-8CB7-7013081C49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2952750"/>
            <a:ext cx="4876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805400"/>
            </a:solidFill>
            <a:prstDash val="solid"/>
          </a:ln>
        </p:spPr>
      </p:sp>
      <p:sp>
        <p:nvSpPr>
          <p:cNvPr id="11" name="Task Prompt&#10;Context와 Routing&#10;재사용 Workflow&#10;Tests와 Benchmark">
            <a:extLst xmlns:a="http://schemas.openxmlformats.org/drawingml/2006/main">
              <a:ext uri="{FF2B5EF4-FFF2-40B4-BE49-F238E27FC236}">
                <a16:creationId xmlns:a16="http://schemas.microsoft.com/office/drawing/2014/main" id="{ECFEEA8C-CCF2-4348-9370-87E41C0A58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162300"/>
            <a:ext cx="4876800" cy="1704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Task Prompt</a:t>
            </a:r>
          </a:p>
          <a:p xmlns:a="http://schemas.openxmlformats.org/drawingml/2006/main">
            <a: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Context와 Routing</a:t>
            </a:r>
          </a:p>
          <a:p xmlns:a="http://schemas.openxmlformats.org/drawingml/2006/main">
            <a: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재사용 Workflow</a:t>
            </a:r>
          </a:p>
          <a:p xmlns:a="http://schemas.openxmlformats.org/drawingml/2006/main">
            <a: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Tests와 Benchmark</a:t>
            </a:r>
          </a:p>
        </p:txBody>
      </p:sp>
      <p:sp>
        <p:nvSpPr>
          <p:cNvPr id="12" name="Subagent&#10;Memory">
            <a:extLst xmlns:a="http://schemas.openxmlformats.org/drawingml/2006/main">
              <a:ext uri="{FF2B5EF4-FFF2-40B4-BE49-F238E27FC236}">
                <a16:creationId xmlns:a16="http://schemas.microsoft.com/office/drawing/2014/main" id="{1CA024D0-6DA1-429E-917B-D134C0CD5D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3314700"/>
            <a:ext cx="4876800" cy="1162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9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9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9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9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9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9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9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9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9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9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9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9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Subagent</a:t>
            </a:r>
          </a:p>
          <a:p xmlns:a="http://schemas.openxmlformats.org/drawingml/2006/main">
            <a:pPr algn="l">
              <a:defRPr sz="29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9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Memory</a:t>
            </a:r>
          </a:p>
        </p:txBody>
      </p:sp>
      <p:sp>
        <p:nvSpPr>
          <p:cNvPr id="13" name="현재 문제가 필요로 하는 만큼 설계한다.">
            <a:extLst xmlns:a="http://schemas.openxmlformats.org/drawingml/2006/main">
              <a:ext uri="{FF2B5EF4-FFF2-40B4-BE49-F238E27FC236}">
                <a16:creationId xmlns:a16="http://schemas.microsoft.com/office/drawing/2014/main" id="{DD9130CA-9C78-4820-933E-271E9650C7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219700"/>
            <a:ext cx="10972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7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7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7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7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7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7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7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7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7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7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7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7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현재 문제가 필요로 하는 만큼 설계한다.</a:t>
            </a:r>
          </a:p>
        </p:txBody>
      </p:sp>
    </p:spTree>
    <p:extLst>
      <p:ext uri="{BB962C8B-B14F-4D97-AF65-F5344CB8AC3E}">
        <p14:creationId xmlns:p14="http://schemas.microsoft.com/office/powerpoint/2010/main" val="2028638026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4F6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" name="ACT 5 · 개발자의 판단">
            <a:extLst xmlns:a="http://schemas.openxmlformats.org/drawingml/2006/main">
              <a:ext uri="{FF2B5EF4-FFF2-40B4-BE49-F238E27FC236}">
                <a16:creationId xmlns:a16="http://schemas.microsoft.com/office/drawing/2014/main" id="{54551B6B-52A1-4C4D-8C27-4E1B7CFE14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9810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ACT 5 · 개발자의 판단</a:t>
            </a:r>
          </a:p>
        </p:txBody>
      </p:sp>
      <p:sp>
        <p:nvSpPr>
          <p:cNvPr id="2" name="S76">
            <a:extLst xmlns:a="http://schemas.openxmlformats.org/drawingml/2006/main">
              <a:ext uri="{FF2B5EF4-FFF2-40B4-BE49-F238E27FC236}">
                <a16:creationId xmlns:a16="http://schemas.microsoft.com/office/drawing/2014/main" id="{9A7641BC-17E3-4BD8-ADE3-C08A1A0EC2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457200"/>
            <a:ext cx="914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S76</a:t>
            </a:r>
          </a:p>
        </p:txBody>
      </p:sp>
      <p:sp>
        <p:nvSpPr>
          <p:cNvPr id="3" name="위임이 늘어도 개발자 책임은 남는다">
            <a:extLst xmlns:a="http://schemas.openxmlformats.org/drawingml/2006/main">
              <a:ext uri="{FF2B5EF4-FFF2-40B4-BE49-F238E27FC236}">
                <a16:creationId xmlns:a16="http://schemas.microsoft.com/office/drawing/2014/main" id="{AD945118-BD88-417D-983A-AF511A6522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위임이 늘어도 개발자 책임은 남는다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77EF53D-2197-4BA2-89A9-C60ECD49A2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293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5" name="BEAT-061–062 · 이 교육의 책임 원칙">
            <a:extLst xmlns:a="http://schemas.openxmlformats.org/drawingml/2006/main">
              <a:ext uri="{FF2B5EF4-FFF2-40B4-BE49-F238E27FC236}">
                <a16:creationId xmlns:a16="http://schemas.microsoft.com/office/drawing/2014/main" id="{DF6B58B8-3A7C-42AB-9433-3D0262D2F2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15025"/>
            <a:ext cx="109728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BEAT-061–062 · 이 교육의 책임 원칙</a:t>
            </a:r>
          </a:p>
        </p:txBody>
      </p:sp>
      <p:sp>
        <p:nvSpPr>
          <p:cNvPr id="6" name="Agent와 개발자의 역할을 고정된 분업표로 제시하는 것은 아니다.">
            <a:extLst xmlns:a="http://schemas.openxmlformats.org/drawingml/2006/main">
              <a:ext uri="{FF2B5EF4-FFF2-40B4-BE49-F238E27FC236}">
                <a16:creationId xmlns:a16="http://schemas.microsoft.com/office/drawing/2014/main" id="{C20D9E4E-3E84-417A-8CDB-7D70725DD7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91250"/>
            <a:ext cx="10972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Agent와 개발자의 역할을 고정된 분업표로 제시하는 것은 아니다.</a:t>
            </a:r>
          </a:p>
        </p:txBody>
      </p:sp>
      <p:sp>
        <p:nvSpPr>
          <p:cNvPr id="7" name="AI가 조사·생성·변경·실행·비교를 도와도">
            <a:extLst xmlns:a="http://schemas.openxmlformats.org/drawingml/2006/main">
              <a:ext uri="{FF2B5EF4-FFF2-40B4-BE49-F238E27FC236}">
                <a16:creationId xmlns:a16="http://schemas.microsoft.com/office/drawing/2014/main" id="{9004AD97-722F-468A-9039-F5340082A6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95500"/>
            <a:ext cx="109728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4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4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4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4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4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4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4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4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4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4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4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24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AI가 조사·생성·변경·실행·비교를 도와도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6498361-5B9F-42CD-8F89-FB7C1104A9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162300"/>
            <a:ext cx="24955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B6172"/>
            </a:solidFill>
            <a:prstDash val="solid"/>
          </a:ln>
        </p:spPr>
      </p:sp>
      <p:sp>
        <p:nvSpPr>
          <p:cNvPr id="9" name="목표">
            <a:extLst xmlns:a="http://schemas.openxmlformats.org/drawingml/2006/main">
              <a:ext uri="{FF2B5EF4-FFF2-40B4-BE49-F238E27FC236}">
                <a16:creationId xmlns:a16="http://schemas.microsoft.com/office/drawing/2014/main" id="{D3BEB4EA-C096-4035-9A80-F5C456A174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71850"/>
            <a:ext cx="24955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8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8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8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8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8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8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8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8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8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8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8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8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목표</a:t>
            </a:r>
          </a:p>
        </p:txBody>
      </p:sp>
      <p:sp>
        <p:nvSpPr>
          <p:cNvPr id="10" name="무엇을 해결할까?">
            <a:extLst xmlns:a="http://schemas.openxmlformats.org/drawingml/2006/main">
              <a:ext uri="{FF2B5EF4-FFF2-40B4-BE49-F238E27FC236}">
                <a16:creationId xmlns:a16="http://schemas.microsoft.com/office/drawing/2014/main" id="{540F1C5C-EB92-4D8A-9769-F73080F9D5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19575"/>
            <a:ext cx="24955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무엇을 해결할까?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BE77534-A8C0-4F6C-9EAA-AC38E1CFFD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9950" y="3162300"/>
            <a:ext cx="24955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B6172"/>
            </a:solidFill>
            <a:prstDash val="solid"/>
          </a:ln>
        </p:spPr>
      </p:sp>
      <p:sp>
        <p:nvSpPr>
          <p:cNvPr id="12" name="판단">
            <a:extLst xmlns:a="http://schemas.openxmlformats.org/drawingml/2006/main">
              <a:ext uri="{FF2B5EF4-FFF2-40B4-BE49-F238E27FC236}">
                <a16:creationId xmlns:a16="http://schemas.microsoft.com/office/drawing/2014/main" id="{5E36E189-9A81-4418-BB26-2FBC90A7AA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9950" y="3371850"/>
            <a:ext cx="24955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8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8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8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8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8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8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8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8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8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8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8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8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판단</a:t>
            </a:r>
          </a:p>
        </p:txBody>
      </p:sp>
      <p:sp>
        <p:nvSpPr>
          <p:cNvPr id="13" name="어떤 선택이 적절할까?">
            <a:extLst xmlns:a="http://schemas.openxmlformats.org/drawingml/2006/main">
              <a:ext uri="{FF2B5EF4-FFF2-40B4-BE49-F238E27FC236}">
                <a16:creationId xmlns:a16="http://schemas.microsoft.com/office/drawing/2014/main" id="{54D302CC-C825-4DDA-93CF-9726221CAC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9950" y="4219575"/>
            <a:ext cx="24955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어떤 선택이 적절할까?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900FA16-0180-4FE5-9A3B-F1816F5DAD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3162300"/>
            <a:ext cx="24955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B6172"/>
            </a:solidFill>
            <a:prstDash val="solid"/>
          </a:ln>
        </p:spPr>
      </p:sp>
      <p:sp>
        <p:nvSpPr>
          <p:cNvPr id="15" name="검증">
            <a:extLst xmlns:a="http://schemas.openxmlformats.org/drawingml/2006/main">
              <a:ext uri="{FF2B5EF4-FFF2-40B4-BE49-F238E27FC236}">
                <a16:creationId xmlns:a16="http://schemas.microsoft.com/office/drawing/2014/main" id="{76079911-2840-40A6-A204-9778CF5026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3371850"/>
            <a:ext cx="24955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8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8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8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8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8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8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8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8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8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8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8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8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검증</a:t>
            </a:r>
          </a:p>
        </p:txBody>
      </p:sp>
      <p:sp>
        <p:nvSpPr>
          <p:cNvPr id="16" name="무엇으로 확인할까?">
            <a:extLst xmlns:a="http://schemas.openxmlformats.org/drawingml/2006/main">
              <a:ext uri="{FF2B5EF4-FFF2-40B4-BE49-F238E27FC236}">
                <a16:creationId xmlns:a16="http://schemas.microsoft.com/office/drawing/2014/main" id="{F7826C8E-5F39-4BD4-8CC5-A7F47F482A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4219575"/>
            <a:ext cx="24955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무엇으로 확인할까?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F80AB13-3478-4338-B69D-B1433005F5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0650" y="3162300"/>
            <a:ext cx="24955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B6172"/>
            </a:solidFill>
            <a:prstDash val="solid"/>
          </a:ln>
        </p:spPr>
      </p:sp>
      <p:sp>
        <p:nvSpPr>
          <p:cNvPr id="18" name="책임">
            <a:extLst xmlns:a="http://schemas.openxmlformats.org/drawingml/2006/main">
              <a:ext uri="{FF2B5EF4-FFF2-40B4-BE49-F238E27FC236}">
                <a16:creationId xmlns:a16="http://schemas.microsoft.com/office/drawing/2014/main" id="{F0AE3E36-7841-4197-89B6-10626066EC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0650" y="3371850"/>
            <a:ext cx="24955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8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8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8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8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8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8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8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8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8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8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8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8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책임</a:t>
            </a:r>
          </a:p>
        </p:txBody>
      </p:sp>
      <p:sp>
        <p:nvSpPr>
          <p:cNvPr id="19" name="완료를 수용해도 될까?">
            <a:extLst xmlns:a="http://schemas.openxmlformats.org/drawingml/2006/main">
              <a:ext uri="{FF2B5EF4-FFF2-40B4-BE49-F238E27FC236}">
                <a16:creationId xmlns:a16="http://schemas.microsoft.com/office/drawing/2014/main" id="{A031C785-E24D-4D77-8EAC-8003B90207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0650" y="4219575"/>
            <a:ext cx="24955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완료를 수용해도 될까?</a:t>
            </a:r>
          </a:p>
        </p:txBody>
      </p:sp>
      <p:sp>
        <p:nvSpPr>
          <p:cNvPr id="20" name="결과를 받는 일에는, 결과를 판단하는 책임이 함께 남는다.">
            <a:extLst xmlns:a="http://schemas.openxmlformats.org/drawingml/2006/main">
              <a:ext uri="{FF2B5EF4-FFF2-40B4-BE49-F238E27FC236}">
                <a16:creationId xmlns:a16="http://schemas.microsoft.com/office/drawing/2014/main" id="{8701A142-AC33-41CA-A940-42A8C094A7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276850"/>
            <a:ext cx="10972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결과를 받는 일에는, 결과를 판단하는 책임이 함께 남는다.</a:t>
            </a:r>
          </a:p>
        </p:txBody>
      </p:sp>
    </p:spTree>
    <p:extLst>
      <p:ext uri="{BB962C8B-B14F-4D97-AF65-F5344CB8AC3E}">
        <p14:creationId xmlns:p14="http://schemas.microsoft.com/office/powerpoint/2010/main" val="62293475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4F6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ACT 5 · 일하는 환경을 설계한다">
            <a:extLst xmlns:a="http://schemas.openxmlformats.org/drawingml/2006/main">
              <a:ext uri="{FF2B5EF4-FFF2-40B4-BE49-F238E27FC236}">
                <a16:creationId xmlns:a16="http://schemas.microsoft.com/office/drawing/2014/main" id="{4EF72749-9DD9-4B9C-B25C-58440C3306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9810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ACT 5 · 일하는 환경을 설계한다</a:t>
            </a:r>
          </a:p>
        </p:txBody>
      </p:sp>
      <p:sp>
        <p:nvSpPr>
          <p:cNvPr id="2" name="S77">
            <a:extLst xmlns:a="http://schemas.openxmlformats.org/drawingml/2006/main">
              <a:ext uri="{FF2B5EF4-FFF2-40B4-BE49-F238E27FC236}">
                <a16:creationId xmlns:a16="http://schemas.microsoft.com/office/drawing/2014/main" id="{03C5DB9B-9FB0-48D8-81AC-19BF642FFC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457200"/>
            <a:ext cx="914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S77</a:t>
            </a:r>
          </a:p>
        </p:txBody>
      </p:sp>
      <p:sp>
        <p:nvSpPr>
          <p:cNvPr id="3" name="AI-Native Development는&#10;이 교육의 운영 모델">
            <a:extLst xmlns:a="http://schemas.openxmlformats.org/drawingml/2006/main">
              <a:ext uri="{FF2B5EF4-FFF2-40B4-BE49-F238E27FC236}">
                <a16:creationId xmlns:a16="http://schemas.microsoft.com/office/drawing/2014/main" id="{F3E81B68-C482-4A4B-984E-82B7497656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34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34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34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34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34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34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34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34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34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34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34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34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AI-Native Development는</a:t>
            </a:r>
          </a:p>
          <a:p xmlns:a="http://schemas.openxmlformats.org/drawingml/2006/main">
            <a:pPr algn="l">
              <a:defRPr sz="34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34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이 교육의 운영 모델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C117767-3120-4E95-9921-80138B3B37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293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5" name="DEC-0023 · 과정에서 사용하는 운영 모델">
            <a:extLst xmlns:a="http://schemas.openxmlformats.org/drawingml/2006/main">
              <a:ext uri="{FF2B5EF4-FFF2-40B4-BE49-F238E27FC236}">
                <a16:creationId xmlns:a16="http://schemas.microsoft.com/office/drawing/2014/main" id="{6B63E81B-6CA8-4A9C-8D4C-1770518D0F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15025"/>
            <a:ext cx="109728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DEC-0023 · 과정에서 사용하는 운영 모델</a:t>
            </a:r>
          </a:p>
        </p:txBody>
      </p:sp>
      <p:sp>
        <p:nvSpPr>
          <p:cNvPr id="6" name="공식·보편 정의가 아니며, 모든 Task에 모든 구성요소를 넣으라는 뜻은 아니다.">
            <a:extLst xmlns:a="http://schemas.openxmlformats.org/drawingml/2006/main">
              <a:ext uri="{FF2B5EF4-FFF2-40B4-BE49-F238E27FC236}">
                <a16:creationId xmlns:a16="http://schemas.microsoft.com/office/drawing/2014/main" id="{10A8B0AC-C9D4-44C3-A8B5-EC2DAC6E78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91250"/>
            <a:ext cx="10972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공식·보편 정의가 아니며, 모든 Task에 모든 구성요소를 넣으라는 뜻은 아니다.</a:t>
            </a:r>
          </a:p>
        </p:txBody>
      </p:sp>
      <p:sp>
        <p:nvSpPr>
          <p:cNvPr id="7" name="AI가 일할 조건과, 결과를 확인할 경로를 설계한다.">
            <a:extLst xmlns:a="http://schemas.openxmlformats.org/drawingml/2006/main">
              <a:ext uri="{FF2B5EF4-FFF2-40B4-BE49-F238E27FC236}">
                <a16:creationId xmlns:a16="http://schemas.microsoft.com/office/drawing/2014/main" id="{DCDCEFA0-041A-462A-A37E-048CED7366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162175"/>
            <a:ext cx="10972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AI가 일할 조건과, 결과를 확인할 경로를 설계한다.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9CEDD5C-2F51-4592-916A-280931D51C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670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9" name="작업 경계">
            <a:extLst xmlns:a="http://schemas.openxmlformats.org/drawingml/2006/main">
              <a:ext uri="{FF2B5EF4-FFF2-40B4-BE49-F238E27FC236}">
                <a16:creationId xmlns:a16="http://schemas.microsoft.com/office/drawing/2014/main" id="{DF6A1769-1DFC-44B1-A826-279EE547B6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181350"/>
            <a:ext cx="305752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작업 경계</a:t>
            </a:r>
          </a:p>
        </p:txBody>
      </p:sp>
      <p:sp>
        <p:nvSpPr>
          <p:cNvPr id="10" name="무엇을 맡기고 어디까지 바꿀까?">
            <a:extLst xmlns:a="http://schemas.openxmlformats.org/drawingml/2006/main">
              <a:ext uri="{FF2B5EF4-FFF2-40B4-BE49-F238E27FC236}">
                <a16:creationId xmlns:a16="http://schemas.microsoft.com/office/drawing/2014/main" id="{B6A596FD-245A-4A85-9EBE-F3CDF03152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95725" y="3181350"/>
            <a:ext cx="768667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무엇을 맡기고 어디까지 바꿀까?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FDA26D4-269E-4560-A266-2CB4507172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12" name="지식 · 절차">
            <a:extLst xmlns:a="http://schemas.openxmlformats.org/drawingml/2006/main">
              <a:ext uri="{FF2B5EF4-FFF2-40B4-BE49-F238E27FC236}">
                <a16:creationId xmlns:a16="http://schemas.microsoft.com/office/drawing/2014/main" id="{61D17AF1-5124-4FFE-B945-FD491665F9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924300"/>
            <a:ext cx="305752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지식 · 절차</a:t>
            </a:r>
          </a:p>
        </p:txBody>
      </p:sp>
      <p:sp>
        <p:nvSpPr>
          <p:cNvPr id="13" name="무엇을 알고, 어떤 방식으로 일할까?">
            <a:extLst xmlns:a="http://schemas.openxmlformats.org/drawingml/2006/main">
              <a:ext uri="{FF2B5EF4-FFF2-40B4-BE49-F238E27FC236}">
                <a16:creationId xmlns:a16="http://schemas.microsoft.com/office/drawing/2014/main" id="{280F2F6E-C450-453C-9BE4-04FAABAA90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95725" y="3924300"/>
            <a:ext cx="768667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무엇을 알고, 어떤 방식으로 일할까?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7B3BB44-8558-4018-8984-72FA5AB989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529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15" name="검증 · 피드백">
            <a:extLst xmlns:a="http://schemas.openxmlformats.org/drawingml/2006/main">
              <a:ext uri="{FF2B5EF4-FFF2-40B4-BE49-F238E27FC236}">
                <a16:creationId xmlns:a16="http://schemas.microsoft.com/office/drawing/2014/main" id="{2F54AB25-D75A-498E-AEA7-734A405B8D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667250"/>
            <a:ext cx="305752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검증 · 피드백</a:t>
            </a:r>
          </a:p>
        </p:txBody>
      </p:sp>
      <p:sp>
        <p:nvSpPr>
          <p:cNvPr id="16" name="어떻게 확인하고 다음 작업을 바꿀까?">
            <a:extLst xmlns:a="http://schemas.openxmlformats.org/drawingml/2006/main">
              <a:ext uri="{FF2B5EF4-FFF2-40B4-BE49-F238E27FC236}">
                <a16:creationId xmlns:a16="http://schemas.microsoft.com/office/drawing/2014/main" id="{B40E6CFD-E04A-4EC6-8BE1-273ED1323C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95725" y="4667250"/>
            <a:ext cx="768667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어떻게 확인하고 다음 작업을 바꿀까?</a:t>
            </a:r>
          </a:p>
        </p:txBody>
      </p:sp>
    </p:spTree>
    <p:extLst>
      <p:ext uri="{BB962C8B-B14F-4D97-AF65-F5344CB8AC3E}">
        <p14:creationId xmlns:p14="http://schemas.microsoft.com/office/powerpoint/2010/main" val="464355009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4F6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ACT 5 · C++ VISION / 내 업무로 연결">
            <a:extLst xmlns:a="http://schemas.openxmlformats.org/drawingml/2006/main">
              <a:ext uri="{FF2B5EF4-FFF2-40B4-BE49-F238E27FC236}">
                <a16:creationId xmlns:a16="http://schemas.microsoft.com/office/drawing/2014/main" id="{1C64B95F-523E-46F8-A8B7-6F21995ED0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9810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ACT 5 · C++ VISION / 내 업무로 연결</a:t>
            </a:r>
          </a:p>
        </p:txBody>
      </p:sp>
      <p:sp>
        <p:nvSpPr>
          <p:cNvPr id="2" name="S78">
            <a:extLst xmlns:a="http://schemas.openxmlformats.org/drawingml/2006/main">
              <a:ext uri="{FF2B5EF4-FFF2-40B4-BE49-F238E27FC236}">
                <a16:creationId xmlns:a16="http://schemas.microsoft.com/office/drawing/2014/main" id="{07865145-A46A-4799-AA0A-200142F4CE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457200"/>
            <a:ext cx="914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S78</a:t>
            </a:r>
          </a:p>
        </p:txBody>
      </p:sp>
      <p:sp>
        <p:nvSpPr>
          <p:cNvPr id="3" name="어느 Layer에서 마찰이 반복되는가?">
            <a:extLst xmlns:a="http://schemas.openxmlformats.org/drawingml/2006/main">
              <a:ext uri="{FF2B5EF4-FFF2-40B4-BE49-F238E27FC236}">
                <a16:creationId xmlns:a16="http://schemas.microsoft.com/office/drawing/2014/main" id="{0E7D9AC5-45C1-4CD8-8727-309C4880F5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어느 Layer에서 마찰이 반복되는가?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938A0DF-3873-467B-8307-25CD7280ED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293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5" name="BEAT-068–069 · 업무 적용을 위한 교육용 질문">
            <a:extLst xmlns:a="http://schemas.openxmlformats.org/drawingml/2006/main">
              <a:ext uri="{FF2B5EF4-FFF2-40B4-BE49-F238E27FC236}">
                <a16:creationId xmlns:a16="http://schemas.microsoft.com/office/drawing/2014/main" id="{8FA02E9C-9973-4DB1-8287-4852C88CC6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15025"/>
            <a:ext cx="109728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BEAT-068–069 · 업무 적용을 위한 교육용 질문</a:t>
            </a:r>
          </a:p>
        </p:txBody>
      </p:sp>
      <p:sp>
        <p:nvSpPr>
          <p:cNvPr id="6" name="같은 수준의 선택지다. 특정 C++ 프로젝트에서 검증된 절차나 필수 도입 순서가 아니다.">
            <a:extLst xmlns:a="http://schemas.openxmlformats.org/drawingml/2006/main">
              <a:ext uri="{FF2B5EF4-FFF2-40B4-BE49-F238E27FC236}">
                <a16:creationId xmlns:a16="http://schemas.microsoft.com/office/drawing/2014/main" id="{F976E360-E1F2-4DE8-9DFC-557BDB2A46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91250"/>
            <a:ext cx="10972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같은 수준의 선택지다. 특정 C++ 프로젝트에서 검증된 절차나 필수 도입 순서가 아니다.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7AB3988-1066-48A7-BB55-A9D3111524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162175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8" name="Task">
            <a:extLst xmlns:a="http://schemas.openxmlformats.org/drawingml/2006/main">
              <a:ext uri="{FF2B5EF4-FFF2-40B4-BE49-F238E27FC236}">
                <a16:creationId xmlns:a16="http://schemas.microsoft.com/office/drawing/2014/main" id="{2DECB9CC-CFFC-441A-8F10-8E8884F270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38375"/>
            <a:ext cx="28575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Task</a:t>
            </a:r>
          </a:p>
        </p:txBody>
      </p:sp>
      <p:sp>
        <p:nvSpPr>
          <p:cNvPr id="9" name="조사할 성능 병목의 범위가 흐리다">
            <a:extLst xmlns:a="http://schemas.openxmlformats.org/drawingml/2006/main">
              <a:ext uri="{FF2B5EF4-FFF2-40B4-BE49-F238E27FC236}">
                <a16:creationId xmlns:a16="http://schemas.microsoft.com/office/drawing/2014/main" id="{B5E5F95E-4789-472D-B444-0227C8C87A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0" y="2238375"/>
            <a:ext cx="79629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조사할 성능 병목의 범위가 흐리다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E65A3CD-82B3-448F-903A-725DB47C7C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003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11" name="Context">
            <a:extLst xmlns:a="http://schemas.openxmlformats.org/drawingml/2006/main">
              <a:ext uri="{FF2B5EF4-FFF2-40B4-BE49-F238E27FC236}">
                <a16:creationId xmlns:a16="http://schemas.microsoft.com/office/drawing/2014/main" id="{11F50B00-2D0B-454C-B638-AC8BFDD818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76550"/>
            <a:ext cx="28575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Context</a:t>
            </a:r>
          </a:p>
        </p:txBody>
      </p:sp>
      <p:sp>
        <p:nvSpPr>
          <p:cNvPr id="12" name="빌드 조건·계약·하드웨어 가정을 반복 설명한다">
            <a:extLst xmlns:a="http://schemas.openxmlformats.org/drawingml/2006/main">
              <a:ext uri="{FF2B5EF4-FFF2-40B4-BE49-F238E27FC236}">
                <a16:creationId xmlns:a16="http://schemas.microsoft.com/office/drawing/2014/main" id="{8899CDC4-F5B4-4AAF-AD1E-A95F948BD8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0" y="2876550"/>
            <a:ext cx="79629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빌드 조건·계약·하드웨어 가정을 반복 설명한다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D7EDF56-DAC3-4F2F-8829-97A928C6BC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38525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14" name="Workflow">
            <a:extLst xmlns:a="http://schemas.openxmlformats.org/drawingml/2006/main">
              <a:ext uri="{FF2B5EF4-FFF2-40B4-BE49-F238E27FC236}">
                <a16:creationId xmlns:a16="http://schemas.microsoft.com/office/drawing/2014/main" id="{1CF21D38-E10A-4B2B-86F8-5EF0484968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14725"/>
            <a:ext cx="28575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Workflow</a:t>
            </a:r>
          </a:p>
        </p:txBody>
      </p:sp>
      <p:sp>
        <p:nvSpPr>
          <p:cNvPr id="15" name="분석 → 변경 → 측정 → 회귀 확인을 매번 적는다">
            <a:extLst xmlns:a="http://schemas.openxmlformats.org/drawingml/2006/main">
              <a:ext uri="{FF2B5EF4-FFF2-40B4-BE49-F238E27FC236}">
                <a16:creationId xmlns:a16="http://schemas.microsoft.com/office/drawing/2014/main" id="{EF05792F-5C11-4AD0-A8D9-7153795721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0" y="3514725"/>
            <a:ext cx="79629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분석 → 변경 → 측정 → 회귀 확인을 매번 적는다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AE934C7-86D4-4589-8A74-A08AB3B976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767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17" name="Verification">
            <a:extLst xmlns:a="http://schemas.openxmlformats.org/drawingml/2006/main">
              <a:ext uri="{FF2B5EF4-FFF2-40B4-BE49-F238E27FC236}">
                <a16:creationId xmlns:a16="http://schemas.microsoft.com/office/drawing/2014/main" id="{D769AA4F-B418-4040-A824-710FB74C5A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52900"/>
            <a:ext cx="28575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Verification</a:t>
            </a:r>
          </a:p>
        </p:txBody>
      </p:sp>
      <p:sp>
        <p:nvSpPr>
          <p:cNvPr id="18" name="테스트와 Benchmark의 확인 기준이 모호하다">
            <a:extLst xmlns:a="http://schemas.openxmlformats.org/drawingml/2006/main">
              <a:ext uri="{FF2B5EF4-FFF2-40B4-BE49-F238E27FC236}">
                <a16:creationId xmlns:a16="http://schemas.microsoft.com/office/drawing/2014/main" id="{5F764C82-2923-49FA-ABBE-60247399C7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0" y="4152900"/>
            <a:ext cx="79629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테스트와 Benchmark의 확인 기준이 모호하다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2421977-50A9-48C4-B78F-3797993882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14875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20" name="Feedback Loop">
            <a:extLst xmlns:a="http://schemas.openxmlformats.org/drawingml/2006/main">
              <a:ext uri="{FF2B5EF4-FFF2-40B4-BE49-F238E27FC236}">
                <a16:creationId xmlns:a16="http://schemas.microsoft.com/office/drawing/2014/main" id="{3489750A-0425-43F0-9CB4-69DD0F5AEC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91075"/>
            <a:ext cx="28575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Feedback Loop</a:t>
            </a:r>
          </a:p>
        </p:txBody>
      </p:sp>
      <p:sp>
        <p:nvSpPr>
          <p:cNvPr id="21" name="같은 문제가 다시 생겨도 관련 시스템을 안 바꾼다">
            <a:extLst xmlns:a="http://schemas.openxmlformats.org/drawingml/2006/main">
              <a:ext uri="{FF2B5EF4-FFF2-40B4-BE49-F238E27FC236}">
                <a16:creationId xmlns:a16="http://schemas.microsoft.com/office/drawing/2014/main" id="{85B6D4A0-9206-4EE3-89F8-1855429ACC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0" y="4791075"/>
            <a:ext cx="79629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같은 문제가 다시 생겨도 관련 시스템을 안 바꾼다</a:t>
            </a:r>
          </a:p>
        </p:txBody>
      </p:sp>
      <p:sp>
        <p:nvSpPr>
          <p:cNvPr id="22" name="지금 내 업무와 가장 가까운 한 곳을 떠올려 본다.">
            <a:extLst xmlns:a="http://schemas.openxmlformats.org/drawingml/2006/main">
              <a:ext uri="{FF2B5EF4-FFF2-40B4-BE49-F238E27FC236}">
                <a16:creationId xmlns:a16="http://schemas.microsoft.com/office/drawing/2014/main" id="{48E7BE6C-CBA9-4776-B04F-C570B6A6E7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10200"/>
            <a:ext cx="10972800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지금 내 업무와 가장 가까운 한 곳을 떠올려 본다.</a:t>
            </a:r>
          </a:p>
        </p:txBody>
      </p:sp>
    </p:spTree>
    <p:extLst>
      <p:ext uri="{BB962C8B-B14F-4D97-AF65-F5344CB8AC3E}">
        <p14:creationId xmlns:p14="http://schemas.microsoft.com/office/powerpoint/2010/main" val="599064695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4F6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ACT 5 · 잠시 생각해 보기">
            <a:extLst xmlns:a="http://schemas.openxmlformats.org/drawingml/2006/main">
              <a:ext uri="{FF2B5EF4-FFF2-40B4-BE49-F238E27FC236}">
                <a16:creationId xmlns:a16="http://schemas.microsoft.com/office/drawing/2014/main" id="{F0671EFE-9560-4DC0-A970-C1B788180B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9810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ACT 5 · 잠시 생각해 보기</a:t>
            </a:r>
          </a:p>
        </p:txBody>
      </p:sp>
      <p:sp>
        <p:nvSpPr>
          <p:cNvPr id="2" name="S79">
            <a:extLst xmlns:a="http://schemas.openxmlformats.org/drawingml/2006/main">
              <a:ext uri="{FF2B5EF4-FFF2-40B4-BE49-F238E27FC236}">
                <a16:creationId xmlns:a16="http://schemas.microsoft.com/office/drawing/2014/main" id="{0D37ED27-9327-4E34-9E7B-C30EC5F976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457200"/>
            <a:ext cx="914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S79</a:t>
            </a:r>
          </a:p>
        </p:txBody>
      </p:sp>
      <p:sp>
        <p:nvSpPr>
          <p:cNvPr id="3" name="다음 작은 행동을 개인적으로 고른다">
            <a:extLst xmlns:a="http://schemas.openxmlformats.org/drawingml/2006/main">
              <a:ext uri="{FF2B5EF4-FFF2-40B4-BE49-F238E27FC236}">
                <a16:creationId xmlns:a16="http://schemas.microsoft.com/office/drawing/2014/main" id="{A24EBB90-A7D2-4FA7-86AA-AFF2C9A9C2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다음 작은 행동을 개인적으로 고른다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807678B-2592-4E39-B1D6-401D0245E5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293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5" name="BEAT-070–071 · 개인 성찰">
            <a:extLst xmlns:a="http://schemas.openxmlformats.org/drawingml/2006/main">
              <a:ext uri="{FF2B5EF4-FFF2-40B4-BE49-F238E27FC236}">
                <a16:creationId xmlns:a16="http://schemas.microsoft.com/office/drawing/2014/main" id="{39FAB5DD-E89F-426E-B8E9-B9207C2BC7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15025"/>
            <a:ext cx="109728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BEAT-070–071 · 개인 성찰</a:t>
            </a:r>
          </a:p>
        </p:txBody>
      </p:sp>
      <p:sp>
        <p:nvSpPr>
          <p:cNvPr id="6" name="마음속으로 떠올리는 시간이다. 기록·발표·제출은 요구하지 않는다.">
            <a:extLst xmlns:a="http://schemas.openxmlformats.org/drawingml/2006/main">
              <a:ext uri="{FF2B5EF4-FFF2-40B4-BE49-F238E27FC236}">
                <a16:creationId xmlns:a16="http://schemas.microsoft.com/office/drawing/2014/main" id="{09F8C83E-B8ED-4BBE-9111-7114A89F4D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91250"/>
            <a:ext cx="10972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마음속으로 떠올리는 시간이다. 기록·발표·제출은 요구하지 않는다.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04AB59E-FD7D-4236-9E83-346F7727B1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812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8" name="내가 반복해서 적는 설명은 무엇인가?">
            <a:extLst xmlns:a="http://schemas.openxmlformats.org/drawingml/2006/main">
              <a:ext uri="{FF2B5EF4-FFF2-40B4-BE49-F238E27FC236}">
                <a16:creationId xmlns:a16="http://schemas.microsoft.com/office/drawing/2014/main" id="{A437DF91-DE1E-40DE-8C74-6DD3B56CBB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52700"/>
            <a:ext cx="109728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내가 반복해서 적는 설명은 무엇인가?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3FE2519-97C3-4AB2-8CA1-38B8D14D81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528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10" name="AI가 반복해서 다시 찾는 프로젝트 사실은 무엇인가?">
            <a:extLst xmlns:a="http://schemas.openxmlformats.org/drawingml/2006/main">
              <a:ext uri="{FF2B5EF4-FFF2-40B4-BE49-F238E27FC236}">
                <a16:creationId xmlns:a16="http://schemas.microsoft.com/office/drawing/2014/main" id="{EF83AD90-6B09-4BA0-9B1D-B27DE014BC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24250"/>
            <a:ext cx="109728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AI가 반복해서 다시 찾는 프로젝트 사실은 무엇인가?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1A45C20-A041-4617-848E-1D1744EAD1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3243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12" name="같은 실패가 또 생긴다면 어디를 고칠 것인가?">
            <a:extLst xmlns:a="http://schemas.openxmlformats.org/drawingml/2006/main">
              <a:ext uri="{FF2B5EF4-FFF2-40B4-BE49-F238E27FC236}">
                <a16:creationId xmlns:a16="http://schemas.microsoft.com/office/drawing/2014/main" id="{8606DFE4-3825-48EE-BA10-D591FEEA9C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109728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같은 실패가 또 생긴다면 어디를 고칠 것인가?</a:t>
            </a:r>
          </a:p>
        </p:txBody>
      </p:sp>
    </p:spTree>
    <p:extLst>
      <p:ext uri="{BB962C8B-B14F-4D97-AF65-F5344CB8AC3E}">
        <p14:creationId xmlns:p14="http://schemas.microsoft.com/office/powerpoint/2010/main" val="1726533821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4F6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ACT 5 · 마지막 질문">
            <a:extLst xmlns:a="http://schemas.openxmlformats.org/drawingml/2006/main">
              <a:ext uri="{FF2B5EF4-FFF2-40B4-BE49-F238E27FC236}">
                <a16:creationId xmlns:a16="http://schemas.microsoft.com/office/drawing/2014/main" id="{F383A97C-0A06-4567-BF19-C290E61D0B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9810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ACT 5 · 마지막 질문</a:t>
            </a:r>
          </a:p>
        </p:txBody>
      </p:sp>
      <p:sp>
        <p:nvSpPr>
          <p:cNvPr id="2" name="S80">
            <a:extLst xmlns:a="http://schemas.openxmlformats.org/drawingml/2006/main">
              <a:ext uri="{FF2B5EF4-FFF2-40B4-BE49-F238E27FC236}">
                <a16:creationId xmlns:a16="http://schemas.microsoft.com/office/drawing/2014/main" id="{466583F1-BFA8-4A0E-90A2-95708943FC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457200"/>
            <a:ext cx="914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S80</a:t>
            </a:r>
          </a:p>
        </p:txBody>
      </p:sp>
      <p:sp>
        <p:nvSpPr>
          <p:cNvPr id="3" name="Q&amp;A와 교육 마무리">
            <a:extLst xmlns:a="http://schemas.openxmlformats.org/drawingml/2006/main">
              <a:ext uri="{FF2B5EF4-FFF2-40B4-BE49-F238E27FC236}">
                <a16:creationId xmlns:a16="http://schemas.microsoft.com/office/drawing/2014/main" id="{35487242-B390-4B03-B9C0-39373BD690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Q&amp;A와 교육 마무리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D3EF329-BDA6-4A56-89BC-1B1B0FDE17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293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5" name="BEAT-070–071 · 이 교육의 마무리">
            <a:extLst xmlns:a="http://schemas.openxmlformats.org/drawingml/2006/main">
              <a:ext uri="{FF2B5EF4-FFF2-40B4-BE49-F238E27FC236}">
                <a16:creationId xmlns:a16="http://schemas.microsoft.com/office/drawing/2014/main" id="{1C7F0061-4461-400C-8091-FC2CDB9E2A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15025"/>
            <a:ext cx="109728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BEAT-070–071 · 이 교육의 마무리</a:t>
            </a:r>
          </a:p>
        </p:txBody>
      </p:sp>
      <p:sp>
        <p:nvSpPr>
          <p:cNvPr id="6" name="목표 · 판단 · 검증 · 책임은 개발자에게 남는다.">
            <a:extLst xmlns:a="http://schemas.openxmlformats.org/drawingml/2006/main">
              <a:ext uri="{FF2B5EF4-FFF2-40B4-BE49-F238E27FC236}">
                <a16:creationId xmlns:a16="http://schemas.microsoft.com/office/drawing/2014/main" id="{EEF5006E-DCC6-4628-8FB3-794EA48235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91250"/>
            <a:ext cx="10972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목표 · 판단 · 검증 · 책임은 개발자에게 남는다.</a:t>
            </a:r>
          </a:p>
        </p:txBody>
      </p:sp>
      <p:sp>
        <p:nvSpPr>
          <p:cNvPr id="7" name="내 업무에서 무엇부터 바꿀까요?">
            <a:extLst xmlns:a="http://schemas.openxmlformats.org/drawingml/2006/main">
              <a:ext uri="{FF2B5EF4-FFF2-40B4-BE49-F238E27FC236}">
                <a16:creationId xmlns:a16="http://schemas.microsoft.com/office/drawing/2014/main" id="{1B05C6F6-E830-40AD-98AD-55C6EF9359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190750"/>
            <a:ext cx="109728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30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30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30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30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30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30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30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30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30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30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30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내 업무에서 무엇부터 바꿀까요?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9FEE564-C899-4D84-8792-385D2DD206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71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B6172"/>
            </a:solidFill>
            <a:prstDash val="solid"/>
          </a:ln>
        </p:spPr>
      </p:sp>
      <p:sp>
        <p:nvSpPr>
          <p:cNvPr id="9" name="AI가 잘 일할 환경을&#10;설계한다.">
            <a:extLst xmlns:a="http://schemas.openxmlformats.org/drawingml/2006/main">
              <a:ext uri="{FF2B5EF4-FFF2-40B4-BE49-F238E27FC236}">
                <a16:creationId xmlns:a16="http://schemas.microsoft.com/office/drawing/2014/main" id="{9D4B3D96-6CF9-447B-BA4C-AD12089F54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724275"/>
            <a:ext cx="10972800" cy="1457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42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42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42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42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42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42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42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42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42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42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42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42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AI가 잘 일할 환경을</a:t>
            </a:r>
          </a:p>
          <a:p xmlns:a="http://schemas.openxmlformats.org/drawingml/2006/main">
            <a:pPr algn="l">
              <a:defRPr sz="42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42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설계한다.</a:t>
            </a:r>
          </a:p>
        </p:txBody>
      </p:sp>
      <p:sp>
        <p:nvSpPr>
          <p:cNvPr id="10" name="Question  →  Task  →  Context  →  System  →  Feedback Loop">
            <a:extLst xmlns:a="http://schemas.openxmlformats.org/drawingml/2006/main">
              <a:ext uri="{FF2B5EF4-FFF2-40B4-BE49-F238E27FC236}">
                <a16:creationId xmlns:a16="http://schemas.microsoft.com/office/drawing/2014/main" id="{A176FD16-F8DC-4452-8047-6898E1F75E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372100"/>
            <a:ext cx="109728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Question  →  Task  →  Context  →  System  →  Feedback Loop</a:t>
            </a:r>
          </a:p>
        </p:txBody>
      </p:sp>
    </p:spTree>
    <p:extLst>
      <p:ext uri="{BB962C8B-B14F-4D97-AF65-F5344CB8AC3E}">
        <p14:creationId xmlns:p14="http://schemas.microsoft.com/office/powerpoint/2010/main" val="1728606787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Malgun Gothic"/>
        <a:ea typeface=""/>
        <a:cs typeface=""/>
      </a:majorFont>
      <a:minorFont>
        <a:latin typeface="Malgun Gothic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2026-10-18T14:37:36.7030000Z</dcterms:created>
  <dcterms:modified xsi:type="dcterms:W3CDTF">2026-10-18T14:37:36.7030000Z</dcterms:modified>
</coreProperties>
</file>