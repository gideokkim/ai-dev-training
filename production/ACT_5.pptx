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3348f01de64830" /><Relationship Type="http://schemas.openxmlformats.org/officeDocument/2006/relationships/extended-properties" Target="/docProps/app.xml" Id="R5df646a5d6a44219" /><Relationship Type="http://schemas.openxmlformats.org/officeDocument/2006/relationships/officeDocument" Target="/ppt/presentation.xml" Id="R08649665f57e4e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61252d70ee4f4b"/>
  </p:sldMasterIdLst>
  <p:notesMasterIdLst>
    <p:notesMasterId xmlns:r="http://schemas.openxmlformats.org/officeDocument/2006/relationships" r:id="R959f2af95a19403f"/>
  </p:notesMasterIdLst>
  <p:sldIdLst>
    <p:sldId xmlns:r="http://schemas.openxmlformats.org/officeDocument/2006/relationships" id="256" r:id="R1c00fed1038546d7"/>
    <p:sldId xmlns:r="http://schemas.openxmlformats.org/officeDocument/2006/relationships" id="257" r:id="R11bde68dfcd642dd"/>
    <p:sldId xmlns:r="http://schemas.openxmlformats.org/officeDocument/2006/relationships" id="258" r:id="Rf7e97ed77c3f4d78"/>
    <p:sldId xmlns:r="http://schemas.openxmlformats.org/officeDocument/2006/relationships" id="259" r:id="R9b7d411ee66b4aa2"/>
    <p:sldId xmlns:r="http://schemas.openxmlformats.org/officeDocument/2006/relationships" id="260" r:id="R4a0e4288cf284851"/>
    <p:sldId xmlns:r="http://schemas.openxmlformats.org/officeDocument/2006/relationships" id="261" r:id="R28731cd7b391494a"/>
    <p:sldId xmlns:r="http://schemas.openxmlformats.org/officeDocument/2006/relationships" id="262" r:id="Rbfbfa454daf64ce2"/>
    <p:sldId xmlns:r="http://schemas.openxmlformats.org/officeDocument/2006/relationships" id="263" r:id="Rd624f1d6210349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5ea51fa2e84f14" /><Relationship Type="http://schemas.openxmlformats.org/officeDocument/2006/relationships/slideMaster" Target="/ppt/slideMasters/slideMaster1.xml" Id="R9d61252d70ee4f4b" /><Relationship Type="http://schemas.openxmlformats.org/officeDocument/2006/relationships/notesMaster" Target="/ppt/notesMasters/notesMaster1.xml" Id="R959f2af95a19403f" /><Relationship Type="http://schemas.openxmlformats.org/officeDocument/2006/relationships/presProps" Target="/ppt/presProps.xml" Id="R63d9ca2b50ff4579" /><Relationship Type="http://schemas.openxmlformats.org/officeDocument/2006/relationships/tableStyles" Target="/ppt/tableStyles.xml" Id="R08e8541ef6b141b9" /><Relationship Type="http://schemas.openxmlformats.org/officeDocument/2006/relationships/slide" Target="/ppt/slides/slide1.xml" Id="R1c00fed1038546d7" /><Relationship Type="http://schemas.openxmlformats.org/officeDocument/2006/relationships/slide" Target="/ppt/slides/slide2.xml" Id="R11bde68dfcd642dd" /><Relationship Type="http://schemas.openxmlformats.org/officeDocument/2006/relationships/slide" Target="/ppt/slides/slide3.xml" Id="Rf7e97ed77c3f4d78" /><Relationship Type="http://schemas.openxmlformats.org/officeDocument/2006/relationships/slide" Target="/ppt/slides/slide4.xml" Id="R9b7d411ee66b4aa2" /><Relationship Type="http://schemas.openxmlformats.org/officeDocument/2006/relationships/slide" Target="/ppt/slides/slide5.xml" Id="R4a0e4288cf284851" /><Relationship Type="http://schemas.openxmlformats.org/officeDocument/2006/relationships/slide" Target="/ppt/slides/slide6.xml" Id="R28731cd7b391494a" /><Relationship Type="http://schemas.openxmlformats.org/officeDocument/2006/relationships/slide" Target="/ppt/slides/slide7.xml" Id="Rbfbfa454daf64ce2" /><Relationship Type="http://schemas.openxmlformats.org/officeDocument/2006/relationships/slide" Target="/ppt/slides/slide8.xml" Id="Rd624f1d6210349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5505389a4a41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8becc97f50465e" /><Relationship Type="http://schemas.openxmlformats.org/officeDocument/2006/relationships/notesMaster" Target="/ppt/notesMasters/notesMaster1.xml" Id="R2b72151c24114d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c60193b4474ef0" /><Relationship Type="http://schemas.openxmlformats.org/officeDocument/2006/relationships/notesMaster" Target="/ppt/notesMasters/notesMaster1.xml" Id="Ra8434a82193348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e7fe8de9ec4fa5" /><Relationship Type="http://schemas.openxmlformats.org/officeDocument/2006/relationships/notesMaster" Target="/ppt/notesMasters/notesMaster1.xml" Id="R633f3f0207f142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5aab4fb9834ad7" /><Relationship Type="http://schemas.openxmlformats.org/officeDocument/2006/relationships/notesMaster" Target="/ppt/notesMasters/notesMaster1.xml" Id="Rf9f670a8901945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cb1aee4fb144fd" /><Relationship Type="http://schemas.openxmlformats.org/officeDocument/2006/relationships/notesMaster" Target="/ppt/notesMasters/notesMaster1.xml" Id="R8d0076d1395643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c61a1e14e04410" /><Relationship Type="http://schemas.openxmlformats.org/officeDocument/2006/relationships/notesMaster" Target="/ppt/notesMasters/notesMaster1.xml" Id="R3829636d0ca64f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07e779f3894cc9" /><Relationship Type="http://schemas.openxmlformats.org/officeDocument/2006/relationships/notesMaster" Target="/ppt/notesMasters/notesMaster1.xml" Id="R28af02a6cf1147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1a6b7fa0d84a59" /><Relationship Type="http://schemas.openxmlformats.org/officeDocument/2006/relationships/notesMaster" Target="/ppt/notesMasters/notesMaster1.xml" Id="Rbc0c203f5a1a41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S73 — 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FULL STORY RECAP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Chatbot은 답을 구하고, Prompt는 Task를 구체화하며, Context는 필요한 Project 지식을 제공하고, Harness는 작업 환경을 설계하며, Loop는 Feedback으로 System을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“나는 지금 AI를 어떤 방식으로 사용하고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처음의 질문으로 돌아가 다섯 방식을 한눈에 보여준다.</a:t>
            </a:r>
          </a:p>
          <a:p xmlns:a="http://schemas.openxmlformats.org/drawingml/2006/main">
            <a:r>
              <a:t>2. (0:30–2:45 / Lecture) 각 행의 행동만 회수한다: 답을 구하기, 이번 작업 구체화, 프로젝트 지식 제공, 일하는 환경 설계, 피드백으로 시스템 수정. 새 용어를 덧붙이지 않는다.</a:t>
            </a:r>
          </a:p>
          <a:p xmlns:a="http://schemas.openxmlformats.org/drawingml/2006/main">
            <a:r>
              <a:t>3. (2:45–4:00 / Lecture) 앞의 방식이 사라지지 않고 문제에 맞는 대응이 더해졌다고 정리한다. S74 실제 Repository 이력→S75 선택 기준→S76 책임을 거쳐 S77에서 AI-Native 운영 모델을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다섯 방식이 어떤 문제에 대응했는지 여정을 회수한다. 실제 State 이름이나 책임 목록을 여기서 모두 설명하지 않고 S74와 S76에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BEAT-060 · 앞선 ACT의 Story callback. 새 Demo는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문제-driven 진화 모델이다. 각 단계는 앞 단계를 대체하거나 모든 개발자가 같은 maturity 순서로 이동해야 한다는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현재 사용 방식에서 다음으로 필요한 작은 engineering 대응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어떤 문제가 다음 단계의 접근을 필요하게 했는지 시스템 관점으로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기존 Vision 사례를 선택적으로 회상할 수 있다. 새 C++ 기술 사례는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다섯 개 행동 행을 차례로 가리킨다. 새로운 실행이나 상태를 추가하지 않는다. S77의 정의를 바로 다음 장에서 설명한다고 예고하지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띄우고 개인적으로 떠올리게 한다. 답변이나 현재 수준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“전체 교육 모델 가운데, 하나의 Repository에서 실제로 확인한 변화만 다시 보겠습니다.” S74로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총 4분, Lecture 4분. 각 단계 설명을 한 문장에 제한하고 앞선 ACT 내용을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S73와 production/preview/act5/S73.png를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S74 —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5 / 5A  PRIMARY DEMO EVOLUTION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각 State는 해당 문제에 대응해 기록된 Engineering history다. State 순서는 기능 성숙도 등급이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Repository는 어떤 문제를 만나며 바뀌었나?”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전체 교육 모델 가운데 실제 Product 이력만 회수하는 장임을 안내한다. 일곱 이름을 번호·화살표 순서로 읽고, 상단 왼쪽에서 오른쪽으로, 다음 하단 오른쪽에서 왼쪽으로 이동한다. State는 당시 문제에 대응한 이력임을 말한다.</a:t>
            </a:r>
          </a:p>
          <a:p xmlns:a="http://schemas.openxmlformats.org/drawingml/2006/main">
            <a:r>
              <a:t>2. (1:00–2:30 / VISUAL Demo) 아래 세 발췌(S16 crop 수정, S32 상세 문서 분리, S45 같은 조건의 성능 비교)를 가리키며 위의 일곱 State 변화와 연결한다. 작은 그림은 기억을 회수하는 용도이며 코드·경로·수치를 다시 읽는 시간이 아니다.</a:t>
            </a:r>
          </a:p>
          <a:p xmlns:a="http://schemas.openxmlformats.org/drawingml/2006/main">
            <a:r>
              <a:t>3. (2:30–3:00 / VISUAL Demo) STATE-04-PERF의 bounded endpoint에서 닫는다. Benchmark 준비 commit은 추가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State rail의 번호 01–07과 화살표를 따라간다. 상단은 왼쪽→오른쪽, 아래로 내려간 뒤 하단은 오른쪽→왼쪽으로 읽는다. 하단 발췌는 rail과 구분된 회상 자료이며 작은 코드·수치를 다시 읽거나 바로 위 State와 열 기준으로 대응시키지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OBSERVED_PRODUCT · `ai-dev-training-demo`의 named Git State/tag 기록과 DEMO-12. State 순서는 STATE-00 → STATE-00-FIXED → STATE-01 → STATE-02 → STATE-03 → STATE-04 → STATE-04-PERF다. 발췌 원본: assets/slide-illustrations/recap/S16-source.png, S32-source.png, S45-source.png (기존 production PNG와 동일). S16은 TRIAL-002 diff 재구성, S32는 STATE-02→03 문구 발췌, S45는 STATE-04→04-PERF 단일 코드·입력·환경 비교다. SHA-256과 native crop 범위: assets/slide-illustrations/ASSET_MANIFEST.json.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기록된 State와 Demo evidence 범위에 한정한다. Benchmark preparation commits는 supporting history이며 별도 State가 아니다. Subagent, Memory, stale Harness 또는 Loop를 Product State로 표시하지 않는다. 세 그림은 기존 발표자료 발췌이며 원본 실행 캡처가 아니다. S32로 Routing 우월성·토큰 절감을 주장하지 않고, S45는 tracemalloc 피크와 이 환경의 코드 변경 결과로 한정하며 RSS·Harness 단독 인과성으로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변화가 기능 수를 늘리기 위한 것이 아니라 당시 확인된 문제에 대응했다는 점을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Product State와 Conceptual 또는 Observed Meta 사례를 구분하고 bounded Product endpoint를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DEMO-12 · VISUAL, 2분. 실제 Product State/tag를 요약한 static timeline이다. 새 Trial·repository 실행·추가 state는 없다. Benchmark preparation은 별도 State로 그리지 않는다. 세 발췌와 seven-State rail을 함께 사용하되 개별 Trial을 새로 실행하거나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질문에 맞춰 각 State 아래 한 문구를 함께 훑는다. 평가 점수나 성숙도 단계로 읽지 않게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“그러면 이 작업에서 Subagent와 Memory는 왜 없었을까요?” S75로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1분 + VISUAL Demo 2분 = 3분. 세부 Trial을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production/ACT_5.pptx의 S74와 production/preview/act5/S74.png를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S75 — 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MINIMUM EFFECTIVE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bounded task에서는 Subagent와 Memory를 추가할 충분한 근거가 없었다. “Use what the problem justifies.”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“왜 현재 Demo의 최종 그림에 Subagent와 Memory가 없을까?”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이번 작업에서 쓴 왼쪽 요소와 보류한 오른쪽 요소를 비교한다.</a:t>
            </a:r>
          </a:p>
          <a:p xmlns:a="http://schemas.openxmlformats.org/drawingml/2006/main">
            <a:r>
              <a:t>2. (0:30–1:20 / Lecture) STATE-04-PERF와 DEC-0018의 bounded 범위에서 Subagent·Memory 추가의 이득이 충분히 정당화되지 않았다고 설명한다.</a:t>
            </a:r>
          </a:p>
          <a:p xmlns:a="http://schemas.openxmlformats.org/drawingml/2006/main">
            <a:r>
              <a:t>3. (1:20–2:00 / Lecture) “현재 문제가 필요로 하는 만큼 설계한다”는 기준을 남긴다. 기능 수가 많거나 적다는 이유만으로 성숙도를 판단하지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Demo에서 채택한 구성과 필요성을 입증하지 못한 구성을 대비한다. 여정 요약보다 무엇을 보류할지 판단한 기준에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OBSERVED_PRODUCT / TEACHING_MODEL · STATE-04-PERF와 DEC-0018. 사용한 요소: task Prompt, Project Context/routing, reusable Skill/workflow, Tests와 benchmark. 이번 bounded task에서 Subagent와 Memory는 사용되지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Demo의 bounded 작업과 이 교육의 프로젝트별 heuristic이다. 모든 Project에 Subagent/Memory가 불필요하거나 적게 쓰는 것이 항상 낫다는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처음부터 모든 기능을 넣지 않고 지금 반복되는 마찰과 필요한 지원부터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구성요소별 비용과 이득을 실제 task, context, verification 요구에 맞춰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Repository에서도 같은 정당화 질문을 적용할 수 있다. 새 C++ 절차는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왼쪽은 STATE-04-PERF의 system components, 오른쪽은 이번 사례에서 정당화되지 않은 Subagent/Memory다. 상태와 일반 규칙을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차이를 보고 “Use what the problem justifies”라는 기준을 가져간다. 도구 선택 답변이나 투표는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“필요한 구성요소를 선택한 뒤에도, 그 결과가 충분한지 판단하는 책임은 남습니다. 무엇을 확인하고 완료를 수용해야 할까요?” S76으로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2분. 구성요소를 다시 강의하지 않고 판단 근거와 범위에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S75와 production/preview/act5/S75.png를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S76 — 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DEVELOPER RESPONSIBILITY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Agent는 조사·생성·변경·실행·비교를 도울 수 있다. 개발자는 목표, 제약, 판단, Verification, 완료 여부와 결과 책임을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“AI가 더 많은 일을 맡아도 개발자가 계속 책임지는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(0:00–0:40 / Lecture) S75의 구성요소 선택에서 결과를 수용하는 판단으로 이어 간다. AI가 도울 수 있는 행동은 상단 한 문장으로만 읽는다.</a:t>
            </a:r>
          </a:p>
          <a:p xmlns:a="http://schemas.openxmlformats.org/drawingml/2006/main">
            <a:r>
              <a:t>2. (0:40–2:20 / Lecture) 네 질문을 차례로 짚는다: 해결할 목표, 적절한 선택, 확인 근거, 완료 수용 여부.</a:t>
            </a:r>
          </a:p>
          <a:p xmlns:a="http://schemas.openxmlformats.org/drawingml/2006/main">
            <a:r>
              <a:t>3. (2:20–3:00 / Lecture) 역할의 절대적 분업이 아니라 개발자의 판단과 책임을 강조하고 S77의 운영 모델로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AI가 도울 수 있는 행동은 짧게 읽고 개발자에게 남는 목표·판단·검증·책임의 질문을 차례로 확인한다. 이전 장의 도구 채택 목록을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BEAT-061–062. 새 Product feature나 책임 handoff evidence는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교육에서 고정한 책임 원칙이다. Agent와 개발자의 역할을 절대적인 분업 규칙으로 제시하지 않는다. AI fear/control framing을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AI가 결과를 만들 수 있어도 무엇이 맞고 완료인지 판단하는 일은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위임 범위, 제약, 검증 기준과 최종 수용 기준을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정적 role/responsibility diagram.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네 가지 책임 축을 읽고 자신의 완료 기준을 떠올리게 한다. 응답 요구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역할 변화를 이 교육에서는 어떤 모델로 부를까요?” S77로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다섯 Agent 행동을 상세 제품 기능처럼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S76와 production/preview/act5/S76.png를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S77 — 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AI-NATIVE DEVELOPMENT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교육은 Task Boundary, Project Context, Reusable Workflow, Verification, Feedback Loop를 의도적으로 설계·운영하는 방식을 AI-Native Development의 operational model로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“AI에게 일을 많이 맡기면 AI-Native일까?”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 과정이 AI가 일할 조건과 결과 확인 경로를 설계하는 방식에 AI-Native Development라는 운영 모델 이름을 붙였음을 밝힌다.</a:t>
            </a:r>
          </a:p>
          <a:p xmlns:a="http://schemas.openxmlformats.org/drawingml/2006/main">
            <a:r>
              <a:t>2. (0:30–2:20 / Lecture) 작업 경계, 프로젝트 지식·절차, 검증·피드백 세 행에서 각각 Task Boundary, Project Context/Reusable Workflow, Verification/Feedback Loop가 맡는 질문을 연결한다.</a:t>
            </a:r>
          </a:p>
          <a:p xmlns:a="http://schemas.openxmlformats.org/drawingml/2006/main">
            <a:r>
              <a:t>3. (2:20–3:00 / Lecture) 모든 Task에 모든 요소를 의무적으로 넣으라는 보편 정의가 아님을 한정하고 자신의 반복 마찰을 찾는 S78로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다섯 구성요소를 이 교육의 설계 질문으로 묶는다. 작업 경계→지식과 절차→검증과 피드백을 설명하되 공식·보편 정의나 의무적인 maturity 순서로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DEC-0023의 course-specific operational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공식·보편 업계 표준 정의라고 말하지 않는다. 모든 task 또는 Demo에 다섯 구성요소를 의무적으로 도입하라는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사용량을 늘리는 것만으로 끝내지 않고 반복되는 작은 마찰을 하나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Model capability와 작업 System/Harness 설계를 구분해 다음 병목을 진단한다.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다음 S78에서 C++ Vision 업무와 자신의 Repository로 transfer한다.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다섯 구성요소는 비교 가능한 system components로 보이며 maturity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남긴 뒤 course model의 범위를 확인한다. 공식 용어 정의나 정답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“내 Repository에서는 어떤 Layer에서 마찰이 반복될까요?” S78로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AI 사용량과 설계된 work system의 차이만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S77와 production/preview/act5/S77.png를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S78 — 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C++ VISION / MY REPOSITORY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1분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Task, Context, Workflow, Verification, Repeated Failure Loop 중 현재 가장 큰 마찰과 가까운 한 곳을 선택한다. 정해진 maturity sequence가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 Repository에서 다음 주에 하나만 바꾼다면?”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C++ Vision의 병목 범위, 빌드 조건·계약·하드웨어 가정, 분석·측정 절차를 업무에 비춰 보는 교육용 예시라고 밝힌다. 실제 프로젝트 사건이 아니다.</a:t>
            </a:r>
          </a:p>
          <a:p xmlns:a="http://schemas.openxmlformats.org/drawingml/2006/main">
            <a:r>
              <a:t>2. (1:00–3:00 / Transition) 다섯 행의 증상 질문을 읽으며 현재 자기 업무와 가까운 것이 있는지 마음속으로 떠올리게 한다. 같은 수준의 선택지이며 반드시 위에서부터 도입하는 순서가 아니다.</a:t>
            </a:r>
          </a:p>
          <a:p xmlns:a="http://schemas.openxmlformats.org/drawingml/2006/main">
            <a:r>
              <a:t>3. (3:00–5:00 / Transition) 떠올린 마찰 한 곳을 다음 작업의 작은 행동 하나로 좁히겠다고 안내하고 S79의 세 질문으로 연결한다. Task/Context/Workflow/Verification/Feedback의 새 개념 설명은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자기 업무의 반복 마찰 한 곳을 고르는 적용 질문에 집중한다. 모든 Layer를 도입하라는 체크리스트로 읽지 않고 현재 문제와 가장 가까운 한 곳만 고르게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C++ Vision engineering-pattern transfer. 실제 C++ Project, hardware, toolchain 또는 benchmark 결과는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다섯 선택지는 같은 높이의 적용 후보이며 순서가 있는 maturity ladder가 아니다. 특정 C++ Project 규칙·도구·hardware 또는 검증된 procedure를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전체 Harness를 새로 만들기 전에 반복해서 설명하거나 확인하는 부분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 비용, 위험과 verification surface를 보고 투자 지점을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새 Demo가 없다. 왼쪽 Layer 이름보다 오른쪽 반복되는 마찰을 먼저 읽고, 선택지들은 같은 높이의 적용 후보임을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선택지를 강사 주도로 비교한다. 청중에게 선택 발표, 투표, 실습, 제출을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“방금 떠올린 한 곳에서, 다음 작업 때 다르게 해 볼 작은 행동 하나를 마음속으로 골라 봅시다.” S79로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1분 + Transition 4분 = 5분. Transition 동안 새 사례를 열지 않고 reflection handoff만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S78와 production/preview/act5/S78.png를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S79 — 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반복해서 적는 설명, AI가 다시 찾는 Project 사실, 반복되는 실패에서 고칠 System layer 가운데 한 가지를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“방금 떠올린 마찰에서, 다음 작업 때 다르게 해 볼 작은 행동 하나는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S78에서 떠올린 반복 마찰 한 곳을 이어 받아, 다음 작업에서 다르게 해 볼 작은 행동 하나를 고르는 시간이라고 안내한다.</a:t>
            </a:r>
          </a:p>
          <a:p xmlns:a="http://schemas.openxmlformats.org/drawingml/2006/main">
            <a:r>
              <a:t>2. (1:00–2:00 / Lecture) 화면의 반복 설명 하나를 줄이는 방법, 다시 찾는 프로젝트 사실 하나를 둘 곳, 같은 실패 때 먼저 확인할 Layer의 세 질문을 읽는다. 자신과 가까운 질문 하나를 바탕으로 다음 행동을 떠올리게 한다.</a:t>
            </a:r>
          </a:p>
          <a:p xmlns:a="http://schemas.openxmlformats.org/drawingml/2006/main">
            <a:r>
              <a:t>3. (2:00–4:00 / Reflection) 두 분 동안 다음 행동 하나를 조용히 개인적으로 고를 시간을 둔다. 답변·기록·발표·제출을 요구하지 않는다. 시간 뒤 S80 질문 시간으로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장은 개인적인 선택을 위한 침묵을 허용한다. 앞의 여정·State·모델을 다시 강의하지 않고 작은 다음 행동 하나를 생각하게 한다. 답변·공유·공개 약속은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승인된 private reflection prompt. 개인 업무에 대한 새 관찰 근거는 수집하지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개인 Reflection이며 응답, 공유, written commitment 또는 실제 업무 변경을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반복되는 설명이나 Project 사실을 AI가 다시 찾는 지점부터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같은 실패가 반복될 때 Prompt 밖의 어떤 System layer가 원인인지 떠올린다.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Vision 또는 개발 Repository에 같은 질문을 개인적으로 적용할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Demo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떠올린 마찰에 맞는 다음 행동 하나를 마음속으로 고르는 개인 성찰로 진행한다. 공유나 실천 약속을 요구하지 않고 응답을 받기 위해 기다리지 않는다. 2분 뒤 바로 S80으로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“이제 질문을 받고, 마지막 공통 모델로 마무리하겠습니다.” S80으로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Reflection 2분 = 4분. Reflection은 2분에 종료하고 Q&amp;A와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S79와 production/preview/act5/S79.png를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S80 — 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Q&amp;A / CLOSING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Q&amp;A 4분 + Closing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Goal, Judgment, Verification, Responsibility를 유지하면서 AI가 일할 환경과 Feedback을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“남은 질문은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(0:00–4:00 / Q&amp;A) 상단의 “내 업무에서 무엇부터 바꿀까요?”를 가리키고 질문을 받는다. 질문이 없으면 “반복 설명을 줄이려면 Task와 Project Context 중 무엇을 살필까요?” 또는 “결과 확인 기준을 먼저 정한다면 어떤 업무부터 볼까요?”를 사용해 앞의 교육 모델 안에서 짧게 정리한다.</a:t>
            </a:r>
          </a:p>
          <a:p xmlns:a="http://schemas.openxmlformats.org/drawingml/2006/main">
            <a:r>
              <a:t>2. (4:00–6:00 / Closing Transition) 질문을 마감하고 중앙의 “AI가 잘 일할 환경을 설계한다”로 마무리한다. 하단 Question→Task→Context→System→Feedback Loop를 짧게 회수한다.</a:t>
            </a:r>
          </a:p>
          <a:p xmlns:a="http://schemas.openxmlformats.org/drawingml/2006/main">
            <a:r>
              <a:t>3. 종료 cue: “목표·판단·검증·책임을 유지하면서, AI가 잘 일할 환경을 설계합시다.”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BEAT-070–071. 새로운 Product claim이나 기술 개념은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AI-Native Development의 course-specific framing으로 닫는다. 제품 기능, 자동화 수준 또는 모든 상황의 단일 처방을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 대신 내 일에 필요한 환경과 확인 기준을 기억한다.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Goal, Judgment, Verification, Responsibility를 유지하며 System의 Feedback 경로를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Q&amp;A 운영 지시와 시간표는 Notes에만 두고 화면에는 질문과 마지막 한 문장을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Q&amp;A 4분. 질문이 없으면 FAQ 또는 개발 업무 적용 질문 하나를 사용하며 새로운 강의 topic을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2분 closing transition: Question → Task → Context → System → Feedback Loop를 회수하고 교육을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Q&amp;A 4분 + Closing Transition 2분 = 6분. Q&amp;A는 4분에 마감하고 추가 질문을 이유로 시간을 늘리지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S80와 production/preview/act5/S80.png를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bee3d5bd834bd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b316d0da1844b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dbe70ee59b461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ec32be2584c3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441bead43b4d4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e45358734f49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D1805E-343A-45E6-BEB4-29EB2FA9BC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7850A89-FB49-4679-B33B-54DE159CAC2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1B90F29-4ACB-4D76-94B1-78D185480C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F365D4-77F7-46CB-8891-E8FAE42BC1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761F7D8-E96C-4C43-9358-6526ADD19E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8495C3-022A-4A88-A171-32420C136B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8418F95-B6F0-4200-85CF-345B23AC75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C0E3BD2-A37C-4C71-B350-BF0E4486B9F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B924215-F74A-4663-97F1-2DDA56B0B5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D9698A3-7C45-4216-AA8C-9A5DB6B92B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f3b3e55512448d" /><Relationship Type="http://schemas.openxmlformats.org/officeDocument/2006/relationships/slideLayout" Target="/ppt/slideLayouts/slideLayout1.xml" Id="Rd2ea5bde72f04caa" /><Relationship Type="http://schemas.openxmlformats.org/officeDocument/2006/relationships/slideLayout" Target="/ppt/slideLayouts/slideLayout2.xml" Id="R52c5f33baac942c1" /><Relationship Type="http://schemas.openxmlformats.org/officeDocument/2006/relationships/slideLayout" Target="/ppt/slideLayouts/slideLayout3.xml" Id="R4dad523cdebc4212" /><Relationship Type="http://schemas.openxmlformats.org/officeDocument/2006/relationships/slideLayout" Target="/ppt/slideLayouts/slideLayout4.xml" Id="R69c9416a81aa416a" /><Relationship Type="http://schemas.openxmlformats.org/officeDocument/2006/relationships/slideLayout" Target="/ppt/slideLayouts/slideLayout5.xml" Id="Ra6d150c9c4ec46b6" /><Relationship Type="http://schemas.openxmlformats.org/officeDocument/2006/relationships/slideLayout" Target="/ppt/slideLayouts/slideLayout6.xml" Id="Rf29056627d1547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ea5bde72f04caa"/>
    <p:sldLayoutId xmlns:r="http://schemas.openxmlformats.org/officeDocument/2006/relationships" id="2147483650" r:id="R52c5f33baac942c1"/>
    <p:sldLayoutId xmlns:r="http://schemas.openxmlformats.org/officeDocument/2006/relationships" id="2147483651" r:id="R4dad523cdebc4212"/>
    <p:sldLayoutId xmlns:r="http://schemas.openxmlformats.org/officeDocument/2006/relationships" id="2147483652" r:id="R69c9416a81aa416a"/>
    <p:sldLayoutId xmlns:r="http://schemas.openxmlformats.org/officeDocument/2006/relationships" id="2147483653" r:id="Ra6d150c9c4ec46b6"/>
    <p:sldLayoutId xmlns:r="http://schemas.openxmlformats.org/officeDocument/2006/relationships" id="2147483654" r:id="Rf29056627d1547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0c1077400a4820" /><Relationship Type="http://schemas.openxmlformats.org/officeDocument/2006/relationships/notesSlide" Target="/ppt/notesSlides/notesSlide1.xml" Id="Re4f865a842244d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13ee1cb07445b2" /><Relationship Type="http://schemas.openxmlformats.org/officeDocument/2006/relationships/image" Target="/ppt/media/image.png" Id="R6f4694825f0c4c57" /><Relationship Type="http://schemas.openxmlformats.org/officeDocument/2006/relationships/image" Target="/ppt/media/image2.png" Id="R42601bd7d92a4389" /><Relationship Type="http://schemas.openxmlformats.org/officeDocument/2006/relationships/image" Target="/ppt/media/image3.png" Id="R92e3a6366bc04025" /><Relationship Type="http://schemas.openxmlformats.org/officeDocument/2006/relationships/notesSlide" Target="/ppt/notesSlides/notesSlide2.xml" Id="R316994dfc65346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48112b48154390" /><Relationship Type="http://schemas.openxmlformats.org/officeDocument/2006/relationships/notesSlide" Target="/ppt/notesSlides/notesSlide3.xml" Id="Rbd87c2103bd24a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868c03cc2b4d87" /><Relationship Type="http://schemas.openxmlformats.org/officeDocument/2006/relationships/notesSlide" Target="/ppt/notesSlides/notesSlide4.xml" Id="R8022d097e69947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3da773572c4b96" /><Relationship Type="http://schemas.openxmlformats.org/officeDocument/2006/relationships/notesSlide" Target="/ppt/notesSlides/notesSlide5.xml" Id="Rd6d9666ac83943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205b66751e4c13" /><Relationship Type="http://schemas.openxmlformats.org/officeDocument/2006/relationships/notesSlide" Target="/ppt/notesSlides/notesSlide6.xml" Id="Rbcf148d63bb947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3e41fe0c164411" /><Relationship Type="http://schemas.openxmlformats.org/officeDocument/2006/relationships/notesSlide" Target="/ppt/notesSlides/notesSlide7.xml" Id="R9f32f9afda0e41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567b5740004862" /><Relationship Type="http://schemas.openxmlformats.org/officeDocument/2006/relationships/notesSlide" Target="/ppt/notesSlides/notesSlide8.xml" Id="Ra9272dbee07b43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T 5 · 전체 여정 회수">
            <a:extLst xmlns:a="http://schemas.openxmlformats.org/drawingml/2006/main">
              <a:ext uri="{FF2B5EF4-FFF2-40B4-BE49-F238E27FC236}">
                <a16:creationId xmlns:a16="http://schemas.microsoft.com/office/drawing/2014/main" id="{C45AB1D3-5651-48FA-AD8C-C63B7694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전체 여정 회수</a:t>
            </a:r>
          </a:p>
        </p:txBody>
      </p:sp>
      <p:sp>
        <p:nvSpPr>
          <p:cNvPr id="2" name="S73">
            <a:extLst xmlns:a="http://schemas.openxmlformats.org/drawingml/2006/main">
              <a:ext uri="{FF2B5EF4-FFF2-40B4-BE49-F238E27FC236}">
                <a16:creationId xmlns:a16="http://schemas.microsoft.com/office/drawing/2014/main" id="{2DCB732C-4331-477A-801E-50074E13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S73</a:t>
            </a:r>
          </a:p>
        </p:txBody>
      </p:sp>
      <p:sp>
        <p:nvSpPr>
          <p:cNvPr id="3" name="여섯 시간의 Story를 한 장으로">
            <a:extLst xmlns:a="http://schemas.openxmlformats.org/drawingml/2006/main">
              <a:ext uri="{FF2B5EF4-FFF2-40B4-BE49-F238E27FC236}">
                <a16:creationId xmlns:a16="http://schemas.microsoft.com/office/drawing/2014/main" id="{24B42D5A-7FEC-4622-8305-D9EAF4D1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여섯 시간의 Story를 한 장으로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04013-6127-4B1C-A37F-017C9CED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0 · 이 교육의 문제 중심 진화 모델">
            <a:extLst xmlns:a="http://schemas.openxmlformats.org/drawingml/2006/main">
              <a:ext uri="{FF2B5EF4-FFF2-40B4-BE49-F238E27FC236}">
                <a16:creationId xmlns:a16="http://schemas.microsoft.com/office/drawing/2014/main" id="{A85B260C-3470-4530-89E9-ACA217C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BEAT-060 · 이 교육의 문제 중심 진화 모델</a:t>
            </a:r>
          </a:p>
        </p:txBody>
      </p:sp>
      <p:sp>
        <p:nvSpPr>
          <p:cNvPr id="6" name="앞의 방식을 버리거나, 모든 프로젝트가 같은 순서로 발전해야 한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8F1DFA14-0759-41D0-8CC7-32F4C1F49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방식을 버리거나, 모든 프로젝트가 같은 순서로 발전해야 한다는 뜻은 아니다.</a:t>
            </a:r>
          </a:p>
        </p:txBody>
      </p:sp>
      <p:sp>
        <p:nvSpPr>
          <p:cNvPr id="7" name="문제가 넓어질수록, 필요한 대응이 더해졌다.">
            <a:extLst xmlns:a="http://schemas.openxmlformats.org/drawingml/2006/main">
              <a:ext uri="{FF2B5EF4-FFF2-40B4-BE49-F238E27FC236}">
                <a16:creationId xmlns:a16="http://schemas.microsoft.com/office/drawing/2014/main" id="{31497DFC-9209-4372-80BD-888A2FFC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문제가 넓어질수록, 필요한 대응이 더해졌다.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5B9D57F4-02D6-46F0-8CC9-DDCC4B95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AB0AC-45C6-4F34-ADF9-09BA0AB0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Chatbot">
            <a:extLst xmlns:a="http://schemas.openxmlformats.org/drawingml/2006/main">
              <a:ext uri="{FF2B5EF4-FFF2-40B4-BE49-F238E27FC236}">
                <a16:creationId xmlns:a16="http://schemas.microsoft.com/office/drawing/2014/main" id="{0FF9C788-99A6-47E3-9B0A-DA492D9E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Chatbot</a:t>
            </a:r>
          </a:p>
        </p:txBody>
      </p:sp>
      <p:sp>
        <p:nvSpPr>
          <p:cNvPr id="11" name="답을 구한다">
            <a:extLst xmlns:a="http://schemas.openxmlformats.org/drawingml/2006/main">
              <a:ext uri="{FF2B5EF4-FFF2-40B4-BE49-F238E27FC236}">
                <a16:creationId xmlns:a16="http://schemas.microsoft.com/office/drawing/2014/main" id="{6778499C-7FF7-4A24-984B-669CAA0D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구한다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5FA60-AA1C-4771-95EC-60FFF843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368FD4FE-D36B-45CB-843B-4F6C2D4E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E81ACD-175C-4EB5-A373-A9CD98D7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Prompt">
            <a:extLst xmlns:a="http://schemas.openxmlformats.org/drawingml/2006/main">
              <a:ext uri="{FF2B5EF4-FFF2-40B4-BE49-F238E27FC236}">
                <a16:creationId xmlns:a16="http://schemas.microsoft.com/office/drawing/2014/main" id="{FF07B5F9-5CD7-4585-BD63-F3733617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16" name="이번 작업을&#10;구체화한다">
            <a:extLst xmlns:a="http://schemas.openxmlformats.org/drawingml/2006/main">
              <a:ext uri="{FF2B5EF4-FFF2-40B4-BE49-F238E27FC236}">
                <a16:creationId xmlns:a16="http://schemas.microsoft.com/office/drawing/2014/main" id="{FDED153A-9831-4E71-A295-A08CA992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8CEFF6-8321-4D09-ABC3-C99BD298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9D484854-775F-4858-824D-D7DD5D0B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FE4C57-3BF0-48D6-9A6E-5F874E1D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Context">
            <a:extLst xmlns:a="http://schemas.openxmlformats.org/drawingml/2006/main">
              <a:ext uri="{FF2B5EF4-FFF2-40B4-BE49-F238E27FC236}">
                <a16:creationId xmlns:a16="http://schemas.microsoft.com/office/drawing/2014/main" id="{ED6F78CA-F8DB-4BCB-B0D9-8DA2CA3D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21" name="프로젝트 지식을&#10;제공한다">
            <a:extLst xmlns:a="http://schemas.openxmlformats.org/drawingml/2006/main">
              <a:ext uri="{FF2B5EF4-FFF2-40B4-BE49-F238E27FC236}">
                <a16:creationId xmlns:a16="http://schemas.microsoft.com/office/drawing/2014/main" id="{643E37F3-EBAE-4EE2-9FB9-38B53CD4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지식을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제공한다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ED3116-E900-49B0-BFCF-AAC5ED35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0B71AE8B-D38C-49A0-A713-B08BE497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40CE94-510A-44B4-8BBD-D7CDA84B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5" name="Harness">
            <a:extLst xmlns:a="http://schemas.openxmlformats.org/drawingml/2006/main">
              <a:ext uri="{FF2B5EF4-FFF2-40B4-BE49-F238E27FC236}">
                <a16:creationId xmlns:a16="http://schemas.microsoft.com/office/drawing/2014/main" id="{85E50E3E-F68C-4BBE-A954-D76A41B0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26" name="일하는 환경을&#10;설계한다">
            <a:extLst xmlns:a="http://schemas.openxmlformats.org/drawingml/2006/main">
              <a:ext uri="{FF2B5EF4-FFF2-40B4-BE49-F238E27FC236}">
                <a16:creationId xmlns:a16="http://schemas.microsoft.com/office/drawing/2014/main" id="{038BA9CD-AC1A-47B3-8C6F-EF5F4A9E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일하는 환경을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3AB6D6-C0AB-4781-9C6D-5664CBB0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8" name="05">
            <a:extLst xmlns:a="http://schemas.openxmlformats.org/drawingml/2006/main">
              <a:ext uri="{FF2B5EF4-FFF2-40B4-BE49-F238E27FC236}">
                <a16:creationId xmlns:a16="http://schemas.microsoft.com/office/drawing/2014/main" id="{0027C369-C102-4626-A75B-F04D4472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33BBFB-FDC2-40B3-BA96-E40E1C1A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0" name="Loop">
            <a:extLst xmlns:a="http://schemas.openxmlformats.org/drawingml/2006/main">
              <a:ext uri="{FF2B5EF4-FFF2-40B4-BE49-F238E27FC236}">
                <a16:creationId xmlns:a16="http://schemas.microsoft.com/office/drawing/2014/main" id="{0A9451FB-D16D-485D-B2EB-039B0C8B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31" name="피드백으로&#10;시스템을 고친다">
            <a:extLst xmlns:a="http://schemas.openxmlformats.org/drawingml/2006/main">
              <a:ext uri="{FF2B5EF4-FFF2-40B4-BE49-F238E27FC236}">
                <a16:creationId xmlns:a16="http://schemas.microsoft.com/office/drawing/2014/main" id="{79502BC5-1C7F-4981-84DE-947BDFF6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피드백으로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시스템을 고친다</a:t>
            </a:r>
          </a:p>
        </p:txBody>
      </p:sp>
      <p:sp>
        <p:nvSpPr>
          <p:cNvPr id="32" name="지금 나는 AI를 어떤 방식으로 사용하고 있을까?">
            <a:extLst xmlns:a="http://schemas.openxmlformats.org/drawingml/2006/main">
              <a:ext uri="{FF2B5EF4-FFF2-40B4-BE49-F238E27FC236}">
                <a16:creationId xmlns:a16="http://schemas.microsoft.com/office/drawing/2014/main" id="{D0BD1024-DDE1-421A-9595-3D126FAD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나는 AI를 어떤 방식으로 사용하고 있을까?</a:t>
            </a:r>
          </a:p>
        </p:txBody>
      </p:sp>
      <p:sp>
        <p:nvSpPr>
          <p:cNvPr id="3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AD73553-EF21-4C24-BBF4-49F9DC6B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</a:t>
            </a:r>
          </a:p>
        </p:txBody>
      </p:sp>
    </p:spTree>
    <p:extLst>
      <p:ext uri="{BB962C8B-B14F-4D97-AF65-F5344CB8AC3E}">
        <p14:creationId xmlns:p14="http://schemas.microsoft.com/office/powerpoint/2010/main" val="14210586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ACT 5 · 확인된 제품 변화">
            <a:extLst xmlns:a="http://schemas.openxmlformats.org/drawingml/2006/main">
              <a:ext uri="{FF2B5EF4-FFF2-40B4-BE49-F238E27FC236}">
                <a16:creationId xmlns:a16="http://schemas.microsoft.com/office/drawing/2014/main" id="{B639D80E-0A88-4D46-838C-CA2BBDB3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확인된 제품 변화</a:t>
            </a:r>
          </a:p>
        </p:txBody>
      </p:sp>
      <p:sp>
        <p:nvSpPr>
          <p:cNvPr id="2" name="S74">
            <a:extLst xmlns:a="http://schemas.openxmlformats.org/drawingml/2006/main">
              <a:ext uri="{FF2B5EF4-FFF2-40B4-BE49-F238E27FC236}">
                <a16:creationId xmlns:a16="http://schemas.microsoft.com/office/drawing/2014/main" id="{14BFFB36-2AED-4633-BD14-A7CD38B2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S74</a:t>
            </a:r>
          </a:p>
        </p:txBody>
      </p:sp>
      <p:sp>
        <p:nvSpPr>
          <p:cNvPr id="3" name="하나의 Repository가 문제에 대응해 진화했다">
            <a:extLst xmlns:a="http://schemas.openxmlformats.org/drawingml/2006/main">
              <a:ext uri="{FF2B5EF4-FFF2-40B4-BE49-F238E27FC236}">
                <a16:creationId xmlns:a16="http://schemas.microsoft.com/office/drawing/2014/main" id="{DA3E63DC-157C-41E0-B94C-A9F6807C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하나의 Repository가 문제에 대응해 진화했다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62C68A-F76A-4FEE-9147-FB2E07D8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MO-12 · 실제 Git State 이력 · S16 / S32 / S45 발표자료 발췌">
            <a:extLst xmlns:a="http://schemas.openxmlformats.org/drawingml/2006/main">
              <a:ext uri="{FF2B5EF4-FFF2-40B4-BE49-F238E27FC236}">
                <a16:creationId xmlns:a16="http://schemas.microsoft.com/office/drawing/2014/main" id="{839DF950-D5A6-4A98-9C23-783A7BB2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DEMO-12 · 실제 Git State 이력 · S16 / S32 / S45 발표자료 발췌</a:t>
            </a:r>
          </a:p>
        </p:txBody>
      </p:sp>
      <p:sp>
        <p:nvSpPr>
          <p:cNvPr id="6" name="원본 실행 화면 아님 · 성능은 해당 코드·입력·환경 범위 · State는 성숙도 등급이나 Product L">
            <a:extLst xmlns:a="http://schemas.openxmlformats.org/drawingml/2006/main">
              <a:ext uri="{FF2B5EF4-FFF2-40B4-BE49-F238E27FC236}">
                <a16:creationId xmlns:a16="http://schemas.microsoft.com/office/drawing/2014/main" id="{4E23A7A6-1B7D-4674-8CCB-19ED1389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원본 실행 화면 아님 · 성능은 해당 코드·입력·환경 범위 · State는 성숙도 등급이나 Product Loop가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C60322-06CA-4E46-973A-1A462314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AF5835F6-FFB7-41C9-AF50-80C5021C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STATE-00">
            <a:extLst xmlns:a="http://schemas.openxmlformats.org/drawingml/2006/main">
              <a:ext uri="{FF2B5EF4-FFF2-40B4-BE49-F238E27FC236}">
                <a16:creationId xmlns:a16="http://schemas.microsoft.com/office/drawing/2014/main" id="{5C0C0AA2-46B2-4F34-B6BD-AB7B4C82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</a:t>
            </a:r>
          </a:p>
        </p:txBody>
      </p:sp>
      <p:sp>
        <p:nvSpPr>
          <p:cNvPr id="10" name="crop 경계 문제">
            <a:extLst xmlns:a="http://schemas.openxmlformats.org/drawingml/2006/main">
              <a:ext uri="{FF2B5EF4-FFF2-40B4-BE49-F238E27FC236}">
                <a16:creationId xmlns:a16="http://schemas.microsoft.com/office/drawing/2014/main" id="{B4008B8B-8337-47AD-888B-691D33DA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문제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3F032C-B304-47CE-BBED-AB5FBE42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6C51F0-422E-4F53-9CAD-076BB4A1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9A0A469A-DE8F-4A02-B189-FA5A2756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STATE-00-FIXED">
            <a:extLst xmlns:a="http://schemas.openxmlformats.org/drawingml/2006/main">
              <a:ext uri="{FF2B5EF4-FFF2-40B4-BE49-F238E27FC236}">
                <a16:creationId xmlns:a16="http://schemas.microsoft.com/office/drawing/2014/main" id="{16C7D672-F611-4DF4-A36B-19AA78AB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STATE-00-FIXED</a:t>
            </a:r>
          </a:p>
        </p:txBody>
      </p:sp>
      <p:sp>
        <p:nvSpPr>
          <p:cNvPr id="15" name="계약에 맞게 수정">
            <a:extLst xmlns:a="http://schemas.openxmlformats.org/drawingml/2006/main">
              <a:ext uri="{FF2B5EF4-FFF2-40B4-BE49-F238E27FC236}">
                <a16:creationId xmlns:a16="http://schemas.microsoft.com/office/drawing/2014/main" id="{E6AB25AC-DAF2-4980-A0B0-E9382AA5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계약에 맞게 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B376E9-6EE6-4BA2-95BE-65EFE7E0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35FF2-B2DF-46B4-981F-D1B0A4E6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DFDE4D10-3277-4649-AF28-6F12EC42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STATE-01">
            <a:extLst xmlns:a="http://schemas.openxmlformats.org/drawingml/2006/main">
              <a:ext uri="{FF2B5EF4-FFF2-40B4-BE49-F238E27FC236}">
                <a16:creationId xmlns:a16="http://schemas.microsoft.com/office/drawing/2014/main" id="{B39D1353-B18C-4563-AA4E-9838F4BF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20" name="프로젝트 지침">
            <a:extLst xmlns:a="http://schemas.openxmlformats.org/drawingml/2006/main">
              <a:ext uri="{FF2B5EF4-FFF2-40B4-BE49-F238E27FC236}">
                <a16:creationId xmlns:a16="http://schemas.microsoft.com/office/drawing/2014/main" id="{9DAB1915-6DF5-4586-9859-2CFE0848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D008E8-1DEB-4A25-B374-F7064C9D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0C2B3D-46D7-4226-BFCD-378C7B72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C70B5B62-70BD-43B6-96ED-6E909DCE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STATE-02">
            <a:extLst xmlns:a="http://schemas.openxmlformats.org/drawingml/2006/main">
              <a:ext uri="{FF2B5EF4-FFF2-40B4-BE49-F238E27FC236}">
                <a16:creationId xmlns:a16="http://schemas.microsoft.com/office/drawing/2014/main" id="{3F09E2F5-4350-4C9F-A847-2D630B63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STATE-02</a:t>
            </a:r>
          </a:p>
        </p:txBody>
      </p:sp>
      <p:sp>
        <p:nvSpPr>
          <p:cNvPr id="25" name="Context 증가">
            <a:extLst xmlns:a="http://schemas.openxmlformats.org/drawingml/2006/main">
              <a:ext uri="{FF2B5EF4-FFF2-40B4-BE49-F238E27FC236}">
                <a16:creationId xmlns:a16="http://schemas.microsoft.com/office/drawing/2014/main" id="{5FF0A752-D4C8-43BB-BDAE-6577E2B7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 증가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E1D203-CC4F-49EA-B82A-501ECC38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7" name="05">
            <a:extLst xmlns:a="http://schemas.openxmlformats.org/drawingml/2006/main">
              <a:ext uri="{FF2B5EF4-FFF2-40B4-BE49-F238E27FC236}">
                <a16:creationId xmlns:a16="http://schemas.microsoft.com/office/drawing/2014/main" id="{D3E38407-DF0C-42A2-A5D4-5FD69140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8" name="STATE-03">
            <a:extLst xmlns:a="http://schemas.openxmlformats.org/drawingml/2006/main">
              <a:ext uri="{FF2B5EF4-FFF2-40B4-BE49-F238E27FC236}">
                <a16:creationId xmlns:a16="http://schemas.microsoft.com/office/drawing/2014/main" id="{B554B1FC-29C0-45D9-8218-35D7037F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STATE-03</a:t>
            </a:r>
          </a:p>
        </p:txBody>
      </p:sp>
      <p:sp>
        <p:nvSpPr>
          <p:cNvPr id="29" name="상세 정보로 연결">
            <a:extLst xmlns:a="http://schemas.openxmlformats.org/drawingml/2006/main">
              <a:ext uri="{FF2B5EF4-FFF2-40B4-BE49-F238E27FC236}">
                <a16:creationId xmlns:a16="http://schemas.microsoft.com/office/drawing/2014/main" id="{C91E8D2B-9270-4A02-8F5C-0B425B6F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정보로 연결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28A94A-B370-4A4A-AB84-D5F4CC5A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D67BDC-A924-46CC-83D7-8515036F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32" name="06">
            <a:extLst xmlns:a="http://schemas.openxmlformats.org/drawingml/2006/main">
              <a:ext uri="{FF2B5EF4-FFF2-40B4-BE49-F238E27FC236}">
                <a16:creationId xmlns:a16="http://schemas.microsoft.com/office/drawing/2014/main" id="{83DF0FEF-4282-4FC5-9273-A5C1EC4E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3" name="STATE-04">
            <a:extLst xmlns:a="http://schemas.openxmlformats.org/drawingml/2006/main">
              <a:ext uri="{FF2B5EF4-FFF2-40B4-BE49-F238E27FC236}">
                <a16:creationId xmlns:a16="http://schemas.microsoft.com/office/drawing/2014/main" id="{AF06791B-DBB3-467E-905F-94BE413F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STATE-04</a:t>
            </a:r>
          </a:p>
        </p:txBody>
      </p:sp>
      <p:sp>
        <p:nvSpPr>
          <p:cNvPr id="34" name="재사용 Workflow">
            <a:extLst xmlns:a="http://schemas.openxmlformats.org/drawingml/2006/main">
              <a:ext uri="{FF2B5EF4-FFF2-40B4-BE49-F238E27FC236}">
                <a16:creationId xmlns:a16="http://schemas.microsoft.com/office/drawing/2014/main" id="{8B8E8AD0-F445-4A79-A99D-737C4F1A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495BFD-8D7D-437F-8685-DBF98DB7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32C041-88D7-4D37-867F-413CD86F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6B4D"/>
            </a:solidFill>
            <a:prstDash val="solid"/>
          </a:ln>
        </p:spPr>
      </p:sp>
      <p:sp>
        <p:nvSpPr>
          <p:cNvPr id="37" name="07">
            <a:extLst xmlns:a="http://schemas.openxmlformats.org/drawingml/2006/main">
              <a:ext uri="{FF2B5EF4-FFF2-40B4-BE49-F238E27FC236}">
                <a16:creationId xmlns:a16="http://schemas.microsoft.com/office/drawing/2014/main" id="{60CA0D45-E1DA-4A5F-93A1-ED3AF67C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38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3BDF3579-3E1E-498E-AD79-09808FAF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76B4D"/>
                </a:solidFill>
                <a:latin typeface="Consolas"/>
                <a:ea typeface="Consolas"/>
                <a:cs typeface="Consolas"/>
              </a:rPr>
              <a:t>STATE-04-PERF</a:t>
            </a:r>
          </a:p>
        </p:txBody>
      </p:sp>
      <p:sp>
        <p:nvSpPr>
          <p:cNvPr id="39" name="검증된 제품 변경">
            <a:extLst xmlns:a="http://schemas.openxmlformats.org/drawingml/2006/main">
              <a:ext uri="{FF2B5EF4-FFF2-40B4-BE49-F238E27FC236}">
                <a16:creationId xmlns:a16="http://schemas.microsoft.com/office/drawing/2014/main" id="{77371E11-37F6-4591-8C56-CA4CBA18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검증된 제품 변경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D9C891-E301-4503-B34F-D4166894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2390775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ED5B76-C3B6-4ADE-9B78-185FBDE6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42" name="앞서 본 근거 다시 보기">
            <a:extLst xmlns:a="http://schemas.openxmlformats.org/drawingml/2006/main">
              <a:ext uri="{FF2B5EF4-FFF2-40B4-BE49-F238E27FC236}">
                <a16:creationId xmlns:a16="http://schemas.microsoft.com/office/drawing/2014/main" id="{507A01B7-D798-4E20-A5FE-001DAF10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근거 다시 보기</a:t>
            </a:r>
          </a:p>
        </p:txBody>
      </p:sp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0126248-9B56-4C19-AB1C-329235A330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4694825f0c4c57"/>
          <a:srcRect xmlns:a="http://schemas.openxmlformats.org/drawingml/2006/main" l="5000" t="40741" r="5000" b="18519"/>
          <a:stretch xmlns:a="http://schemas.openxmlformats.org/drawingml/2006/main"/>
        </p:blipFill>
        <p:spPr>
          <a:xfrm xmlns:a="http://schemas.openxmlformats.org/drawingml/2006/main">
            <a:off x="914400" y="4027135"/>
            <a:ext cx="2895600" cy="737306"/>
          </a:xfrm>
          <a:prstGeom xmlns:a="http://schemas.openxmlformats.org/drawingml/2006/main" prst="rect">
            <a:avLst/>
          </a:prstGeom>
        </p:spPr>
      </p:pic>
      <p:sp>
        <p:nvSpPr>
          <p:cNvPr id="44" name="crop 계약 수정">
            <a:extLst xmlns:a="http://schemas.openxmlformats.org/drawingml/2006/main">
              <a:ext uri="{FF2B5EF4-FFF2-40B4-BE49-F238E27FC236}">
                <a16:creationId xmlns:a16="http://schemas.microsoft.com/office/drawing/2014/main" id="{C3C4F215-ADED-45A7-8BE7-A771CECC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수정</a:t>
            </a:r>
          </a:p>
        </p:txBody>
      </p:sp>
      <p:sp>
        <p:nvSpPr>
          <p:cNvPr id="45" name="S16 · STATE-00 → STATE-00-FIXED">
            <a:extLst xmlns:a="http://schemas.openxmlformats.org/drawingml/2006/main">
              <a:ext uri="{FF2B5EF4-FFF2-40B4-BE49-F238E27FC236}">
                <a16:creationId xmlns:a16="http://schemas.microsoft.com/office/drawing/2014/main" id="{FAF18501-2FBA-430A-BB6F-A8AA72AD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S16 · STATE-00 → STATE-00-FIXED</a:t>
            </a:r>
          </a:p>
        </p:txBody>
      </p:sp>
      <p:pic>
        <p:nvPic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51DA537-519D-4182-B695-442882628A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601bd7d92a4389"/>
          <a:srcRect xmlns:a="http://schemas.openxmlformats.org/drawingml/2006/main" l="5000" t="39352" r="5000" b="26852"/>
          <a:stretch xmlns:a="http://schemas.openxmlformats.org/drawingml/2006/main"/>
        </p:blipFill>
        <p:spPr>
          <a:xfrm xmlns:a="http://schemas.openxmlformats.org/drawingml/2006/main">
            <a:off x="4648200" y="4089973"/>
            <a:ext cx="2895600" cy="611628"/>
          </a:xfrm>
          <a:prstGeom xmlns:a="http://schemas.openxmlformats.org/drawingml/2006/main" prst="rect">
            <a:avLst/>
          </a:prstGeom>
        </p:spPr>
      </p:pic>
      <p:sp>
        <p:nvSpPr>
          <p:cNvPr id="47" name="상세 문서로 분리">
            <a:extLst xmlns:a="http://schemas.openxmlformats.org/drawingml/2006/main">
              <a:ext uri="{FF2B5EF4-FFF2-40B4-BE49-F238E27FC236}">
                <a16:creationId xmlns:a16="http://schemas.microsoft.com/office/drawing/2014/main" id="{E50D5840-106E-4992-8344-9A431A43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상세 문서로 분리</a:t>
            </a:r>
          </a:p>
        </p:txBody>
      </p:sp>
      <p:sp>
        <p:nvSpPr>
          <p:cNvPr id="48" name="S32 · STATE-02 → STATE-03">
            <a:extLst xmlns:a="http://schemas.openxmlformats.org/drawingml/2006/main">
              <a:ext uri="{FF2B5EF4-FFF2-40B4-BE49-F238E27FC236}">
                <a16:creationId xmlns:a16="http://schemas.microsoft.com/office/drawing/2014/main" id="{A9D15CC0-27C8-498A-B1A1-772A9CAF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S32 · STATE-02 → STATE-03</a:t>
            </a:r>
          </a:p>
        </p:txBody>
      </p:sp>
      <p:pic>
        <p:nvPic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B6F4F7-B65F-4CE3-AC95-83EB21F95E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e3a6366bc04025"/>
          <a:srcRect xmlns:a="http://schemas.openxmlformats.org/drawingml/2006/main" l="5000" t="33333" r="5000" b="16667"/>
          <a:stretch xmlns:a="http://schemas.openxmlformats.org/drawingml/2006/main"/>
        </p:blipFill>
        <p:spPr>
          <a:xfrm xmlns:a="http://schemas.openxmlformats.org/drawingml/2006/main">
            <a:off x="8382000" y="3943350"/>
            <a:ext cx="2895600" cy="904875"/>
          </a:xfrm>
          <a:prstGeom xmlns:a="http://schemas.openxmlformats.org/drawingml/2006/main" prst="rect">
            <a:avLst/>
          </a:prstGeom>
        </p:spPr>
      </p:pic>
      <p:sp>
        <p:nvSpPr>
          <p:cNvPr id="50" name="같은 조건의 성능 비교">
            <a:extLst xmlns:a="http://schemas.openxmlformats.org/drawingml/2006/main">
              <a:ext uri="{FF2B5EF4-FFF2-40B4-BE49-F238E27FC236}">
                <a16:creationId xmlns:a16="http://schemas.microsoft.com/office/drawing/2014/main" id="{EB5D422B-F626-4B35-9197-94520AF5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조건의 성능 비교</a:t>
            </a:r>
          </a:p>
        </p:txBody>
      </p:sp>
      <p:sp>
        <p:nvSpPr>
          <p:cNvPr id="51" name="S45 · STATE-04 → STATE-04-PERF">
            <a:extLst xmlns:a="http://schemas.openxmlformats.org/drawingml/2006/main">
              <a:ext uri="{FF2B5EF4-FFF2-40B4-BE49-F238E27FC236}">
                <a16:creationId xmlns:a16="http://schemas.microsoft.com/office/drawing/2014/main" id="{BDD8A424-2C44-46B7-98D3-AF201B83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S45 · STATE-04 → STATE-04-PERF</a:t>
            </a:r>
          </a:p>
        </p:txBody>
      </p:sp>
      <p:sp>
        <p:nvSpPr>
          <p:cNvPr id="52" name="각 변화의 출발점은, 그때 마주친 문제였다.">
            <a:extLst xmlns:a="http://schemas.openxmlformats.org/drawingml/2006/main">
              <a:ext uri="{FF2B5EF4-FFF2-40B4-BE49-F238E27FC236}">
                <a16:creationId xmlns:a16="http://schemas.microsoft.com/office/drawing/2014/main" id="{269E5801-9ACB-4A95-8401-42C936FB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각 변화의 출발점은, 그때 마주친 문제였다.</a:t>
            </a:r>
          </a:p>
        </p:txBody>
      </p:sp>
      <p:sp>
        <p:nvSpPr>
          <p:cNvPr id="5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5008544-E5D4-4622-87B2-32DA2898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9014587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5 · 이번 Demo의 선택 기준">
            <a:extLst xmlns:a="http://schemas.openxmlformats.org/drawingml/2006/main">
              <a:ext uri="{FF2B5EF4-FFF2-40B4-BE49-F238E27FC236}">
                <a16:creationId xmlns:a16="http://schemas.microsoft.com/office/drawing/2014/main" id="{A6BB4845-CEE9-438B-8BED-E3FE08F6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이번 Demo의 선택 기준</a:t>
            </a:r>
          </a:p>
        </p:txBody>
      </p:sp>
      <p:sp>
        <p:nvSpPr>
          <p:cNvPr id="2" name="S75">
            <a:extLst xmlns:a="http://schemas.openxmlformats.org/drawingml/2006/main">
              <a:ext uri="{FF2B5EF4-FFF2-40B4-BE49-F238E27FC236}">
                <a16:creationId xmlns:a16="http://schemas.microsoft.com/office/drawing/2014/main" id="{6597D88A-58BB-4A39-975E-EA4BB20D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S75</a:t>
            </a:r>
          </a:p>
        </p:txBody>
      </p:sp>
      <p:sp>
        <p:nvSpPr>
          <p:cNvPr id="3" name="필요성이 입증되지 않은 것은 보류했다">
            <a:extLst xmlns:a="http://schemas.openxmlformats.org/drawingml/2006/main">
              <a:ext uri="{FF2B5EF4-FFF2-40B4-BE49-F238E27FC236}">
                <a16:creationId xmlns:a16="http://schemas.microsoft.com/office/drawing/2014/main" id="{C063D152-3A77-4930-8828-05CB1C5A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필요성이 입증되지 않은 것은 보류했다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558479-8F23-4B4E-80E7-358A3720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DEC-0018 · 이번 작업의 선택을 회고">
            <a:extLst xmlns:a="http://schemas.openxmlformats.org/drawingml/2006/main">
              <a:ext uri="{FF2B5EF4-FFF2-40B4-BE49-F238E27FC236}">
                <a16:creationId xmlns:a16="http://schemas.microsoft.com/office/drawing/2014/main" id="{FFF365A3-387B-440A-B408-12EC8CE6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DEC-0018 · 이번 작업의 선택을 회고</a:t>
            </a:r>
          </a:p>
        </p:txBody>
      </p:sp>
      <p:sp>
        <p:nvSpPr>
          <p:cNvPr id="6" name="모든 프로젝트에서 Subagent·Memory가 불필요하거나 적을수록 좋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C87554D6-FCB5-4FC7-97E4-EDDE1CDE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프로젝트에서 Subagent·Memory가 불필요하거나 적을수록 좋다는 뜻은 아니다.</a:t>
            </a:r>
          </a:p>
        </p:txBody>
      </p:sp>
      <p:sp>
        <p:nvSpPr>
          <p:cNvPr id="7" name="이 구성요소가 현재 문제에 필요한가?">
            <a:extLst xmlns:a="http://schemas.openxmlformats.org/drawingml/2006/main">
              <a:ext uri="{FF2B5EF4-FFF2-40B4-BE49-F238E27FC236}">
                <a16:creationId xmlns:a16="http://schemas.microsoft.com/office/drawing/2014/main" id="{0FF69EFE-370D-460E-B0D7-5942D008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구성요소가 현재 문제에 필요한가?</a:t>
            </a:r>
          </a:p>
        </p:txBody>
      </p:sp>
      <p:sp>
        <p:nvSpPr>
          <p:cNvPr id="8" name="이번 문제에 필요했던 것">
            <a:extLst xmlns:a="http://schemas.openxmlformats.org/drawingml/2006/main">
              <a:ext uri="{FF2B5EF4-FFF2-40B4-BE49-F238E27FC236}">
                <a16:creationId xmlns:a16="http://schemas.microsoft.com/office/drawing/2014/main" id="{A84E2ACC-60F5-4AF3-84B2-CFE7FD73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문제에 필요했던 것</a:t>
            </a:r>
          </a:p>
        </p:txBody>
      </p:sp>
      <p:sp>
        <p:nvSpPr>
          <p:cNvPr id="9" name="이번에는 정당화하지 못한 것">
            <a:extLst xmlns:a="http://schemas.openxmlformats.org/drawingml/2006/main">
              <a:ext uri="{FF2B5EF4-FFF2-40B4-BE49-F238E27FC236}">
                <a16:creationId xmlns:a16="http://schemas.microsoft.com/office/drawing/2014/main" id="{D12D06A3-73AF-4380-85E1-4C276E5A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이번에는 정당화하지 못한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FDD8F6-BAFD-4702-9858-BAFE0A3D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2C8C45-E5C8-4BED-8A07-BC25AABC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solid"/>
          </a:ln>
        </p:spPr>
      </p:sp>
      <p:sp>
        <p:nvSpPr>
          <p:cNvPr id="12" name="Task Prompt&#10;Context와 Routing&#10;재사용 Workflow&#10;Tests와 Benchmark">
            <a:extLst xmlns:a="http://schemas.openxmlformats.org/drawingml/2006/main">
              <a:ext uri="{FF2B5EF4-FFF2-40B4-BE49-F238E27FC236}">
                <a16:creationId xmlns:a16="http://schemas.microsoft.com/office/drawing/2014/main" id="{BB31657E-578D-416B-929C-38A283FD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51816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Context와 Routing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Tests와 Benchmark</a:t>
            </a:r>
          </a:p>
        </p:txBody>
      </p:sp>
      <p:sp>
        <p:nvSpPr>
          <p:cNvPr id="13" name="Subagent&#10;Memory">
            <a:extLst xmlns:a="http://schemas.openxmlformats.org/drawingml/2006/main">
              <a:ext uri="{FF2B5EF4-FFF2-40B4-BE49-F238E27FC236}">
                <a16:creationId xmlns:a16="http://schemas.microsoft.com/office/drawing/2014/main" id="{42C14929-F8E3-4CB6-B111-FCF472A5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</a:t>
            </a:r>
          </a:p>
        </p:txBody>
      </p:sp>
      <p:sp>
        <p:nvSpPr>
          <p:cNvPr id="14" name="현재 문제가 필요로 하는 만큼 설계한다.">
            <a:extLst xmlns:a="http://schemas.openxmlformats.org/drawingml/2006/main">
              <a:ext uri="{FF2B5EF4-FFF2-40B4-BE49-F238E27FC236}">
                <a16:creationId xmlns:a16="http://schemas.microsoft.com/office/drawing/2014/main" id="{0F6812DD-B200-4E8E-A88B-4439DD21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문제가 필요로 하는 만큼 설계한다.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1025456-13E6-4B06-A0F5-82245036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M8 · M9</a:t>
            </a:r>
          </a:p>
        </p:txBody>
      </p:sp>
    </p:spTree>
    <p:extLst>
      <p:ext uri="{BB962C8B-B14F-4D97-AF65-F5344CB8AC3E}">
        <p14:creationId xmlns:p14="http://schemas.microsoft.com/office/powerpoint/2010/main" val="11635998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5 · 개발자의 판단">
            <a:extLst xmlns:a="http://schemas.openxmlformats.org/drawingml/2006/main">
              <a:ext uri="{FF2B5EF4-FFF2-40B4-BE49-F238E27FC236}">
                <a16:creationId xmlns:a16="http://schemas.microsoft.com/office/drawing/2014/main" id="{94900B2F-F0E9-461E-B6F4-A2AE0463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개발자의 판단</a:t>
            </a:r>
          </a:p>
        </p:txBody>
      </p:sp>
      <p:sp>
        <p:nvSpPr>
          <p:cNvPr id="2" name="S76">
            <a:extLst xmlns:a="http://schemas.openxmlformats.org/drawingml/2006/main">
              <a:ext uri="{FF2B5EF4-FFF2-40B4-BE49-F238E27FC236}">
                <a16:creationId xmlns:a16="http://schemas.microsoft.com/office/drawing/2014/main" id="{809EC8B2-94E0-46AD-92EA-906D1BA7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S76</a:t>
            </a:r>
          </a:p>
        </p:txBody>
      </p:sp>
      <p:sp>
        <p:nvSpPr>
          <p:cNvPr id="3" name="위임이 늘어도 개발자 책임은 남는다">
            <a:extLst xmlns:a="http://schemas.openxmlformats.org/drawingml/2006/main">
              <a:ext uri="{FF2B5EF4-FFF2-40B4-BE49-F238E27FC236}">
                <a16:creationId xmlns:a16="http://schemas.microsoft.com/office/drawing/2014/main" id="{E4DCF328-6B0C-4CB2-A617-AB778005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위임이 늘어도 개발자 책임은 남는다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6943D9-368E-43E6-A7DF-DEB39B48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1–062 · 이 교육의 책임 원칙">
            <a:extLst xmlns:a="http://schemas.openxmlformats.org/drawingml/2006/main">
              <a:ext uri="{FF2B5EF4-FFF2-40B4-BE49-F238E27FC236}">
                <a16:creationId xmlns:a16="http://schemas.microsoft.com/office/drawing/2014/main" id="{54BDBA6E-B195-426D-B23F-EFAD2D26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BEAT-061–062 · 이 교육의 책임 원칙</a:t>
            </a:r>
          </a:p>
        </p:txBody>
      </p:sp>
      <p:sp>
        <p:nvSpPr>
          <p:cNvPr id="6" name="Agent와 개발자의 역할을 고정된 분업표로 제시하는 것은 아니다.">
            <a:extLst xmlns:a="http://schemas.openxmlformats.org/drawingml/2006/main">
              <a:ext uri="{FF2B5EF4-FFF2-40B4-BE49-F238E27FC236}">
                <a16:creationId xmlns:a16="http://schemas.microsoft.com/office/drawing/2014/main" id="{A6F3E2C3-177B-4FA8-AE7C-6673953C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Agent와 개발자의 역할을 고정된 분업표로 제시하는 것은 아니다.</a:t>
            </a:r>
          </a:p>
        </p:txBody>
      </p:sp>
      <p:sp>
        <p:nvSpPr>
          <p:cNvPr id="7" name="AI가 조사·생성·변경·실행·비교를 도와도">
            <a:extLst xmlns:a="http://schemas.openxmlformats.org/drawingml/2006/main">
              <a:ext uri="{FF2B5EF4-FFF2-40B4-BE49-F238E27FC236}">
                <a16:creationId xmlns:a16="http://schemas.microsoft.com/office/drawing/2014/main" id="{14F3AB31-7FDB-4DE2-BE6E-A9D141FE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AI가 조사·생성·변경·실행·비교를 도와도</a:t>
            </a:r>
          </a:p>
        </p:txBody>
      </p:sp>
      <p:sp>
        <p:nvSpPr>
          <p:cNvPr id="8" name="결과를 수용하는 판단은 누가 하는가?">
            <a:extLst xmlns:a="http://schemas.openxmlformats.org/drawingml/2006/main">
              <a:ext uri="{FF2B5EF4-FFF2-40B4-BE49-F238E27FC236}">
                <a16:creationId xmlns:a16="http://schemas.microsoft.com/office/drawing/2014/main" id="{15A7CDC6-F50A-42A4-A0EB-40040B21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결과를 수용하는 판단은 누가 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1EF59-2DAD-4608-9FEC-03A85419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목표">
            <a:extLst xmlns:a="http://schemas.openxmlformats.org/drawingml/2006/main">
              <a:ext uri="{FF2B5EF4-FFF2-40B4-BE49-F238E27FC236}">
                <a16:creationId xmlns:a16="http://schemas.microsoft.com/office/drawing/2014/main" id="{4EBACB9C-7C0E-4132-AD33-1769CB00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11" name="무엇을 해결할까?">
            <a:extLst xmlns:a="http://schemas.openxmlformats.org/drawingml/2006/main">
              <a:ext uri="{FF2B5EF4-FFF2-40B4-BE49-F238E27FC236}">
                <a16:creationId xmlns:a16="http://schemas.microsoft.com/office/drawing/2014/main" id="{B4CEA8C7-03C6-45D1-BE24-98F02D72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해결할까?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A290D6-16E5-487F-81FC-12C6559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판단">
            <a:extLst xmlns:a="http://schemas.openxmlformats.org/drawingml/2006/main">
              <a:ext uri="{FF2B5EF4-FFF2-40B4-BE49-F238E27FC236}">
                <a16:creationId xmlns:a16="http://schemas.microsoft.com/office/drawing/2014/main" id="{2FBC4753-2721-49D7-BEA0-72D73CA9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14" name="어떤 선택이&#10;적절할까?">
            <a:extLst xmlns:a="http://schemas.openxmlformats.org/drawingml/2006/main">
              <a:ext uri="{FF2B5EF4-FFF2-40B4-BE49-F238E27FC236}">
                <a16:creationId xmlns:a16="http://schemas.microsoft.com/office/drawing/2014/main" id="{5ED9F472-1766-4723-96FE-9F871B0F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선택이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적절할까?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DDBB7C-050D-48CE-B06B-731173AD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82A13FCC-B208-45A1-A165-8DAA320D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무엇으로&#10;확인할까?">
            <a:extLst xmlns:a="http://schemas.openxmlformats.org/drawingml/2006/main">
              <a:ext uri="{FF2B5EF4-FFF2-40B4-BE49-F238E27FC236}">
                <a16:creationId xmlns:a16="http://schemas.microsoft.com/office/drawing/2014/main" id="{EAADCE2D-EFA4-4613-ADBA-52B7F724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확인할까?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3963E5-2B0D-4D0E-8EB0-204078DC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책임">
            <a:extLst xmlns:a="http://schemas.openxmlformats.org/drawingml/2006/main">
              <a:ext uri="{FF2B5EF4-FFF2-40B4-BE49-F238E27FC236}">
                <a16:creationId xmlns:a16="http://schemas.microsoft.com/office/drawing/2014/main" id="{6F47C040-1099-45EE-82CB-D3B42DF8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책임</a:t>
            </a:r>
          </a:p>
        </p:txBody>
      </p:sp>
      <p:sp>
        <p:nvSpPr>
          <p:cNvPr id="20" name="완료를&#10;수용해도 될까?">
            <a:extLst xmlns:a="http://schemas.openxmlformats.org/drawingml/2006/main">
              <a:ext uri="{FF2B5EF4-FFF2-40B4-BE49-F238E27FC236}">
                <a16:creationId xmlns:a16="http://schemas.microsoft.com/office/drawing/2014/main" id="{F05A0CA5-EA9B-4D36-B976-A7A54DC1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수용해도 될까?</a:t>
            </a:r>
          </a:p>
        </p:txBody>
      </p:sp>
      <p:sp>
        <p:nvSpPr>
          <p:cNvPr id="21" name="결과를 받는 일에는, 결과를 판단하는 책임이 함께 남는다.">
            <a:extLst xmlns:a="http://schemas.openxmlformats.org/drawingml/2006/main">
              <a:ext uri="{FF2B5EF4-FFF2-40B4-BE49-F238E27FC236}">
                <a16:creationId xmlns:a16="http://schemas.microsoft.com/office/drawing/2014/main" id="{643CDCA4-299D-4F23-9BAD-21245E21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받는 일에는, 결과를 판단하는 책임이 함께 남는다.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837A656-F679-4D09-9320-3FC60666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M4 · M5 · M6 · M9</a:t>
            </a:r>
          </a:p>
        </p:txBody>
      </p:sp>
    </p:spTree>
    <p:extLst>
      <p:ext uri="{BB962C8B-B14F-4D97-AF65-F5344CB8AC3E}">
        <p14:creationId xmlns:p14="http://schemas.microsoft.com/office/powerpoint/2010/main" val="7909353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5 · 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9F813194-2A84-4B8C-8799-719F49B5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일하는 환경을 설계한다</a:t>
            </a:r>
          </a:p>
        </p:txBody>
      </p:sp>
      <p:sp>
        <p:nvSpPr>
          <p:cNvPr id="2" name="S77">
            <a:extLst xmlns:a="http://schemas.openxmlformats.org/drawingml/2006/main">
              <a:ext uri="{FF2B5EF4-FFF2-40B4-BE49-F238E27FC236}">
                <a16:creationId xmlns:a16="http://schemas.microsoft.com/office/drawing/2014/main" id="{605C3493-E462-4675-AEF5-BEC8CAAD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S77</a:t>
            </a:r>
          </a:p>
        </p:txBody>
      </p:sp>
      <p:sp>
        <p:nvSpPr>
          <p:cNvPr id="3" name="AI-Native Development는&#10;이 교육의 운영 모델">
            <a:extLst xmlns:a="http://schemas.openxmlformats.org/drawingml/2006/main">
              <a:ext uri="{FF2B5EF4-FFF2-40B4-BE49-F238E27FC236}">
                <a16:creationId xmlns:a16="http://schemas.microsoft.com/office/drawing/2014/main" id="{43EDB048-129E-4EF6-A422-D4EA9C0C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AI-Native Development는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교육의 운영 모델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010DAA-DF8F-4535-A3D4-37030F18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과정에서 사용하는 운영 모델">
            <a:extLst xmlns:a="http://schemas.openxmlformats.org/drawingml/2006/main">
              <a:ext uri="{FF2B5EF4-FFF2-40B4-BE49-F238E27FC236}">
                <a16:creationId xmlns:a16="http://schemas.microsoft.com/office/drawing/2014/main" id="{8FA2F307-5158-4819-B774-FA2EE56A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과정에서 사용하는 운영 모델</a:t>
            </a:r>
          </a:p>
        </p:txBody>
      </p:sp>
      <p:sp>
        <p:nvSpPr>
          <p:cNvPr id="6" name="공식·보편 정의가 아니며, 모든 Task에 모든 구성요소를 넣으라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16A60983-DB32-4322-91C7-E5B077CC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공식·보편 정의가 아니며, 모든 Task에 모든 구성요소를 넣으라는 뜻은 아니다.</a:t>
            </a:r>
          </a:p>
        </p:txBody>
      </p:sp>
      <p:sp>
        <p:nvSpPr>
          <p:cNvPr id="7" name="AI가 일할 조건과, 결과를 확인할 경로를 설계한다.">
            <a:extLst xmlns:a="http://schemas.openxmlformats.org/drawingml/2006/main">
              <a:ext uri="{FF2B5EF4-FFF2-40B4-BE49-F238E27FC236}">
                <a16:creationId xmlns:a16="http://schemas.microsoft.com/office/drawing/2014/main" id="{D4E7F407-22BB-48A5-A986-9613146F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AI가 일할 조건과, 결과를 확인할 경로를 설계한다.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7CC222-CE06-44F4-8A72-440A0648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작업 경계">
            <a:extLst xmlns:a="http://schemas.openxmlformats.org/drawingml/2006/main">
              <a:ext uri="{FF2B5EF4-FFF2-40B4-BE49-F238E27FC236}">
                <a16:creationId xmlns:a16="http://schemas.microsoft.com/office/drawing/2014/main" id="{4D9A67AC-C7BE-4A7B-8348-F2EA4591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 경계</a:t>
            </a:r>
          </a:p>
        </p:txBody>
      </p:sp>
      <p:sp>
        <p:nvSpPr>
          <p:cNvPr id="10" name="무엇을 맡기고&#10;어디까지 바꿀까?">
            <a:extLst xmlns:a="http://schemas.openxmlformats.org/drawingml/2006/main">
              <a:ext uri="{FF2B5EF4-FFF2-40B4-BE49-F238E27FC236}">
                <a16:creationId xmlns:a16="http://schemas.microsoft.com/office/drawing/2014/main" id="{CD88D315-190E-4B0A-BB8E-E45351C1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맡기고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9EEB34-460A-4BBF-A8A2-81A32E09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식 · 절차">
            <a:extLst xmlns:a="http://schemas.openxmlformats.org/drawingml/2006/main">
              <a:ext uri="{FF2B5EF4-FFF2-40B4-BE49-F238E27FC236}">
                <a16:creationId xmlns:a16="http://schemas.microsoft.com/office/drawing/2014/main" id="{1788FF87-4A08-4788-8D77-8E5FA91A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지식 · 절차</a:t>
            </a:r>
          </a:p>
        </p:txBody>
      </p:sp>
      <p:sp>
        <p:nvSpPr>
          <p:cNvPr id="13" name="무엇을 알고&#10;어떤 방식으로 일할까?">
            <a:extLst xmlns:a="http://schemas.openxmlformats.org/drawingml/2006/main">
              <a:ext uri="{FF2B5EF4-FFF2-40B4-BE49-F238E27FC236}">
                <a16:creationId xmlns:a16="http://schemas.microsoft.com/office/drawing/2014/main" id="{E03B81B6-BD3F-44DA-A30E-A78022FD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알고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방식으로 일할까?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FA27AB-FA64-4DB2-BFDF-3BE16E4D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검증 · 피드백">
            <a:extLst xmlns:a="http://schemas.openxmlformats.org/drawingml/2006/main">
              <a:ext uri="{FF2B5EF4-FFF2-40B4-BE49-F238E27FC236}">
                <a16:creationId xmlns:a16="http://schemas.microsoft.com/office/drawing/2014/main" id="{E2F276A1-8C11-429B-8E0D-E2FE01EC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피드백</a:t>
            </a:r>
          </a:p>
        </p:txBody>
      </p:sp>
      <p:sp>
        <p:nvSpPr>
          <p:cNvPr id="16" name="어떻게 확인하고&#10;다음 작업을 바꿀까?">
            <a:extLst xmlns:a="http://schemas.openxmlformats.org/drawingml/2006/main">
              <a:ext uri="{FF2B5EF4-FFF2-40B4-BE49-F238E27FC236}">
                <a16:creationId xmlns:a16="http://schemas.microsoft.com/office/drawing/2014/main" id="{8B43EF72-0C2F-418D-BA3E-6FF1FAA5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어떻게 확인하고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작업을 바꿀까?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49AC02D-6CF6-4A2E-8833-D981AF1C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5634120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T 5 · C++ VISION / 내 업무로 연결">
            <a:extLst xmlns:a="http://schemas.openxmlformats.org/drawingml/2006/main">
              <a:ext uri="{FF2B5EF4-FFF2-40B4-BE49-F238E27FC236}">
                <a16:creationId xmlns:a16="http://schemas.microsoft.com/office/drawing/2014/main" id="{31FE404F-12A1-422C-93EC-DE08FCF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C++ VISION / 내 업무로 연결</a:t>
            </a:r>
          </a:p>
        </p:txBody>
      </p:sp>
      <p:sp>
        <p:nvSpPr>
          <p:cNvPr id="2" name="S78">
            <a:extLst xmlns:a="http://schemas.openxmlformats.org/drawingml/2006/main">
              <a:ext uri="{FF2B5EF4-FFF2-40B4-BE49-F238E27FC236}">
                <a16:creationId xmlns:a16="http://schemas.microsoft.com/office/drawing/2014/main" id="{541061BC-F50B-4260-AEB9-B94E5CF0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S78</a:t>
            </a:r>
          </a:p>
        </p:txBody>
      </p:sp>
      <p:sp>
        <p:nvSpPr>
          <p:cNvPr id="3" name="어느 Layer에서 마찰이 반복되는가?">
            <a:extLst xmlns:a="http://schemas.openxmlformats.org/drawingml/2006/main">
              <a:ext uri="{FF2B5EF4-FFF2-40B4-BE49-F238E27FC236}">
                <a16:creationId xmlns:a16="http://schemas.microsoft.com/office/drawing/2014/main" id="{4A22CAD2-A983-4965-83F5-7E161A0AE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Layer에서 마찰이 반복되는가?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7424F1-F840-4AAF-B4EA-59E1EEEC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8–069 · 업무 적용을 위한 교육용 질문">
            <a:extLst xmlns:a="http://schemas.openxmlformats.org/drawingml/2006/main">
              <a:ext uri="{FF2B5EF4-FFF2-40B4-BE49-F238E27FC236}">
                <a16:creationId xmlns:a16="http://schemas.microsoft.com/office/drawing/2014/main" id="{BE514E42-9FA0-427D-8774-B0366C8A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BEAT-068–069 · 업무 적용을 위한 교육용 질문</a:t>
            </a:r>
          </a:p>
        </p:txBody>
      </p:sp>
      <p:sp>
        <p:nvSpPr>
          <p:cNvPr id="6" name="같은 수준의 선택지다. 특정 C++ 프로젝트에서 검증된 절차나 필수 도입 순서가 아니다.">
            <a:extLst xmlns:a="http://schemas.openxmlformats.org/drawingml/2006/main">
              <a:ext uri="{FF2B5EF4-FFF2-40B4-BE49-F238E27FC236}">
                <a16:creationId xmlns:a16="http://schemas.microsoft.com/office/drawing/2014/main" id="{0C72883E-E6B7-42A1-8C74-1233324E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수준의 선택지다. 특정 C++ 프로젝트에서 검증된 절차나 필수 도입 순서가 아니다.</a:t>
            </a:r>
          </a:p>
        </p:txBody>
      </p:sp>
      <p:sp>
        <p:nvSpPr>
          <p:cNvPr id="7" name="지금 내 업무와 가장 가까운 한 곳을 떠올려 본다.">
            <a:extLst xmlns:a="http://schemas.openxmlformats.org/drawingml/2006/main">
              <a:ext uri="{FF2B5EF4-FFF2-40B4-BE49-F238E27FC236}">
                <a16:creationId xmlns:a16="http://schemas.microsoft.com/office/drawing/2014/main" id="{98E79BCE-01B7-4721-8339-344F33D0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지금 내 업무와 가장 가까운 한 곳을 떠올려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B92FA-983A-4872-A360-5799871C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DD0CB3-E9CB-48EF-938F-B141DC85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">
            <a:extLst xmlns:a="http://schemas.openxmlformats.org/drawingml/2006/main">
              <a:ext uri="{FF2B5EF4-FFF2-40B4-BE49-F238E27FC236}">
                <a16:creationId xmlns:a16="http://schemas.microsoft.com/office/drawing/2014/main" id="{6D9693D1-E079-46E6-ADBF-5030E702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A</a:t>
            </a:r>
          </a:p>
        </p:txBody>
      </p:sp>
      <p:sp>
        <p:nvSpPr>
          <p:cNvPr id="11" name="Task">
            <a:extLst xmlns:a="http://schemas.openxmlformats.org/drawingml/2006/main">
              <a:ext uri="{FF2B5EF4-FFF2-40B4-BE49-F238E27FC236}">
                <a16:creationId xmlns:a16="http://schemas.microsoft.com/office/drawing/2014/main" id="{3BE52DC4-CE9B-4F29-8F0B-080E8795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5241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2" name="조사할 성능 병목의 범위가 흐리다">
            <a:extLst xmlns:a="http://schemas.openxmlformats.org/drawingml/2006/main">
              <a:ext uri="{FF2B5EF4-FFF2-40B4-BE49-F238E27FC236}">
                <a16:creationId xmlns:a16="http://schemas.microsoft.com/office/drawing/2014/main" id="{0C5C4E0B-CEB1-4D8B-9A57-B7F89E2F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5241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조사할 성능 병목의 범위가 흐리다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0766C6-F3D4-4826-A63A-268FB2C9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E205F9-9E2B-4640-9A17-FF00AF3E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">
            <a:extLst xmlns:a="http://schemas.openxmlformats.org/drawingml/2006/main">
              <a:ext uri="{FF2B5EF4-FFF2-40B4-BE49-F238E27FC236}">
                <a16:creationId xmlns:a16="http://schemas.microsoft.com/office/drawing/2014/main" id="{1B05DE26-5091-4618-8EB1-AEC61ED1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B</a:t>
            </a:r>
          </a:p>
        </p:txBody>
      </p:sp>
      <p:sp>
        <p:nvSpPr>
          <p:cNvPr id="16" name="Context">
            <a:extLst xmlns:a="http://schemas.openxmlformats.org/drawingml/2006/main">
              <a:ext uri="{FF2B5EF4-FFF2-40B4-BE49-F238E27FC236}">
                <a16:creationId xmlns:a16="http://schemas.microsoft.com/office/drawing/2014/main" id="{BE55A47E-7C46-4657-AC4A-FAE9841D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432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7" name="빌드 조건·계약·하드웨어 가정을 반복 설명한다">
            <a:extLst xmlns:a="http://schemas.openxmlformats.org/drawingml/2006/main">
              <a:ext uri="{FF2B5EF4-FFF2-40B4-BE49-F238E27FC236}">
                <a16:creationId xmlns:a16="http://schemas.microsoft.com/office/drawing/2014/main" id="{DF72DBAA-87A9-43C7-A6AC-0043ECFF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4325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조건·계약·하드웨어 가정을 반복 설명한다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41EACC-3DD7-4646-AD4D-7B29F1D7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1F206F-5C8B-47DA-96A5-3D8166F3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">
            <a:extLst xmlns:a="http://schemas.openxmlformats.org/drawingml/2006/main">
              <a:ext uri="{FF2B5EF4-FFF2-40B4-BE49-F238E27FC236}">
                <a16:creationId xmlns:a16="http://schemas.microsoft.com/office/drawing/2014/main" id="{A5CCF99E-58A8-4CC2-A8D7-89F6DCC2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C</a:t>
            </a:r>
          </a:p>
        </p:txBody>
      </p:sp>
      <p:sp>
        <p:nvSpPr>
          <p:cNvPr id="21" name="Workflow">
            <a:extLst xmlns:a="http://schemas.openxmlformats.org/drawingml/2006/main">
              <a:ext uri="{FF2B5EF4-FFF2-40B4-BE49-F238E27FC236}">
                <a16:creationId xmlns:a16="http://schemas.microsoft.com/office/drawing/2014/main" id="{599FA71F-26C0-4886-84D1-DDF7156A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6237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22" name="분석 → 변경 → 측정 → 회귀 확인을 매번 적는다">
            <a:extLst xmlns:a="http://schemas.openxmlformats.org/drawingml/2006/main">
              <a:ext uri="{FF2B5EF4-FFF2-40B4-BE49-F238E27FC236}">
                <a16:creationId xmlns:a16="http://schemas.microsoft.com/office/drawing/2014/main" id="{B550217F-D37E-44FB-88D2-1840F97A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76237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분석 → 변경 → 측정 → 회귀 확인을 매번 적는다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13C3D4-BA0D-45F5-B540-C948F695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2D6EB7-7982-44AE-A9EC-BDA600FA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">
            <a:extLst xmlns:a="http://schemas.openxmlformats.org/drawingml/2006/main">
              <a:ext uri="{FF2B5EF4-FFF2-40B4-BE49-F238E27FC236}">
                <a16:creationId xmlns:a16="http://schemas.microsoft.com/office/drawing/2014/main" id="{13579EBE-BE52-4B7C-A60F-FDB42208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</a:t>
            </a:r>
          </a:p>
        </p:txBody>
      </p:sp>
      <p:sp>
        <p:nvSpPr>
          <p:cNvPr id="26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E2BA0C38-60D4-4172-AAC9-238B7B30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8150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Verification</a:t>
            </a:r>
          </a:p>
        </p:txBody>
      </p:sp>
      <p:sp>
        <p:nvSpPr>
          <p:cNvPr id="27" name="테스트와 Benchmark의 확인 기준이 모호하다">
            <a:extLst xmlns:a="http://schemas.openxmlformats.org/drawingml/2006/main">
              <a:ext uri="{FF2B5EF4-FFF2-40B4-BE49-F238E27FC236}">
                <a16:creationId xmlns:a16="http://schemas.microsoft.com/office/drawing/2014/main" id="{C39D90D6-FF39-4276-9CBF-55E0DC6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8150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테스트와 Benchmark의 확인 기준이 모호하다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7DC93B-26A8-402E-90FF-6AC626AD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012F13-6948-4317-9180-42DD11BB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E">
            <a:extLst xmlns:a="http://schemas.openxmlformats.org/drawingml/2006/main">
              <a:ext uri="{FF2B5EF4-FFF2-40B4-BE49-F238E27FC236}">
                <a16:creationId xmlns:a16="http://schemas.microsoft.com/office/drawing/2014/main" id="{3D9DD4CA-8F7E-4581-96E2-9B5AD99F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E</a:t>
            </a:r>
          </a:p>
        </p:txBody>
      </p:sp>
      <p:sp>
        <p:nvSpPr>
          <p:cNvPr id="31" name="Feedback Loop">
            <a:extLst xmlns:a="http://schemas.openxmlformats.org/drawingml/2006/main">
              <a:ext uri="{FF2B5EF4-FFF2-40B4-BE49-F238E27FC236}">
                <a16:creationId xmlns:a16="http://schemas.microsoft.com/office/drawing/2014/main" id="{BDBDE045-85FE-45B4-B9CC-F9ADF407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0006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 Loop</a:t>
            </a:r>
          </a:p>
        </p:txBody>
      </p:sp>
      <p:sp>
        <p:nvSpPr>
          <p:cNvPr id="32" name="같은 문제가 다시 생겨도 관련 시스템을 안 바꾼다">
            <a:extLst xmlns:a="http://schemas.openxmlformats.org/drawingml/2006/main">
              <a:ext uri="{FF2B5EF4-FFF2-40B4-BE49-F238E27FC236}">
                <a16:creationId xmlns:a16="http://schemas.microsoft.com/office/drawing/2014/main" id="{0EFC07A5-89FC-46DD-B4AB-C1385183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50006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다시 생겨도 관련 시스템을 안 바꾼다</a:t>
            </a:r>
          </a:p>
        </p:txBody>
      </p:sp>
      <p:sp>
        <p:nvSpPr>
          <p:cNvPr id="3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355925F-1C3B-4899-BEF7-0BBC7BFE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9714206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5 · 잠시 생각해 보기">
            <a:extLst xmlns:a="http://schemas.openxmlformats.org/drawingml/2006/main">
              <a:ext uri="{FF2B5EF4-FFF2-40B4-BE49-F238E27FC236}">
                <a16:creationId xmlns:a16="http://schemas.microsoft.com/office/drawing/2014/main" id="{229AF235-B164-465D-A09A-3FF01C54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잠시 생각해 보기</a:t>
            </a:r>
          </a:p>
        </p:txBody>
      </p:sp>
      <p:sp>
        <p:nvSpPr>
          <p:cNvPr id="2" name="S79">
            <a:extLst xmlns:a="http://schemas.openxmlformats.org/drawingml/2006/main">
              <a:ext uri="{FF2B5EF4-FFF2-40B4-BE49-F238E27FC236}">
                <a16:creationId xmlns:a16="http://schemas.microsoft.com/office/drawing/2014/main" id="{6EE36AE6-58A2-429C-91A2-823EFFC9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S79</a:t>
            </a:r>
          </a:p>
        </p:txBody>
      </p:sp>
      <p:sp>
        <p:nvSpPr>
          <p:cNvPr id="3" name="다음 작은 행동을 개인적으로 고른다">
            <a:extLst xmlns:a="http://schemas.openxmlformats.org/drawingml/2006/main">
              <a:ext uri="{FF2B5EF4-FFF2-40B4-BE49-F238E27FC236}">
                <a16:creationId xmlns:a16="http://schemas.microsoft.com/office/drawing/2014/main" id="{18677BE3-61AA-45B6-9B8A-3B101231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작은 행동을 개인적으로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A6C32-973F-4A5C-AF54-CE7AD7D4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개인 성찰">
            <a:extLst xmlns:a="http://schemas.openxmlformats.org/drawingml/2006/main">
              <a:ext uri="{FF2B5EF4-FFF2-40B4-BE49-F238E27FC236}">
                <a16:creationId xmlns:a16="http://schemas.microsoft.com/office/drawing/2014/main" id="{9FD3CA71-6C00-4446-8C87-A85A343E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개인 성찰</a:t>
            </a:r>
          </a:p>
        </p:txBody>
      </p:sp>
      <p:sp>
        <p:nvSpPr>
          <p:cNvPr id="6" name="마음속으로 떠올리는 시간이다. 기록·발표·제출은 요구하지 않는다.">
            <a:extLst xmlns:a="http://schemas.openxmlformats.org/drawingml/2006/main">
              <a:ext uri="{FF2B5EF4-FFF2-40B4-BE49-F238E27FC236}">
                <a16:creationId xmlns:a16="http://schemas.microsoft.com/office/drawing/2014/main" id="{3C7631A6-37ED-4082-A8F1-2C1DF838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마음속으로 떠올리는 시간이다. 기록·발표·제출은 요구하지 않는다.</a:t>
            </a:r>
          </a:p>
        </p:txBody>
      </p:sp>
      <p:sp>
        <p:nvSpPr>
          <p:cNvPr id="7" name="떠올린 마찰에서, 작은 행동 하나를 마음속으로.">
            <a:extLst xmlns:a="http://schemas.openxmlformats.org/drawingml/2006/main">
              <a:ext uri="{FF2B5EF4-FFF2-40B4-BE49-F238E27FC236}">
                <a16:creationId xmlns:a16="http://schemas.microsoft.com/office/drawing/2014/main" id="{20F679C1-6AD5-4907-BDAD-8C244E2D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떠올린 마찰에서, 작은 행동 하나를 마음속으로.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2E8BD8-8F96-4E64-9B09-3F419327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532886B9-8E4B-446F-9793-8322D50D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반복 설명 하나를 다음 작업에서는 어떻게 줄일까?">
            <a:extLst xmlns:a="http://schemas.openxmlformats.org/drawingml/2006/main">
              <a:ext uri="{FF2B5EF4-FFF2-40B4-BE49-F238E27FC236}">
                <a16:creationId xmlns:a16="http://schemas.microsoft.com/office/drawing/2014/main" id="{DAF1A43B-6016-4758-8D2E-A895038C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037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설명 하나를 다음 작업에서는 어떻게 줄일까?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22EF99-6D1A-49FD-BAC6-756C2570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AF879451-8E4B-4B6D-BA1E-F9EB26FB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AI가 다시 찾는 프로젝트 사실 하나를 어디에 둘까?">
            <a:extLst xmlns:a="http://schemas.openxmlformats.org/drawingml/2006/main">
              <a:ext uri="{FF2B5EF4-FFF2-40B4-BE49-F238E27FC236}">
                <a16:creationId xmlns:a16="http://schemas.microsoft.com/office/drawing/2014/main" id="{1EE3E6B5-3E2F-4EBE-B717-DC79318C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67150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다시 찾는 프로젝트 사실 하나를 어디에 둘까?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18E174-1E7E-4ADE-A193-57016C48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A1C68E3A-7301-453A-B74A-3C3CA91B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6" name="같은 실패가 또 생기면 어느 Layer부터 확인할까?">
            <a:extLst xmlns:a="http://schemas.openxmlformats.org/drawingml/2006/main">
              <a:ext uri="{FF2B5EF4-FFF2-40B4-BE49-F238E27FC236}">
                <a16:creationId xmlns:a16="http://schemas.microsoft.com/office/drawing/2014/main" id="{0E5D36B4-C3F8-463D-A2BF-F6CCA049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3392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또 생기면 어느 Layer부터 확인할까?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ED53655-679B-4E9B-9B0B-6A644B45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M8</a:t>
            </a:r>
          </a:p>
        </p:txBody>
      </p:sp>
    </p:spTree>
    <p:extLst>
      <p:ext uri="{BB962C8B-B14F-4D97-AF65-F5344CB8AC3E}">
        <p14:creationId xmlns:p14="http://schemas.microsoft.com/office/powerpoint/2010/main" val="15026024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T 5 · 마지막 질문">
            <a:extLst xmlns:a="http://schemas.openxmlformats.org/drawingml/2006/main">
              <a:ext uri="{FF2B5EF4-FFF2-40B4-BE49-F238E27FC236}">
                <a16:creationId xmlns:a16="http://schemas.microsoft.com/office/drawing/2014/main" id="{7FC764F8-74CB-42C5-9372-DAF3CC53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마지막 질문</a:t>
            </a:r>
          </a:p>
        </p:txBody>
      </p:sp>
      <p:sp>
        <p:nvSpPr>
          <p:cNvPr id="2" name="S80">
            <a:extLst xmlns:a="http://schemas.openxmlformats.org/drawingml/2006/main">
              <a:ext uri="{FF2B5EF4-FFF2-40B4-BE49-F238E27FC236}">
                <a16:creationId xmlns:a16="http://schemas.microsoft.com/office/drawing/2014/main" id="{EAB243F5-3B30-4C74-8DEC-B01C5024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S80</a:t>
            </a:r>
          </a:p>
        </p:txBody>
      </p:sp>
      <p:sp>
        <p:nvSpPr>
          <p:cNvPr id="3" name="Q&amp;A와 교육 마무리">
            <a:extLst xmlns:a="http://schemas.openxmlformats.org/drawingml/2006/main">
              <a:ext uri="{FF2B5EF4-FFF2-40B4-BE49-F238E27FC236}">
                <a16:creationId xmlns:a16="http://schemas.microsoft.com/office/drawing/2014/main" id="{64BFD220-51C9-4E95-B8D3-428840D6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Q&amp;A와 교육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DF09AF-6DE1-4D6F-A9CC-38A37219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이 교육의 마무리">
            <a:extLst xmlns:a="http://schemas.openxmlformats.org/drawingml/2006/main">
              <a:ext uri="{FF2B5EF4-FFF2-40B4-BE49-F238E27FC236}">
                <a16:creationId xmlns:a16="http://schemas.microsoft.com/office/drawing/2014/main" id="{A58783F2-7E0E-4439-8138-62E84C9F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이 교육의 마무리</a:t>
            </a:r>
          </a:p>
        </p:txBody>
      </p:sp>
      <p:sp>
        <p:nvSpPr>
          <p:cNvPr id="6" name="목표 · 판단 · 검증 · 책임은 개발자에게 남는다.">
            <a:extLst xmlns:a="http://schemas.openxmlformats.org/drawingml/2006/main">
              <a:ext uri="{FF2B5EF4-FFF2-40B4-BE49-F238E27FC236}">
                <a16:creationId xmlns:a16="http://schemas.microsoft.com/office/drawing/2014/main" id="{8C9F0072-058F-4D10-9AC7-F635090F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· 판단 · 검증 · 책임은 개발자에게 남는다.</a:t>
            </a:r>
          </a:p>
        </p:txBody>
      </p:sp>
      <p:sp>
        <p:nvSpPr>
          <p:cNvPr id="7" name="내 업무에서 무엇부터 바꿀까요?">
            <a:extLst xmlns:a="http://schemas.openxmlformats.org/drawingml/2006/main">
              <a:ext uri="{FF2B5EF4-FFF2-40B4-BE49-F238E27FC236}">
                <a16:creationId xmlns:a16="http://schemas.microsoft.com/office/drawing/2014/main" id="{DF59A2DD-AA4F-4106-AA1F-CF516063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무엇부터 바꿀까요?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138F4-1667-4267-ACD3-733395F8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9" name="AI가 잘 일할 환경을&#10;설계한다.">
            <a:extLst xmlns:a="http://schemas.openxmlformats.org/drawingml/2006/main">
              <a:ext uri="{FF2B5EF4-FFF2-40B4-BE49-F238E27FC236}">
                <a16:creationId xmlns:a16="http://schemas.microsoft.com/office/drawing/2014/main" id="{8CCD4136-E5BB-43D3-A25B-FC514E3C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잘 일할 환경을</a:t>
            </a:r>
          </a:p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설계한다.</a:t>
            </a:r>
          </a:p>
        </p:txBody>
      </p:sp>
      <p:sp>
        <p:nvSpPr>
          <p:cNvPr id="10" name="Question  →  Task  →  Context  →  System  →  Feedback Loop">
            <a:extLst xmlns:a="http://schemas.openxmlformats.org/drawingml/2006/main">
              <a:ext uri="{FF2B5EF4-FFF2-40B4-BE49-F238E27FC236}">
                <a16:creationId xmlns:a16="http://schemas.microsoft.com/office/drawing/2014/main" id="{BA622A50-6EC0-4FC3-9D4E-5701B4BF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Question  →  Task  →  Context  →  System  →  Feedback Loop</a:t>
            </a:r>
          </a:p>
        </p:txBody>
      </p:sp>
      <p:sp>
        <p:nvSpPr>
          <p:cNvPr id="1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4FBE200-9DE2-4D0E-944F-5DC993E8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</a:t>
            </a:r>
          </a:p>
        </p:txBody>
      </p:sp>
    </p:spTree>
    <p:extLst>
      <p:ext uri="{BB962C8B-B14F-4D97-AF65-F5344CB8AC3E}">
        <p14:creationId xmlns:p14="http://schemas.microsoft.com/office/powerpoint/2010/main" val="14110929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2026-10-21T11:24:38.9450000Z</dcterms:created>
  <dcterms:modified xsi:type="dcterms:W3CDTF">2026-10-21T11:24:38.9450000Z</dcterms:modified>
</coreProperties>
</file>