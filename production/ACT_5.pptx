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1bbf057e2444827" /><Relationship Type="http://schemas.openxmlformats.org/officeDocument/2006/relationships/extended-properties" Target="/docProps/app.xml" Id="Rfc53c05914354f79" /><Relationship Type="http://schemas.openxmlformats.org/officeDocument/2006/relationships/officeDocument" Target="/ppt/presentation.xml" Id="R658f3fc51ef940c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cb4fd734c0746d0"/>
  </p:sldMasterIdLst>
  <p:notesMasterIdLst>
    <p:notesMasterId xmlns:r="http://schemas.openxmlformats.org/officeDocument/2006/relationships" r:id="R6ec6ecf3cc0b4082"/>
  </p:notesMasterIdLst>
  <p:sldIdLst>
    <p:sldId xmlns:r="http://schemas.openxmlformats.org/officeDocument/2006/relationships" id="256" r:id="Re11076986eef48d2"/>
    <p:sldId xmlns:r="http://schemas.openxmlformats.org/officeDocument/2006/relationships" id="257" r:id="R61ea5f1352594d5d"/>
    <p:sldId xmlns:r="http://schemas.openxmlformats.org/officeDocument/2006/relationships" id="258" r:id="Rdeec0709f47a48d8"/>
    <p:sldId xmlns:r="http://schemas.openxmlformats.org/officeDocument/2006/relationships" id="259" r:id="Ra0bb53cd1eaf4866"/>
    <p:sldId xmlns:r="http://schemas.openxmlformats.org/officeDocument/2006/relationships" id="260" r:id="Rff0daa0bff934b79"/>
    <p:sldId xmlns:r="http://schemas.openxmlformats.org/officeDocument/2006/relationships" id="261" r:id="R4e0a84e5cb854477"/>
    <p:sldId xmlns:r="http://schemas.openxmlformats.org/officeDocument/2006/relationships" id="262" r:id="R74528b74b4204a92"/>
    <p:sldId xmlns:r="http://schemas.openxmlformats.org/officeDocument/2006/relationships" id="263" r:id="Rbbd28c9d13ac4c2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978b72890644cbb" /><Relationship Type="http://schemas.openxmlformats.org/officeDocument/2006/relationships/slideMaster" Target="/ppt/slideMasters/slideMaster1.xml" Id="Rbcb4fd734c0746d0" /><Relationship Type="http://schemas.openxmlformats.org/officeDocument/2006/relationships/notesMaster" Target="/ppt/notesMasters/notesMaster1.xml" Id="R6ec6ecf3cc0b4082" /><Relationship Type="http://schemas.openxmlformats.org/officeDocument/2006/relationships/presProps" Target="/ppt/presProps.xml" Id="R353e001cb82f4845" /><Relationship Type="http://schemas.openxmlformats.org/officeDocument/2006/relationships/tableStyles" Target="/ppt/tableStyles.xml" Id="R9ea8e2be1a044bbd" /><Relationship Type="http://schemas.openxmlformats.org/officeDocument/2006/relationships/slide" Target="/ppt/slides/slide1.xml" Id="Re11076986eef48d2" /><Relationship Type="http://schemas.openxmlformats.org/officeDocument/2006/relationships/slide" Target="/ppt/slides/slide2.xml" Id="R61ea5f1352594d5d" /><Relationship Type="http://schemas.openxmlformats.org/officeDocument/2006/relationships/slide" Target="/ppt/slides/slide3.xml" Id="Rdeec0709f47a48d8" /><Relationship Type="http://schemas.openxmlformats.org/officeDocument/2006/relationships/slide" Target="/ppt/slides/slide4.xml" Id="Ra0bb53cd1eaf4866" /><Relationship Type="http://schemas.openxmlformats.org/officeDocument/2006/relationships/slide" Target="/ppt/slides/slide5.xml" Id="Rff0daa0bff934b79" /><Relationship Type="http://schemas.openxmlformats.org/officeDocument/2006/relationships/slide" Target="/ppt/slides/slide6.xml" Id="R4e0a84e5cb854477" /><Relationship Type="http://schemas.openxmlformats.org/officeDocument/2006/relationships/slide" Target="/ppt/slides/slide7.xml" Id="R74528b74b4204a92" /><Relationship Type="http://schemas.openxmlformats.org/officeDocument/2006/relationships/slide" Target="/ppt/slides/slide8.xml" Id="Rbbd28c9d13ac4c2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8dd40a007c44dc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10dfe716f964945" /><Relationship Type="http://schemas.openxmlformats.org/officeDocument/2006/relationships/notesMaster" Target="/ppt/notesMasters/notesMaster1.xml" Id="R40f825fd5d954b3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7b2655e9184333" /><Relationship Type="http://schemas.openxmlformats.org/officeDocument/2006/relationships/notesMaster" Target="/ppt/notesMasters/notesMaster1.xml" Id="Rda339a42ad5e42f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e762c5d20064abc" /><Relationship Type="http://schemas.openxmlformats.org/officeDocument/2006/relationships/notesMaster" Target="/ppt/notesMasters/notesMaster1.xml" Id="Rfb29e21b2cb242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168b7a7775f4f41" /><Relationship Type="http://schemas.openxmlformats.org/officeDocument/2006/relationships/notesMaster" Target="/ppt/notesMasters/notesMaster1.xml" Id="R015338aebd60461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870aa8cb0424d41" /><Relationship Type="http://schemas.openxmlformats.org/officeDocument/2006/relationships/notesMaster" Target="/ppt/notesMasters/notesMaster1.xml" Id="Ra8a5e26c4c034af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5de14cba2e049a3" /><Relationship Type="http://schemas.openxmlformats.org/officeDocument/2006/relationships/notesMaster" Target="/ppt/notesMasters/notesMaster1.xml" Id="R76a5b92bb809497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1f0bef8151b4164" /><Relationship Type="http://schemas.openxmlformats.org/officeDocument/2006/relationships/notesMaster" Target="/ppt/notesMasters/notesMaster1.xml" Id="R6b2754102f10422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7259877eee14139" /><Relationship Type="http://schemas.openxmlformats.org/officeDocument/2006/relationships/notesMaster" Target="/ppt/notesMasters/notesMaster1.xml" Id="R17771a7b917b41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S73 — 여섯 시간의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S73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여섯 시간의 Story를 한 장으로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FULL STORY RECAP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Chatbot은 답을 구하고, Prompt는 Task를 구체화하며, Context는 필요한 Project 지식을 제공하고, Harness는 작업 환경을 설계하며, Loop는 Feedback으로 System을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“나는 지금 AI를 어떤 방식으로 사용하고 있을까?”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처음의 질문으로 돌아가 다섯 방식을 한눈에 보여준다.</a:t>
            </a:r>
          </a:p>
          <a:p xmlns:a="http://schemas.openxmlformats.org/drawingml/2006/main">
            <a:r>
              <a:t>2. (0:30–2:45 / Lecture) 각 행의 행동만 회수한다: 답을 구하기, 이번 작업 구체화, 프로젝트 지식 제공, 일하는 환경 설계, 피드백으로 시스템 수정. 새 용어를 덧붙이지 않는다.</a:t>
            </a:r>
          </a:p>
          <a:p xmlns:a="http://schemas.openxmlformats.org/drawingml/2006/main">
            <a:r>
              <a:t>3. (2:45–4:00 / Lecture) 앞의 방식이 사라지지 않고 문제에 맞는 대응이 더해졌다고 정리한다. S74 실제 Repository 이력→S75 선택 기준→S76 책임을 거쳐 S77에서 AI-Native 운영 모델을 회수한다.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BEAT-060 · 앞선 ACT의 Story callback. 새 Demo는 실행하지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교육의 문제-driven 진화 모델이다. 각 단계는 앞 단계를 대체하거나 모든 개발자가 같은 maturity 순서로 이동해야 한다는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현재 사용 방식에서 다음으로 필요한 작은 engineering 대응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어떤 문제가 다음 단계의 접근을 필요하게 했는지 시스템 관점으로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기존 Vision 사례를 선택적으로 회상할 수 있다. 새 C++ 기술 사례는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다섯 개 행동 행을 차례로 가리킨다. 새로운 실행이나 상태를 추가하지 않는다. S77의 정의를 바로 다음 장에서 설명한다고 예고하지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띄우고 개인적으로 떠올리게 한다. 답변이나 현재 수준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흐름이 하나의 Repository에서는 어떤 변화로 기록됐을까요?” S74로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총 4분, Lecture 4분. 각 단계 설명을 한 문장에 제한하고 앞선 ACT 내용을 다시 강의하지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S73와 production/preview/act5/S73.png를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S74 — 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S74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하나의 Repository가 문제에 대응해 진화했다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PRIMARY DEMO EVOLUTION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1분 + Demo 2분 (VISUAL)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각 State는 해당 문제에 대응해 기록된 Engineering history다. State 순서는 기능 성숙도 등급이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“이 Repository는 어떤 문제를 만나며 바뀌었나?”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일곱 이름을 위쪽 왼쪽부터 오른쪽, 다음 아래쪽 왼쪽부터 읽는다. State는 당시 문제에 대응한 이력임을 말한다.</a:t>
            </a:r>
          </a:p>
          <a:p xmlns:a="http://schemas.openxmlformats.org/drawingml/2006/main">
            <a:r>
              <a:t>2. (1:00–2:30 / VISUAL Demo) crop 문제→수정→프로젝트 지침→Context 증가→상세 정보 연결→재사용 Workflow→검증된 제품 변경을 짧게 회수한다.</a:t>
            </a:r>
          </a:p>
          <a:p xmlns:a="http://schemas.openxmlformats.org/drawingml/2006/main">
            <a:r>
              <a:t>3. (2:30–3:00 / VISUAL Demo) STATE-04-PERF의 bounded endpoint에서 닫는다. Benchmark 준비 commit은 추가 State가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OBSERVED_PRODUCT · `ai-dev-training-demo`의 named Git State/tag 기록과 DEMO-12. State 순서는 STATE-00 → STATE-00-FIXED → STATE-01 → STATE-02 → STATE-03 → STATE-04 → STATE-04-PERF다.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기록된 State와 Demo evidence 범위에 한정한다. Benchmark preparation commits는 supporting history이며 별도 State가 아니다. Subagent, Memory, stale Harness 또는 Loop를 Product State로 표시하지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변화가 기능 수를 늘리기 위한 것이 아니라 당시 확인된 문제에 대응했다는 점을 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Product State와 Conceptual 또는 Observed Meta 사례를 구분하고 bounded Product endpoint를 읽는다.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DEMO-12 · VISUAL, 2분. 실제 Product State/tag를 요약한 static timeline이다. 새 Trial·repository 실행·추가 state는 없다. Benchmark preparation은 별도 State로 그리지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질문에 맞춰 각 State 아래 한 문구를 함께 훑는다. 평가 점수나 성숙도 단계로 읽지 않게 안내한다.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“그러면 이 작업에서 Subagent와 Memory는 왜 없었을까요?” S75로 전환한다.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1분 + VISUAL Demo 2분 = 3분. 세부 Trial을 재설명하지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S74와 production/preview/act5/S74.png를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S75 — 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S75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필요성이 입증되지 않은 것은 보류했다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MINIMUM EFFECTIVE HARNESS CALLBACK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2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bounded task에서는 Subagent와 Memory를 추가할 충분한 근거가 없었다. “Use what the problem justifies.”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“왜 현재 Demo의 최종 그림에 Subagent와 Memory가 없을까?”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이번 작업에서 쓴 왼쪽 요소와 보류한 오른쪽 요소를 비교한다.</a:t>
            </a:r>
          </a:p>
          <a:p xmlns:a="http://schemas.openxmlformats.org/drawingml/2006/main">
            <a:r>
              <a:t>2. (0:30–1:20 / Lecture) STATE-04-PERF와 DEC-0018의 bounded 범위에서 Subagent·Memory 추가의 이득이 충분히 정당화되지 않았다고 설명한다.</a:t>
            </a:r>
          </a:p>
          <a:p xmlns:a="http://schemas.openxmlformats.org/drawingml/2006/main">
            <a:r>
              <a:t>3. (1:20–2:00 / Lecture) “현재 문제가 필요로 하는 만큼 설계한다”는 기준을 남긴다. 기능 수가 많거나 적다는 이유만으로 성숙도를 판단하지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OBSERVED_PRODUCT / TEACHING_MODEL · STATE-04-PERF와 DEC-0018. 사용한 요소: task Prompt, Project Context/routing, reusable Skill/workflow, Tests와 benchmark. 이번 bounded task에서 Subagent와 Memory는 사용되지 않았다.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Demo의 bounded 작업과 이 교육의 프로젝트별 heuristic이다. 모든 Project에 Subagent/Memory가 불필요하거나 적게 쓰는 것이 항상 낫다는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처음부터 모든 기능을 넣지 않고 지금 반복되는 마찰과 필요한 지원부터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구성요소별 비용과 이득을 실제 task, context, verification 요구에 맞춰 평가한다.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Repository에서도 같은 정당화 질문을 적용할 수 있다. 새 C++ 절차는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왼쪽은 STATE-04-PERF의 system components, 오른쪽은 이번 사례에서 정당화되지 않은 Subagent/Memory다. 상태와 일반 규칙을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차이를 보고 “Use what the problem justifies”라는 기준을 가져간다. 도구 선택 답변이나 투표는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“AI에게 더 많은 일을 맡겨도 개발자에게 남는 책임은 무엇일까요?” S76으로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2분. 구성요소를 다시 강의하지 않고 판단 근거와 범위에 집중한다.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S75와 production/preview/act5/S75.png를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S76 — 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위임이 늘어도 개발자 책임은 남는다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DEVELOPER RESPONSIBILITY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Agent는 조사·생성·변경·실행·비교를 도울 수 있다. 개발자는 목표, 제약, 판단, Verification, 완료 여부와 결과 책임을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“AI가 더 많은 일을 맡아도 개발자가 계속 책임지는 것은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(0:00–0:40 / Lecture) AI가 도울 수 있는 행동은 상단 한 문장으로만 읽는다.</a:t>
            </a:r>
          </a:p>
          <a:p xmlns:a="http://schemas.openxmlformats.org/drawingml/2006/main">
            <a:r>
              <a:t>2. (0:40–2:20 / Lecture) 네 질문을 차례로 짚는다: 해결할 목표, 적절한 선택, 확인 근거, 완료 수용 여부.</a:t>
            </a:r>
          </a:p>
          <a:p xmlns:a="http://schemas.openxmlformats.org/drawingml/2006/main">
            <a:r>
              <a:t>3. (2:20–3:00 / Lecture) 역할의 절대적 분업이 아니라 개발자의 판단과 책임을 강조하고 S77의 운영 모델로 연결한다.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BEAT-061–062. 새 Product feature나 책임 handoff evidence는 없다.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이 교육에서 고정한 책임 원칙이다. Agent와 개발자의 역할을 절대적인 분업 규칙으로 제시하지 않는다. AI fear/control framing을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AI가 결과를 만들 수 있어도 무엇이 맞고 완료인지 판단하는 일은 남는다.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위임 범위, 제약, 검증 기준과 최종 수용 기준을 함께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정적 role/responsibility diagram.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네 가지 책임 축을 읽고 자신의 완료 기준을 떠올리게 한다. 응답 요구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 역할 변화를 이 교육에서는 어떤 모델로 부를까요?” S77로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다섯 Agent 행동을 상세 제품 기능처럼 설명하지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S76와 production/preview/act5/S76.png를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S77 — 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AI-Native Development는 이 교육의 운영 모델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5A  AI-NATIVE DEVELOPMENT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3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3분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이 교육은 Task Boundary, Project Context, Reusable Workflow, Verification, Feedback Loop를 의도적으로 설계·운영하는 방식을 AI-Native Development의 operational model로 사용한다.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“AI에게 일을 많이 맡기면 AI-Native일까?”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(0:00–0:30 / Lecture) 이 과정이 AI가 일할 조건과 결과 확인 경로를 설계하는 방식에 AI-Native Development라는 운영 모델 이름을 붙였음을 밝힌다.</a:t>
            </a:r>
          </a:p>
          <a:p xmlns:a="http://schemas.openxmlformats.org/drawingml/2006/main">
            <a:r>
              <a:t>2. (0:30–2:20 / Lecture) 작업 경계, 프로젝트 지식·절차, 검증·피드백 세 행에서 각각 Task Boundary, Project Context/Reusable Workflow, Verification/Feedback Loop가 맡는 질문을 연결한다.</a:t>
            </a:r>
          </a:p>
          <a:p xmlns:a="http://schemas.openxmlformats.org/drawingml/2006/main">
            <a:r>
              <a:t>3. (2:20–3:00 / Lecture) 모든 Task에 모든 요소를 의무적으로 넣으라는 보편 정의가 아님을 한정하고 자신의 반복 마찰을 찾는 S78로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DEC-0023의 course-specific operational framing.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공식·보편 업계 표준 정의라고 말하지 않는다. 모든 task 또는 Demo에 다섯 구성요소를 의무적으로 도입하라는 뜻이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사용량을 늘리는 것만으로 끝내지 않고 반복되는 작은 마찰을 하나 개선한다.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Model capability와 작업 System/Harness 설계를 구분해 다음 병목을 진단한다.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다음 S78에서 C++ Vision 업무와 자신의 Repository로 transfer한다.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실행 없음. 다섯 구성요소는 비교 가능한 system components로 보이며 maturity 순서가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Opening question을 남긴 뒤 course model의 범위를 확인한다. 공식 용어 정의나 정답 발표를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“내 Repository에서는 어떤 Layer에서 마찰이 반복될까요?” S78로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3분. AI 사용량과 설계된 work system의 차이만 설명한다.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S77와 production/preview/act5/S77.png를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S78 — 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S78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어느 Layer에서 마찰이 반복되는가?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C++ VISION / MY REPOSITORY TRANSFER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5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Case 1분 + Transition 4분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Task, Context, Workflow, Verification, Repeated Failure Loop 중 현재 가장 큰 마찰과 가까운 한 곳을 선택한다. 정해진 maturity sequence가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“내 Repository에서 다음 주에 하나만 바꾼다면?”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Case) C++ Vision의 병목 범위, 빌드 조건·계약·하드웨어 가정, 분석·측정 절차를 업무에 비춰 보는 교육용 예시라고 밝힌다. 실제 프로젝트 사건이 아니다.</a:t>
            </a:r>
          </a:p>
          <a:p xmlns:a="http://schemas.openxmlformats.org/drawingml/2006/main">
            <a:r>
              <a:t>2. (1:00–3:00 / Transition) 다섯 행의 증상 질문을 읽으며 현재 자기 업무와 가까운 것이 있는지 마음속으로 떠올리게 한다. 같은 수준의 선택지이며 반드시 위에서부터 도입하는 순서가 아니다.</a:t>
            </a:r>
          </a:p>
          <a:p xmlns:a="http://schemas.openxmlformats.org/drawingml/2006/main">
            <a:r>
              <a:t>3. (3:00–5:00 / Transition) Task/Context/Workflow/Verification/Feedback의 새 개념 설명은 하지 않고 S79의 개인 성찰 세 질문으로 좁혀 준다.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C++ Vision engineering-pattern transfer. 실제 C++ Project, hardware, toolchain 또는 benchmark 결과는 사용하지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다섯 선택지는 같은 높이의 적용 후보이며 순서가 있는 maturity ladder가 아니다. 특정 C++ Project 규칙·도구·hardware 또는 검증된 procedure를 보장하지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전체 Harness를 새로 만들기 전에 반복해서 설명하거나 확인하는 부분 하나를 찾는다.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반복 비용, 위험과 verification surface를 보고 투자 지점을 고른다.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Primary bridge. 예시: 성능 병목 조사 Task; build mode/algorithm contract/hardware assumptions Context; profile → change → benchmark → regression Workflow; tests + benchmark Verification; 반복 이슈가 다시 생기면 관련 System 수정. 실제 project procedure가 아닌 pattern transfer.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새 Demo가 없다. 왼쪽 Layer 이름보다 오른쪽 반복되는 마찰을 먼저 읽고, 선택지들은 같은 높이의 적용 후보임을 유지한다.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선택지를 강사 주도로 비교한다. 청중에게 선택 발표, 투표, 실습, 제출을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“마지막으로, 각자 업무에서 반복되는 마찰을 개인적으로 생각해 봅시다.” S79로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Case 1분 + Transition 4분 = 5분. Transition 동안 새 사례를 열지 않고 reflection handoff만 수행한다.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S78와 production/preview/act5/S78.png를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S79 — 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S79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다음 작은 행동을 개인적으로 고른다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REFLECTION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4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Lecture 2분 + Reflection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반복해서 적는 설명, AI가 다시 찾는 Project 사실, 반복되는 실패에서 고칠 System layer 가운데 한 가지를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“내가 AI와 개발하는 방식에서 다음에 바꿀 수 있는 것은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(0:00–1:00 / Lecture) S78에서 떠올린 반복 마찰을 이어 간다.</a:t>
            </a:r>
          </a:p>
          <a:p xmlns:a="http://schemas.openxmlformats.org/drawingml/2006/main">
            <a:r>
              <a:t>2. (1:00–2:00 / Lecture) 화면의 반복 설명, 재탐색하는 프로젝트 사실, 두 번째 실패의 수정 위치 세 질문을 차례로 읽는다.</a:t>
            </a:r>
          </a:p>
          <a:p xmlns:a="http://schemas.openxmlformats.org/drawingml/2006/main">
            <a:r>
              <a:t>3. (2:00–4:00 / Reflection) 두 분 동안 조용히 개인적으로 생각할 시간을 둔다. 답변·기록·발표·제출을 요구하지 않는다. 시간 뒤 S80 질문 시간으로 넘어간다.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승인된 private reflection prompt. 개인 업무에 대한 새 관찰 근거는 수집하지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개인 Reflection이며 응답, 공유, written commitment 또는 실제 업무 변경을 요구하지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반복되는 설명이나 Project 사실을 AI가 다시 찾는 지점부터 생각한다.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같은 실패가 반복될 때 Prompt 밖의 어떤 System layer가 원인인지 떠올린다.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자신의 Vision 또는 개발 Repository에 같은 질문을 개인적으로 적용할 수 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N/A — 별도 Demo 없음.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공유하지 않는 개인 성찰로 진행한다. 응답을 받기 위해 기다리지 않는다. 2분 뒤 바로 S80으로 이동한다.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“이제 질문을 받고, 마지막 공통 모델로 마무리하겠습니다.” S80으로 넘긴다.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Lecture 2분 + Reflection 2분 = 4분. Reflection은 2분에 종료하고 Q&amp;A와 섞지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S79와 production/preview/act5/S79.png를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## S80 — 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**Slide ID:**</a:t>
            </a:r>
          </a:p>
          <a:p xmlns:a="http://schemas.openxmlformats.org/drawingml/2006/main">
            <a:r>
              <a:t>S80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**Working Title:**</a:t>
            </a:r>
          </a:p>
          <a:p xmlns:a="http://schemas.openxmlformats.org/drawingml/2006/main">
            <a:r>
              <a:t>Q&amp;A와 교육 마무리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**ACT / Section:**</a:t>
            </a:r>
          </a:p>
          <a:p xmlns:a="http://schemas.openxmlformats.org/drawingml/2006/main">
            <a:r>
              <a:t>ACT 5 / 5B  FINAL Q&amp;A / CLOSING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**Allocated Time:**</a:t>
            </a:r>
          </a:p>
          <a:p xmlns:a="http://schemas.openxmlformats.org/drawingml/2006/main">
            <a:r>
              <a:t>6 minutes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**Mode Split:**</a:t>
            </a:r>
          </a:p>
          <a:p xmlns:a="http://schemas.openxmlformats.org/drawingml/2006/main">
            <a:r>
              <a:t>Q&amp;A 4분 + Closing Transition 2분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**Primary Message:**</a:t>
            </a:r>
          </a:p>
          <a:p xmlns:a="http://schemas.openxmlformats.org/drawingml/2006/main">
            <a:r>
              <a:t>Goal, Judgment, Verification, Responsibility를 유지하면서 AI가 일할 환경과 Feedback을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**Opening Question:**</a:t>
            </a:r>
          </a:p>
          <a:p xmlns:a="http://schemas.openxmlformats.org/drawingml/2006/main">
            <a:r>
              <a:t>“남은 질문은 무엇인가?”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**Speaker Flow:**</a:t>
            </a:r>
          </a:p>
          <a:p xmlns:a="http://schemas.openxmlformats.org/drawingml/2006/main">
            <a:r>
              <a:t>1. (0:00–4:00 / Q&amp;A) 상단의 “내 업무에서 무엇부터 바꿀까요?”를 가리키고 질문을 받는다. 질문이 없으면 “반복 설명을 줄이려면 Task와 Project Context 중 무엇을 살필까요?” 또는 “결과 확인 기준을 먼저 정한다면 어떤 업무부터 볼까요?”를 사용해 앞의 교육 모델 안에서 짧게 정리한다.</a:t>
            </a:r>
          </a:p>
          <a:p xmlns:a="http://schemas.openxmlformats.org/drawingml/2006/main">
            <a:r>
              <a:t>2. (4:00–6:00 / Closing Transition) 질문을 마감하고 중앙의 “AI가 잘 일할 환경을 설계한다”로 마무리한다. 하단 Question→Task→Context→System→Feedback Loop를 짧게 회수한다.</a:t>
            </a:r>
          </a:p>
          <a:p xmlns:a="http://schemas.openxmlformats.org/drawingml/2006/main">
            <a:r>
              <a:t>3. 종료 cue: “목표·판단·검증·책임을 유지하면서, AI가 잘 일할 환경을 설계합시다.”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**Evidence / Source:**</a:t>
            </a:r>
          </a:p>
          <a:p xmlns:a="http://schemas.openxmlformats.org/drawingml/2006/main">
            <a:r>
              <a:t>TEACHING_MODEL · BEAT-070–071. 새로운 Product claim이나 기술 개념은 추가하지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**Claim Boundary:**</a:t>
            </a:r>
          </a:p>
          <a:p xmlns:a="http://schemas.openxmlformats.org/drawingml/2006/main">
            <a:r>
              <a:t>AI-Native Development의 course-specific framing으로 닫는다. 제품 기능, 자동화 수준 또는 모든 상황의 단일 처방을 주장하지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**Beginner Explanation:**</a:t>
            </a:r>
          </a:p>
          <a:p xmlns:a="http://schemas.openxmlformats.org/drawingml/2006/main">
            <a:r>
              <a:t>AI 사용량 대신 내 일에 필요한 환경과 확인 기준을 기억한다.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**Advanced Insight:**</a:t>
            </a:r>
          </a:p>
          <a:p xmlns:a="http://schemas.openxmlformats.org/drawingml/2006/main">
            <a:r>
              <a:t>Goal, Judgment, Verification, Responsibility를 유지하며 System의 Feedback 경로를 설계한다.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**C++ Vision Bridge:**</a:t>
            </a:r>
          </a:p>
          <a:p xmlns:a="http://schemas.openxmlformats.org/drawingml/2006/main">
            <a:r>
              <a:t>N/A.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**Demo Operation:**</a:t>
            </a:r>
          </a:p>
          <a:p xmlns:a="http://schemas.openxmlformats.org/drawingml/2006/main">
            <a:r>
              <a:t>추가 실행 없음. Q&amp;A 운영 지시와 시간표는 Notes에만 두고 화면에는 질문과 마지막 한 문장을 남긴다.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**Audience Interaction:**</a:t>
            </a:r>
          </a:p>
          <a:p xmlns:a="http://schemas.openxmlformats.org/drawingml/2006/main">
            <a:r>
              <a:t>Q&amp;A 4분. 질문이 없으면 FAQ 또는 개발 업무 적용 질문 하나를 사용하며 새로운 강의 topic을 열지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**Transition:**</a:t>
            </a:r>
          </a:p>
          <a:p xmlns:a="http://schemas.openxmlformats.org/drawingml/2006/main">
            <a:r>
              <a:t>2분 closing transition: Question → Task → Context → System → Feedback Loop를 회수하고 교육을 마친다.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**Time Management:**</a:t>
            </a:r>
          </a:p>
          <a:p xmlns:a="http://schemas.openxmlformats.org/drawingml/2006/main">
            <a:r>
              <a:t>Q&amp;A 4분 + Closing Transition 2분 = 6분. Q&amp;A는 4분에 마감하고 추가 질문을 이유로 시간을 늘리지 않는다.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**Fallback:**</a:t>
            </a:r>
          </a:p>
          <a:p xmlns:a="http://schemas.openxmlformats.org/drawingml/2006/main">
            <a:r>
              <a:t>LOCAL STATIC ARTIFACT — production/ACT_5.pptx의 S80와 production/preview/act5/S80.png를 사용한다. 원본 실행 캡처 또는 새로운 Trial 결과로 표현하지 않는다. 로컬 렌더링 검토 결과는 통합 평가 문서에 기록한다.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**Validation Status:**</a:t>
            </a:r>
          </a:p>
          <a:p xmlns:a="http://schemas.openxmlformats.org/drawingml/2006/main">
            <a:r>
              <a:t>REVIEWED — 원문·Claim 경계, 화면의 설명 순서와 운영 지침을 대조했다. 최종 PPT/Notes/PNG 대조 결과는 production/evaluation/FULL_DECK_PRESENTATION_REVISION.md에 기록한다. Windows PowerPoint, 발표 PC 글꼴, 교육장 투사, 실제 시간 리허설은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9c03c479184e0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17b87b3b854b6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e076f188cac49b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26e485b65d4c1a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72db5d68e0c4d6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cdca3e86f4a4ca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B414912-5897-4866-B038-08D8E862E0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5A56FB7-0112-4ABE-AF9A-41D53BD0FE0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DC7F414-8C50-4380-A7ED-53C5B76E5B6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B6F1EFC-0E66-438B-B59A-80592F234D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A75E8ED-994F-48C6-8407-20F84A1218F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09CCE33-95A9-4144-AB89-E6BF9A5A82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7DFA5DE-DDDD-4B12-9689-429AFDBF3B3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8A98A108-FCB3-499D-B4FA-ED279E48837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E8399FD-F6D8-4421-B062-FA41D60AA6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33FA47E-729C-455E-86CE-915205B1B7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f59c34f925a4489" /><Relationship Type="http://schemas.openxmlformats.org/officeDocument/2006/relationships/slideLayout" Target="/ppt/slideLayouts/slideLayout1.xml" Id="R8f82c074485d4d0a" /><Relationship Type="http://schemas.openxmlformats.org/officeDocument/2006/relationships/slideLayout" Target="/ppt/slideLayouts/slideLayout2.xml" Id="Rbdcfee2c05cf4edd" /><Relationship Type="http://schemas.openxmlformats.org/officeDocument/2006/relationships/slideLayout" Target="/ppt/slideLayouts/slideLayout3.xml" Id="R352893f0132f47bc" /><Relationship Type="http://schemas.openxmlformats.org/officeDocument/2006/relationships/slideLayout" Target="/ppt/slideLayouts/slideLayout4.xml" Id="R359d8a5e233541c9" /><Relationship Type="http://schemas.openxmlformats.org/officeDocument/2006/relationships/slideLayout" Target="/ppt/slideLayouts/slideLayout5.xml" Id="Rd6582c4b31da449a" /><Relationship Type="http://schemas.openxmlformats.org/officeDocument/2006/relationships/slideLayout" Target="/ppt/slideLayouts/slideLayout6.xml" Id="R58c10b2a7bf3446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f82c074485d4d0a"/>
    <p:sldLayoutId xmlns:r="http://schemas.openxmlformats.org/officeDocument/2006/relationships" id="2147483650" r:id="Rbdcfee2c05cf4edd"/>
    <p:sldLayoutId xmlns:r="http://schemas.openxmlformats.org/officeDocument/2006/relationships" id="2147483651" r:id="R352893f0132f47bc"/>
    <p:sldLayoutId xmlns:r="http://schemas.openxmlformats.org/officeDocument/2006/relationships" id="2147483652" r:id="R359d8a5e233541c9"/>
    <p:sldLayoutId xmlns:r="http://schemas.openxmlformats.org/officeDocument/2006/relationships" id="2147483653" r:id="Rd6582c4b31da449a"/>
    <p:sldLayoutId xmlns:r="http://schemas.openxmlformats.org/officeDocument/2006/relationships" id="2147483654" r:id="R58c10b2a7bf3446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9e734cd7a84c57" /><Relationship Type="http://schemas.openxmlformats.org/officeDocument/2006/relationships/notesSlide" Target="/ppt/notesSlides/notesSlide1.xml" Id="Re30f97c71c644cd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2525971c8d459d" /><Relationship Type="http://schemas.openxmlformats.org/officeDocument/2006/relationships/notesSlide" Target="/ppt/notesSlides/notesSlide2.xml" Id="Re3b6f3965d604d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637f1ce73b347a8" /><Relationship Type="http://schemas.openxmlformats.org/officeDocument/2006/relationships/notesSlide" Target="/ppt/notesSlides/notesSlide3.xml" Id="Rf66546b4b9314a2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972bc602154831" /><Relationship Type="http://schemas.openxmlformats.org/officeDocument/2006/relationships/notesSlide" Target="/ppt/notesSlides/notesSlide4.xml" Id="R2e0a10837df142c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528dac923247cb" /><Relationship Type="http://schemas.openxmlformats.org/officeDocument/2006/relationships/notesSlide" Target="/ppt/notesSlides/notesSlide5.xml" Id="R622d074eae77406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10461617c1412d" /><Relationship Type="http://schemas.openxmlformats.org/officeDocument/2006/relationships/notesSlide" Target="/ppt/notesSlides/notesSlide6.xml" Id="R235c984f1bd04b6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5ff49aa84047f1" /><Relationship Type="http://schemas.openxmlformats.org/officeDocument/2006/relationships/notesSlide" Target="/ppt/notesSlides/notesSlide7.xml" Id="R7560eef49b6041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54599690b8549c8" /><Relationship Type="http://schemas.openxmlformats.org/officeDocument/2006/relationships/notesSlide" Target="/ppt/notesSlides/notesSlide8.xml" Id="R06f62d885076426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5 · 전체 여정 회수">
            <a:extLst xmlns:a="http://schemas.openxmlformats.org/drawingml/2006/main">
              <a:ext uri="{FF2B5EF4-FFF2-40B4-BE49-F238E27FC236}">
                <a16:creationId xmlns:a16="http://schemas.microsoft.com/office/drawing/2014/main" id="{E4AD960F-56F9-4A5D-834E-1B705E3F7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전체 여정 회수</a:t>
            </a:r>
          </a:p>
        </p:txBody>
      </p:sp>
      <p:sp>
        <p:nvSpPr>
          <p:cNvPr id="2" name="S73">
            <a:extLst xmlns:a="http://schemas.openxmlformats.org/drawingml/2006/main">
              <a:ext uri="{FF2B5EF4-FFF2-40B4-BE49-F238E27FC236}">
                <a16:creationId xmlns:a16="http://schemas.microsoft.com/office/drawing/2014/main" id="{668C0ED2-38F7-4E05-B287-EE4400A0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S73</a:t>
            </a:r>
          </a:p>
        </p:txBody>
      </p:sp>
      <p:sp>
        <p:nvSpPr>
          <p:cNvPr id="3" name="여섯 시간의 Story를 한 장으로">
            <a:extLst xmlns:a="http://schemas.openxmlformats.org/drawingml/2006/main">
              <a:ext uri="{FF2B5EF4-FFF2-40B4-BE49-F238E27FC236}">
                <a16:creationId xmlns:a16="http://schemas.microsoft.com/office/drawing/2014/main" id="{D0CCF387-018B-48BB-B7A3-4FF8EE124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여섯 시간의 Story를 한 장으로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541D43-899D-4A54-B78B-41FC153FC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0 · 이 교육의 문제 중심 진화 모델">
            <a:extLst xmlns:a="http://schemas.openxmlformats.org/drawingml/2006/main">
              <a:ext uri="{FF2B5EF4-FFF2-40B4-BE49-F238E27FC236}">
                <a16:creationId xmlns:a16="http://schemas.microsoft.com/office/drawing/2014/main" id="{153B9E52-4A98-4740-B190-0AD366E2E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BEAT-060 · 이 교육의 문제 중심 진화 모델</a:t>
            </a:r>
          </a:p>
        </p:txBody>
      </p:sp>
      <p:sp>
        <p:nvSpPr>
          <p:cNvPr id="6" name="앞의 방식을 버리거나, 모든 프로젝트가 같은 순서로 발전해야 한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F73EC25B-42F3-4CA9-9F76-FEF32233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앞의 방식을 버리거나, 모든 프로젝트가 같은 순서로 발전해야 한다는 뜻은 아니다.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7759F2-92AD-4787-92FA-5722CEA0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Chatbot">
            <a:extLst xmlns:a="http://schemas.openxmlformats.org/drawingml/2006/main">
              <a:ext uri="{FF2B5EF4-FFF2-40B4-BE49-F238E27FC236}">
                <a16:creationId xmlns:a16="http://schemas.microsoft.com/office/drawing/2014/main" id="{BDBF4FB4-ADEC-490C-822B-CA3996311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Chatbot</a:t>
            </a:r>
          </a:p>
        </p:txBody>
      </p:sp>
      <p:sp>
        <p:nvSpPr>
          <p:cNvPr id="9" name="답을 구한다">
            <a:extLst xmlns:a="http://schemas.openxmlformats.org/drawingml/2006/main">
              <a:ext uri="{FF2B5EF4-FFF2-40B4-BE49-F238E27FC236}">
                <a16:creationId xmlns:a16="http://schemas.microsoft.com/office/drawing/2014/main" id="{BDC2B23D-AB36-46D0-AC95-3B9C66F25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190750"/>
            <a:ext cx="7962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답을 구한다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D8F226-8183-4706-9273-0497E38B6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Prompt">
            <a:extLst xmlns:a="http://schemas.openxmlformats.org/drawingml/2006/main">
              <a:ext uri="{FF2B5EF4-FFF2-40B4-BE49-F238E27FC236}">
                <a16:creationId xmlns:a16="http://schemas.microsoft.com/office/drawing/2014/main" id="{C85F987A-D863-4D6A-90E0-5AE314EC1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Prompt</a:t>
            </a:r>
          </a:p>
        </p:txBody>
      </p:sp>
      <p:sp>
        <p:nvSpPr>
          <p:cNvPr id="12" name="이번 작업을 구체화한다">
            <a:extLst xmlns:a="http://schemas.openxmlformats.org/drawingml/2006/main">
              <a:ext uri="{FF2B5EF4-FFF2-40B4-BE49-F238E27FC236}">
                <a16:creationId xmlns:a16="http://schemas.microsoft.com/office/drawing/2014/main" id="{66160EF6-E52F-4994-90C1-E4D9234A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09875"/>
            <a:ext cx="7962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이번 작업을 구체화한다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1FA9DA-6066-411D-A18B-255BC4B0D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Context">
            <a:extLst xmlns:a="http://schemas.openxmlformats.org/drawingml/2006/main">
              <a:ext uri="{FF2B5EF4-FFF2-40B4-BE49-F238E27FC236}">
                <a16:creationId xmlns:a16="http://schemas.microsoft.com/office/drawing/2014/main" id="{A02D656A-9BE0-4935-A9CA-EB3366D1E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5" name="프로젝트 지식을 제공한다">
            <a:extLst xmlns:a="http://schemas.openxmlformats.org/drawingml/2006/main">
              <a:ext uri="{FF2B5EF4-FFF2-40B4-BE49-F238E27FC236}">
                <a16:creationId xmlns:a16="http://schemas.microsoft.com/office/drawing/2014/main" id="{5821BAB8-1B90-4A46-BE8B-5E04F7691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429000"/>
            <a:ext cx="7962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지식을 제공한다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D460EC-1082-41FE-9C44-4F4BFAD0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52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Harness">
            <a:extLst xmlns:a="http://schemas.openxmlformats.org/drawingml/2006/main">
              <a:ext uri="{FF2B5EF4-FFF2-40B4-BE49-F238E27FC236}">
                <a16:creationId xmlns:a16="http://schemas.microsoft.com/office/drawing/2014/main" id="{0AE8A8DC-F0EE-4867-9022-154AB937F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Harness</a:t>
            </a:r>
          </a:p>
        </p:txBody>
      </p:sp>
      <p:sp>
        <p:nvSpPr>
          <p:cNvPr id="18" name="일하는 환경을 설계한다">
            <a:extLst xmlns:a="http://schemas.openxmlformats.org/drawingml/2006/main">
              <a:ext uri="{FF2B5EF4-FFF2-40B4-BE49-F238E27FC236}">
                <a16:creationId xmlns:a16="http://schemas.microsoft.com/office/drawing/2014/main" id="{F990E235-6133-4CC7-8A60-19B469642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048125"/>
            <a:ext cx="7962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일하는 환경을 설계한다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397FC6-54A8-4AAF-A309-5DD05ED42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Loop">
            <a:extLst xmlns:a="http://schemas.openxmlformats.org/drawingml/2006/main">
              <a:ext uri="{FF2B5EF4-FFF2-40B4-BE49-F238E27FC236}">
                <a16:creationId xmlns:a16="http://schemas.microsoft.com/office/drawing/2014/main" id="{E80D7713-65C3-49B4-AE6A-139C36290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Loop</a:t>
            </a:r>
          </a:p>
        </p:txBody>
      </p:sp>
      <p:sp>
        <p:nvSpPr>
          <p:cNvPr id="21" name="피드백으로 시스템을 고친다">
            <a:extLst xmlns:a="http://schemas.openxmlformats.org/drawingml/2006/main">
              <a:ext uri="{FF2B5EF4-FFF2-40B4-BE49-F238E27FC236}">
                <a16:creationId xmlns:a16="http://schemas.microsoft.com/office/drawing/2014/main" id="{BEBBE12F-2F23-425E-BB6A-20105F8AC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667250"/>
            <a:ext cx="7962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피드백으로 시스템을 고친다</a:t>
            </a:r>
          </a:p>
        </p:txBody>
      </p:sp>
      <p:sp>
        <p:nvSpPr>
          <p:cNvPr id="22" name="문제가 넓어질수록, 필요한 대응이 더해졌다.">
            <a:extLst xmlns:a="http://schemas.openxmlformats.org/drawingml/2006/main">
              <a:ext uri="{FF2B5EF4-FFF2-40B4-BE49-F238E27FC236}">
                <a16:creationId xmlns:a16="http://schemas.microsoft.com/office/drawing/2014/main" id="{0A540015-70B6-487A-BE68-B95FFF531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9115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문제가 넓어질수록, 필요한 대응이 더해졌다.</a:t>
            </a:r>
          </a:p>
        </p:txBody>
      </p:sp>
    </p:spTree>
    <p:extLst>
      <p:ext uri="{BB962C8B-B14F-4D97-AF65-F5344CB8AC3E}">
        <p14:creationId xmlns:p14="http://schemas.microsoft.com/office/powerpoint/2010/main" val="20272432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ACT 5 · 확인된 제품 변화">
            <a:extLst xmlns:a="http://schemas.openxmlformats.org/drawingml/2006/main">
              <a:ext uri="{FF2B5EF4-FFF2-40B4-BE49-F238E27FC236}">
                <a16:creationId xmlns:a16="http://schemas.microsoft.com/office/drawing/2014/main" id="{99CA8A0B-08A7-4C45-9CBA-67AAE0CCC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확인된 제품 변화</a:t>
            </a:r>
          </a:p>
        </p:txBody>
      </p:sp>
      <p:sp>
        <p:nvSpPr>
          <p:cNvPr id="2" name="S74">
            <a:extLst xmlns:a="http://schemas.openxmlformats.org/drawingml/2006/main">
              <a:ext uri="{FF2B5EF4-FFF2-40B4-BE49-F238E27FC236}">
                <a16:creationId xmlns:a16="http://schemas.microsoft.com/office/drawing/2014/main" id="{3EC60F35-E0C4-4A7A-8D35-DB9F4EF73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S74</a:t>
            </a:r>
          </a:p>
        </p:txBody>
      </p:sp>
      <p:sp>
        <p:nvSpPr>
          <p:cNvPr id="3" name="하나의 Repository가 문제에 대응해 진화했다">
            <a:extLst xmlns:a="http://schemas.openxmlformats.org/drawingml/2006/main">
              <a:ext uri="{FF2B5EF4-FFF2-40B4-BE49-F238E27FC236}">
                <a16:creationId xmlns:a16="http://schemas.microsoft.com/office/drawing/2014/main" id="{2713FE1F-D9D3-45B4-8EDA-1CC21A34D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하나의 Repository가 문제에 대응해 진화했다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A79C66-89C5-4A7C-950D-B5A0C84A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MO-12 · STATE-00 → STATE-04-PERF · 실제 Git State 기록">
            <a:extLst xmlns:a="http://schemas.openxmlformats.org/drawingml/2006/main">
              <a:ext uri="{FF2B5EF4-FFF2-40B4-BE49-F238E27FC236}">
                <a16:creationId xmlns:a16="http://schemas.microsoft.com/office/drawing/2014/main" id="{17DB0E61-5F68-4444-8967-59743468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DEMO-12 · STATE-00 → STATE-04-PERF · 실제 Git State 기록</a:t>
            </a:r>
          </a:p>
        </p:txBody>
      </p:sp>
      <p:sp>
        <p:nvSpPr>
          <p:cNvPr id="6" name="상태는 변화 이력이다. 기능 성숙도 등급이나 Product Loop를 뜻하지 않는다.">
            <a:extLst xmlns:a="http://schemas.openxmlformats.org/drawingml/2006/main">
              <a:ext uri="{FF2B5EF4-FFF2-40B4-BE49-F238E27FC236}">
                <a16:creationId xmlns:a16="http://schemas.microsoft.com/office/drawing/2014/main" id="{3CD2ED40-72A7-461C-B4BC-18F544EA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상태는 변화 이력이다. 기능 성숙도 등급이나 Product Loop를 뜻하지 않는다.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1777D4B-5C00-43F8-AAF4-7D855128C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8" name="STATE-00">
            <a:extLst xmlns:a="http://schemas.openxmlformats.org/drawingml/2006/main">
              <a:ext uri="{FF2B5EF4-FFF2-40B4-BE49-F238E27FC236}">
                <a16:creationId xmlns:a16="http://schemas.microsoft.com/office/drawing/2014/main" id="{A48657F9-B8F5-4257-AB81-1D3A8DD9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STATE-00</a:t>
            </a:r>
          </a:p>
        </p:txBody>
      </p:sp>
      <p:sp>
        <p:nvSpPr>
          <p:cNvPr id="9" name="crop 경계 문제">
            <a:extLst xmlns:a="http://schemas.openxmlformats.org/drawingml/2006/main">
              <a:ext uri="{FF2B5EF4-FFF2-40B4-BE49-F238E27FC236}">
                <a16:creationId xmlns:a16="http://schemas.microsoft.com/office/drawing/2014/main" id="{C61A5E75-0E14-47D1-9A14-AC97C1F1A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2514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crop 경계 문제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C42358-CDD0-4565-9468-B5E230F0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257425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1" name="STATE-00-FIXED">
            <a:extLst xmlns:a="http://schemas.openxmlformats.org/drawingml/2006/main">
              <a:ext uri="{FF2B5EF4-FFF2-40B4-BE49-F238E27FC236}">
                <a16:creationId xmlns:a16="http://schemas.microsoft.com/office/drawing/2014/main" id="{D932BB20-6549-4445-8524-7D7ED38C9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3812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STATE-00-FIXED</a:t>
            </a:r>
          </a:p>
        </p:txBody>
      </p:sp>
      <p:sp>
        <p:nvSpPr>
          <p:cNvPr id="12" name="계약에 맞게 수정">
            <a:extLst xmlns:a="http://schemas.openxmlformats.org/drawingml/2006/main">
              <a:ext uri="{FF2B5EF4-FFF2-40B4-BE49-F238E27FC236}">
                <a16:creationId xmlns:a16="http://schemas.microsoft.com/office/drawing/2014/main" id="{4E27A38F-50BD-4C56-AC11-083C7BA62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2828925"/>
            <a:ext cx="2514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계약에 맞게 수정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0B7584-3C35-4081-AAA0-41DE1403E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57425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4" name="STATE-01">
            <a:extLst xmlns:a="http://schemas.openxmlformats.org/drawingml/2006/main">
              <a:ext uri="{FF2B5EF4-FFF2-40B4-BE49-F238E27FC236}">
                <a16:creationId xmlns:a16="http://schemas.microsoft.com/office/drawing/2014/main" id="{22DC5BF6-83BE-4601-8B74-F7529C6ED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3812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STATE-01</a:t>
            </a:r>
          </a:p>
        </p:txBody>
      </p:sp>
      <p:sp>
        <p:nvSpPr>
          <p:cNvPr id="15" name="프로젝트 지침">
            <a:extLst xmlns:a="http://schemas.openxmlformats.org/drawingml/2006/main">
              <a:ext uri="{FF2B5EF4-FFF2-40B4-BE49-F238E27FC236}">
                <a16:creationId xmlns:a16="http://schemas.microsoft.com/office/drawing/2014/main" id="{01AB237C-0923-4907-B6D9-714C2CB2C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828925"/>
            <a:ext cx="2514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프로젝트 지침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8219E0-3A7B-4C0A-BAFD-F75ADC01C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257425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7" name="STATE-02">
            <a:extLst xmlns:a="http://schemas.openxmlformats.org/drawingml/2006/main">
              <a:ext uri="{FF2B5EF4-FFF2-40B4-BE49-F238E27FC236}">
                <a16:creationId xmlns:a16="http://schemas.microsoft.com/office/drawing/2014/main" id="{26DFE692-25D0-46CE-94FE-C04A9CC12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38125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STATE-02</a:t>
            </a:r>
          </a:p>
        </p:txBody>
      </p:sp>
      <p:sp>
        <p:nvSpPr>
          <p:cNvPr id="18" name="Context 증가">
            <a:extLst xmlns:a="http://schemas.openxmlformats.org/drawingml/2006/main">
              <a:ext uri="{FF2B5EF4-FFF2-40B4-BE49-F238E27FC236}">
                <a16:creationId xmlns:a16="http://schemas.microsoft.com/office/drawing/2014/main" id="{028061C1-BF3B-4CBF-9410-99409286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828925"/>
            <a:ext cx="2514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 증가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D9C2DF-CD94-4B77-A933-95BEB87C1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0" name="STATE-03">
            <a:extLst xmlns:a="http://schemas.openxmlformats.org/drawingml/2006/main">
              <a:ext uri="{FF2B5EF4-FFF2-40B4-BE49-F238E27FC236}">
                <a16:creationId xmlns:a16="http://schemas.microsoft.com/office/drawing/2014/main" id="{62053596-BAAB-4DAD-BC20-BA098590A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4810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STATE-03</a:t>
            </a:r>
          </a:p>
        </p:txBody>
      </p:sp>
      <p:sp>
        <p:nvSpPr>
          <p:cNvPr id="21" name="상세 정보로 연결">
            <a:extLst xmlns:a="http://schemas.openxmlformats.org/drawingml/2006/main">
              <a:ext uri="{FF2B5EF4-FFF2-40B4-BE49-F238E27FC236}">
                <a16:creationId xmlns:a16="http://schemas.microsoft.com/office/drawing/2014/main" id="{F45C08C9-B108-4A9D-95FA-2E051C487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95775"/>
            <a:ext cx="2514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상세 정보로 연결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459BFF-A596-4827-8BB1-EB5B1C98F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724275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23" name="STATE-04">
            <a:extLst xmlns:a="http://schemas.openxmlformats.org/drawingml/2006/main">
              <a:ext uri="{FF2B5EF4-FFF2-40B4-BE49-F238E27FC236}">
                <a16:creationId xmlns:a16="http://schemas.microsoft.com/office/drawing/2014/main" id="{D8187150-3660-4AFF-94C7-925B4317B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84810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STATE-04</a:t>
            </a:r>
          </a:p>
        </p:txBody>
      </p:sp>
      <p:sp>
        <p:nvSpPr>
          <p:cNvPr id="24" name="재사용 Workflow">
            <a:extLst xmlns:a="http://schemas.openxmlformats.org/drawingml/2006/main">
              <a:ext uri="{FF2B5EF4-FFF2-40B4-BE49-F238E27FC236}">
                <a16:creationId xmlns:a16="http://schemas.microsoft.com/office/drawing/2014/main" id="{84789B68-64D1-4435-8F47-95E23C2F9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95775"/>
            <a:ext cx="2514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5A04CA-E399-46C9-930A-5FC73AD8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724275"/>
            <a:ext cx="2514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76B4D"/>
            </a:solidFill>
            <a:prstDash val="solid"/>
          </a:ln>
        </p:spPr>
      </p:sp>
      <p:sp>
        <p:nvSpPr>
          <p:cNvPr id="26" name="STATE-04-PERF">
            <a:extLst xmlns:a="http://schemas.openxmlformats.org/drawingml/2006/main">
              <a:ext uri="{FF2B5EF4-FFF2-40B4-BE49-F238E27FC236}">
                <a16:creationId xmlns:a16="http://schemas.microsoft.com/office/drawing/2014/main" id="{3A30DF03-2567-47F8-A640-C2CD1DA2D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848100"/>
            <a:ext cx="2514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6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6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6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6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6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6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6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6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6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6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6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1">
                <a:solidFill>
                  <a:srgbClr val="176B4D"/>
                </a:solidFill>
                <a:latin typeface="Malgun Gothic"/>
                <a:ea typeface="Malgun Gothic"/>
                <a:cs typeface="Malgun Gothic"/>
              </a:rPr>
              <a:t>STATE-04-PERF</a:t>
            </a:r>
          </a:p>
        </p:txBody>
      </p:sp>
      <p:sp>
        <p:nvSpPr>
          <p:cNvPr id="27" name="검증된 제품 변경">
            <a:extLst xmlns:a="http://schemas.openxmlformats.org/drawingml/2006/main">
              <a:ext uri="{FF2B5EF4-FFF2-40B4-BE49-F238E27FC236}">
                <a16:creationId xmlns:a16="http://schemas.microsoft.com/office/drawing/2014/main" id="{0B607DF0-0D2B-41BC-B363-68AE61C3B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95775"/>
            <a:ext cx="2514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검증된 제품 변경</a:t>
            </a:r>
          </a:p>
        </p:txBody>
      </p:sp>
      <p:sp>
        <p:nvSpPr>
          <p:cNvPr id="28" name="각 변화의 출발점은, 그때 마주친 문제였다.">
            <a:extLst xmlns:a="http://schemas.openxmlformats.org/drawingml/2006/main">
              <a:ext uri="{FF2B5EF4-FFF2-40B4-BE49-F238E27FC236}">
                <a16:creationId xmlns:a16="http://schemas.microsoft.com/office/drawing/2014/main" id="{18E25230-5F2C-4669-900D-675726237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054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각 변화의 출발점은, 그때 마주친 문제였다.</a:t>
            </a:r>
          </a:p>
        </p:txBody>
      </p:sp>
    </p:spTree>
    <p:extLst>
      <p:ext uri="{BB962C8B-B14F-4D97-AF65-F5344CB8AC3E}">
        <p14:creationId xmlns:p14="http://schemas.microsoft.com/office/powerpoint/2010/main" val="181718173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ACT 5 · 이번 Demo의 선택 기준">
            <a:extLst xmlns:a="http://schemas.openxmlformats.org/drawingml/2006/main">
              <a:ext uri="{FF2B5EF4-FFF2-40B4-BE49-F238E27FC236}">
                <a16:creationId xmlns:a16="http://schemas.microsoft.com/office/drawing/2014/main" id="{CED53691-9D87-41EE-9443-D25C2CE4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이번 Demo의 선택 기준</a:t>
            </a:r>
          </a:p>
        </p:txBody>
      </p:sp>
      <p:sp>
        <p:nvSpPr>
          <p:cNvPr id="2" name="S75">
            <a:extLst xmlns:a="http://schemas.openxmlformats.org/drawingml/2006/main">
              <a:ext uri="{FF2B5EF4-FFF2-40B4-BE49-F238E27FC236}">
                <a16:creationId xmlns:a16="http://schemas.microsoft.com/office/drawing/2014/main" id="{5BD58FE5-1DE1-4E13-8167-6DC53834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S75</a:t>
            </a:r>
          </a:p>
        </p:txBody>
      </p:sp>
      <p:sp>
        <p:nvSpPr>
          <p:cNvPr id="3" name="필요성이 입증되지 않은 것은 보류했다">
            <a:extLst xmlns:a="http://schemas.openxmlformats.org/drawingml/2006/main">
              <a:ext uri="{FF2B5EF4-FFF2-40B4-BE49-F238E27FC236}">
                <a16:creationId xmlns:a16="http://schemas.microsoft.com/office/drawing/2014/main" id="{60BD5F1B-02E6-483C-B39D-0D8478DB4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필요성이 입증되지 않은 것은 보류했다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12043B-CE41-4113-8896-CC3C851F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STATE-04-PERF · DEC-0018 · 이번 작업의 선택을 회고">
            <a:extLst xmlns:a="http://schemas.openxmlformats.org/drawingml/2006/main">
              <a:ext uri="{FF2B5EF4-FFF2-40B4-BE49-F238E27FC236}">
                <a16:creationId xmlns:a16="http://schemas.microsoft.com/office/drawing/2014/main" id="{DC314DD7-360C-4B44-A114-DE2603892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STATE-04-PERF · DEC-0018 · 이번 작업의 선택을 회고</a:t>
            </a:r>
          </a:p>
        </p:txBody>
      </p:sp>
      <p:sp>
        <p:nvSpPr>
          <p:cNvPr id="6" name="모든 프로젝트에서 Subagent·Memory가 불필요하거나 적을수록 좋다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6188881F-2601-428C-8192-1F77AF90C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모든 프로젝트에서 Subagent·Memory가 불필요하거나 적을수록 좋다는 뜻은 아니다.</a:t>
            </a:r>
          </a:p>
        </p:txBody>
      </p:sp>
      <p:sp>
        <p:nvSpPr>
          <p:cNvPr id="7" name="이번 문제에 필요했던 것">
            <a:extLst xmlns:a="http://schemas.openxmlformats.org/drawingml/2006/main">
              <a:ext uri="{FF2B5EF4-FFF2-40B4-BE49-F238E27FC236}">
                <a16:creationId xmlns:a16="http://schemas.microsoft.com/office/drawing/2014/main" id="{6B39C11F-6CDA-451D-8E9B-B50947BE0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이번 문제에 필요했던 것</a:t>
            </a:r>
          </a:p>
        </p:txBody>
      </p:sp>
      <p:sp>
        <p:nvSpPr>
          <p:cNvPr id="8" name="이번에는 정당화하지 못한 것">
            <a:extLst xmlns:a="http://schemas.openxmlformats.org/drawingml/2006/main">
              <a:ext uri="{FF2B5EF4-FFF2-40B4-BE49-F238E27FC236}">
                <a16:creationId xmlns:a16="http://schemas.microsoft.com/office/drawing/2014/main" id="{08E16281-ADEC-4D0E-B02A-F074FB09F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238375"/>
            <a:ext cx="4876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805400"/>
                </a:solidFill>
                <a:latin typeface="Malgun Gothic"/>
                <a:ea typeface="Malgun Gothic"/>
                <a:cs typeface="Malgun Gothic"/>
              </a:rPr>
              <a:t>이번에는 정당화하지 못한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944A86-7B47-419F-A71A-6397FE40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5EB162-C5B8-401E-BB68-200F69AFC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952750"/>
            <a:ext cx="487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05400"/>
            </a:solidFill>
            <a:prstDash val="solid"/>
          </a:ln>
        </p:spPr>
      </p:sp>
      <p:sp>
        <p:nvSpPr>
          <p:cNvPr id="11" name="Task Prompt&#10;Context와 Routing&#10;재사용 Workflow&#10;Tests와 Benchmark">
            <a:extLst xmlns:a="http://schemas.openxmlformats.org/drawingml/2006/main">
              <a:ext uri="{FF2B5EF4-FFF2-40B4-BE49-F238E27FC236}">
                <a16:creationId xmlns:a16="http://schemas.microsoft.com/office/drawing/2014/main" id="{1C563EBC-6D08-4990-8C4F-360E4261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4876800" cy="1704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Task Prompt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Context와 Routing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재사용 Workflow</a:t>
            </a:r>
          </a:p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Tests와 Benchmark</a:t>
            </a:r>
          </a:p>
        </p:txBody>
      </p:sp>
      <p:sp>
        <p:nvSpPr>
          <p:cNvPr id="12" name="Subagent&#10;Memory">
            <a:extLst xmlns:a="http://schemas.openxmlformats.org/drawingml/2006/main">
              <a:ext uri="{FF2B5EF4-FFF2-40B4-BE49-F238E27FC236}">
                <a16:creationId xmlns:a16="http://schemas.microsoft.com/office/drawing/2014/main" id="{AB2C66A9-F7CB-4B63-AD26-765740BCF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14700"/>
            <a:ext cx="48768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Subagent</a:t>
            </a:r>
          </a:p>
          <a:p xmlns:a="http://schemas.openxmlformats.org/drawingml/2006/main">
            <a:pPr algn="l">
              <a:def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925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Memory</a:t>
            </a:r>
          </a:p>
        </p:txBody>
      </p:sp>
      <p:sp>
        <p:nvSpPr>
          <p:cNvPr id="13" name="현재 문제가 필요로 하는 만큼 설계한다.">
            <a:extLst xmlns:a="http://schemas.openxmlformats.org/drawingml/2006/main">
              <a:ext uri="{FF2B5EF4-FFF2-40B4-BE49-F238E27FC236}">
                <a16:creationId xmlns:a16="http://schemas.microsoft.com/office/drawing/2014/main" id="{C8CB8BE0-1AB5-4F3E-B75E-1D84CD33C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현재 문제가 필요로 하는 만큼 설계한다.</a:t>
            </a:r>
          </a:p>
        </p:txBody>
      </p:sp>
    </p:spTree>
    <p:extLst>
      <p:ext uri="{BB962C8B-B14F-4D97-AF65-F5344CB8AC3E}">
        <p14:creationId xmlns:p14="http://schemas.microsoft.com/office/powerpoint/2010/main" val="511503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ACT 5 · 개발자의 판단">
            <a:extLst xmlns:a="http://schemas.openxmlformats.org/drawingml/2006/main">
              <a:ext uri="{FF2B5EF4-FFF2-40B4-BE49-F238E27FC236}">
                <a16:creationId xmlns:a16="http://schemas.microsoft.com/office/drawing/2014/main" id="{CEB52001-5AFB-49DC-8514-3A8E226B9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개발자의 판단</a:t>
            </a:r>
          </a:p>
        </p:txBody>
      </p:sp>
      <p:sp>
        <p:nvSpPr>
          <p:cNvPr id="2" name="S76">
            <a:extLst xmlns:a="http://schemas.openxmlformats.org/drawingml/2006/main">
              <a:ext uri="{FF2B5EF4-FFF2-40B4-BE49-F238E27FC236}">
                <a16:creationId xmlns:a16="http://schemas.microsoft.com/office/drawing/2014/main" id="{F828565A-E01B-465B-9A0F-FE63188CA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S76</a:t>
            </a:r>
          </a:p>
        </p:txBody>
      </p:sp>
      <p:sp>
        <p:nvSpPr>
          <p:cNvPr id="3" name="위임이 늘어도 개발자 책임은 남는다">
            <a:extLst xmlns:a="http://schemas.openxmlformats.org/drawingml/2006/main">
              <a:ext uri="{FF2B5EF4-FFF2-40B4-BE49-F238E27FC236}">
                <a16:creationId xmlns:a16="http://schemas.microsoft.com/office/drawing/2014/main" id="{D1774E14-9169-4EDE-B07A-187FF9812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위임이 늘어도 개발자 책임은 남는다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B7B4CC-B279-4AF5-A904-A0215DD19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1–062 · 이 교육의 책임 원칙">
            <a:extLst xmlns:a="http://schemas.openxmlformats.org/drawingml/2006/main">
              <a:ext uri="{FF2B5EF4-FFF2-40B4-BE49-F238E27FC236}">
                <a16:creationId xmlns:a16="http://schemas.microsoft.com/office/drawing/2014/main" id="{4DF9F10A-624D-4576-9928-B16A73049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BEAT-061–062 · 이 교육의 책임 원칙</a:t>
            </a:r>
          </a:p>
        </p:txBody>
      </p:sp>
      <p:sp>
        <p:nvSpPr>
          <p:cNvPr id="6" name="Agent와 개발자의 역할을 고정된 분업표로 제시하는 것은 아니다.">
            <a:extLst xmlns:a="http://schemas.openxmlformats.org/drawingml/2006/main">
              <a:ext uri="{FF2B5EF4-FFF2-40B4-BE49-F238E27FC236}">
                <a16:creationId xmlns:a16="http://schemas.microsoft.com/office/drawing/2014/main" id="{CF199315-6486-4D49-81C7-779AFC733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Agent와 개발자의 역할을 고정된 분업표로 제시하는 것은 아니다.</a:t>
            </a:r>
          </a:p>
        </p:txBody>
      </p:sp>
      <p:sp>
        <p:nvSpPr>
          <p:cNvPr id="7" name="AI가 조사·생성·변경·실행·비교를 도와도">
            <a:extLst xmlns:a="http://schemas.openxmlformats.org/drawingml/2006/main">
              <a:ext uri="{FF2B5EF4-FFF2-40B4-BE49-F238E27FC236}">
                <a16:creationId xmlns:a16="http://schemas.microsoft.com/office/drawing/2014/main" id="{45291F97-71E4-431E-AE5B-60D16A04D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47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AI가 조사·생성·변경·실행·비교를 도와도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72A9DA3-8AA5-4C7A-AE90-ABE5D82F3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9" name="목표">
            <a:extLst xmlns:a="http://schemas.openxmlformats.org/drawingml/2006/main">
              <a:ext uri="{FF2B5EF4-FFF2-40B4-BE49-F238E27FC236}">
                <a16:creationId xmlns:a16="http://schemas.microsoft.com/office/drawing/2014/main" id="{68D1BEDF-69D1-4E84-A846-71960CCB0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2495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목표</a:t>
            </a:r>
          </a:p>
        </p:txBody>
      </p:sp>
      <p:sp>
        <p:nvSpPr>
          <p:cNvPr id="10" name="무엇을 해결할까?">
            <a:extLst xmlns:a="http://schemas.openxmlformats.org/drawingml/2006/main">
              <a:ext uri="{FF2B5EF4-FFF2-40B4-BE49-F238E27FC236}">
                <a16:creationId xmlns:a16="http://schemas.microsoft.com/office/drawing/2014/main" id="{686A4E60-3308-4F15-89CD-9C4130FD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9575"/>
            <a:ext cx="2495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해결할까?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66D4E8-F730-4757-87ED-A7299809B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1623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2" name="판단">
            <a:extLst xmlns:a="http://schemas.openxmlformats.org/drawingml/2006/main">
              <a:ext uri="{FF2B5EF4-FFF2-40B4-BE49-F238E27FC236}">
                <a16:creationId xmlns:a16="http://schemas.microsoft.com/office/drawing/2014/main" id="{91F21492-72D8-46C4-BCAF-DAC455B2E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371850"/>
            <a:ext cx="2495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판단</a:t>
            </a:r>
          </a:p>
        </p:txBody>
      </p:sp>
      <p:sp>
        <p:nvSpPr>
          <p:cNvPr id="13" name="어떤 선택이 적절할까?">
            <a:extLst xmlns:a="http://schemas.openxmlformats.org/drawingml/2006/main">
              <a:ext uri="{FF2B5EF4-FFF2-40B4-BE49-F238E27FC236}">
                <a16:creationId xmlns:a16="http://schemas.microsoft.com/office/drawing/2014/main" id="{B1CDB536-7E90-4C07-A981-803273714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4219575"/>
            <a:ext cx="2495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어떤 선택이 적절할까?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F754F3-3B15-418C-81E9-CDC5EB248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1623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5" name="검증">
            <a:extLst xmlns:a="http://schemas.openxmlformats.org/drawingml/2006/main">
              <a:ext uri="{FF2B5EF4-FFF2-40B4-BE49-F238E27FC236}">
                <a16:creationId xmlns:a16="http://schemas.microsoft.com/office/drawing/2014/main" id="{FF7C19C1-3FCA-4EDF-AA54-53EADF86D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371850"/>
            <a:ext cx="2495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</a:t>
            </a:r>
          </a:p>
        </p:txBody>
      </p:sp>
      <p:sp>
        <p:nvSpPr>
          <p:cNvPr id="16" name="무엇으로 확인할까?">
            <a:extLst xmlns:a="http://schemas.openxmlformats.org/drawingml/2006/main">
              <a:ext uri="{FF2B5EF4-FFF2-40B4-BE49-F238E27FC236}">
                <a16:creationId xmlns:a16="http://schemas.microsoft.com/office/drawing/2014/main" id="{85EAB463-B7EA-454F-AA8E-C5763CEAD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219575"/>
            <a:ext cx="2495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무엇으로 확인할까?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019066-BA2B-4E98-87A6-1EEBC3E0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162300"/>
            <a:ext cx="2495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B6172"/>
            </a:solidFill>
            <a:prstDash val="solid"/>
          </a:ln>
        </p:spPr>
      </p:sp>
      <p:sp>
        <p:nvSpPr>
          <p:cNvPr id="18" name="책임">
            <a:extLst xmlns:a="http://schemas.openxmlformats.org/drawingml/2006/main">
              <a:ext uri="{FF2B5EF4-FFF2-40B4-BE49-F238E27FC236}">
                <a16:creationId xmlns:a16="http://schemas.microsoft.com/office/drawing/2014/main" id="{45CCE304-E832-4405-8CBC-E83D64FAF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371850"/>
            <a:ext cx="24955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책임</a:t>
            </a:r>
          </a:p>
        </p:txBody>
      </p:sp>
      <p:sp>
        <p:nvSpPr>
          <p:cNvPr id="19" name="완료를 수용해도 될까?">
            <a:extLst xmlns:a="http://schemas.openxmlformats.org/drawingml/2006/main">
              <a:ext uri="{FF2B5EF4-FFF2-40B4-BE49-F238E27FC236}">
                <a16:creationId xmlns:a16="http://schemas.microsoft.com/office/drawing/2014/main" id="{E158F1BB-208A-4665-9B39-0E790304E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4219575"/>
            <a:ext cx="24955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완료를 수용해도 될까?</a:t>
            </a:r>
          </a:p>
        </p:txBody>
      </p:sp>
      <p:sp>
        <p:nvSpPr>
          <p:cNvPr id="20" name="결과를 받는 일에는, 결과를 판단하는 책임이 함께 남는다.">
            <a:extLst xmlns:a="http://schemas.openxmlformats.org/drawingml/2006/main">
              <a:ext uri="{FF2B5EF4-FFF2-40B4-BE49-F238E27FC236}">
                <a16:creationId xmlns:a16="http://schemas.microsoft.com/office/drawing/2014/main" id="{3BA8C1CC-453E-44E2-8EC0-8D6935EE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2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결과를 받는 일에는, 결과를 판단하는 책임이 함께 남는다.</a:t>
            </a:r>
          </a:p>
        </p:txBody>
      </p:sp>
    </p:spTree>
    <p:extLst>
      <p:ext uri="{BB962C8B-B14F-4D97-AF65-F5344CB8AC3E}">
        <p14:creationId xmlns:p14="http://schemas.microsoft.com/office/powerpoint/2010/main" val="3475765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ACT 5 · 일하는 환경을 설계한다">
            <a:extLst xmlns:a="http://schemas.openxmlformats.org/drawingml/2006/main">
              <a:ext uri="{FF2B5EF4-FFF2-40B4-BE49-F238E27FC236}">
                <a16:creationId xmlns:a16="http://schemas.microsoft.com/office/drawing/2014/main" id="{6641F8F4-E0ED-45C3-9A97-0CF284FB4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일하는 환경을 설계한다</a:t>
            </a:r>
          </a:p>
        </p:txBody>
      </p:sp>
      <p:sp>
        <p:nvSpPr>
          <p:cNvPr id="2" name="S77">
            <a:extLst xmlns:a="http://schemas.openxmlformats.org/drawingml/2006/main">
              <a:ext uri="{FF2B5EF4-FFF2-40B4-BE49-F238E27FC236}">
                <a16:creationId xmlns:a16="http://schemas.microsoft.com/office/drawing/2014/main" id="{29FC35B8-D95D-4780-9279-9B2688880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S77</a:t>
            </a:r>
          </a:p>
        </p:txBody>
      </p:sp>
      <p:sp>
        <p:nvSpPr>
          <p:cNvPr id="3" name="AI-Native Development는&#10;이 교육의 운영 모델">
            <a:extLst xmlns:a="http://schemas.openxmlformats.org/drawingml/2006/main">
              <a:ext uri="{FF2B5EF4-FFF2-40B4-BE49-F238E27FC236}">
                <a16:creationId xmlns:a16="http://schemas.microsoft.com/office/drawing/2014/main" id="{9C34A833-DC24-4DCA-B5DD-366DD0318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AI-Native Development는</a:t>
            </a:r>
          </a:p>
          <a:p xmlns:a="http://schemas.openxmlformats.org/drawingml/2006/main">
            <a:pPr algn="l">
              <a:def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4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이 교육의 운영 모델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534701-95C9-43C2-806B-B5B726A5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DEC-0023 · 과정에서 사용하는 운영 모델">
            <a:extLst xmlns:a="http://schemas.openxmlformats.org/drawingml/2006/main">
              <a:ext uri="{FF2B5EF4-FFF2-40B4-BE49-F238E27FC236}">
                <a16:creationId xmlns:a16="http://schemas.microsoft.com/office/drawing/2014/main" id="{3F372FB9-267F-4E62-A0C2-75017F8E6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DEC-0023 · 과정에서 사용하는 운영 모델</a:t>
            </a:r>
          </a:p>
        </p:txBody>
      </p:sp>
      <p:sp>
        <p:nvSpPr>
          <p:cNvPr id="6" name="공식·보편 정의가 아니며, 모든 Task에 모든 구성요소를 넣으라는 뜻은 아니다.">
            <a:extLst xmlns:a="http://schemas.openxmlformats.org/drawingml/2006/main">
              <a:ext uri="{FF2B5EF4-FFF2-40B4-BE49-F238E27FC236}">
                <a16:creationId xmlns:a16="http://schemas.microsoft.com/office/drawing/2014/main" id="{1A4D540C-D90C-4E2E-A92C-74AEA1F6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공식·보편 정의가 아니며, 모든 Task에 모든 구성요소를 넣으라는 뜻은 아니다.</a:t>
            </a:r>
          </a:p>
        </p:txBody>
      </p:sp>
      <p:sp>
        <p:nvSpPr>
          <p:cNvPr id="7" name="AI가 일할 조건과, 결과를 확인할 경로를 설계한다.">
            <a:extLst xmlns:a="http://schemas.openxmlformats.org/drawingml/2006/main">
              <a:ext uri="{FF2B5EF4-FFF2-40B4-BE49-F238E27FC236}">
                <a16:creationId xmlns:a16="http://schemas.microsoft.com/office/drawing/2014/main" id="{37C7F18B-053A-446E-82B9-88CE1B0A9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6217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4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AI가 일할 조건과, 결과를 확인할 경로를 설계한다.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1A44A7-494A-4131-BABD-6C006BA2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9" name="작업 경계">
            <a:extLst xmlns:a="http://schemas.openxmlformats.org/drawingml/2006/main">
              <a:ext uri="{FF2B5EF4-FFF2-40B4-BE49-F238E27FC236}">
                <a16:creationId xmlns:a16="http://schemas.microsoft.com/office/drawing/2014/main" id="{39A1D8D5-A033-4BDF-B6A5-3C87427C5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30575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작업 경계</a:t>
            </a:r>
          </a:p>
        </p:txBody>
      </p:sp>
      <p:sp>
        <p:nvSpPr>
          <p:cNvPr id="10" name="무엇을 맡기고 어디까지 바꿀까?">
            <a:extLst xmlns:a="http://schemas.openxmlformats.org/drawingml/2006/main">
              <a:ext uri="{FF2B5EF4-FFF2-40B4-BE49-F238E27FC236}">
                <a16:creationId xmlns:a16="http://schemas.microsoft.com/office/drawing/2014/main" id="{3880811F-649B-485B-941D-5762C68B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181350"/>
            <a:ext cx="76866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맡기고 어디까지 바꿀까?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A9F59A-DBBD-4B53-96FF-96BA34553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지식 · 절차">
            <a:extLst xmlns:a="http://schemas.openxmlformats.org/drawingml/2006/main">
              <a:ext uri="{FF2B5EF4-FFF2-40B4-BE49-F238E27FC236}">
                <a16:creationId xmlns:a16="http://schemas.microsoft.com/office/drawing/2014/main" id="{EEE8CA33-2374-4FD5-A5CB-7DB9F8437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30575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지식 · 절차</a:t>
            </a:r>
          </a:p>
        </p:txBody>
      </p:sp>
      <p:sp>
        <p:nvSpPr>
          <p:cNvPr id="13" name="무엇을 알고, 어떤 방식으로 일할까?">
            <a:extLst xmlns:a="http://schemas.openxmlformats.org/drawingml/2006/main">
              <a:ext uri="{FF2B5EF4-FFF2-40B4-BE49-F238E27FC236}">
                <a16:creationId xmlns:a16="http://schemas.microsoft.com/office/drawing/2014/main" id="{D3DE675F-74C1-4C1D-8D59-83F8D9A88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3924300"/>
            <a:ext cx="76866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무엇을 알고, 어떤 방식으로 일할까?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882D2B5-5C19-4C7B-B6BC-969B877A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52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5" name="검증 · 피드백">
            <a:extLst xmlns:a="http://schemas.openxmlformats.org/drawingml/2006/main">
              <a:ext uri="{FF2B5EF4-FFF2-40B4-BE49-F238E27FC236}">
                <a16:creationId xmlns:a16="http://schemas.microsoft.com/office/drawing/2014/main" id="{BC52847B-D182-4352-82B4-2941F1BDA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0575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검증 · 피드백</a:t>
            </a:r>
          </a:p>
        </p:txBody>
      </p:sp>
      <p:sp>
        <p:nvSpPr>
          <p:cNvPr id="16" name="어떻게 확인하고 다음 작업을 바꿀까?">
            <a:extLst xmlns:a="http://schemas.openxmlformats.org/drawingml/2006/main">
              <a:ext uri="{FF2B5EF4-FFF2-40B4-BE49-F238E27FC236}">
                <a16:creationId xmlns:a16="http://schemas.microsoft.com/office/drawing/2014/main" id="{2A14B795-33A2-4491-9B40-14B5A346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5725" y="4667250"/>
            <a:ext cx="76866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75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어떻게 확인하고 다음 작업을 바꿀까?</a:t>
            </a:r>
          </a:p>
        </p:txBody>
      </p:sp>
    </p:spTree>
    <p:extLst>
      <p:ext uri="{BB962C8B-B14F-4D97-AF65-F5344CB8AC3E}">
        <p14:creationId xmlns:p14="http://schemas.microsoft.com/office/powerpoint/2010/main" val="171470793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ACT 5 · C++ VISION / 내 업무로 연결">
            <a:extLst xmlns:a="http://schemas.openxmlformats.org/drawingml/2006/main">
              <a:ext uri="{FF2B5EF4-FFF2-40B4-BE49-F238E27FC236}">
                <a16:creationId xmlns:a16="http://schemas.microsoft.com/office/drawing/2014/main" id="{026B0456-EED4-48BC-A321-F4347488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C++ VISION / 내 업무로 연결</a:t>
            </a:r>
          </a:p>
        </p:txBody>
      </p:sp>
      <p:sp>
        <p:nvSpPr>
          <p:cNvPr id="2" name="S78">
            <a:extLst xmlns:a="http://schemas.openxmlformats.org/drawingml/2006/main">
              <a:ext uri="{FF2B5EF4-FFF2-40B4-BE49-F238E27FC236}">
                <a16:creationId xmlns:a16="http://schemas.microsoft.com/office/drawing/2014/main" id="{50BE6044-EE63-4B9D-95BF-C6D92C30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S78</a:t>
            </a:r>
          </a:p>
        </p:txBody>
      </p:sp>
      <p:sp>
        <p:nvSpPr>
          <p:cNvPr id="3" name="어느 Layer에서 마찰이 반복되는가?">
            <a:extLst xmlns:a="http://schemas.openxmlformats.org/drawingml/2006/main">
              <a:ext uri="{FF2B5EF4-FFF2-40B4-BE49-F238E27FC236}">
                <a16:creationId xmlns:a16="http://schemas.microsoft.com/office/drawing/2014/main" id="{F1A5D25D-81E6-4C94-94FA-92FCF1E57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어느 Layer에서 마찰이 반복되는가?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025919-00B0-4748-AD94-4F835E9DA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68–069 · 업무 적용을 위한 교육용 질문">
            <a:extLst xmlns:a="http://schemas.openxmlformats.org/drawingml/2006/main">
              <a:ext uri="{FF2B5EF4-FFF2-40B4-BE49-F238E27FC236}">
                <a16:creationId xmlns:a16="http://schemas.microsoft.com/office/drawing/2014/main" id="{67767282-27D5-4E66-9364-DFE25E029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BEAT-068–069 · 업무 적용을 위한 교육용 질문</a:t>
            </a:r>
          </a:p>
        </p:txBody>
      </p:sp>
      <p:sp>
        <p:nvSpPr>
          <p:cNvPr id="6" name="같은 수준의 선택지다. 특정 C++ 프로젝트에서 검증된 절차나 필수 도입 순서가 아니다.">
            <a:extLst xmlns:a="http://schemas.openxmlformats.org/drawingml/2006/main">
              <a:ext uri="{FF2B5EF4-FFF2-40B4-BE49-F238E27FC236}">
                <a16:creationId xmlns:a16="http://schemas.microsoft.com/office/drawing/2014/main" id="{43E732BE-A954-4CFE-B1FD-37357BB77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같은 수준의 선택지다. 특정 C++ 프로젝트에서 검증된 절차나 필수 도입 순서가 아니다.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8EB69AB-ABEA-4522-9B12-AA7E7F3EB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621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Task">
            <a:extLst xmlns:a="http://schemas.openxmlformats.org/drawingml/2006/main">
              <a:ext uri="{FF2B5EF4-FFF2-40B4-BE49-F238E27FC236}">
                <a16:creationId xmlns:a16="http://schemas.microsoft.com/office/drawing/2014/main" id="{F63BFE23-867F-4A4F-8610-334314A40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38375"/>
            <a:ext cx="285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Task</a:t>
            </a:r>
          </a:p>
        </p:txBody>
      </p:sp>
      <p:sp>
        <p:nvSpPr>
          <p:cNvPr id="9" name="조사할 성능 병목의 범위가 흐리다">
            <a:extLst xmlns:a="http://schemas.openxmlformats.org/drawingml/2006/main">
              <a:ext uri="{FF2B5EF4-FFF2-40B4-BE49-F238E27FC236}">
                <a16:creationId xmlns:a16="http://schemas.microsoft.com/office/drawing/2014/main" id="{036B1AFD-B5A1-4B91-975F-82FA97B23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238375"/>
            <a:ext cx="7962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조사할 성능 병목의 범위가 흐리다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364DB35-3F51-4493-B889-ACA149A7D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0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1" name="Context">
            <a:extLst xmlns:a="http://schemas.openxmlformats.org/drawingml/2006/main">
              <a:ext uri="{FF2B5EF4-FFF2-40B4-BE49-F238E27FC236}">
                <a16:creationId xmlns:a16="http://schemas.microsoft.com/office/drawing/2014/main" id="{08165C1F-3F8A-4BC3-A1CA-45672069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76550"/>
            <a:ext cx="285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Context</a:t>
            </a:r>
          </a:p>
        </p:txBody>
      </p:sp>
      <p:sp>
        <p:nvSpPr>
          <p:cNvPr id="12" name="빌드 조건·계약·하드웨어 가정을 반복 설명한다">
            <a:extLst xmlns:a="http://schemas.openxmlformats.org/drawingml/2006/main">
              <a:ext uri="{FF2B5EF4-FFF2-40B4-BE49-F238E27FC236}">
                <a16:creationId xmlns:a16="http://schemas.microsoft.com/office/drawing/2014/main" id="{588AAA1B-66E3-4F1C-A1AC-9EF2B154C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876550"/>
            <a:ext cx="7962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빌드 조건·계약·하드웨어 가정을 반복 설명한다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EDB3FFF-B1BE-417D-8D2D-599171522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3852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4" name="Workflow">
            <a:extLst xmlns:a="http://schemas.openxmlformats.org/drawingml/2006/main">
              <a:ext uri="{FF2B5EF4-FFF2-40B4-BE49-F238E27FC236}">
                <a16:creationId xmlns:a16="http://schemas.microsoft.com/office/drawing/2014/main" id="{30DA2277-5D46-44A9-BB3F-C683A4FFD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14725"/>
            <a:ext cx="285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Workflow</a:t>
            </a:r>
          </a:p>
        </p:txBody>
      </p:sp>
      <p:sp>
        <p:nvSpPr>
          <p:cNvPr id="15" name="분석 → 변경 → 측정 → 회귀 확인을 매번 적는다">
            <a:extLst xmlns:a="http://schemas.openxmlformats.org/drawingml/2006/main">
              <a:ext uri="{FF2B5EF4-FFF2-40B4-BE49-F238E27FC236}">
                <a16:creationId xmlns:a16="http://schemas.microsoft.com/office/drawing/2014/main" id="{DB4A27B6-CE2E-4C9F-8CA0-FCC38792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514725"/>
            <a:ext cx="7962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분석 → 변경 → 측정 → 회귀 확인을 매번 적는다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9B2C79-50FB-4223-BD2E-E386E464F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7" name="Verification">
            <a:extLst xmlns:a="http://schemas.openxmlformats.org/drawingml/2006/main">
              <a:ext uri="{FF2B5EF4-FFF2-40B4-BE49-F238E27FC236}">
                <a16:creationId xmlns:a16="http://schemas.microsoft.com/office/drawing/2014/main" id="{9985C3E8-29DB-4D9F-A51C-F56E6050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52900"/>
            <a:ext cx="285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Verification</a:t>
            </a:r>
          </a:p>
        </p:txBody>
      </p:sp>
      <p:sp>
        <p:nvSpPr>
          <p:cNvPr id="18" name="테스트와 Benchmark의 확인 기준이 모호하다">
            <a:extLst xmlns:a="http://schemas.openxmlformats.org/drawingml/2006/main">
              <a:ext uri="{FF2B5EF4-FFF2-40B4-BE49-F238E27FC236}">
                <a16:creationId xmlns:a16="http://schemas.microsoft.com/office/drawing/2014/main" id="{8CCEA866-92EC-4427-8343-92CB39C69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152900"/>
            <a:ext cx="7962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테스트와 Benchmark의 확인 기준이 모호하다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33F8B0-56A4-4C1A-9332-68287BB55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20" name="Feedback Loop">
            <a:extLst xmlns:a="http://schemas.openxmlformats.org/drawingml/2006/main">
              <a:ext uri="{FF2B5EF4-FFF2-40B4-BE49-F238E27FC236}">
                <a16:creationId xmlns:a16="http://schemas.microsoft.com/office/drawing/2014/main" id="{010104A9-94C7-4B2B-92F4-078D022C8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91075"/>
            <a:ext cx="28575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Feedback Loop</a:t>
            </a:r>
          </a:p>
        </p:txBody>
      </p:sp>
      <p:sp>
        <p:nvSpPr>
          <p:cNvPr id="21" name="같은 문제가 다시 생겨도 관련 시스템을 안 바꾼다">
            <a:extLst xmlns:a="http://schemas.openxmlformats.org/drawingml/2006/main">
              <a:ext uri="{FF2B5EF4-FFF2-40B4-BE49-F238E27FC236}">
                <a16:creationId xmlns:a16="http://schemas.microsoft.com/office/drawing/2014/main" id="{87814D6E-26F6-4835-AEA8-7BAA6FAC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4791075"/>
            <a:ext cx="79629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문제가 다시 생겨도 관련 시스템을 안 바꾼다</a:t>
            </a:r>
          </a:p>
        </p:txBody>
      </p:sp>
      <p:sp>
        <p:nvSpPr>
          <p:cNvPr id="22" name="지금 내 업무와 가장 가까운 한 곳을 떠올려 본다.">
            <a:extLst xmlns:a="http://schemas.openxmlformats.org/drawingml/2006/main">
              <a:ext uri="{FF2B5EF4-FFF2-40B4-BE49-F238E27FC236}">
                <a16:creationId xmlns:a16="http://schemas.microsoft.com/office/drawing/2014/main" id="{02B46149-10FC-49F7-85EB-0C1986016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지금 내 업무와 가장 가까운 한 곳을 떠올려 본다.</a:t>
            </a:r>
          </a:p>
        </p:txBody>
      </p:sp>
    </p:spTree>
    <p:extLst>
      <p:ext uri="{BB962C8B-B14F-4D97-AF65-F5344CB8AC3E}">
        <p14:creationId xmlns:p14="http://schemas.microsoft.com/office/powerpoint/2010/main" val="112387568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ACT 5 · 잠시 생각해 보기">
            <a:extLst xmlns:a="http://schemas.openxmlformats.org/drawingml/2006/main">
              <a:ext uri="{FF2B5EF4-FFF2-40B4-BE49-F238E27FC236}">
                <a16:creationId xmlns:a16="http://schemas.microsoft.com/office/drawing/2014/main" id="{09EC8018-1231-4302-982D-BCAAFD15A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잠시 생각해 보기</a:t>
            </a:r>
          </a:p>
        </p:txBody>
      </p:sp>
      <p:sp>
        <p:nvSpPr>
          <p:cNvPr id="2" name="S79">
            <a:extLst xmlns:a="http://schemas.openxmlformats.org/drawingml/2006/main">
              <a:ext uri="{FF2B5EF4-FFF2-40B4-BE49-F238E27FC236}">
                <a16:creationId xmlns:a16="http://schemas.microsoft.com/office/drawing/2014/main" id="{99670A61-FDEC-4544-9855-0F4D62A42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S79</a:t>
            </a:r>
          </a:p>
        </p:txBody>
      </p:sp>
      <p:sp>
        <p:nvSpPr>
          <p:cNvPr id="3" name="다음 작은 행동을 개인적으로 고른다">
            <a:extLst xmlns:a="http://schemas.openxmlformats.org/drawingml/2006/main">
              <a:ext uri="{FF2B5EF4-FFF2-40B4-BE49-F238E27FC236}">
                <a16:creationId xmlns:a16="http://schemas.microsoft.com/office/drawing/2014/main" id="{A8CBBC20-9FBE-42E5-9276-8DCEB40F2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다음 작은 행동을 개인적으로 고른다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B0BC4A-78E0-4A54-8FF3-C7ACA7823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개인 성찰">
            <a:extLst xmlns:a="http://schemas.openxmlformats.org/drawingml/2006/main">
              <a:ext uri="{FF2B5EF4-FFF2-40B4-BE49-F238E27FC236}">
                <a16:creationId xmlns:a16="http://schemas.microsoft.com/office/drawing/2014/main" id="{1884A9F9-23B6-46FE-A6FE-A8417765D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개인 성찰</a:t>
            </a:r>
          </a:p>
        </p:txBody>
      </p:sp>
      <p:sp>
        <p:nvSpPr>
          <p:cNvPr id="6" name="마음속으로 떠올리는 시간이다. 기록·발표·제출은 요구하지 않는다.">
            <a:extLst xmlns:a="http://schemas.openxmlformats.org/drawingml/2006/main">
              <a:ext uri="{FF2B5EF4-FFF2-40B4-BE49-F238E27FC236}">
                <a16:creationId xmlns:a16="http://schemas.microsoft.com/office/drawing/2014/main" id="{C1B6C666-C6EE-4500-A345-49239D5C4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마음속으로 떠올리는 시간이다. 기록·발표·제출은 요구하지 않는다.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6A98D4-17EA-404A-87F3-9A857968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8" name="내가 반복해서 적는 설명은 무엇인가?">
            <a:extLst xmlns:a="http://schemas.openxmlformats.org/drawingml/2006/main">
              <a:ext uri="{FF2B5EF4-FFF2-40B4-BE49-F238E27FC236}">
                <a16:creationId xmlns:a16="http://schemas.microsoft.com/office/drawing/2014/main" id="{CCD80ACF-70CB-411B-BF56-09C94C49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527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내가 반복해서 적는 설명은 무엇인가?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B1F4FD-DF05-488E-86DB-663D11D0F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528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0" name="AI가 반복해서 다시 찾는 프로젝트 사실은 무엇인가?">
            <a:extLst xmlns:a="http://schemas.openxmlformats.org/drawingml/2006/main">
              <a:ext uri="{FF2B5EF4-FFF2-40B4-BE49-F238E27FC236}">
                <a16:creationId xmlns:a16="http://schemas.microsoft.com/office/drawing/2014/main" id="{0CC80CCA-D3BD-4D47-A7F2-1DEC2C7DC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52425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반복해서 다시 찾는 프로젝트 사실은 무엇인가?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72C13C-DEBC-4E5D-BF0F-8DEFABC8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12" name="같은 실패가 또 생긴다면 어디를 고칠 것인가?">
            <a:extLst xmlns:a="http://schemas.openxmlformats.org/drawingml/2006/main">
              <a:ext uri="{FF2B5EF4-FFF2-40B4-BE49-F238E27FC236}">
                <a16:creationId xmlns:a16="http://schemas.microsoft.com/office/drawing/2014/main" id="{3D7DC57D-D0C5-4444-B949-9335F3D7D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95800"/>
            <a:ext cx="109728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255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같은 실패가 또 생긴다면 어디를 고칠 것인가?</a:t>
            </a:r>
          </a:p>
        </p:txBody>
      </p:sp>
    </p:spTree>
    <p:extLst>
      <p:ext uri="{BB962C8B-B14F-4D97-AF65-F5344CB8AC3E}">
        <p14:creationId xmlns:p14="http://schemas.microsoft.com/office/powerpoint/2010/main" val="185374350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4F6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ACT 5 · 마지막 질문">
            <a:extLst xmlns:a="http://schemas.openxmlformats.org/drawingml/2006/main">
              <a:ext uri="{FF2B5EF4-FFF2-40B4-BE49-F238E27FC236}">
                <a16:creationId xmlns:a16="http://schemas.microsoft.com/office/drawing/2014/main" id="{635A1D10-2533-41E9-A7A5-24CDA32B1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981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ACT 5 · 마지막 질문</a:t>
            </a:r>
          </a:p>
        </p:txBody>
      </p:sp>
      <p:sp>
        <p:nvSpPr>
          <p:cNvPr id="2" name="S80">
            <a:extLst xmlns:a="http://schemas.openxmlformats.org/drawingml/2006/main">
              <a:ext uri="{FF2B5EF4-FFF2-40B4-BE49-F238E27FC236}">
                <a16:creationId xmlns:a16="http://schemas.microsoft.com/office/drawing/2014/main" id="{5E03DD69-5CFB-40FE-BCF2-B156D660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457200"/>
            <a:ext cx="914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r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S80</a:t>
            </a:r>
          </a:p>
        </p:txBody>
      </p:sp>
      <p:sp>
        <p:nvSpPr>
          <p:cNvPr id="3" name="Q&amp;A와 교육 마무리">
            <a:extLst xmlns:a="http://schemas.openxmlformats.org/drawingml/2006/main">
              <a:ext uri="{FF2B5EF4-FFF2-40B4-BE49-F238E27FC236}">
                <a16:creationId xmlns:a16="http://schemas.microsoft.com/office/drawing/2014/main" id="{4E2EB25E-5A6F-4807-8D77-16A7F4A6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09728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36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Q&amp;A와 교육 마무리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97DA6F-5FD4-476E-9FD6-43AF55B32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0DA"/>
            </a:solidFill>
            <a:prstDash val="solid"/>
          </a:ln>
        </p:spPr>
      </p:sp>
      <p:sp>
        <p:nvSpPr>
          <p:cNvPr id="5" name="BEAT-070–071 · 이 교육의 마무리">
            <a:extLst xmlns:a="http://schemas.openxmlformats.org/drawingml/2006/main">
              <a:ext uri="{FF2B5EF4-FFF2-40B4-BE49-F238E27FC236}">
                <a16:creationId xmlns:a16="http://schemas.microsoft.com/office/drawing/2014/main" id="{8E6F9038-AF9B-4A2E-BED7-B44588EC6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15025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BEAT-070–071 · 이 교육의 마무리</a:t>
            </a:r>
          </a:p>
        </p:txBody>
      </p:sp>
      <p:sp>
        <p:nvSpPr>
          <p:cNvPr id="6" name="목표 · 판단 · 검증 · 책임은 개발자에게 남는다.">
            <a:extLst xmlns:a="http://schemas.openxmlformats.org/drawingml/2006/main">
              <a:ext uri="{FF2B5EF4-FFF2-40B4-BE49-F238E27FC236}">
                <a16:creationId xmlns:a16="http://schemas.microsoft.com/office/drawing/2014/main" id="{ABBA1846-1152-4B58-883A-60D7C538F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목표 · 판단 · 검증 · 책임은 개발자에게 남는다.</a:t>
            </a:r>
          </a:p>
        </p:txBody>
      </p:sp>
      <p:sp>
        <p:nvSpPr>
          <p:cNvPr id="7" name="내 업무에서 무엇부터 바꿀까요?">
            <a:extLst xmlns:a="http://schemas.openxmlformats.org/drawingml/2006/main">
              <a:ext uri="{FF2B5EF4-FFF2-40B4-BE49-F238E27FC236}">
                <a16:creationId xmlns:a16="http://schemas.microsoft.com/office/drawing/2014/main" id="{E436D0DE-6444-4E01-B3F5-961EC262B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0972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0B6172"/>
                </a:solidFill>
                <a:latin typeface="Malgun Gothic"/>
                <a:ea typeface="Malgun Gothic"/>
                <a:cs typeface="Malgun Gothic"/>
              </a:rPr>
              <a:t>내 업무에서 무엇부터 바꿀까요?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51EC03E-8528-4721-8B30-F107AD2D6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718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0B6172"/>
            </a:solidFill>
            <a:prstDash val="solid"/>
          </a:ln>
        </p:spPr>
      </p:sp>
      <p:sp>
        <p:nvSpPr>
          <p:cNvPr id="9" name="AI가 잘 일할 환경을&#10;설계한다.">
            <a:extLst xmlns:a="http://schemas.openxmlformats.org/drawingml/2006/main">
              <a:ext uri="{FF2B5EF4-FFF2-40B4-BE49-F238E27FC236}">
                <a16:creationId xmlns:a16="http://schemas.microsoft.com/office/drawing/2014/main" id="{D27D9A70-BA2D-445C-BF7F-5B204466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24275"/>
            <a:ext cx="10972800" cy="1457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AI가 잘 일할 환경을</a:t>
            </a:r>
          </a:p>
          <a:p xmlns:a="http://schemas.openxmlformats.org/drawingml/2006/main">
            <a:pPr algn="l">
              <a:def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defRPr>
            </a:pPr>
            <a:r>
              <a:rPr sz="4200" b="1">
                <a:solidFill>
                  <a:srgbClr val="17212B"/>
                </a:solidFill>
                <a:latin typeface="Malgun Gothic"/>
                <a:ea typeface="Malgun Gothic"/>
                <a:cs typeface="Malgun Gothic"/>
              </a:rPr>
              <a:t>설계한다.</a:t>
            </a:r>
          </a:p>
        </p:txBody>
      </p:sp>
      <p:sp>
        <p:nvSpPr>
          <p:cNvPr id="10" name="Question  →  Task  →  Context  →  System  →  Feedback Loop">
            <a:extLst xmlns:a="http://schemas.openxmlformats.org/drawingml/2006/main">
              <a:ext uri="{FF2B5EF4-FFF2-40B4-BE49-F238E27FC236}">
                <a16:creationId xmlns:a16="http://schemas.microsoft.com/office/drawing/2014/main" id="{21864794-4CF4-4F69-86F7-53C3B9348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72100"/>
            <a:ext cx="109728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def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defPPr>
            <a:lvl1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0">
                <a:solidFill>
                  <a:srgbClr val="4D5A68"/>
                </a:solidFill>
                <a:latin typeface="Malgun Gothic"/>
                <a:ea typeface="Malgun Gothic"/>
                <a:cs typeface="Malgun Gothic"/>
              </a:rPr>
              <a:t>Question  →  Task  →  Context  →  System  →  Feedback Loop</a:t>
            </a:r>
          </a:p>
        </p:txBody>
      </p:sp>
    </p:spTree>
    <p:extLst>
      <p:ext uri="{BB962C8B-B14F-4D97-AF65-F5344CB8AC3E}">
        <p14:creationId xmlns:p14="http://schemas.microsoft.com/office/powerpoint/2010/main" val="3383156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Malgun Gothic"/>
        <a:ea typeface=""/>
        <a:cs typeface=""/>
      </a:majorFont>
      <a:minorFont>
        <a:latin typeface="Malgun Gothi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2026-10-18T13:43:15.8500000Z</dcterms:created>
  <dcterms:modified xsi:type="dcterms:W3CDTF">2026-10-18T13:43:15.8500000Z</dcterms:modified>
</coreProperties>
</file>