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2f72d7fd416443a" /><Relationship Type="http://schemas.openxmlformats.org/officeDocument/2006/relationships/extended-properties" Target="/docProps/app.xml" Id="Rca48fac4c3724e2f" /><Relationship Type="http://schemas.openxmlformats.org/officeDocument/2006/relationships/officeDocument" Target="/ppt/presentation.xml" Id="R51abb7c03da648b5" /></Relationships>
</file>

<file path=ppt/presentation.xml><?xml version="1.0" encoding="utf-8"?>
<p:presentation xmlns:p="http://schemas.openxmlformats.org/presentationml/2006/main">
  <p:sldMasterIdLst>
    <p:sldMasterId xmlns:r="http://schemas.openxmlformats.org/officeDocument/2006/relationships" id="2147483648" r:id="Ra0af98aa450a4002"/>
  </p:sldMasterIdLst>
  <p:notesMasterIdLst>
    <p:notesMasterId xmlns:r="http://schemas.openxmlformats.org/officeDocument/2006/relationships" r:id="R0feb39a27cdb49cb"/>
  </p:notesMasterIdLst>
  <p:sldIdLst>
    <p:sldId xmlns:r="http://schemas.openxmlformats.org/officeDocument/2006/relationships" id="256" r:id="Rc647d0597df04595"/>
    <p:sldId xmlns:r="http://schemas.openxmlformats.org/officeDocument/2006/relationships" id="257" r:id="Rbb28666f3a54427d"/>
    <p:sldId xmlns:r="http://schemas.openxmlformats.org/officeDocument/2006/relationships" id="258" r:id="R02fd84e6acb448a2"/>
    <p:sldId xmlns:r="http://schemas.openxmlformats.org/officeDocument/2006/relationships" id="259" r:id="R039870580ae84216"/>
    <p:sldId xmlns:r="http://schemas.openxmlformats.org/officeDocument/2006/relationships" id="260" r:id="Re4e58ab8faca4970"/>
    <p:sldId xmlns:r="http://schemas.openxmlformats.org/officeDocument/2006/relationships" id="261" r:id="Rbf19ae926113447c"/>
    <p:sldId xmlns:r="http://schemas.openxmlformats.org/officeDocument/2006/relationships" id="262" r:id="R3e93c74eef974543"/>
    <p:sldId xmlns:r="http://schemas.openxmlformats.org/officeDocument/2006/relationships" id="263" r:id="R3d3268731f6f4680"/>
    <p:sldId xmlns:r="http://schemas.openxmlformats.org/officeDocument/2006/relationships" id="264" r:id="Rf96631d4d83f4da2"/>
    <p:sldId xmlns:r="http://schemas.openxmlformats.org/officeDocument/2006/relationships" id="265" r:id="R68ef08a8d4d6470a"/>
    <p:sldId xmlns:r="http://schemas.openxmlformats.org/officeDocument/2006/relationships" id="266" r:id="Rfb7b8c08aa1b448e"/>
    <p:sldId xmlns:r="http://schemas.openxmlformats.org/officeDocument/2006/relationships" id="267" r:id="R9fe4cbd5d9a84442"/>
    <p:sldId xmlns:r="http://schemas.openxmlformats.org/officeDocument/2006/relationships" id="268" r:id="R61c76d5c9f3d408f"/>
    <p:sldId xmlns:r="http://schemas.openxmlformats.org/officeDocument/2006/relationships" id="269" r:id="R9604cca32dec4a3a"/>
    <p:sldId xmlns:r="http://schemas.openxmlformats.org/officeDocument/2006/relationships" id="270" r:id="R9d5b3b2bc6854a1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f1c601ea2343fb" /><Relationship Type="http://schemas.openxmlformats.org/officeDocument/2006/relationships/slideMaster" Target="/ppt/slideMasters/slideMaster1.xml" Id="Ra0af98aa450a4002" /><Relationship Type="http://schemas.openxmlformats.org/officeDocument/2006/relationships/notesMaster" Target="/ppt/notesMasters/notesMaster1.xml" Id="R0feb39a27cdb49cb" /><Relationship Type="http://schemas.openxmlformats.org/officeDocument/2006/relationships/presProps" Target="/ppt/presProps.xml" Id="R0cc0adb81d8c42cc" /><Relationship Type="http://schemas.openxmlformats.org/officeDocument/2006/relationships/tableStyles" Target="/ppt/tableStyles.xml" Id="Rda5adcf211cb4bdd" /><Relationship Type="http://schemas.openxmlformats.org/officeDocument/2006/relationships/slide" Target="/ppt/slides/slide1.xml" Id="Rc647d0597df04595" /><Relationship Type="http://schemas.openxmlformats.org/officeDocument/2006/relationships/slide" Target="/ppt/slides/slide2.xml" Id="Rbb28666f3a54427d" /><Relationship Type="http://schemas.openxmlformats.org/officeDocument/2006/relationships/slide" Target="/ppt/slides/slide3.xml" Id="R02fd84e6acb448a2" /><Relationship Type="http://schemas.openxmlformats.org/officeDocument/2006/relationships/slide" Target="/ppt/slides/slide4.xml" Id="R039870580ae84216" /><Relationship Type="http://schemas.openxmlformats.org/officeDocument/2006/relationships/slide" Target="/ppt/slides/slide5.xml" Id="Re4e58ab8faca4970" /><Relationship Type="http://schemas.openxmlformats.org/officeDocument/2006/relationships/slide" Target="/ppt/slides/slide6.xml" Id="Rbf19ae926113447c" /><Relationship Type="http://schemas.openxmlformats.org/officeDocument/2006/relationships/slide" Target="/ppt/slides/slide7.xml" Id="R3e93c74eef974543" /><Relationship Type="http://schemas.openxmlformats.org/officeDocument/2006/relationships/slide" Target="/ppt/slides/slide8.xml" Id="R3d3268731f6f4680" /><Relationship Type="http://schemas.openxmlformats.org/officeDocument/2006/relationships/slide" Target="/ppt/slides/slide9.xml" Id="Rf96631d4d83f4da2" /><Relationship Type="http://schemas.openxmlformats.org/officeDocument/2006/relationships/slide" Target="/ppt/slides/slide10.xml" Id="R68ef08a8d4d6470a" /><Relationship Type="http://schemas.openxmlformats.org/officeDocument/2006/relationships/slide" Target="/ppt/slides/slide11.xml" Id="Rfb7b8c08aa1b448e" /><Relationship Type="http://schemas.openxmlformats.org/officeDocument/2006/relationships/slide" Target="/ppt/slides/slide12.xml" Id="R9fe4cbd5d9a84442" /><Relationship Type="http://schemas.openxmlformats.org/officeDocument/2006/relationships/slide" Target="/ppt/slides/slide13.xml" Id="R61c76d5c9f3d408f" /><Relationship Type="http://schemas.openxmlformats.org/officeDocument/2006/relationships/slide" Target="/ppt/slides/slide14.xml" Id="R9604cca32dec4a3a" /><Relationship Type="http://schemas.openxmlformats.org/officeDocument/2006/relationships/slide" Target="/ppt/slides/slide15.xml" Id="R9d5b3b2bc6854a1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b2350d9ccd940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0ad0fe8a134339" /><Relationship Type="http://schemas.openxmlformats.org/officeDocument/2006/relationships/notesMaster" Target="/ppt/notesMasters/notesMaster1.xml" Id="R38f35fb11f2f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4c324acd6d4950" /><Relationship Type="http://schemas.openxmlformats.org/officeDocument/2006/relationships/notesMaster" Target="/ppt/notesMasters/notesMaster1.xml" Id="R550967ef1a0d4344" /></Relationships>
</file>

<file path=ppt/notesSlides/_rels/notesSlide3.xml.rels>&#65279;<?xml version="1.0" encoding="utf-8"?><Relationships xmlns="http://schemas.openxmlformats.org/package/2006/relationships"><Relationship Type="http://schemas.openxmlformats.org/officeDocument/2006/relationships/slide" Target="/ppt/slides/slide3.xml" Id="R83c30e0f5560435e" /><Relationship Type="http://schemas.openxmlformats.org/officeDocument/2006/relationships/notesMaster" Target="/ppt/notesMasters/notesMaster1.xml" Id="R8a337d74a1c042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c22b309a444937" /><Relationship Type="http://schemas.openxmlformats.org/officeDocument/2006/relationships/notesMaster" Target="/ppt/notesMasters/notesMaster1.xml" Id="R12c36a2790074e6d" /></Relationships>
</file>

<file path=ppt/notesSlides/_rels/notesSlide5.xml.rels>&#65279;<?xml version="1.0" encoding="utf-8"?><Relationships xmlns="http://schemas.openxmlformats.org/package/2006/relationships"><Relationship Type="http://schemas.openxmlformats.org/officeDocument/2006/relationships/slide" Target="/ppt/slides/slide5.xml" Id="R9444445fc2ba41fc" /><Relationship Type="http://schemas.openxmlformats.org/officeDocument/2006/relationships/notesMaster" Target="/ppt/notesMasters/notesMaster1.xml" Id="Rc185d68d9f2642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e584ab7458b4c94" /><Relationship Type="http://schemas.openxmlformats.org/officeDocument/2006/relationships/notesMaster" Target="/ppt/notesMasters/notesMaster1.xml" Id="R5c5a1a3cb4c9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5820a1fac4f24701" /><Relationship Type="http://schemas.openxmlformats.org/officeDocument/2006/relationships/notesMaster" Target="/ppt/notesMasters/notesMaster1.xml" Id="Rf96b4a44a0cb4b3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83bf5b7fd447fb" /><Relationship Type="http://schemas.openxmlformats.org/officeDocument/2006/relationships/notesMaster" Target="/ppt/notesMasters/notesMaster1.xml" Id="Rf8817877a60843e6" /></Relationships>
</file>

<file path=ppt/notesSlides/_rels/notesSlide9.xml.rels>&#65279;<?xml version="1.0" encoding="utf-8"?><Relationships xmlns="http://schemas.openxmlformats.org/package/2006/relationships"><Relationship Type="http://schemas.openxmlformats.org/officeDocument/2006/relationships/slide" Target="/ppt/slides/slide9.xml" Id="R94e46ebeee734876" /><Relationship Type="http://schemas.openxmlformats.org/officeDocument/2006/relationships/notesMaster" Target="/ppt/notesMasters/notesMaster1.xml" Id="R63cdcff3dfc6401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b7cc12f9d36412c" /><Relationship Type="http://schemas.openxmlformats.org/officeDocument/2006/relationships/notesMaster" Target="/ppt/notesMasters/notesMaster1.xml" Id="Rf8ae435466a646d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3510680226240a6" /><Relationship Type="http://schemas.openxmlformats.org/officeDocument/2006/relationships/notesMaster" Target="/ppt/notesMasters/notesMaster1.xml" Id="R6330368ae418431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c3856da15bf4d8f" /><Relationship Type="http://schemas.openxmlformats.org/officeDocument/2006/relationships/notesMaster" Target="/ppt/notesMasters/notesMaster1.xml" Id="R173d970c57ae4e1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35a99310afd45b8" /><Relationship Type="http://schemas.openxmlformats.org/officeDocument/2006/relationships/notesMaster" Target="/ppt/notesMasters/notesMaster1.xml" Id="R4f26496f94e9462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16598781504450" /><Relationship Type="http://schemas.openxmlformats.org/officeDocument/2006/relationships/notesMaster" Target="/ppt/notesMasters/notesMaster1.xml" Id="Ra50b88a004414e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9bc1d6d814342a2" /><Relationship Type="http://schemas.openxmlformats.org/officeDocument/2006/relationships/notesMaster" Target="/ppt/notesMasters/notesMaster1.xml" Id="Raf44c0dfc6674e3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S102 — 내 업무에 맞게 조합하고 덜어내기</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S102</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내 업무에 맞게 조합하고 덜어내기</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1 minute</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Transition 1분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내 업무에 맞게 조합하고 덜어내기 — AI-Native Development · 업무 방식의 재설계</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“제품 기능을 활용하면서, 우리 업무에는 무엇을 조합하고 덜어낼까요?”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(0:00–0:20 / Transition) ACT 5의 제목 “내 업무에 맞게 조합하고 덜어내기”을 가리키며 구간을 연다.</ns24:t>
            </ns24:r>
          </ns24:p>
          <ns25:p xmlns:ns25="http://schemas.openxmlformats.org/drawingml/2006/main">
            <ns25:r>
              <ns25:t xml:space="preserve">2. (0:20–0:40 / Transition) 부제 “AI-Native Development · 업무 방식의 재설계”는 이번 구간의 관점만 안내한다. 구체적 기능·해결 방법·결과는 앞서 설명하지 않는다.</ns25:t>
            </ns25:r>
          </ns25:p>
          <ns26:p xmlns:ns26="http://schemas.openxmlformats.org/drawingml/2006/main">
            <ns26:r>
              <ns26:t xml:space="preserve">3. (0:40–1:00 / Transition) S103의 기존 첫 문제로 이동한다. 본문의 질문·성찰을 이 장에서 대신 진행하지 않는다.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DEC-0090. 사용자가 승인한 ACT 제목·부제, plan/MASTER_PLAN.md의 여정과 현행 plan/SLIDE_MAP.md. 새 Trial·연구·제품 검증은 없다.</ns29:t>
            </ns29:r>
          </ns29:p>
          <ns30:p xmlns:ns30="http://schemas.openxmlformats.org/drawingml/2006/main">
            <ns30:r>
              <ns30:t xml:space="preserve"/>
            </ns30:r>
          </ns30:p>
          <ns31:p xmlns:ns31="http://schemas.openxmlformats.org/drawingml/2006/main">
            <ns31:r>
              <ns31:t xml:space="preserve">**Claim Boundary:**</ns31:t>
            </ns31:r>
          </ns31:p>
          <ns32:p xmlns:ns32="http://schemas.openxmlformats.org/drawingml/2006/main">
            <ns32:r>
              <ns32:t xml:space="preserve">TEACHING MODEL — ACT 주제 안내이며 새 제품 기능·Trial·성과·현재 제품 지원을 주장하지 않는다.</ns32:t>
            </ns32:r>
          </ns32:p>
          <ns33:p xmlns:ns33="http://schemas.openxmlformats.org/drawingml/2006/main">
            <ns33:r>
              <ns33:t xml:space="preserve"/>
            </ns33:r>
          </ns33:p>
          <ns34:p xmlns:ns34="http://schemas.openxmlformats.org/drawingml/2006/main">
            <ns34:r>
              <ns34:t xml:space="preserve">**Beginner Explanation:**</ns34:t>
            </ns34:r>
          </ns34:p>
          <ns35:p xmlns:ns35="http://schemas.openxmlformats.org/drawingml/2006/main">
            <ns35:r>
              <ns35:t xml:space="preserve">지금부터 살펴볼 주제와 앞 구간과의 경계를 알아본다.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해당 ACT가 다루는 설계 책임의 범위를 짧게 확인한다.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N/A — 기존 본문에 있는 C++ 연결을 유지한다.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N/A — 정적 제목 화면. 새 Demo 또는 실행을 시작하지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N/A — 본문의 질문·성찰을 이 장에서 중복 운영하지 않는다.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S103에서 질문·답변에서 기준에 따른 작업으로 맡기는 범위가 넓어졌음을 회수한다. Demo의 내부 이력을 전제하지 않는다.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Transition 1분. 기존 본문 시간을 줄이거나 중복 계산하지 않는다. ACT 5 총40분, 전체406분이다. 제목·부제만 안내하고1분에 S103로 넘긴다. 실측 리허설 UNVERIFIED.</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production/preview/full/S102.png 또는 production/ACT_5.pptx의 같은 제목 장. 실제 제품 실행으로 대체하지 않는다.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DEC-0090. 로컬 패키지/Notes/렌더 대조는 production/evaluation/ACT_TITLE_SLIDES.md에 기록한다. Windows/발표 PC 글꼴/제품·계정/교육장/실측 리허설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S103 — AI에게 맡기는 범위가 넓어졌다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S103</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AI에게 맡기는 범위가 넓어졌다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Full Story Recap</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4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4분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Chatbot에서 Prompt·Context·Harness·Loop로, 질문에 답하는 범위에서 기준에 따라 작업하고 검토·수정하는 범위로 넓어졌다.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“이번 교육에서 AI에게 맡기는 범위는 어떻게 달라졌을까요?”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(0:00–0:50 / Lecture) 질문과 답변에서 출발했음을 회수한다. 새로운 업무나 개인 선택 질문을 열지 않는다.</ns24:t>
            </ns24:r>
          </ns24:p>
          <ns25:p xmlns:ns25="http://schemas.openxmlformats.org/drawingml/2006/main">
            <ns25:r>
              <ns25:t xml:space="preserve">2. (0:50–3:10 / Lecture) Prompt의 목표·제약, Context의 정보·명세, Harness의 수행 방법·환경, Loop의 검토·수정·재검토로 맡기는 범위가 넓어졌음을 읽는다. 각 기능을 다시 가르치거나 필수 도입 단계를 제시하지 않는다.</ns25:t>
            </ns25:r>
          </ns25:p>
          <ns26:p xmlns:ns26="http://schemas.openxmlformats.org/drawingml/2006/main">
            <ns26:r>
              <ns26:t xml:space="preserve">3. (3:10–4:00 / Lecture) 한 번의 답변에서 근거를 확인하며 작업을 맡기는 관점으로 변했음을 정리하고 S104의 전체 작업 흐름으로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개념의 범위 확대와 모든 구성요소의 도입 의무를 구분한다. 개인 문제 선택과 다음 행동은 S111/S112에서만 진행한다.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다섯 단계와 질문·목표/제약·정보/명세·수행 환경·검토/수정의 범위를 순서대로 표시한다. 개인 문제나 도구 선택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 범위가 실제 작업 흐름에서는 어떻게 연결될까요? 다음은 저장소 이력을 몰라도 읽을 수 있는 작업 구조입니다.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Lecture4분.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S103와 production/preview/act5/S103.png.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S104 — 작업은 요청부터 검토·수정까지 이어진다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S104</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작업은 요청부터 검토·수정까지 이어진다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End-to-end Work Structure</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1분 + Case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같은 목표·완료 기준 아래 요청·조사·변경·확인·판단을 연결하고, 남은 지적과 근거를 다음 수정으로 넘긴다.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“AI에게 맡긴 작업은 요청 이후 어떤 흐름으로 이어질까요?”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(0:00–1:00 / Lecture) 목표와 완료 기준을 고정한 설명용 구조임을 밝힌다. 실제 저장소 State·Trial 이력이나 새 실행 결과를 재현하지 않는다.</ns24:t>
            </ns24:r>
          </ns24:p>
          <ns25:p xmlns:ns25="http://schemas.openxmlformats.org/drawingml/2006/main">
            <ns25:r>
              <ns25:t xml:space="preserve">2. (1:00–2:20 / Case) 다섯 노드를 왼쪽부터 따라간다. 조사에서 필요한 자료를 찾고 정한 범위를 변경하며 테스트와 검토의 근거를 확인한다. 모델의 의견과 도구의 확인 근거를 합치지 않는다.</ns25:t>
            </ns25:r>
          </ns25:p>
          <ns26:p xmlns:ns26="http://schemas.openxmlformats.org/drawingml/2006/main">
            <ns26:r>
              <ns26:t xml:space="preserve">3. (2:20–3:00 / Case) 남은 지적을 수정에 넘기는 귀환선과 완료/수정/중단 판단을 읽는다. 검증할 수 없어 멈춘 것은 목표 충족 완료가 아니다. 개인 다음 행동은 정하지 않고 S105의 작업 조건으로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BEAT-060.</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여기서 보여 주는 것은 작업·피드백의 관계다. 특정 제품의 자동 실행 경로나 다중 모델 배정·반복 성과를 주장하지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요청→조사→변경→확인→판단의 다섯 노드를 연결한다. 판단에서 남은 지적·근거를 변경으로 되돌린다. 완료·수정·미충족 중단을 구분한다.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흐름이 이어지려면 Agent가 무엇을 참고하고 어떤 방법과 도구를 사용할 수 있어야 할까요?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Lecture1분+Case2분.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S104와 production/preview/act5/S104.png.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S105 — 작업 흐름에는 정보·절차·도구가 연결된다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S105</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작업 흐름에는 정보·절차·도구가 연결된다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Work Conditions</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프로젝트 정보와 명세, 재사용할 수행 방법, 테스트·측정 도구를 Agent의 작업에 연결해 변경 내용·확인 근거·미해결 항목을 남긴다.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“이 작업 흐름은 어떤 정보와 수행 조건에 연결되어 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(0:00–0:30 / Lecture) S104의 작업 흐름에 연결되는 조건을 설명한다. 특정 Demo나 코드의 사전 지식 없이 읽는다.</ns24:t>
            </ns24:r>
          </ns24:p>
          <ns25:p xmlns:ns25="http://schemas.openxmlformats.org/drawingml/2006/main">
            <ns25:r>
              <ns25: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ns25:t>
            </ns25:r>
          </ns25:p>
          <ns26:p xmlns:ns26="http://schemas.openxmlformats.org/drawingml/2006/main">
            <ns26:r>
              <ns26:t xml:space="preserve">3. (1:30–2:00 / Lecture) 결과에 변경 내용·확인 근거·미해결 항목을 남기는 이유를 회수한다. Subagent/Memory 채택·보류나 개인 행동을 선택시키지 않고 S106의 수용 판단으로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Context의 사실, Workflow의 방법, 도구가 제공하는 근거는 책임이 다르다. 모든 작업의 필수 구현·저장 방식이나 특정 구성이 더 우월하다는 결과를 제시하지 않는다.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그렇게 얻은 결과를 완료 보고만으로 받아들일 수 있을까요? S106에서 사람의 수용 판단을 봅니다.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S105와 production/preview/act5/S105.png.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S106 — 결과를 수용할지는 사람이 판단한다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S106</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결과를 수용할지는 사람이 판단한다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Developer Responsibility</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작업 완료 보고 뒤에도 사람은 목표·선택·검증 근거·남은 위험을 확인해 결과를 수용한다.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“작업 완료 보고 뒤에 사람이 확인할 것은 무엇일까요?”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S105에서 남긴 변경 내용·확인 근거·미해결 항목을 사람의 수용 판단에 연결한다. Agent나 Goal의 완료 보고 자체를 검증 결과로 취급하지 않는다.</ns24:t>
            </ns24:r>
          </ns24:p>
          <ns25:p xmlns:ns25="http://schemas.openxmlformats.org/drawingml/2006/main">
            <ns25:r>
              <ns25:t xml:space="preserve">2. (0:35–2:30 / Lecture) 목표·제약에 맞는지, 선택이 적절한지, 근거로 확인했는지, 남은 위험을 수용할지의 네 질문을 한 번씩 설명한다. 새 실패 사례나 실제 PASS/FAIL을 추가하지 않는다.</ns25:t>
            </ns25:r>
          </ns25:p>
          <ns26:p xmlns:ns26="http://schemas.openxmlformats.org/drawingml/2006/main">
            <ns26:r>
              <ns26:t xml:space="preserve">3. (2:30–3:00 / Lecture) 사람이 직접 모든 단계를 수행한다는 뜻이 아니라 중요한 기준과 최종 수용 책임을 유지한다는 의미를 남기고 S107로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위임한 작업과 사람이 보유할 목표·중요 판단·위험 수용 책임을 구분한다. 현재 제품의 완료 오류율이나 검토 성과를 관찰한 주장이 아니다.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AI의 변경·실행·검사·비교 기록과 사람이 확인할 목표·판단·검증·책임의 네 질문을 연결한다. Goal 한 기능에 한정하지 않는다.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 수용 판단까지 연결되도록 작업 조건을 설계하고 운영하는 관점을 S107에서 정리합니다.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S106와 production/preview/act5/S106.png.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S107 — AI가 일할 조건과 확인 경로를 설계한다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S107</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AI가 일할 조건과 확인 경로를 설계한다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AI-Native Development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3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3분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맡길 범위와 일할 조건, 검증·수정·재검토와 사람의 수용 판단을 연결해 개발 방식을 설계하고 운영한다.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“우리가 설계한 것은 어떤 개발 방식이었을까요?”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(0:00–0:35 / Lecture) S103의 범위 확대, S104의 작업 흐름, S105의 수행 조건과 S106의 수용 판단을 하나의 개발 방식으로 회수한다.</ns24:t>
            </ns24:r>
          </ns24:p>
          <ns25:p xmlns:ns25="http://schemas.openxmlformats.org/drawingml/2006/main">
            <ns25:r>
              <ns25: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ns25:t>
            </ns25:r>
          </ns25:p>
          <ns26:p xmlns:ns26="http://schemas.openxmlformats.org/drawingml/2006/main">
            <ns26:r>
              <ns26:t xml:space="preserve">3. (2:10–3:00 / Lecture) 모델·플랫폼이 달라져도 지금의 구성이 모두 필요할지 질문한다. 통합·제거의 상세 기준은 S108–S110에, 개인 문제와 다음 행동은 S111–S112에 남긴다.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TEACHING_MODEL · DEC-0099 · 기존 교육의 관점과 연결을 종합한다. BEAT-061–062. 실제 Product 이력과 DEC-0018은 당시 관찰·판단으로 보존하며 이 도식의 실행 근거로 쓰지 않는다.</ns29:t>
            </ns29:r>
          </ns29:p>
          <ns30:p xmlns:ns30="http://schemas.openxmlformats.org/drawingml/2006/main">
            <ns30:r>
              <ns30:t xml:space="preserve"/>
            </ns30:r>
          </ns30:p>
          <a:p>
            <a:r>
              <a:t xml:space="preserve">보존된 상세 출처: 교육에서 배운 관점의 종합 · TEACHING MODEL</a:t>
            </a:r>
          </a:p>
          <a:p>
            <a:r>
              <a:t xml:space="preserve"/>
            </a:r>
          </a:p>
          <ns31:p xmlns:ns31="http://schemas.openxmlformats.org/drawingml/2006/main">
            <ns31:r>
              <ns31:t xml:space="preserve">**Claim Boundary:**</ns31:t>
            </ns31:r>
          </ns31:p>
          <ns32:p xmlns:ns32="http://schemas.openxmlformats.org/drawingml/2006/main">
            <ns32:r>
              <ns32:t xml:space="preserve">TEACHING_MODEL — 기존 교육 내용의 설명용 종합이며 실제 실행·비교·측정 결과가 아니다. Goal·다중 모델 루프·새 제품 기능을 실행 검증한 근거로 쓰지 않는다.</ns32:t>
            </ns32:r>
          </ns32:p>
          <ns33:p xmlns:ns33="http://schemas.openxmlformats.org/drawingml/2006/main">
            <ns33:r>
              <ns33:t xml:space="preserve"/>
            </ns33:r>
          </ns33:p>
          <a:p>
            <a:r>
              <a:t xml:space="preserve">보존된 상세 범위: 설명용 도식 · 실제 실행·측정 결과나 모든 작업의 필수 구성표가 아님</a:t>
            </a:r>
          </a:p>
          <a:p>
            <a:r>
              <a:t xml:space="preserve"/>
            </a:r>
          </a:p>
          <ns34:p xmlns:ns34="http://schemas.openxmlformats.org/drawingml/2006/main">
            <ns34:r>
              <ns34:t xml:space="preserve">**Beginner Explanation:**</ns34:t>
            </ns34:r>
          </ns34:p>
          <ns35:p xmlns:ns35="http://schemas.openxmlformats.org/drawingml/2006/main">
            <ns35:r>
              <ns35:t xml:space="preserve">저장소 이름·State·Trial을 몰라도 화면의 역할과 연결을 따라간다.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특정 제품 기능이나 모든 구성요소를 반드시 도입하는 목록과 개발 방식의 설계 관점을 구분한다. 무엇을 제거할지는 다음 구간에서 근거를 보고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개별 기술 사례·성과를 새로 넣지 않는다. 개인 업무 적용은 S111/S112에 남긴다.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새 Trial·Live·실행 캡처 없음. 맡길 범위·일할 조건·확인과 책임의 세 영역을 연결한다. 이 교육의 AI-Native Development 관점임을 밝히고 모델·플랫폼 변화 시 현재 구성의 필요성을 묻는다.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설명을 위한 질문이며 개인 문제·도구·다음 행동을 고르게 하지 않는다. 개인 선택과 성찰은 S111/S112에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이렇게 설계한 작업 방식도 모델·플랫폼이 달라지면 그대로 필요할까요? S108부터 기존 구조의 통합·제거를 재평가합니다.</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Lecture3분. 기존 장별 총시간을 유지한다. 상세 기법을 재강의하지 않고 실제 리허설은 UNVERIFIED로 둔다.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S107와 production/preview/act5/S107.png. 설명용 도식이며 실행 캡처가 아니다. 현재 검토는 production/evaluation/ACT5_SYNTHESIS_REVISION.md를 따른다.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DEC-0099. 최종 파일·Notes·렌더링 검사는 ACT5_SYNTHESIS_REVISION.md에 별도 기록한다. Windows PowerPoint·제품/계정·교육장·실측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 xml:space="preserve">## S108 — 모델·플랫폼이 바뀌면 Harness도 다시 본다</ns0:t>
            </ns0:r>
          </ns0:p>
          <ns1:p xmlns:ns1="http://schemas.openxmlformats.org/drawingml/2006/main">
            <ns1:r>
              <ns1:t xml:space="preserve"/>
            </ns1:r>
          </ns1:p>
          <ns2:p xmlns:ns2="http://schemas.openxmlformats.org/drawingml/2006/main">
            <ns2:r>
              <ns2:t xml:space="preserve">**Slide ID:**</ns2:t>
            </ns2:r>
          </ns2:p>
          <ns3:p xmlns:ns3="http://schemas.openxmlformats.org/drawingml/2006/main">
            <ns3:r>
              <ns3:t xml:space="preserve">S108</ns3:t>
            </ns3:r>
          </ns3:p>
          <ns4:p xmlns:ns4="http://schemas.openxmlformats.org/drawingml/2006/main">
            <ns4:r>
              <ns4:t xml:space="preserve"/>
            </ns4:r>
          </ns4:p>
          <ns5:p xmlns:ns5="http://schemas.openxmlformats.org/drawingml/2006/main">
            <ns5:r>
              <ns5:t xml:space="preserve">**Working Title:**</ns5:t>
            </ns5:r>
          </ns5:p>
          <ns6:p xmlns:ns6="http://schemas.openxmlformats.org/drawingml/2006/main">
            <ns6:r>
              <ns6:t xml:space="preserve">모델·플랫폼이 바뀌면 Harness도 다시 본다</ns6:t>
            </ns6:r>
          </ns6:p>
          <ns7:p xmlns:ns7="http://schemas.openxmlformats.org/drawingml/2006/main">
            <ns7:r>
              <ns7:t xml:space="preserve"/>
            </ns7:r>
          </ns7:p>
          <ns8:p xmlns:ns8="http://schemas.openxmlformats.org/drawingml/2006/main">
            <ns8:r>
              <ns8:t xml:space="preserve">**ACT / Section:**</ns8:t>
            </ns8:r>
          </ns8:p>
          <ns9:p xmlns:ns9="http://schemas.openxmlformats.org/drawingml/2006/main">
            <ns9:r>
              <ns9:t xml:space="preserve">ACT 5 / 5A Harness Reassessment</ns9:t>
            </ns9:r>
          </ns9:p>
          <ns10:p xmlns:ns10="http://schemas.openxmlformats.org/drawingml/2006/main">
            <ns10:r>
              <ns10:t xml:space="preserve"/>
            </ns10:r>
          </ns10:p>
          <ns11:p xmlns:ns11="http://schemas.openxmlformats.org/drawingml/2006/main">
            <ns11:r>
              <ns11:t xml:space="preserve">**Allocated Time:**</ns11:t>
            </ns11:r>
          </ns11:p>
          <ns12:p xmlns:ns12="http://schemas.openxmlformats.org/drawingml/2006/main">
            <ns12:r>
              <ns12:t xml:space="preserve">2 minutes</ns12:t>
            </ns12:r>
          </ns12:p>
          <ns13:p xmlns:ns13="http://schemas.openxmlformats.org/drawingml/2006/main">
            <ns13:r>
              <ns13:t xml:space="preserve"/>
            </ns13:r>
          </ns13:p>
          <ns14:p xmlns:ns14="http://schemas.openxmlformats.org/drawingml/2006/main">
            <ns14:r>
              <ns14:t xml:space="preserve">**Mode Split:**</ns14:t>
            </ns14:r>
          </ns14:p>
          <ns15:p xmlns:ns15="http://schemas.openxmlformats.org/drawingml/2006/main">
            <ns15:r>
              <ns15:t xml:space="preserve">Lecture 2분</ns15:t>
            </ns15:r>
          </ns15:p>
          <ns16:p xmlns:ns16="http://schemas.openxmlformats.org/drawingml/2006/main">
            <ns16:r>
              <ns16:t xml:space="preserve"/>
            </ns16:r>
          </ns16:p>
          <ns17:p xmlns:ns17="http://schemas.openxmlformats.org/drawingml/2006/main">
            <ns17:r>
              <ns17:t xml:space="preserve">**Primary Message:**</ns17:t>
            </ns17:r>
          </ns17:p>
          <ns18:p xmlns:ns18="http://schemas.openxmlformats.org/drawingml/2006/main">
            <ns18:r>
              <ns18: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ns18:t>
            </ns18:r>
          </ns18:p>
          <ns19:p xmlns:ns19="http://schemas.openxmlformats.org/drawingml/2006/main">
            <ns19:r>
              <ns19:t xml:space="preserve"/>
            </ns19:r>
          </ns19:p>
          <ns20:p xmlns:ns20="http://schemas.openxmlformats.org/drawingml/2006/main">
            <ns20:r>
              <ns20:t xml:space="preserve">**Opening Question:**</ns20:t>
            </ns20:r>
          </ns20:p>
          <ns21:p xmlns:ns21="http://schemas.openxmlformats.org/drawingml/2006/main">
            <ns21:r>
              <ns21:t xml:space="preserve">“Goal처럼 플랫폼이 일부 역할을 제공한다면, 이전에 만든 보조 장치도 계속 필요할까요?”</ns21:t>
            </ns21:r>
          </ns21:p>
          <ns22:p xmlns:ns22="http://schemas.openxmlformats.org/drawingml/2006/main">
            <ns22:r>
              <ns22:t xml:space="preserve"/>
            </ns22:r>
          </ns22:p>
          <ns23:p xmlns:ns23="http://schemas.openxmlformats.org/drawingml/2006/main">
            <ns23:r>
              <ns23:t xml:space="preserve">**Speaker Flow:**</ns23:t>
            </ns23:r>
          </ns23:p>
          <ns24:p xmlns:ns24="http://schemas.openxmlformats.org/drawingml/2006/main">
            <ns24:r>
              <ns24:t xml:space="preserve">1. (0:00–0:25 / Lecture) S107의 설계 관점에서 “그때 필요했던 보조 장치가 지금도 필요한가?”를 묻는다. 앞 구간은 작업 체계의 구조를 설명했고, 여기서는 과거 필요했던 구성의 후속 재평가를 다룬다.</ns24:t>
            </ns24:r>
          </ns24:p>
          <ns25:p xmlns:ns25="http://schemas.openxmlformats.org/drawingml/2006/main">
            <ns25:r>
              <ns25: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ns25:t>
            </ns25:r>
          </ns25:p>
          <ns26:p xmlns:ns26="http://schemas.openxmlformats.org/drawingml/2006/main">
            <ns26:r>
              <ns26:t xml:space="preserve">3. (1:25–2:00 / Lecture) 새 모델이나 플랫폼이면 무조건 합치라는 뜻이 아니며 우리 Demo의 통합·비용·품질 비교 실험도 아니라고 한정한다. 외부 수치나 모델명 성능을 추가하지 않고 S109의 판단 기준으로 넘긴다.</ns26:t>
            </ns26:r>
          </ns26:p>
          <ns27:p xmlns:ns27="http://schemas.openxmlformats.org/drawingml/2006/main">
            <ns27:r>
              <ns27:t xml:space="preserve"/>
            </ns27:r>
          </ns27:p>
          <ns28:p xmlns:ns28="http://schemas.openxmlformats.org/drawingml/2006/main">
            <ns28:r>
              <ns28:t xml:space="preserve">**Evidence / Source:**</ns28:t>
            </ns28:r>
          </ns28:p>
          <ns29:p xmlns:ns29="http://schemas.openxmlformats.org/drawingml/2006/main">
            <ns29:r>
              <ns29:t xml:space="preserve">RESEARCH / TEACHING_MODEL · SRC-0236, CLM-0040, BEAT-061, BEAT-069, DEC-0083. references/engineering/harness-reassessment.md에 출처·해석·한계를 분리한다.</ns29:t>
            </ns29:r>
          </ns29:p>
          <ns30:p xmlns:ns30="http://schemas.openxmlformats.org/drawingml/2006/main">
            <ns30:r>
              <ns30:t xml:space="preserve"/>
            </ns30:r>
          </ns30:p>
          <a:p>
            <a:r>
              <a:t xml:space="preserve">보존된 상세 출처: SRC-0236 · Anthropic, 2026-10-22 · 일부 기업 Agent의 통합 사례를 각색</a:t>
            </a:r>
          </a:p>
          <a:p>
            <a:r>
              <a:t xml:space="preserve"/>
            </a:r>
          </a:p>
          <ns31:p xmlns:ns31="http://schemas.openxmlformats.org/drawingml/2006/main">
            <ns31:r>
              <ns31:t xml:space="preserve">**Claim Boundary:**</ns31:t>
            </ns31:r>
          </ns31:p>
          <ns32:p xmlns:ns32="http://schemas.openxmlformats.org/drawingml/2006/main">
            <ns32:r>
              <ns32: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ns32:t>
            </ns32:r>
          </ns32:p>
          <ns33:p xmlns:ns33="http://schemas.openxmlformats.org/drawingml/2006/main">
            <ns33:r>
              <ns33:t xml:space="preserve"/>
            </ns33:r>
          </ns33:p>
          <a:p>
            <a:r>
              <a:t xml:space="preserve">보존된 상세 범위: 우리 Demo의 관찰·효과 측정이 아님 · 새 모델이면 무조건 통합한다는 뜻은 아님</a:t>
            </a:r>
          </a:p>
          <a:p>
            <a:r>
              <a:t xml:space="preserve"/>
            </a:r>
          </a:p>
          <ns34:p xmlns:ns34="http://schemas.openxmlformats.org/drawingml/2006/main">
            <ns34:r>
              <ns34:t xml:space="preserve">**Beginner Explanation:**</ns34:t>
            </ns34:r>
          </ns34:p>
          <ns35:p xmlns:ns35="http://schemas.openxmlformats.org/drawingml/2006/main">
            <ns35:r>
              <ns35:t xml:space="preserve">처음에는 필요했던 장치도 조건이 달라지면 다시 볼 수 있음을 이해한다.</ns35:t>
            </ns35:r>
          </ns35:p>
          <ns36:p xmlns:ns36="http://schemas.openxmlformats.org/drawingml/2006/main">
            <ns36:r>
              <ns36:t xml:space="preserve"/>
            </ns36:r>
          </ns36:p>
          <ns37:p xmlns:ns37="http://schemas.openxmlformats.org/drawingml/2006/main">
            <ns37:r>
              <ns37:t xml:space="preserve">**Advanced Insight:**</ns37:t>
            </ns37:r>
          </ns37:p>
          <ns38:p xmlns:ns38="http://schemas.openxmlformats.org/drawingml/2006/main">
            <ns38:r>
              <ns38:t xml:space="preserve">Goal은 앞 ACT의 OpenAI 공식 기능 안내다. 이 화면의 Anthropic 기업 Agent 통합 사례는 별도 출처이며 같은 실험·제품·효과로 합치지 않는다. 통합/제거는 실제 대표 작업의 결과와 회귀를 확인한 뒤 판단한다.</ns38:t>
            </ns38:r>
          </ns38:p>
          <ns39:p xmlns:ns39="http://schemas.openxmlformats.org/drawingml/2006/main">
            <ns39:r>
              <ns39:t xml:space="preserve"/>
            </ns39:r>
          </ns39:p>
          <ns40:p xmlns:ns40="http://schemas.openxmlformats.org/drawingml/2006/main">
            <ns40:r>
              <ns40:t xml:space="preserve">**C++ Vision Bridge:**</ns40:t>
            </ns40:r>
          </ns40:p>
          <ns41:p xmlns:ns41="http://schemas.openxmlformats.org/drawingml/2006/main">
            <ns41:r>
              <ns41:t xml:space="preserve">Contextual — 실제 C++ 구조·도구·성과를 새로 제시하지 않는다.</ns41:t>
            </ns41:r>
          </ns41:p>
          <ns42:p xmlns:ns42="http://schemas.openxmlformats.org/drawingml/2006/main">
            <ns42:r>
              <ns42:t xml:space="preserve"/>
            </ns42:r>
          </ns42:p>
          <ns43:p xmlns:ns43="http://schemas.openxmlformats.org/drawingml/2006/main">
            <ns43:r>
              <ns43:t xml:space="preserve">**Demo Operation:**</ns43:t>
            </ns43:r>
          </ns43:p>
          <ns44:p xmlns:ns44="http://schemas.openxmlformats.org/drawingml/2006/main">
            <ns44:r>
              <ns44: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ns44:t>
            </ns44:r>
          </ns44:p>
          <ns45:p xmlns:ns45="http://schemas.openxmlformats.org/drawingml/2006/main">
            <ns45:r>
              <ns45:t xml:space="preserve"/>
            </ns45:r>
          </ns45:p>
          <ns46:p xmlns:ns46="http://schemas.openxmlformats.org/drawingml/2006/main">
            <ns46:r>
              <ns46:t xml:space="preserve">**Audience Interaction:**</ns46:t>
            </ns46:r>
          </ns46:p>
          <ns47:p xmlns:ns47="http://schemas.openxmlformats.org/drawingml/2006/main">
            <ns47:r>
              <ns47:t xml:space="preserve">질문은 설명을 여는 수사적 질문이다. 응답·실습·기록·제출을 요구하지 않는다. 개인 선택은 S111/S110에 남긴다.</ns47:t>
            </ns47:r>
          </ns47:p>
          <ns48:p xmlns:ns48="http://schemas.openxmlformats.org/drawingml/2006/main">
            <ns48:r>
              <ns48:t xml:space="preserve"/>
            </ns48:r>
          </ns48:p>
          <ns49:p xmlns:ns49="http://schemas.openxmlformats.org/drawingml/2006/main">
            <ns49:r>
              <ns49:t xml:space="preserve">**Transition:**</ns49:t>
            </ns49:r>
          </ns49:p>
          <ns50:p xmlns:ns50="http://schemas.openxmlformats.org/drawingml/2006/main">
            <ns50:r>
              <ns50:t xml:space="preserve">“그렇다면 무엇을 보존하고, 어떤 부분을 합치거나 제거할 후보로 볼까요?”</ns50:t>
            </ns50:r>
          </ns50:p>
          <ns51:p xmlns:ns51="http://schemas.openxmlformats.org/drawingml/2006/main">
            <ns51:r>
              <ns51:t xml:space="preserve"/>
            </ns51:r>
          </ns51:p>
          <ns52:p xmlns:ns52="http://schemas.openxmlformats.org/drawingml/2006/main">
            <ns52:r>
              <ns52:t xml:space="preserve">**Time Management:**</ns52:t>
            </ns52:r>
          </ns52:p>
          <ns53:p xmlns:ns53="http://schemas.openxmlformats.org/drawingml/2006/main">
            <ns53:r>
              <ns53:t xml:space="preserve">Lecture2분. 0:00–0:25 연결 질문,0:25–1:25 도식·범위 설명,1:25–2:00 판단 경계와 다음 장 연결. 외부 사례의 수치·상세 아키텍처 설명을 확장하지 않는다. 초과하면 예시 설명을 줄이고 근거 경계를 유지한다.</ns53:t>
            </ns53:r>
          </ns53:p>
          <ns54:p xmlns:ns54="http://schemas.openxmlformats.org/drawingml/2006/main">
            <ns54:r>
              <ns54:t xml:space="preserve"/>
            </ns54:r>
          </ns54:p>
          <ns55:p xmlns:ns55="http://schemas.openxmlformats.org/drawingml/2006/main">
            <ns55:r>
              <ns55:t xml:space="preserve">**Fallback:**</ns55:t>
            </ns55:r>
          </ns55:p>
          <ns56:p xmlns:ns56="http://schemas.openxmlformats.org/drawingml/2006/main">
            <ns56:r>
              <ns56:t xml:space="preserve">LOCAL STATIC ARTIFACT — production/ACT_5.pptx의 S108와 production/preview/act5/S108.png. Native 도식은 공개 사례 각색/교육용 판단 모델이며 실행 Screenshot이 아니다.</ns56:t>
            </ns56:r>
          </ns56:p>
          <ns57:p xmlns:ns57="http://schemas.openxmlformats.org/drawingml/2006/main">
            <ns57:r>
              <ns57:t xml:space="preserve"/>
            </ns57:r>
          </ns57:p>
          <ns58:p xmlns:ns58="http://schemas.openxmlformats.org/drawingml/2006/main">
            <ns58:r>
              <ns58:t xml:space="preserve">**Validation Status:**</ns58:t>
            </ns58:r>
          </ns58:p>
          <ns59:p xmlns:ns59="http://schemas.openxmlformats.org/drawingml/2006/main">
            <ns59:r>
              <ns59:t xml:space="preserve">CONTENT ALIGNED — DEC-0083. 최종 패키지/PNG/내장 Notes 대조는 production/evaluation/ACT_5_HARNESS_REASSESSMENT.md에 별도 기록한다. Windows/발표 PC 글꼴/제품·계정/교육장/실측 리허설은 UNVERIFIED.</ns59:t>
            </ns59:r>
          </ns59: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무엇을 남기고, 무엇을 덜어낼까?</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S109의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S111으로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a:r>
              <a:t xml:space="preserve">보존된 상세 출처: TEACHING MODEL · BEAT-057 / 061 / 069 · CLM-0022 · DEC-0083</a:t>
            </a:r>
          </a:p>
          <a:p>
            <a:r>
              <a:t xml:space="preserve"/>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a:r>
              <a:t xml:space="preserve">보존된 상세 범위: 통합·제거는 후보 판단 · 안전·권한·명세·검증 요구를 없애는 처방이 아님</a:t>
            </a:r>
          </a:p>
          <a:p>
            <a:r>
              <a:t xml:space="preserve"/>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S110와 production/preview/act5/S110.png.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덜어낸 뒤에도 필요한 일을 하는가?</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S110에서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S112에서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a:r>
              <a:t xml:space="preserve">보존된 상세 출처: TEACHING MODEL · SRC-0236의 평가 권고를 각색 · CLM-0040 · DEC-0083</a:t>
            </a:r>
          </a:p>
          <a:p>
            <a:r>
              <a:t xml:space="preserve"/>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a:r>
              <a:t xml:space="preserve">보존된 상세 범위: 새 비교 실험·측정 결과 없음 · 시간·비용만으로 채택하지 않음</a:t>
            </a:r>
          </a:p>
          <a:p>
            <a:r>
              <a:t xml:space="preserve"/>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S112/S111에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S111와 production/preview/act5/S111.png.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내 업무에서는 무엇이 반복해서 막힐까?</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기존 A–E 문제의 E를 검토 지적이 다음 수정으로 이어지지 않는 문제로 정렬한다.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 적용을 위한 교육용 질문이다. 실제 회사 사건이나 검증된 도입 순서로 제시하지 않는다.</a:t>
            </a:r>
          </a:p>
          <a:p xmlns:a="http://schemas.openxmlformats.org/drawingml/2006/main">
            <a:r>
              <a:t>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xmlns:a="http://schemas.openxmlformats.org/drawingml/2006/main">
            <a:r>
              <a:t>3. (3:00–5:00 / Transition) 가까운 문제 하나를 마음속으로 고르게 한다. E는 검토 지적과 다음 수정 사이에 어떤 근거·판단이 필요한지 생각하는 출발점이다. S113에서 같은 글자의 행동·확인 근거로 연결한다.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a:r>
              <a:t xml:space="preserve">보존된 상세 출처: BEAT-068–069 · 업무 적용을 위한 교육용 질문</a:t>
            </a:r>
          </a:p>
          <a:p>
            <a:r>
              <a:t xml:space="preserve"/>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a:r>
              <a:t xml:space="preserve">보존된 상세 범위: A–E는 같은 수준의 선택지 · 필수 도입 순서나 검증된 C++ 프로젝트 절차가 아님</a:t>
            </a:r>
          </a:p>
          <a:p>
            <a:r>
              <a:t xml:space="preserve"/>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기존 A–E 문제의 E를 검토 지적이 다음 수정으로 이어지지 않는 문제로 정렬한다.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S113의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S112와 production/preview/act5/S112.png를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고른 문제에서, 다음 행동 하나로</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선택한 문제의 E에서 검토 지적·다음 수정·완료 기준을 잇는 작은 행동을 고른다.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S112에서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xmlns:a="http://schemas.openxmlformats.org/drawingml/2006/main">
            <a:r>
              <a:t>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xmlns:a="http://schemas.openxmlformats.org/drawingml/2006/main">
            <a:r>
              <a:t>3. (2:00–4:00 / Reflection) 문제→작은 행동→확인 근거를 마음속으로 연결한다. 기록·발표·실습·제출은 요구하지 않는다. S114–S116의 찾아보기에서 팁 위치만 짚고 S117 Q&amp;A/Closing으로 넘어간다.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a:r>
              <a:t xml:space="preserve">보존된 상세 출처: BEAT-070–071 · 다음 행동과 확인 근거를 떠올리는 개인 성찰</a:t>
            </a:r>
          </a:p>
          <a:p>
            <a:r>
              <a:t xml:space="preserve"/>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a:r>
              <a:t xml:space="preserve">보존된 상세 범위: 마음속으로 떠올리는 시간 · 기록·발표·제출·실천 약속은 요구하지 않음</a:t>
            </a:r>
          </a:p>
          <a:p>
            <a:r>
              <a:t xml:space="preserve"/>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DEC-0097: Loop는 같은 목표의 구현·검토·수정 반복이다. 새로운 다중 모델 실행·성능·비용 효과는 관찰하지 않았다. 선택한 문제의 E에서 검토 지적·다음 수정·완료 기준을 잇는 작은 행동을 고른다.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S112과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S114의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S112의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S114 — 실무 적용 팁 · 작업 환경과 기준</a:t>
            </a:r>
          </a:p>
          <a:p xmlns:a="http://schemas.openxmlformats.org/drawingml/2006/main">
            <a:r>
              <a:t/>
            </a:r>
          </a:p>
          <a:p xmlns:a="http://schemas.openxmlformats.org/drawingml/2006/main">
            <a:r>
              <a:t>**Slide ID:**</a:t>
            </a:r>
          </a:p>
          <a:p xmlns:a="http://schemas.openxmlformats.org/drawingml/2006/main">
            <a:r>
              <a:t>S114</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기준의 팁 위치는 S13, S49, S59, S64, S69, S71, S81, S100다. 공식 안내 각색과 기존 관찰의 근거를 각 장의 범위로 유지한다.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마지막 통합 찾아보기이며 필요할 때 해당 장으로 돌아오는 목록임을 알린다.</a:t>
            </a:r>
          </a:p>
          <a:p xmlns:a="http://schemas.openxmlformats.org/drawingml/2006/main">
            <a:r>
              <a:t>2. (0:15–0:45 / Lecture) S13 Repository 작업은 Codex에서 시작한다 / S49 AGENTS.md에는 무엇을 남길까? / S59 테스트 명령을 언제 쓰고 무엇을 판단할까? / S64 대화로 재사용할 Skill 만들기 / S69 대화로 조사 Agent 만들기 / S71 이번 Context와 다시 쓸 지식 / S81 반복 보정을 개선으로 잇는 기록. 새 S64/S69을 포함해 제목·위치만 짚고 본문을 다시 강의하지 않는다.</a:t>
            </a:r>
          </a:p>
          <a:p xmlns:a="http://schemas.openxmlformats.org/drawingml/2006/main">
            <a:r>
              <a:t>3. (0:45–1:00 / Lecture) 요청 작성 팁 목록 S115으로 이어간다.</a:t>
            </a:r>
          </a:p>
          <a:p xmlns:a="http://schemas.openxmlformats.org/drawingml/2006/main">
            <a:r>
              <a:t/>
            </a:r>
          </a:p>
          <a:p xmlns:a="http://schemas.openxmlformats.org/drawingml/2006/main">
            <a:r>
              <a:t>**Evidence / Source:**</a:t>
            </a:r>
          </a:p>
          <a:p xmlns:a="http://schemas.openxmlformats.org/drawingml/2006/main">
            <a:r>
              <a:t>DEC-0088, DEC-0093. 현재 Slide Map의 제목·ID와 실무 팁 목록. S64/S69은 SRC-0111/0112와 CLM-0041/0042의 공식 안내 각색이며 모든 팁의 실제 관찰/연구/가상 경계는 해당 장을 따른다.</a:t>
            </a:r>
          </a:p>
          <a:p xmlns:a="http://schemas.openxmlformats.org/drawingml/2006/main">
            <a:r>
              <a:t/>
            </a:r>
          </a:p>
          <a:p>
            <a:r>
              <a:t xml:space="preserve">보존된 상세 출처: 기존 팁의 제목·Slide ID를 모은 찾아보기 · DEC-0088</a:t>
            </a:r>
          </a:p>
          <a:p>
            <a:r>
              <a:t xml:space="preserve"/>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a:r>
              <a:t xml:space="preserve">보존된 상세 범위: 배지는 활용 목적 표시 · 각 팁의 실제 관찰·교육용 예시·제품 확인 범위는 해당 장을 따른다.</a:t>
            </a:r>
          </a:p>
          <a:p>
            <a:r>
              <a:t xml:space="preserve"/>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S115으로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production/preview/full/S114.png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S115 — 실무 적용 팁 · 요청 작성</a:t>
            </a:r>
          </a:p>
          <a:p xmlns:a="http://schemas.openxmlformats.org/drawingml/2006/main">
            <a:r>
              <a:t/>
            </a:r>
          </a:p>
          <a:p xmlns:a="http://schemas.openxmlformats.org/drawingml/2006/main">
            <a:r>
              <a:t>**Slide ID:**</a:t>
            </a:r>
          </a:p>
          <a:p xmlns:a="http://schemas.openxmlformats.org/drawingml/2006/main">
            <a:r>
              <a:t>S115</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S28, S29, S30, S31, S32, S33, S34, S35다.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S28 지시와 참고 자료의 구분 / S29 입력과 기대 결과의 작은 예시 / S30 바로 검토할 수 있는 결과 형식 / S31 근거가 있는 설명과 미확인의 구분 / S32 결과를 바꾸는 결정에서 확인 질문 / S33 큰 작업을 검토할 결과물로 나누기 / S34 기준을 지정한 코드 리뷰 요청 / S35 구체적인 근거로 수정 방향 피드백. 제목·위치만 짚고 본문을 다시 강의하지 않는다.</a:t>
            </a:r>
          </a:p>
          <a:p xmlns:a="http://schemas.openxmlformats.org/drawingml/2006/main">
            <a:r>
              <a:t>3. (0:45–1:00 / Lecture) S116로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a:r>
              <a:t xml:space="preserve">보존된 상세 출처: 기존 팁의 제목·Slide ID를 모은 찾아보기 · DEC-0088</a:t>
            </a:r>
          </a:p>
          <a:p>
            <a:r>
              <a:t xml:space="preserve"/>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a:r>
              <a:t xml:space="preserve">보존된 상세 범위: 배지는 활용 목적 표시 · 각 팁의 실제 관찰·교육용 예시·제품 확인 범위는 해당 장을 따른다.</a:t>
            </a:r>
          </a:p>
          <a:p>
            <a:r>
              <a:t xml:space="preserve"/>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S116로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production/preview/full/S115.png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S116 — 실무 적용 팁 · 검증과 개선</a:t>
            </a:r>
          </a:p>
          <a:p xmlns:a="http://schemas.openxmlformats.org/drawingml/2006/main">
            <a:r>
              <a:t/>
            </a:r>
          </a:p>
          <a:p xmlns:a="http://schemas.openxmlformats.org/drawingml/2006/main">
            <a:r>
              <a:t>**Slide ID:**</a:t>
            </a:r>
          </a:p>
          <a:p xmlns:a="http://schemas.openxmlformats.org/drawingml/2006/main">
            <a:r>
              <a:t>S116</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개선의 팁 위치는 S88, S92, S101, S110, S111이다. Goal 작성 예시와 검토·통합·제거 기준의 근거는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S88 원인을 고르기 전에 확인할 기록 / S92 지침을 고친 뒤, 무엇을 다시 확인할까? / S110 무엇을 남기고, 무엇을 덜어낼까? / S111 덜어낸 뒤에도 필요한 일을 하는가?. 제목·위치만 짚고 본문을 다시 강의하지 않는다.</a:t>
            </a:r>
          </a:p>
          <a:p xmlns:a="http://schemas.openxmlformats.org/drawingml/2006/main">
            <a:r>
              <a:t>3. (0:45–1:00 / Lecture) S117로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a:r>
              <a:t xml:space="preserve">보존된 상세 출처: 기존 팁의 제목·Slide ID를 모은 찾아보기 · DEC-0088</a:t>
            </a:r>
          </a:p>
          <a:p>
            <a:r>
              <a:t xml:space="preserve"/>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a:r>
              <a:t xml:space="preserve">보존된 상세 범위: 배지는 활용 목적 표시 · 각 팁의 실제 관찰·교육용 예시·제품 확인 범위는 해당 장을 따른다.</a:t>
            </a:r>
          </a:p>
          <a:p>
            <a:r>
              <a:t xml:space="preserve"/>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production/preview/full/S116.png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S117 — Q&amp;A와 교육 마무리</a:t>
            </a:r>
          </a:p>
          <a:p xmlns:a="http://schemas.openxmlformats.org/drawingml/2006/main">
            <a:r>
              <a:t/>
            </a:r>
          </a:p>
          <a:p xmlns:a="http://schemas.openxmlformats.org/drawingml/2006/main">
            <a:r>
              <a:t>**Slide ID:**</a:t>
            </a:r>
          </a:p>
          <a:p xmlns:a="http://schemas.openxmlformats.org/drawingml/2006/main">
            <a:r>
              <a:t>S117</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S113에서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S104과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a:r>
              <a:t xml:space="preserve">보존된 상세 출처: BEAT-070–071 · 이 교육의 마무리</a:t>
            </a:r>
          </a:p>
          <a:p>
            <a:r>
              <a:t xml:space="preserve"/>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a:r>
              <a:t xml:space="preserve">보존된 상세 범위: 목표 · 판단 · 검증 · 책임은 개발자에게 남는다.</a:t>
            </a:r>
          </a:p>
          <a:p>
            <a:r>
              <a:t xml:space="preserve"/>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S113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S117와 production/preview/act5/S117.png를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142fb5dc583447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31878eaedcd45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916c05a6ee244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d484654a2824f7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5cade2d45f468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ef9ef607c4349f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B2559A-A1EB-4A17-8BAF-5451FBDAB7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AD2391-41C4-4AC7-B701-E8BA9859749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151ECF-8D23-47A9-B470-FEA3929ABB8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4E4DC-E1ED-4A14-94CD-910D549DB22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4656610-559A-4378-B660-471A60A01B2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B73CE90-9D4A-45E1-AE64-7B501822DD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291FA91-D2FB-4589-A0B1-225432D8533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6C90F6C-212A-4722-A620-6F172AD1339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514F88F-396F-4F26-8D92-B697D604C6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DB76FF-2EEB-41EB-9B06-CD0DB97D0BA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3b45ac7c8948aa" /><Relationship Type="http://schemas.openxmlformats.org/officeDocument/2006/relationships/slideLayout" Target="/ppt/slideLayouts/slideLayout1.xml" Id="R9408c66d0a174aa8" /><Relationship Type="http://schemas.openxmlformats.org/officeDocument/2006/relationships/slideLayout" Target="/ppt/slideLayouts/slideLayout2.xml" Id="Rf09f9acc8e384615" /><Relationship Type="http://schemas.openxmlformats.org/officeDocument/2006/relationships/slideLayout" Target="/ppt/slideLayouts/slideLayout3.xml" Id="R38732a9f21834a1f" /><Relationship Type="http://schemas.openxmlformats.org/officeDocument/2006/relationships/slideLayout" Target="/ppt/slideLayouts/slideLayout4.xml" Id="R2b216ccea9d240e8" /><Relationship Type="http://schemas.openxmlformats.org/officeDocument/2006/relationships/slideLayout" Target="/ppt/slideLayouts/slideLayout5.xml" Id="R6769fa1869d94e66" /><Relationship Type="http://schemas.openxmlformats.org/officeDocument/2006/relationships/slideLayout" Target="/ppt/slideLayouts/slideLayout6.xml" Id="R913a3292d2d0402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08c66d0a174aa8"/>
    <p:sldLayoutId xmlns:r="http://schemas.openxmlformats.org/officeDocument/2006/relationships" id="2147483650" r:id="Rf09f9acc8e384615"/>
    <p:sldLayoutId xmlns:r="http://schemas.openxmlformats.org/officeDocument/2006/relationships" id="2147483651" r:id="R38732a9f21834a1f"/>
    <p:sldLayoutId xmlns:r="http://schemas.openxmlformats.org/officeDocument/2006/relationships" id="2147483652" r:id="R2b216ccea9d240e8"/>
    <p:sldLayoutId xmlns:r="http://schemas.openxmlformats.org/officeDocument/2006/relationships" id="2147483653" r:id="R6769fa1869d94e66"/>
    <p:sldLayoutId xmlns:r="http://schemas.openxmlformats.org/officeDocument/2006/relationships" id="2147483654" r:id="R913a3292d2d0402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71c099fff6a4825" /><Relationship Type="http://schemas.openxmlformats.org/officeDocument/2006/relationships/notesSlide" Target="/ppt/notesSlides/notesSlide1.xml" Id="R054601ed8d3540b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501c45594741" /><Relationship Type="http://schemas.openxmlformats.org/officeDocument/2006/relationships/notesSlide" Target="/ppt/notesSlides/notesSlide2.xml" Id="R0792d558b95e43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25a3ce519234b90" /><Relationship Type="http://schemas.openxmlformats.org/officeDocument/2006/relationships/notesSlide" Target="/ppt/notesSlides/notesSlide3.xml" Id="Rb514decb73484ea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397c639bbef4512" /><Relationship Type="http://schemas.openxmlformats.org/officeDocument/2006/relationships/notesSlide" Target="/ppt/notesSlides/notesSlide4.xml" Id="R9ed506f443de43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ba8da1927f45a9" /><Relationship Type="http://schemas.openxmlformats.org/officeDocument/2006/relationships/notesSlide" Target="/ppt/notesSlides/notesSlide5.xml" Id="Re641b4ca00c342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e4c222895e431c" /><Relationship Type="http://schemas.openxmlformats.org/officeDocument/2006/relationships/notesSlide" Target="/ppt/notesSlides/notesSlide6.xml" Id="R3a4bc4e2a98144b1"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d7568b96f7c4145" /><Relationship Type="http://schemas.openxmlformats.org/officeDocument/2006/relationships/notesSlide" Target="/ppt/notesSlides/notesSlide7.xml" Id="Rf30cb7a1eeaf44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e1b96c893854980" /><Relationship Type="http://schemas.openxmlformats.org/officeDocument/2006/relationships/notesSlide" Target="/ppt/notesSlides/notesSlide8.xml" Id="Rf5f742cd2639479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9ca9e01a383416e" /><Relationship Type="http://schemas.openxmlformats.org/officeDocument/2006/relationships/notesSlide" Target="/ppt/notesSlides/notesSlide9.xml" Id="Rf1933de1103a4b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e447dff070046dd" /><Relationship Type="http://schemas.openxmlformats.org/officeDocument/2006/relationships/notesSlide" Target="/ppt/notesSlides/notesSlide10.xml" Id="R0312392ad9834e9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3ff337187dc46e3" /><Relationship Type="http://schemas.openxmlformats.org/officeDocument/2006/relationships/notesSlide" Target="/ppt/notesSlides/notesSlide11.xml" Id="R3991099c1c6e4a2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7fd3de9e1204d07" /><Relationship Type="http://schemas.openxmlformats.org/officeDocument/2006/relationships/notesSlide" Target="/ppt/notesSlides/notesSlide12.xml" Id="R3c6263a1977f48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2c5b9f09bb54acd" /><Relationship Type="http://schemas.openxmlformats.org/officeDocument/2006/relationships/notesSlide" Target="/ppt/notesSlides/notesSlide13.xml" Id="R7e766ed4b6f24b0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b7b5da2be74cfd" /><Relationship Type="http://schemas.openxmlformats.org/officeDocument/2006/relationships/notesSlide" Target="/ppt/notesSlides/notesSlide14.xml" Id="R8304ad583f4942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676949f84ed47f3" /><Relationship Type="http://schemas.openxmlformats.org/officeDocument/2006/relationships/notesSlide" Target="/ppt/notesSlides/notesSlide15.xml" Id="R275575e38b264034"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2DE1CAD0-6095-4A68-BFA9-74D0144AB89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2">
            <a:extLst xmlns:a="http://schemas.openxmlformats.org/drawingml/2006/main">
              <a:ext uri="{FF2B5EF4-FFF2-40B4-BE49-F238E27FC236}">
                <a16:creationId xmlns:a16="http://schemas.microsoft.com/office/drawing/2014/main" id="{CC96DDEA-0820-4268-BEC1-73E30566D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
            <a:extLst xmlns:a="http://schemas.openxmlformats.org/drawingml/2006/main">
              <a:ext uri="{FF2B5EF4-FFF2-40B4-BE49-F238E27FC236}">
                <a16:creationId xmlns:a16="http://schemas.microsoft.com/office/drawing/2014/main" id="{C08634E6-29B3-44E0-9B6E-D35F57DCD710}"/>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FD8DD93D-48A3-43E7-A22E-B6CF897FF49F}"/>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A992FA36-DD4A-4AD3-9ED4-D329ED79F57F}"/>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34E1CC7C-62CA-4B6D-B6E3-D5D96D6D74F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C3AFA5EF-6CE1-4C33-BD90-0B731826C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235870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3">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4">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5">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6">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07">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51EDC52-8475-4F96-86AF-E919B9889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8">
            <a:extLst xmlns:a="http://schemas.openxmlformats.org/drawingml/2006/main">
              <a:ext uri="{FF2B5EF4-FFF2-40B4-BE49-F238E27FC236}">
                <a16:creationId xmlns:a16="http://schemas.microsoft.com/office/drawing/2014/main" id="{47C8FE52-7423-40C4-A639-F44808F2DC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모델·플랫폼이 바뀌면 Harness도 다시 본다">
            <a:extLst xmlns:a="http://schemas.openxmlformats.org/drawingml/2006/main">
              <a:ext uri="{FF2B5EF4-FFF2-40B4-BE49-F238E27FC236}">
                <a16:creationId xmlns:a16="http://schemas.microsoft.com/office/drawing/2014/main" id="{B149D998-1608-4E51-AA9E-FFF5AAE98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98ACF8E-E3A5-4A6A-98E9-93F0FF1FDB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D6368B7-9853-4BCB-A4B5-A548D03295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28578BC4-735D-4490-9823-4717918195E6}"/>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707DE67F-47B7-49F5-BC56-144197086D4F}"/>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99275A8A-F035-4A52-8BA3-E100841A0C7B}"/>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9E29E4-6634-4B6F-9C7C-D321BCD4FFCD}"/>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2E3944AB-DE00-4E8A-89F1-7F73D4010EF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3FC241E0-7EF7-40A2-8586-6AA3B8AC6951}"/>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85EE2AF6-71FC-4B77-AE4E-DEF5DED02307}"/>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A0656EDC-9AC5-4814-ABE7-8619D5E2C68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051FBE3F-D923-4E4A-9046-01421DB39357}"/>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016C07C4-80F7-4BF0-88A1-AE6642D3660E}"/>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A144BFE6-27A0-48AA-99FA-865E0184F3D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811399C1-D913-402B-A327-D9CD0485AC6C}"/>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E0562641-C321-4210-A730-EC994FB9AC11}"/>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49985588-1870-447E-BC59-A810FC866057}"/>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915F55BD-79EB-406C-94F9-8BE9BDC0882A}"/>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21FA23E-4667-4B0B-9FBD-55A15DD587CD}"/>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355C056F-8765-4BA0-916B-1747905CC6A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18B93D3B-E541-42CF-948F-ED5A5547A19A}"/>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EE7D8AA5-8E4B-4875-9459-F2DD2817665B}"/>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BC4AC3E-1685-4B4B-82FF-00B0E4F4BD1E}"/>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DD74DF24-F5B4-4E54-A94D-E22EC52DE1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611C0E7-8C35-4239-BECA-E7F628A52588}"/>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1D02F98D-FC56-40DB-9C68-6363E3B8AF3E}"/>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777A8B5-6009-4A4E-BD72-458478CCFB1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F1E4D7BC-17EB-490C-A369-980C83036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72034863"/>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1942218-62CA-4BFA-A13E-F996F89FD3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9">
            <a:extLst xmlns:a="http://schemas.openxmlformats.org/drawingml/2006/main">
              <a:ext uri="{FF2B5EF4-FFF2-40B4-BE49-F238E27FC236}">
                <a16:creationId xmlns:a16="http://schemas.microsoft.com/office/drawing/2014/main" id="{CB450B4B-983F-432A-BE0E-B76ED79CB8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무엇을 남기고, 무엇을 덜어낼까?">
            <a:extLst xmlns:a="http://schemas.openxmlformats.org/drawingml/2006/main">
              <a:ext uri="{FF2B5EF4-FFF2-40B4-BE49-F238E27FC236}">
                <a16:creationId xmlns:a16="http://schemas.microsoft.com/office/drawing/2014/main" id="{20B68103-E5AC-4CEB-998C-95CAAE626B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F7583117-D089-42AF-800D-7A615252EE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ED005C3-00E5-41E8-9336-45E72FDEDE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3EEEA72E-7FC5-4DB0-A2E2-2B7699C2401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87641E5F-DD6C-4AA8-9A2B-45DA163D524F}"/>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B02FCC0F-3AD3-4826-AAA5-B019793CF2A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EEBE44F0-8BE2-4A91-A870-2691A89A9630}"/>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F13B1639-E520-472B-B450-0F47DB2AF4CA}"/>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BF2AED61-4620-4CB6-8C2D-0425EFE308A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19CA3FD-D5A0-44E7-9090-B787EA30AD51}"/>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43E8005-3332-4921-B59A-BFF2B0EC7B4C}"/>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48E50073-67C2-47C8-A799-6D82A50D8427}"/>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90E67630-2442-4375-A1AF-6685A85FB1C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2233BCE5-09B3-4986-96D8-C0AF6A1B00E8}"/>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33F62D79-939E-458C-8C91-9C964D339C09}"/>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13AC2561-19AD-4B6A-AE13-94ECB0E1CC27}"/>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BD9DA80F-C78E-4F9F-B6A1-D8C0F7A49CAF}"/>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DA9112B4-F192-4E8E-966F-2E25A2D113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6C0184F-A3A3-46EC-8EDD-301373821A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EFBE264E-B286-44FA-94E4-EA94E9A58C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82565"/>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4DCCE11A-37EB-4F4D-950F-6F7D2674E3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0">
            <a:extLst xmlns:a="http://schemas.openxmlformats.org/drawingml/2006/main">
              <a:ext uri="{FF2B5EF4-FFF2-40B4-BE49-F238E27FC236}">
                <a16:creationId xmlns:a16="http://schemas.microsoft.com/office/drawing/2014/main" id="{AA8482D3-138F-456B-AA96-8FC134C176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덜어낸 뒤에도 필요한 일을 하는가?">
            <a:extLst xmlns:a="http://schemas.openxmlformats.org/drawingml/2006/main">
              <a:ext uri="{FF2B5EF4-FFF2-40B4-BE49-F238E27FC236}">
                <a16:creationId xmlns:a16="http://schemas.microsoft.com/office/drawing/2014/main" id="{FE2D5884-2806-47A6-980C-D745249DBB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83215E3C-6177-49E6-B313-7580FDE8F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85F9F9-8D88-4A6E-9412-881740FD7B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BC649997-9D75-4AAB-B8F1-7D773A6280B1}"/>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4F150E79-9D26-4DE4-B608-D889DEF6C98C}"/>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23CEC7C4-D73E-4816-8260-3772E3A45ED2}"/>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A0EAA22F-C880-4752-80F9-9B6832A1ED40}"/>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C750AB9E-C1C2-4D48-87F3-DF22D1CC8CB6}"/>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70802D7C-2942-4F23-90DD-C0CADF6B3657}"/>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5C8C47-98B5-4CE6-A2D9-29851786915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DA700E7E-41EA-47E4-BC1C-B16B8356B886}"/>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67AA9532-F72C-4AC1-B497-3C3F96D7628C}"/>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C3C8AE7E-98B1-4B20-9DCF-05BE7CEE37C3}"/>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C749943F-7542-42EA-B1DB-519B33DF3DB0}"/>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D37AB5CD-C2D5-411C-AC46-61C8501E75B8}"/>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C50A5B4-B37D-4E64-83F8-3CFFEDF63C5A}"/>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AA2DAC6-29D6-4D37-894A-7475E953517E}"/>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F77866B5-D768-4E36-8210-A9315CDCA1A3}"/>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CE94162A-00AD-4651-AE72-BC2B4AE3B0E0}"/>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7338C02B-3F77-4CA3-AA45-A8827A17525A}"/>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AF1C33CB-3650-43E7-AD09-BD0497E61F9A}"/>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77B7C365-51DB-479A-8307-65F577D49000}"/>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C40D4B46-D198-47E5-A9A2-97CC2FC3C2D8}"/>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BB8EF6C8-264A-412E-AFE9-7765EA6C0680}"/>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D3F43F1E-BD14-41D0-BC75-048707571054}"/>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376ED4FB-E743-4A6E-BEC0-F0CDB5AD5004}"/>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EEA4C063-FC7A-4725-B1DF-15ACDE025416}"/>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1EC1F1B0-2EE8-4CB5-8004-1B989BD8912A}"/>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9040F1B2-6F6C-441C-A4D5-6BAE56771BE8}"/>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3F4B237A-78FE-488F-94FE-72E37526DEF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5B2AA04D-B84C-480E-B67C-B98B690B4A1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2AC6202-9AA4-49F3-A4A0-63AC2B0EBC8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64255DCB-66FD-4ED7-A85E-9573A676E3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1805639"/>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53764389-CA6D-42F3-A85A-1FF3EA599C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1">
            <a:extLst xmlns:a="http://schemas.openxmlformats.org/drawingml/2006/main">
              <a:ext uri="{FF2B5EF4-FFF2-40B4-BE49-F238E27FC236}">
                <a16:creationId xmlns:a16="http://schemas.microsoft.com/office/drawing/2014/main" id="{A9842413-C022-4025-84E6-B6B9C27A59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내 업무에서는 무엇이 반복해서 막힐까?">
            <a:extLst xmlns:a="http://schemas.openxmlformats.org/drawingml/2006/main">
              <a:ext uri="{FF2B5EF4-FFF2-40B4-BE49-F238E27FC236}">
                <a16:creationId xmlns:a16="http://schemas.microsoft.com/office/drawing/2014/main" id="{5566D187-7E93-4D75-A9B9-AEB7F37E1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27C71A2D-1E4A-420D-B001-3C6FE56554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769140BA-9B44-4AED-807E-30D754763985}"/>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2AFE2AF5-FF18-4F93-BC2B-2512F5EFE08C}"/>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116D272-88E9-451E-B611-EA4A3EB14A9C}"/>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AFCE260-3AFA-4FB0-971E-95A30F29BA3A}"/>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C6C5B1D6-FEE2-4DA9-AB43-864D923D78A6}"/>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F41CDE00-F44E-4AA9-8A33-85D26B327806}"/>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13F95CC-B604-446C-8B8E-7C4253B576EF}"/>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E2E5334C-EE15-4B7B-BE2B-528FC476E23E}"/>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5B108F4C-4C19-47AC-A503-D9FEAD5CB98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154660A7-C9B3-49E9-88CC-B61A24A7592C}"/>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755B935D-6F6B-4B9D-B5B2-8F78211AA529}"/>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7216AC52-0827-4F46-9E16-561D8427A1D2}"/>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2B9E37E-88CB-4ECA-8276-064E0840C58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0BC50B-611E-47E0-AE79-3E40FA4386DC}"/>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839C4293-FE97-4BB8-837F-51270ACC570D}"/>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3109AF27-1779-4298-8027-FDC81CD1BC37}"/>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70087ECF-794B-4C8B-8410-8340CC3B017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76D40B5-642D-419B-9F94-694087E29279}"/>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C6846741-2849-4914-A669-926D76E67098}"/>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05F343A-FD57-4F91-9311-E2C71F887555}"/>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24855F0C-7D0A-4196-AF0D-70839492C980}"/>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3F60CE94-AB56-4D91-A16F-267DEBA0D0C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30CCAF06-B362-43FD-881A-48F0F324A06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9CEBF04E-CD6E-4587-BA6E-80F49F39A1DD}"/>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A1E17455-79AA-4CDF-B22C-38AA3B5681E5}"/>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6A908B48-960D-4356-AFAE-41EE9EC3F05F}"/>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4DD37D8C-3D73-494D-B01C-2D80271CFD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25171446"/>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B6EBE041-7DF6-4675-89F2-4C0585A4DA2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2">
            <a:extLst xmlns:a="http://schemas.openxmlformats.org/drawingml/2006/main">
              <a:ext uri="{FF2B5EF4-FFF2-40B4-BE49-F238E27FC236}">
                <a16:creationId xmlns:a16="http://schemas.microsoft.com/office/drawing/2014/main" id="{8BFEA03A-93CC-408B-9B1F-3AC470AA52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고른 문제에서, 다음 행동 하나로">
            <a:extLst xmlns:a="http://schemas.openxmlformats.org/drawingml/2006/main">
              <a:ext uri="{FF2B5EF4-FFF2-40B4-BE49-F238E27FC236}">
                <a16:creationId xmlns:a16="http://schemas.microsoft.com/office/drawing/2014/main" id="{78D3411C-D948-4F99-B14B-EADFC9F31B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0C5F10DA-AE82-40BB-84AE-62F9548E45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B7D4CC2-C4D8-46BC-83D3-D98FF7B0D6A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4ECD836D-B2C0-49E0-8BFA-8475EDB93334}"/>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0D584D0-D5B3-413F-95D8-6B9991032B6D}"/>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54A0F59-4A0E-469E-B54A-87FBDA5CC5AE}"/>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1605CFC-8205-435D-AD34-D2CC05AD2E45}"/>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E880714-5269-4430-995E-04946BE3FD02}"/>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8F305432-1537-4F0D-8067-8E671A83948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7C7154D0-A02E-47AD-A567-E948028BD892}"/>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B649E4A0-EFBD-4C4C-BE82-518EAC9AB7B8}"/>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A3903CA-D0B4-4200-B078-511D960F8D95}"/>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75462D0-B679-4A71-94F1-58DE0FAC115B}"/>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8BBAEC0-8C82-4614-9F8D-5DEAF602A117}"/>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0A716833-3119-4E58-823F-789D6E211CD4}"/>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6C217787-49EC-4B2A-A99F-F44B6BC05055}"/>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A2BAF22A-515F-4227-BF3D-51DF6D0095B5}"/>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53A2AAA-5FD5-4E98-B285-0AAA7F9D58BF}"/>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97FD1530-5FED-4ED6-B6A0-3FB2AE2C4A4A}"/>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07FD4EC9-C4AB-481A-B969-65CFB95895FE}"/>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35444C59-369E-4896-AB40-A4A1E4798056}"/>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10BA8FC-B147-472F-AC04-97775FC2831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FBBB359F-FC54-4C68-8AC8-22FCFDF314A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8E8972EA-DEC0-41CD-837F-F27C72B40804}"/>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383F1879-6495-4A42-A591-F4971F55B4C0}"/>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1D776527-92DA-4B75-8E8C-98F2BD45021E}"/>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92A125EA-6BF5-4FB6-8E8E-642426FA8649}"/>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0FDC1BCF-DEE4-4302-915A-1D5472364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386619352"/>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1/3">
            <a:extLst xmlns:a="http://schemas.openxmlformats.org/drawingml/2006/main">
              <a:ext uri="{FF2B5EF4-FFF2-40B4-BE49-F238E27FC236}">
                <a16:creationId xmlns:a16="http://schemas.microsoft.com/office/drawing/2014/main" id="{AB33795F-89EB-4D3C-9EE4-2C306E3689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3">
            <a:extLst xmlns:a="http://schemas.openxmlformats.org/drawingml/2006/main">
              <a:ext uri="{FF2B5EF4-FFF2-40B4-BE49-F238E27FC236}">
                <a16:creationId xmlns:a16="http://schemas.microsoft.com/office/drawing/2014/main" id="{F16B4E24-ABB2-4E87-94C7-3EA5A2F577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실무 적용 팁 · 작업 환경과 기준">
            <a:extLst xmlns:a="http://schemas.openxmlformats.org/drawingml/2006/main">
              <a:ext uri="{FF2B5EF4-FFF2-40B4-BE49-F238E27FC236}">
                <a16:creationId xmlns:a16="http://schemas.microsoft.com/office/drawing/2014/main" id="{8110A1D8-A934-4637-9454-E8606C4B4E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4A83DAAF-2729-45DB-AADA-392E27FB7F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AA33D51-4DEA-4E50-B1C7-E51626706DF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B9BBC062-BEC5-4B41-B076-1AF43478A85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AFF01B4-2E8F-40CD-94C5-3C2C2B50A86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AB93BDC5-2EA5-4AE9-8293-B4D2498BA726}"/>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6BDD6D5-0363-4AF9-9964-7C8694C76B0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EBE82B44-D774-4872-A773-EC6759C8153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3" name="Repository 작업은 Codex에서 시작한다">
            <a:extLst xmlns:a="http://schemas.openxmlformats.org/drawingml/2006/main">
              <a:ext uri="{FF2B5EF4-FFF2-40B4-BE49-F238E27FC236}">
                <a16:creationId xmlns:a16="http://schemas.microsoft.com/office/drawing/2014/main" id="{6AE7E016-E241-4100-8C69-17DF3A24219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633A1DA0-93F3-4149-9E47-42A7E94D2E1E}"/>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95D217E-551F-48AE-88FB-59C699A8478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2E205A01-370A-4B6D-AFE0-707217C0F0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S49</a:t>
            </a:r>
          </a:p>
        </p:txBody>
      </p:sp>
      <p:sp>
        <p:nvSpPr>
          <p:cNvPr id="17" name="AGENTS.md에는 무엇을 남길까?">
            <a:extLst xmlns:a="http://schemas.openxmlformats.org/drawingml/2006/main">
              <a:ext uri="{FF2B5EF4-FFF2-40B4-BE49-F238E27FC236}">
                <a16:creationId xmlns:a16="http://schemas.microsoft.com/office/drawing/2014/main" id="{08394634-BE6E-4143-AB02-63D35A9E19CE}"/>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FD5B9B57-CC0A-4977-A172-0FE62B1DDD2F}"/>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EE4C459-F5F5-45CF-ACBA-8484F49C0497}"/>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03EC8001-6FB4-4AB0-B5C3-C3BF9E819688}"/>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S59</a:t>
            </a:r>
          </a:p>
        </p:txBody>
      </p:sp>
      <p:sp>
        <p:nvSpPr>
          <p:cNvPr id="21" name="테스트 명령을 언제 쓰고 무엇을 판단할까?">
            <a:extLst xmlns:a="http://schemas.openxmlformats.org/drawingml/2006/main">
              <a:ext uri="{FF2B5EF4-FFF2-40B4-BE49-F238E27FC236}">
                <a16:creationId xmlns:a16="http://schemas.microsoft.com/office/drawing/2014/main" id="{8023BF51-D28C-4379-BD1D-87E2575209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5194EA86-651A-4671-A4A1-FAB4AA85BBEE}"/>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2887B636-3061-4534-A77A-7AD8754AFED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3">
            <a:extLst xmlns:a="http://schemas.openxmlformats.org/drawingml/2006/main">
              <a:ext uri="{FF2B5EF4-FFF2-40B4-BE49-F238E27FC236}">
                <a16:creationId xmlns:a16="http://schemas.microsoft.com/office/drawing/2014/main" id="{9644105E-D533-4B9B-9EA7-0E023FAACA47}"/>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S64</a:t>
            </a:r>
          </a:p>
        </p:txBody>
      </p:sp>
      <p:sp>
        <p:nvSpPr>
          <p:cNvPr id="25" name="대화로 재사용할 Skill 만들기">
            <a:extLst xmlns:a="http://schemas.openxmlformats.org/drawingml/2006/main">
              <a:ext uri="{FF2B5EF4-FFF2-40B4-BE49-F238E27FC236}">
                <a16:creationId xmlns:a16="http://schemas.microsoft.com/office/drawing/2014/main" id="{CDDAD4B4-700B-4AE4-9C81-67AD562A20CB}"/>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재사용할 Skill 만들기</a:t>
            </a:r>
          </a:p>
        </p:txBody>
      </p:sp>
      <p:sp>
        <p:nvSpPr>
          <p:cNvPr id="26" name="">
            <a:extLst xmlns:a="http://schemas.openxmlformats.org/drawingml/2006/main">
              <a:ext uri="{FF2B5EF4-FFF2-40B4-BE49-F238E27FC236}">
                <a16:creationId xmlns:a16="http://schemas.microsoft.com/office/drawing/2014/main" id="{F405C5E1-26F7-4959-817B-38244F00DDC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4FAFC349-CFB0-4838-8DE2-ED0CF005EC2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68">
            <a:extLst xmlns:a="http://schemas.openxmlformats.org/drawingml/2006/main">
              <a:ext uri="{FF2B5EF4-FFF2-40B4-BE49-F238E27FC236}">
                <a16:creationId xmlns:a16="http://schemas.microsoft.com/office/drawing/2014/main" id="{09DC94E3-14C9-440C-922C-AFBFC2C0DA0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S69</a:t>
            </a:r>
          </a:p>
        </p:txBody>
      </p:sp>
      <p:sp>
        <p:nvSpPr>
          <p:cNvPr id="29" name="대화로 조사 Agent 만들기">
            <a:extLst xmlns:a="http://schemas.openxmlformats.org/drawingml/2006/main">
              <a:ext uri="{FF2B5EF4-FFF2-40B4-BE49-F238E27FC236}">
                <a16:creationId xmlns:a16="http://schemas.microsoft.com/office/drawing/2014/main" id="{24319486-0AD7-41FB-979C-FFC34F617D9B}"/>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대화로 조사 Agent 만들기</a:t>
            </a:r>
          </a:p>
        </p:txBody>
      </p:sp>
      <p:sp>
        <p:nvSpPr>
          <p:cNvPr id="30" name="">
            <a:extLst xmlns:a="http://schemas.openxmlformats.org/drawingml/2006/main">
              <a:ext uri="{FF2B5EF4-FFF2-40B4-BE49-F238E27FC236}">
                <a16:creationId xmlns:a16="http://schemas.microsoft.com/office/drawing/2014/main" id="{8BACBCD5-7062-4610-9599-C29F9F39AA6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F1C86927-CAA8-47E5-813A-8CB7BA9AD626}"/>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70">
            <a:extLst xmlns:a="http://schemas.openxmlformats.org/drawingml/2006/main">
              <a:ext uri="{FF2B5EF4-FFF2-40B4-BE49-F238E27FC236}">
                <a16:creationId xmlns:a16="http://schemas.microsoft.com/office/drawing/2014/main" id="{DC929ABA-1170-4FAF-9FF3-D158E0D8FCFC}"/>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3" name="이번 Context와 다시 쓸 지식">
            <a:extLst xmlns:a="http://schemas.openxmlformats.org/drawingml/2006/main">
              <a:ext uri="{FF2B5EF4-FFF2-40B4-BE49-F238E27FC236}">
                <a16:creationId xmlns:a16="http://schemas.microsoft.com/office/drawing/2014/main" id="{0F22F3B4-D8C1-447E-AD49-873F508E2829}"/>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34" name="">
            <a:extLst xmlns:a="http://schemas.openxmlformats.org/drawingml/2006/main">
              <a:ext uri="{FF2B5EF4-FFF2-40B4-BE49-F238E27FC236}">
                <a16:creationId xmlns:a16="http://schemas.microsoft.com/office/drawing/2014/main" id="{1D5A4576-62D6-46F9-A11E-84365BB2BE61}"/>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6D9FBCF-BBA9-42F6-98DA-45096597B875}"/>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80">
            <a:extLst xmlns:a="http://schemas.openxmlformats.org/drawingml/2006/main">
              <a:ext uri="{FF2B5EF4-FFF2-40B4-BE49-F238E27FC236}">
                <a16:creationId xmlns:a16="http://schemas.microsoft.com/office/drawing/2014/main" id="{F30F58B2-E5B0-45FB-9928-0726ECD54DC0}"/>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S81</a:t>
            </a:r>
          </a:p>
        </p:txBody>
      </p:sp>
      <p:sp>
        <p:nvSpPr>
          <p:cNvPr id="37" name="다음 수정에 넘길 기록">
            <a:extLst xmlns:a="http://schemas.openxmlformats.org/drawingml/2006/main">
              <a:ext uri="{FF2B5EF4-FFF2-40B4-BE49-F238E27FC236}">
                <a16:creationId xmlns:a16="http://schemas.microsoft.com/office/drawing/2014/main" id="{4AE598C5-7DF3-490C-AB89-8091656B60B3}"/>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다음 수정에 넘길 기록</a:t>
            </a:r>
          </a:p>
        </p:txBody>
      </p:sp>
      <p:sp>
        <p:nvSpPr>
          <p:cNvPr id="38" name="">
            <a:extLst xmlns:a="http://schemas.openxmlformats.org/drawingml/2006/main">
              <a:ext uri="{FF2B5EF4-FFF2-40B4-BE49-F238E27FC236}">
                <a16:creationId xmlns:a16="http://schemas.microsoft.com/office/drawing/2014/main" id="{B41F0E43-A440-487F-AF68-0CE20764F3E4}"/>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10DA62E-E781-4FE6-B4B6-97B3897BF6E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99">
            <a:extLst xmlns:a="http://schemas.openxmlformats.org/drawingml/2006/main">
              <a:ext uri="{FF2B5EF4-FFF2-40B4-BE49-F238E27FC236}">
                <a16:creationId xmlns:a16="http://schemas.microsoft.com/office/drawing/2014/main" id="{4456D7D3-420D-4707-B740-76A68FECAEE5}"/>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S100</a:t>
            </a:r>
          </a:p>
        </p:txBody>
      </p:sp>
      <p:sp>
        <p:nvSpPr>
          <p:cNvPr id="41" name="Goal이 목표와 다음 작업을 이어준다">
            <a:extLst xmlns:a="http://schemas.openxmlformats.org/drawingml/2006/main">
              <a:ext uri="{FF2B5EF4-FFF2-40B4-BE49-F238E27FC236}">
                <a16:creationId xmlns:a16="http://schemas.microsoft.com/office/drawing/2014/main" id="{1FA8EB86-5CF8-4A6E-891C-20A102731EB8}"/>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Goal이 목표와 다음 작업을 이어준다</a:t>
            </a:r>
          </a:p>
        </p:txBody>
      </p:sp>
      <p:sp>
        <p:nvSpPr>
          <p:cNvPr id="42" name="Legacy module connection">
            <a:extLst xmlns:a="http://schemas.openxmlformats.org/drawingml/2006/main">
              <a:ext uri="{FF2B5EF4-FFF2-40B4-BE49-F238E27FC236}">
                <a16:creationId xmlns:a16="http://schemas.microsoft.com/office/drawing/2014/main" id="{3C7739A4-4169-4CCC-AB49-A90D3DB7FC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6669324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E1A99FB8-A537-4852-BF2A-F574C959C9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4">
            <a:extLst xmlns:a="http://schemas.openxmlformats.org/drawingml/2006/main">
              <a:ext uri="{FF2B5EF4-FFF2-40B4-BE49-F238E27FC236}">
                <a16:creationId xmlns:a16="http://schemas.microsoft.com/office/drawing/2014/main" id="{06D83FC2-17C4-4DFF-8787-C926E14167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실무 적용 팁 · 요청 작성">
            <a:extLst xmlns:a="http://schemas.openxmlformats.org/drawingml/2006/main">
              <a:ext uri="{FF2B5EF4-FFF2-40B4-BE49-F238E27FC236}">
                <a16:creationId xmlns:a16="http://schemas.microsoft.com/office/drawing/2014/main" id="{F6465331-F6A7-4E7B-A46C-BF7752CD4B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E9F9BE26-94C7-49DB-8B48-4931B8081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CA340D33-FCD1-41E6-8E5D-99CAFAFF7B6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0514AB39-4475-4BC1-A7E7-1FA6D9C9F5A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AAD29AC-030D-4780-9121-E65F203640E9}"/>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B74B8B99-B0B5-47D9-9669-EFB34A44C80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8FB5B38-BA65-4316-A1B5-23228FE345B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3BEF6D47-B122-4B31-9957-D39790DE966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3" name="지시와 참고 자료의 구분">
            <a:extLst xmlns:a="http://schemas.openxmlformats.org/drawingml/2006/main">
              <a:ext uri="{FF2B5EF4-FFF2-40B4-BE49-F238E27FC236}">
                <a16:creationId xmlns:a16="http://schemas.microsoft.com/office/drawing/2014/main" id="{569429B2-DBA6-415C-8809-AD30CF1B01BD}"/>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30E118E9-8628-4808-8168-442439B8D6D1}"/>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15C22316-CD43-4AB4-BE02-47746E6F6DDE}"/>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76A71179-841C-4FAD-8C22-7F1C652D1AE1}"/>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7" name="입력과 기대 결과의 작은 예시">
            <a:extLst xmlns:a="http://schemas.openxmlformats.org/drawingml/2006/main">
              <a:ext uri="{FF2B5EF4-FFF2-40B4-BE49-F238E27FC236}">
                <a16:creationId xmlns:a16="http://schemas.microsoft.com/office/drawing/2014/main" id="{73E99896-E16E-44E6-821C-0575DECF7401}"/>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3A10C05D-2234-463D-A024-4E36D585D514}"/>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413AB19-0384-472F-8D39-F6CC933D814A}"/>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FB9D4D0-279C-4FF6-8991-98ACDFB1C0FD}"/>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1" name="바로 검토할 수 있는 결과 형식">
            <a:extLst xmlns:a="http://schemas.openxmlformats.org/drawingml/2006/main">
              <a:ext uri="{FF2B5EF4-FFF2-40B4-BE49-F238E27FC236}">
                <a16:creationId xmlns:a16="http://schemas.microsoft.com/office/drawing/2014/main" id="{E3CC9C6B-053B-4F9E-B9A9-7D5CE6DD9AD1}"/>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C0F4BD2C-B233-4C64-A3FB-BD903CCDAD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044F261-97D1-499A-91CD-69859486969E}"/>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6910D1D7-55EF-4507-981C-F78586C8E99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5" name="근거가 있는 설명과 미확인의 구분">
            <a:extLst xmlns:a="http://schemas.openxmlformats.org/drawingml/2006/main">
              <a:ext uri="{FF2B5EF4-FFF2-40B4-BE49-F238E27FC236}">
                <a16:creationId xmlns:a16="http://schemas.microsoft.com/office/drawing/2014/main" id="{A9CF4398-D07B-47CF-937E-02C9B8A05CC2}"/>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CB19D909-7DDF-4343-B9EC-20EBA0C2040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59D3314-423F-4BC6-AD4F-4B5A91D73028}"/>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AC56D162-D4E4-47F1-85E7-86B1998B89DE}"/>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9" name="결과를 바꾸는 결정에서 확인 질문">
            <a:extLst xmlns:a="http://schemas.openxmlformats.org/drawingml/2006/main">
              <a:ext uri="{FF2B5EF4-FFF2-40B4-BE49-F238E27FC236}">
                <a16:creationId xmlns:a16="http://schemas.microsoft.com/office/drawing/2014/main" id="{11509563-A2C1-47A3-A18C-077CFE8A8871}"/>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00BCDAB2-5B67-4BA9-B023-F9059D897957}"/>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B6A18BF2-22AC-4505-8E3A-A7F6A6C328B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4DD9A218-9AD6-4555-9E4C-2657561E1040}"/>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3" name="큰 작업을 검토할 결과물로 나누기">
            <a:extLst xmlns:a="http://schemas.openxmlformats.org/drawingml/2006/main">
              <a:ext uri="{FF2B5EF4-FFF2-40B4-BE49-F238E27FC236}">
                <a16:creationId xmlns:a16="http://schemas.microsoft.com/office/drawing/2014/main" id="{D9CFD49C-27E6-4287-958F-DDBE96E4EDAA}"/>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67F5F122-EA3C-4E02-A86B-944073925F24}"/>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3A6B7FBF-431D-49BF-88FB-C099395AF36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4C112F2-2743-4800-A947-1EE63F5F658A}"/>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7" name="기준을 지정한 코드 리뷰 요청">
            <a:extLst xmlns:a="http://schemas.openxmlformats.org/drawingml/2006/main">
              <a:ext uri="{FF2B5EF4-FFF2-40B4-BE49-F238E27FC236}">
                <a16:creationId xmlns:a16="http://schemas.microsoft.com/office/drawing/2014/main" id="{C404CB63-5657-42E1-8497-3C1680316A7B}"/>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E38240CE-8BE1-40AE-B99F-0940C3A06501}"/>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81AAF58E-009B-4DE5-A318-7809F290C966}"/>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494C4F0-1231-45F2-9AE1-775589EACD03}"/>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41" name="구체적인 근거로 수정 방향 피드백">
            <a:extLst xmlns:a="http://schemas.openxmlformats.org/drawingml/2006/main">
              <a:ext uri="{FF2B5EF4-FFF2-40B4-BE49-F238E27FC236}">
                <a16:creationId xmlns:a16="http://schemas.microsoft.com/office/drawing/2014/main" id="{1B6E7F76-22B3-4DA2-95C6-424DE8061529}"/>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85210F0B-7273-4DF0-88B4-9D4CFC5FA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95993315"/>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8E7ADB0B-AEED-4A97-AED0-F907E34605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5">
            <a:extLst xmlns:a="http://schemas.openxmlformats.org/drawingml/2006/main">
              <a:ext uri="{FF2B5EF4-FFF2-40B4-BE49-F238E27FC236}">
                <a16:creationId xmlns:a16="http://schemas.microsoft.com/office/drawing/2014/main" id="{B0A6FB8A-F3CD-4B99-98E8-C0FF609A4E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검증과 개선">
            <a:extLst xmlns:a="http://schemas.openxmlformats.org/drawingml/2006/main">
              <a:ext uri="{FF2B5EF4-FFF2-40B4-BE49-F238E27FC236}">
                <a16:creationId xmlns:a16="http://schemas.microsoft.com/office/drawing/2014/main" id="{24ECC0BB-1422-496C-B110-73A1DEF482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55335EA6-68FC-47F7-B7B5-DFE4D8F13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B62B85D3-8E29-472D-8201-85EF74AB9CC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7C9E66C-A405-4B8B-9572-EB5D885C8C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313CDE4-6D59-4DBC-9CCD-16E8CBAB1D4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8AC1634A-AEAB-4267-917C-A1E65D34E7EC}"/>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DAA08E6-2936-40C6-A275-C3DA8852C4A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7">
            <a:extLst xmlns:a="http://schemas.openxmlformats.org/drawingml/2006/main">
              <a:ext uri="{FF2B5EF4-FFF2-40B4-BE49-F238E27FC236}">
                <a16:creationId xmlns:a16="http://schemas.microsoft.com/office/drawing/2014/main" id="{5402C34B-3BA1-4535-A093-5E72F5B1EA8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S88</a:t>
            </a:r>
          </a:p>
        </p:txBody>
      </p:sp>
      <p:sp>
        <p:nvSpPr>
          <p:cNvPr id="13" name="모델 B는 무엇을 근거로 검토할까?">
            <a:extLst xmlns:a="http://schemas.openxmlformats.org/drawingml/2006/main">
              <a:ext uri="{FF2B5EF4-FFF2-40B4-BE49-F238E27FC236}">
                <a16:creationId xmlns:a16="http://schemas.microsoft.com/office/drawing/2014/main" id="{4BDA98BA-91CE-43A9-A68D-A2226EFBE58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E3FC67D9-29CC-40C7-A050-660DD1280759}"/>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4D2B984-4C64-458D-84AA-A54383BB40B2}"/>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1">
            <a:extLst xmlns:a="http://schemas.openxmlformats.org/drawingml/2006/main">
              <a:ext uri="{FF2B5EF4-FFF2-40B4-BE49-F238E27FC236}">
                <a16:creationId xmlns:a16="http://schemas.microsoft.com/office/drawing/2014/main" id="{6C7B51C6-B837-43BD-B683-C072EF913579}"/>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7" name="언제 계속하고, 언제 끝낼까?">
            <a:extLst xmlns:a="http://schemas.openxmlformats.org/drawingml/2006/main">
              <a:ext uri="{FF2B5EF4-FFF2-40B4-BE49-F238E27FC236}">
                <a16:creationId xmlns:a16="http://schemas.microsoft.com/office/drawing/2014/main" id="{74DED4D2-4F25-4EFA-98D9-0FB7D2DC5A91}"/>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386433A5-1246-47CE-8DE7-37A9525481E0}"/>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80330C3-AB1E-445D-BC3C-38E28E261E8C}"/>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0">
            <a:extLst xmlns:a="http://schemas.openxmlformats.org/drawingml/2006/main">
              <a:ext uri="{FF2B5EF4-FFF2-40B4-BE49-F238E27FC236}">
                <a16:creationId xmlns:a16="http://schemas.microsoft.com/office/drawing/2014/main" id="{45FE3BC6-58E0-427C-9DEC-3521B1E47682}"/>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S101</a:t>
            </a:r>
          </a:p>
        </p:txBody>
      </p:sp>
      <p:sp>
        <p:nvSpPr>
          <p:cNvPr id="21" name="Goal에는 완료 근거와 멈출 조건을 담는다">
            <a:extLst xmlns:a="http://schemas.openxmlformats.org/drawingml/2006/main">
              <a:ext uri="{FF2B5EF4-FFF2-40B4-BE49-F238E27FC236}">
                <a16:creationId xmlns:a16="http://schemas.microsoft.com/office/drawing/2014/main" id="{55A02E06-6976-4904-86CE-468BE914563A}"/>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2F436CB5-FBD6-497B-B3B0-530E89E75257}"/>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B0B9F9DD-380C-4D8E-BD62-6D6AAC007305}"/>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9">
            <a:extLst xmlns:a="http://schemas.openxmlformats.org/drawingml/2006/main">
              <a:ext uri="{FF2B5EF4-FFF2-40B4-BE49-F238E27FC236}">
                <a16:creationId xmlns:a16="http://schemas.microsoft.com/office/drawing/2014/main" id="{EABD6443-C35F-4958-B605-78973948EAB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S110</a:t>
            </a:r>
          </a:p>
        </p:txBody>
      </p:sp>
      <p:sp>
        <p:nvSpPr>
          <p:cNvPr id="25" name="무엇을 남기고, 무엇을 덜어낼까?">
            <a:extLst xmlns:a="http://schemas.openxmlformats.org/drawingml/2006/main">
              <a:ext uri="{FF2B5EF4-FFF2-40B4-BE49-F238E27FC236}">
                <a16:creationId xmlns:a16="http://schemas.microsoft.com/office/drawing/2014/main" id="{CE609277-339E-40BA-964F-3A151179D440}"/>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DE761756-D618-4410-9053-1CA71B39CD68}"/>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AF0596CE-FC76-458F-B143-A978E10004CF}"/>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0">
            <a:extLst xmlns:a="http://schemas.openxmlformats.org/drawingml/2006/main">
              <a:ext uri="{FF2B5EF4-FFF2-40B4-BE49-F238E27FC236}">
                <a16:creationId xmlns:a16="http://schemas.microsoft.com/office/drawing/2014/main" id="{737F3E10-27FA-4C13-A3DD-BE20E9079ADB}"/>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S111</a:t>
            </a:r>
          </a:p>
        </p:txBody>
      </p:sp>
      <p:sp>
        <p:nvSpPr>
          <p:cNvPr id="29" name="덜어낸 뒤에도 필요한 일을 하는가?">
            <a:extLst xmlns:a="http://schemas.openxmlformats.org/drawingml/2006/main">
              <a:ext uri="{FF2B5EF4-FFF2-40B4-BE49-F238E27FC236}">
                <a16:creationId xmlns:a16="http://schemas.microsoft.com/office/drawing/2014/main" id="{6C63280E-C1D0-44EF-94E0-7CE8BB524787}"/>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3D937AFA-760D-4A30-8416-E6836BD09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809946284"/>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EA1767B8-6188-42BD-A5E8-47D2DAFEDC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6">
            <a:extLst xmlns:a="http://schemas.openxmlformats.org/drawingml/2006/main">
              <a:ext uri="{FF2B5EF4-FFF2-40B4-BE49-F238E27FC236}">
                <a16:creationId xmlns:a16="http://schemas.microsoft.com/office/drawing/2014/main" id="{E7501FAE-9B0A-4947-8809-8383598D2B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Q&amp;A와 교육 마무리">
            <a:extLst xmlns:a="http://schemas.openxmlformats.org/drawingml/2006/main">
              <a:ext uri="{FF2B5EF4-FFF2-40B4-BE49-F238E27FC236}">
                <a16:creationId xmlns:a16="http://schemas.microsoft.com/office/drawing/2014/main" id="{C4E34A15-C3BB-4E14-887E-1ED2A79B7C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FD37E0B0-FCB2-47A8-BB19-FA31B8CAF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A0ABABC-CBEA-40E2-AB35-8590C278C1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82E0F46-5E03-45CD-ABFD-B7C046E770DC}"/>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3F7DFF1C-EA3A-4C56-B45E-7E2DF40DA484}"/>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3655315C-246A-4F41-A1D5-D18EA53A4303}"/>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343CAFAD-3076-4AE0-8522-03C4F9227B6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D82D1B1-3F06-4E27-BF23-FB19C55D08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132253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2026-10-25T13:24:59.4730000Z</dcterms:created>
  <dcterms:modified xsi:type="dcterms:W3CDTF">2026-10-25T13:24:59.4730000Z</dcterms:modified>
</coreProperties>
</file>