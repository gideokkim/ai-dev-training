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a:r>
              <a:t xml:space="preserve">보존된 상세 출처: 교육용 사례 삽화 · AI 생성 이미지 · 실제 제품 실행 화면 아님</a:t>
            </a:r>
          </a:p>
          <a:p>
            <a:r>
              <a:t xml:space="preserve"/>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a:r>
              <a:t xml:space="preserve">보존된 상세 범위: 자신의 경험 하나만 떠올려 보세요. 사용 수준을 평가하는 질문이 아닙니다.</a:t>
            </a:r>
          </a:p>
          <a:p>
            <a:r>
              <a:t xml:space="preserve"/>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S05으로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a:r>
              <a:t xml:space="preserve">보존된 상세 출처: Microsoft C++ 문서 기반 교육 예시 · 실제 ChatGPT 대화·실행 화면 아님</a:t>
            </a:r>
          </a:p>
          <a:p>
            <a:r>
              <a:t xml:space="preserve"/>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a:r>
              <a:t xml:space="preserve">보존된 상세 범위: 괄호는 개수·값 생성자, 중괄호는 이 예시의 initializer_list 생성자를 사용합니다.</a:t>
            </a:r>
          </a:p>
          <a:p>
            <a:r>
              <a:t xml:space="preserve"/>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S05에서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코드 질문은 VS Code의 Copilot Chat에서</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코드 질문은 VS Code의 Copilot Chat에서</a:t>
            </a:r>
          </a:p>
          <a:p xmlns:a="http://schemas.openxmlformats.org/drawingml/2006/main">
            <a:r>
              <a:t/>
            </a:r>
          </a:p>
          <a:p xmlns:a="http://schemas.openxmlformats.org/drawingml/2006/main">
            <a:r>
              <a:t>**ACT / Section:**</a:t>
            </a:r>
          </a:p>
          <a:p xmlns:a="http://schemas.openxmlformats.org/drawingml/2006/main">
            <a:r>
              <a:t>ACT 0 / 0B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질문할 코드를 선택해 Copilot Chat의 Context로 첨부하고, 코드 설명을 요청한 뒤 답을 확인한다.</a:t>
            </a:r>
          </a:p>
          <a:p xmlns:a="http://schemas.openxmlformats.org/drawingml/2006/main">
            <a:r>
              <a:t/>
            </a:r>
          </a:p>
          <a:p xmlns:a="http://schemas.openxmlformats.org/drawingml/2006/main">
            <a:r>
              <a:t>**Opening Question:**</a:t>
            </a:r>
          </a:p>
          <a:p xmlns:a="http://schemas.openxmlformats.org/drawingml/2006/main">
            <a:r>
              <a:t>“앞의 C++ 질문을 회사에서 사용하는 IDE 안에서 어떻게 물어볼까?”</a:t>
            </a:r>
          </a:p>
          <a:p xmlns:a="http://schemas.openxmlformats.org/drawingml/2006/main">
            <a:r>
              <a:t/>
            </a:r>
          </a:p>
          <a:p xmlns:a="http://schemas.openxmlformats.org/drawingml/2006/main">
            <a:r>
              <a:t>**Speaker Flow:**</a:t>
            </a:r>
          </a:p>
          <a:p xmlns:a="http://schemas.openxmlformats.org/drawingml/2006/main">
            <a:r>
              <a:t>1. (0:00–0:25 / Lecture) S03과 같은 두 vector 초기화 코드를 가리킨다. 회사에서 사용하는 GitHub Copilot과 VS Code 조합으로 이 작은 질문을 이어갈 수 있다.</a:t>
            </a:r>
          </a:p>
          <a:p xmlns:a="http://schemas.openxmlformats.org/drawingml/2006/main">
            <a:r>
              <a:t>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xmlns:a="http://schemas.openxmlformats.org/drawingml/2006/main">
            <a:r>
              <a:t>3. (1:15–2:00 / Lecture) 답을 코드 의미와 대조해 확인한다. IDE에 열려 있다는 사실과 필요한 정보가 전달됐다는 사실은 구분한다. 다음 장에서 질문이 커질 때 필요한 자료 범주를 살펴본다.</a:t>
            </a:r>
          </a:p>
          <a:p xmlns:a="http://schemas.openxmlformats.org/drawingml/2006/main">
            <a:r>
              <a:t/>
            </a:r>
          </a:p>
          <a:p xmlns:a="http://schemas.openxmlformats.org/drawingml/2006/main">
            <a:r>
              <a:t>**Evidence / Source:**</a:t>
            </a:r>
          </a:p>
          <a:p xmlns:a="http://schemas.openxmlformats.org/drawingml/2006/main">
            <a:r>
              <a:t>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xmlns:a="http://schemas.openxmlformats.org/drawingml/2006/main">
            <a:r>
              <a:t/>
            </a:r>
          </a:p>
          <a:p>
            <a:r>
              <a:t xml:space="preserve">보존된 상세 출처: GitHub Docs · VS Code Docs | 사용 방법을 재구성한 교육용 UI 도식</a:t>
            </a:r>
          </a:p>
          <a:p>
            <a:r>
              <a:t xml:space="preserve"/>
            </a:r>
          </a:p>
          <a:p xmlns:a="http://schemas.openxmlformats.org/drawingml/2006/main">
            <a:r>
              <a:t>**Claim Boundary:**</a:t>
            </a:r>
          </a:p>
          <a:p xmlns:a="http://schemas.openxmlformats.org/drawingml/2006/main">
            <a:r>
              <a:t>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xmlns:a="http://schemas.openxmlformats.org/drawingml/2006/main">
            <a:r>
              <a:t/>
            </a:r>
          </a:p>
          <a:p>
            <a:r>
              <a:t xml:space="preserve">보존된 상세 범위: 실제 회사 화면·응답 아님 · 전달할 코드를 확인하고, 답을 다시 확인한다.</a:t>
            </a:r>
          </a:p>
          <a:p>
            <a:r>
              <a:t xml:space="preserve"/>
            </a:r>
          </a:p>
          <a:p xmlns:a="http://schemas.openxmlformats.org/drawingml/2006/main">
            <a:r>
              <a:t>**Beginner Explanation:**</a:t>
            </a:r>
          </a:p>
          <a:p xmlns:a="http://schemas.openxmlformats.org/drawingml/2006/main">
            <a:r>
              <a:t>회사에서 사용하는 VS Code에서 관련 코드를 골라 Copilot Chat에 설명을 요청할 수 있다.</a:t>
            </a:r>
          </a:p>
          <a:p xmlns:a="http://schemas.openxmlformats.org/drawingml/2006/main">
            <a:r>
              <a:t/>
            </a:r>
          </a:p>
          <a:p xmlns:a="http://schemas.openxmlformats.org/drawingml/2006/main">
            <a:r>
              <a:t>**Advanced Insight:**</a:t>
            </a:r>
          </a:p>
          <a:p xmlns:a="http://schemas.openxmlformats.org/drawingml/2006/main">
            <a:r>
              <a:t>IDE 통합과 실제 전달 Context를 구분하고 필요한 코드 첨부 및 응답 확인 책임을 유지한다.</a:t>
            </a:r>
          </a:p>
          <a:p xmlns:a="http://schemas.openxmlformats.org/drawingml/2006/main">
            <a:r>
              <a:t/>
            </a:r>
          </a:p>
          <a:p xmlns:a="http://schemas.openxmlformats.org/drawingml/2006/main">
            <a:r>
              <a:t>**C++ Vision Bridge:**</a:t>
            </a:r>
          </a:p>
          <a:p xmlns:a="http://schemas.openxmlformats.org/drawingml/2006/main">
            <a:r>
              <a:t>S03의 std::vector 초기화 예제를 그대로 사용한다. 실제 컴파일·실행·C++ 검사 파이프라인 검증은 추가하지 않는다.</a:t>
            </a:r>
          </a:p>
          <a:p xmlns:a="http://schemas.openxmlformats.org/drawingml/2006/main">
            <a:r>
              <a:t/>
            </a:r>
          </a:p>
          <a:p xmlns:a="http://schemas.openxmlformats.org/drawingml/2006/main">
            <a:r>
              <a:t>**Demo Operation:**</a:t>
            </a:r>
          </a:p>
          <a:p xmlns:a="http://schemas.openxmlformats.org/drawingml/2006/main">
            <a:r>
              <a:t>N/A — 정적 교육용 UI 도식. 회사 계정에 로그인하거나 Copilot을 호출·실행하지 않는다. 설치나 조직 정책 변경도 하지 않는다.</a:t>
            </a:r>
          </a:p>
          <a:p xmlns:a="http://schemas.openxmlformats.org/drawingml/2006/main">
            <a:r>
              <a:t/>
            </a:r>
          </a:p>
          <a:p xmlns:a="http://schemas.openxmlformats.org/drawingml/2006/main">
            <a:r>
              <a:t>**Audience Interaction:**</a:t>
            </a:r>
          </a:p>
          <a:p xmlns:a="http://schemas.openxmlformats.org/drawingml/2006/main">
            <a:r>
              <a:t>화면의3단계를 짧게 짚는다. 청중에게 설치·로그인·직접 실습이나 공개 답변을 요구하지 않는다.</a:t>
            </a:r>
          </a:p>
          <a:p xmlns:a="http://schemas.openxmlformats.org/drawingml/2006/main">
            <a:r>
              <a:t/>
            </a:r>
          </a:p>
          <a:p xmlns:a="http://schemas.openxmlformats.org/drawingml/2006/main">
            <a:r>
              <a:t>**Transition:**</a:t>
            </a:r>
          </a:p>
          <a:p xmlns:a="http://schemas.openxmlformats.org/drawingml/2006/main">
            <a:r>
              <a:t>“선택한 코드만으로 설명하기 어려운 문제라면, 어떤 자료가 더 필요할까요?” S05의 기존 Context 수집 문제로 이어간다.</a:t>
            </a:r>
          </a:p>
          <a:p xmlns:a="http://schemas.openxmlformats.org/drawingml/2006/main">
            <a:r>
              <a:t/>
            </a:r>
          </a:p>
          <a:p xmlns:a="http://schemas.openxmlformats.org/drawingml/2006/main">
            <a:r>
              <a:t>**Time Management:**</a:t>
            </a:r>
          </a:p>
          <a:p xmlns:a="http://schemas.openxmlformats.org/drawingml/2006/main">
            <a:r>
              <a:t>0:00–0:25 같은 예제,0:25–1:15 코드 선택/첨부/Ask 질문,1:15–2:00 답 확인과 다음 Context 질문.2분에 넘긴다. 설정·요금·모델 비교는 이 장의 범위가 아니다. 실제 리허설 UNVERIFIED.</a:t>
            </a:r>
          </a:p>
          <a:p xmlns:a="http://schemas.openxmlformats.org/drawingml/2006/main">
            <a:r>
              <a:t/>
            </a:r>
          </a:p>
          <a:p xmlns:a="http://schemas.openxmlformats.org/drawingml/2006/main">
            <a:r>
              <a:t>**Fallback:**</a:t>
            </a:r>
          </a:p>
          <a:p xmlns:a="http://schemas.openxmlformats.org/drawingml/2006/main">
            <a:r>
              <a:t>PLANNED until the new local PPT/PNG is rendered and inspected. Default is the reconstructed diagram in production/ACT_0.pptx S04 and production/preview/full/S04.png; no live switch is required.</a:t>
            </a:r>
          </a:p>
          <a:p xmlns:a="http://schemas.openxmlformats.org/drawingml/2006/main">
            <a:r>
              <a:t/>
            </a:r>
          </a:p>
          <a:p xmlns:a="http://schemas.openxmlformats.org/drawingml/2006/main">
            <a:r>
              <a:t>**Validation Status:**</a:t>
            </a:r>
          </a:p>
          <a:p xmlns:a="http://schemas.openxmlformats.org/drawingml/2006/main">
            <a:r>
              <a:t>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질문이 커지면 Context를 모으는 일이 생긴다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S06의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a:r>
              <a:t xml:space="preserve">보존된 상세 출처: Visual Studio 사용자의 디버깅 정보를 설명하는 교육용 병렬 도식</a:t>
            </a:r>
          </a:p>
          <a:p>
            <a:r>
              <a:t xml:space="preserve"/>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a:r>
              <a:t xml:space="preserve">보존된 상세 범위: 특정 Trial의 실제 화면이 아닙니다. 명세서는 IDE 밖에서도 함께 참고하는 문서입니다.</a:t>
            </a:r>
          </a:p>
          <a:p>
            <a:r>
              <a:t xml:space="preserve"/>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S06의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S06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파일명을 주지 않으면 Agent는 어디부터 볼까?</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S07–S08로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xmlns:a="http://schemas.openxmlformats.org/drawingml/2006/main">
            <a:r>
              <a:t/>
            </a:r>
          </a:p>
          <a:p>
            <a:r>
              <a:t xml:space="preserve">보존된 상세 출처: 실제 요청: TRIAL-001 · Codex CLI 0.154.0 · macOS · 읽기 전용</a:t>
            </a:r>
          </a:p>
          <a:p>
            <a:r>
              <a:t xml:space="preserve"/>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a:r>
              <a:t xml:space="preserve">보존된 상세 범위: 우측은 가상 GoogleTest 예시 · 실제 Trial은 Python unittest · 현재 Desktop은 미검증</a:t>
            </a:r>
          </a:p>
          <a:p>
            <a:r>
              <a:t xml:space="preserve"/>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S07–S08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Crop은 기대한 폭보다 한 열을 더 포함했다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S08에서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 STATE-00 테스트·소스의 첫 행을 발췌한 재구성 · CLI 0.154.0</a:t>
            </a:r>
          </a:p>
          <a:p>
            <a:r>
              <a:t xml:space="preserve"/>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a:r>
              <a:t xml:space="preserve">보존된 상세 범위: 실제 실행 Screenshot 아님 · 코드 수정 없음 · C++ 할당·capacity·버퍼 오버런 사례 아님</a:t>
            </a:r>
          </a:p>
          <a:p>
            <a:r>
              <a:t xml:space="preserve"/>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테스트·명세·구현을 연결해 원인을 설명했다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S07의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S09로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 발견한 테스트·명세·구현의 관계를 재구성 · Codex CLI 0.154.0</a:t>
            </a:r>
          </a:p>
          <a:p>
            <a:r>
              <a:t xml:space="preserve"/>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a:r>
              <a:t xml:space="preserve">보존된 상세 범위: 자료 관계도이며 Agent의 시간순 접근 로그가 아님 · README에도 결함 안내가 있었음 · 코드 수정 없음</a:t>
            </a:r>
          </a:p>
          <a:p>
            <a:r>
              <a:t xml:space="preserve"/>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전체 테스트 기록의 실행 환경 제한 · Codex CLI 0.154.0</a:t>
            </a:r>
          </a:p>
          <a:p>
            <a:r>
              <a:t xml:space="preserve"/>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a:r>
              <a:t xml:space="preserve">보존된 상세 범위: Crop 결함과 별개 · 실행 제한을 관찰했으며 권한을 해제하거나 코드를 수정하지 않음</a:t>
            </a:r>
          </a:p>
          <a:p>
            <a:r>
              <a:t xml:space="preserve"/>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S11로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TEACHING MODEL · TRIAL-001에서 살펴본 정보를 묶은 교육용 도식</a:t>
            </a:r>
          </a:p>
          <a:p>
            <a:r>
              <a:t xml:space="preserve"/>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a:r>
              <a:t xml:space="preserve">보존된 상세 범위: 파일은 Repository에서, 실행 조건은 도구·권한에서 확인 · Repository 접근이 권한을 늘리지는 않음</a:t>
            </a:r>
          </a:p>
          <a:p>
            <a:r>
              <a:t xml:space="preserve"/>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Chatbot에 이 자료를 직접 전달한다면?</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S10의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S12에서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a:r>
              <a:t xml:space="preserve">보존된 상세 출처: TEACHING MODEL · 자료를 직접 선택·첨부하는 대화 방식의 가정</a:t>
            </a:r>
          </a:p>
          <a:p>
            <a:r>
              <a:t xml:space="preserve"/>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a:r>
              <a:t xml:space="preserve">보존된 상세 범위: 실제 Chatbot 비교 실행 아님 · 자료 전달 방식의 차이이며 제품 능력·효율 우위를 입증하지 않음</a:t>
            </a:r>
          </a:p>
          <a:p>
            <a:r>
              <a:t xml:space="preserve"/>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Agent가 자료를 직접 찾아 연결했다</a:t>
            </a:r>
          </a:p>
          <a:p xmlns:a="http://schemas.openxmlformats.org/drawingml/2006/main">
            <a:r>
              <a:t/>
            </a:r>
          </a:p>
          <a:p xmlns:a="http://schemas.openxmlformats.org/drawingml/2006/main">
            <a:r>
              <a:t>**Slide ID:**</a:t>
            </a:r>
          </a:p>
          <a:p xmlns:a="http://schemas.openxmlformats.org/drawingml/2006/main">
            <a:r>
              <a:t>S12</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S11의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S13의 기존 Codex 진입 안내를 연다. Task 의도와 접근의 차이는 S14에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a:r>
              <a:t xml:space="preserve">보존된 상세 출처: TRIAL-001 단일 CLI 조사와 연결한 교육용 도식 · Codex CLI 0.154.0</a:t>
            </a:r>
          </a:p>
          <a:p>
            <a:r>
              <a:t xml:space="preserve"/>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a:r>
              <a:t xml:space="preserve">보존된 상세 범위: 권한 제한을 해제하지 않음 · 목표·검토 책임은 개발자에게 남음 · 현재 Desktop 미검증</a:t>
            </a:r>
          </a:p>
          <a:p>
            <a:r>
              <a:t xml:space="preserve"/>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production/preview/full/S12.png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작업은 Codex에서 시작한다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S06의 조사 태도를 회수한다. “들어가는 곳을 알았으니, 무엇을 볼 수 있고 누가 최종 결정할지 나눠 보겠습니다”라며 S14로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a:r>
              <a:t xml:space="preserve">보존된 상세 출처: OpenAI Quickstart · 공식 문서 2026-10-21 확인 · 앱 전환 메뉴 재구성</a:t>
            </a:r>
          </a:p>
          <a:p>
            <a:r>
              <a:t xml:space="preserve"/>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a:r>
              <a:t xml:space="preserve">보존된 상세 범위: 교육용 도식입니다. 앱 버전·계정별 표시와 접근 권한은 발표 환경에서 확인합니다.</a:t>
            </a:r>
          </a:p>
          <a:p>
            <a:r>
              <a:t xml:space="preserve"/>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S14에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요청·S14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 접근과 Task 의도는 별개다</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S13은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S15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a:r>
              <a:t xml:space="preserve">보존된 상세 출처: 이 과정의 교육 모델 · 정보 접근과 최종 결정 책임의 구분 · AI 생성 역할 아이콘</a:t>
            </a:r>
          </a:p>
          <a:p>
            <a:r>
              <a:t xml:space="preserve"/>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a:r>
              <a:t xml:space="preserve">보존된 상세 범위: Agent는 조사·제안을 할 수 있습니다. 목표·허용 범위·완료 수용의 최종 결정과 책임은 사람에게 있습니다.</a:t>
            </a:r>
          </a:p>
          <a:p>
            <a:r>
              <a:t xml:space="preserve"/>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S15의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정리·S15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Repository를 보면 내가 원하는 것까지 알까?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S14에서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S17의 모호한 요청에 연결한다.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a:r>
              <a:t xml:space="preserve">보존된 상세 출처: 교육용 검사 Task 가정 · 점선은 추가 정의·연결 범위 · 실제 실행 결과 아님</a:t>
            </a:r>
          </a:p>
          <a:p>
            <a:r>
              <a:t xml:space="preserve"/>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a:r>
              <a:t xml:space="preserve">보존된 상세 범위: 실제 저장소에는 후속 함수도 있습니다. 도식은 실제 실행 순서나 함수의 미구현 상태를 재현하지 않습니다.</a:t>
            </a:r>
          </a:p>
          <a:p>
            <a:r>
              <a:t xml:space="preserve"/>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1.xml" Id="R2de2f936d3324d1e"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2.xml" Id="Rdb986e759dfb4bda"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