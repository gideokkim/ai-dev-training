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AI를 Repository로 데려가기</a:t>
            </a:r>
          </a:p>
          <a:p>
            <a:r>
              <a:t xml:space="preserve"/>
            </a:r>
          </a:p>
          <a:p>
            <a:r>
              <a:t xml:space="preserve">**Slide ID:**</a:t>
            </a:r>
          </a:p>
          <a:p>
            <a:r>
              <a:t xml:space="preserve">S01</a:t>
            </a:r>
          </a:p>
          <a:p>
            <a:r>
              <a:t xml:space="preserve"/>
            </a:r>
          </a:p>
          <a:p>
            <a:r>
              <a:t xml:space="preserve">**Working Title:**</a:t>
            </a:r>
          </a:p>
          <a:p>
            <a:r>
              <a:t xml:space="preserve">AI를 Repository로 데려가기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AI를 Repository로 데려가기 — Chatbot → Repository Agent</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0의 제목 “AI를 Repository로 데려가기”을 가리키며 구간을 연다.</a:t>
            </a:r>
          </a:p>
          <a:p>
            <a:r>
              <a:t xml:space="preserve">2. (0:20–0:40 / Transition) 부제 “Chatbot → Repository Agent”는 이번 구간의 관점만 안내한다. 구체적 기능·해결 방법·결과는 앞서 설명하지 않는다.</a:t>
            </a:r>
          </a:p>
          <a:p>
            <a:r>
              <a:t xml:space="preserve">3. (0:40–1:00 / Transition) S02의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 Repository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Repository의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Repository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Repository 접근과 실제 도구/실행 권한은 별개다. 조직의 실제 허용·금지 목록이나 제품 보안 보장을 새로 확정하지 않는다.</a:t>
            </a:r>
          </a:p>
          <a:p>
            <a:r>
              <a:t xml:space="preserve">4. (1:50–2:00 / Lecture) “이 교육에서는 어디에서 Repository를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Repository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Repository를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Repository 작업은 Codex에서 시작한다</a:t>
            </a:r>
          </a:p>
          <a:p>
            <a:r>
              <a:t xml:space="preserve"/>
            </a:r>
          </a:p>
          <a:p>
            <a:r>
              <a:t xml:space="preserve">Slide ID: S13</a:t>
            </a:r>
          </a:p>
          <a:p>
            <a:r>
              <a:t xml:space="preserve"/>
            </a:r>
          </a:p>
          <a:p>
            <a:r>
              <a:t xml:space="preserve">Working Title: Repository 작업은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 이 교육에서 Repository를 조사하는 개발 작업은 ChatGPT 데스크톱 앱의 ChatGPT 메뉴에서 Codex를 선택해 시작한다.</a:t>
            </a:r>
          </a:p>
          <a:p>
            <a:r>
              <a:t xml:space="preserve"/>
            </a:r>
          </a:p>
          <a:p>
            <a:r>
              <a:t xml:space="preserve">Opening Question: “Repository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**REPOSITORY (0:30–0:45):** 허용된 Repository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 작은 코드 질문을 하던 대화에서 Repository 조사로 옮길 때, 이 교육에서는 Codex를 선택하는 진입점을 사용한다.</a:t>
            </a:r>
          </a:p>
          <a:p>
            <a:r>
              <a:t xml:space="preserve"/>
            </a:r>
          </a:p>
          <a:p>
            <a:r>
              <a:t xml:space="preserve">Advanced Insight: 제품 표면의 선택, Repository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 “Repository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Repository 접근과 Task 의도는 별개다</a:t>
            </a:r>
          </a:p>
          <a:p>
            <a:r>
              <a:t xml:space="preserve"/>
            </a:r>
          </a:p>
          <a:p>
            <a:r>
              <a:t xml:space="preserve">Slide ID: S14</a:t>
            </a:r>
          </a:p>
          <a:p>
            <a:r>
              <a:t xml:space="preserve"/>
            </a:r>
          </a:p>
          <a:p>
            <a:r>
              <a:t xml:space="preserve">Working Title: Repository 접근과 Task 의도는 별개다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 Repository 탐색은 Context 수집에 도움을 줄 수 있지만, Task의 목표와 완료 조건까지 대신 정하지 않는다.</a:t>
            </a:r>
          </a:p>
          <a:p>
            <a:r>
              <a:t xml:space="preserve"/>
            </a:r>
          </a:p>
          <a:p>
            <a:r>
              <a:t xml:space="preserve">Opening Question: “Repository를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Repository를 보면 내가 원하는 것까지 알까?</a:t>
            </a:r>
          </a:p>
          <a:p>
            <a:r>
              <a:t xml:space="preserve"/>
            </a:r>
          </a:p>
          <a:p>
            <a:r>
              <a:t xml:space="preserve">Slide ID: S15</a:t>
            </a:r>
          </a:p>
          <a:p>
            <a:r>
              <a:t xml:space="preserve"/>
            </a:r>
          </a:p>
          <a:p>
            <a:r>
              <a:t xml:space="preserve">Working Title: Repository를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 Repository를 볼 수 있다는 사실만으로 Task의 의도가 정해지지는 않는다.</a:t>
            </a:r>
          </a:p>
          <a:p>
            <a:r>
              <a:t xml:space="preserve"/>
            </a:r>
          </a:p>
          <a:p>
            <a:r>
              <a:t xml:space="preserve">Opening Question: “지금 이 저장소에 어떤 일을 맡기고 싶으신가요?” 제조 라인 검사장비로 확장한다는 가정 아래 원하는 검사 작업을 떠올리게 한다.</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Repository를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1.xml" Id="R2de2f936d3324d1e"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2.xml" Id="Rdb986e759dfb4bda"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sp>
        <p:nvSpPr>
          <p:cNvPr id="25" name="">
            <a:extLst xmlns:a="http://schemas.openxmlformats.org/drawingml/2006/main">
              <a:ext uri="{FF2B5EF4-FFF2-40B4-BE49-F238E27FC236}">
                <a16:creationId xmlns:a16="http://schemas.microsoft.com/office/drawing/2014/main" id="{A85E8458-4B2C-4529-B280-B670D26196B4}"/>
              </a:ext>
            </a:extLst>
          </p:cNvPr>
          <p:cNvSpPr>
            <a:spLocks xmlns:a="http://schemas.openxmlformats.org/drawingml/2006/main" noGrp="1"/>
          </p:cNvSpPr>
          <p:nvPr/>
        </p:nvSpPr>
        <p:spPr>
          <a:xfrm xmlns:a="http://schemas.openxmlformats.org/drawingml/2006/main">
            <a:off x="352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6" name="">
            <a:extLst xmlns:a="http://schemas.openxmlformats.org/drawingml/2006/main">
              <a:ext uri="{FF2B5EF4-FFF2-40B4-BE49-F238E27FC236}">
                <a16:creationId xmlns:a16="http://schemas.microsoft.com/office/drawing/2014/main" id="{3E6A11AC-95CA-4F9C-9715-502A6F4BA83E}"/>
              </a:ext>
            </a:extLst>
          </p:cNvPr>
          <p:cNvSpPr>
            <a:spLocks xmlns:a="http://schemas.openxmlformats.org/drawingml/2006/main" noGrp="1"/>
          </p:cNvSpPr>
          <p:nvPr/>
        </p:nvSpPr>
        <p:spPr>
          <a:xfrm xmlns:a="http://schemas.openxmlformats.org/drawingml/2006/main">
            <a:off x="403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sp>
        <p:nvSpPr>
          <p:cNvPr id="29" name="">
            <a:extLst xmlns:a="http://schemas.openxmlformats.org/drawingml/2006/main">
              <a:ext uri="{FF2B5EF4-FFF2-40B4-BE49-F238E27FC236}">
                <a16:creationId xmlns:a16="http://schemas.microsoft.com/office/drawing/2014/main" id="{2FBA498C-091F-4545-ABA6-E463D4BE28F2}"/>
              </a:ext>
            </a:extLst>
          </p:cNvPr>
          <p:cNvSpPr>
            <a:spLocks xmlns:a="http://schemas.openxmlformats.org/drawingml/2006/main" noGrp="1"/>
          </p:cNvSpPr>
          <p:nvPr/>
        </p:nvSpPr>
        <p:spPr>
          <a:xfrm xmlns:a="http://schemas.openxmlformats.org/drawingml/2006/main">
            <a:off x="7334250" y="5438775"/>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0" name="">
            <a:extLst xmlns:a="http://schemas.openxmlformats.org/drawingml/2006/main">
              <a:ext uri="{FF2B5EF4-FFF2-40B4-BE49-F238E27FC236}">
                <a16:creationId xmlns:a16="http://schemas.microsoft.com/office/drawing/2014/main" id="{2C765941-7B2E-4165-8A6A-F2730B4424C2}"/>
              </a:ext>
            </a:extLst>
          </p:cNvPr>
          <p:cNvSpPr>
            <a:spLocks xmlns:a="http://schemas.openxmlformats.org/drawingml/2006/main" noGrp="1"/>
          </p:cNvSpPr>
          <p:nvPr/>
        </p:nvSpPr>
        <p:spPr>
          <a:xfrm xmlns:a="http://schemas.openxmlformats.org/drawingml/2006/main">
            <a:off x="7848600" y="5381625"/>
            <a:ext cx="114300" cy="1143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