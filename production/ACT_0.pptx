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ba7c0c468994861" /><Relationship Type="http://schemas.openxmlformats.org/officeDocument/2006/relationships/extended-properties" Target="/docProps/app.xml" Id="Ref5e3749e28146c0" /><Relationship Type="http://schemas.openxmlformats.org/officeDocument/2006/relationships/officeDocument" Target="/ppt/presentation.xml" Id="R215c5b615ac34137" /></Relationships>
</file>

<file path=ppt/presentation.xml><?xml version="1.0" encoding="utf-8"?>
<p:presentation xmlns:p="http://schemas.openxmlformats.org/presentationml/2006/main">
  <p:sldMasterIdLst>
    <p:sldMasterId xmlns:r="http://schemas.openxmlformats.org/officeDocument/2006/relationships" id="2147483648" r:id="R8ff705b2556745d0"/>
  </p:sldMasterIdLst>
  <p:notesMasterIdLst>
    <p:notesMasterId xmlns:r="http://schemas.openxmlformats.org/officeDocument/2006/relationships" r:id="R21cc55a5b90a4008"/>
  </p:notesMasterIdLst>
  <p:sldIdLst>
    <p:sldId xmlns:r="http://schemas.openxmlformats.org/officeDocument/2006/relationships" id="256" r:id="R35ab9c71ee444107"/>
    <p:sldId xmlns:r="http://schemas.openxmlformats.org/officeDocument/2006/relationships" id="257" r:id="R3657e79980894865"/>
    <p:sldId xmlns:r="http://schemas.openxmlformats.org/officeDocument/2006/relationships" id="258" r:id="R6ee43eddc14f41f0"/>
    <p:sldId xmlns:r="http://schemas.openxmlformats.org/officeDocument/2006/relationships" id="270" r:id="CopilotTipAfterS03"/>
    <p:sldId xmlns:r="http://schemas.openxmlformats.org/officeDocument/2006/relationships" id="259" r:id="Rc38eda34aca341ad"/>
    <p:sldId xmlns:r="http://schemas.openxmlformats.org/officeDocument/2006/relationships" id="260" r:id="R6be011294e834b11"/>
    <p:sldId xmlns:r="http://schemas.openxmlformats.org/officeDocument/2006/relationships" id="261" r:id="Rc536c28e9b634e42"/>
    <p:sldId xmlns:r="http://schemas.openxmlformats.org/officeDocument/2006/relationships" id="262" r:id="Rc77866ffd74a499d"/>
    <p:sldId xmlns:r="http://schemas.openxmlformats.org/officeDocument/2006/relationships" id="263" r:id="R756b2990aef24a12"/>
    <p:sldId xmlns:r="http://schemas.openxmlformats.org/officeDocument/2006/relationships" id="264" r:id="R467c3b276d774dfa"/>
    <p:sldId xmlns:r="http://schemas.openxmlformats.org/officeDocument/2006/relationships" id="265" r:id="R20b4544b3b4f4a17"/>
    <p:sldId xmlns:r="http://schemas.openxmlformats.org/officeDocument/2006/relationships" id="266" r:id="Ra7e83412099b44a8"/>
    <p:sldId xmlns:r="http://schemas.openxmlformats.org/officeDocument/2006/relationships" id="267" r:id="R4bcfd689ddfa4ce2"/>
    <p:sldId xmlns:r="http://schemas.openxmlformats.org/officeDocument/2006/relationships" id="268" r:id="R68fb9a0cdba34cd7"/>
    <p:sldId xmlns:r="http://schemas.openxmlformats.org/officeDocument/2006/relationships" id="269" r:id="Rc377a264c82e48c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2e1dd49b645e44b7"/><Relationship Type="http://schemas.openxmlformats.org/officeDocument/2006/relationships/slideMaster" Target="/ppt/slideMasters/slideMaster1.xml" Id="R8ff705b2556745d0"/><Relationship Type="http://schemas.openxmlformats.org/officeDocument/2006/relationships/notesMaster" Target="/ppt/notesMasters/notesMaster1.xml" Id="R21cc55a5b90a4008"/><Relationship Type="http://schemas.openxmlformats.org/officeDocument/2006/relationships/presProps" Target="/ppt/presProps.xml" Id="R5917eba8e8bc4713"/><Relationship Type="http://schemas.openxmlformats.org/officeDocument/2006/relationships/tableStyles" Target="/ppt/tableStyles.xml" Id="Rc9cc88113c884cab"/><Relationship Type="http://schemas.openxmlformats.org/officeDocument/2006/relationships/slide" Target="/ppt/slides/slide1.xml" Id="R35ab9c71ee444107"/><Relationship Type="http://schemas.openxmlformats.org/officeDocument/2006/relationships/slide" Target="/ppt/slides/slide2.xml" Id="R3657e79980894865"/><Relationship Type="http://schemas.openxmlformats.org/officeDocument/2006/relationships/slide" Target="/ppt/slides/slide3.xml" Id="R6ee43eddc14f41f0"/><Relationship Type="http://schemas.openxmlformats.org/officeDocument/2006/relationships/slide" Target="/ppt/slides/slide5.xml" Id="Rc38eda34aca341ad"/><Relationship Type="http://schemas.openxmlformats.org/officeDocument/2006/relationships/slide" Target="/ppt/slides/slide6.xml" Id="R6be011294e834b11"/><Relationship Type="http://schemas.openxmlformats.org/officeDocument/2006/relationships/slide" Target="/ppt/slides/slide7.xml" Id="Rc536c28e9b634e42"/><Relationship Type="http://schemas.openxmlformats.org/officeDocument/2006/relationships/slide" Target="/ppt/slides/slide8.xml" Id="Rc77866ffd74a499d"/><Relationship Type="http://schemas.openxmlformats.org/officeDocument/2006/relationships/slide" Target="/ppt/slides/slide9.xml" Id="R756b2990aef24a12"/><Relationship Type="http://schemas.openxmlformats.org/officeDocument/2006/relationships/slide" Target="/ppt/slides/slide10.xml" Id="R467c3b276d774dfa"/><Relationship Type="http://schemas.openxmlformats.org/officeDocument/2006/relationships/slide" Target="/ppt/slides/slide11.xml" Id="R20b4544b3b4f4a17"/><Relationship Type="http://schemas.openxmlformats.org/officeDocument/2006/relationships/slide" Target="/ppt/slides/slide12.xml" Id="Ra7e83412099b44a8"/><Relationship Type="http://schemas.openxmlformats.org/officeDocument/2006/relationships/slide" Target="/ppt/slides/slide13.xml" Id="R4bcfd689ddfa4ce2"/><Relationship Type="http://schemas.openxmlformats.org/officeDocument/2006/relationships/slide" Target="/ppt/slides/slide14.xml" Id="R68fb9a0cdba34cd7"/><Relationship Type="http://schemas.openxmlformats.org/officeDocument/2006/relationships/slide" Target="/ppt/slides/slide15.xml" Id="Rc377a264c82e48ce"/><Relationship Id="CopilotTipAfterS03" Type="http://schemas.openxmlformats.org/officeDocument/2006/relationships/slide" Target="/ppt/slides/slide4.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2bc58a2d8e944b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619f1e7a7734573" /><Relationship Type="http://schemas.openxmlformats.org/officeDocument/2006/relationships/notesMaster" Target="/ppt/notesMasters/notesMaster1.xml" Id="R3f205dd9ced64d59" /></Relationships>
</file>

<file path=ppt/notesSlides/_rels/notesSlide2.xml.rels>&#65279;<?xml version="1.0" encoding="utf-8"?><Relationships xmlns="http://schemas.openxmlformats.org/package/2006/relationships"><Relationship Type="http://schemas.openxmlformats.org/officeDocument/2006/relationships/slide" Target="/ppt/slides/slide2.xml" Id="R40d16697e8b2455d" /><Relationship Type="http://schemas.openxmlformats.org/officeDocument/2006/relationships/notesMaster" Target="/ppt/notesMasters/notesMaster1.xml" Id="Rd252975d7d934a42" /></Relationships>
</file>

<file path=ppt/notesSlides/_rels/notesSlide3.xml.rels>&#65279;<?xml version="1.0" encoding="utf-8"?><Relationships xmlns="http://schemas.openxmlformats.org/package/2006/relationships"><Relationship Type="http://schemas.openxmlformats.org/officeDocument/2006/relationships/slide" Target="/ppt/slides/slide3.xml" Id="Rca707fd3d3024b03" /><Relationship Type="http://schemas.openxmlformats.org/officeDocument/2006/relationships/notesMaster" Target="/ppt/notesMasters/notesMaster1.xml" Id="R6f1f52dec81543b2" /></Relationships>
</file>

<file path=ppt/notesSlides/_rels/notesSlide4.xml.rels><?xml version="1.0" encoding="utf-8"?><Relationships xmlns="http://schemas.openxmlformats.org/package/2006/relationships"><Relationship Type="http://schemas.openxmlformats.org/officeDocument/2006/relationships/slide" Target="/ppt/slides/slide4.xml" Id="R6840135136a44c63"/><Relationship Type="http://schemas.openxmlformats.org/officeDocument/2006/relationships/notesMaster" Target="/ppt/notesMasters/notesMaster1.xml" Id="R693e36507b0f4cab"/></Relationships>
</file>

<file path=ppt/notesSlides/_rels/notesSlide5.xml.rels><?xml version="1.0" encoding="utf-8"?><Relationships xmlns="http://schemas.openxmlformats.org/package/2006/relationships"><Relationship Type="http://schemas.openxmlformats.org/officeDocument/2006/relationships/slide" Target="/ppt/slides/slide5.xml" Id="R34f0bcd65a0b41d1" /><Relationship Type="http://schemas.openxmlformats.org/officeDocument/2006/relationships/notesMaster" Target="/ppt/notesMasters/notesMaster1.xml" Id="Rb10dd30bfb534156" /></Relationships>
</file>

<file path=ppt/notesSlides/_rels/notesSlide6.xml.rels><?xml version="1.0" encoding="utf-8"?><Relationships xmlns="http://schemas.openxmlformats.org/package/2006/relationships"><Relationship Type="http://schemas.openxmlformats.org/officeDocument/2006/relationships/slide" Target="/ppt/slides/slide6.xml" Id="R50db1aacf62448e7" /><Relationship Type="http://schemas.openxmlformats.org/officeDocument/2006/relationships/notesMaster" Target="/ppt/notesMasters/notesMaster1.xml" Id="Rae3c7f3e9dda442a" /></Relationships>
</file>

<file path=ppt/notesSlides/_rels/notesSlide7.xml.rels><?xml version="1.0" encoding="utf-8"?><Relationships xmlns="http://schemas.openxmlformats.org/package/2006/relationships"><Relationship Type="http://schemas.openxmlformats.org/officeDocument/2006/relationships/slide" Target="/ppt/slides/slide7.xml" Id="R657c96cfa9ff4191" /><Relationship Type="http://schemas.openxmlformats.org/officeDocument/2006/relationships/notesMaster" Target="/ppt/notesMasters/notesMaster1.xml" Id="Rcb6ff2401902461b" /></Relationships>
</file>

<file path=ppt/notesSlides/_rels/notesSlide8.xml.rels><?xml version="1.0" encoding="utf-8"?><Relationships xmlns="http://schemas.openxmlformats.org/package/2006/relationships"><Relationship Type="http://schemas.openxmlformats.org/officeDocument/2006/relationships/slide" Target="/ppt/slides/slide8.xml" Id="Re1212a9d2091475b" /><Relationship Type="http://schemas.openxmlformats.org/officeDocument/2006/relationships/notesMaster" Target="/ppt/notesMasters/notesMaster1.xml" Id="R0a892d8a8bdc4d9b" /></Relationships>
</file>

<file path=ppt/notesSlides/_rels/notesSlide9.xml.rels><?xml version="1.0" encoding="utf-8"?><Relationships xmlns="http://schemas.openxmlformats.org/package/2006/relationships"><Relationship Type="http://schemas.openxmlformats.org/officeDocument/2006/relationships/slide" Target="/ppt/slides/slide9.xml" Id="R82a7d8b658ed48e1" /><Relationship Type="http://schemas.openxmlformats.org/officeDocument/2006/relationships/notesMaster" Target="/ppt/notesMasters/notesMaster1.xml" Id="R61d87f300c714b31" /></Relationships>
</file>

<file path=ppt/notesSlides/_rels/notesSlide10.xml.rels><?xml version="1.0" encoding="utf-8"?><Relationships xmlns="http://schemas.openxmlformats.org/package/2006/relationships"><Relationship Type="http://schemas.openxmlformats.org/officeDocument/2006/relationships/slide" Target="/ppt/slides/slide10.xml" Id="Raa3691e2edc34315" /><Relationship Type="http://schemas.openxmlformats.org/officeDocument/2006/relationships/notesMaster" Target="/ppt/notesMasters/notesMaster1.xml" Id="Rfcfd31b4857f4b57" /></Relationships>
</file>

<file path=ppt/notesSlides/_rels/notesSlide11.xml.rels><?xml version="1.0" encoding="utf-8"?><Relationships xmlns="http://schemas.openxmlformats.org/package/2006/relationships"><Relationship Type="http://schemas.openxmlformats.org/officeDocument/2006/relationships/slide" Target="/ppt/slides/slide11.xml" Id="Rab787bcc4b334782" /><Relationship Type="http://schemas.openxmlformats.org/officeDocument/2006/relationships/notesMaster" Target="/ppt/notesMasters/notesMaster1.xml" Id="Ref96ac33cffb4795" /></Relationships>
</file>

<file path=ppt/notesSlides/_rels/notesSlide12.xml.rels><?xml version="1.0" encoding="utf-8"?><Relationships xmlns="http://schemas.openxmlformats.org/package/2006/relationships"><Relationship Type="http://schemas.openxmlformats.org/officeDocument/2006/relationships/slide" Target="/ppt/slides/slide12.xml" Id="R0a786f0177c448ad" /><Relationship Type="http://schemas.openxmlformats.org/officeDocument/2006/relationships/notesMaster" Target="/ppt/notesMasters/notesMaster1.xml" Id="Re738060b46d14bef" /></Relationships>
</file>

<file path=ppt/notesSlides/_rels/notesSlide13.xml.rels><?xml version="1.0" encoding="utf-8"?><Relationships xmlns="http://schemas.openxmlformats.org/package/2006/relationships"><Relationship Type="http://schemas.openxmlformats.org/officeDocument/2006/relationships/slide" Target="/ppt/slides/slide13.xml" Id="R2d5666846d29433d" /><Relationship Type="http://schemas.openxmlformats.org/officeDocument/2006/relationships/notesMaster" Target="/ppt/notesMasters/notesMaster1.xml" Id="Rf1119390b6344752" /></Relationships>
</file>

<file path=ppt/notesSlides/_rels/notesSlide14.xml.rels><?xml version="1.0" encoding="utf-8"?><Relationships xmlns="http://schemas.openxmlformats.org/package/2006/relationships"><Relationship Type="http://schemas.openxmlformats.org/officeDocument/2006/relationships/slide" Target="/ppt/slides/slide14.xml" Id="Rc2e59f3baf54471b" /><Relationship Type="http://schemas.openxmlformats.org/officeDocument/2006/relationships/notesMaster" Target="/ppt/notesMasters/notesMaster1.xml" Id="R66ba9f5a900c4aea" /></Relationships>
</file>

<file path=ppt/notesSlides/_rels/notesSlide15.xml.rels><?xml version="1.0" encoding="utf-8"?><Relationships xmlns="http://schemas.openxmlformats.org/package/2006/relationships"><Relationship Type="http://schemas.openxmlformats.org/officeDocument/2006/relationships/slide" Target="/ppt/slides/slide15.xml" Id="Rad97cceec864422d" /><Relationship Type="http://schemas.openxmlformats.org/officeDocument/2006/relationships/notesMaster" Target="/ppt/notesMasters/notesMaster1.xml" Id="Rb1aad305d2ed43a9"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S01 — AI를 Repository로 데려가기</a:t>
            </a:r>
          </a:p>
          <a:p>
            <a:r>
              <a:t xml:space="preserve"/>
            </a:r>
          </a:p>
          <a:p>
            <a:r>
              <a:t xml:space="preserve">**Slide ID:**</a:t>
            </a:r>
          </a:p>
          <a:p>
            <a:r>
              <a:t xml:space="preserve">S01</a:t>
            </a:r>
          </a:p>
          <a:p>
            <a:r>
              <a:t xml:space="preserve"/>
            </a:r>
          </a:p>
          <a:p>
            <a:r>
              <a:t xml:space="preserve">**Working Title:**</a:t>
            </a:r>
          </a:p>
          <a:p>
            <a:r>
              <a:t xml:space="preserve">AI를 Repository로 데려가기</a:t>
            </a:r>
          </a:p>
          <a:p>
            <a:r>
              <a:t xml:space="preserve"/>
            </a:r>
          </a:p>
          <a:p>
            <a:r>
              <a:t xml:space="preserve">**ACT / Section:**</a:t>
            </a:r>
          </a:p>
          <a:p>
            <a:r>
              <a:t xml:space="preserve">ACT 0 / 0A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AI를 Repository로 데려가기 — Chatbot → Repository Agent</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0의 제목 “AI를 Repository로 데려가기”을 가리키며 구간을 연다.</a:t>
            </a:r>
          </a:p>
          <a:p>
            <a:r>
              <a:t xml:space="preserve">2. (0:20–0:40 / Transition) 부제 “Chatbot → Repository Agent”는 이번 구간의 관점만 안내한다. 구체적 기능·해결 방법·결과는 앞서 설명하지 않는다.</a:t>
            </a:r>
          </a:p>
          <a:p>
            <a:r>
              <a:t xml:space="preserve">3. (0:40–1:00 / Transition) S02의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S02 — AI에게 지금 무엇을 맡기고 있는가?로 이어간다.</a:t>
            </a:r>
          </a:p>
          <a:p>
            <a:r>
              <a:t xml:space="preserve"/>
            </a:r>
          </a:p>
          <a:p>
            <a:r>
              <a:t xml:space="preserve">**Time Management:**</a:t>
            </a:r>
          </a:p>
          <a:p>
            <a:r>
              <a:t xml:space="preserve">Transition 1분. 기존 본문 시간을 줄이거나 중복 계산하지 않는다. ACT 0 총45분, 전체420분이다. 제목·부제만 안내하고1분에 S02로 넘긴다. 실측 리허설 UNVERIFIED.</a:t>
            </a:r>
          </a:p>
          <a:p>
            <a:r>
              <a:t xml:space="preserve"/>
            </a:r>
          </a:p>
          <a:p>
            <a:r>
              <a:t xml:space="preserve">**Fallback:**</a:t>
            </a:r>
          </a:p>
          <a:p>
            <a:r>
              <a:t xml:space="preserve">LOCAL STATIC ARTIFACT — production/preview/full/S01.png 또는 production/ACT_0.pptx의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S02 — AI에게 지금 무엇을 맡기고 있는가?</a:t>
            </a:r>
          </a:p>
          <a:p>
            <a:r>
              <a:t xml:space="preserve"/>
            </a:r>
          </a:p>
          <a:p>
            <a:r>
              <a:t xml:space="preserve">Slide ID: S02</a:t>
            </a:r>
          </a:p>
          <a:p>
            <a:r>
              <a:t xml:space="preserve"/>
            </a:r>
          </a:p>
          <a:p>
            <a:r>
              <a:t xml:space="preserve">Working Title: AI에게 지금 무엇을 맡기고 있는가?</a:t>
            </a:r>
          </a:p>
          <a:p>
            <a:r>
              <a:t xml:space="preserve"/>
            </a:r>
          </a:p>
          <a:p>
            <a:r>
              <a:t xml:space="preserve">ACT / Section: ACT 0 / 0A</a:t>
            </a:r>
          </a:p>
          <a:p>
            <a:r>
              <a:t xml:space="preserve"/>
            </a:r>
          </a:p>
          <a:p>
            <a:r>
              <a:t xml:space="preserve">Allocated Time: 5 minutes</a:t>
            </a:r>
          </a:p>
          <a:p>
            <a:r>
              <a:t xml:space="preserve"/>
            </a:r>
          </a:p>
          <a:p>
            <a:r>
              <a:t xml:space="preserve">Mode Split: Lecture 1 minute + Reflection 4 minutes</a:t>
            </a:r>
          </a:p>
          <a:p>
            <a:r>
              <a:t xml:space="preserve"/>
            </a:r>
          </a:p>
          <a:p>
            <a:r>
              <a:t xml:space="preserve">Primary Message: 자기 AI 활용을 평가하지 않고, 현재 맡기는 업무 범위를 돌아본다.</a:t>
            </a:r>
          </a:p>
          <a:p>
            <a:r>
              <a:t xml:space="preserve"/>
            </a:r>
          </a:p>
          <a:p>
            <a:r>
              <a:t xml:space="preserve">Opening Question: “나는 지금 AI에게 무엇을 맡기고 있는가?” 화면의 한 줄 안내처럼 최근 AI에 맡긴 일 하나를 떠올리게 한다.</a:t>
            </a:r>
          </a:p>
          <a:p>
            <a:r>
              <a:t xml:space="preserve"/>
            </a:r>
          </a:p>
          <a:p>
            <a:r>
              <a:t xml:space="preserve">Speaker Flow: 1. **OPEN (0:00–0:15 / Lecture):** 기존 제목과 “최근 AI에 맡긴 일 하나를 떠올려보세요”를 읽는다. 사용 수준을 평가하는 자리가 아니며 익숙한 경험 하나면 충분하다고 말한다.</a:t>
            </a:r>
          </a:p>
          <a:p>
            <a:r>
              <a:t xml:space="preserve">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a:r>
              <a:t xml:space="preserve">3. **INVITE (0:45–1:00 / Lecture):** 이 중 최근 자신의 경험과 가까운 일 하나만 조용히 떠올리면 된다고 안내한다. Prompt·Context·Harness·Loop의 이름이나 성숙도 설명을 덧붙이지 않는다.</a:t>
            </a:r>
          </a:p>
          <a:p>
            <a:r>
              <a:t xml:space="preserve">4. **REFLECTION (1:00–5:00):** 네 분의 개인 생각 시간을 보존한다. 응답·기록·공유·실천 약속을 요구하지 않고 예시 설명을 계속하지 않는다.</a:t>
            </a:r>
          </a:p>
          <a:p>
            <a:r>
              <a:t xml:space="preserve"/>
            </a:r>
          </a:p>
          <a:p>
            <a:r>
              <a:t xml:space="preserve">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a:r>
              <a:t xml:space="preserve"/>
            </a:r>
          </a:p>
          <a:p>
            <a:r>
              <a:t xml:space="preserve">보존된 상세 출처: 교육용 사례 삽화 · AI 생성 이미지 · 실제 제품 실행 화면 아님</a:t>
            </a:r>
          </a:p>
          <a:p>
            <a:r>
              <a:t xml:space="preserve"/>
            </a:r>
          </a:p>
          <a:p>
            <a:r>
              <a:t xml:space="preserve">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a:r>
              <a:t xml:space="preserve"/>
            </a:r>
          </a:p>
          <a:p>
            <a:r>
              <a:t xml:space="preserve">보존된 상세 범위: 자신의 경험 하나만 떠올려 보세요. 사용 수준을 평가하는 질문이 아닙니다.</a:t>
            </a:r>
          </a:p>
          <a:p>
            <a:r>
              <a:t xml:space="preserve"/>
            </a:r>
          </a:p>
          <a:p>
            <a:r>
              <a:t xml:space="preserve">Beginner Explanation: 지금 자주 맡기는 작은 일 하나를 떠올리면 충분하다. 아직 해보지 않은 사용법을 아는 척할 필요는 없다.</a:t>
            </a:r>
          </a:p>
          <a:p>
            <a:r>
              <a:t xml:space="preserve"/>
            </a:r>
          </a:p>
          <a:p>
            <a:r>
              <a:t xml:space="preserve">Advanced Insight: 서로 다른 출발점을 같은 문제 중심 Story에서 다룬다. 세 장면으로 익숙한 경험을 떠올리게 하며 다음 단계 이름이나 고급 구성요소를 이 장에서 미리 설명하지 않는다.</a:t>
            </a:r>
          </a:p>
          <a:p>
            <a:r>
              <a:t xml:space="preserve"/>
            </a:r>
          </a:p>
          <a:p>
            <a:r>
              <a:t xml:space="preserve">C++ Vision Bridge: N/A.</a:t>
            </a:r>
          </a:p>
          <a:p>
            <a:r>
              <a:t xml:space="preserve"/>
            </a:r>
          </a:p>
          <a:p>
            <a:r>
              <a:t xml:space="preserve">Demo Operation: N/A. 삽화 세 장면을 강사가 가리키는 도입이다. 실제 제품 조작·새 Trial·실행 결과 시연이 아니다.</a:t>
            </a:r>
          </a:p>
          <a:p>
            <a:r>
              <a:t xml:space="preserve"/>
            </a:r>
          </a:p>
          <a:p>
            <a:r>
              <a:t xml:space="preserve">Audience Interaction: Reflection은 개인적인 생각 시간이다. 답변·기록·공유·실천 약속을 요구하지 않는다. 세 사례 중 경험을 발표하거나 자신의 수준을 고르게 하지 않는다.</a:t>
            </a:r>
          </a:p>
          <a:p>
            <a:r>
              <a:t xml:space="preserve"/>
            </a:r>
          </a:p>
          <a:p>
            <a:r>
              <a:t xml:space="preserve">Transition: 작은 코드나 오류를 질문하는 익숙한 방식부터 인정하며 S03로 간다.</a:t>
            </a:r>
          </a:p>
          <a:p>
            <a:r>
              <a:t xml:space="preserve"/>
            </a:r>
          </a:p>
          <a:p>
            <a:r>
              <a:t xml:space="preserve">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a:r>
              <a:t xml:space="preserve"/>
            </a:r>
          </a:p>
          <a:p>
            <a:r>
              <a:t xml:space="preserve">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S03 — 작은 질문에는 Chatbot이 유용하다</a:t>
            </a:r>
          </a:p>
          <a:p>
            <a:r>
              <a:t xml:space="preserve"/>
            </a:r>
          </a:p>
          <a:p>
            <a:r>
              <a:t xml:space="preserve">Slide ID: S03</a:t>
            </a:r>
          </a:p>
          <a:p>
            <a:r>
              <a:t xml:space="preserve"/>
            </a:r>
          </a:p>
          <a:p>
            <a:r>
              <a:t xml:space="preserve">Working Title: 작은 질문에는 Chatbot이 유용하다</a:t>
            </a:r>
          </a:p>
          <a:p>
            <a:r>
              <a:t xml:space="preserve"/>
            </a:r>
          </a:p>
          <a:p>
            <a:r>
              <a:t xml:space="preserve">ACT / Section: ACT 0 / 0B</a:t>
            </a:r>
          </a:p>
          <a:p>
            <a:r>
              <a:t xml:space="preserve"/>
            </a:r>
          </a:p>
          <a:p>
            <a:r>
              <a:t xml:space="preserve">Allocated Time: 5 minutes</a:t>
            </a:r>
          </a:p>
          <a:p>
            <a:r>
              <a:t xml:space="preserve"/>
            </a:r>
          </a:p>
          <a:p>
            <a:r>
              <a:t xml:space="preserve">Mode Split: Lecture 5 minutes</a:t>
            </a:r>
          </a:p>
          <a:p>
            <a:r>
              <a:t xml:space="preserve"/>
            </a:r>
          </a:p>
          <a:p>
            <a:r>
              <a:t xml:space="preserve">Primary Message: 필요한 코드나 오류를 전달해 답을 받는 방식은 작은 질문에서 빠르고 유용할 수 있다.</a:t>
            </a:r>
          </a:p>
          <a:p>
            <a:r>
              <a:t xml:space="preserve"/>
            </a:r>
          </a:p>
          <a:p>
            <a:r>
              <a:t xml:space="preserve">Opening Question: “괄호만 바꾸면 같은 원소가 만들어질까?” `std::vector&lt;int&gt;`의 두 초기화 표현을 작은 코드 질문으로 제시한다.</a:t>
            </a:r>
          </a:p>
          <a:p>
            <a:r>
              <a:t xml:space="preserve"/>
            </a:r>
          </a:p>
          <a:p>
            <a:r>
              <a:t xml:space="preserve">Speaker Flow:</a:t>
            </a:r>
          </a:p>
          <a:p>
            <a:r>
              <a:t xml:space="preserve"/>
            </a:r>
          </a:p>
          <a:p>
            <a:r>
              <a:t xml:space="preserve">1. **OPEN (0:00–0:45):** `std::vector&lt;int&gt; a(3, 1);`과 `std::vector&lt;int&gt; b{3, 1};`을 보여 준다. 같은 숫자라도 괄호가 다르면 어떤 의미가 되는지 묻는 교육용 예시임을 밝힌다. 실제 ChatGPT 대화나 컴파일 실행 화면이 아니다.</a:t>
            </a:r>
          </a:p>
          <a:p>
            <a:r>
              <a:t xml:space="preserve">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a:r>
              <a:t xml:space="preserve">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a:r>
              <a:t xml:space="preserve">4. **INTERPRET (4:15–4:30):** 작은 코드 조각의 혼동을 풀 때 이 질문 방식이 유용할 수 있음을 인정한다.</a:t>
            </a:r>
          </a:p>
          <a:p>
            <a:r>
              <a:t xml:space="preserve">5. **TRANSITION (4:30–5:00):** 질문이 여러 파일과 구현 경로로 커지면 무엇부터 찾아 전달해야 하는지 S05으로 연결한다. 현재 방식을 잘못된 사용법으로 평가하지 않는다.</a:t>
            </a:r>
          </a:p>
          <a:p>
            <a:r>
              <a:t xml:space="preserve"/>
            </a:r>
          </a:p>
          <a:p>
            <a:r>
              <a:t xml:space="preserve">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a:r>
              <a:t xml:space="preserve"/>
            </a:r>
          </a:p>
          <a:p>
            <a:r>
              <a:t xml:space="preserve">보존된 상세 출처: Microsoft C++ 문서 기반 교육 예시 · 실제 ChatGPT 대화·실행 화면 아님</a:t>
            </a:r>
          </a:p>
          <a:p>
            <a:r>
              <a:t xml:space="preserve"/>
            </a:r>
          </a:p>
          <a:p>
            <a:r>
              <a:t xml:space="preserve">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a:r>
              <a:t xml:space="preserve"/>
            </a:r>
          </a:p>
          <a:p>
            <a:r>
              <a:t xml:space="preserve">보존된 상세 범위: 괄호는 개수·값 생성자, 중괄호는 이 예시의 initializer_list 생성자를 사용합니다.</a:t>
            </a:r>
          </a:p>
          <a:p>
            <a:r>
              <a:t xml:space="preserve"/>
            </a:r>
          </a:p>
          <a:p>
            <a:r>
              <a:t xml:space="preserve">Beginner Explanation: 괄호만 다른 짧은 코드도 뜻을 물어볼 만한 질문이다. 두 표현이 각각 어떤 원소를 만드는지 설명을 받고 원래 코드와 맞는지 확인할 수 있다.</a:t>
            </a:r>
          </a:p>
          <a:p>
            <a:r>
              <a:t xml:space="preserve"/>
            </a:r>
          </a:p>
          <a:p>
            <a:r>
              <a:t xml:space="preserve">Advanced Insight: 익숙한 C++ 코드의 생성자 선택도 작은 질문의 대상이다. 이 장의 초점은 문법 강의보다 개발자가 필요한 Context를 선택·전달하고 답을 확인하는 흐름에 있다.</a:t>
            </a:r>
          </a:p>
          <a:p>
            <a:r>
              <a:t xml:space="preserve"/>
            </a:r>
          </a:p>
          <a:p>
            <a:r>
              <a:t xml:space="preserve">C++ Vision Bridge: 일반적인 C++ 코드 질문을 출발점으로 사용한다. 실제 Vision 처리·특정 IDE/컴파일러/Windows 빌드 조건·장비 실행을 추가하는 Demo가 아니다.</a:t>
            </a:r>
          </a:p>
          <a:p>
            <a:r>
              <a:t xml:space="preserve"/>
            </a:r>
          </a:p>
          <a:p>
            <a:r>
              <a:t xml:space="preserve">Demo Operation: N/A. 두 초기화 표현과 원소 도식, IDE → Chatbot → IDE의 연결된 native 흐름을 설명한다. 실제 대화·IDE 자동 연동·컴파일 실행·새 Trial은 없다.</a:t>
            </a:r>
          </a:p>
          <a:p>
            <a:r>
              <a:t xml:space="preserve"/>
            </a:r>
          </a:p>
          <a:p>
            <a:r>
              <a:t xml:space="preserve">Audience Interaction: Opening question은 생각을 여는 질문이다. 코드 작성·실행·손들기·경험 발표나 답변을 요구하지 않는다.</a:t>
            </a:r>
          </a:p>
          <a:p>
            <a:r>
              <a:t xml:space="preserve"/>
            </a:r>
          </a:p>
          <a:p>
            <a:r>
              <a:t xml:space="preserve">Transition: 질문이 여러 파일·구현 경로로 커지면 무엇을 먼저 찾아야 하는지 S05에서 묻는다.</a:t>
            </a:r>
          </a:p>
          <a:p>
            <a:r>
              <a:t xml:space="preserve"/>
            </a:r>
          </a:p>
          <a:p>
            <a:r>
              <a:t xml:space="preserve">Time Management: Lecture 5분 유지. 질문 45초, 초기화·원소 비교 90초, 연결된 세 노드 2분, 작은 질문의 가치 15초, S05 연결 30초로 운영한다. 상세 Prompt 작성법이나 C++ 초기화 문법 전반을 추가하지 않는다. 실제 발화 시간은 미측정이다.</a:t>
            </a:r>
          </a:p>
          <a:p>
            <a:r>
              <a:t xml:space="preserve"/>
            </a:r>
          </a:p>
          <a:p>
            <a:r>
              <a:t xml:space="preserve">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S04 — 코드 질문은 VS Code의 Copilot Chat에서</a:t>
            </a:r>
          </a:p>
          <a:p>
            <a:r>
              <a:t xml:space="preserve"/>
            </a:r>
          </a:p>
          <a:p>
            <a:r>
              <a:t xml:space="preserve">**Slide ID:**</a:t>
            </a:r>
          </a:p>
          <a:p>
            <a:r>
              <a:t xml:space="preserve">S04</a:t>
            </a:r>
          </a:p>
          <a:p>
            <a:r>
              <a:t xml:space="preserve"/>
            </a:r>
          </a:p>
          <a:p>
            <a:r>
              <a:t xml:space="preserve">**Working Title:**</a:t>
            </a:r>
          </a:p>
          <a:p>
            <a:r>
              <a:t xml:space="preserve">코드 질문은 VS Code의 Copilot Chat에서</a:t>
            </a:r>
          </a:p>
          <a:p>
            <a:r>
              <a:t xml:space="preserve"/>
            </a:r>
          </a:p>
          <a:p>
            <a:r>
              <a:t xml:space="preserve">**ACT / Section:**</a:t>
            </a:r>
          </a:p>
          <a:p>
            <a:r>
              <a:t xml:space="preserve">ACT 0 / 0B</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질문할 코드를 선택해 Copilot Chat의 Context로 첨부하고, 코드 설명을 요청한 뒤 답을 확인한다.</a:t>
            </a:r>
          </a:p>
          <a:p>
            <a:r>
              <a:t xml:space="preserve"/>
            </a:r>
          </a:p>
          <a:p>
            <a:r>
              <a:t xml:space="preserve">**Opening Question:**</a:t>
            </a:r>
          </a:p>
          <a:p>
            <a:r>
              <a:t xml:space="preserve">“앞의 C++ 질문을 회사에서 사용하는 IDE 안에서 어떻게 물어볼까?”</a:t>
            </a:r>
          </a:p>
          <a:p>
            <a:r>
              <a:t xml:space="preserve"/>
            </a:r>
          </a:p>
          <a:p>
            <a:r>
              <a:t xml:space="preserve">**Speaker Flow:**</a:t>
            </a:r>
          </a:p>
          <a:p>
            <a:r>
              <a:t xml:space="preserve">1. (0:00–0:25 / Lecture) S03과 같은 두 vector 초기화 코드를 가리킨다. 회사에서 사용하는 GitHub Copilot과 VS Code 조합으로 이 작은 질문을 이어갈 수 있다.</a:t>
            </a:r>
          </a:p>
          <a:p>
            <a:r>
              <a:t xml:space="preserve">2. (0:25–1:15 / Lecture) 편집기에서 두 줄을 선택하고 Copilot Chat의 Context에 첨부·확인하는 도식을 읽는다. Ask로 “두 vector의 원소 개수와 값이 왜 다른지 설명해줘. 코드는 수정하지 마.”라고 요청한다. 재구성한 화면이며 실제 사용·응답 기록을 보여주는 장이 아니다.</a:t>
            </a:r>
          </a:p>
          <a:p>
            <a:r>
              <a:t xml:space="preserve">3. (1:15–2:00 / Lecture) 답을 코드 의미와 대조해 확인한다. IDE에 열려 있다는 사실과 필요한 정보가 전달됐다는 사실은 구분한다. 다음 장에서 질문이 커질 때 필요한 자료 범주를 살펴본다.</a:t>
            </a:r>
          </a:p>
          <a:p>
            <a:r>
              <a:t xml:space="preserve"/>
            </a:r>
          </a:p>
          <a:p>
            <a:r>
              <a:t xml:space="preserve">**Evidence / Source:**</a:t>
            </a:r>
          </a:p>
          <a:p>
            <a:r>
              <a:t xml:space="preserve">GitHub Docs, Asking GitHub Copilot questions in your IDE: https://docs.github.com/en/copilot/how-tos/copilot-in-your-ide/chat-with-copilot/chat-in-ide?tool=vscode ; VS Code Docs, Add context to chat: https://code.visualstudio.com/docs/chat/copilot-chat-context ; checked2026-10-26. DEC-0101 and explicit user instruction establish the company-used tool combination, not a mandatory company policy.</a:t>
            </a:r>
          </a:p>
          <a:p>
            <a:r>
              <a:t xml:space="preserve"/>
            </a:r>
          </a:p>
          <a:p>
            <a:r>
              <a:t xml:space="preserve">보존된 상세 출처: GitHub Docs · VS Code Docs | 사용 방법을 재구성한 교육용 UI 도식</a:t>
            </a:r>
          </a:p>
          <a:p>
            <a:r>
              <a:t xml:space="preserve"/>
            </a:r>
          </a:p>
          <a:p>
            <a:r>
              <a:t xml:space="preserve">**Claim Boundary:**</a:t>
            </a:r>
          </a:p>
          <a:p>
            <a:r>
              <a:t xml:space="preserve">RESEARCH / TEACHING_MODEL / REQUIRES PRODUCT CHECK — 공식 안내를 각색한 UI 도식과 요청 예시다. 실제 회사 화면·Copilot 응답·선택/첨부/실행 기록이 아니다. 특정 계정의 기능·조직 정책·자동 Context 포함이나 정확성/시간 절감은 검증하지 않았다.</a:t>
            </a:r>
          </a:p>
          <a:p>
            <a:r>
              <a:t xml:space="preserve"/>
            </a:r>
          </a:p>
          <a:p>
            <a:r>
              <a:t xml:space="preserve">보존된 상세 범위: 실제 회사 화면·응답 아님 · 전달할 코드를 확인하고, 답을 다시 확인한다.</a:t>
            </a:r>
          </a:p>
          <a:p>
            <a:r>
              <a:t xml:space="preserve"/>
            </a:r>
          </a:p>
          <a:p>
            <a:r>
              <a:t xml:space="preserve">**Beginner Explanation:**</a:t>
            </a:r>
          </a:p>
          <a:p>
            <a:r>
              <a:t xml:space="preserve">회사에서 사용하는 VS Code에서 관련 코드를 골라 Copilot Chat에 설명을 요청할 수 있다.</a:t>
            </a:r>
          </a:p>
          <a:p>
            <a:r>
              <a:t xml:space="preserve"/>
            </a:r>
          </a:p>
          <a:p>
            <a:r>
              <a:t xml:space="preserve">**Advanced Insight:**</a:t>
            </a:r>
          </a:p>
          <a:p>
            <a:r>
              <a:t xml:space="preserve">IDE 통합과 실제 전달 Context를 구분하고 필요한 코드 첨부 및 응답 확인 책임을 유지한다.</a:t>
            </a:r>
          </a:p>
          <a:p>
            <a:r>
              <a:t xml:space="preserve"/>
            </a:r>
          </a:p>
          <a:p>
            <a:r>
              <a:t xml:space="preserve">**C++ Vision Bridge:**</a:t>
            </a:r>
          </a:p>
          <a:p>
            <a:r>
              <a:t xml:space="preserve">S03의 std::vector 초기화 예제를 그대로 사용한다. 실제 컴파일·실행·C++ 검사 파이프라인 검증은 추가하지 않는다.</a:t>
            </a:r>
          </a:p>
          <a:p>
            <a:r>
              <a:t xml:space="preserve"/>
            </a:r>
          </a:p>
          <a:p>
            <a:r>
              <a:t xml:space="preserve">**Demo Operation:**</a:t>
            </a:r>
          </a:p>
          <a:p>
            <a:r>
              <a:t xml:space="preserve">N/A — 정적 교육용 UI 도식. 회사 계정에 로그인하거나 Copilot을 호출·실행하지 않는다. 설치나 조직 정책 변경도 하지 않는다.</a:t>
            </a:r>
          </a:p>
          <a:p>
            <a:r>
              <a:t xml:space="preserve"/>
            </a:r>
          </a:p>
          <a:p>
            <a:r>
              <a:t xml:space="preserve">**Audience Interaction:**</a:t>
            </a:r>
          </a:p>
          <a:p>
            <a:r>
              <a:t xml:space="preserve">화면의3단계를 짧게 짚는다. 청중에게 설치·로그인·직접 실습이나 공개 답변을 요구하지 않는다.</a:t>
            </a:r>
          </a:p>
          <a:p>
            <a:r>
              <a:t xml:space="preserve"/>
            </a:r>
          </a:p>
          <a:p>
            <a:r>
              <a:t xml:space="preserve">**Transition:**</a:t>
            </a:r>
          </a:p>
          <a:p>
            <a:r>
              <a:t xml:space="preserve">“선택한 코드만으로 설명하기 어려운 문제라면, 어떤 자료가 더 필요할까요?” S05의 기존 Context 수집 문제로 이어간다.</a:t>
            </a:r>
          </a:p>
          <a:p>
            <a:r>
              <a:t xml:space="preserve"/>
            </a:r>
          </a:p>
          <a:p>
            <a:r>
              <a:t xml:space="preserve">**Time Management:**</a:t>
            </a:r>
          </a:p>
          <a:p>
            <a:r>
              <a:t xml:space="preserve">0:00–0:25 같은 예제,0:25–1:15 코드 선택/첨부/Ask 질문,1:15–2:00 답 확인과 다음 Context 질문.2분에 넘긴다. 설정·요금·모델 비교는 이 장의 범위가 아니다. 실제 리허설 UNVERIFIED.</a:t>
            </a:r>
          </a:p>
          <a:p>
            <a:r>
              <a:t xml:space="preserve"/>
            </a:r>
          </a:p>
          <a:p>
            <a:r>
              <a:t xml:space="preserve">**Fallback:**</a:t>
            </a:r>
          </a:p>
          <a:p>
            <a:r>
              <a:t xml:space="preserve">PLANNED until the new local PPT/PNG is rendered and inspected. Default is the reconstructed diagram in production/ACT_0.pptx S04 and production/preview/full/S04.png; no live switch is required.</a:t>
            </a:r>
          </a:p>
          <a:p>
            <a:r>
              <a:t xml:space="preserve"/>
            </a:r>
          </a:p>
          <a:p>
            <a:r>
              <a:t xml:space="preserve">**Validation Status:**</a:t>
            </a:r>
          </a:p>
          <a:p>
            <a:r>
              <a:t xml:space="preserve">Official guidance checked2026-10-26; local export/render validation is recorded separately in production/evaluation/COPILOT_IDE_TIP.md. Company-account execution, Windows, room and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S05 — 질문이 커지면 Context를 모으는 일이 생긴다</a:t>
            </a:r>
          </a:p>
          <a:p>
            <a:r>
              <a:t xml:space="preserve"/>
            </a:r>
          </a:p>
          <a:p>
            <a:r>
              <a:t xml:space="preserve">Slide ID: S05</a:t>
            </a:r>
          </a:p>
          <a:p>
            <a:r>
              <a:t xml:space="preserve"/>
            </a:r>
          </a:p>
          <a:p>
            <a:r>
              <a:t xml:space="preserve">Working Title: 질문이 커지면 Context를 모으는 일이 생긴다</a:t>
            </a:r>
          </a:p>
          <a:p>
            <a:r>
              <a:t xml:space="preserve"/>
            </a:r>
          </a:p>
          <a:p>
            <a:r>
              <a:t xml:space="preserve">ACT / Section: ACT 0 / 0C</a:t>
            </a:r>
          </a:p>
          <a:p>
            <a:r>
              <a:t xml:space="preserve"/>
            </a:r>
          </a:p>
          <a:p>
            <a:r>
              <a:t xml:space="preserve">Allocated Time: 4 minutes</a:t>
            </a:r>
          </a:p>
          <a:p>
            <a:r>
              <a:t xml:space="preserve"/>
            </a:r>
          </a:p>
          <a:p>
            <a:r>
              <a:t xml:space="preserve">Mode Split: Case 4 minutes</a:t>
            </a:r>
          </a:p>
          <a:p>
            <a:r>
              <a:t xml:space="preserve"/>
            </a:r>
          </a:p>
          <a:p>
            <a:r>
              <a:t xml:space="preserve">Primary Message: Repository 수준 질문에서는 사람이 관련 구현, 호출 경로, 테스트 결과와 명세서 등 필요한 정보를 찾아 대화에 옮기는 일이 생길 수 있다.</a:t>
            </a:r>
          </a:p>
          <a:p>
            <a:r>
              <a:t xml:space="preserve"/>
            </a:r>
          </a:p>
          <a:p>
            <a:r>
              <a:t xml:space="preserve">Opening Question: “디버깅할 때 우리는 어떤 정보를 살펴보고 있었을까?” 익숙한 Visual Studio 사용 상황을 떠올리게 한다.</a:t>
            </a:r>
          </a:p>
          <a:p>
            <a:r>
              <a:t xml:space="preserve"/>
            </a:r>
          </a:p>
          <a:p>
            <a:r>
              <a:t xml:space="preserve">Speaker Flow:</a:t>
            </a:r>
          </a:p>
          <a:p>
            <a:r>
              <a:t xml:space="preserve"/>
            </a:r>
          </a:p>
          <a:p>
            <a:r>
              <a:t xml:space="preserve">1. **OPEN (0:00–0:30):** 결과가 기대와 다를 때 여러 파일과 정보를 살펴보는 익숙한 상황으로 질문의 범위를 넓힌다. 실제 장애나 Trial 실패를 재현하는 화면이 아니다.</a:t>
            </a:r>
          </a:p>
          <a:p>
            <a:r>
              <a:t xml:space="preserve">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a:r>
              <a:t xml:space="preserve">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a:r>
              <a:t xml:space="preserve">4. **TRANSITION (3:30–4:00):** “파일명을 알려주지 않아도 Agent가 필요한 경로를 찾을까?”라는 S06의 관찰 질문으로 이동한다.</a:t>
            </a:r>
          </a:p>
          <a:p>
            <a:r>
              <a:t xml:space="preserve"/>
            </a:r>
          </a:p>
          <a:p>
            <a:r>
              <a:t xml:space="preserve">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a:r>
              <a:t xml:space="preserve"/>
            </a:r>
          </a:p>
          <a:p>
            <a:r>
              <a:t xml:space="preserve">보존된 상세 출처: Visual Studio 사용자의 디버깅 정보를 설명하는 교육용 병렬 도식</a:t>
            </a:r>
          </a:p>
          <a:p>
            <a:r>
              <a:t xml:space="preserve"/>
            </a:r>
          </a:p>
          <a:p>
            <a:r>
              <a:t xml:space="preserve">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a:r>
              <a:t xml:space="preserve"/>
            </a:r>
          </a:p>
          <a:p>
            <a:r>
              <a:t xml:space="preserve">보존된 상세 범위: 특정 Trial의 실제 화면이 아닙니다. 명세서는 IDE 밖에서도 함께 참고하는 문서입니다.</a:t>
            </a:r>
          </a:p>
          <a:p>
            <a:r>
              <a:t xml:space="preserve"/>
            </a:r>
          </a:p>
          <a:p>
            <a:r>
              <a:t xml:space="preserve">Beginner Explanation: 디버깅하면서 이미 보던 테스트 결과·코드·변수 값·명세서가 질문에 필요한 Context가 될 수 있다. 필요한 정보를 골라 묶는다는 점을 알아차리면 충분하다.</a:t>
            </a:r>
          </a:p>
          <a:p>
            <a:r>
              <a:t xml:space="preserve"/>
            </a:r>
          </a:p>
          <a:p>
            <a:r>
              <a:t xml:space="preserve">Advanced Insight: 코드 외에도 런타임 상태, 기대 동작과 입력 조건을 Context로 모으는 일이 별도 부담이 될 수 있다. 병렬 정보 범주는 실제 호출 순서·고정된 조사 절차와 구분한다.</a:t>
            </a:r>
          </a:p>
          <a:p>
            <a:r>
              <a:t xml:space="preserve"/>
            </a:r>
          </a:p>
          <a:p>
            <a:r>
              <a:t xml:space="preserve">C++ Vision Bridge: C++/Visual Studio 사용자에게 익숙한 디버깅 정보 범주를 활용한다. 특정 메뉴·버전·빌드·하드웨어 조작 절차나 실제 C++ 실행을 입증하는 예시는 아니다.</a:t>
            </a:r>
          </a:p>
          <a:p>
            <a:r>
              <a:t xml:space="preserve"/>
            </a:r>
          </a:p>
          <a:p>
            <a:r>
              <a:t xml:space="preserve">Demo Operation: N/A — 다음 장에서 관찰 기준을 제시한다.</a:t>
            </a:r>
          </a:p>
          <a:p>
            <a:r>
              <a:t xml:space="preserve"/>
            </a:r>
          </a:p>
          <a:p>
            <a:r>
              <a:t xml:space="preserve">Audience Interaction: 수사 질문이다. 응답이나 직접 파일 탐색을 요구하지 않는다.</a:t>
            </a:r>
          </a:p>
          <a:p>
            <a:r>
              <a:t xml:space="preserve"/>
            </a:r>
          </a:p>
          <a:p>
            <a:r>
              <a:t xml:space="preserve">Transition: “파일명을 알려주지 않아도 Agent가 필요한 경로를 찾을까?”라고 질문하며 S06의 관찰 기준으로 넘어간다.</a:t>
            </a:r>
          </a:p>
          <a:p>
            <a:r>
              <a:t xml:space="preserve"/>
            </a:r>
          </a:p>
          <a:p>
            <a:r>
              <a:t xml:space="preserve">Time Management: Case 4분 유지. 문제 질문 30초, 병렬 정보 여섯 범주 2분, Context로 묶는 의미 1분, S06 연결 30초로 운영한다. 각 범주의 도구 사용법을 강의하거나 Agent 해결책을 미리 공개하지 않는다.</a:t>
            </a:r>
          </a:p>
          <a:p>
            <a:r>
              <a:t xml:space="preserve"/>
            </a:r>
          </a:p>
          <a:p>
            <a:r>
              <a:t xml:space="preserve">Fallback: `production/preview/full/S05.png` 또는 `production/preview/act0/S05.png`의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S06 — 파일명을 주지 않으면 Agent는 어디부터 볼까?</a:t>
            </a:r>
          </a:p>
          <a:p>
            <a:r>
              <a:t xml:space="preserve"/>
            </a:r>
          </a:p>
          <a:p>
            <a:r>
              <a:t xml:space="preserve">**Slide ID:**</a:t>
            </a:r>
          </a:p>
          <a:p>
            <a:r>
              <a:t xml:space="preserve">S06</a:t>
            </a:r>
          </a:p>
          <a:p>
            <a:r>
              <a:t xml:space="preserve"/>
            </a:r>
          </a:p>
          <a:p>
            <a:r>
              <a:t xml:space="preserve">**Working Title:**</a:t>
            </a:r>
          </a:p>
          <a:p>
            <a:r>
              <a:t xml:space="preserve">파일명을 주지 않으면 Agent는 어디부터 볼까?</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Demo에서는 파일을 직접 지정하지 않았을 때의 Search → Read → Trace를 관찰한다.</a:t>
            </a:r>
          </a:p>
          <a:p>
            <a:r>
              <a:t xml:space="preserve"/>
            </a:r>
          </a:p>
          <a:p>
            <a:r>
              <a:t xml:space="preserve">**Opening Question:**</a:t>
            </a:r>
          </a:p>
          <a:p>
            <a:r>
              <a:t xml:space="preserve">“Agent가 Test, 구현, 호출 경로를 어떻게 찾는가?”</a:t>
            </a:r>
          </a:p>
          <a:p>
            <a:r>
              <a:t xml:space="preserve"/>
            </a:r>
          </a:p>
          <a:p>
            <a:r>
              <a:t xml:space="preserve">**Speaker Flow:**</a:t>
            </a:r>
          </a:p>
          <a:p>
            <a:r>
              <a:t xml:space="preserve">1. **READ THE REQUEST (0:00–0:30):** 좌측 입력창 형태로 재구성한 TRIAL-001 요청 원문을 가리킨다. 파일명을 지정하지 않았고 아직 코드를 수정하지 말라고 했다는 점을 짚는다. 입력창은 실제 현재 제품 screenshot이 아니다.</a:t>
            </a:r>
          </a:p>
          <a:p>
            <a:r>
              <a:t xml:space="preserve">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a:r>
              <a:t xml:space="preserve">3. **SET WATCH FOR (1:00–1:45):** 실패 테스트, 관련 구현, 제품 호출 경로의 세 관찰 대상을 차례로 가리킨다. 실제로 발견된 파일명·원인·수정안은 S07–S08에 남긴다. 좌우 패널을 “이 Prompt를 실행해 이 결과가 나왔다”는 인과 화살표로 설명하지 않는다.</a:t>
            </a:r>
          </a:p>
          <a:p>
            <a:r>
              <a:t xml:space="preserve">4. **SCOPE (1:45–2:00):** Codex CLI 0.154.0의 과거 읽기 전용 기록을 볼 것이라고 한 문장으로 제한하고 S07–S08로 넘긴다.</a:t>
            </a:r>
          </a:p>
          <a:p>
            <a:r>
              <a:t xml:space="preserve"/>
            </a:r>
          </a:p>
          <a:p>
            <a:r>
              <a:t xml:space="preserve">**Evidence / Source:**</a:t>
            </a:r>
          </a:p>
          <a:p>
            <a:r>
              <a:t xml:space="preserve">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S07–S08에서 연다.</a:t>
            </a:r>
          </a:p>
          <a:p>
            <a:r>
              <a:t xml:space="preserve"/>
            </a:r>
          </a:p>
          <a:p>
            <a:r>
              <a:t xml:space="preserve">보존된 상세 출처: 실제 요청: TRIAL-001 · Codex CLI 0.154.0 · macOS · 읽기 전용</a:t>
            </a:r>
          </a:p>
          <a:p>
            <a:r>
              <a:t xml:space="preserve"/>
            </a:r>
          </a:p>
          <a:p>
            <a:r>
              <a:t xml:space="preserve">**Claim Boundary:**</a:t>
            </a:r>
          </a:p>
          <a:p>
            <a:r>
              <a:t xml:space="preserve">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a:r>
              <a:t xml:space="preserve"/>
            </a:r>
          </a:p>
          <a:p>
            <a:r>
              <a:t xml:space="preserve">보존된 상세 범위: 우측은 가상 GoogleTest 예시 · 실제 Trial은 Python unittest · 현재 Desktop은 미검증</a:t>
            </a:r>
          </a:p>
          <a:p>
            <a:r>
              <a:t xml:space="preserve"/>
            </a:r>
          </a:p>
          <a:p>
            <a:r>
              <a:t xml:space="preserve">**Beginner Explanation:**</a:t>
            </a:r>
          </a:p>
          <a:p>
            <a:r>
              <a:t xml:space="preserve">익숙한 테스트 목록에서 실패 하나를 보는 문제 상황을 떠올리고, 실제 기록에서는 Agent가 무엇을 찾아냈는지 다음 장에서 확인한다. 그림의 가상 목록과 실제 Trial 근거를 구분한다.</a:t>
            </a:r>
          </a:p>
          <a:p>
            <a:r>
              <a:t xml:space="preserve"/>
            </a:r>
          </a:p>
          <a:p>
            <a:r>
              <a:t xml:space="preserve">**Advanced Insight:**</a:t>
            </a:r>
          </a:p>
          <a:p>
            <a:r>
              <a:t xml:space="preserve">답변뿐 아니라 파일 발견과 호출 경로 추적을 관찰 대상으로 둔다.</a:t>
            </a:r>
          </a:p>
          <a:p>
            <a:r>
              <a:t xml:space="preserve"/>
            </a:r>
          </a:p>
          <a:p>
            <a:r>
              <a:t xml:space="preserve">**C++ Vision Bridge:**</a:t>
            </a:r>
          </a:p>
          <a:p>
            <a:r>
              <a:t xml:space="preserve">GoogleTest 형식을 C++ 청중을 위한 가상 설명 그림에만 사용한다. 실제 Demo repository는 Python unittest이며 C++ 제품 State·실행·측정으로 전환하지 않는다.</a:t>
            </a:r>
          </a:p>
          <a:p>
            <a:r>
              <a:t xml:space="preserve"/>
            </a:r>
          </a:p>
          <a:p>
            <a:r>
              <a:t xml:space="preserve">**Demo Operation:**</a:t>
            </a:r>
          </a:p>
          <a:p>
            <a:r>
              <a:t xml:space="preserve">DEMO-01 / WATCH. 기본 경로는 `production/ACT_0.pptx` S06–S09–S10의 정적 발표다. S06에서는 좌측 실제 요청의 재구성, 우측 가상 GoogleTest UI의 경계, 세 관찰 대상을 설명하고 S07–S08로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S07/S07에4분씩 나뉘며 S09/S09은 별도 Case다.</a:t>
            </a:r>
          </a:p>
          <a:p>
            <a:r>
              <a:t xml:space="preserve"/>
            </a:r>
          </a:p>
          <a:p>
            <a:r>
              <a:t xml:space="preserve">**Audience Interaction:**</a:t>
            </a:r>
          </a:p>
          <a:p>
            <a:r>
              <a:t xml:space="preserve">응답을 요구하지 않는다. 세 관찰 항목을 청중이 마음속으로 따라오게 한다.</a:t>
            </a:r>
          </a:p>
          <a:p>
            <a:r>
              <a:t xml:space="preserve"/>
            </a:r>
          </a:p>
          <a:p>
            <a:r>
              <a:t xml:space="preserve">**Transition:**</a:t>
            </a:r>
          </a:p>
          <a:p>
            <a:r>
              <a:t xml:space="preserve">“먼저 Crop 결과를 보고, 이어서 그 원인을 설명한 근거를 확인하겠습니다.”</a:t>
            </a:r>
          </a:p>
          <a:p>
            <a:r>
              <a:t xml:space="preserve"/>
            </a:r>
          </a:p>
          <a:p>
            <a:r>
              <a:t xml:space="preserve">**Time Management:**</a:t>
            </a:r>
          </a:p>
          <a:p>
            <a:r>
              <a:t xml:space="preserve">Lecture 2분 유지. 요청 30초, 실제/가상 화면 구분 30초, 세 Watch For 45초, 과거 CLI 범위와 S07–S08 전환 15초로 운영한다. 테스트 framework 설명이나 실제 실패 원인 공개를 이 장에 추가하지 않는다.</a:t>
            </a:r>
          </a:p>
          <a:p>
            <a:r>
              <a:t xml:space="preserve"/>
            </a:r>
          </a:p>
          <a:p>
            <a:r>
              <a:t xml:space="preserve">**Fallback:**</a:t>
            </a:r>
          </a:p>
          <a:p>
            <a:r>
              <a:t xml:space="preserve">정적 기본 경로 — `production/ACT_0.pptx` S06 또는 `production/preview/act0/S06.png`. 이번 수정본과 PNG의 일치 여부는 제작 단계에서 확인한다. 화면 사용이 불가능하면 실제 요청의 조건과 세 관찰 항목을 말로 제시하고 S07–S08 기록 설명으로 이동한다. 가상 GoogleTest 설정을 실제 Trial 결과로 대신 말하거나 Live CLI/Desktop을 즉석에서 열지 않는다. Windows·발표 PC·교육장 표시는 UNVERIFIED.</a:t>
            </a:r>
          </a:p>
          <a:p>
            <a:r>
              <a:t xml:space="preserve"/>
            </a:r>
          </a:p>
          <a:p>
            <a:r>
              <a:t xml:space="preserve">**Validation Status:**</a:t>
            </a:r>
          </a:p>
          <a:p>
            <a:r>
              <a:t xml:space="preserve">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S07 — Crop은 기대한 폭보다 한 열을 더 포함했다</a:t>
            </a:r>
          </a:p>
          <a:p>
            <a:r>
              <a:t xml:space="preserve"/>
            </a:r>
          </a:p>
          <a:p>
            <a:r>
              <a:t xml:space="preserve">**Slide ID:**</a:t>
            </a:r>
          </a:p>
          <a:p>
            <a:r>
              <a:t xml:space="preserve">S07</a:t>
            </a:r>
          </a:p>
          <a:p>
            <a:r>
              <a:t xml:space="preserve"/>
            </a:r>
          </a:p>
          <a:p>
            <a:r>
              <a:t xml:space="preserve">**Working Title:**</a:t>
            </a:r>
          </a:p>
          <a:p>
            <a:r>
              <a:t xml:space="preserve">Crop은 기대한 폭보다 한 열을 더 포함했다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crop(image,1,3)의 끝 좌표 제외 명세는 원본 열1·2, 값2·3과 폭2를 기대한다. 기존 구현은 값4까지 포함해 폭3이 됐다.</a:t>
            </a:r>
          </a:p>
          <a:p>
            <a:r>
              <a:t xml:space="preserve"/>
            </a:r>
          </a:p>
          <a:p>
            <a:r>
              <a:t xml:space="preserve">**Opening Question:**</a:t>
            </a:r>
          </a:p>
          <a:p>
            <a:r>
              <a:t xml:space="preserve">“끝 좌표3을 제외해야 한다면 어떤 값이 남아야 하나요?”</a:t>
            </a:r>
          </a:p>
          <a:p>
            <a:r>
              <a:t xml:space="preserve"/>
            </a:r>
          </a:p>
          <a:p>
            <a:r>
              <a:t xml:space="preserve">**Speaker Flow:**</a:t>
            </a:r>
          </a:p>
          <a:p>
            <a:r>
              <a:t xml:space="preserve">1. (0:00–0:30 / Demo) S06에서 관찰할 질문을 이어 받고, 이번에는 먼저 발견한 결과만 본다고 안내한다. 기존 두 Vector 초기화와 공통인 질문은 의도한 개수/범위와 실제 결과의 대조다. C++ 메모리 할당 사건으로 바꾸지 않는다.</a:t>
            </a:r>
          </a:p>
          <a:p>
            <a:r>
              <a:t xml:space="preserve">2. (0:30–2:00 / Demo) 원본 ((1,2,3,4),(5,6,7,8)) 중 첫 행만 발췌했음을 밝힌다. 열index1·2의 값2·3과 폭2가 끝 좌표 제외 명세의 기대다. 구현은 값4까지 포함해 폭3이다. 색은 선택 범위를 나타내며 숫자는 픽셀 값이다.</a:t>
            </a:r>
          </a:p>
          <a:p>
            <a:r>
              <a:t xml:space="preserve">3. (2:00–3:30 / Demo) 기대2·3과 구현2·3·4에서 추가된4만 가리킨다. 구현의 끝 좌표 포함이 현상이라는 결론만 회수하고 상세 Test·호출 경로는 다음 장으로 남긴다.</a:t>
            </a:r>
          </a:p>
          <a:p>
            <a:r>
              <a:t xml:space="preserve">4. (3:30–4:00 / Demo) 새 실행이나 수정이 아닌 TRIAL-001·STATE-00의 재구성이라고 닫고 이 설명을 뒷받침한 자료를 S08에서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STATE-00 테스트·소스의 첫 행을 발췌한 재구성 · CLI 0.154.0</a:t>
            </a:r>
          </a:p>
          <a:p>
            <a:r>
              <a:t xml:space="preserve"/>
            </a:r>
          </a:p>
          <a:p>
            <a:r>
              <a:t xml:space="preserve">**Claim Boundary:**</a:t>
            </a:r>
          </a:p>
          <a:p>
            <a:r>
              <a:t xml:space="preserve">FROZEN WITH SCOPE — TRIAL-001·STATE-00의 Python Crop 한 건. 첫 행 발췌 재구성이며 코드 수정·C++ 할당/오버런·현재 Desktop 검증이 아니다. 새 Trial·Chatbot 비교·환경 복구·성능/비용 효과를 만들지 않는다.</a:t>
            </a:r>
          </a:p>
          <a:p>
            <a:r>
              <a:t xml:space="preserve"/>
            </a:r>
          </a:p>
          <a:p>
            <a:r>
              <a:t xml:space="preserve">보존된 상세 범위: 실제 실행 Screenshot 아님 · 코드 수정 없음 · C++ 할당·capacity·버퍼 오버런 사례 아님</a:t>
            </a:r>
          </a:p>
          <a:p>
            <a:r>
              <a:t xml:space="preserve"/>
            </a:r>
          </a:p>
          <a:p>
            <a:r>
              <a:t xml:space="preserve">**Beginner Explanation:**</a:t>
            </a:r>
          </a:p>
          <a:p>
            <a:r>
              <a:t xml:space="preserve">끝 좌표를 하나 더 포함하면 기대한 폭과 값이 달라지는 현상을 본다.</a:t>
            </a:r>
          </a:p>
          <a:p>
            <a:r>
              <a:t xml:space="preserve"/>
            </a:r>
          </a:p>
          <a:p>
            <a:r>
              <a:t xml:space="preserve">**Advanced Insight:**</a:t>
            </a:r>
          </a:p>
          <a:p>
            <a:r>
              <a:t xml:space="preserve">의도한 범위와 실제 결과를 명세에 대조하고 메모리 할당·capacity 문제로 일반화하지 않는다.</a:t>
            </a:r>
          </a:p>
          <a:p>
            <a:r>
              <a:t xml:space="preserve"/>
            </a:r>
          </a:p>
          <a:p>
            <a:r>
              <a:t xml:space="preserve">**C++ Vision Bridge:**</a:t>
            </a:r>
          </a:p>
          <a:p>
            <a:r>
              <a:t xml:space="preserve">S03의 원소 수 확인 질문만 회수한다. 실제 사례는 Python Crop이며 C++ 실행·할당 오류가 아니다.</a:t>
            </a:r>
          </a:p>
          <a:p>
            <a:r>
              <a:t xml:space="preserve"/>
            </a:r>
          </a:p>
          <a:p>
            <a:r>
              <a:t xml:space="preserve">**Demo Operation:**</a:t>
            </a:r>
          </a:p>
          <a:p>
            <a:r>
              <a:t xml:space="preserve">첫 행 입력1·2·3·4와 열index0–3, 기대2·3/폭2와 구현2·3·4/폭3을 크게 대비한다. 원본 두 행 중 첫 행만 발췌한 도식임을 표시한다. 정적 경로 production/ACT_0.pptx의 S07 / production/preview/act0/S07.png.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차이를 무엇을 근거로 설명했는지, 테스트·명세·구현을 함께 보겠습니다.”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production/preview/full/S07.png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S08 — 테스트·명세·구현을 연결해 원인을 설명했다</a:t>
            </a:r>
          </a:p>
          <a:p>
            <a:r>
              <a:t xml:space="preserve"/>
            </a:r>
          </a:p>
          <a:p>
            <a:r>
              <a:t xml:space="preserve">**Slide ID:**</a:t>
            </a:r>
          </a:p>
          <a:p>
            <a:r>
              <a:t xml:space="preserve">S08</a:t>
            </a:r>
          </a:p>
          <a:p>
            <a:r>
              <a:t xml:space="preserve"/>
            </a:r>
          </a:p>
          <a:p>
            <a:r>
              <a:t xml:space="preserve">**Working Title:**</a:t>
            </a:r>
          </a:p>
          <a:p>
            <a:r>
              <a:t xml:space="preserve">테스트·명세·구현을 연결해 원인을 설명했다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실패 테스트와 끝 좌표 제외 명세, 끝 좌표까지 포함한 row[x_start : x_end + 1] 구현을 대조해 실패를 설명했다. 관련 코드는 cli.main→pipeline.process_image→transform.crop 호출 관계로 연결됐다.</a:t>
            </a:r>
          </a:p>
          <a:p>
            <a:r>
              <a:t xml:space="preserve"/>
            </a:r>
          </a:p>
          <a:p>
            <a:r>
              <a:t xml:space="preserve">**Opening Question:**</a:t>
            </a:r>
          </a:p>
          <a:p>
            <a:r>
              <a:t xml:space="preserve">“어떤 자료를 연결했기에 Crop 실패 원인을 설명할 수 있었나요?”</a:t>
            </a:r>
          </a:p>
          <a:p>
            <a:r>
              <a:t xml:space="preserve"/>
            </a:r>
          </a:p>
          <a:p>
            <a:r>
              <a:t xml:space="preserve">**Speaker Flow:**</a:t>
            </a:r>
          </a:p>
          <a:p>
            <a:r>
              <a:t xml:space="preserve">1. (0:00–0:30 / Demo) S07의 폭 차이를 설명한 근거를 확인하는 장임을 밝힌다. 세 열의 화살표는 설명을 위한 관계이며 실제 파일 접근 시간순이 아니다.</a:t>
            </a:r>
          </a:p>
          <a:p>
            <a:r>
              <a:t xml:space="preserve">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a:r>
              <a:t xml:space="preserve">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a:r>
              <a:t xml:space="preserve">4. (3:30–4:00 / Demo) 실패·관련 구현·명세·호출 관계를 연결해 설명했으며 코드 수정은 없었다고 닫는다. 같은 전체 테스트의 다른 오류는 원인이 달랐다는 S09로 이동한다.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발견한 테스트·명세·구현의 관계를 재구성 · Codex CLI 0.154.0</a:t>
            </a:r>
          </a:p>
          <a:p>
            <a:r>
              <a:t xml:space="preserve"/>
            </a:r>
          </a:p>
          <a:p>
            <a:r>
              <a:t xml:space="preserve">**Claim Boundary:**</a:t>
            </a:r>
          </a:p>
          <a:p>
            <a:r>
              <a:t xml:space="preserve">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a:r>
              <a:t xml:space="preserve"/>
            </a:r>
          </a:p>
          <a:p>
            <a:r>
              <a:t xml:space="preserve">보존된 상세 범위: 자료 관계도이며 Agent의 시간순 접근 로그가 아님 · README에도 결함 안내가 있었음 · 코드 수정 없음</a:t>
            </a:r>
          </a:p>
          <a:p>
            <a:r>
              <a:t xml:space="preserve"/>
            </a:r>
          </a:p>
          <a:p>
            <a:r>
              <a:t xml:space="preserve">**Beginner Explanation:**</a:t>
            </a:r>
          </a:p>
          <a:p>
            <a:r>
              <a:t xml:space="preserve">답만 듣는 대신 테스트·명세·구현이 어떻게 원인 설명을 뒷받침하는지 본다.</a:t>
            </a:r>
          </a:p>
          <a:p>
            <a:r>
              <a:t xml:space="preserve"/>
            </a:r>
          </a:p>
          <a:p>
            <a:r>
              <a:t xml:space="preserve">**Advanced Insight:**</a:t>
            </a:r>
          </a:p>
          <a:p>
            <a:r>
              <a:t xml:space="preserve">코드 호출 관계·근거 연결·Agent 접근 시간순과 독립 발견 주장을 구분한다.</a:t>
            </a:r>
          </a:p>
          <a:p>
            <a:r>
              <a:t xml:space="preserve"/>
            </a:r>
          </a:p>
          <a:p>
            <a:r>
              <a:t xml:space="preserve">**C++ Vision Bridge:**</a:t>
            </a:r>
          </a:p>
          <a:p>
            <a:r>
              <a:t xml:space="preserve">N/A. 실제 Python 조사 근거를 C++ Trial로 바꾸지 않는다.</a:t>
            </a:r>
          </a:p>
          <a:p>
            <a:r>
              <a:t xml:space="preserve"/>
            </a:r>
          </a:p>
          <a:p>
            <a:r>
              <a:t xml:space="preserve">**Demo Operation:**</a:t>
            </a:r>
          </a:p>
          <a:p>
            <a:r>
              <a:t xml:space="preserve">실패 테스트/명세/구현 세 근거를 가로로 연결하고, 하단에 관련 코드 호출 관계를 별도로 둔다. 본문의 연결은 설명 관계이며 실제 탐색 순서가 아니다. 정적 경로 production/ACT_0.pptx의 S08 / production/preview/act0/S08.png.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“같은 전체 테스트 실행에서 나온 다른 오류는, 이 Crop 결함과 원인이 달랐습니다.”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production/preview/full/S08.png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S09 — 다른 테스트 오류는 임시 폴더 생성에서 발생했다</a:t>
            </a:r>
          </a:p>
          <a:p>
            <a:r>
              <a:t xml:space="preserve"/>
            </a:r>
          </a:p>
          <a:p>
            <a:r>
              <a:t xml:space="preserve">**Slide ID:**</a:t>
            </a:r>
          </a:p>
          <a:p>
            <a:r>
              <a:t xml:space="preserve">S09</a:t>
            </a:r>
          </a:p>
          <a:p>
            <a:r>
              <a:t xml:space="preserve"/>
            </a:r>
          </a:p>
          <a:p>
            <a:r>
              <a:t xml:space="preserve">**Working Title:**</a:t>
            </a:r>
          </a:p>
          <a:p>
            <a:r>
              <a:t xml:space="preserve">다른 테스트 오류는 임시 폴더 생성에서 발생했다</a:t>
            </a:r>
          </a:p>
          <a:p>
            <a:r>
              <a:t xml:space="preserve"/>
            </a:r>
          </a:p>
          <a:p>
            <a:r>
              <a:t xml:space="preserve">**ACT / Section:**</a:t>
            </a:r>
          </a:p>
          <a:p>
            <a:r>
              <a:t xml:space="preserve">ACT 0 / 0D</a:t>
            </a:r>
          </a:p>
          <a:p>
            <a:r>
              <a:t xml:space="preserve"/>
            </a:r>
          </a:p>
          <a:p>
            <a:r>
              <a:t xml:space="preserve">**Allocated Time:**</a:t>
            </a:r>
          </a:p>
          <a:p>
            <a:r>
              <a:t xml:space="preserve">3 minutes</a:t>
            </a:r>
          </a:p>
          <a:p>
            <a:r>
              <a:t xml:space="preserve"/>
            </a:r>
          </a:p>
          <a:p>
            <a:r>
              <a:t xml:space="preserve">**Mode Split:**</a:t>
            </a:r>
          </a:p>
          <a:p>
            <a:r>
              <a:t xml:space="preserve">Case 3분</a:t>
            </a:r>
          </a:p>
          <a:p>
            <a:r>
              <a:t xml:space="preserve"/>
            </a:r>
          </a:p>
          <a:p>
            <a:r>
              <a:t xml:space="preserve">**Primary Message:**</a:t>
            </a:r>
          </a:p>
          <a:p>
            <a:r>
              <a:t xml:space="preserve">TRIAL-001 전체 테스트의 환경 오류3건은 읽기 전용 실행 조건이 임시 디렉터리 생성을 막아 발생했다. Crop 결함과 별개이며 Agent도 그 권한 제한을 해제하지 않았다.</a:t>
            </a:r>
          </a:p>
          <a:p>
            <a:r>
              <a:t xml:space="preserve"/>
            </a:r>
          </a:p>
          <a:p>
            <a:r>
              <a:t xml:space="preserve">**Opening Question:**</a:t>
            </a:r>
          </a:p>
          <a:p>
            <a:r>
              <a:t xml:space="preserve">“테스트가 임시 폴더를 만들려는데 쓰기 권한이 없으면 어떻게 될까요?”</a:t>
            </a:r>
          </a:p>
          <a:p>
            <a:r>
              <a:t xml:space="preserve"/>
            </a:r>
          </a:p>
          <a:p>
            <a:r>
              <a:t xml:space="preserve">**Speaker Flow:**</a:t>
            </a:r>
          </a:p>
          <a:p>
            <a:r>
              <a:t xml:space="preserve">1. (0:00–0:30 / Case) 같은 전체 테스트 실행 중 나온 환경 오류3건을 별도 사건으로 연다. Crop 실패1건의 추가 증거도 Product 결함3건도 아니라고 화면의 별도 표시로 구분한다.</a:t>
            </a:r>
          </a:p>
          <a:p>
            <a:r>
              <a:t xml:space="preserve">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a:r>
              <a:t xml:space="preserve">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전체 테스트 기록의 실행 환경 제한 · Codex CLI 0.154.0</a:t>
            </a:r>
          </a:p>
          <a:p>
            <a:r>
              <a:t xml:space="preserve"/>
            </a:r>
          </a:p>
          <a:p>
            <a:r>
              <a:t xml:space="preserve">**Claim Boundary:**</a:t>
            </a:r>
          </a:p>
          <a:p>
            <a:r>
              <a:t xml:space="preserve">FROZEN WITH SCOPE — TRIAL-001 실행 환경 제한의 관찰. Product/Crop 결함이나 성공한 환경 복구, 현재 Desktop 동작의 근거가 아니다. 새 Trial·Chatbot 비교·환경 복구·성능/비용 효과를 만들지 않는다.</a:t>
            </a:r>
          </a:p>
          <a:p>
            <a:r>
              <a:t xml:space="preserve"/>
            </a:r>
          </a:p>
          <a:p>
            <a:r>
              <a:t xml:space="preserve">보존된 상세 범위: Crop 결함과 별개 · 실행 제한을 관찰했으며 권한을 해제하거나 코드를 수정하지 않음</a:t>
            </a:r>
          </a:p>
          <a:p>
            <a:r>
              <a:t xml:space="preserve"/>
            </a:r>
          </a:p>
          <a:p>
            <a:r>
              <a:t xml:space="preserve">**Beginner Explanation:**</a:t>
            </a:r>
          </a:p>
          <a:p>
            <a:r>
              <a:t xml:space="preserve">테스트가 실패하는 이유에는 코드 결함 외 실행 조건도 있음을 이해한다.</a:t>
            </a:r>
          </a:p>
          <a:p>
            <a:r>
              <a:t xml:space="preserve"/>
            </a:r>
          </a:p>
          <a:p>
            <a:r>
              <a:t xml:space="preserve">**Advanced Insight:**</a:t>
            </a:r>
          </a:p>
          <a:p>
            <a:r>
              <a:t xml:space="preserve">제품 결함과 실행 제한을 분리하고, 제한 관찰과 권한 변경·해결을 구분한다.</a:t>
            </a:r>
          </a:p>
          <a:p>
            <a:r>
              <a:t xml:space="preserve"/>
            </a:r>
          </a:p>
          <a:p>
            <a:r>
              <a:t xml:space="preserve">**C++ Vision Bridge:**</a:t>
            </a:r>
          </a:p>
          <a:p>
            <a:r>
              <a:t xml:space="preserve">N/A. 제조 현장/Windows에서 같은 오류가 관찰된 것으로 바꾸지 않는다.</a:t>
            </a:r>
          </a:p>
          <a:p>
            <a:r>
              <a:t xml:space="preserve"/>
            </a:r>
          </a:p>
          <a:p>
            <a:r>
              <a:t xml:space="preserve">**Demo Operation:**</a:t>
            </a:r>
          </a:p>
          <a:p>
            <a:r>
              <a:t xml:space="preserve">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S09 / production/preview/act0/S09.png.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“두 원인을 판단할 때 필요했던 정보들을 한곳에 모아보겠습니다.”</a:t>
            </a:r>
          </a:p>
          <a:p>
            <a:r>
              <a:t xml:space="preserve"/>
            </a:r>
          </a:p>
          <a:p>
            <a:r>
              <a:t xml:space="preserve">**Time Management:**</a:t>
            </a:r>
          </a:p>
          <a:p>
            <a:r>
              <a:t xml:space="preserve">Case 3분 = 3분.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production/preview/full/S09.png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 — 원인 판단에는 코드와 실행 환경 정보가 필요했다</a:t>
            </a:r>
          </a:p>
          <a:p>
            <a:r>
              <a:t xml:space="preserve"/>
            </a:r>
          </a:p>
          <a:p>
            <a:r>
              <a:t xml:space="preserve">**Slide ID:**</a:t>
            </a:r>
          </a:p>
          <a:p>
            <a:r>
              <a:t xml:space="preserve">S10</a:t>
            </a:r>
          </a:p>
          <a:p>
            <a:r>
              <a:t xml:space="preserve"/>
            </a:r>
          </a:p>
          <a:p>
            <a:r>
              <a:t xml:space="preserve">**Working Title:**</a:t>
            </a:r>
          </a:p>
          <a:p>
            <a:r>
              <a:t xml:space="preserve">원인 판단에는 코드와 실행 환경 정보가 필요했다</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Case 2분</a:t>
            </a:r>
          </a:p>
          <a:p>
            <a:r>
              <a:t xml:space="preserve"/>
            </a:r>
          </a:p>
          <a:p>
            <a:r>
              <a:t xml:space="preserve">**Primary Message:**</a:t>
            </a:r>
          </a:p>
          <a:p>
            <a:r>
              <a:t xml:space="preserve">Repository의 테스트·명세·구현/호출 관계와 실행 환경의 로그·권한 정보를 함께 보아 원인을 구분한다. 이번 원인 판단에 쓰는 정보를 Context로 묶는 교육용 도식이다.</a:t>
            </a:r>
          </a:p>
          <a:p>
            <a:r>
              <a:t xml:space="preserve"/>
            </a:r>
          </a:p>
          <a:p>
            <a:r>
              <a:t xml:space="preserve">**Opening Question:**</a:t>
            </a:r>
          </a:p>
          <a:p>
            <a:r>
              <a:t xml:space="preserve">“이번 조사에서는 파일 외에 어떤 정보까지 필요했나요?”</a:t>
            </a:r>
          </a:p>
          <a:p>
            <a:r>
              <a:t xml:space="preserve"/>
            </a:r>
          </a:p>
          <a:p>
            <a:r>
              <a:t xml:space="preserve">**Speaker Flow:**</a:t>
            </a:r>
          </a:p>
          <a:p>
            <a:r>
              <a:t xml:space="preserve">1. (0:00–0:25 / Case) 앞의 두 문제에서 실제로 살펴본 자료를 한 장으로 모은다고 안내한다. 환경 오류의 원인은 재설명하지 않는다.</a:t>
            </a:r>
          </a:p>
          <a:p>
            <a:r>
              <a:t xml:space="preserve">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a:r>
              <a:t xml:space="preserve">3. (1:25–2:00 / Case) 원인을 판단하는 데 쓰는 정보를 이번 장에서 Context로 묶는다. ACT2의 저장 범위·Routing·항상 읽을 정보 설계를 여기서 미리 강의하지 않는다. 이제 같은 자료를 누가 찾고 전달하는지 S11로 넘긴다.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TEACHING MODEL · TRIAL-001에서 살펴본 정보를 묶은 교육용 도식</a:t>
            </a:r>
          </a:p>
          <a:p>
            <a:r>
              <a:t xml:space="preserve"/>
            </a:r>
          </a:p>
          <a:p>
            <a:r>
              <a:t xml:space="preserve">**Claim Boundary:**</a:t>
            </a:r>
          </a:p>
          <a:p>
            <a:r>
              <a:t xml:space="preserve">TEACHING MODEL — TRIAL-001에서 살펴본 정보를 묶은 해석이며 새 실행·제품 우열이 아니다. Repository 접근은 실행 권한 확장을 뜻하지 않는다. 새 Trial·Chatbot 비교·환경 복구·성능/비용 효과를 만들지 않는다.</a:t>
            </a:r>
          </a:p>
          <a:p>
            <a:r>
              <a:t xml:space="preserve"/>
            </a:r>
          </a:p>
          <a:p>
            <a:r>
              <a:t xml:space="preserve">보존된 상세 범위: 파일은 Repository에서, 실행 조건은 도구·권한에서 확인 · Repository 접근이 권한을 늘리지는 않음</a:t>
            </a:r>
          </a:p>
          <a:p>
            <a:r>
              <a:t xml:space="preserve"/>
            </a:r>
          </a:p>
          <a:p>
            <a:r>
              <a:t xml:space="preserve">**Beginner Explanation:**</a:t>
            </a:r>
          </a:p>
          <a:p>
            <a:r>
              <a:t xml:space="preserve">Context가 단지 복사한 코드 조각만을 의미하지 않음을 이번 사건으로 이해한다.</a:t>
            </a:r>
          </a:p>
          <a:p>
            <a:r>
              <a:t xml:space="preserve"/>
            </a:r>
          </a:p>
          <a:p>
            <a:r>
              <a:t xml:space="preserve">**Advanced Insight:**</a:t>
            </a:r>
          </a:p>
          <a:p>
            <a:r>
              <a:t xml:space="preserve">저장소에 있는 사실과 도구·권한이 제공하는 실행 조건의 출처를 구분한다.</a:t>
            </a:r>
          </a:p>
          <a:p>
            <a:r>
              <a:t xml:space="preserve"/>
            </a:r>
          </a:p>
          <a:p>
            <a:r>
              <a:t xml:space="preserve">**C++ Vision Bridge:**</a:t>
            </a:r>
          </a:p>
          <a:p>
            <a:r>
              <a:t xml:space="preserve">N/A. 일반화된 새 C++ 규칙·장비 사례는 추가하지 않는다.</a:t>
            </a:r>
          </a:p>
          <a:p>
            <a:r>
              <a:t xml:space="preserve"/>
            </a:r>
          </a:p>
          <a:p>
            <a:r>
              <a:t xml:space="preserve">**Demo Operation:**</a:t>
            </a:r>
          </a:p>
          <a:p>
            <a:r>
              <a:t xml:space="preserve">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S10 / production/preview/act0/S10.png.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자료를 사람이 직접 골라 대화창에 넣는다면, 답을 받기 전에 어떤 일을 해야 할까요?”</a:t>
            </a:r>
          </a:p>
          <a:p>
            <a:r>
              <a:t xml:space="preserve"/>
            </a:r>
          </a:p>
          <a:p>
            <a:r>
              <a:t xml:space="preserve">**Time Management:**</a:t>
            </a:r>
          </a:p>
          <a:p>
            <a:r>
              <a:t xml:space="preserve">Case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production/preview/full/S10.png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 — Chatbot에 이 자료를 직접 전달한다면?</a:t>
            </a:r>
          </a:p>
          <a:p>
            <a:r>
              <a:t xml:space="preserve"/>
            </a:r>
          </a:p>
          <a:p>
            <a:r>
              <a:t xml:space="preserve">**Slide ID:**</a:t>
            </a:r>
          </a:p>
          <a:p>
            <a:r>
              <a:t xml:space="preserve">S11</a:t>
            </a:r>
          </a:p>
          <a:p>
            <a:r>
              <a:t xml:space="preserve"/>
            </a:r>
          </a:p>
          <a:p>
            <a:r>
              <a:t xml:space="preserve">**Working Title:**</a:t>
            </a:r>
          </a:p>
          <a:p>
            <a:r>
              <a:t xml:space="preserve">Chatbot에 이 자료를 직접 전달한다면?</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a:r>
              <a:t xml:space="preserve"/>
            </a:r>
          </a:p>
          <a:p>
            <a:r>
              <a:t xml:space="preserve">**Opening Question:**</a:t>
            </a:r>
          </a:p>
          <a:p>
            <a:r>
              <a:t xml:space="preserve">“답을 받기 전에 누가 필요한 자료를 찾아 골라 전달하나요?”</a:t>
            </a:r>
          </a:p>
          <a:p>
            <a:r>
              <a:t xml:space="preserve"/>
            </a:r>
          </a:p>
          <a:p>
            <a:r>
              <a:t xml:space="preserve">**Speaker Flow:**</a:t>
            </a:r>
          </a:p>
          <a:p>
            <a:r>
              <a:t xml:space="preserve">1. (0:00–0:30 / Lecture) S10의 같은 다섯 자료를 유지하되, 사람이 직접 골라 대화창에 첨부하는 방식이라는 가정을 읽는다. 모든 Chatbot 기능을 정의하거나 실제 비교한 결과가 아니다.</a:t>
            </a:r>
          </a:p>
          <a:p>
            <a:r>
              <a:t xml:space="preserve">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a:r>
              <a:t xml:space="preserve">3. (1:30–2:00 / Lecture) 답을 받기 전 관련 자료를 찾아 연결하는 일이 있다는 메시지만 회수한다. 같은 위치·자료 카드를 유지한 다음 S12에서 수집 주체가 달라지는 것을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TEACHING MODEL · 자료를 직접 선택·첨부하는 대화 방식의 가정</a:t>
            </a:r>
          </a:p>
          <a:p>
            <a:r>
              <a:t xml:space="preserve"/>
            </a:r>
          </a:p>
          <a:p>
            <a:r>
              <a:t xml:space="preserve">**Claim Boundary:**</a:t>
            </a:r>
          </a:p>
          <a:p>
            <a:r>
              <a:t xml:space="preserve">TEACHING MODEL — 실제 Chatbot 비교 실행·성능·불가능성 주장이 아니다. 환경 로그·권한 정보까지 전달하면 원인 분석 단서도 전달된다. 새 Trial·Chatbot 비교·환경 복구·성능/비용 효과를 만들지 않는다.</a:t>
            </a:r>
          </a:p>
          <a:p>
            <a:r>
              <a:t xml:space="preserve"/>
            </a:r>
          </a:p>
          <a:p>
            <a:r>
              <a:t xml:space="preserve">보존된 상세 범위: 실제 Chatbot 비교 실행 아님 · 자료 전달 방식의 차이이며 제품 능력·효율 우위를 입증하지 않음</a:t>
            </a:r>
          </a:p>
          <a:p>
            <a:r>
              <a:t xml:space="preserve"/>
            </a:r>
          </a:p>
          <a:p>
            <a:r>
              <a:t xml:space="preserve">**Beginner Explanation:**</a:t>
            </a:r>
          </a:p>
          <a:p>
            <a:r>
              <a:t xml:space="preserve">답변 전에도 사람이 관련 자료를 찾아 연결하는 일이 있음을 본다.</a:t>
            </a:r>
          </a:p>
          <a:p>
            <a:r>
              <a:t xml:space="preserve"/>
            </a:r>
          </a:p>
          <a:p>
            <a:r>
              <a:t xml:space="preserve">**Advanced Insight:**</a:t>
            </a:r>
          </a:p>
          <a:p>
            <a:r>
              <a:t xml:space="preserve">정보가 전달되지 않은 상태와 도구의 문제 해결 능력을 구분한다.</a:t>
            </a:r>
          </a:p>
          <a:p>
            <a:r>
              <a:t xml:space="preserve"/>
            </a:r>
          </a:p>
          <a:p>
            <a:r>
              <a:t xml:space="preserve">**C++ Vision Bridge:**</a:t>
            </a:r>
          </a:p>
          <a:p>
            <a:r>
              <a:t xml:space="preserve">Contextual cue — 큰 저장소에서 필요한 자료를 찾는 상황에만 연결한다.</a:t>
            </a:r>
          </a:p>
          <a:p>
            <a:r>
              <a:t xml:space="preserve"/>
            </a:r>
          </a:p>
          <a:p>
            <a:r>
              <a:t xml:space="preserve">**Demo Operation:**</a:t>
            </a:r>
          </a:p>
          <a:p>
            <a:r>
              <a:t xml:space="preserve">S10의 같은 다섯 자료 이름·색을 왼쪽에 유지하고 사람의 찾기/선택/전달을 거쳐 교육용 대화창으로 들어가는 흐름으로 보여준다. 누락된 자료를 도구 능력 부족으로 표현하지 않는다. 정적 경로 production/ACT_0.pptx의 S11 / production/preview/act0/S11.png. 실제 실행 Screenshot이나 새 Live 결과로 표시하지 않는다. S07/S07만 Demo 각4분이며 S09/S09은 Case, S11/S11은 Lecture다. 기존 도식을 먼저 따라가며, 우측 상단의 왼쪽 장면 삽화는 같은 역할을 보충하는 교육용 그림으로만 짚는다.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“방금 본 Agent 조사에서는, 이 자료를 찾고 연결하는 일을 일부 맡겼습니다.”</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production/preview/full/S11.png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 — Agent가 자료를 직접 찾아 연결했다</a:t>
            </a:r>
          </a:p>
          <a:p>
            <a:r>
              <a:t xml:space="preserve"/>
            </a:r>
          </a:p>
          <a:p>
            <a:r>
              <a:t xml:space="preserve">**Slide ID:**</a:t>
            </a:r>
          </a:p>
          <a:p>
            <a:r>
              <a:t xml:space="preserve">S12</a:t>
            </a:r>
          </a:p>
          <a:p>
            <a:r>
              <a:t xml:space="preserve"/>
            </a:r>
          </a:p>
          <a:p>
            <a:r>
              <a:t xml:space="preserve">**Working Title:**</a:t>
            </a:r>
          </a:p>
          <a:p>
            <a:r>
              <a:t xml:space="preserve">Agent가 자료를 직접 찾아 연결했다</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TRIAL-001에서 Agent가 허용된 파일·도구 범위의 테스트·코드·명세·실행 결과를 조사하고 Crop 원인과 실행 제한을 구분했다. 목표·검토 책임은 사람에게 남으며 접근 전 승인된 도구·계정·자료·권한 범위를 확인한다.</a:t>
            </a:r>
          </a:p>
          <a:p>
            <a:r>
              <a:t xml:space="preserve"/>
            </a:r>
          </a:p>
          <a:p>
            <a:r>
              <a:t xml:space="preserve">**Opening Question:**</a:t>
            </a:r>
          </a:p>
          <a:p>
            <a:r>
              <a:t xml:space="preserve">“방금 Agent는 허용된 환경에서 어떤 자료를 직접 찾아 연결했나요?”</a:t>
            </a:r>
          </a:p>
          <a:p>
            <a:r>
              <a:t xml:space="preserve"/>
            </a:r>
          </a:p>
          <a:p>
            <a:r>
              <a:t xml:space="preserve">**Speaker Flow:**</a:t>
            </a:r>
          </a:p>
          <a:p>
            <a:r>
              <a:t xml:space="preserve">1. (0:00–0:30 / Lecture) S11의 같은 다섯 자료와 배치를 가리킨다. 가운데 주체가 사람의 선택·전달에서 Agent의 허용된 조사로 바뀌고 오른쪽은 관찰된 조사 내용이다. 새 제품 실행이 아니다.</a:t>
            </a:r>
          </a:p>
          <a:p>
            <a:r>
              <a:t xml:space="preserve">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a:r>
              <a:t xml:space="preserve">3. (1:10–1:50 / Lecture) 화면 하단의 접근 전 승인된 도구·계정·자료·권한 확인을 짚는다. Repository 접근과 실제 도구/실행 권한은 별개다. 조직의 실제 허용·금지 목록이나 제품 보안 보장을 새로 확정하지 않는다.</a:t>
            </a:r>
          </a:p>
          <a:p>
            <a:r>
              <a:t xml:space="preserve">4. (1:50–2:00 / Lecture) “이 교육에서는 어디에서 Repository를 열까요?”로 S13의 기존 Codex 진입 안내를 연다. Task 의도와 접근의 차이는 S14에 남긴다.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TRIAL-001 단일 CLI 조사와 연결한 교육용 도식 · Codex CLI 0.154.0</a:t>
            </a:r>
          </a:p>
          <a:p>
            <a:r>
              <a:t xml:space="preserve"/>
            </a:r>
          </a:p>
          <a:p>
            <a:r>
              <a:t xml:space="preserve">**Claim Boundary:**</a:t>
            </a:r>
          </a:p>
          <a:p>
            <a:r>
              <a:t xml:space="preserve">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a:r>
              <a:t xml:space="preserve"/>
            </a:r>
          </a:p>
          <a:p>
            <a:r>
              <a:t xml:space="preserve">보존된 상세 범위: 권한 제한을 해제하지 않음 · 목표·검토 책임은 개발자에게 남음 · 현재 Desktop 미검증</a:t>
            </a:r>
          </a:p>
          <a:p>
            <a:r>
              <a:t xml:space="preserve"/>
            </a:r>
          </a:p>
          <a:p>
            <a:r>
              <a:t xml:space="preserve">**Beginner Explanation:**</a:t>
            </a:r>
          </a:p>
          <a:p>
            <a:r>
              <a:t xml:space="preserve">관련 파일을 모두 직접 복사하기 전에 허용된 Repository 조사를 요청할 수 있음을 본다.</a:t>
            </a:r>
          </a:p>
          <a:p>
            <a:r>
              <a:t xml:space="preserve"/>
            </a:r>
          </a:p>
          <a:p>
            <a:r>
              <a:t xml:space="preserve">**Advanced Insight:**</a:t>
            </a:r>
          </a:p>
          <a:p>
            <a:r>
              <a:t xml:space="preserve">Context 수집 역할의 일부와 목표 설정·권한·수용 판단 책임을 분리한다.</a:t>
            </a:r>
          </a:p>
          <a:p>
            <a:r>
              <a:t xml:space="preserve"/>
            </a:r>
          </a:p>
          <a:p>
            <a:r>
              <a:t xml:space="preserve">**C++ Vision Bridge:**</a:t>
            </a:r>
          </a:p>
          <a:p>
            <a:r>
              <a:t xml:space="preserve">Contextual cue — 저장소의 모듈·테스트·명세 조사에만 연결한다.</a:t>
            </a:r>
          </a:p>
          <a:p>
            <a:r>
              <a:t xml:space="preserve"/>
            </a:r>
          </a:p>
          <a:p>
            <a:r>
              <a:t xml:space="preserve">**Demo Operation:**</a:t>
            </a:r>
          </a:p>
          <a:p>
            <a:r>
              <a:t xml:space="preserve">S11와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S12 / production/preview/act0/S12.png. 실제 실행 Screenshot이나 새 Live 결과로 표시하지 않는다. S07/S07만 Demo 각4분이며 S09/S09은 Case, S11/S11은 Lecture다. 기존 도식을 먼저 따라가며, 우측 상단의 오른쪽 장면 삽화는 같은 역할을 보충하는 교육용 그림으로만 짚는다.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“그렇다면 이 교육에서는 어디에서 Repository를 열까요?”</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production/preview/full/S12.png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S13 — Repository 작업은 Codex에서 시작한다</a:t>
            </a:r>
          </a:p>
          <a:p>
            <a:r>
              <a:t xml:space="preserve"/>
            </a:r>
          </a:p>
          <a:p>
            <a:r>
              <a:t xml:space="preserve">Slide ID: S13</a:t>
            </a:r>
          </a:p>
          <a:p>
            <a:r>
              <a:t xml:space="preserve"/>
            </a:r>
          </a:p>
          <a:p>
            <a:r>
              <a:t xml:space="preserve">Working Title: Repository 작업은 Codex에서 시작한다</a:t>
            </a:r>
          </a:p>
          <a:p>
            <a:r>
              <a:t xml:space="preserve"/>
            </a:r>
          </a:p>
          <a:p>
            <a:r>
              <a:t xml:space="preserve">ACT / Section: ACT 0 / 0E</a:t>
            </a:r>
          </a:p>
          <a:p>
            <a:r>
              <a:t xml:space="preserve"/>
            </a:r>
          </a:p>
          <a:p>
            <a:r>
              <a:t xml:space="preserve">Allocated Time: 1 minute</a:t>
            </a:r>
          </a:p>
          <a:p>
            <a:r>
              <a:t xml:space="preserve"/>
            </a:r>
          </a:p>
          <a:p>
            <a:r>
              <a:t xml:space="preserve">Mode Split: Lecture 1 minute</a:t>
            </a:r>
          </a:p>
          <a:p>
            <a:r>
              <a:t xml:space="preserve"/>
            </a:r>
          </a:p>
          <a:p>
            <a:r>
              <a:t xml:space="preserve">Primary Message: 이 교육에서 Repository를 조사하는 개발 작업은 ChatGPT 데스크톱 앱의 ChatGPT 메뉴에서 Codex를 선택해 시작한다.</a:t>
            </a:r>
          </a:p>
          <a:p>
            <a:r>
              <a:t xml:space="preserve"/>
            </a:r>
          </a:p>
          <a:p>
            <a:r>
              <a:t xml:space="preserve">Opening Question: “Repository 작업을 맡기려면 어디로 들어갈까?”</a:t>
            </a:r>
          </a:p>
          <a:p>
            <a:r>
              <a:t xml:space="preserve"/>
            </a:r>
          </a:p>
          <a:p>
            <a:r>
              <a:t xml:space="preserve">**Speaker Flow:**</a:t>
            </a:r>
          </a:p>
          <a:p>
            <a:r>
              <a:t xml:space="preserve">1. **LOCATE (0:00–0:15):** 재구성 UI의 좌측 상단 ChatGPT 메뉴를 가리킨다. 사용자 지정 위치를 보여 주는 교육용 도식이며 실제 계정의 실행 캡처가 아님을 짧게 밝힌다.</a:t>
            </a:r>
          </a:p>
          <a:p>
            <a:r>
              <a:t xml:space="preserve">2. **SELECT (0:15–0:30):** 메뉴의 Codex를 가리킨다. 이 교육에서 코드베이스 조사와 개발 작업을 시작하는 표면을 연결한다.</a:t>
            </a:r>
          </a:p>
          <a:p>
            <a:r>
              <a:t xml:space="preserve">3. **REPOSITORY (0:30–0:45):** 허용된 Repository 폴더를 선택하는 흐름을 가리킨다. 앞 장에서 확인한 도구·계정·자료·권한 범위 안의 폴더만 대상이며 실제 선택이나 Live 실행을 하지 않는다.</a:t>
            </a:r>
          </a:p>
          <a:p>
            <a:r>
              <a:t xml:space="preserve">4. **ASK (0:45–1:00):** “먼저 조사해줘”라는 요청으로 S06의 조사 태도를 회수한다. “들어가는 곳을 알았으니, 무엇을 볼 수 있고 누가 최종 결정할지 나눠 보겠습니다”라며 S14로 간다.</a:t>
            </a:r>
          </a:p>
          <a:p>
            <a:r>
              <a:t xml:space="preserve">운영 표시: “실무 적용 팁 · 사용 환경” 배지로 다시 찾아 쓸 기준임을 짚는다. 기존 설명·근거 범위와 배정 시간 안에서 진행하며 요청·예시를 새로 실행하지 않는다.</a:t>
            </a:r>
          </a:p>
          <a:p>
            <a:r>
              <a:t xml:space="preserve"/>
            </a:r>
          </a:p>
          <a:p>
            <a:r>
              <a:t xml:space="preserve">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a:r>
              <a:t xml:space="preserve"/>
            </a:r>
          </a:p>
          <a:p>
            <a:r>
              <a:t xml:space="preserve">보존된 상세 출처: OpenAI Quickstart · 공식 문서 2026-10-21 확인 · 앱 전환 메뉴 재구성</a:t>
            </a:r>
          </a:p>
          <a:p>
            <a:r>
              <a:t xml:space="preserve"/>
            </a:r>
          </a:p>
          <a:p>
            <a:r>
              <a:t xml:space="preserve">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a:r>
              <a:t xml:space="preserve"/>
            </a:r>
          </a:p>
          <a:p>
            <a:r>
              <a:t xml:space="preserve">보존된 상세 범위: 교육용 도식입니다. 앱 버전·계정별 표시와 접근 권한은 발표 환경에서 확인합니다.</a:t>
            </a:r>
          </a:p>
          <a:p>
            <a:r>
              <a:t xml:space="preserve"/>
            </a:r>
          </a:p>
          <a:p>
            <a:r>
              <a:t xml:space="preserve">Beginner Explanation: 작은 코드 질문을 하던 대화에서 Repository 조사로 옮길 때, 이 교육에서는 Codex를 선택하는 진입점을 사용한다.</a:t>
            </a:r>
          </a:p>
          <a:p>
            <a:r>
              <a:t xml:space="preserve"/>
            </a:r>
          </a:p>
          <a:p>
            <a:r>
              <a:t xml:space="preserve">Advanced Insight: 제품 표면의 선택, Repository 접근 권한, 이번 Task의 의도는 서로 다른 경계다. 이 장은 진입 경로만 연결하며 제품별 접근 성능이나 독점적 기능을 주장하지 않는다.</a:t>
            </a:r>
          </a:p>
          <a:p>
            <a:r>
              <a:t xml:space="preserve"/>
            </a:r>
          </a:p>
          <a:p>
            <a:r>
              <a:t xml:space="preserve">C++ Vision Bridge: N/A. 언어·IDE별 설정을 추가하지 않는다.</a:t>
            </a:r>
          </a:p>
          <a:p>
            <a:r>
              <a:t xml:space="preserve"/>
            </a:r>
          </a:p>
          <a:p>
            <a:r>
              <a:t xml:space="preserve">Demo Operation: N/A — 공식 자료를 토대로 재구성한 정적 UI 도식이다. 실제 제품 조작·새 Trial·현장 실습은 없다. 대상 계정의 기능이 확인되지 않았으므로 Live 경로로 전환하지 않는다.</a:t>
            </a:r>
          </a:p>
          <a:p>
            <a:r>
              <a:t xml:space="preserve"/>
            </a:r>
          </a:p>
          <a:p>
            <a:r>
              <a:t xml:space="preserve">Audience Interaction: 위치를 함께 보는 1분 안내다. 청중에게 계정 로그인·폴더 선택·응답을 요구하지 않는다.</a:t>
            </a:r>
          </a:p>
          <a:p>
            <a:r>
              <a:t xml:space="preserve"/>
            </a:r>
          </a:p>
          <a:p>
            <a:r>
              <a:t xml:space="preserve">Transition: “Repository 안을 함께 볼 수 있어도, 어떤 결과를 받아들일지는 누가 정할까요?”라는 질문으로 S14에 간다.</a:t>
            </a:r>
          </a:p>
          <a:p>
            <a:r>
              <a:t xml:space="preserve"/>
            </a:r>
          </a:p>
          <a:p>
            <a:r>
              <a:t xml:space="preserve">**Time Management:**</a:t>
            </a:r>
          </a:p>
          <a:p>
            <a:r>
              <a:t xml:space="preserve">Lecture 1분. 메뉴 위치 15초, Codex 선택 15초, 허용 폴더 15초, 조사 요청·S14 연결 15초다. 이 장의1분은 보존한다. 현재 ACT 0 45분·전체420분·Lecture186분이며 마지막 팁 찾아보기3분은 ACT5의 별도 배정이다. 설정 tutorial을 추가하지 않는다. 제목6장의 Transition6분은 각 ACT의 별도 배정이다.</a:t>
            </a:r>
          </a:p>
          <a:p>
            <a:r>
              <a:t xml:space="preserve"/>
            </a:r>
          </a:p>
          <a:p>
            <a:r>
              <a:t xml:space="preserve">Fallback: 제작 완료 후 production/preview/act0/S13.png 또는 production/preview/full/S13.png의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S14로 간다. 즉석 계정 시연으로 대체하지 않는다.</a:t>
            </a:r>
          </a:p>
          <a:p>
            <a:r>
              <a:t xml:space="preserve"/>
            </a:r>
          </a:p>
          <a:p>
            <a:r>
              <a:t xml:space="preserve">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S14 — Repository 접근과 Task 의도는 별개다</a:t>
            </a:r>
          </a:p>
          <a:p>
            <a:r>
              <a:t xml:space="preserve"/>
            </a:r>
          </a:p>
          <a:p>
            <a:r>
              <a:t xml:space="preserve">Slide ID: S14</a:t>
            </a:r>
          </a:p>
          <a:p>
            <a:r>
              <a:t xml:space="preserve"/>
            </a:r>
          </a:p>
          <a:p>
            <a:r>
              <a:t xml:space="preserve">Working Title: Repository 접근과 Task 의도는 별개다</a:t>
            </a:r>
          </a:p>
          <a:p>
            <a:r>
              <a:t xml:space="preserve"/>
            </a:r>
          </a:p>
          <a:p>
            <a:r>
              <a:t xml:space="preserve">ACT / Section: ACT 0 / 0E</a:t>
            </a:r>
          </a:p>
          <a:p>
            <a:r>
              <a:t xml:space="preserve"/>
            </a:r>
          </a:p>
          <a:p>
            <a:r>
              <a:t xml:space="preserve">Allocated Time: 2 minutes</a:t>
            </a:r>
          </a:p>
          <a:p>
            <a:r>
              <a:t xml:space="preserve"/>
            </a:r>
          </a:p>
          <a:p>
            <a:r>
              <a:t xml:space="preserve">Mode Split: Lecture 2 minutes</a:t>
            </a:r>
          </a:p>
          <a:p>
            <a:r>
              <a:t xml:space="preserve"/>
            </a:r>
          </a:p>
          <a:p>
            <a:r>
              <a:t xml:space="preserve">Primary Message: Repository 탐색은 Context 수집에 도움을 줄 수 있지만, Task의 목표와 완료 조건까지 대신 정하지 않는다.</a:t>
            </a:r>
          </a:p>
          <a:p>
            <a:r>
              <a:t xml:space="preserve"/>
            </a:r>
          </a:p>
          <a:p>
            <a:r>
              <a:t xml:space="preserve">Opening Question: “Repository를 볼 수 있으면 원하는 작업도 알게 되는가?”</a:t>
            </a:r>
          </a:p>
          <a:p>
            <a:r>
              <a:t xml:space="preserve"/>
            </a:r>
          </a:p>
          <a:p>
            <a:r>
              <a:t xml:space="preserve">**Speaker Flow:**</a:t>
            </a:r>
          </a:p>
          <a:p>
            <a:r>
              <a:t xml:space="preserve">1. **OPEN (0:00–0:20):** 왼쪽 “볼 수 있는 것”과 오른쪽 “최종 정해야 하는 것”을 나눈다. 바로 앞 S13은 진입 경로, 이 장은 역할과 책임의 구분이다.</a:t>
            </a:r>
          </a:p>
          <a:p>
            <a:r>
              <a:t xml:space="preserve">2. **SHARED ACCESS (0:20–0:50):** 왼쪽 사람+AI Agent 아이콘과 허용된 파일·구현·테스트를 가리킨다. 사람도 Agent도 접근 권한과 제공된 도구 범위 안에서 이 정보를 살필 수 있다는 뜻이다.</a:t>
            </a:r>
          </a:p>
          <a:p>
            <a:r>
              <a:t xml:space="preserve">3. **HUMAN RESPONSIBILITY (0:50–1:30):** 오른쪽 사람 아이콘과 원하는 결과·허용 범위·완료 수용을 짚는다. Agent는 선택지와 근거를 제안할 수 있지만 최종 목표와 변경 승인·수용 책임은 사람에게 둔다.</a:t>
            </a:r>
          </a:p>
          <a:p>
            <a:r>
              <a:t xml:space="preserve">4. **TRANSFER (1:30–2:00):** “코드를 함께 볼 수 있어도, 맡길 일과 받아들일 결과는 사람이 정한다”로 묶는다. 이 구분을 각자 작업에 대입할 S15 질문으로 이동하며 ACT 1의 요청 구조는 미리 설명하지 않는다.</a:t>
            </a:r>
          </a:p>
          <a:p>
            <a:r>
              <a:t xml:space="preserve"/>
            </a:r>
          </a:p>
          <a:p>
            <a:r>
              <a:t xml:space="preserve">Evidence / Source: BEAT-003 next friction, DEMO-01 callback, TRIAL-001; CLM-0002, CLM-0009; DEC-0036. TEACHING_MODEL. 사람·AI Agent 픽토그램: assets/slide-illustrations/human-agent-icons.png, image_gen 교육용 이미지이며 실제 사람 사진·제품 UI·관찰 결과가 아니다.</a:t>
            </a:r>
          </a:p>
          <a:p>
            <a:r>
              <a:t xml:space="preserve"/>
            </a:r>
          </a:p>
          <a:p>
            <a:r>
              <a:t xml:space="preserve">보존된 상세 출처: 이 과정의 교육 모델 · 정보 접근과 최종 결정 책임의 구분 · AI 생성 역할 아이콘</a:t>
            </a:r>
          </a:p>
          <a:p>
            <a:r>
              <a:t xml:space="preserve"/>
            </a:r>
          </a:p>
          <a:p>
            <a:r>
              <a:t xml:space="preserve">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a:r>
              <a:t xml:space="preserve"/>
            </a:r>
          </a:p>
          <a:p>
            <a:r>
              <a:t xml:space="preserve">보존된 상세 범위: Agent는 조사·제안을 할 수 있습니다. 목표·허용 범위·완료 수용의 최종 결정과 책임은 사람에게 있습니다.</a:t>
            </a:r>
          </a:p>
          <a:p>
            <a:r>
              <a:t xml:space="preserve"/>
            </a:r>
          </a:p>
          <a:p>
            <a:r>
              <a:t xml:space="preserve">Beginner Explanation: 사람과 Agent가 같은 파일을 살필 수 있어도, 원하는 결과와 받아들일 변경은 사람이 최종 정한다.</a:t>
            </a:r>
          </a:p>
          <a:p>
            <a:r>
              <a:t xml:space="preserve"/>
            </a:r>
          </a:p>
          <a:p>
            <a:r>
              <a:t xml:space="preserve"/>
            </a:r>
          </a:p>
          <a:p>
            <a:r>
              <a:t xml:space="preserve">Advanced Insight: Context access와 objective/acceptance responsibility는 별도 경계다. Agent의 제안·근거와 사람의 최종 승인 책임을 구분한다.</a:t>
            </a:r>
          </a:p>
          <a:p>
            <a:r>
              <a:t xml:space="preserve"/>
            </a:r>
          </a:p>
          <a:p>
            <a:r>
              <a:t xml:space="preserve"/>
            </a:r>
          </a:p>
          <a:p>
            <a:r>
              <a:t xml:space="preserve">C++ Vision Bridge: N/A.</a:t>
            </a:r>
          </a:p>
          <a:p>
            <a:r>
              <a:t xml:space="preserve"/>
            </a:r>
          </a:p>
          <a:p>
            <a:r>
              <a:t xml:space="preserve">Demo Operation: N/A — DEMO-01 성공 뒤 남는 문제를 설명한다.</a:t>
            </a:r>
          </a:p>
          <a:p>
            <a:r>
              <a:t xml:space="preserve"/>
            </a:r>
          </a:p>
          <a:p>
            <a:r>
              <a:t xml:space="preserve">Audience Interaction: Opening question은 수사 질문이다. 짧은 강의 시간에 답변을 요구하지 않는다.</a:t>
            </a:r>
          </a:p>
          <a:p>
            <a:r>
              <a:t xml:space="preserve"/>
            </a:r>
          </a:p>
          <a:p>
            <a:r>
              <a:t xml:space="preserve">**Transition:**</a:t>
            </a:r>
          </a:p>
          <a:p>
            <a:r>
              <a:t xml:space="preserve">“이 구분을 여러분이 지금 맡기고 싶은 일에 대입해 보겠습니다.”라고 S15의 개인 적용 질문을 연다.</a:t>
            </a:r>
          </a:p>
          <a:p>
            <a:r>
              <a:t xml:space="preserve"/>
            </a:r>
          </a:p>
          <a:p>
            <a:r>
              <a:t xml:space="preserve">Time Management: Lecture 2분. 구분 20초, 사람+Agent의 허용 정보 접근 30초, 사람의 최종 책임 40초, 정리·S15 연결 30초다. Access와 Intent 두 축만 설명하고 ACT 1의 구조나 목록은 소개하지 않는다.</a:t>
            </a:r>
          </a:p>
          <a:p>
            <a:r>
              <a:t xml:space="preserve"/>
            </a:r>
          </a:p>
          <a:p>
            <a:r>
              <a:t xml:space="preserve"/>
            </a:r>
          </a:p>
          <a:p>
            <a:r>
              <a:t xml:space="preserve">Fallback: 화면 도식이 보이지 않으면 “자료는 함께 살펴보고, 목표·허용 범위·완료 수용은 사람이 최종 정합니다”라고 설명하고 S15으로 간다. Agent의 제안 가능성을 부정하지 않는다. 정적 경로는 production/preview/act0/S14.png 및 production/preview/full/S14.png이며 새 파일 일치는 후속 렌더 대조 전까지 미검증이다.</a:t>
            </a:r>
          </a:p>
          <a:p>
            <a:r>
              <a:t xml:space="preserve"/>
            </a:r>
          </a:p>
          <a:p>
            <a:r>
              <a:t xml:space="preserve"/>
            </a:r>
          </a:p>
          <a:p>
            <a:r>
              <a:t xml:space="preserve">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S15 — Repository를 보면 내가 원하는 것까지 알까?</a:t>
            </a:r>
          </a:p>
          <a:p>
            <a:r>
              <a:t xml:space="preserve"/>
            </a:r>
          </a:p>
          <a:p>
            <a:r>
              <a:t xml:space="preserve">Slide ID: S15</a:t>
            </a:r>
          </a:p>
          <a:p>
            <a:r>
              <a:t xml:space="preserve"/>
            </a:r>
          </a:p>
          <a:p>
            <a:r>
              <a:t xml:space="preserve">Working Title: Repository를 보면 내가 원하는 것까지 알까?</a:t>
            </a:r>
          </a:p>
          <a:p>
            <a:r>
              <a:t xml:space="preserve"/>
            </a:r>
          </a:p>
          <a:p>
            <a:r>
              <a:t xml:space="preserve">ACT / Section: ACT 0 / 0F</a:t>
            </a:r>
          </a:p>
          <a:p>
            <a:r>
              <a:t xml:space="preserve"/>
            </a:r>
          </a:p>
          <a:p>
            <a:r>
              <a:t xml:space="preserve">Allocated Time: 6 minutes</a:t>
            </a:r>
          </a:p>
          <a:p>
            <a:r>
              <a:t xml:space="preserve"/>
            </a:r>
          </a:p>
          <a:p>
            <a:r>
              <a:t xml:space="preserve">Mode Split: Transition 3 minutes + Q&amp;A 3 minutes</a:t>
            </a:r>
          </a:p>
          <a:p>
            <a:r>
              <a:t xml:space="preserve"/>
            </a:r>
          </a:p>
          <a:p>
            <a:r>
              <a:t xml:space="preserve">Primary Message: Repository를 볼 수 있다는 사실만으로 Task의 의도가 정해지지는 않는다.</a:t>
            </a:r>
          </a:p>
          <a:p>
            <a:r>
              <a:t xml:space="preserve"/>
            </a:r>
          </a:p>
          <a:p>
            <a:r>
              <a:t xml:space="preserve">Opening Question: “지금 이 저장소에 어떤 일을 맡기고 싶으신가요?” 제조 라인 검사장비로 확장한다는 가정 아래 원하는 검사 작업을 떠올리게 한다.</a:t>
            </a:r>
          </a:p>
          <a:p>
            <a:r>
              <a:t xml:space="preserve"/>
            </a:r>
          </a:p>
          <a:p>
            <a:r>
              <a:t xml:space="preserve">**Speaker Flow:**</a:t>
            </a:r>
          </a:p>
          <a:p>
            <a:r>
              <a:t xml:space="preserve">1. **CALLBACK (0:00–0:25 / Transition):** S14에서 사람이 정할 목표·허용 범위·완료 수용을 남겼음을 짧게 회수한다. 화면의 제조 검사 Task는 교육용 가정이라고 말한다.</a:t>
            </a:r>
          </a:p>
          <a:p>
            <a:r>
              <a:t xml:space="preserve">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a:r>
              <a:t xml:space="preserve">3. **TASK QUESTION (1:15–2:30 / Transition):** 하단의 “지금 이 저장소에 어떤 일을 맡기고 싶으신가요?”를 읽고 원하는 작업 하나를 조용히 떠올리게 한다. 판정 카드의 ?를 남겨 두며 정답이나 새 기능 목록을 제시하지 않는다.</a:t>
            </a:r>
          </a:p>
          <a:p>
            <a:r>
              <a:t xml:space="preserve">4. **HANDOFF (2:30–3:00 / Transition):** “그 원하는 결과까지 코드에 적혀 있을까요?”를 읽는다. 같은 Repository를 보더라도 원하는 검사는 별도로 전달해야 한다는 다음 문제를 남긴다. ACT 1의 다섯 책임을 먼저 펼치지 않는다.</a:t>
            </a:r>
          </a:p>
          <a:p>
            <a:r>
              <a:t xml:space="preserve">5. **Q&amp;A (3:00–6:00):** 자발적인 질문을 받는다. 질문이 없으면 두 질문을 화면에 남기고, 종료 시 기존 Transition 문구로 S17의 모호한 요청에 연결한다.</a:t>
            </a:r>
          </a:p>
          <a:p>
            <a:r>
              <a:t xml:space="preserve">기존 연결 질문을 유지한 채 ACT 1 제목 S16를 거쳐 S17의 첫 문제로 이어간다. 제목의 Transition1분은 다음 ACT에 별도로 배정한다.</a:t>
            </a:r>
          </a:p>
          <a:p>
            <a:r>
              <a:t xml:space="preserve"/>
            </a:r>
          </a:p>
          <a:p>
            <a:r>
              <a:t xml:space="preserve">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a:r>
              <a:t xml:space="preserve"/>
            </a:r>
          </a:p>
          <a:p>
            <a:r>
              <a:t xml:space="preserve">보존된 상세 출처: 교육용 검사 Task 가정 · 점선은 추가 정의·연결 범위 · 실제 실행 결과 아님</a:t>
            </a:r>
          </a:p>
          <a:p>
            <a:r>
              <a:t xml:space="preserve"/>
            </a:r>
          </a:p>
          <a:p>
            <a:r>
              <a:t xml:space="preserve">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a:r>
              <a:t xml:space="preserve"/>
            </a:r>
          </a:p>
          <a:p>
            <a:r>
              <a:t xml:space="preserve">보존된 상세 범위: 실제 저장소에는 후속 함수도 있습니다. 도식은 실제 실행 순서나 함수의 미구현 상태를 재현하지 않습니다.</a:t>
            </a:r>
          </a:p>
          <a:p>
            <a:r>
              <a:t xml:space="preserve"/>
            </a:r>
          </a:p>
          <a:p>
            <a:r>
              <a:t xml:space="preserve">Beginner Explanation: ROI crop 이후 검사에서 무엇을 더 하고 싶은지는 코드를 보는 것만으로 정해지지 않는다. 그림의 점선 중 어디까지 맡기고 싶은지 떠올리면 충분하다.</a:t>
            </a:r>
          </a:p>
          <a:p>
            <a:r>
              <a:t xml:space="preserve"/>
            </a:r>
          </a:p>
          <a:p>
            <a:r>
              <a:t xml:space="preserve">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a:r>
              <a:t xml:space="preserve"/>
            </a:r>
          </a:p>
          <a:p>
            <a:r>
              <a:t xml:space="preserve">C++ Vision Bridge: N/A. 제조 검사 도메인은 질문의 배경이며 새로운 C++ 도구·하드웨어 검증이나 전용 Bridge를 추가하지 않는다.</a:t>
            </a:r>
          </a:p>
          <a:p>
            <a:r>
              <a:t xml:space="preserve"/>
            </a:r>
          </a:p>
          <a:p>
            <a:r>
              <a:t xml:space="preserve">Demo Operation: N/A. 편집 가능한 native 도식으로 질문을 여는 정적 화면이다. 검사장비 실행·신규 Demo·새 Trial을 시연하지 않는다.</a:t>
            </a:r>
          </a:p>
          <a:p>
            <a:r>
              <a:t xml:space="preserve"/>
            </a:r>
          </a:p>
          <a:p>
            <a:r>
              <a:t xml:space="preserve">Audience Interaction: Transition 3분에서 개인적으로 작업을 떠올리게 하고 Q&amp;A 3분은 선택적 질문 시간으로 둔다. 답변·공유·코드 작성·알고리즘 설계를 강제하지 않는다.</a:t>
            </a:r>
          </a:p>
          <a:p>
            <a:r>
              <a:t xml:space="preserve"/>
            </a:r>
          </a:p>
          <a:p>
            <a:r>
              <a:t xml:space="preserve">**Transition:**</a:t>
            </a:r>
          </a:p>
          <a:p>
            <a:r>
              <a:t xml:space="preserve">“방금 떠올린 원하는 결과를 작업 요청으로 전달하려면 무엇이 더 필요할까요?”라는 질문으로 `Chatbot → Prompt`를 handoff한다. ACT 1의 내부 구조는 소개하지 않는다.</a:t>
            </a:r>
          </a:p>
          <a:p>
            <a:r>
              <a:t xml:space="preserve">기존 연결 질문을 유지한 채 ACT 1 제목 S16를 거쳐 S17의 첫 문제로 이어간다. 제목의 Transition1분은 다음 ACT에 별도로 배정한다.</a:t>
            </a:r>
          </a:p>
          <a:p>
            <a:r>
              <a:t xml:space="preserve"/>
            </a:r>
          </a:p>
          <a:p>
            <a:r>
              <a:t xml:space="preserve">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a:r>
              <a:t xml:space="preserve"/>
            </a:r>
          </a:p>
          <a:p>
            <a:r>
              <a:t xml:space="preserve">Fallback: production/ACT_0.pptx S15 또는 production/preview/act0/S15.png의 동일 도식을 사용한다. 질문이 없으면 판정의 ?와 두 질문을 남긴 채 기존 Transition으로 S17에 넘긴다. 즉석 검사 알고리즘·실행 화면으로 대체하지 않는다.</a:t>
            </a:r>
          </a:p>
          <a:p>
            <a:r>
              <a:t xml:space="preserve"/>
            </a:r>
          </a:p>
          <a:p>
            <a:r>
              <a:t xml:space="preserve">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1827ed76988495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bb8db78d44a490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1b4599b1489487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6e0cb28b791490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133532ef39e417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4b3daad35f0406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B16E52B-F17F-40EA-8CBA-8CFE490F5E2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85C5361-10A1-42DC-B2BA-5E0CD4DBBEA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96E3B1F-B2C1-4E2B-86BE-5BA35253F61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8269F7F-45A6-4B4A-8C22-05719C30EEA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205A8EF-5CB8-4EBE-8C1A-816791731DB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4D53934-4B1A-49CC-A97D-B17F2DC8C9C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843530B-6678-4362-90BB-6032B65F85A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5D56B82-C571-4AC6-B5BF-9F900D353D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3289158-B12C-4373-B910-0379EA32F71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A635050-D70B-4FFF-BD60-BB258BF0C3D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520bf438a2947c3" /><Relationship Type="http://schemas.openxmlformats.org/officeDocument/2006/relationships/slideLayout" Target="/ppt/slideLayouts/slideLayout1.xml" Id="Rda246a6d1f8d4755" /><Relationship Type="http://schemas.openxmlformats.org/officeDocument/2006/relationships/slideLayout" Target="/ppt/slideLayouts/slideLayout2.xml" Id="R171132a05d694b30" /><Relationship Type="http://schemas.openxmlformats.org/officeDocument/2006/relationships/slideLayout" Target="/ppt/slideLayouts/slideLayout3.xml" Id="R49f57661d0f04511" /><Relationship Type="http://schemas.openxmlformats.org/officeDocument/2006/relationships/slideLayout" Target="/ppt/slideLayouts/slideLayout4.xml" Id="R5dc49115483942dc" /><Relationship Type="http://schemas.openxmlformats.org/officeDocument/2006/relationships/slideLayout" Target="/ppt/slideLayouts/slideLayout5.xml" Id="R9d294c40145a4477" /><Relationship Type="http://schemas.openxmlformats.org/officeDocument/2006/relationships/slideLayout" Target="/ppt/slideLayouts/slideLayout6.xml" Id="R7c816ce4a52f431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a246a6d1f8d4755"/>
    <p:sldLayoutId xmlns:r="http://schemas.openxmlformats.org/officeDocument/2006/relationships" id="2147483650" r:id="R171132a05d694b30"/>
    <p:sldLayoutId xmlns:r="http://schemas.openxmlformats.org/officeDocument/2006/relationships" id="2147483651" r:id="R49f57661d0f04511"/>
    <p:sldLayoutId xmlns:r="http://schemas.openxmlformats.org/officeDocument/2006/relationships" id="2147483652" r:id="R5dc49115483942dc"/>
    <p:sldLayoutId xmlns:r="http://schemas.openxmlformats.org/officeDocument/2006/relationships" id="2147483653" r:id="R9d294c40145a4477"/>
    <p:sldLayoutId xmlns:r="http://schemas.openxmlformats.org/officeDocument/2006/relationships" id="2147483654" r:id="R7c816ce4a52f431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0ebd26b9b9d4adf" /><Relationship Type="http://schemas.openxmlformats.org/officeDocument/2006/relationships/notesSlide" Target="/ppt/notesSlides/notesSlide1.xml" Id="R1146c2dd1ef14d9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194d0ca9edc4c2d" /><Relationship Type="http://schemas.openxmlformats.org/officeDocument/2006/relationships/image" Target="/ppt/media/image.png" Id="Rf190913372b44567" /><Relationship Type="http://schemas.openxmlformats.org/officeDocument/2006/relationships/notesSlide" Target="/ppt/notesSlides/notesSlide2.xml" Id="Rdd253fe0cbf4488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010fa831317483c" /><Relationship Type="http://schemas.openxmlformats.org/officeDocument/2006/relationships/notesSlide" Target="/ppt/notesSlides/notesSlide3.xml" Id="Raaa2c01b76254a1a" /></Relationships>
</file>

<file path=ppt/slides/_rels/slide4.xml.rels><?xml version="1.0" encoding="utf-8"?><Relationships xmlns="http://schemas.openxmlformats.org/package/2006/relationships"><Relationship Type="http://schemas.openxmlformats.org/officeDocument/2006/relationships/slideLayout" Target="/ppt/slideLayouts/slideLayout6.xml" Id="R2b4c2e9edb4c4480"/><Relationship Type="http://schemas.openxmlformats.org/officeDocument/2006/relationships/notesSlide" Target="/ppt/notesSlides/notesSlide4.xml" Id="Ra75387b975d94fc5"/></Relationships>
</file>

<file path=ppt/slides/_rels/slide5.xml.rels><?xml version="1.0" encoding="utf-8"?><Relationships xmlns="http://schemas.openxmlformats.org/package/2006/relationships"><Relationship Type="http://schemas.openxmlformats.org/officeDocument/2006/relationships/slideLayout" Target="/ppt/slideLayouts/slideLayout6.xml" Id="R04b8a0257c9c45ee" /><Relationship Type="http://schemas.openxmlformats.org/officeDocument/2006/relationships/notesSlide" Target="/ppt/notesSlides/notesSlide5.xml" Id="R5817f02b8a6e4ab5" /></Relationships>
</file>

<file path=ppt/slides/_rels/slide6.xml.rels><?xml version="1.0" encoding="utf-8"?><Relationships xmlns="http://schemas.openxmlformats.org/package/2006/relationships"><Relationship Type="http://schemas.openxmlformats.org/officeDocument/2006/relationships/slideLayout" Target="/ppt/slideLayouts/slideLayout6.xml" Id="R59c503a7dc0d4d22" /><Relationship Type="http://schemas.openxmlformats.org/officeDocument/2006/relationships/image" Target="/ppt/media/image2.png" Id="Rd95d55adf7414435" /><Relationship Type="http://schemas.openxmlformats.org/officeDocument/2006/relationships/notesSlide" Target="/ppt/notesSlides/notesSlide6.xml" Id="R465df4e0f9dc4ef3" /></Relationships>
</file>

<file path=ppt/slides/_rels/slide7.xml.rels><?xml version="1.0" encoding="utf-8"?><Relationships xmlns="http://schemas.openxmlformats.org/package/2006/relationships"><Relationship Type="http://schemas.openxmlformats.org/officeDocument/2006/relationships/slideLayout" Target="/ppt/slideLayouts/slideLayout6.xml" Id="R5743b4f12a654121" /><Relationship Type="http://schemas.openxmlformats.org/officeDocument/2006/relationships/notesSlide" Target="/ppt/notesSlides/notesSlide7.xml" Id="Rd1f385244f5043c4" /></Relationships>
</file>

<file path=ppt/slides/_rels/slide8.xml.rels><?xml version="1.0" encoding="utf-8"?><Relationships xmlns="http://schemas.openxmlformats.org/package/2006/relationships"><Relationship Type="http://schemas.openxmlformats.org/officeDocument/2006/relationships/slideLayout" Target="/ppt/slideLayouts/slideLayout6.xml" Id="R857e2873b0a744f8" /><Relationship Type="http://schemas.openxmlformats.org/officeDocument/2006/relationships/notesSlide" Target="/ppt/notesSlides/notesSlide8.xml" Id="Rf056d218fde24d0b" /></Relationships>
</file>

<file path=ppt/slides/_rels/slide9.xml.rels><?xml version="1.0" encoding="utf-8"?><Relationships xmlns="http://schemas.openxmlformats.org/package/2006/relationships"><Relationship Type="http://schemas.openxmlformats.org/officeDocument/2006/relationships/slideLayout" Target="/ppt/slideLayouts/slideLayout6.xml" Id="Rd7e666a5949a45d3" /><Relationship Type="http://schemas.openxmlformats.org/officeDocument/2006/relationships/notesSlide" Target="/ppt/notesSlides/notesSlide9.xml" Id="R48e56697f0a44087" /></Relationships>
</file>

<file path=ppt/slides/_rels/slide10.xml.rels><?xml version="1.0" encoding="utf-8"?><Relationships xmlns="http://schemas.openxmlformats.org/package/2006/relationships"><Relationship Type="http://schemas.openxmlformats.org/officeDocument/2006/relationships/slideLayout" Target="/ppt/slideLayouts/slideLayout6.xml" Id="R99fa99cc686f44ae" /><Relationship Type="http://schemas.openxmlformats.org/officeDocument/2006/relationships/notesSlide" Target="/ppt/notesSlides/notesSlide10.xml" Id="R3ea12644fae84ba6" /></Relationships>
</file>

<file path=ppt/slides/_rels/slide11.xml.rels><?xml version="1.0" encoding="utf-8"?><Relationships xmlns="http://schemas.openxmlformats.org/package/2006/relationships"><Relationship Type="http://schemas.openxmlformats.org/officeDocument/2006/relationships/slideLayout" Target="/ppt/slideLayouts/slideLayout6.xml" Id="R4178145e9ab24752" /><Relationship Type="http://schemas.openxmlformats.org/officeDocument/2006/relationships/image" Target="/ppt/media/image3.png" Id="R1405e92e9b8c45ba" /><Relationship Type="http://schemas.openxmlformats.org/officeDocument/2006/relationships/notesSlide" Target="/ppt/notesSlides/notesSlide11.xml" Id="R2de2f936d3324d1e" /></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699ae772fe444880" /><Relationship Type="http://schemas.openxmlformats.org/officeDocument/2006/relationships/image" Target="/ppt/media/image4.png" Id="Rf0b868e3c0394193" /><Relationship Type="http://schemas.openxmlformats.org/officeDocument/2006/relationships/notesSlide" Target="/ppt/notesSlides/notesSlide12.xml" Id="Rdb986e759dfb4bda" /></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0ccf0a71db464b4e" /><Relationship Type="http://schemas.openxmlformats.org/officeDocument/2006/relationships/notesSlide" Target="/ppt/notesSlides/notesSlide13.xml" Id="R71faaa85c8de40c9" /></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02ef8f2125b54361" /><Relationship Type="http://schemas.openxmlformats.org/officeDocument/2006/relationships/image" Target="/ppt/media/image5.png" Id="R4dbd71d421854e9c" /><Relationship Type="http://schemas.openxmlformats.org/officeDocument/2006/relationships/image" Target="/ppt/media/image6.png" Id="Rd6b24596b6094590" /><Relationship Type="http://schemas.openxmlformats.org/officeDocument/2006/relationships/image" Target="/ppt/media/image7.png" Id="Rab4aa8c9254b49aa" /><Relationship Type="http://schemas.openxmlformats.org/officeDocument/2006/relationships/notesSlide" Target="/ppt/notesSlides/notesSlide14.xml" Id="Raaa7fe0ecf0946a1" /></Relationships>
</file>

<file path=ppt/slides/_rels/slide15.xml.rels><?xml version="1.0" encoding="utf-8"?><Relationships xmlns="http://schemas.openxmlformats.org/package/2006/relationships"><Relationship Type="http://schemas.openxmlformats.org/officeDocument/2006/relationships/slideLayout" Target="/ppt/slideLayouts/slideLayout6.xml" Id="R0c5701ee0f5e4994" /><Relationship Type="http://schemas.openxmlformats.org/officeDocument/2006/relationships/notesSlide" Target="/ppt/notesSlides/notesSlide15.xml" Id="Rabbd10da436c4fb6"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C5E98EAE-F4E1-4B1D-ADA6-1A97B5589F4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CA6F81DA-601A-4C0E-8B29-2DD39614C0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0D515229-2A37-4D21-A3E3-36C880E2571F}"/>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를 Repository로&#10;데려가기">
            <a:extLst xmlns:a="http://schemas.openxmlformats.org/drawingml/2006/main">
              <a:ext uri="{FF2B5EF4-FFF2-40B4-BE49-F238E27FC236}">
                <a16:creationId xmlns:a16="http://schemas.microsoft.com/office/drawing/2014/main" id="{4D4693EC-B722-4B24-BE33-860DBB14801E}"/>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AI를 Repository로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데려가기</a:t>
            </a:r>
          </a:p>
        </p:txBody>
      </p:sp>
      <p:sp>
        <p:nvSpPr>
          <p:cNvPr id="5" name="Chatbot → Repository Agent">
            <a:extLst xmlns:a="http://schemas.openxmlformats.org/drawingml/2006/main">
              <a:ext uri="{FF2B5EF4-FFF2-40B4-BE49-F238E27FC236}">
                <a16:creationId xmlns:a16="http://schemas.microsoft.com/office/drawing/2014/main" id="{D18033A5-19E8-4B4D-B811-A2BA4C06BC2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Repository Agent</a:t>
            </a:r>
          </a:p>
        </p:txBody>
      </p:sp>
      <p:sp>
        <p:nvSpPr>
          <p:cNvPr id="6" name="ChatGPT &amp; Codex · 개발자 교육">
            <a:extLst xmlns:a="http://schemas.openxmlformats.org/drawingml/2006/main">
              <a:ext uri="{FF2B5EF4-FFF2-40B4-BE49-F238E27FC236}">
                <a16:creationId xmlns:a16="http://schemas.microsoft.com/office/drawing/2014/main" id="{7514534F-B122-42C2-B7C8-485D4301057D}"/>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1DB80869-EDBB-4C86-95D8-DF638FF9F8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775266719"/>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C8496A54-33C1-4E9B-B12A-8B89F0156C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C84DEC2C-4D37-4F99-816F-7DAD0A726C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6BA1D0A6-8136-4C54-A76C-9075797A8D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53D4816F-2F76-4BFC-9414-AA1E94C07D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최근 AI에 맡긴 일 하나를 떠올려 보세요.">
            <a:extLst xmlns:a="http://schemas.openxmlformats.org/drawingml/2006/main">
              <a:ext uri="{FF2B5EF4-FFF2-40B4-BE49-F238E27FC236}">
                <a16:creationId xmlns:a16="http://schemas.microsoft.com/office/drawing/2014/main" id="{7C034177-B72A-4A66-B01C-9AEC4DA8E977}"/>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ED6DEB03-B0E4-4D1E-86B0-186577B930E2}"/>
              </a:ext>
            </a:extLst>
          </p:cNvPr>
          <p:cNvPicPr>
            <a:picLocks xmlns:a="http://schemas.openxmlformats.org/drawingml/2006/main" noChangeAspect="1"/>
          </p:cNvPicPr>
          <p:nvPr/>
        </p:nvPicPr>
        <p:blipFill>
          <a:blip xmlns:r="http://schemas.openxmlformats.org/officeDocument/2006/relationships" xmlns:a="http://schemas.openxmlformats.org/drawingml/2006/main" r:embed="Rf190913372b44567"/>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8B96D21D-7EA5-4EA0-9070-05DCA28A5BDF}"/>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2B69BE65-2F18-450D-8A7A-B1218074CD67}"/>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3F72A57C-6009-40EB-8541-DCF6C18AE143}"/>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7D0433FB-80D5-4C8D-B631-A6023430F5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077800199"/>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34B03276-3397-4B22-A342-B01EA745D2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BDEFC4AA-3857-4B6F-BBF9-3D7D486533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0B0E3DB6-B004-476C-8120-14710E1513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E04EB190-E33F-4DD6-8547-C0FBFC54B4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괄호만 바뀌었는데, 같은 Vector일까?">
            <a:extLst xmlns:a="http://schemas.openxmlformats.org/drawingml/2006/main">
              <a:ext uri="{FF2B5EF4-FFF2-40B4-BE49-F238E27FC236}">
                <a16:creationId xmlns:a16="http://schemas.microsoft.com/office/drawing/2014/main" id="{D1EFD5AB-F50D-4B22-A282-2A2CD7C7BECE}"/>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73864F6E-6983-42CE-954E-70E14B8F5CED}"/>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9324562E-B5BE-4E12-BEBE-3BF6BA48887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2B371B50-34E0-4001-8E14-BC7366E123CD}"/>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9C684D4-6892-4530-986B-8F75438034C6}"/>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FEFF8029-BC4B-4F05-9492-37D14783C947}"/>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F73BDFBC-E38E-4AAA-BDE1-7FB9333E4C14}"/>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2D15211F-6253-465C-8C6D-1E0C2DAD4753}"/>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78FB450A-74BB-4FD8-8066-80FB1035AF41}"/>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16898B50-6DED-402B-93A6-F8FFE0A5CD5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A3615045-C854-4C8D-A53F-750AFE13717D}"/>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DED8DE67-52D4-43F2-B934-C3319873339B}"/>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4DA459B7-F8C3-4888-852A-B086E55298C4}"/>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251E24A-BD12-4A29-8B87-81B330FDB115}"/>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45109475-22A4-4D29-AE00-63D81443341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B4A8267-F50B-434E-AEDD-87DE58FBF8C2}"/>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C46858C7-3DC1-4859-A7E0-B8DA8366A938}"/>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1E516091-850E-4FA8-AF38-F61141C5701E}"/>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59CFC27F-1DE0-4EF6-9E54-A5FEB74F25EB}"/>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6B009351-8FF9-4E00-A9B9-FB2D2E85458D}"/>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9C78CE43-5919-463C-8E46-09F185EF6367}"/>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03A4D744-EE31-46FC-AD36-EDE1A908FCDD}"/>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A4FAB5F7-EF49-4F1F-ADB3-C0A8BDFA7EFA}"/>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A4EE0C13-3F3C-45F0-B676-0BA53A66C978}"/>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3786B2CE-D486-472E-8DF7-38DAA90D5DAA}"/>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AEB91E14-4881-4EB8-A60B-3998CE447B5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73417892-2F34-4364-98D3-BAA039650325}"/>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5A08B0CA-C944-466D-91E3-B211540EDDFA}"/>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3F782A9E-9FB0-4C69-84E9-46139C117D4D}"/>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17FB4291-6BE4-4A67-94D6-296526281B6E}"/>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827988C1-2F3E-45BB-9097-8F02ACEAE14C}"/>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7A3D948C-120E-49BA-A3B9-471E607E76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45192936"/>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회사에서 사용하는 GitHub Copilot">
            <a:extLst xmlns:a="http://schemas.openxmlformats.org/drawingml/2006/main">
              <a:ext uri="{FF2B5EF4-FFF2-40B4-BE49-F238E27FC236}">
                <a16:creationId xmlns:a16="http://schemas.microsoft.com/office/drawing/2014/main" id="{5811E2BB-7AC1-441A-8C00-5725704D49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회사에서 사용하는 GitHub Copilot</a:t>
            </a:r>
          </a:p>
        </p:txBody>
      </p:sp>
      <p:sp>
        <p:nvSpPr>
          <p:cNvPr id="2" name="S04">
            <a:extLst xmlns:a="http://schemas.openxmlformats.org/drawingml/2006/main">
              <a:ext uri="{FF2B5EF4-FFF2-40B4-BE49-F238E27FC236}">
                <a16:creationId xmlns:a16="http://schemas.microsoft.com/office/drawing/2014/main" id="{7CDA688C-EADC-4C38-8AB6-3015E5CDFB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코드 질문은 VS Code의 Copilot Chat에서">
            <a:extLst xmlns:a="http://schemas.openxmlformats.org/drawingml/2006/main">
              <a:ext uri="{FF2B5EF4-FFF2-40B4-BE49-F238E27FC236}">
                <a16:creationId xmlns:a16="http://schemas.microsoft.com/office/drawing/2014/main" id="{3A90A281-C23B-4B06-91EC-7F72F9AECD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코드 질문은 VS Code의 Copilot Chat에서</a:t>
            </a:r>
          </a:p>
        </p:txBody>
      </p:sp>
      <p:sp>
        <p:nvSpPr>
          <p:cNvPr id="4" name="">
            <a:extLst xmlns:a="http://schemas.openxmlformats.org/drawingml/2006/main">
              <a:ext uri="{FF2B5EF4-FFF2-40B4-BE49-F238E27FC236}">
                <a16:creationId xmlns:a16="http://schemas.microsoft.com/office/drawing/2014/main" id="{EA172FF6-9026-4BEC-AFED-DB77DF2F6B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CF0B31B-F401-4FF3-9CB8-96A53F8FC1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a:t>
            </a:r>
          </a:p>
        </p:txBody>
      </p:sp>
      <p:sp>
        <p:nvSpPr>
          <p:cNvPr id="7" name="앞의 C++ 예제도, 편집기 안에서 바로 질문해 보세요">
            <a:extLst xmlns:a="http://schemas.openxmlformats.org/drawingml/2006/main">
              <a:ext uri="{FF2B5EF4-FFF2-40B4-BE49-F238E27FC236}">
                <a16:creationId xmlns:a16="http://schemas.microsoft.com/office/drawing/2014/main" id="{475A6217-1747-4A09-9509-4D4AE70858E6}"/>
              </a:ext>
            </a:extLst>
          </p:cNvPr>
          <p:cNvSpPr>
            <a:spLocks xmlns:a="http://schemas.openxmlformats.org/drawingml/2006/main" noGrp="1"/>
          </p:cNvSpPr>
          <p:nvPr/>
        </p:nvSpPr>
        <p:spPr>
          <a:xfrm xmlns:a="http://schemas.openxmlformats.org/drawingml/2006/main">
            <a:off x="609600" y="15240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앞의 C++ 예제도, 편집기 안에서 바로 질문해 보세요</a:t>
            </a:r>
          </a:p>
        </p:txBody>
      </p:sp>
      <p:sp>
        <p:nvSpPr>
          <p:cNvPr id="8" name="">
            <a:extLst xmlns:a="http://schemas.openxmlformats.org/drawingml/2006/main">
              <a:ext uri="{FF2B5EF4-FFF2-40B4-BE49-F238E27FC236}">
                <a16:creationId xmlns:a16="http://schemas.microsoft.com/office/drawing/2014/main" id="{0FE9CD81-EB02-4071-8F36-61A6CBC56D5C}"/>
              </a:ext>
            </a:extLst>
          </p:cNvPr>
          <p:cNvSpPr>
            <a:spLocks xmlns:a="http://schemas.openxmlformats.org/drawingml/2006/main" noGrp="1"/>
          </p:cNvSpPr>
          <p:nvPr/>
        </p:nvSpPr>
        <p:spPr>
          <a:xfrm xmlns:a="http://schemas.openxmlformats.org/drawingml/2006/main">
            <a:off x="609600" y="2038350"/>
            <a:ext cx="10972800" cy="30099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
            <a:extLst xmlns:a="http://schemas.openxmlformats.org/drawingml/2006/main">
              <a:ext uri="{FF2B5EF4-FFF2-40B4-BE49-F238E27FC236}">
                <a16:creationId xmlns:a16="http://schemas.microsoft.com/office/drawing/2014/main" id="{2F626F59-24D0-41A9-84FA-4FF0BD2F9C53}"/>
              </a:ext>
            </a:extLst>
          </p:cNvPr>
          <p:cNvSpPr>
            <a:spLocks xmlns:a="http://schemas.openxmlformats.org/drawingml/2006/main" noGrp="1"/>
          </p:cNvSpPr>
          <p:nvPr/>
        </p:nvSpPr>
        <p:spPr>
          <a:xfrm xmlns:a="http://schemas.openxmlformats.org/drawingml/2006/main">
            <a:off x="609600" y="2038350"/>
            <a:ext cx="10972800" cy="34290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10" name="Visual Studio Code">
            <a:extLst xmlns:a="http://schemas.openxmlformats.org/drawingml/2006/main">
              <a:ext uri="{FF2B5EF4-FFF2-40B4-BE49-F238E27FC236}">
                <a16:creationId xmlns:a16="http://schemas.microsoft.com/office/drawing/2014/main" id="{AA47D0DF-F5F3-459F-914B-C4B77D0BDDF0}"/>
              </a:ext>
            </a:extLst>
          </p:cNvPr>
          <p:cNvSpPr>
            <a:spLocks xmlns:a="http://schemas.openxmlformats.org/drawingml/2006/main" noGrp="1"/>
          </p:cNvSpPr>
          <p:nvPr/>
        </p:nvSpPr>
        <p:spPr>
          <a:xfrm xmlns:a="http://schemas.openxmlformats.org/drawingml/2006/main">
            <a:off x="800100" y="20574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Visual Studio Code</a:t>
            </a:r>
          </a:p>
        </p:txBody>
      </p:sp>
      <p:sp>
        <p:nvSpPr>
          <p:cNvPr id="11" name="">
            <a:extLst xmlns:a="http://schemas.openxmlformats.org/drawingml/2006/main">
              <a:ext uri="{FF2B5EF4-FFF2-40B4-BE49-F238E27FC236}">
                <a16:creationId xmlns:a16="http://schemas.microsoft.com/office/drawing/2014/main" id="{02364CF1-4610-4BDA-967C-82B20C7B1F83}"/>
              </a:ext>
            </a:extLst>
          </p:cNvPr>
          <p:cNvSpPr>
            <a:spLocks xmlns:a="http://schemas.openxmlformats.org/drawingml/2006/main" noGrp="1"/>
          </p:cNvSpPr>
          <p:nvPr/>
        </p:nvSpPr>
        <p:spPr>
          <a:xfrm xmlns:a="http://schemas.openxmlformats.org/drawingml/2006/main">
            <a:off x="6381750" y="2381250"/>
            <a:ext cx="5200650" cy="2667000"/>
          </a:xfrm>
          <a:prstGeom xmlns:a="http://schemas.openxmlformats.org/drawingml/2006/main" prst="rect">
            <a:avLst/>
          </a:prstGeom>
          <a:solidFill xmlns:a="http://schemas.openxmlformats.org/drawingml/2006/main">
            <a:srgbClr val="EEF4F5"/>
          </a:solidFill>
          <a:ln xmlns:a="http://schemas.openxmlformats.org/drawingml/2006/main" w="0">
            <a:noFill/>
            <a:prstDash val="solid"/>
          </a:ln>
        </p:spPr>
      </p:sp>
      <p:sp>
        <p:nvSpPr>
          <p:cNvPr id="12" name="demo.cpp · 질문할 코드 선택">
            <a:extLst xmlns:a="http://schemas.openxmlformats.org/drawingml/2006/main">
              <a:ext uri="{FF2B5EF4-FFF2-40B4-BE49-F238E27FC236}">
                <a16:creationId xmlns:a16="http://schemas.microsoft.com/office/drawing/2014/main" id="{64FE553D-0D1D-461D-A03A-2D739F5DC480}"/>
              </a:ext>
            </a:extLst>
          </p:cNvPr>
          <p:cNvSpPr>
            <a:spLocks xmlns:a="http://schemas.openxmlformats.org/drawingml/2006/main" noGrp="1"/>
          </p:cNvSpPr>
          <p:nvPr/>
        </p:nvSpPr>
        <p:spPr>
          <a:xfrm xmlns:a="http://schemas.openxmlformats.org/drawingml/2006/main">
            <a:off x="838200" y="25336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demo.cpp · 질문할 코드 선택</a:t>
            </a:r>
          </a:p>
        </p:txBody>
      </p:sp>
      <p:sp>
        <p:nvSpPr>
          <p:cNvPr id="13" name="">
            <a:extLst xmlns:a="http://schemas.openxmlformats.org/drawingml/2006/main">
              <a:ext uri="{FF2B5EF4-FFF2-40B4-BE49-F238E27FC236}">
                <a16:creationId xmlns:a16="http://schemas.microsoft.com/office/drawing/2014/main" id="{60F9BA0B-C71A-493E-B251-2FB981DDEDF2}"/>
              </a:ext>
            </a:extLst>
          </p:cNvPr>
          <p:cNvSpPr>
            <a:spLocks xmlns:a="http://schemas.openxmlformats.org/drawingml/2006/main" noGrp="1"/>
          </p:cNvSpPr>
          <p:nvPr/>
        </p:nvSpPr>
        <p:spPr>
          <a:xfrm xmlns:a="http://schemas.openxmlformats.org/drawingml/2006/main">
            <a:off x="838200" y="2990850"/>
            <a:ext cx="531495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td::vector&lt;int&gt; a(3, 1);">
            <a:extLst xmlns:a="http://schemas.openxmlformats.org/drawingml/2006/main">
              <a:ext uri="{FF2B5EF4-FFF2-40B4-BE49-F238E27FC236}">
                <a16:creationId xmlns:a16="http://schemas.microsoft.com/office/drawing/2014/main" id="{E181FD48-3278-4B3C-93D4-1E90468B6B0B}"/>
              </a:ext>
            </a:extLst>
          </p:cNvPr>
          <p:cNvSpPr>
            <a:spLocks xmlns:a="http://schemas.openxmlformats.org/drawingml/2006/main" noGrp="1"/>
          </p:cNvSpPr>
          <p:nvPr/>
        </p:nvSpPr>
        <p:spPr>
          <a:xfrm xmlns:a="http://schemas.openxmlformats.org/drawingml/2006/main">
            <a:off x="990600" y="3086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a(3, 1);</a:t>
            </a:r>
          </a:p>
        </p:txBody>
      </p:sp>
      <p:sp>
        <p:nvSpPr>
          <p:cNvPr id="15" name="std::vector&lt;int&gt; b{3, 1};">
            <a:extLst xmlns:a="http://schemas.openxmlformats.org/drawingml/2006/main">
              <a:ext uri="{FF2B5EF4-FFF2-40B4-BE49-F238E27FC236}">
                <a16:creationId xmlns:a16="http://schemas.microsoft.com/office/drawing/2014/main" id="{3121D5E1-5EB8-409A-BEE3-6A3B3B5D5B46}"/>
              </a:ext>
            </a:extLst>
          </p:cNvPr>
          <p:cNvSpPr>
            <a:spLocks xmlns:a="http://schemas.openxmlformats.org/drawingml/2006/main" noGrp="1"/>
          </p:cNvSpPr>
          <p:nvPr/>
        </p:nvSpPr>
        <p:spPr>
          <a:xfrm xmlns:a="http://schemas.openxmlformats.org/drawingml/2006/main">
            <a:off x="990600" y="3467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b{3, 1};</a:t>
            </a:r>
          </a:p>
        </p:txBody>
      </p:sp>
      <p:sp>
        <p:nvSpPr>
          <p:cNvPr id="16" name="질문에 필요한 두 줄만 선택">
            <a:extLst xmlns:a="http://schemas.openxmlformats.org/drawingml/2006/main">
              <a:ext uri="{FF2B5EF4-FFF2-40B4-BE49-F238E27FC236}">
                <a16:creationId xmlns:a16="http://schemas.microsoft.com/office/drawing/2014/main" id="{6D291A48-DE13-49C1-9B42-9FE8DD82B3E9}"/>
              </a:ext>
            </a:extLst>
          </p:cNvPr>
          <p:cNvSpPr>
            <a:spLocks xmlns:a="http://schemas.openxmlformats.org/drawingml/2006/main" noGrp="1"/>
          </p:cNvSpPr>
          <p:nvPr/>
        </p:nvSpPr>
        <p:spPr>
          <a:xfrm xmlns:a="http://schemas.openxmlformats.org/drawingml/2006/main">
            <a:off x="838200" y="4200525"/>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 두 줄만 선택</a:t>
            </a:r>
          </a:p>
        </p:txBody>
      </p:sp>
      <p:sp>
        <p:nvSpPr>
          <p:cNvPr id="17" name="GitHub Copilot Chat">
            <a:extLst xmlns:a="http://schemas.openxmlformats.org/drawingml/2006/main">
              <a:ext uri="{FF2B5EF4-FFF2-40B4-BE49-F238E27FC236}">
                <a16:creationId xmlns:a16="http://schemas.microsoft.com/office/drawing/2014/main" id="{04490328-D505-4295-AB02-4A7CBCDA26B8}"/>
              </a:ext>
            </a:extLst>
          </p:cNvPr>
          <p:cNvSpPr>
            <a:spLocks xmlns:a="http://schemas.openxmlformats.org/drawingml/2006/main" noGrp="1"/>
          </p:cNvSpPr>
          <p:nvPr/>
        </p:nvSpPr>
        <p:spPr>
          <a:xfrm xmlns:a="http://schemas.openxmlformats.org/drawingml/2006/main">
            <a:off x="6648450" y="2533650"/>
            <a:ext cx="462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GitHub Copilot Chat</a:t>
            </a:r>
          </a:p>
        </p:txBody>
      </p:sp>
      <p:sp>
        <p:nvSpPr>
          <p:cNvPr id="18" name="">
            <a:extLst xmlns:a="http://schemas.openxmlformats.org/drawingml/2006/main">
              <a:ext uri="{FF2B5EF4-FFF2-40B4-BE49-F238E27FC236}">
                <a16:creationId xmlns:a16="http://schemas.microsoft.com/office/drawing/2014/main" id="{22D9CE8F-C8FC-4FC2-9DD4-5E5D0F641C25}"/>
              </a:ext>
            </a:extLst>
          </p:cNvPr>
          <p:cNvSpPr>
            <a:spLocks xmlns:a="http://schemas.openxmlformats.org/drawingml/2006/main" noGrp="1"/>
          </p:cNvSpPr>
          <p:nvPr/>
        </p:nvSpPr>
        <p:spPr>
          <a:xfrm xmlns:a="http://schemas.openxmlformats.org/drawingml/2006/main">
            <a:off x="6648450" y="2990850"/>
            <a:ext cx="46291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Context: 선택한 코드 첨부">
            <a:extLst xmlns:a="http://schemas.openxmlformats.org/drawingml/2006/main">
              <a:ext uri="{FF2B5EF4-FFF2-40B4-BE49-F238E27FC236}">
                <a16:creationId xmlns:a16="http://schemas.microsoft.com/office/drawing/2014/main" id="{A443BE79-4330-4717-BBFB-7F4FCFC13136}"/>
              </a:ext>
            </a:extLst>
          </p:cNvPr>
          <p:cNvSpPr>
            <a:spLocks xmlns:a="http://schemas.openxmlformats.org/drawingml/2006/main" noGrp="1"/>
          </p:cNvSpPr>
          <p:nvPr/>
        </p:nvSpPr>
        <p:spPr>
          <a:xfrm xmlns:a="http://schemas.openxmlformats.org/drawingml/2006/main">
            <a:off x="6800850" y="3048000"/>
            <a:ext cx="4324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 Context: 선택한 코드 첨부</a:t>
            </a:r>
          </a:p>
        </p:txBody>
      </p:sp>
      <p:sp>
        <p:nvSpPr>
          <p:cNvPr id="20" name="">
            <a:extLst xmlns:a="http://schemas.openxmlformats.org/drawingml/2006/main">
              <a:ext uri="{FF2B5EF4-FFF2-40B4-BE49-F238E27FC236}">
                <a16:creationId xmlns:a16="http://schemas.microsoft.com/office/drawing/2014/main" id="{478217E4-71A9-4CB0-9074-BE4D10F0EB2F}"/>
              </a:ext>
            </a:extLst>
          </p:cNvPr>
          <p:cNvSpPr>
            <a:spLocks xmlns:a="http://schemas.openxmlformats.org/drawingml/2006/main" noGrp="1"/>
          </p:cNvSpPr>
          <p:nvPr/>
        </p:nvSpPr>
        <p:spPr>
          <a:xfrm xmlns:a="http://schemas.openxmlformats.org/drawingml/2006/main">
            <a:off x="6648450" y="3543300"/>
            <a:ext cx="4629150" cy="1276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두 vector의 원소 개수와 값이&#10;왜 다른지 설명해줘.&#10;코드는 수정하지 마.">
            <a:extLst xmlns:a="http://schemas.openxmlformats.org/drawingml/2006/main">
              <a:ext uri="{FF2B5EF4-FFF2-40B4-BE49-F238E27FC236}">
                <a16:creationId xmlns:a16="http://schemas.microsoft.com/office/drawing/2014/main" id="{5E87042B-C804-4AAF-AF81-EF6D70C0A577}"/>
              </a:ext>
            </a:extLst>
          </p:cNvPr>
          <p:cNvSpPr>
            <a:spLocks xmlns:a="http://schemas.openxmlformats.org/drawingml/2006/main" noGrp="1"/>
          </p:cNvSpPr>
          <p:nvPr/>
        </p:nvSpPr>
        <p:spPr>
          <a:xfrm xmlns:a="http://schemas.openxmlformats.org/drawingml/2006/main">
            <a:off x="6800850" y="3648075"/>
            <a:ext cx="4324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두 vector의 원소 개수와 값이</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왜 다른지 설명해줘.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코드는 수정하지 마.</a:t>
            </a:r>
          </a:p>
        </p:txBody>
      </p:sp>
      <p:sp>
        <p:nvSpPr>
          <p:cNvPr id="22" name="Ask · 코드 설명 요청">
            <a:extLst xmlns:a="http://schemas.openxmlformats.org/drawingml/2006/main">
              <a:ext uri="{FF2B5EF4-FFF2-40B4-BE49-F238E27FC236}">
                <a16:creationId xmlns:a16="http://schemas.microsoft.com/office/drawing/2014/main" id="{AC3A66E9-FD48-4D31-A889-9AE57A0FC0A3}"/>
              </a:ext>
            </a:extLst>
          </p:cNvPr>
          <p:cNvSpPr>
            <a:spLocks xmlns:a="http://schemas.openxmlformats.org/drawingml/2006/main" noGrp="1"/>
          </p:cNvSpPr>
          <p:nvPr/>
        </p:nvSpPr>
        <p:spPr>
          <a:xfrm xmlns:a="http://schemas.openxmlformats.org/drawingml/2006/main">
            <a:off x="6800850" y="4524375"/>
            <a:ext cx="432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4D5A68"/>
                </a:solidFill>
                <a:latin typeface="Malgun Gothic"/>
                <a:ea typeface="Malgun Gothic"/>
                <a:cs typeface="Malgun Gothic"/>
              </a:defRPr>
            </a:defPPr>
            <a:lvl1pPr algn="l">
              <a:defRPr sz="1350" b="0">
                <a:solidFill>
                  <a:srgbClr val="4D5A68"/>
                </a:solidFill>
                <a:latin typeface="Malgun Gothic"/>
                <a:ea typeface="Malgun Gothic"/>
                <a:cs typeface="Malgun Gothic"/>
              </a:defRPr>
            </a:lvl1pPr>
            <a:lvl2pPr algn="l">
              <a:defRPr sz="1350" b="0">
                <a:solidFill>
                  <a:srgbClr val="4D5A68"/>
                </a:solidFill>
                <a:latin typeface="Malgun Gothic"/>
                <a:ea typeface="Malgun Gothic"/>
                <a:cs typeface="Malgun Gothic"/>
              </a:defRPr>
            </a:lvl2pPr>
            <a:lvl3pPr algn="l">
              <a:defRPr sz="1350" b="0">
                <a:solidFill>
                  <a:srgbClr val="4D5A68"/>
                </a:solidFill>
                <a:latin typeface="Malgun Gothic"/>
                <a:ea typeface="Malgun Gothic"/>
                <a:cs typeface="Malgun Gothic"/>
              </a:defRPr>
            </a:lvl3pPr>
            <a:lvl4pPr algn="l">
              <a:defRPr sz="1350" b="0">
                <a:solidFill>
                  <a:srgbClr val="4D5A68"/>
                </a:solidFill>
                <a:latin typeface="Malgun Gothic"/>
                <a:ea typeface="Malgun Gothic"/>
                <a:cs typeface="Malgun Gothic"/>
              </a:defRPr>
            </a:lvl4pPr>
            <a:lvl5pPr algn="l">
              <a:defRPr sz="1350" b="0">
                <a:solidFill>
                  <a:srgbClr val="4D5A68"/>
                </a:solidFill>
                <a:latin typeface="Malgun Gothic"/>
                <a:ea typeface="Malgun Gothic"/>
                <a:cs typeface="Malgun Gothic"/>
              </a:defRPr>
            </a:lvl5pPr>
            <a:lvl6pPr algn="l">
              <a:defRPr sz="1350" b="0">
                <a:solidFill>
                  <a:srgbClr val="4D5A68"/>
                </a:solidFill>
                <a:latin typeface="Malgun Gothic"/>
                <a:ea typeface="Malgun Gothic"/>
                <a:cs typeface="Malgun Gothic"/>
              </a:defRPr>
            </a:lvl6pPr>
            <a:lvl7pPr algn="l">
              <a:defRPr sz="1350" b="0">
                <a:solidFill>
                  <a:srgbClr val="4D5A68"/>
                </a:solidFill>
                <a:latin typeface="Malgun Gothic"/>
                <a:ea typeface="Malgun Gothic"/>
                <a:cs typeface="Malgun Gothic"/>
              </a:defRPr>
            </a:lvl7pPr>
            <a:lvl8pPr algn="l">
              <a:defRPr sz="1350" b="0">
                <a:solidFill>
                  <a:srgbClr val="4D5A68"/>
                </a:solidFill>
                <a:latin typeface="Malgun Gothic"/>
                <a:ea typeface="Malgun Gothic"/>
                <a:cs typeface="Malgun Gothic"/>
              </a:defRPr>
            </a:lvl8pPr>
            <a:lvl9pPr algn="l">
              <a:defRPr sz="1350" b="0">
                <a:solidFill>
                  <a:srgbClr val="4D5A68"/>
                </a:solidFill>
                <a:latin typeface="Malgun Gothic"/>
                <a:ea typeface="Malgun Gothic"/>
                <a:cs typeface="Malgun Gothic"/>
              </a:defRPr>
            </a:lvl9pPr>
          </a:lstStyle>
          <a:p xmlns:a="http://schemas.openxmlformats.org/drawingml/2006/main">
            <a:pPr algn="l">
              <a:defRPr sz="1350" b="0">
                <a:solidFill>
                  <a:srgbClr val="4D5A68"/>
                </a:solidFill>
                <a:latin typeface="Malgun Gothic"/>
                <a:ea typeface="Malgun Gothic"/>
                <a:cs typeface="Malgun Gothic"/>
              </a:defRPr>
            </a:pPr>
            <a:r>
              <a:rPr sz="1350" b="0">
                <a:solidFill>
                  <a:srgbClr val="4D5A68"/>
                </a:solidFill>
                <a:latin typeface="Malgun Gothic"/>
                <a:ea typeface="Malgun Gothic"/>
                <a:cs typeface="Malgun Gothic"/>
              </a:rPr>
              <a:t>Ask · 코드 설명 요청</a:t>
            </a:r>
          </a:p>
        </p:txBody>
      </p:sp>
      <p:sp>
        <p:nvSpPr>
          <p:cNvPr id="23" name="1">
            <a:extLst xmlns:a="http://schemas.openxmlformats.org/drawingml/2006/main">
              <a:ext uri="{FF2B5EF4-FFF2-40B4-BE49-F238E27FC236}">
                <a16:creationId xmlns:a16="http://schemas.microsoft.com/office/drawing/2014/main" id="{F5692E71-64A9-4E11-A62C-4587E3C49308}"/>
              </a:ext>
            </a:extLst>
          </p:cNvPr>
          <p:cNvSpPr>
            <a:spLocks xmlns:a="http://schemas.openxmlformats.org/drawingml/2006/main" noGrp="1"/>
          </p:cNvSpPr>
          <p:nvPr/>
        </p:nvSpPr>
        <p:spPr>
          <a:xfrm xmlns:a="http://schemas.openxmlformats.org/drawingml/2006/main">
            <a:off x="60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1</a:t>
            </a:r>
          </a:p>
        </p:txBody>
      </p:sp>
      <p:sp>
        <p:nvSpPr>
          <p:cNvPr id="24" name="코드 선택">
            <a:extLst xmlns:a="http://schemas.openxmlformats.org/drawingml/2006/main">
              <a:ext uri="{FF2B5EF4-FFF2-40B4-BE49-F238E27FC236}">
                <a16:creationId xmlns:a16="http://schemas.microsoft.com/office/drawing/2014/main" id="{EF166AA1-C942-41E1-A771-E19FF0D8D1D3}"/>
              </a:ext>
            </a:extLst>
          </p:cNvPr>
          <p:cNvSpPr>
            <a:spLocks xmlns:a="http://schemas.openxmlformats.org/drawingml/2006/main" noGrp="1"/>
          </p:cNvSpPr>
          <p:nvPr/>
        </p:nvSpPr>
        <p:spPr>
          <a:xfrm xmlns:a="http://schemas.openxmlformats.org/drawingml/2006/main">
            <a:off x="102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코드 선택</a:t>
            </a:r>
          </a:p>
        </p:txBody>
      </p:sp>
      <p:cxnSp>
        <p:nvCxnSpPr>
          <p:cNvPr id="25" name="Copilot workflow step 1 to 2">
            <a:extLst xmlns:a="http://schemas.openxmlformats.org/drawingml/2006/main">
              <a:ext uri="{FF2B5EF4-FFF2-40B4-BE49-F238E27FC236}">
                <a16:creationId xmlns:a16="http://schemas.microsoft.com/office/drawing/2014/main" id="{D707E311-1C71-4BB6-AD0E-1EC73695CD47}"/>
              </a:ext>
            </a:extLst>
          </p:cNvPr>
          <p:cNvCxnSpPr/>
          <p:nvPr/>
        </p:nvCxnSpPr>
        <p:spPr>
          <a:xfrm xmlns:a="http://schemas.openxmlformats.org/drawingml/2006/main">
            <a:off x="352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27" name="2">
            <a:extLst xmlns:a="http://schemas.openxmlformats.org/drawingml/2006/main">
              <a:ext uri="{FF2B5EF4-FFF2-40B4-BE49-F238E27FC236}">
                <a16:creationId xmlns:a16="http://schemas.microsoft.com/office/drawing/2014/main" id="{25092CD2-D2D7-4B98-BF51-6201930B1F22}"/>
              </a:ext>
            </a:extLst>
          </p:cNvPr>
          <p:cNvSpPr>
            <a:spLocks xmlns:a="http://schemas.openxmlformats.org/drawingml/2006/main" noGrp="1"/>
          </p:cNvSpPr>
          <p:nvPr/>
        </p:nvSpPr>
        <p:spPr>
          <a:xfrm xmlns:a="http://schemas.openxmlformats.org/drawingml/2006/main">
            <a:off x="441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2</a:t>
            </a:r>
          </a:p>
        </p:txBody>
      </p:sp>
      <p:sp>
        <p:nvSpPr>
          <p:cNvPr id="28" name="Context 첨부·확인">
            <a:extLst xmlns:a="http://schemas.openxmlformats.org/drawingml/2006/main">
              <a:ext uri="{FF2B5EF4-FFF2-40B4-BE49-F238E27FC236}">
                <a16:creationId xmlns:a16="http://schemas.microsoft.com/office/drawing/2014/main" id="{A27C692D-E0D8-447F-A415-607F3DAB4141}"/>
              </a:ext>
            </a:extLst>
          </p:cNvPr>
          <p:cNvSpPr>
            <a:spLocks xmlns:a="http://schemas.openxmlformats.org/drawingml/2006/main" noGrp="1"/>
          </p:cNvSpPr>
          <p:nvPr/>
        </p:nvSpPr>
        <p:spPr>
          <a:xfrm xmlns:a="http://schemas.openxmlformats.org/drawingml/2006/main">
            <a:off x="483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Context 첨부·확인</a:t>
            </a:r>
          </a:p>
        </p:txBody>
      </p:sp>
      <p:cxnSp>
        <p:nvCxnSpPr>
          <p:cNvPr id="29" name="Copilot workflow step 2 to 3">
            <a:extLst xmlns:a="http://schemas.openxmlformats.org/drawingml/2006/main">
              <a:ext uri="{FF2B5EF4-FFF2-40B4-BE49-F238E27FC236}">
                <a16:creationId xmlns:a16="http://schemas.microsoft.com/office/drawing/2014/main" id="{6A072F8C-93DF-4F1E-80AD-57537FA8CAF8}"/>
              </a:ext>
            </a:extLst>
          </p:cNvPr>
          <p:cNvCxnSpPr/>
          <p:nvPr/>
        </p:nvCxnSpPr>
        <p:spPr>
          <a:xfrm xmlns:a="http://schemas.openxmlformats.org/drawingml/2006/main">
            <a:off x="733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31" name="3">
            <a:extLst xmlns:a="http://schemas.openxmlformats.org/drawingml/2006/main">
              <a:ext uri="{FF2B5EF4-FFF2-40B4-BE49-F238E27FC236}">
                <a16:creationId xmlns:a16="http://schemas.microsoft.com/office/drawing/2014/main" id="{CB34179C-E9F1-4E83-8573-53886026220B}"/>
              </a:ext>
            </a:extLst>
          </p:cNvPr>
          <p:cNvSpPr>
            <a:spLocks xmlns:a="http://schemas.openxmlformats.org/drawingml/2006/main" noGrp="1"/>
          </p:cNvSpPr>
          <p:nvPr/>
        </p:nvSpPr>
        <p:spPr>
          <a:xfrm xmlns:a="http://schemas.openxmlformats.org/drawingml/2006/main">
            <a:off x="822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3</a:t>
            </a:r>
          </a:p>
        </p:txBody>
      </p:sp>
      <p:sp>
        <p:nvSpPr>
          <p:cNvPr id="32" name="질문하고 답 확인">
            <a:extLst xmlns:a="http://schemas.openxmlformats.org/drawingml/2006/main">
              <a:ext uri="{FF2B5EF4-FFF2-40B4-BE49-F238E27FC236}">
                <a16:creationId xmlns:a16="http://schemas.microsoft.com/office/drawing/2014/main" id="{1F3C5990-43BB-413B-9F5E-62BC65E8EEF4}"/>
              </a:ext>
            </a:extLst>
          </p:cNvPr>
          <p:cNvSpPr>
            <a:spLocks xmlns:a="http://schemas.openxmlformats.org/drawingml/2006/main" noGrp="1"/>
          </p:cNvSpPr>
          <p:nvPr/>
        </p:nvSpPr>
        <p:spPr>
          <a:xfrm xmlns:a="http://schemas.openxmlformats.org/drawingml/2006/main">
            <a:off x="864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 답 확인</a:t>
            </a:r>
          </a:p>
        </p:txBody>
      </p:sp>
      <p:sp>
        <p:nvSpPr>
          <p:cNvPr id="33" name="">
            <a:extLst xmlns:a="http://schemas.openxmlformats.org/drawingml/2006/main">
              <a:ext uri="{FF2B5EF4-FFF2-40B4-BE49-F238E27FC236}">
                <a16:creationId xmlns:a16="http://schemas.microsoft.com/office/drawing/2014/main" id="{D835368D-61A3-4E54-A56E-C763FE17094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4" name="Practical application tip badge">
            <a:extLst xmlns:a="http://schemas.openxmlformats.org/drawingml/2006/main">
              <a:ext uri="{FF2B5EF4-FFF2-40B4-BE49-F238E27FC236}">
                <a16:creationId xmlns:a16="http://schemas.microsoft.com/office/drawing/2014/main" id="{082FD7B7-88A5-4C12-A1A2-C79F5921C22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5" name="Legacy module connection">
            <a:extLst xmlns:a="http://schemas.openxmlformats.org/drawingml/2006/main">
              <a:ext uri="{FF2B5EF4-FFF2-40B4-BE49-F238E27FC236}">
                <a16:creationId xmlns:a16="http://schemas.microsoft.com/office/drawing/2014/main" id="{C8D6FD88-B395-497F-9FF2-F7B650E2C2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9246186"/>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A6DEAD16-4F9E-4C36-80C5-BA93F904A6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D4EF2790-A2B8-42E4-AB21-5230404AD1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질문이 커지면 Context를 모으는 일이 생긴다">
            <a:extLst xmlns:a="http://schemas.openxmlformats.org/drawingml/2006/main">
              <a:ext uri="{FF2B5EF4-FFF2-40B4-BE49-F238E27FC236}">
                <a16:creationId xmlns:a16="http://schemas.microsoft.com/office/drawing/2014/main" id="{67462F48-5A20-439A-9171-9BC8F1021F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05B6F894-2992-423E-8897-1A312A83E1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결과가 기대와 다르다” — 우리는 어디를 살펴볼까?">
            <a:extLst xmlns:a="http://schemas.openxmlformats.org/drawingml/2006/main">
              <a:ext uri="{FF2B5EF4-FFF2-40B4-BE49-F238E27FC236}">
                <a16:creationId xmlns:a16="http://schemas.microsoft.com/office/drawing/2014/main" id="{2E25A515-94D8-402B-92A1-F313EB5D3167}"/>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3315060D-1BF8-4E26-9117-9247C4664859}"/>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E8FF34EF-378A-49F2-B368-6E5DC25E2195}"/>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0E1C3625-41EF-4EC3-B31D-484F0DF75B03}"/>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8EF0CF5B-54B8-464A-B022-15568E5BA4FF}"/>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A91A22B1-16DA-47F3-8CE2-7E8D0569D695}"/>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E429C78A-E4A4-425A-8ABE-745D2EAA710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63B185F6-F6E9-466C-B4DE-7A26F920EFDB}"/>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D418147A-8328-4CA9-BE3F-20283219858E}"/>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1EA8EFCB-BD06-40F3-A855-A40DBE3646AD}"/>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0A14F68E-F3E3-4CD0-B01F-5DB8B62C2800}"/>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CA7061F0-90E2-4C30-BF4D-C24CE9DDB4D2}"/>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092EAC80-04D6-470A-9051-34946CD95D16}"/>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2FD29178-F603-455F-8002-B2233868F6B3}"/>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43A9ECD3-987D-417E-9CCA-B60295A237B2}"/>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C43A506C-87E0-45C2-9B49-04AA9A20999E}"/>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4F51E471-DE4D-4EDC-879C-E8F6A0AC4BE8}"/>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89FC855C-542C-4C17-A5D0-7FA196D69AAC}"/>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09E604F2-FA77-4D19-A18B-C86378B58829}"/>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58C329F9-F31D-4C00-8E89-924E95289BBD}"/>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1E48662D-A10F-4AA2-8384-13DBEFD3A6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FAD4B609-23A4-41AB-A04E-BC7BCFFA57C7}"/>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82BA5881-5ED1-4069-9577-0BD1E49DEE2D}"/>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83066479-6905-49DA-9D59-734B11B3CDB8}"/>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0E9161E-C6FD-48BF-AE1C-7479B396BE9F}"/>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A28238A5-AC63-4C66-9142-34F0E95B21A1}"/>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C5251733-5852-44CF-9D34-73075B2DE9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941314641"/>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16D3D866-89F2-46A4-92E2-156AB88717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5">
            <a:extLst xmlns:a="http://schemas.openxmlformats.org/drawingml/2006/main">
              <a:ext uri="{FF2B5EF4-FFF2-40B4-BE49-F238E27FC236}">
                <a16:creationId xmlns:a16="http://schemas.microsoft.com/office/drawing/2014/main" id="{C4D0F87F-9494-48C1-BD0C-B8AF03EF58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파일명을 주지 않으면 Agent는 어디부터 볼까?">
            <a:extLst xmlns:a="http://schemas.openxmlformats.org/drawingml/2006/main">
              <a:ext uri="{FF2B5EF4-FFF2-40B4-BE49-F238E27FC236}">
                <a16:creationId xmlns:a16="http://schemas.microsoft.com/office/drawing/2014/main" id="{A0E3A0D5-1309-4980-AB4B-3F7C193B0F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7727CDA4-03A4-457F-B70A-94A98C8A1F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0EC0C38-2F2C-4F1C-92FA-982B625363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 · 읽기 전용</a:t>
            </a:r>
          </a:p>
        </p:txBody>
      </p:sp>
      <p:sp>
        <p:nvSpPr>
          <p:cNvPr id="6" name="Audience footer 2">
            <a:extLst xmlns:a="http://schemas.openxmlformats.org/drawingml/2006/main">
              <a:ext uri="{FF2B5EF4-FFF2-40B4-BE49-F238E27FC236}">
                <a16:creationId xmlns:a16="http://schemas.microsoft.com/office/drawing/2014/main" id="{0E0B4B91-7DFA-4FCA-9B5F-0BDC2C200F6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우측은 GoogleTest 예시 · 실제 Trial은 Python</a:t>
            </a:r>
          </a:p>
        </p:txBody>
      </p:sp>
      <p:sp>
        <p:nvSpPr>
          <p:cNvPr id="7" name="TRIAL-001의 실제 조사 요청">
            <a:extLst xmlns:a="http://schemas.openxmlformats.org/drawingml/2006/main">
              <a:ext uri="{FF2B5EF4-FFF2-40B4-BE49-F238E27FC236}">
                <a16:creationId xmlns:a16="http://schemas.microsoft.com/office/drawing/2014/main" id="{EF970A35-7F57-4F1A-94CD-CD39B5E46730}"/>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FEA64C4B-26C8-4F00-988B-0B8013B30B04}"/>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2A182CA1-02CF-4232-A240-068C02ACDACF}"/>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807DD786-CC2C-442A-ABDB-C74B5A1CA813}"/>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F025A126-6807-4CDA-B6A3-6135CCF817A7}"/>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1149B502-CBBF-4417-9154-D27D21C9388A}"/>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2996D3F7-6F41-4689-A046-8CBB78CC1D16}"/>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7C51A700-46ED-40EF-B1CE-A31EB177E085}"/>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922B5F64-1046-4128-B954-404054C35D8A}"/>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05F729A-FB27-486C-8091-307477DFDF7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747456D5-3C23-4A4A-831B-4925672BFDB4}"/>
              </a:ext>
            </a:extLst>
          </p:cNvPr>
          <p:cNvPicPr>
            <a:picLocks xmlns:a="http://schemas.openxmlformats.org/drawingml/2006/main" noChangeAspect="1"/>
          </p:cNvPicPr>
          <p:nvPr/>
        </p:nvPicPr>
        <p:blipFill>
          <a:blip xmlns:r="http://schemas.openxmlformats.org/officeDocument/2006/relationships" xmlns:a="http://schemas.openxmlformats.org/drawingml/2006/main" r:embed="Rd95d55adf7414435"/>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DCEE144-C806-494F-AE68-2AA133BCD15A}"/>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D563152D-FDFF-4B03-A27B-39DAB2FD30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95487018"/>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8F06A9B9-F44C-4D13-9B48-E741F3E5EB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53B2B5A3-A92B-46A2-A03C-C8599137BE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Crop은 기대한 폭보다 한 열을 더 포함했다">
            <a:extLst xmlns:a="http://schemas.openxmlformats.org/drawingml/2006/main">
              <a:ext uri="{FF2B5EF4-FFF2-40B4-BE49-F238E27FC236}">
                <a16:creationId xmlns:a16="http://schemas.microsoft.com/office/drawing/2014/main" id="{C4AE639A-32C1-447E-BEFB-518304A47E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846D2C8-936C-4128-B14A-64C0B03676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437A706-FC8B-4A54-AFE7-1A9E21B7A6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조사 기록 요약 · 코드 수정 없음</a:t>
            </a:r>
          </a:p>
        </p:txBody>
      </p:sp>
      <p:sp>
        <p:nvSpPr>
          <p:cNvPr id="7" name="crop(image, 1, 3) · 명세는 끝 좌표 3을 제외">
            <a:extLst xmlns:a="http://schemas.openxmlformats.org/drawingml/2006/main">
              <a:ext uri="{FF2B5EF4-FFF2-40B4-BE49-F238E27FC236}">
                <a16:creationId xmlns:a16="http://schemas.microsoft.com/office/drawing/2014/main" id="{26AF6076-6654-4DE6-B4EE-4975412183E3}"/>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7D83E4B6-DF2B-42A3-ACF1-1927E58845F7}"/>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95FCE087-F164-4A30-A11D-82CA412F729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1E98B7F9-BBDD-47FE-AE52-E8E9616B131E}"/>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4F2DA1CD-20F0-41C8-9FC4-BB2CEB230552}"/>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2A83981E-5D4D-47AB-89A7-0A8A1197B8F9}"/>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5A38D5D2-FF08-4954-AF90-32F637AE9447}"/>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FE85A76C-E83E-461B-ABD4-328E22BA7B38}"/>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7C985556-27A9-4C88-AAF1-37C2F5DD563F}"/>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4A8BE283-F337-4FE4-A765-694F8D010431}"/>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281C2E7D-01BE-4568-BC55-F3733B603B60}"/>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19B6AEA3-6E47-4EBA-BF73-C7B6B374A28D}"/>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FA3198D0-6B20-4AC6-BDD8-945554605641}"/>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A4C29AA3-EEE5-47A5-B4DC-D6C44729B8C3}"/>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B6257140-7719-43F5-BA2D-E9449E5A6BF5}"/>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B0655D2F-B0AA-442D-967B-C71AEA0A2969}"/>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C6DBE733-2E5F-4FAB-8824-B7B98554F659}"/>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400846E2-35AC-4CA6-8F60-5A88CC5F4F2B}"/>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FCE13B08-13B2-40F3-9439-0C91F8F21788}"/>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AD936050-9131-46DA-8BA5-4C2F4FD8F07F}"/>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3547CA01-3DED-46AE-A017-F0953C223197}"/>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6416115-E722-4BC7-9740-1F3C324EC460}"/>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B9BD2625-EE47-4B08-A9B2-153FCE503BA1}"/>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DFF7C7B3-BD71-4B58-B596-01DB226D1CF8}"/>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E7542592-2800-40CF-8267-ADFB41253AFF}"/>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382FD7B0-7E5F-42CC-9B85-DFA47DBB8AE4}"/>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79CDA8D1-D19F-4B3E-9346-3E4BB866ECAE}"/>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C59C21B7-14CD-4500-8965-F46AB84766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52036491"/>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CA30814-53D9-4E9F-BCDD-45F9CE9727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3AF9B92A-2E74-4F17-BFA9-58BD4BE902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테스트·명세·구현을 연결해 원인을 설명했다">
            <a:extLst xmlns:a="http://schemas.openxmlformats.org/drawingml/2006/main">
              <a:ext uri="{FF2B5EF4-FFF2-40B4-BE49-F238E27FC236}">
                <a16:creationId xmlns:a16="http://schemas.microsoft.com/office/drawing/2014/main" id="{FC523A69-3746-42F3-975F-A8C7C72E25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1EF194AB-37A0-4248-8E1B-3846759316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A8C5FAA-BC37-4692-9E6C-7F073084FC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발견한 근거의 관계도</a:t>
            </a:r>
          </a:p>
        </p:txBody>
      </p:sp>
      <p:sp>
        <p:nvSpPr>
          <p:cNvPr id="7" name="앞의 폭 2 / 폭 3 차이를 설명한 근거">
            <a:extLst xmlns:a="http://schemas.openxmlformats.org/drawingml/2006/main">
              <a:ext uri="{FF2B5EF4-FFF2-40B4-BE49-F238E27FC236}">
                <a16:creationId xmlns:a16="http://schemas.microsoft.com/office/drawing/2014/main" id="{F704CC8E-7C2F-4BEF-ACCD-777E3A45E54D}"/>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7CA41A94-68F0-401B-B73D-9C24F65CE165}"/>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64F8CA5-3381-4E5B-9B12-6C19FCD59E8C}"/>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8E1FF3D1-418F-464E-8A1E-1452A3A97F0C}"/>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3B29E6EF-819C-4E43-A3B1-BEF93FDEC03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387F7095-EB0C-43E0-A099-F43D35A6FE30}"/>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01B4744E-5BF3-4D80-A89D-F95C352CEDD7}"/>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586EB63F-0F56-4267-B295-182020DC451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7355650B-9E98-44C8-BD80-82674C534562}"/>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04587C45-BCD7-48C3-BEED-56A95D4E7A67}"/>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EBBFF7C7-1FB5-4C33-AFAE-5A4DE9CB98ED}"/>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84DF1EC2-8850-405B-8ADE-CF4FC9F1EFD1}"/>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3DF66A06-8F60-4DDB-9199-2C789E53C51B}"/>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6E299449-18A0-4542-B6D7-DDFD8A590D5B}"/>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E5650C68-3203-4EEB-8D40-FCFE994F578E}"/>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7EC2F82D-CAC8-4188-ACC4-0FEA04331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15981641"/>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7D02E485-55D0-47D3-938C-988DFFE71E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2FCAA454-3141-42EB-9239-55121E5B4F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C2859E87-891B-4378-9577-E690244070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758010A0-B045-4B5A-97C4-F5F069B153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D2DF949A-E01A-4287-A732-A168B890C543}"/>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9AAF70ED-313B-4F1A-9B47-E4F46FAC0E75}"/>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07E3D001-C2E9-4A0B-8AF6-65D3D92F25C7}"/>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46B9FAF-3698-4AF3-B1E9-6357D997B207}"/>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E1E10CB4-7054-4145-B003-87D204461647}"/>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4EC4D47E-041C-47B8-8CD1-952ED4B832E5}"/>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4C6B386D-4DF1-4087-887D-FDBCDDCEA28A}"/>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F00122F8-4CE2-4896-9E7D-D54EB1CE417E}"/>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814E5829-EF66-4A92-AF14-CF8C51716518}"/>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A0AC1AE4-F40E-4E70-8CAC-8A245C2AB062}"/>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25E403EB-9C93-4693-A846-5EEEAE2D8611}"/>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4BC86894-6C29-41BA-9D5B-5CD72998914A}"/>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799F1466-74BC-4535-9E78-DABB5CFC4856}"/>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4F39786-BEED-408E-B9F6-BA083EF290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66875823"/>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7E8D14D6-FFA0-4DA3-89AE-11C353D959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9C41D36C-95EE-4093-9B28-F8449DE151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C14C5B4A-E50E-4314-80AC-4DB478913B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656BF7AF-A30C-4B4A-A9A3-55EEE93A39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94DCE88-5CDA-4D08-92D5-9B6D7E39F0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Repository 접근과 실행 권한은 별개</a:t>
            </a:r>
          </a:p>
        </p:txBody>
      </p:sp>
      <p:sp>
        <p:nvSpPr>
          <p:cNvPr id="7" name="앞선 두 문제를 판단할 때, 무엇을 살펴봤을까?">
            <a:extLst xmlns:a="http://schemas.openxmlformats.org/drawingml/2006/main">
              <a:ext uri="{FF2B5EF4-FFF2-40B4-BE49-F238E27FC236}">
                <a16:creationId xmlns:a16="http://schemas.microsoft.com/office/drawing/2014/main" id="{80851208-79FA-41CF-B348-41C58B2C310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43F2D427-F8EE-48C1-AE01-9DF9D429041D}"/>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4348B9EA-1CFB-419E-88C1-0F16558DABA1}"/>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69DD1085-351A-4477-A9F5-1E08B55C9F8B}"/>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106F5CA5-13C5-4C80-9B4C-C3CB5B3F7F4F}"/>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032A54B4-BF08-496E-8073-C29E9BB27D70}"/>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46503D57-0C6E-46E4-A0C0-BE997B24BD01}"/>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50E737F5-A210-4455-AF74-1E1DECD02FF6}"/>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2826CEB-3726-4950-99A1-CDE9555BE78A}"/>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9ED4EF1A-446E-4397-9C43-DD811D2D85C8}"/>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145E1B97-1B1E-41F3-871F-00000D659AD0}"/>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3917C4A9-EC45-4EC7-BF4C-D87C1710DDD3}"/>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722F6A10-3220-4026-BDF2-BF3A2AD056D9}"/>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5F32D2C8-13B0-46A7-809D-F2946DF44581}"/>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CD87347E-596F-45AB-8453-A49189680BE8}"/>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F047A98-85C1-4F9A-8196-60F6C979FBAC}"/>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1F1303D0-39F0-4679-A6CC-ECAC674C120F}"/>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7DB5BEAB-650D-484D-89BB-57656FA95412}"/>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B139E47-7C24-4291-883A-1C6A8CDCF3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23928147"/>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92424FFF-2131-416C-9087-F1C9706095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04C3F9FE-5BAE-40CA-8AD3-61475BE76A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Chatbot에 이 자료를 직접 전달한다면?">
            <a:extLst xmlns:a="http://schemas.openxmlformats.org/drawingml/2006/main">
              <a:ext uri="{FF2B5EF4-FFF2-40B4-BE49-F238E27FC236}">
                <a16:creationId xmlns:a16="http://schemas.microsoft.com/office/drawing/2014/main" id="{679A5D29-64FB-46A7-99AF-3595D55E30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1B4047EA-5AB1-4FA4-B398-33F4DDDF0D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답을 받기 전, 사람이 관련 자료를 찾아 전달하는 방식">
            <a:extLst xmlns:a="http://schemas.openxmlformats.org/drawingml/2006/main">
              <a:ext uri="{FF2B5EF4-FFF2-40B4-BE49-F238E27FC236}">
                <a16:creationId xmlns:a16="http://schemas.microsoft.com/office/drawing/2014/main" id="{981C4A5A-8791-41A9-9026-A3309EE625A1}"/>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0E92C3A5-B1C3-4087-92CA-BB4173ED9F93}"/>
              </a:ext>
            </a:extLst>
          </p:cNvPr>
          <p:cNvPicPr>
            <a:picLocks xmlns:a="http://schemas.openxmlformats.org/drawingml/2006/main" noChangeAspect="1"/>
          </p:cNvPicPr>
          <p:nvPr/>
        </p:nvPicPr>
        <p:blipFill>
          <a:blip xmlns:r="http://schemas.openxmlformats.org/officeDocument/2006/relationships" xmlns:a="http://schemas.openxmlformats.org/drawingml/2006/main" r:embed="R1405e92e9b8c45ba"/>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EA996F87-B4BB-4B74-B7EC-4F7C475B155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ABE6D6F7-AAA4-49EA-ADA0-A5274C785B55}"/>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6FDC300-521F-4249-B8BB-AEDD2CFC76BD}"/>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95987D9A-EC10-499A-89F5-94D82591BBCA}"/>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95DA38A-2CD0-47D7-8BFA-FBCA257220D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4322889-ADBC-4058-A088-F88DB892F95A}"/>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7CFB9C7F-25FF-41FA-AB52-29D1FAB88168}"/>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352F4762-C746-4D1E-96A3-F84A3C845CCB}"/>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59E84D2E-3957-4DCD-9EEA-FF173B2C0ED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EF9E48A5-A775-45D0-AD0A-D8A0195AF27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E013678D-13AD-401A-89D0-D54BEDF85CE3}"/>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F69C2FF2-C052-4B1E-83F3-29BFDBC43653}"/>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76D9408-29D9-4203-A7BB-F9BD701B8469}"/>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8A9DDDEE-C631-4FCD-9EB3-4EFA520FB099}"/>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41CEB894-3C55-4970-8D05-F166D5EAB213}"/>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BC9C6EFE-65FA-45DB-8DC3-225E920676D5}"/>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1C0C379E-5243-4DC7-8CF0-844018486FA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B979FD76-0864-49B6-9E12-B0C92537F8B9}"/>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C8E602B-24B7-489E-BA30-A6ED39E7A8BF}"/>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0D952AC6-D850-42E9-A238-E5CAFCF127D0}"/>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C63FCF37-61EA-4F07-919E-9CACF3507229}"/>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C4E7B6CA-317E-423F-9311-A9E47089335C}"/>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EA1F9D2F-70DB-484B-9C24-8AD812851576}"/>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71FE705D-0958-459D-B601-BB2309297532}"/>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CA460566-2679-4A7B-B710-960E74298EF7}"/>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6C695F30-4B28-40AD-8E8B-BACCB5005619}"/>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A02D6E2A-D500-4F79-AADA-FF3BA8A97AD7}"/>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02A71C11-CA6A-4A1A-8B5C-EF380597D6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352155344"/>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D995D505-507E-499D-8F8B-E4C966BCD3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45944F4C-09A1-4887-8C7C-E92EE5CAC8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Agent가 자료를 직접 찾아 연결했다">
            <a:extLst xmlns:a="http://schemas.openxmlformats.org/drawingml/2006/main">
              <a:ext uri="{FF2B5EF4-FFF2-40B4-BE49-F238E27FC236}">
                <a16:creationId xmlns:a16="http://schemas.microsoft.com/office/drawing/2014/main" id="{A2681C18-32A6-4B33-BA1E-A9F0786146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C748DFBA-4D8E-406F-99A2-8D37D46F5B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701411B-8E21-46FF-9114-CD8347B45C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0A6C3E0A-18C0-4C99-A59D-B39E4B2ED7EB}"/>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F261036D-4302-4492-9BD6-D849D1D8AE41}"/>
              </a:ext>
            </a:extLst>
          </p:cNvPr>
          <p:cNvPicPr>
            <a:picLocks xmlns:a="http://schemas.openxmlformats.org/drawingml/2006/main" noChangeAspect="1"/>
          </p:cNvPicPr>
          <p:nvPr/>
        </p:nvPicPr>
        <p:blipFill>
          <a:blip xmlns:r="http://schemas.openxmlformats.org/officeDocument/2006/relationships" xmlns:a="http://schemas.openxmlformats.org/drawingml/2006/main" r:embed="Rf0b868e3c0394193"/>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CC622EF-0432-4575-8599-368F178089E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A12C8177-A791-45DA-8907-C77D7029CCF0}"/>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96F1156F-AF43-4212-99A0-137538FBC6F1}"/>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89C88CC3-DCF4-416C-9BA8-D718FFF77D4C}"/>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FEC28D47-B341-4E09-83F6-D7D179F8BAF9}"/>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F1702371-80C9-4A94-A864-F4BF814093B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34FE63D8-11B0-4BC7-A53E-48C7C7992B5F}"/>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999E8875-BE3E-423C-A952-945DC7057C59}"/>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5C4C9D2B-E029-4916-BE7F-E43DF56CB184}"/>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3C056358-8930-4520-883F-25DF38FA1A95}"/>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40449085-F7DE-49AF-ACE5-55B60D787E74}"/>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0A7154EE-5831-4E3A-989A-2ACB787F6A63}"/>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F53C87A8-5BB9-4CB9-96EF-241CF46C9DD7}"/>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A850B634-2968-48DE-8A6A-A02AD3114054}"/>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90CE2F4C-20E6-4BD8-9546-FF722598A551}"/>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A1BAB16-2270-4859-8A31-3694EBDEA96E}"/>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B78F591-E397-442E-92A3-C5DFD4B9A16D}"/>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BF5B0CEF-D8CB-4689-AB41-2DAB7101F12A}"/>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BA6BA8C5-8F5D-4A08-ADFA-B4CB7AE40AED}"/>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74152FFC-9622-4569-87A5-607D5CB93DF1}"/>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8B05C7C9-FA8D-410C-9AAF-D454C687F7A9}"/>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B90F4880-102E-461C-96D5-F707DEECEF94}"/>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26DD7E00-6DAA-4CD0-8A4B-353F48D6AC17}"/>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04B8F807-A0B1-4BDF-B67D-26E302807A5C}"/>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7725403F-A4EE-4C29-B326-C7924871F556}"/>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33C16409-A00B-41A2-9A76-8EBBACC3E155}"/>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917B0CD1-7AEC-434B-A239-533A4BBD0365}"/>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D7ABCD94-C9A1-42BE-8807-0DEED82976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252910425"/>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8C00D589-4312-422E-9657-42BD49D703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05894942-9E9B-4127-A1B0-B6FFE88A81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 작업은 Codex에서 시작한다">
            <a:extLst xmlns:a="http://schemas.openxmlformats.org/drawingml/2006/main">
              <a:ext uri="{FF2B5EF4-FFF2-40B4-BE49-F238E27FC236}">
                <a16:creationId xmlns:a16="http://schemas.microsoft.com/office/drawing/2014/main" id="{D2C737DD-8164-4DB9-9DAC-EA9A18AE14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C2CE2E95-7021-4D56-81FF-903E99E918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66B055-A71A-4A86-A582-EB1DAE16E6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메뉴 예시</a:t>
            </a:r>
          </a:p>
        </p:txBody>
      </p:sp>
      <p:sp>
        <p:nvSpPr>
          <p:cNvPr id="7" name="앱 좌측 상단에서 ChatGPT → Codex 선택">
            <a:extLst xmlns:a="http://schemas.openxmlformats.org/drawingml/2006/main">
              <a:ext uri="{FF2B5EF4-FFF2-40B4-BE49-F238E27FC236}">
                <a16:creationId xmlns:a16="http://schemas.microsoft.com/office/drawing/2014/main" id="{FBD04B01-9011-467F-94F0-96FE12F24633}"/>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378FB07D-7AAD-4E36-8CD8-99D3307DA4F0}"/>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E67A162F-4947-48E1-87F5-216AF0C261C5}"/>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CBD5F9F4-C78E-4A39-8FC3-8A10BA95CC64}"/>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365677D8-EA88-4496-826C-1DA420E86106}"/>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1AEBF0E9-F201-4E1F-BA7F-7C935CA45483}"/>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7B808F84-EE9D-4526-9433-4C3822FA37B5}"/>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C6C831-5C30-44E1-B301-DCB34C1D6106}"/>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F98694F3-18D7-42DB-A014-138D303E835C}"/>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FBDF87D5-B6B5-4389-B03D-4AC04CFBCEA4}"/>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8A2B3273-CF6E-49AD-BD39-CC30B66F8577}"/>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759B0740-A6C5-471C-9CBC-7410E64AE17B}"/>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2652C1E9-D028-4806-8579-74CF63B5ED7C}"/>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D56482DD-089C-430A-A705-5C8D2EE363E7}"/>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52B54FCB-BC65-4F69-A753-6C726FA8ABA7}"/>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BACED234-9D19-4D21-B96A-EB133DBEB666}"/>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1E082D5E-832F-43A7-BAF3-845FD58B6A6E}"/>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F9727512-695A-467D-B445-714E32DCEB78}"/>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C2CCD1E-3B9B-452B-9575-6750B634C755}"/>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F2598D05-007E-4275-B8D0-488CB40D560D}"/>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26D0DF97-FDD6-4B65-9F96-20C87EA3E56C}"/>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
            <a:extLst xmlns:a="http://schemas.openxmlformats.org/drawingml/2006/main">
              <a:ext uri="{FF2B5EF4-FFF2-40B4-BE49-F238E27FC236}">
                <a16:creationId xmlns:a16="http://schemas.microsoft.com/office/drawing/2014/main" id="{66F5491B-75B5-450B-BCC9-1F672C5BE22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76E7B20C-4F46-44FD-813B-81609E04D3C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EC7EB059-1256-4622-8B82-72B3D2D002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049863103"/>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696E8A01-98A8-4F06-8628-3AA7A7E944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60D982C0-1E2E-4527-9BAD-1848603C59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Repository 접근과 Task 의도는 별개다">
            <a:extLst xmlns:a="http://schemas.openxmlformats.org/drawingml/2006/main">
              <a:ext uri="{FF2B5EF4-FFF2-40B4-BE49-F238E27FC236}">
                <a16:creationId xmlns:a16="http://schemas.microsoft.com/office/drawing/2014/main" id="{0F94C880-F2AE-46C0-A279-F08031969A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257FE763-2827-472F-8620-EDC80DC4BA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볼 수 있는 것">
            <a:extLst xmlns:a="http://schemas.openxmlformats.org/drawingml/2006/main">
              <a:ext uri="{FF2B5EF4-FFF2-40B4-BE49-F238E27FC236}">
                <a16:creationId xmlns:a16="http://schemas.microsoft.com/office/drawing/2014/main" id="{BBB3206F-DAC2-4A9F-A01B-1721C5FE42F0}"/>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1BCE5D64-D846-46A4-8D08-E4ABB78459F5}"/>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0181443E-2AF7-43EF-B7A1-C3FF16DBF495}"/>
              </a:ext>
            </a:extLst>
          </p:cNvPr>
          <p:cNvPicPr>
            <a:picLocks xmlns:a="http://schemas.openxmlformats.org/drawingml/2006/main" noChangeAspect="1"/>
          </p:cNvPicPr>
          <p:nvPr/>
        </p:nvPicPr>
        <p:blipFill>
          <a:blip xmlns:r="http://schemas.openxmlformats.org/officeDocument/2006/relationships" xmlns:a="http://schemas.openxmlformats.org/drawingml/2006/main" r:embed="R4dbd71d421854e9c"/>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992F842D-7C27-4522-B0AC-FC87A0442864}"/>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74548E6A-1BAA-4E4D-9AEC-3C37BDF1C1A7}"/>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E2E61586-0B9B-45A0-8351-68541F4DE706}"/>
              </a:ext>
            </a:extLst>
          </p:cNvPr>
          <p:cNvPicPr>
            <a:picLocks xmlns:a="http://schemas.openxmlformats.org/drawingml/2006/main" noChangeAspect="1"/>
          </p:cNvPicPr>
          <p:nvPr/>
        </p:nvPicPr>
        <p:blipFill>
          <a:blip xmlns:r="http://schemas.openxmlformats.org/officeDocument/2006/relationships" xmlns:a="http://schemas.openxmlformats.org/drawingml/2006/main" r:embed="Rd6b24596b6094590"/>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7A992F36-9CAC-4492-8519-B29CDE452768}"/>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0BD66814-96E4-408A-926D-44AD193B053F}"/>
              </a:ext>
            </a:extLst>
          </p:cNvPr>
          <p:cNvPicPr>
            <a:picLocks xmlns:a="http://schemas.openxmlformats.org/drawingml/2006/main" noChangeAspect="1"/>
          </p:cNvPicPr>
          <p:nvPr/>
        </p:nvPicPr>
        <p:blipFill>
          <a:blip xmlns:r="http://schemas.openxmlformats.org/officeDocument/2006/relationships" xmlns:a="http://schemas.openxmlformats.org/drawingml/2006/main" r:embed="Rab4aa8c9254b49aa"/>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36470598-AA19-4C71-BD3D-496028EA93A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B81F0C8B-A6EE-42CA-B210-2779A94F2F4F}"/>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5355170D-B8BB-41D0-ABEB-D9B4BC1B120A}"/>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1852E202-456E-4B48-A010-5E14AF7AE23E}"/>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83D31DA9-8BA0-4861-B754-D2757A34165A}"/>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716B5F6F-DD61-43EA-954F-D02222A86D6A}"/>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2E46A5A9-3252-4414-93BD-AD2DE7D78535}"/>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41850215-DFC7-43E0-BFEE-AC4F09101C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67549054"/>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88CCF335-389A-4B55-8130-4A81172E07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4">
            <a:extLst xmlns:a="http://schemas.openxmlformats.org/drawingml/2006/main">
              <a:ext uri="{FF2B5EF4-FFF2-40B4-BE49-F238E27FC236}">
                <a16:creationId xmlns:a16="http://schemas.microsoft.com/office/drawing/2014/main" id="{E974CC5A-AE21-44AB-BD24-763A9D278D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Repository를 보면 내가 원하는 것까지 알까?">
            <a:extLst xmlns:a="http://schemas.openxmlformats.org/drawingml/2006/main">
              <a:ext uri="{FF2B5EF4-FFF2-40B4-BE49-F238E27FC236}">
                <a16:creationId xmlns:a16="http://schemas.microsoft.com/office/drawing/2014/main" id="{CB60CD85-F611-412A-9AC2-11D203926B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512C46B6-9E76-49BA-8CA8-9036C21C0E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B4A5301-0F45-402D-9F25-05358361F0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검사 흐름 설계 예시</a:t>
            </a:r>
          </a:p>
        </p:txBody>
      </p:sp>
      <p:sp>
        <p:nvSpPr>
          <p:cNvPr id="7" name="제조 라인 검사장비로 확장한다면?">
            <a:extLst xmlns:a="http://schemas.openxmlformats.org/drawingml/2006/main">
              <a:ext uri="{FF2B5EF4-FFF2-40B4-BE49-F238E27FC236}">
                <a16:creationId xmlns:a16="http://schemas.microsoft.com/office/drawing/2014/main" id="{A7D5E0C5-5494-4096-A1FC-AEC544AB62C1}"/>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2F7624A1-0919-4793-B9E6-D5C3D2A36740}"/>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5AFCF99A-DA6F-4E66-81BC-04DA46E71E18}"/>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E071B194-D538-4E87-B464-B8F5C228B908}"/>
              </a:ext>
            </a:extLst>
          </p:cNvPr>
          <p:cNvSpPr>
            <a:spLocks xmlns:a="http://schemas.openxmlformats.org/drawingml/2006/main" noGrp="1"/>
          </p:cNvSpPr>
          <p:nvPr/>
        </p:nvSpPr>
        <p:spPr>
          <a:xfrm xmlns:a="http://schemas.openxmlformats.org/drawingml/2006/main">
            <a:off x="6096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BC74BDA0-A703-4842-97D3-A850C8691E7F}"/>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60C8C63D-42C6-46C1-9DAB-5BD579BBA1FC}"/>
              </a:ext>
            </a:extLst>
          </p:cNvPr>
          <p:cNvSpPr>
            <a:spLocks xmlns:a="http://schemas.openxmlformats.org/drawingml/2006/main" noGrp="1"/>
          </p:cNvSpPr>
          <p:nvPr/>
        </p:nvSpPr>
        <p:spPr>
          <a:xfrm xmlns:a="http://schemas.openxmlformats.org/drawingml/2006/main">
            <a:off x="7048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F3D4C4F7-05CF-49E6-AEDF-9DA44F01D690}"/>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F6EA410-8D9E-40F5-AC1A-6248C039DBBF}"/>
              </a:ext>
            </a:extLst>
          </p:cNvPr>
          <p:cNvSpPr>
            <a:spLocks xmlns:a="http://schemas.openxmlformats.org/drawingml/2006/main" noGrp="1"/>
          </p:cNvSpPr>
          <p:nvPr/>
        </p:nvSpPr>
        <p:spPr>
          <a:xfrm xmlns:a="http://schemas.openxmlformats.org/drawingml/2006/main">
            <a:off x="2476500" y="2457450"/>
            <a:ext cx="1638300" cy="19050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22368C37-6E34-43FE-B0B3-D8BAA9B0CCF9}"/>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조사한 범위">
            <a:extLst xmlns:a="http://schemas.openxmlformats.org/drawingml/2006/main">
              <a:ext uri="{FF2B5EF4-FFF2-40B4-BE49-F238E27FC236}">
                <a16:creationId xmlns:a16="http://schemas.microsoft.com/office/drawing/2014/main" id="{5F4F84EA-E98C-44C9-93B2-3389D4565495}"/>
              </a:ext>
            </a:extLst>
          </p:cNvPr>
          <p:cNvSpPr>
            <a:spLocks xmlns:a="http://schemas.openxmlformats.org/drawingml/2006/main" noGrp="1"/>
          </p:cNvSpPr>
          <p:nvPr/>
        </p:nvSpPr>
        <p:spPr>
          <a:xfrm xmlns:a="http://schemas.openxmlformats.org/drawingml/2006/main">
            <a:off x="25717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조사한 범위</a:t>
            </a:r>
          </a:p>
        </p:txBody>
      </p:sp>
      <p:sp>
        <p:nvSpPr>
          <p:cNvPr id="17" name="">
            <a:extLst xmlns:a="http://schemas.openxmlformats.org/drawingml/2006/main">
              <a:ext uri="{FF2B5EF4-FFF2-40B4-BE49-F238E27FC236}">
                <a16:creationId xmlns:a16="http://schemas.microsoft.com/office/drawing/2014/main" id="{7A68ECB6-48FD-4902-8337-F7E51ACB9AF6}"/>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E4995448-5ACF-4923-8719-F0D773FDE644}"/>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3CDA68F3-EC24-4669-95B8-F3E7061761D2}"/>
              </a:ext>
            </a:extLst>
          </p:cNvPr>
          <p:cNvSpPr>
            <a:spLocks xmlns:a="http://schemas.openxmlformats.org/drawingml/2006/main" noGrp="1"/>
          </p:cNvSpPr>
          <p:nvPr/>
        </p:nvSpPr>
        <p:spPr>
          <a:xfrm xmlns:a="http://schemas.openxmlformats.org/drawingml/2006/main">
            <a:off x="43434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DB52EF67-7B55-4751-9205-61D5E3511CE3}"/>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49C4DE5D-4A6C-4157-BB64-8ADE33DC3E6A}"/>
              </a:ext>
            </a:extLst>
          </p:cNvPr>
          <p:cNvSpPr>
            <a:spLocks xmlns:a="http://schemas.openxmlformats.org/drawingml/2006/main" noGrp="1"/>
          </p:cNvSpPr>
          <p:nvPr/>
        </p:nvSpPr>
        <p:spPr>
          <a:xfrm xmlns:a="http://schemas.openxmlformats.org/drawingml/2006/main">
            <a:off x="44386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B2595B07-A163-423D-8C08-72CC805ECB69}"/>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9F58E14A-434A-4D15-B747-518F03C33C28}"/>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D6BAC09C-414F-4BDC-82F4-DF147398BBA3}"/>
              </a:ext>
            </a:extLst>
          </p:cNvPr>
          <p:cNvSpPr>
            <a:spLocks xmlns:a="http://schemas.openxmlformats.org/drawingml/2006/main" noGrp="1"/>
          </p:cNvSpPr>
          <p:nvPr/>
        </p:nvSpPr>
        <p:spPr>
          <a:xfrm xmlns:a="http://schemas.openxmlformats.org/drawingml/2006/main">
            <a:off x="62103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29EE8B51-20D2-4427-B844-B2261602B991}"/>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839E79A7-7BAD-4DDB-8949-9E512BBA6D1A}"/>
              </a:ext>
            </a:extLst>
          </p:cNvPr>
          <p:cNvSpPr>
            <a:spLocks xmlns:a="http://schemas.openxmlformats.org/drawingml/2006/main" noGrp="1"/>
          </p:cNvSpPr>
          <p:nvPr/>
        </p:nvSpPr>
        <p:spPr>
          <a:xfrm xmlns:a="http://schemas.openxmlformats.org/drawingml/2006/main">
            <a:off x="63055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4207F0DB-975B-4364-93D1-6E46BF89887A}"/>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D78DABB1-2C03-45F1-8AE2-22AE3DFEFD5B}"/>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B63AAE07-A469-42DA-A07D-4314A76500FC}"/>
              </a:ext>
            </a:extLst>
          </p:cNvPr>
          <p:cNvSpPr>
            <a:spLocks xmlns:a="http://schemas.openxmlformats.org/drawingml/2006/main" noGrp="1"/>
          </p:cNvSpPr>
          <p:nvPr/>
        </p:nvSpPr>
        <p:spPr>
          <a:xfrm xmlns:a="http://schemas.openxmlformats.org/drawingml/2006/main">
            <a:off x="80772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F5B2120A-3388-4AAB-A820-6EDCC7B1F38A}"/>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03F087E9-A305-4BB8-A84D-1508A7D76763}"/>
              </a:ext>
            </a:extLst>
          </p:cNvPr>
          <p:cNvSpPr>
            <a:spLocks xmlns:a="http://schemas.openxmlformats.org/drawingml/2006/main" noGrp="1"/>
          </p:cNvSpPr>
          <p:nvPr/>
        </p:nvSpPr>
        <p:spPr>
          <a:xfrm xmlns:a="http://schemas.openxmlformats.org/drawingml/2006/main">
            <a:off x="81724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844CBE36-5F0F-4E79-8C9B-109C781067F5}"/>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A8353DF3-7CB5-496C-B104-A0131B121EA2}"/>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5CACABF3-9E9C-401F-A6E3-6D8C0C53DD31}"/>
              </a:ext>
            </a:extLst>
          </p:cNvPr>
          <p:cNvSpPr>
            <a:spLocks xmlns:a="http://schemas.openxmlformats.org/drawingml/2006/main" noGrp="1"/>
          </p:cNvSpPr>
          <p:nvPr/>
        </p:nvSpPr>
        <p:spPr>
          <a:xfrm xmlns:a="http://schemas.openxmlformats.org/drawingml/2006/main">
            <a:off x="99441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39C15643-89ED-4FDB-A0B7-CD3DCF7B0E2F}"/>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2456EA96-956E-4513-BD5B-E87D61AAB8E4}"/>
              </a:ext>
            </a:extLst>
          </p:cNvPr>
          <p:cNvSpPr>
            <a:spLocks xmlns:a="http://schemas.openxmlformats.org/drawingml/2006/main" noGrp="1"/>
          </p:cNvSpPr>
          <p:nvPr/>
        </p:nvSpPr>
        <p:spPr>
          <a:xfrm xmlns:a="http://schemas.openxmlformats.org/drawingml/2006/main">
            <a:off x="100393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7732164F-FD07-49D1-AB21-9DC9657847C9}"/>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9A536F5C-5D33-4864-85FD-752CB2352BBE}"/>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7CA94461-1A15-4080-B11B-9F419BCCAD79}"/>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71F9A7E3-4914-4A53-9889-1B51DA2F1F98}"/>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493B735D-2777-4015-A048-9429BA7BB23A}"/>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1E5DE94F-59C7-48A4-9011-06F9B266D313}"/>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FA052D0B-E1B4-4D0C-8A37-5DF8B5E85881}"/>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213E82A5-93B5-4E42-AA13-5E915B271939}"/>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28B9844E-DE31-4421-93BE-8CA3BA060BD7}"/>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FC134364-4976-4479-8AE1-D4D4265C1875}"/>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6B9AA04C-3F1E-44F4-A41E-FE46B7377668}"/>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AFD2B7B4-371A-4483-8B46-343FA431F3E2}"/>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FBFAB3AD-0B52-4B34-97C4-632D185AB2E7}"/>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27838AED-F614-420C-860A-0F9DF0DA119A}"/>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101FA5B2-CF63-431D-A326-CC7B8485C16E}"/>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C0B964E9-7CFA-405D-87A8-406D3A462C28}"/>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906EC1AE-DF6A-4FFE-A72C-38B33C6C22CC}"/>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03DA9D82-A603-4881-8F3E-4FBFCCB69603}"/>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283EDAD6-0EEF-4F60-BBF7-25FC577A9028}"/>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F2AB93D2-F8DC-4C21-84BD-CF2A8E97A3E6}"/>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267BBD10-F873-4B3A-901F-ADA54F86AF25}"/>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199C19C4-A71C-4EF7-A568-979D70DB62A1}"/>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CACC016C-6459-4BF7-A6EC-C5CB0B840CB7}"/>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29504FFB-43E8-4C97-B0FD-28281565B766}"/>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FBFF68DB-E320-46B6-B816-01B2E93083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35671636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15</ap:Slides>
  <ap:Notes>15</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2026-10-25T11:25:48.5700000Z</dcterms:created>
  <dcterms:modified xsi:type="dcterms:W3CDTF">2026-10-25T11:25:48.5700000Z</dcterms:modified>
</coreProperties>
</file>