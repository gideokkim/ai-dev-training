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f7f72a48404267" /><Relationship Type="http://schemas.openxmlformats.org/officeDocument/2006/relationships/extended-properties" Target="/docProps/app.xml" Id="Rae4ef436289e4040" /><Relationship Type="http://schemas.openxmlformats.org/officeDocument/2006/relationships/officeDocument" Target="/ppt/presentation.xml" Id="Rd5222b99834843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813356a0414fec"/>
  </p:sldMasterIdLst>
  <p:notesMasterIdLst>
    <p:notesMasterId xmlns:r="http://schemas.openxmlformats.org/officeDocument/2006/relationships" r:id="Rfe3c2b3799744ff6"/>
  </p:notesMasterIdLst>
  <p:sldIdLst>
    <p:sldId xmlns:r="http://schemas.openxmlformats.org/officeDocument/2006/relationships" id="256" r:id="Rb008a426f7f64a6c"/>
    <p:sldId xmlns:r="http://schemas.openxmlformats.org/officeDocument/2006/relationships" id="257" r:id="R6195dc05780e4638"/>
    <p:sldId xmlns:r="http://schemas.openxmlformats.org/officeDocument/2006/relationships" id="258" r:id="R1bc3598a784440a4"/>
    <p:sldId xmlns:r="http://schemas.openxmlformats.org/officeDocument/2006/relationships" id="259" r:id="Reaf72429902f4c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24acc1d6414b1f" /><Relationship Type="http://schemas.openxmlformats.org/officeDocument/2006/relationships/slideMaster" Target="/ppt/slideMasters/slideMaster1.xml" Id="R5a813356a0414fec" /><Relationship Type="http://schemas.openxmlformats.org/officeDocument/2006/relationships/notesMaster" Target="/ppt/notesMasters/notesMaster1.xml" Id="Rfe3c2b3799744ff6" /><Relationship Type="http://schemas.openxmlformats.org/officeDocument/2006/relationships/presProps" Target="/ppt/presProps.xml" Id="R42a0b6334bb9423e" /><Relationship Type="http://schemas.openxmlformats.org/officeDocument/2006/relationships/tableStyles" Target="/ppt/tableStyles.xml" Id="R637376ae01984ad5" /><Relationship Type="http://schemas.openxmlformats.org/officeDocument/2006/relationships/slide" Target="/ppt/slides/slide1.xml" Id="Rb008a426f7f64a6c" /><Relationship Type="http://schemas.openxmlformats.org/officeDocument/2006/relationships/slide" Target="/ppt/slides/slide2.xml" Id="R6195dc05780e4638" /><Relationship Type="http://schemas.openxmlformats.org/officeDocument/2006/relationships/slide" Target="/ppt/slides/slide3.xml" Id="R1bc3598a784440a4" /><Relationship Type="http://schemas.openxmlformats.org/officeDocument/2006/relationships/slide" Target="/ppt/slides/slide4.xml" Id="Reaf72429902f4c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d33271343441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4593f36da04b8b" /><Relationship Type="http://schemas.openxmlformats.org/officeDocument/2006/relationships/notesMaster" Target="/ppt/notesMasters/notesMaster1.xml" Id="Re68a13c5ed6b40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976f87bfe2422e" /><Relationship Type="http://schemas.openxmlformats.org/officeDocument/2006/relationships/notesMaster" Target="/ppt/notesMasters/notesMaster1.xml" Id="R8b89bf39e97042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dd3329beda4ca1" /><Relationship Type="http://schemas.openxmlformats.org/officeDocument/2006/relationships/notesMaster" Target="/ppt/notesMasters/notesMaster1.xml" Id="R0589f097a91741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8e98b0e40e448d" /><Relationship Type="http://schemas.openxmlformats.org/officeDocument/2006/relationships/notesMaster" Target="/ppt/notesMasters/notesMaster1.xml" Id="R9600651118e642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S07 — 코드를 AI에게 가져가는 대신 AI를 Repository로 데려간다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ID: S07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Working Title: 코드를 AI에게 가져가는 대신 AI를 Repository로 데려간다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 / Section: ACT 0 / 0E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Allocated Time: 3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 Split: Lecture 3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Message: Repository 조사는 개발자가 코드를 일일이 전달하는 대신 Agent가 사용 가능한 Context를 찾도록 할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Opening Question: “Context 수집의 일부를 누가 맡을 수 있는가?”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Flow: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**CALL BACK (0:00–0:45):** 왼쪽 Repository → 개발자 선택·복사 → AI 관계로 S02를 짧게 회수한다.</a:t>
            </a:r>
          </a:p>
          <a:p xmlns:a="http://schemas.openxmlformats.org/drawingml/2006/main">
            <a:r>
              <a:t>2. **TRANSFER (0:45–2:00):** 오른쪽 개발자 조사 요청 → Agent ↔ Repository로 시선을 옮긴다. 바뀌는 것은 Context를 찾는 주체의 일부이며 목표와 검증 책임을 전부 넘긴다는 뜻이 아니다.</a:t>
            </a:r>
          </a:p>
          <a:p xmlns:a="http://schemas.openxmlformats.org/drawingml/2006/main">
            <a:r>
              <a:t>3. **TRANSFER / TRANSITION (2:00–3:00):** 필요하면 큰 C++ 저장소에서도 모듈·테스트·계약을 찾는 상황을 한 문장으로 연결한다. Repository 접근이 원하는 Task를 정하지는 않는다는 S08 질문으로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/ Source: DEMO-01 / TRIAL-001 단일 CLI 관찰; BEAT-003, CLM-0002, CLM-0009. 본문은 Context 수집 역할을 비교하는 TEACHING_MODEL이며 하단에 연결된 과거 관찰의 범위를 별도로 표시한다. 삽화 출처: prototype/image-illustration-pilot/assets/S07.png, built-in image_gen, 2026-10-18. 생성 프롬프트: prototype/image-illustration-pilot/PROMPTS.md. 실제 화면·현장 사진·관찰 자료가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Boundary: 이 관찰은 CLI 한 번에 한정되며 제품의 보편적 성능·반복성 주장이 아니다. Repository 접근이 Task 의도나 성공을 자동으로 정한다는 뜻이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Beginner Explanation: 관련 코드를 모두 복사하기보다 Repository 조사를 요청할 수 있는 가능성을 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Advanced Insight: Context 수집 책임의 일부와 Task 목표·판단 책임을 분리한다.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C++ Vision Bridge: CONTEXTUAL speaker cue — 큰 저장소의 모듈·테스트·계약을 찾는 상황을 필요할 때 한 문장으로 연결한다. 화면에 도구·빌드·hardware 목록을 추가하지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 Operation: DEMO-01 bounded callback. 본문 삽화는 교육 모델이고 새 제품 동작 관찰이 아니다. S05에서 본 단일 CLI 기록을 근거로 한 가능성을 설명하며 새 UI나 실행을 보여 주지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Interaction: 별도 질의 없음. 청중이 Mental Shift를 비교해 볼 수 있도록 잠시 시선을 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“Repository 접근과 Task 의도는 같은가?”라고 물으며 S08에 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 Management: 좌·우 관계의 변화에 집중한다. Trial 상세와 수치를 반복하지 않는다. C++ 연결은 선택적인 한 문장이며 3분 안에 S08로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Fallback: Trial record를 표시할 수 없으면 Mental Shift만 Teaching Model로 설명한다. 제품 전반의 사실처럼 말하지 않는다. 검토본 정적 파일: prototype/image-illustration-pilot/preview/S07.png.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Validation Status: PILOT — 설명용 삽화의 역할과 기존 Claim을 대조한다. 로컬 렌더 검토 결과는 이 Pilot의 REVIEW.md에 기록한다. Windows PowerPoint, 교육장, 실제 시간 리허설은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S37 — 서로 다른 Performance Task, 반복되는 절차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ID: S37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Working Title: 서로 다른 Performance Task, 반복되는 절차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 / Section: ACT 3 / 3A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Allocated Time: 5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 Split: Case 5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Message: TRIAL-006의 `resize_nearest`와 TRIAL-007의 `normalize`처럼 서로 다른 목표에서도 유사한 performance procedure가 반복될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Opening Question: “Task가 달라도 왜 같은 작업 방법을 계속 쓰고 있지?”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Flow: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(0:00–2:00) 처음 30초에 그림으로 작업 대상을 확인한다. 왼쪽은 크기 변경, 오른쪽은 선언된 max_value를 255로 스케일하는 값 범위 변환이다. 0→0, 2048→128, 4095→255를 설명할 수 있지만 화질 개선으로 표현하지 않는다. 이어 두 Task goal을 비교한다.</a:t>
            </a:r>
          </a:p>
          <a:p xmlns:a="http://schemas.openxmlformats.org/drawingml/2006/main">
            <a:r>
              <a:t>2. (2:00–4:00) 두 기록에 반복된 baseline, 조사, 계획, 변경, test, benchmark, 비교, review를 강조한다.</a:t>
            </a:r>
          </a:p>
          <a:p xmlns:a="http://schemas.openxmlformats.org/drawingml/2006/main">
            <a:r>
              <a:t>3. (4:00–5:00) 반복 관찰과 원인 귀속을 분리하고 Prompt-only attribution이 PARTIAL임을 밝힌다.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/ Source: TRIAL-006 (`resize_nearest`), TRIAL-007 (`normalize`), BEAT-018/020. Codex CLI 기록 실행의 workflow 비교. 함수 계약 참고: Demo STATE-04의 src/graypipe/transform.py 및 normalize.py. 삽화 출처: prototype/image-illustration-pilot/assets/S37.png, built-in image_gen, 2026-10-18. 생성 프롬프트: prototype/image-illustration-pilot/PROMPTS.md. 실제 화면·현장 사진·관찰 자료가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Boundary: 유사한 절차가 관찰됐지만 Prompt만의 효과로 귀속하지 않는다. 개별 성능 결과는 해당 코드·입력·환경에 한정한다. 그림은 기능 설명용 개념 예시이며 Trial의 입력·출력 파일이나 최적화 전후 결과가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Beginner Explanation: 서로 다른 작업에서도 조사하고 확인하는 순서가 반복될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Advanced Insight: Task별 목표와 지속해서 재사용할 절차를 구분하고, Global Harness가 미친 영향을 고려한다.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C++ Vision Bridge: N/A.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 Operation: 위는 기능 설명용 AI 삽화, 아래는 TRIAL-006/007 기록에서 확인한 반복 절차 요약이다. 같은 grayscale tile을 크기만 달리하거나 동일 크기로 배치해 작업의 차이를 설명한다. 새로운 실행이나 실제 터미널 화면이라고 말하지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Interaction: 두 Task의 공통 절차를 잠시 관찰하게 한다. 공개 답변은 요구하지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“Project 지식과 작업 절차는 각각 어떤 질문에 답할까?”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 Management: Case 5분을 두 Task 비교, 공통 절차, attribution 한계 순으로 쓴다. 수치 설명으로 확장하지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Fallback: 이 검토본의 정적 경로는 prototype/image-illustration-pilot/preview/S37.png다. 파일을 열 수 없다면 기존 production/ACT_3.pptx의 같은 Slide에서 원래 도식으로 설명할 수 있다. 두 버전 모두 실제 Trial 캡처나 현재 제품 실행으로 표현하지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Validation Status: PILOT — 설명용 삽화의 역할과 기존 Claim을 대조한다. 로컬 렌더 검토 결과는 이 Pilot의 REVIEW.md에 기록한다. Windows PowerPoint, 교육장, 실제 시간 리허설은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S53 — Engineering Pattern은 C++에도 전이된다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ID: S53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Working Title: Engineering Pattern은 C++에도 전이된다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 / Section: ACT 3 / 3H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Allocated Time: 5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 Split: Lecture 5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Message: Python Demo의 코드나 도구를 복사하는 대신 Context, Verification, Benchmark, Reusable Workflow의 Engineering Pattern을 C++ Vision 업무에 대응시킨다.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Opening Question: “우리 Repository에서는 무엇이 Project Context이고 무엇이 Workflow인가?”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Flow: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(0:00–1:00) 가정적 Vision 업무 장면임을 밝히고, 입력·처리·결과를 가리키며 Python Demo와 C++ Vision의 공통 질문을 안내한다.</a:t>
            </a:r>
          </a:p>
          <a:p xmlns:a="http://schemas.openxmlformats.org/drawingml/2006/main">
            <a:r>
              <a:t>2. (1:00–3:30) 기준 조건, 조사 경로, 확인 방법의 세 질문을 따라 입력/계약에서 빌드·알고리즘·하드웨어 조건으로, Python 경로에서 해당 모듈 측정으로, 동작 계약/테스트에서 회귀·통합 검증으로 연결한다.</a:t>
            </a:r>
          </a:p>
          <a:p xmlns:a="http://schemas.openxmlformats.org/drawingml/2006/main">
            <a:r>
              <a:t>3. (3:30–5:00) baseline → profile → change → regression check를 공통 패턴으로 회수한다. 구체 도구는 팀 표준 확인 후 선택하며 화면을 도구 목록 강의로 확장하지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/ Source: BEAT-036, CLM-0016/0017/0030, OQ-011. TEACHING_MODEL. 삽화 출처: prototype/image-illustration-pilot/assets/S53.png, built-in image_gen, 2026-10-18. 생성 프롬프트: prototype/image-illustration-pilot/PROMPTS.md. 실제 화면·현장 사진·관찰 자료가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Boundary: 교육용 전이 예다. C++ Demo를 구현하거나 팀별 실제 도구 규칙을 검증한 것이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Beginner Explanation: 언어가 달라도 먼저 프로젝트 규칙과 확인 방법을 찾는다.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Advanced Insight: Build mode, hardware assumptions, module contracts, and regression criteria belong to the actual project.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C++ Vision Bridge: PRIMARY — Python `unittest` → GoogleTest/CTest or integration checks; benchmark script → benchmark/profiler; Project Context → build, algorithm, hardware constraints. Team standards must be checked before choosing tools.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 Operation: N/A. 그림은 가정적 Vision 업무의 Lecture용 삽화다. 입력·처리·결과를 가리키며 기준 조건, 조사 위치, 검증 범위를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Interaction: 청중이 자사 Project의 Context와 Workflow를 구분할 질문을 제시한다. 답변을 요구하지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“현재 업무에서 어떤 구조가 실제로 필요한지 되돌아보자.”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 Management: 5분 동안 도구 이름보다 패턴 대응을 중심으로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Fallback: 이 검토본의 정적 경로는 prototype/image-illustration-pilot/preview/S53.png다. 파일을 열 수 없다면 기존 production/ACT_3.pptx의 같은 Slide에서 원래 도식으로 설명할 수 있다. 두 버전 모두 실제 Trial 캡처나 현재 제품 실행으로 표현하지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Validation Status: PILOT — 설명용 삽화의 역할과 기존 Claim을 대조한다. 로컬 렌더 검토 결과는 이 Pilot의 REVIEW.md에 기록한다. Windows PowerPoint, 교육장, 실제 시간 리허설은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S72 — Project와 환경이 바뀌면 검증도 다시 본다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Slide ID: S72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Working Title: Project와 환경이 바뀌면 검증도 다시 본다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 / Section: ACT 4 / 4G  C++ VISION TRANSFER  /  4H DISCUSSION &amp; TRANSITION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Allocated Time: 20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 Split: Case 7분 + Reflection 2분 + Q&amp;A 7분 + Transition 4분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Message: Project나 환경이 바뀌면 기존 performance 가정과 verification 절차가 여전히 맞는지 다시 확인한다. 반복되는 마찰은 관찰하고 원인을 찾아 관련 layer를 바꾼 뒤 benchmark와 regression으로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Opening Question: “같은 문제가 두 번째로 생기면 다시 Prompt를 고칠까, System을 살펴볼까?”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Flow: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(0:00–2:00 / Case) GPU·빌드·측정 조건이 달라진 상황을 가정한다. 실제 C++ 사건이나 구체적 버전 조합을 주장하지 않는다.</a:t>
            </a:r>
          </a:p>
          <a:p xmlns:a="http://schemas.openxmlformats.org/drawingml/2006/main">
            <a:r>
              <a:t>2. (2:00–4:30 / Case) 그림의 입력·코드·장치와 기존 가정·측정 조건 질문을 가리킨다. 기존 판단이 어떤 조건에서 맞았는지, 입력과 실행 조건이 비교 가능한지 묻는다. 관찰된 성능 저하나 숫자를 만들지 않는다.</a:t>
            </a:r>
          </a:p>
          <a:p xmlns:a="http://schemas.openxmlformats.org/drawingml/2006/main">
            <a:r>
              <a:t>3. (4:30–7:00 / Case) 출력 그림과 기능 계약 질문에서 성능과 함께 다시 확인할 동작 범위를 살핀다. 반복 신호→원인 Layer 조사→관련 시스템 변경→Benchmark/Regression 재확인으로 연결한다.</a:t>
            </a:r>
          </a:p>
          <a:p xmlns:a="http://schemas.openxmlformats.org/drawingml/2006/main">
            <a:r>
              <a:t>4. (7:00–9:00 / Reflection) 하단 질문을 가리켜 자기 업무의 반복 마찰 하나를 마음속으로 떠올리게 한다. 기록·답변·발표는 요구하지 않는다.</a:t>
            </a:r>
          </a:p>
          <a:p xmlns:a="http://schemas.openxmlformats.org/drawingml/2006/main">
            <a:r>
              <a:t>5. (9:00–16:00 / Q&amp;A) 질문을 받는다. 질문이 없으면 아래 Fallback 질문을 하나씩 골라 강사가 짧게 해설한다. 새로운 기술 사례나 제품 설정 강의를 열지 않는다.</a:t>
            </a:r>
          </a:p>
          <a:p xmlns:a="http://schemas.openxmlformats.org/drawingml/2006/main">
            <a:r>
              <a:t>6. (16:00–20:00 / Transition) 16분에 질문을 마감한다. 가정→측정 조건→기능 계약 세 질문을 전체 Story의 Context→Harness→Loop와 연결하고 S73의 여정 회수로 이동한다.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/ Source: BEAT-059 / TRANS-012  ·  teaching transfer, not observed C++ incident 삽화 출처: prototype/image-illustration-pilot/assets/S72.png, built-in image_gen, 2026-10-18. 생성 프롬프트: prototype/image-illustration-pilot/PROMPTS.md. 실제 화면·현장 사진·관찰 자료가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Boundary: COURSE MODEL / C++ VISION TRANSFER. Toolchain, CUDA/GPU architecture, build/benchmark configuration은 hypothetical teaching context이며 실제 Demo history가 아니다. 구체적인 Windows/shell/IDE/hardware setup을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Beginner Explanation: 같은 문제가 반복되면 Prompt 외에도 Project와 workflow를 살핀다.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Advanced Insight: Project/environment 변화가 verification assumptions에 미치는 영향을 평가한다.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C++ Vision Bridge: Primary bridge. 변화한 조건에서 기존 tuning 가정과 benchmark/regression 조건을 다시 확인하는 engineering pattern만 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 Operation: 정적 화면과 speaker-led highlighting을 사용한다. 화면에는 세 확인 대상과 성찰 질문을 두고, 20분 운영표는 Notes에만 둔다. Live 프로젝트·제품 실행·애니메이션 의존 없음. 정적 삽화의 입력→처리 코드→실행 장치→출력을 차례로 가리킨다. 황색 장치·설정 표시는 검토할 조건의 변화이며 실패 원인이 확정됐다는 뜻이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Interaction: 7–9분 개인 Reflection은 답변·공유 없이 진행한다. 9–16분 Q&amp;A에서는 실제 회사 환경의 검증되지 않은 해결책을 단정하지 않고 어떤 조건을 확인해야 하는지로 답한다.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“이제 기능이 아니라, 처음의 문제에서 Loop까지 이어진 Story를 다시 연결해 보겠습니다.” ACT 5 S73으로 넘긴다.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 Management: 0–7 Case 7분, 7–9 Reflection 2분, 9–16 Q&amp;A 7분, 16–20 Transition 4분으로 20분을 유지한다. Cutoff cue: “이 질문은 여기까지 정리하고, 이제 처음 문제부터 지금의 Loop까지 연결해 보겠습니다.” 실제 20분 리허설은 수행하지 않았다. 0–2분 전체 그림/변경 표식, 2–4:30분 입력·코드·장치의 가정과 비교 조건, 4:30–7분 출력·기능 계약을 설명한다. 이후 7–9분 Reflection, 9–16분 Q&amp;A, 16–20분 Transition을 유지한다.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Fallback: 정적 PPT/PNG를 기본 경로로 사용한다. Q&amp;A가 없으면 ①“예전 Benchmark와 비교하기 전에 어떤 조건을 맞춰야 할까요?” ②“성능이 달라졌을 때 기능 계약은 무엇으로 다시 확인할까요?” ③“두 번째로 같은 문제가 생기면 Prompt 외에 무엇을 살펴볼까요?” 중 하나씩 선택한다. 응답을 요구하지 않고 기존 세 질문의 범위에서 강사가 짧게 해설한다. 검토본 정적 파일: prototype/image-illustration-pilot/preview/S72.png.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Validation Status: PILOT — 설명용 삽화의 역할과 기존 Claim을 대조한다. 로컬 렌더 검토 결과는 이 Pilot의 REVIEW.md에 기록한다. Windows PowerPoint, 교육장, 실제 시간 리허설은 UNVERIFIED.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e6bf23fb474d0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df5f8357474a5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e7f62f8a0d47c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7f0ba0f37440e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2fead727844d8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13eff2e6b74f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86038E-435E-4BC9-9CFF-0BD4276817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3C3FB8A-B54C-4ABA-AF96-35AAB84EEAA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375056E-AC71-4521-8ABE-EFC5CC0C18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1097C3-E8A3-4A70-A367-BB2D80CE17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3E68E50-6278-46C2-8997-44F3024F09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43FC84B-05B3-439A-8ECB-EFE1CBBC72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F5B4E03-D861-4B0E-A223-BF44E0779D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B813E3A-5CA4-43A2-ACAA-58B3794B106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06FF01-1B97-4E79-B786-07ED3F31B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ED924B-EAFB-45F1-B3FD-BE7D53241E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b13760282d4cb5" /><Relationship Type="http://schemas.openxmlformats.org/officeDocument/2006/relationships/slideLayout" Target="/ppt/slideLayouts/slideLayout1.xml" Id="R425b210b7ad8496f" /><Relationship Type="http://schemas.openxmlformats.org/officeDocument/2006/relationships/slideLayout" Target="/ppt/slideLayouts/slideLayout2.xml" Id="R6b19a4e654d84aa8" /><Relationship Type="http://schemas.openxmlformats.org/officeDocument/2006/relationships/slideLayout" Target="/ppt/slideLayouts/slideLayout3.xml" Id="R94c4d28326ce4c0f" /><Relationship Type="http://schemas.openxmlformats.org/officeDocument/2006/relationships/slideLayout" Target="/ppt/slideLayouts/slideLayout4.xml" Id="R76dd35f9ea7b4bcc" /><Relationship Type="http://schemas.openxmlformats.org/officeDocument/2006/relationships/slideLayout" Target="/ppt/slideLayouts/slideLayout5.xml" Id="R2fee4a4eecec4401" /><Relationship Type="http://schemas.openxmlformats.org/officeDocument/2006/relationships/slideLayout" Target="/ppt/slideLayouts/slideLayout6.xml" Id="R5dc39d3c7bf54d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5b210b7ad8496f"/>
    <p:sldLayoutId xmlns:r="http://schemas.openxmlformats.org/officeDocument/2006/relationships" id="2147483650" r:id="R6b19a4e654d84aa8"/>
    <p:sldLayoutId xmlns:r="http://schemas.openxmlformats.org/officeDocument/2006/relationships" id="2147483651" r:id="R94c4d28326ce4c0f"/>
    <p:sldLayoutId xmlns:r="http://schemas.openxmlformats.org/officeDocument/2006/relationships" id="2147483652" r:id="R76dd35f9ea7b4bcc"/>
    <p:sldLayoutId xmlns:r="http://schemas.openxmlformats.org/officeDocument/2006/relationships" id="2147483653" r:id="R2fee4a4eecec4401"/>
    <p:sldLayoutId xmlns:r="http://schemas.openxmlformats.org/officeDocument/2006/relationships" id="2147483654" r:id="R5dc39d3c7bf54d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f9967c898e408a" /><Relationship Type="http://schemas.openxmlformats.org/officeDocument/2006/relationships/image" Target="/ppt/media/image.png" Id="R7b18b9655f6241af" /><Relationship Type="http://schemas.openxmlformats.org/officeDocument/2006/relationships/notesSlide" Target="/ppt/notesSlides/notesSlide1.xml" Id="R2e870764364b4e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b64ed472854aa3" /><Relationship Type="http://schemas.openxmlformats.org/officeDocument/2006/relationships/image" Target="/ppt/media/image2.png" Id="R655f63360a1b4313" /><Relationship Type="http://schemas.openxmlformats.org/officeDocument/2006/relationships/image" Target="/ppt/media/image3.png" Id="Rc707aaeaa9984c04" /><Relationship Type="http://schemas.openxmlformats.org/officeDocument/2006/relationships/image" Target="/ppt/media/image4.png" Id="R1f47eca879c94d36" /><Relationship Type="http://schemas.openxmlformats.org/officeDocument/2006/relationships/image" Target="/ppt/media/image5.png" Id="R038c3800ab614fae" /><Relationship Type="http://schemas.openxmlformats.org/officeDocument/2006/relationships/notesSlide" Target="/ppt/notesSlides/notesSlide2.xml" Id="Rc4ecc8b1435846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81f811afb04523" /><Relationship Type="http://schemas.openxmlformats.org/officeDocument/2006/relationships/image" Target="/ppt/media/image6.png" Id="R104f895ab9a9464d" /><Relationship Type="http://schemas.openxmlformats.org/officeDocument/2006/relationships/notesSlide" Target="/ppt/notesSlides/notesSlide3.xml" Id="R28c2cc6c78fa44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6b3970ef1e422d" /><Relationship Type="http://schemas.openxmlformats.org/officeDocument/2006/relationships/image" Target="/ppt/media/image7.png" Id="R41f0f8fcb6ac4e4a" /><Relationship Type="http://schemas.openxmlformats.org/officeDocument/2006/relationships/notesSlide" Target="/ppt/notesSlides/notesSlide4.xml" Id="Rd387b7901c6247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CT 0 · Context를 찾는 주체">
            <a:extLst xmlns:a="http://schemas.openxmlformats.org/drawingml/2006/main">
              <a:ext uri="{FF2B5EF4-FFF2-40B4-BE49-F238E27FC236}">
                <a16:creationId xmlns:a16="http://schemas.microsoft.com/office/drawing/2014/main" id="{F288EE38-0528-43D7-A1DC-FAF27011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0 · Context를 찾는 주체</a:t>
            </a:r>
          </a:p>
        </p:txBody>
      </p:sp>
      <p:sp>
        <p:nvSpPr>
          <p:cNvPr id="2" name="S07">
            <a:extLst xmlns:a="http://schemas.openxmlformats.org/drawingml/2006/main">
              <a:ext uri="{FF2B5EF4-FFF2-40B4-BE49-F238E27FC236}">
                <a16:creationId xmlns:a16="http://schemas.microsoft.com/office/drawing/2014/main" id="{99B589BF-FB44-4CFB-981E-FF3445D2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S07</a:t>
            </a:r>
          </a:p>
        </p:txBody>
      </p:sp>
      <p:sp>
        <p:nvSpPr>
          <p:cNvPr id="3" name="코드를 AI에게 가져가는 대신&#10;AI를 Repository로 데려간다">
            <a:extLst xmlns:a="http://schemas.openxmlformats.org/drawingml/2006/main">
              <a:ext uri="{FF2B5EF4-FFF2-40B4-BE49-F238E27FC236}">
                <a16:creationId xmlns:a16="http://schemas.microsoft.com/office/drawing/2014/main" id="{070428B6-DA31-4E5E-8EC7-4717C484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코드를 AI에게 가져가는 대신</a:t>
            </a:r>
          </a:p>
          <a:p xmlns:a="http://schemas.openxmlformats.org/drawingml/2006/main">
            <a:pPr algn="l">
              <a:def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AI를 Repository로 데려간다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5C4C6-111A-4046-B4AD-2D69387B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5" name="교육 모델 · TRIAL-001 단일 CLI 관찰과 연결 · AI 생성 설명용 삽화">
            <a:extLst xmlns:a="http://schemas.openxmlformats.org/drawingml/2006/main">
              <a:ext uri="{FF2B5EF4-FFF2-40B4-BE49-F238E27FC236}">
                <a16:creationId xmlns:a16="http://schemas.microsoft.com/office/drawing/2014/main" id="{1033EE0F-4090-49EC-819B-B74120DE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교육 모델 · TRIAL-001 단일 CLI 관찰과 연결 · AI 생성 설명용 삽화</a:t>
            </a:r>
          </a:p>
        </p:txBody>
      </p:sp>
      <p:sp>
        <p:nvSpPr>
          <p:cNvPr id="6" name="목표 설정과 근거 검토는 개발자에게 남습니다. Repository 접근이 Task 의도를 정하지는 않습니다.">
            <a:extLst xmlns:a="http://schemas.openxmlformats.org/drawingml/2006/main">
              <a:ext uri="{FF2B5EF4-FFF2-40B4-BE49-F238E27FC236}">
                <a16:creationId xmlns:a16="http://schemas.microsoft.com/office/drawing/2014/main" id="{DF538FC9-5927-463F-81EA-84ABC0AD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목표 설정과 근거 검토는 개발자에게 남습니다. Repository 접근이 Task 의도를 정하지는 않습니다.</a:t>
            </a:r>
          </a:p>
        </p:txBody>
      </p:sp>
      <p:sp>
        <p:nvSpPr>
          <p:cNvPr id="7" name="내가 골라 전달하는 Context">
            <a:extLst xmlns:a="http://schemas.openxmlformats.org/drawingml/2006/main">
              <a:ext uri="{FF2B5EF4-FFF2-40B4-BE49-F238E27FC236}">
                <a16:creationId xmlns:a16="http://schemas.microsoft.com/office/drawing/2014/main" id="{93F11A8B-54E9-4E7A-9C3A-E64FEEE1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내가 골라 전달하는 Context</a:t>
            </a:r>
          </a:p>
        </p:txBody>
      </p:sp>
      <p:sp>
        <p:nvSpPr>
          <p:cNvPr id="8" name="조사를 맡기고 근거를 확인">
            <a:extLst xmlns:a="http://schemas.openxmlformats.org/drawingml/2006/main">
              <a:ext uri="{FF2B5EF4-FFF2-40B4-BE49-F238E27FC236}">
                <a16:creationId xmlns:a16="http://schemas.microsoft.com/office/drawing/2014/main" id="{A92C6253-083C-4273-8A83-3E7EAD6A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38350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조사를 맡기고 근거를 확인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91203-6844-42C7-B85E-C6E5BBFDB0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18b9655f6241af"/>
          <a:srcRect xmlns:a="http://schemas.openxmlformats.org/drawingml/2006/main" l="0" t="18000" r="0" b="15000"/>
          <a:stretch xmlns:a="http://schemas.openxmlformats.org/drawingml/2006/main"/>
        </p:blipFill>
        <p:spPr>
          <a:xfrm xmlns:a="http://schemas.openxmlformats.org/drawingml/2006/main">
            <a:off x="1562100" y="2343150"/>
            <a:ext cx="9067800" cy="3038475"/>
          </a:xfrm>
          <a:prstGeom xmlns:a="http://schemas.openxmlformats.org/drawingml/2006/main" prst="rect">
            <a:avLst/>
          </a:prstGeom>
        </p:spPr>
      </p:pic>
      <p:sp>
        <p:nvSpPr>
          <p:cNvPr id="10" name="코드 조각을 선택·복사">
            <a:extLst xmlns:a="http://schemas.openxmlformats.org/drawingml/2006/main">
              <a:ext uri="{FF2B5EF4-FFF2-40B4-BE49-F238E27FC236}">
                <a16:creationId xmlns:a16="http://schemas.microsoft.com/office/drawing/2014/main" id="{8B980343-4CFF-4F94-926F-F528694E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코드 조각을 선택·복사</a:t>
            </a:r>
          </a:p>
        </p:txBody>
      </p:sp>
      <p:sp>
        <p:nvSpPr>
          <p:cNvPr id="11" name="목표는 사람이, 탐색은 Agent와">
            <a:extLst xmlns:a="http://schemas.openxmlformats.org/drawingml/2006/main">
              <a:ext uri="{FF2B5EF4-FFF2-40B4-BE49-F238E27FC236}">
                <a16:creationId xmlns:a16="http://schemas.microsoft.com/office/drawing/2014/main" id="{37FFA278-239A-4C91-902B-2D7CA919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14950"/>
            <a:ext cx="520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목표는 사람이, 탐색은 Agent와</a:t>
            </a:r>
          </a:p>
        </p:txBody>
      </p:sp>
    </p:spTree>
    <p:extLst>
      <p:ext uri="{BB962C8B-B14F-4D97-AF65-F5344CB8AC3E}">
        <p14:creationId xmlns:p14="http://schemas.microsoft.com/office/powerpoint/2010/main" val="4457523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ACT 3 · 작업 방법도 반복된다">
            <a:extLst xmlns:a="http://schemas.openxmlformats.org/drawingml/2006/main">
              <a:ext uri="{FF2B5EF4-FFF2-40B4-BE49-F238E27FC236}">
                <a16:creationId xmlns:a16="http://schemas.microsoft.com/office/drawing/2014/main" id="{23670821-7AA4-4EF1-9F2A-D0859F4E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3 · 작업 방법도 반복된다</a:t>
            </a:r>
          </a:p>
        </p:txBody>
      </p:sp>
      <p:sp>
        <p:nvSpPr>
          <p:cNvPr id="2" name="S37">
            <a:extLst xmlns:a="http://schemas.openxmlformats.org/drawingml/2006/main">
              <a:ext uri="{FF2B5EF4-FFF2-40B4-BE49-F238E27FC236}">
                <a16:creationId xmlns:a16="http://schemas.microsoft.com/office/drawing/2014/main" id="{B2DC49E6-F71F-4C59-919F-D05F62A1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S37</a:t>
            </a:r>
          </a:p>
        </p:txBody>
      </p:sp>
      <p:sp>
        <p:nvSpPr>
          <p:cNvPr id="3" name="서로 다른 Performance Task,&#10;반복되는 절차">
            <a:extLst xmlns:a="http://schemas.openxmlformats.org/drawingml/2006/main">
              <a:ext uri="{FF2B5EF4-FFF2-40B4-BE49-F238E27FC236}">
                <a16:creationId xmlns:a16="http://schemas.microsoft.com/office/drawing/2014/main" id="{C1C44CB3-15E0-4C63-8CB0-137505E2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서로 다른 Performance Task,</a:t>
            </a:r>
          </a:p>
          <a:p xmlns:a="http://schemas.openxmlformats.org/drawingml/2006/main">
            <a:pPr algn="l">
              <a:def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반복되는 절차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D1F780-9404-4764-8510-B7E87A47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5" name="TRIAL-006 / TRIAL-007 · 반복 절차는 기록 요약 · 위 그림은 AI 생성 설명용 삽화">
            <a:extLst xmlns:a="http://schemas.openxmlformats.org/drawingml/2006/main">
              <a:ext uri="{FF2B5EF4-FFF2-40B4-BE49-F238E27FC236}">
                <a16:creationId xmlns:a16="http://schemas.microsoft.com/office/drawing/2014/main" id="{B2B17960-910E-406B-8B0F-12CC4315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TRIAL-006 / TRIAL-007 · 반복 절차는 기록 요약 · 위 그림은 AI 생성 설명용 삽화</a:t>
            </a:r>
          </a:p>
        </p:txBody>
      </p:sp>
      <p:sp>
        <p:nvSpPr>
          <p:cNvPr id="6" name="Global Harness 영향이 있어 Prompt만의 효과로 귀속하지 않음 · 그림은 최적화 전후 결과가 ">
            <a:extLst xmlns:a="http://schemas.openxmlformats.org/drawingml/2006/main">
              <a:ext uri="{FF2B5EF4-FFF2-40B4-BE49-F238E27FC236}">
                <a16:creationId xmlns:a16="http://schemas.microsoft.com/office/drawing/2014/main" id="{EAA62A6A-D912-45C8-A86D-2461C030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Global Harness 영향이 있어 Prompt만의 효과로 귀속하지 않음 · 그림은 최적화 전후 결과가 아님</a:t>
            </a:r>
          </a:p>
        </p:txBody>
      </p:sp>
      <p:sp>
        <p:nvSpPr>
          <p:cNvPr id="7" name="A · 이미지 크기 변경">
            <a:extLst xmlns:a="http://schemas.openxmlformats.org/drawingml/2006/main">
              <a:ext uri="{FF2B5EF4-FFF2-40B4-BE49-F238E27FC236}">
                <a16:creationId xmlns:a16="http://schemas.microsoft.com/office/drawing/2014/main" id="{B0435C17-1E4B-43C5-9A45-6379223C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 · 이미지 크기 변경</a:t>
            </a:r>
          </a:p>
        </p:txBody>
      </p:sp>
      <p:sp>
        <p:nvSpPr>
          <p:cNvPr id="8" name="B · 픽셀값 범위 변환">
            <a:extLst xmlns:a="http://schemas.openxmlformats.org/drawingml/2006/main">
              <a:ext uri="{FF2B5EF4-FFF2-40B4-BE49-F238E27FC236}">
                <a16:creationId xmlns:a16="http://schemas.microsoft.com/office/drawing/2014/main" id="{9743B4D8-1336-48CF-91C9-6AA21672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B · 픽셀값 범위 변환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25B3F-7B9B-4E76-AC10-891CDEE470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f63360a1b4313"/>
          <a:srcRect xmlns:a="http://schemas.openxmlformats.org/drawingml/2006/main" l="53664" t="30891" r="28410" b="33258"/>
          <a:stretch xmlns:a="http://schemas.openxmlformats.org/drawingml/2006/main"/>
        </p:blipFill>
        <p:spPr>
          <a:xfrm xmlns:a="http://schemas.openxmlformats.org/drawingml/2006/main">
            <a:off x="1200150" y="2905125"/>
            <a:ext cx="1104900" cy="110490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BE9E1-F5C9-4344-A2B8-4F6F0AF239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07aaeaa9984c04"/>
          <a:srcRect xmlns:a="http://schemas.openxmlformats.org/drawingml/2006/main" l="53664" t="30891" r="28410" b="33258"/>
          <a:stretch xmlns:a="http://schemas.openxmlformats.org/drawingml/2006/main"/>
        </p:blipFill>
        <p:spPr>
          <a:xfrm xmlns:a="http://schemas.openxmlformats.org/drawingml/2006/main">
            <a:off x="3371850" y="2476500"/>
            <a:ext cx="1905000" cy="1905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37FCEA-1836-42A4-B464-E8FECCDC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257550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6172"/>
          </a:solidFill>
          <a:ln xmlns:a="http://schemas.openxmlformats.org/drawingml/2006/main" w="0">
            <a:noFill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6D5E10-7BCD-4629-9E9A-3665D37DC8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47eca879c94d36"/>
          <a:srcRect xmlns:a="http://schemas.openxmlformats.org/drawingml/2006/main" l="53664" t="30891" r="28410" b="33258"/>
          <a:stretch xmlns:a="http://schemas.openxmlformats.org/drawingml/2006/main"/>
        </p:blipFill>
        <p:spPr>
          <a:xfrm xmlns:a="http://schemas.openxmlformats.org/drawingml/2006/main">
            <a:off x="6762750" y="2571750"/>
            <a:ext cx="1524000" cy="1524000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5EBA31-5BB0-45B6-A344-E0DBE5040F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8c3800ab614fae"/>
          <a:srcRect xmlns:a="http://schemas.openxmlformats.org/drawingml/2006/main" l="53664" t="30891" r="28410" b="33258"/>
          <a:stretch xmlns:a="http://schemas.openxmlformats.org/drawingml/2006/main"/>
        </p:blipFill>
        <p:spPr>
          <a:xfrm xmlns:a="http://schemas.openxmlformats.org/drawingml/2006/main">
            <a:off x="9810750" y="2571750"/>
            <a:ext cx="1524000" cy="1524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3CA988-6055-452C-9D7C-19878F42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19450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6172"/>
          </a:solidFill>
          <a:ln xmlns:a="http://schemas.openxmlformats.org/drawingml/2006/main" w="0">
            <a:noFill/>
          </a:ln>
        </p:spPr>
      </p:sp>
      <p:sp>
        <p:nvSpPr>
          <p:cNvPr id="15" name="값 예: 2048 → 128">
            <a:extLst xmlns:a="http://schemas.openxmlformats.org/drawingml/2006/main">
              <a:ext uri="{FF2B5EF4-FFF2-40B4-BE49-F238E27FC236}">
                <a16:creationId xmlns:a16="http://schemas.microsoft.com/office/drawing/2014/main" id="{1EE31DCC-6A05-4C25-A770-D37620AA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520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값 예: 2048 → 128</a:t>
            </a:r>
          </a:p>
        </p:txBody>
      </p:sp>
      <p:sp>
        <p:nvSpPr>
          <p:cNvPr id="16" name="resize_nearest">
            <a:extLst xmlns:a="http://schemas.openxmlformats.org/drawingml/2006/main">
              <a:ext uri="{FF2B5EF4-FFF2-40B4-BE49-F238E27FC236}">
                <a16:creationId xmlns:a16="http://schemas.microsoft.com/office/drawing/2014/main" id="{6220E66A-9620-4302-8B66-F7C330C4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8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8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8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8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8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8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8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8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8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4D5A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4D5A68"/>
                </a:solidFill>
                <a:latin typeface="Consolas"/>
                <a:ea typeface="Consolas"/>
                <a:cs typeface="Consolas"/>
              </a:rPr>
              <a:t>resize_nearest</a:t>
            </a:r>
          </a:p>
        </p:txBody>
      </p:sp>
      <p:sp>
        <p:nvSpPr>
          <p:cNvPr id="17" name="normalize  ·  0–4095 → 0–255">
            <a:extLst xmlns:a="http://schemas.openxmlformats.org/drawingml/2006/main">
              <a:ext uri="{FF2B5EF4-FFF2-40B4-BE49-F238E27FC236}">
                <a16:creationId xmlns:a16="http://schemas.microsoft.com/office/drawing/2014/main" id="{2FE7ED56-5B82-4052-A479-ECF6D8F8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76750"/>
            <a:ext cx="520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normalize  ·  0–4095 → 0–255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5785E6-F75C-49A3-851B-C4CCF55E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523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17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E90406-F4FB-4730-A5BA-C227A8F3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95850"/>
            <a:ext cx="5200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6172"/>
            </a:solidFill>
            <a:prstDash val="solid"/>
          </a:ln>
        </p:spPr>
      </p:sp>
      <p:sp>
        <p:nvSpPr>
          <p:cNvPr id="20" name="Baseline → 조사 → 계획 → 변경">
            <a:extLst xmlns:a="http://schemas.openxmlformats.org/drawingml/2006/main">
              <a:ext uri="{FF2B5EF4-FFF2-40B4-BE49-F238E27FC236}">
                <a16:creationId xmlns:a16="http://schemas.microsoft.com/office/drawing/2014/main" id="{94B576DF-1399-432F-BDCC-65C37716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520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Baseline → 조사 → 계획 → 변경</a:t>
            </a:r>
          </a:p>
        </p:txBody>
      </p:sp>
      <p:sp>
        <p:nvSpPr>
          <p:cNvPr id="21" name="Test → Benchmark → 비교 → Review">
            <a:extLst xmlns:a="http://schemas.openxmlformats.org/drawingml/2006/main">
              <a:ext uri="{FF2B5EF4-FFF2-40B4-BE49-F238E27FC236}">
                <a16:creationId xmlns:a16="http://schemas.microsoft.com/office/drawing/2014/main" id="{F63B31E9-4252-47BA-B86A-FE90791F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520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Test → Benchmark → 비교 → Review</a:t>
            </a:r>
          </a:p>
        </p:txBody>
      </p:sp>
      <p:sp>
        <p:nvSpPr>
          <p:cNvPr id="22" name="Baseline → 조사 → 계획 → 변경">
            <a:extLst xmlns:a="http://schemas.openxmlformats.org/drawingml/2006/main">
              <a:ext uri="{FF2B5EF4-FFF2-40B4-BE49-F238E27FC236}">
                <a16:creationId xmlns:a16="http://schemas.microsoft.com/office/drawing/2014/main" id="{CDCF954A-226E-462A-BD57-2E5C6147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10150"/>
            <a:ext cx="520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Baseline → 조사 → 계획 → 변경</a:t>
            </a:r>
          </a:p>
        </p:txBody>
      </p:sp>
      <p:sp>
        <p:nvSpPr>
          <p:cNvPr id="23" name="Test → Benchmark → 비교 → Review">
            <a:extLst xmlns:a="http://schemas.openxmlformats.org/drawingml/2006/main">
              <a:ext uri="{FF2B5EF4-FFF2-40B4-BE49-F238E27FC236}">
                <a16:creationId xmlns:a16="http://schemas.microsoft.com/office/drawing/2014/main" id="{788C227C-4CC5-4D91-8AC6-4F8C5531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43525"/>
            <a:ext cx="520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Test → Benchmark → 비교 → Review</a:t>
            </a:r>
          </a:p>
        </p:txBody>
      </p:sp>
    </p:spTree>
    <p:extLst>
      <p:ext uri="{BB962C8B-B14F-4D97-AF65-F5344CB8AC3E}">
        <p14:creationId xmlns:p14="http://schemas.microsoft.com/office/powerpoint/2010/main" val="18399804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CT 3 · 도구를 넘어 같은 판단을 적용하기">
            <a:extLst xmlns:a="http://schemas.openxmlformats.org/drawingml/2006/main">
              <a:ext uri="{FF2B5EF4-FFF2-40B4-BE49-F238E27FC236}">
                <a16:creationId xmlns:a16="http://schemas.microsoft.com/office/drawing/2014/main" id="{91CD48A2-86E8-4D04-9D14-B17BB3BE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3 · 도구를 넘어 같은 판단을 적용하기</a:t>
            </a:r>
          </a:p>
        </p:txBody>
      </p:sp>
      <p:sp>
        <p:nvSpPr>
          <p:cNvPr id="2" name="S53">
            <a:extLst xmlns:a="http://schemas.openxmlformats.org/drawingml/2006/main">
              <a:ext uri="{FF2B5EF4-FFF2-40B4-BE49-F238E27FC236}">
                <a16:creationId xmlns:a16="http://schemas.microsoft.com/office/drawing/2014/main" id="{39D7A5BA-2AA1-4CDD-BC50-50D7006B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S53</a:t>
            </a:r>
          </a:p>
        </p:txBody>
      </p:sp>
      <p:sp>
        <p:nvSpPr>
          <p:cNvPr id="3" name="Engineering Pattern은 C++에도 전이된다">
            <a:extLst xmlns:a="http://schemas.openxmlformats.org/drawingml/2006/main">
              <a:ext uri="{FF2B5EF4-FFF2-40B4-BE49-F238E27FC236}">
                <a16:creationId xmlns:a16="http://schemas.microsoft.com/office/drawing/2014/main" id="{CE658F3A-5EF5-4F9F-9379-3D7205D9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Engineering Pattern은 C++에도 전이된다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E9FDA-E84D-4DE9-A638-17CD9B81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5" name="C++ Vision 전이를 위한 교육용 예시 · AI 생성 설명용 삽화">
            <a:extLst xmlns:a="http://schemas.openxmlformats.org/drawingml/2006/main">
              <a:ext uri="{FF2B5EF4-FFF2-40B4-BE49-F238E27FC236}">
                <a16:creationId xmlns:a16="http://schemas.microsoft.com/office/drawing/2014/main" id="{4A5FE85C-BBB8-499B-BE77-86A3DA22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C++ Vision 전이를 위한 교육용 예시 · AI 생성 설명용 삽화</a:t>
            </a:r>
          </a:p>
        </p:txBody>
      </p:sp>
      <p:sp>
        <p:nvSpPr>
          <p:cNvPr id="6" name="실제 C++ Demo·회사 장비·측정 결과가 아닙니다. 도구·빌드·하드웨어 조건은 프로젝트별 확인 필요">
            <a:extLst xmlns:a="http://schemas.openxmlformats.org/drawingml/2006/main">
              <a:ext uri="{FF2B5EF4-FFF2-40B4-BE49-F238E27FC236}">
                <a16:creationId xmlns:a16="http://schemas.microsoft.com/office/drawing/2014/main" id="{E7D2AA64-71A3-4082-897D-FC1EDEF3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실제 C++ Demo·회사 장비·측정 결과가 아닙니다. 도구·빌드·하드웨어 조건은 프로젝트별 확인 필요</a:t>
            </a:r>
          </a:p>
        </p:txBody>
      </p:sp>
      <p:sp>
        <p:nvSpPr>
          <p:cNvPr id="7" name="Python Demo에서 확인한 질문을 C++ Vision 업무로">
            <a:extLst xmlns:a="http://schemas.openxmlformats.org/drawingml/2006/main">
              <a:ext uri="{FF2B5EF4-FFF2-40B4-BE49-F238E27FC236}">
                <a16:creationId xmlns:a16="http://schemas.microsoft.com/office/drawing/2014/main" id="{5AA6891D-6489-4BDD-8FF6-91296BBA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Python Demo에서 확인한 질문을 C++ Vision 업무로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F14B5-8366-4E39-87D6-DBDFE58CA5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4f895ab9a9464d"/>
          <a:srcRect xmlns:a="http://schemas.openxmlformats.org/drawingml/2006/main" l="0" t="8000" r="0" b="12000"/>
          <a:stretch xmlns:a="http://schemas.openxmlformats.org/drawingml/2006/main"/>
        </p:blipFill>
        <p:spPr>
          <a:xfrm xmlns:a="http://schemas.openxmlformats.org/drawingml/2006/main">
            <a:off x="1881188" y="1914525"/>
            <a:ext cx="8429625" cy="2247900"/>
          </a:xfrm>
          <a:prstGeom xmlns:a="http://schemas.openxmlformats.org/drawingml/2006/main" prst="rect">
            <a:avLst/>
          </a:prstGeom>
        </p:spPr>
      </p:pic>
      <p:sp>
        <p:nvSpPr>
          <p:cNvPr id="9" name="기준 조건은?">
            <a:extLst xmlns:a="http://schemas.openxmlformats.org/drawingml/2006/main">
              <a:ext uri="{FF2B5EF4-FFF2-40B4-BE49-F238E27FC236}">
                <a16:creationId xmlns:a16="http://schemas.microsoft.com/office/drawing/2014/main" id="{7BCD2522-5FC1-426C-A4AE-84AAFAD0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350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기준 조건은?</a:t>
            </a:r>
          </a:p>
        </p:txBody>
      </p:sp>
      <p:sp>
        <p:nvSpPr>
          <p:cNvPr id="10" name="입력·계약에서&#10;빌드·하드웨어 가정까지">
            <a:extLst xmlns:a="http://schemas.openxmlformats.org/drawingml/2006/main">
              <a:ext uri="{FF2B5EF4-FFF2-40B4-BE49-F238E27FC236}">
                <a16:creationId xmlns:a16="http://schemas.microsoft.com/office/drawing/2014/main" id="{9318EAD9-6779-4927-9BF1-921D2DCC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350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입력·계약에서</a:t>
            </a:r>
          </a:p>
          <a:p xmlns:a="http://schemas.openxmlformats.org/drawingml/2006/main">
            <a: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빌드·하드웨어 가정까지</a:t>
            </a:r>
          </a:p>
        </p:txBody>
      </p:sp>
      <p:sp>
        <p:nvSpPr>
          <p:cNvPr id="11" name="어디를 조사할까?">
            <a:extLst xmlns:a="http://schemas.openxmlformats.org/drawingml/2006/main">
              <a:ext uri="{FF2B5EF4-FFF2-40B4-BE49-F238E27FC236}">
                <a16:creationId xmlns:a16="http://schemas.microsoft.com/office/drawing/2014/main" id="{60D5D660-5BE3-400D-A862-CEDB8F08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71950"/>
            <a:ext cx="350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어디를 조사할까?</a:t>
            </a:r>
          </a:p>
        </p:txBody>
      </p:sp>
      <p:sp>
        <p:nvSpPr>
          <p:cNvPr id="12" name="측정한 코드 경로에서&#10;해당 모듈의 profile로">
            <a:extLst xmlns:a="http://schemas.openxmlformats.org/drawingml/2006/main">
              <a:ext uri="{FF2B5EF4-FFF2-40B4-BE49-F238E27FC236}">
                <a16:creationId xmlns:a16="http://schemas.microsoft.com/office/drawing/2014/main" id="{D6AFF186-D9B3-4435-B529-D2CCD216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33900"/>
            <a:ext cx="350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측정한 코드 경로에서</a:t>
            </a:r>
          </a:p>
          <a:p xmlns:a="http://schemas.openxmlformats.org/drawingml/2006/main">
            <a: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해당 모듈의 profile로</a:t>
            </a:r>
          </a:p>
        </p:txBody>
      </p:sp>
      <p:sp>
        <p:nvSpPr>
          <p:cNvPr id="13" name="무엇을 확인할까?">
            <a:extLst xmlns:a="http://schemas.openxmlformats.org/drawingml/2006/main">
              <a:ext uri="{FF2B5EF4-FFF2-40B4-BE49-F238E27FC236}">
                <a16:creationId xmlns:a16="http://schemas.microsoft.com/office/drawing/2014/main" id="{EB7C80C3-4F03-4079-8E8F-910903EE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71950"/>
            <a:ext cx="350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무엇을 확인할까?</a:t>
            </a:r>
          </a:p>
        </p:txBody>
      </p:sp>
      <p:sp>
        <p:nvSpPr>
          <p:cNvPr id="14" name="동작 계약에서&#10;모듈·회귀·통합 검증으로">
            <a:extLst xmlns:a="http://schemas.openxmlformats.org/drawingml/2006/main">
              <a:ext uri="{FF2B5EF4-FFF2-40B4-BE49-F238E27FC236}">
                <a16:creationId xmlns:a16="http://schemas.microsoft.com/office/drawing/2014/main" id="{61A9709E-135D-4E5D-8D67-BE4DE92E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33900"/>
            <a:ext cx="350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동작 계약에서</a:t>
            </a:r>
          </a:p>
          <a:p xmlns:a="http://schemas.openxmlformats.org/drawingml/2006/main">
            <a:pPr algn="l">
              <a:def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모듈·회귀·통합 검증으로</a:t>
            </a:r>
          </a:p>
        </p:txBody>
      </p:sp>
      <p:sp>
        <p:nvSpPr>
          <p:cNvPr id="15" name="baseline → profile → change → regression check">
            <a:extLst xmlns:a="http://schemas.openxmlformats.org/drawingml/2006/main">
              <a:ext uri="{FF2B5EF4-FFF2-40B4-BE49-F238E27FC236}">
                <a16:creationId xmlns:a16="http://schemas.microsoft.com/office/drawing/2014/main" id="{39C3DBD1-1C87-4E9B-B9FF-36C1A641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baseline → profile → change → regression check</a:t>
            </a:r>
          </a:p>
        </p:txBody>
      </p:sp>
    </p:spTree>
    <p:extLst>
      <p:ext uri="{BB962C8B-B14F-4D97-AF65-F5344CB8AC3E}">
        <p14:creationId xmlns:p14="http://schemas.microsoft.com/office/powerpoint/2010/main" val="1523711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ACT 4 · C++ VISION / 적용을 위한 가상 질문">
            <a:extLst xmlns:a="http://schemas.openxmlformats.org/drawingml/2006/main">
              <a:ext uri="{FF2B5EF4-FFF2-40B4-BE49-F238E27FC236}">
                <a16:creationId xmlns:a16="http://schemas.microsoft.com/office/drawing/2014/main" id="{2A662AE9-E64A-4EB0-B1FF-3A2744BB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ACT 4 · C++ VISION / 적용을 위한 가상 질문</a:t>
            </a:r>
          </a:p>
        </p:txBody>
      </p:sp>
      <p:sp>
        <p:nvSpPr>
          <p:cNvPr id="2" name="S72">
            <a:extLst xmlns:a="http://schemas.openxmlformats.org/drawingml/2006/main">
              <a:ext uri="{FF2B5EF4-FFF2-40B4-BE49-F238E27FC236}">
                <a16:creationId xmlns:a16="http://schemas.microsoft.com/office/drawing/2014/main" id="{A1A7196A-A9D8-4EC6-BDEC-46FDDFE6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S72</a:t>
            </a:r>
          </a:p>
        </p:txBody>
      </p:sp>
      <p:sp>
        <p:nvSpPr>
          <p:cNvPr id="3" name="Project와 환경이 바뀌면&#10;검증도 다시 본다">
            <a:extLst xmlns:a="http://schemas.openxmlformats.org/drawingml/2006/main">
              <a:ext uri="{FF2B5EF4-FFF2-40B4-BE49-F238E27FC236}">
                <a16:creationId xmlns:a16="http://schemas.microsoft.com/office/drawing/2014/main" id="{DCFA29DD-8BDE-4F93-B9B2-8F2B421B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Project와 환경이 바뀌면</a:t>
            </a:r>
          </a:p>
          <a:p xmlns:a="http://schemas.openxmlformats.org/drawingml/2006/main">
            <a:pPr algn="l">
              <a:def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검증도 다시 본다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106EA9-433D-4C1B-82E8-6C2B3A57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5400"/>
            </a:solidFill>
            <a:prstDash val="dash"/>
          </a:ln>
        </p:spPr>
      </p:sp>
      <p:sp>
        <p:nvSpPr>
          <p:cNvPr id="5" name="BEAT-059 · TRANS-012 · 교육용 전이 모델 · AI 생성 설명용 삽화">
            <a:extLst xmlns:a="http://schemas.openxmlformats.org/drawingml/2006/main">
              <a:ext uri="{FF2B5EF4-FFF2-40B4-BE49-F238E27FC236}">
                <a16:creationId xmlns:a16="http://schemas.microsoft.com/office/drawing/2014/main" id="{6A66996A-9452-4401-8FED-6B4DEEA9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BEAT-059 · TRANS-012 · 교육용 전이 모델 · AI 생성 설명용 삽화</a:t>
            </a:r>
          </a:p>
        </p:txBody>
      </p:sp>
      <p:sp>
        <p:nvSpPr>
          <p:cNvPr id="6" name="실제 C++ 사건·성능 결과가 아닙니다. 변경 표시는 확인할 조건을 뜻하며 원인이나 결과를 단정하지 않습니다">
            <a:extLst xmlns:a="http://schemas.openxmlformats.org/drawingml/2006/main">
              <a:ext uri="{FF2B5EF4-FFF2-40B4-BE49-F238E27FC236}">
                <a16:creationId xmlns:a16="http://schemas.microsoft.com/office/drawing/2014/main" id="{91F2B3BF-882C-43B6-AF4C-D3034A31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실제 C++ 사건·성능 결과가 아닙니다. 변경 표시는 확인할 조건을 뜻하며 원인이나 결과를 단정하지 않습니다.</a:t>
            </a:r>
          </a:p>
        </p:txBody>
      </p:sp>
      <p:sp>
        <p:nvSpPr>
          <p:cNvPr id="7" name="GPU · 빌드 · 측정 조건이 달라졌다면?">
            <a:extLst xmlns:a="http://schemas.openxmlformats.org/drawingml/2006/main">
              <a:ext uri="{FF2B5EF4-FFF2-40B4-BE49-F238E27FC236}">
                <a16:creationId xmlns:a16="http://schemas.microsoft.com/office/drawing/2014/main" id="{F13C88A9-534F-4618-A974-F89E62FF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GPU · 빌드 · 측정 조건이 달라졌다면?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C9826-C8DC-4156-8E5D-9AA2F932A3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f0f8fcb6ac4e4a"/>
          <a:srcRect xmlns:a="http://schemas.openxmlformats.org/drawingml/2006/main" l="0" t="6000" r="0" b="10000"/>
          <a:stretch xmlns:a="http://schemas.openxmlformats.org/drawingml/2006/main"/>
        </p:blipFill>
        <p:spPr>
          <a:xfrm xmlns:a="http://schemas.openxmlformats.org/drawingml/2006/main">
            <a:off x="1928813" y="2238375"/>
            <a:ext cx="8334375" cy="2333625"/>
          </a:xfrm>
          <a:prstGeom xmlns:a="http://schemas.openxmlformats.org/drawingml/2006/main" prst="rect">
            <a:avLst/>
          </a:prstGeom>
        </p:spPr>
      </p:pic>
      <p:sp>
        <p:nvSpPr>
          <p:cNvPr id="9" name="입력">
            <a:extLst xmlns:a="http://schemas.openxmlformats.org/drawingml/2006/main">
              <a:ext uri="{FF2B5EF4-FFF2-40B4-BE49-F238E27FC236}">
                <a16:creationId xmlns:a16="http://schemas.microsoft.com/office/drawing/2014/main" id="{C72A530A-D80D-40F5-9959-DAD0657B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33900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10" name="처리 코드">
            <a:extLst xmlns:a="http://schemas.openxmlformats.org/drawingml/2006/main">
              <a:ext uri="{FF2B5EF4-FFF2-40B4-BE49-F238E27FC236}">
                <a16:creationId xmlns:a16="http://schemas.microsoft.com/office/drawing/2014/main" id="{AAD19861-FB5D-4835-9EB3-0FDB6ABF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33900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처리 코드</a:t>
            </a:r>
          </a:p>
        </p:txBody>
      </p:sp>
      <p:sp>
        <p:nvSpPr>
          <p:cNvPr id="11" name="실행 장치 · 변경 조건">
            <a:extLst xmlns:a="http://schemas.openxmlformats.org/drawingml/2006/main">
              <a:ext uri="{FF2B5EF4-FFF2-40B4-BE49-F238E27FC236}">
                <a16:creationId xmlns:a16="http://schemas.microsoft.com/office/drawing/2014/main" id="{B7DA83FF-CC19-4636-9082-22ADD044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533900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실행 장치 · 변경 조건</a:t>
            </a:r>
          </a:p>
        </p:txBody>
      </p:sp>
      <p:sp>
        <p:nvSpPr>
          <p:cNvPr id="12" name="출력">
            <a:extLst xmlns:a="http://schemas.openxmlformats.org/drawingml/2006/main">
              <a:ext uri="{FF2B5EF4-FFF2-40B4-BE49-F238E27FC236}">
                <a16:creationId xmlns:a16="http://schemas.microsoft.com/office/drawing/2014/main" id="{EA652ABB-4F70-4F32-BD45-E18456CE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33900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출력</a:t>
            </a:r>
          </a:p>
        </p:txBody>
      </p:sp>
      <p:sp>
        <p:nvSpPr>
          <p:cNvPr id="13" name="기존 가정">
            <a:extLst xmlns:a="http://schemas.openxmlformats.org/drawingml/2006/main">
              <a:ext uri="{FF2B5EF4-FFF2-40B4-BE49-F238E27FC236}">
                <a16:creationId xmlns:a16="http://schemas.microsoft.com/office/drawing/2014/main" id="{981E1CFE-2D00-45A3-9D0C-0523B4A9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50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기존 가정</a:t>
            </a:r>
          </a:p>
        </p:txBody>
      </p:sp>
      <p:sp>
        <p:nvSpPr>
          <p:cNvPr id="14" name="어떤 조건에서 맞던 판단인가?">
            <a:extLst xmlns:a="http://schemas.openxmlformats.org/drawingml/2006/main">
              <a:ext uri="{FF2B5EF4-FFF2-40B4-BE49-F238E27FC236}">
                <a16:creationId xmlns:a16="http://schemas.microsoft.com/office/drawing/2014/main" id="{981F89C2-22E9-4A85-B2F0-B2B2415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어떤 조건에서 맞던 판단인가?</a:t>
            </a:r>
          </a:p>
        </p:txBody>
      </p:sp>
      <p:sp>
        <p:nvSpPr>
          <p:cNvPr id="15" name="측정 조건">
            <a:extLst xmlns:a="http://schemas.openxmlformats.org/drawingml/2006/main">
              <a:ext uri="{FF2B5EF4-FFF2-40B4-BE49-F238E27FC236}">
                <a16:creationId xmlns:a16="http://schemas.microsoft.com/office/drawing/2014/main" id="{99F33A15-5F1E-464D-8822-2148A39B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19650"/>
            <a:ext cx="350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측정 조건</a:t>
            </a:r>
          </a:p>
        </p:txBody>
      </p:sp>
      <p:sp>
        <p:nvSpPr>
          <p:cNvPr id="16" name="입력과 실행 조건은 비교 가능한가?">
            <a:extLst xmlns:a="http://schemas.openxmlformats.org/drawingml/2006/main">
              <a:ext uri="{FF2B5EF4-FFF2-40B4-BE49-F238E27FC236}">
                <a16:creationId xmlns:a16="http://schemas.microsoft.com/office/drawing/2014/main" id="{18082F46-799A-4CB6-9950-4C2D6399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4350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입력과 실행 조건은 비교 가능한가?</a:t>
            </a:r>
          </a:p>
        </p:txBody>
      </p:sp>
      <p:sp>
        <p:nvSpPr>
          <p:cNvPr id="17" name="기능 계약">
            <a:extLst xmlns:a="http://schemas.openxmlformats.org/drawingml/2006/main">
              <a:ext uri="{FF2B5EF4-FFF2-40B4-BE49-F238E27FC236}">
                <a16:creationId xmlns:a16="http://schemas.microsoft.com/office/drawing/2014/main" id="{3B09554A-16A4-4E71-AA19-B8D0DC03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19650"/>
            <a:ext cx="350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기능 계약</a:t>
            </a:r>
          </a:p>
        </p:txBody>
      </p:sp>
      <p:sp>
        <p:nvSpPr>
          <p:cNvPr id="18" name="함께 다시 확인할 동작은?">
            <a:extLst xmlns:a="http://schemas.openxmlformats.org/drawingml/2006/main">
              <a:ext uri="{FF2B5EF4-FFF2-40B4-BE49-F238E27FC236}">
                <a16:creationId xmlns:a16="http://schemas.microsoft.com/office/drawing/2014/main" id="{9FA93931-1437-4428-BF72-4D66A838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4350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함께 다시 확인할 동작은?</a:t>
            </a:r>
          </a:p>
        </p:txBody>
      </p:sp>
      <p:sp>
        <p:nvSpPr>
          <p:cNvPr id="19" name="같은 문제가 반복될 때, 어느 Layer를 먼저 살펴볼까?">
            <a:extLst xmlns:a="http://schemas.openxmlformats.org/drawingml/2006/main">
              <a:ext uri="{FF2B5EF4-FFF2-40B4-BE49-F238E27FC236}">
                <a16:creationId xmlns:a16="http://schemas.microsoft.com/office/drawing/2014/main" id="{9E434444-38E9-4E8C-9F7A-23EAFE38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같은 문제가 반복될 때, 어느 Layer를 먼저 살펴볼까?</a:t>
            </a:r>
          </a:p>
        </p:txBody>
      </p:sp>
    </p:spTree>
    <p:extLst>
      <p:ext uri="{BB962C8B-B14F-4D97-AF65-F5344CB8AC3E}">
        <p14:creationId xmlns:p14="http://schemas.microsoft.com/office/powerpoint/2010/main" val="19290033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2026-10-18T14:16:51.1820000Z</dcterms:created>
  <dcterms:modified xsi:type="dcterms:W3CDTF">2026-10-18T14:16:51.1820000Z</dcterms:modified>
</coreProperties>
</file>