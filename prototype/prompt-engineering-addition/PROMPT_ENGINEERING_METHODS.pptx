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bf717014f49c7" /><Relationship Type="http://schemas.openxmlformats.org/officeDocument/2006/relationships/extended-properties" Target="/docProps/app.xml" Id="R4fd7ff4da974453b" /><Relationship Type="http://schemas.openxmlformats.org/officeDocument/2006/relationships/officeDocument" Target="/ppt/presentation.xml" Id="Rfaf3d3ba304445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2be44575a4050"/>
  </p:sldMasterIdLst>
  <p:notesMasterIdLst>
    <p:notesMasterId xmlns:r="http://schemas.openxmlformats.org/officeDocument/2006/relationships" r:id="R402f143f61134166"/>
  </p:notesMasterIdLst>
  <p:sldIdLst>
    <p:sldId xmlns:r="http://schemas.openxmlformats.org/officeDocument/2006/relationships" id="256" r:id="R02ab8cfd831343dd"/>
    <p:sldId xmlns:r="http://schemas.openxmlformats.org/officeDocument/2006/relationships" id="257" r:id="Rf9304fc36f5847f1"/>
    <p:sldId xmlns:r="http://schemas.openxmlformats.org/officeDocument/2006/relationships" id="258" r:id="Rf8ed04a1f5a54e26"/>
    <p:sldId xmlns:r="http://schemas.openxmlformats.org/officeDocument/2006/relationships" id="259" r:id="R7e9d144313b84c35"/>
    <p:sldId xmlns:r="http://schemas.openxmlformats.org/officeDocument/2006/relationships" id="260" r:id="R12f50134e8e14a2e"/>
    <p:sldId xmlns:r="http://schemas.openxmlformats.org/officeDocument/2006/relationships" id="261" r:id="R9bbd5afa1d0d483d"/>
    <p:sldId xmlns:r="http://schemas.openxmlformats.org/officeDocument/2006/relationships" id="262" r:id="R9c2b4c8201224c45"/>
    <p:sldId xmlns:r="http://schemas.openxmlformats.org/officeDocument/2006/relationships" id="263" r:id="R63dd5504af7e41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bb26f0ac24024" /><Relationship Type="http://schemas.openxmlformats.org/officeDocument/2006/relationships/slideMaster" Target="/ppt/slideMasters/slideMaster1.xml" Id="Rc9c2be44575a4050" /><Relationship Type="http://schemas.openxmlformats.org/officeDocument/2006/relationships/notesMaster" Target="/ppt/notesMasters/notesMaster1.xml" Id="R402f143f61134166" /><Relationship Type="http://schemas.openxmlformats.org/officeDocument/2006/relationships/presProps" Target="/ppt/presProps.xml" Id="R82f61153d7e64653" /><Relationship Type="http://schemas.openxmlformats.org/officeDocument/2006/relationships/tableStyles" Target="/ppt/tableStyles.xml" Id="R1f2a40e01c0a4600" /><Relationship Type="http://schemas.openxmlformats.org/officeDocument/2006/relationships/slide" Target="/ppt/slides/slide1.xml" Id="R02ab8cfd831343dd" /><Relationship Type="http://schemas.openxmlformats.org/officeDocument/2006/relationships/slide" Target="/ppt/slides/slide2.xml" Id="Rf9304fc36f5847f1" /><Relationship Type="http://schemas.openxmlformats.org/officeDocument/2006/relationships/slide" Target="/ppt/slides/slide3.xml" Id="Rf8ed04a1f5a54e26" /><Relationship Type="http://schemas.openxmlformats.org/officeDocument/2006/relationships/slide" Target="/ppt/slides/slide4.xml" Id="R7e9d144313b84c35" /><Relationship Type="http://schemas.openxmlformats.org/officeDocument/2006/relationships/slide" Target="/ppt/slides/slide5.xml" Id="R12f50134e8e14a2e" /><Relationship Type="http://schemas.openxmlformats.org/officeDocument/2006/relationships/slide" Target="/ppt/slides/slide6.xml" Id="R9bbd5afa1d0d483d" /><Relationship Type="http://schemas.openxmlformats.org/officeDocument/2006/relationships/slide" Target="/ppt/slides/slide7.xml" Id="R9c2b4c8201224c45" /><Relationship Type="http://schemas.openxmlformats.org/officeDocument/2006/relationships/slide" Target="/ppt/slides/slide8.xml" Id="R63dd5504af7e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2d49dbdd3e4c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cf20857f045ff" /><Relationship Type="http://schemas.openxmlformats.org/officeDocument/2006/relationships/notesMaster" Target="/ppt/notesMasters/notesMaster1.xml" Id="Re2a4894c033a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54ee59ca374071" /><Relationship Type="http://schemas.openxmlformats.org/officeDocument/2006/relationships/notesMaster" Target="/ppt/notesMasters/notesMaster1.xml" Id="R67fb31d9cf01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26423fdbc5466a" /><Relationship Type="http://schemas.openxmlformats.org/officeDocument/2006/relationships/notesMaster" Target="/ppt/notesMasters/notesMaster1.xml" Id="Rcd1b1f82442d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c38023005498a" /><Relationship Type="http://schemas.openxmlformats.org/officeDocument/2006/relationships/notesMaster" Target="/ppt/notesMasters/notesMaster1.xml" Id="Rf3bef124e50a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8e9f4547b4458" /><Relationship Type="http://schemas.openxmlformats.org/officeDocument/2006/relationships/notesMaster" Target="/ppt/notesMasters/notesMaster1.xml" Id="R40e485d6cf4e41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c7cf1dffd54487" /><Relationship Type="http://schemas.openxmlformats.org/officeDocument/2006/relationships/notesMaster" Target="/ppt/notesMasters/notesMaster1.xml" Id="R686d59ce01d342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44900d75ef49ff" /><Relationship Type="http://schemas.openxmlformats.org/officeDocument/2006/relationships/notesMaster" Target="/ppt/notesMasters/notesMaster1.xml" Id="R780c86a537dd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5a34ce80ef44aa" /><Relationship Type="http://schemas.openxmlformats.org/officeDocument/2006/relationships/notesMaster" Target="/ppt/notesMasters/notesMaster1.xml" Id="R1d396b1569154a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S22 — 지시와 참고 자료의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지시와 참고 자료의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제목과 태그로 지시와 분석 자료의 경계를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“로그·명세·요청이 섞여 있을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# 요청</a:t>
            </a:r>
          </a:p>
          <a:p xmlns:a="http://schemas.openxmlformats.org/drawingml/2006/main">
            <a:r>
              <a:t>crop 경계 오류의 원인 후보만 설명해줘.</a:t>
            </a:r>
          </a:p>
          <a:p xmlns:a="http://schemas.openxmlformats.org/drawingml/2006/main">
            <a:r>
              <a:t>코드는 아직 수정하지 마.</a:t>
            </a:r>
          </a:p>
          <a:p xmlns:a="http://schemas.openxmlformats.org/drawingml/2006/main">
            <a:r>
              <a:t>자료에 없는 내용은 미확인으로 표시해줘.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참고 자료</a:t>
            </a:r>
          </a:p>
          <a:p xmlns:a="http://schemas.openxmlformats.org/drawingml/2006/main">
            <a:r>
              <a:t>명세: crop [1,3)의 폭은 2</a:t>
            </a:r>
          </a:p>
          <a:p xmlns:a="http://schemas.openxmlformats.org/drawingml/2006/main">
            <a:r>
              <a:t>로그 예: expected=2, actual=3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입력과 기대 결과의 작은 예시의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CLM-0032; official documented recommendations checked 2026-10-21. https://developers.openai.com/api/docs/guides/prompt-engineering.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구획은 읽을 경계를 알리는 수단입니다. 보안 격리나 자료의 진위를 보장하지 않습니다.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입력과 기대 결과의 작은 예시의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prototype/prompt-engineering-addition/preview/S22.png를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S23 — 입력과 기대 결과의 작은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입력과 기대 결과의 작은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Case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설명만으로 부족할 때 입력과 원하는 결과를 함께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“범위·출력 패턴의 뜻이 엇갈릴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crop 범위 설명을 아래 형식으로 작성해줘.</a:t>
            </a:r>
          </a:p>
          <a:p xmlns:a="http://schemas.openxmlformats.org/drawingml/2006/main">
            <a:r>
              <a:t>입력 {1,2,3,4}에 대한 예시:</a:t>
            </a:r>
          </a:p>
          <a:p xmlns:a="http://schemas.openxmlformats.org/drawingml/2006/main">
            <a:r>
              <a:t>[1,3) ⇒ {2,3}, 폭 2</a:t>
            </a:r>
          </a:p>
          <a:p xmlns:a="http://schemas.openxmlformats.org/drawingml/2006/main">
            <a:r>
              <a:t>[0,1) ⇒ {1}, 폭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형식으로 [2,4)를 설명해줘.</a:t>
            </a:r>
          </a:p>
          <a:p xmlns:a="http://schemas.openxmlformats.org/drawingml/2006/main">
            <a:r>
              <a:t>빈 범위·범위 초과 정책은 만들지 마.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바로 검토할 수 있는 결과 형식의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CLM-0033; official documented recommendations checked 2026-10-21. https://developers.openai.com/api/docs/guides/prompt-engineering; https://developers.openai.com/api/docs/guides/reasoning-best-practices.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예시와 명세를 일치시킵니다. 예시 몇 개가 모든 경계 조건의 명세를 대신하지 않습니다.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바로 검토할 수 있는 결과 형식의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prototype/prompt-engineering-addition/preview/S23.png를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S24 — 바로 검토할 수 있는 결과 형식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바로 검토할 수 있는 결과 형식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받고 싶은 항목과 길이를 요청에 적는다.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“장황한 답을 다시 가공하게 될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crop 수정 결과를 다음 순서로 보고해줘.</a:t>
            </a:r>
          </a:p>
          <a:p xmlns:a="http://schemas.openxmlformats.org/drawingml/2006/main">
            <a:r>
              <a:t>1. 변경 파일과 바꾼 이유</a:t>
            </a:r>
          </a:p>
          <a:p xmlns:a="http://schemas.openxmlformats.org/drawingml/2006/main">
            <a:r>
              <a:t>2. 실제 실행한 확인 명령과 결과</a:t>
            </a:r>
          </a:p>
          <a:p xmlns:a="http://schemas.openxmlformats.org/drawingml/2006/main">
            <a:r>
              <a:t>3. 실행하지 못한 확인과 이유</a:t>
            </a:r>
          </a:p>
          <a:p xmlns:a="http://schemas.openxmlformats.org/drawingml/2006/main">
            <a:r>
              <a:t>4. 남은 위험과 확인이 필요한 결정</a:t>
            </a:r>
          </a:p>
          <a:p xmlns:a="http://schemas.openxmlformats.org/drawingml/2006/main">
            <a:r>
              <a:t>각 항목은 두 문장 이내로 써줘.</a:t>
            </a:r>
          </a:p>
          <a:p xmlns:a="http://schemas.openxmlformats.org/drawingml/2006/main">
            <a:r>
              <a:t>실행하지 않은 검사를 통과로 쓰지 마.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근거가 있는 설명과 미확인의 구분의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CLM-0034; official documented recommendations checked 2026-10-21. https://learn.chatgpt.com/docs/prompting; https://developers.openai.com/api/docs/guides/structured-outputs.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형식이 맞아도 내용은 확인해야 합니다. 채팅의 형식 요청은 API Structured Outputs와 별개입니다.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근거가 있는 설명과 미확인의 구분의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prototype/prompt-engineering-addition/preview/S24.png를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S25 — 근거가 있는 설명과 미확인의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근거가 있는 설명과 미확인의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결론에 자료 위치를 붙이고, 확인하지 못한 것은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“저장소 설명의 출처를 확인해야 할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crop의 명세·구현·테스트를 찾아 비교해줘.</a:t>
            </a:r>
          </a:p>
          <a:p xmlns:a="http://schemas.openxmlformats.org/drawingml/2006/main">
            <a:r>
              <a:t>결론마다 실제 파일·함수·줄을 붙여줘.</a:t>
            </a:r>
          </a:p>
          <a:p xmlns:a="http://schemas.openxmlformats.org/drawingml/2006/main">
            <a:r>
              <a:t>다음 세 상태를 구분해줘.</a:t>
            </a:r>
          </a:p>
          <a:p xmlns:a="http://schemas.openxmlformats.org/drawingml/2006/main">
            <a:r>
              <a:t>- 자료에서 확인</a:t>
            </a:r>
          </a:p>
          <a:p xmlns:a="http://schemas.openxmlformats.org/drawingml/2006/main">
            <a:r>
              <a:t>- 코드로부터 추정</a:t>
            </a:r>
          </a:p>
          <a:p xmlns:a="http://schemas.openxmlformats.org/drawingml/2006/main">
            <a:r>
              <a:t>- 아직 미확인</a:t>
            </a:r>
          </a:p>
          <a:p xmlns:a="http://schemas.openxmlformats.org/drawingml/2006/main">
            <a:r>
              <a:t>근거가 충돌하면 차이를 먼저 알려줘.</a:t>
            </a:r>
          </a:p>
          <a:p xmlns:a="http://schemas.openxmlformats.org/drawingml/2006/main">
            <a:r>
              <a:t>찾지 못한 정책은 관례로 채우지 마.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결과를 바꾸는 결정에서 확인 질문의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CLM-0035; official documented recommendations checked 2026-10-21. https://developers.openai.com/api/docs/guides/prompt-engineering; https://learn.chatgpt.com/docs/prompting.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파일·줄 인용도 실제 내용과 대조합니다. 인용이 있다는 사실만으로 정확성이 보장되지는 않습니다.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결과를 바꾸는 결정에서 확인 질문의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prototype/prompt-engineering-addition/preview/S25.png를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S26 — 결과를 바꾸는 결정에서 확인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결과를 바꾸는 결정에서 확인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조사할 사실과 답을 받아야 할 결정을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“정책을 사람이 선택해야 할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빈 crop 범위의 처리 정책을 조사해줘.</a:t>
            </a:r>
          </a:p>
          <a:p xmlns:a="http://schemas.openxmlformats.org/drawingml/2006/main">
            <a:r>
              <a:t>문서·테스트·호출부의 근거를 먼저 찾아줘.</a:t>
            </a:r>
          </a:p>
          <a:p xmlns:a="http://schemas.openxmlformats.org/drawingml/2006/main">
            <a:r>
              <a:t>근거 없이 빈 결과와 오류 중 골라야 하면</a:t>
            </a:r>
          </a:p>
          <a:p xmlns:a="http://schemas.openxmlformats.org/drawingml/2006/main">
            <a:r>
              <a:t>각 선택의 영향을 적고 질문해줘.</a:t>
            </a:r>
          </a:p>
          <a:p xmlns:a="http://schemas.openxmlformats.org/drawingml/2006/main">
            <a:r>
              <a:t>그 결정에 의존하는 수정은 답변 뒤 진행해줘.</a:t>
            </a:r>
          </a:p>
          <a:p xmlns:a="http://schemas.openxmlformats.org/drawingml/2006/main">
            <a:r>
              <a:t>그 선택과 무관한 조사는 계속해줘.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큰 작업을 검토할 결과물로 나누기의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CLM-0036; official documented recommendations checked 2026-10-21. https://learn.chatgpt.com/guides/best-practices; https://learn.chatgpt.com/docs/prompting.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모든 세부를 질문으로 돌리지 않습니다. 답에 따라 결과가 달라지는 선택에 집중합니다.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큰 작업을 검토할 결과물로 나누기의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prototype/prompt-engineering-addition/preview/S26.png를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S27 — 큰 작업을 검토할 결과물로 나누기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큰 작업을 검토할 결과물로 나누기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다음 결정을 할 수 있는 작은 결과부터 요청한다.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“조사 결과에 따라 구현 범위가 달라질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검사 pipeline에 ROI 설정을 연결하려 한다.</a:t>
            </a:r>
          </a:p>
          <a:p xmlns:a="http://schemas.openxmlformats.org/drawingml/2006/main">
            <a:r>
              <a:t>이번에는 설정 입력에서 crop까지의 경로만</a:t>
            </a:r>
          </a:p>
          <a:p xmlns:a="http://schemas.openxmlformats.org/drawingml/2006/main">
            <a:r>
              <a:t>조사하고, 변경 후보·미확인을 표로 정리해줘.</a:t>
            </a:r>
          </a:p>
          <a:p xmlns:a="http://schemas.openxmlformats.org/drawingml/2006/main">
            <a:r>
              <a:t>코드는 아직 수정하지 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 결과를 보고 다음 요청에서</a:t>
            </a:r>
          </a:p>
          <a:p xmlns:a="http://schemas.openxmlformats.org/drawingml/2006/main">
            <a:r>
              <a:t>파싱·유효성 확인 구현 범위를 정하겠다.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기준을 지정한 코드 리뷰 요청의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CLM-0037; official documented recommendations checked 2026-10-21. https://learn.chatgpt.com/guides/best-practices; https://developers.openai.com/api/docs/guides/reasoning-best-practices.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단계는 작업·산출물의 경계입니다. 숨은 사고 과정을 길게 출력하라는 요청이 아닙니다.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기준을 지정한 코드 리뷰 요청의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prototype/prompt-engineering-addition/preview/S27.png를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S28 — 기준을 지정한 코드 리뷰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기준을 지정한 코드 리뷰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무엇을 찾을지와 어떤 근거로 보고할지를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““검토해줘”의 범위를 분명히 할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crop 변경안을 코드 리뷰 관점에서 봐줘.</a:t>
            </a:r>
          </a:p>
          <a:p xmlns:a="http://schemas.openxmlformats.org/drawingml/2006/main">
            <a:r>
              <a:t>검토 기준은 다음과 같아.</a:t>
            </a:r>
          </a:p>
          <a:p xmlns:a="http://schemas.openxmlformats.org/drawingml/2006/main">
            <a:r>
              <a:t>1. 끝 좌표 제외 명세 보존</a:t>
            </a:r>
          </a:p>
          <a:p xmlns:a="http://schemas.openxmlformats.org/drawingml/2006/main">
            <a:r>
              <a:t>2. 공개 API와 기존 오류 정책 보존</a:t>
            </a:r>
          </a:p>
          <a:p xmlns:a="http://schemas.openxmlformats.org/drawingml/2006/main">
            <a:r>
              <a:t>3. 요청과 무관한 변경 없음</a:t>
            </a:r>
          </a:p>
          <a:p xmlns:a="http://schemas.openxmlformats.org/drawingml/2006/main">
            <a:r>
              <a:t>위반마다 위치·근거·영향·수정 제안을 써줘.</a:t>
            </a:r>
          </a:p>
          <a:p xmlns:a="http://schemas.openxmlformats.org/drawingml/2006/main">
            <a:r>
              <a:t>자료로 판단 못 하면 미확인으로 남겨줘.</a:t>
            </a:r>
          </a:p>
          <a:p xmlns:a="http://schemas.openxmlformats.org/drawingml/2006/main">
            <a:r>
              <a:t>이번 요청에서는 코드를 바꾸지 마.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다음은 구체적인 근거로 수정 방향 피드백의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CLM-0038; official documented recommendations checked 2026-10-21. https://learn.chatgpt.com/guides/best-practices; https://learn.chatgpt.com/docs/prompting.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리뷰 답변도 누락할 수 있습니다. 필요한 실행 확인·변경 검토·사람의 완료 판단을 함께 사용합니다.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다음은 구체적인 근거로 수정 방향 피드백의 활용 상황을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prototype/prompt-engineering-addition/preview/S28.png를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S29 — 구체적인 근거로 수정 방향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구체적인 근거로 수정 방향 피드백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1 / proposed 1H — Practical Prompt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PROPOSED — 1 minute; integration timing awaits user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PROPOSED — Lecture 1 minute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어긋난 지점과 원하는 변경, 유지할 조건을 적는다.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“첫 제안의 일부가 의도와 다를 때, 요청을 어떻게 바꾸면 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(0:00–0:15 proposed) 사용 상황을 한 문장으로 짚는다. 필요한 때 선택하는 문장 도구이며 모든 요청에 여덟 기법을 채울 필요는 없다고 연결한다.</a:t>
            </a:r>
          </a:p>
          <a:p xmlns:a="http://schemas.openxmlformats.org/drawingml/2006/main">
            <a:r>
              <a:t>2. (0:15–0:45 proposed) 요청 전문을 낭독하지 않고 이 기법이 드러나는 두세 행만 가리킨다. 아래 문장은 복사해 자기 프로젝트 자료로 바꿔 사용할 교육용 예시다.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앞선 “테스트 기대 폭을 3으로 바꾸자”는</a:t>
            </a:r>
          </a:p>
          <a:p xmlns:a="http://schemas.openxmlformats.org/drawingml/2006/main">
            <a:r>
              <a:t>제안을 수정해줘. 원하는 명세는</a:t>
            </a:r>
          </a:p>
          <a:p xmlns:a="http://schemas.openxmlformats.org/drawingml/2006/main">
            <a:r>
              <a:t>crop [1,3)에서 폭 2야.</a:t>
            </a:r>
          </a:p>
          <a:p xmlns:a="http://schemas.openxmlformats.org/drawingml/2006/main">
            <a:r>
              <a:t>테스트 기대값은 유지하고,</a:t>
            </a:r>
          </a:p>
          <a:p xmlns:a="http://schemas.openxmlformats.org/drawingml/2006/main">
            <a:r>
              <a:t>구현의 끝 좌표 처리만 다시 검토해줘.</a:t>
            </a:r>
          </a:p>
          <a:p xmlns:a="http://schemas.openxmlformats.org/drawingml/2006/main">
            <a:r>
              <a:t>기존 API·의존성은 유지해줘.</a:t>
            </a:r>
          </a:p>
          <a:p xmlns:a="http://schemas.openxmlformats.org/drawingml/2006/main">
            <a:r>
              <a:t>바꾼 제안과 미확인 사항만 보고해줘.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(0:45–1:00 proposed) 화면 하단의 핵심을 회수하고 한계를 짧게 짚는다. “이 조건 중 다음 작업에도 다시 적게 될 것은 무엇일까요?”라고 기존 S22–S23의 반복 Context 질문으로 연결한다. 통합 시 기존 두 장은 S30–S31이 될 예정이다.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CLM-0039; official documented recommendations checked 2026-10-21. https://learn.chatgpt.com/docs/prompting. Evidence matrix: references/product/PROMPT_ENGINEERING_2026-10-21.md.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요청 문장이다. 실제 TRIAL-002 입력·실행·비교 실험이 아니다. 앞선 제안은 가상 예시입니다. 원하는 답만 반복시키지 말고 명세와 실제 근거로 방향을 고칩니다. 정확도·토큰·시간·성능 개선이나 모든 모델의 동일한 동작을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“언제”의 상황에서 예시 문장을 출발점으로 삼고 실제 명세·파일·자료를 맞춰 넣는다. 요청 길이를 늘리는 것 자체가 목적은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Treat the technique as a documented starting point. Check the selected model, workload, available tools, evidence and failure conditions before attributing an outcome to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기존 crop의 끝 좌표 제외 명세와 제조 검사 pipeline에 적용하는 개념 예시다. 실제 C++ 구현·실행·오류 정책이나 장비 조건은 추가로 확정하지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 — static conceptual prompt example. No new Trial, model call, code change, benchmark or live surface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요청 예시를 눈으로 확인하게 하고 핵심 부분만 가리킨다. 작성 실습·공개 답변·의무 응답을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“이 조건 중 다음 작업에도 다시 적게 될 것은 무엇일까요?”라고 기존 S22–S23의 반복 Context 질문으로 연결한다. 통합 시 기존 두 장은 S30–S31이 될 예정이다.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1분은 핵심 소개의 제안값이다. 전체 문장·출처·주의점 낭독은 생략한다. 실제 시간 적합성은 리허설 전까지 UNVERIFIED이며 기존 ACT 1 55분과 전체 360분의 변경 또는 재배분은 사용자 선택 전 적용하지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8장 검토용 PPT 또는 prototype/prompt-engineering-addition/preview/S29.png를 사용한다. 현재 production Full/ACT PPT에는 아직 삽입하지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CONTENT ALIGNED — final local render and embedded Notes validation is recorded in REVIEW.md. Windows PowerPoint, target fonts, room projection, current product/account and timed rehearsal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bf9c697c04a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447c9a6bb4c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64f57b84f49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8d5651f1a40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7e37557024b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f414f079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CB4352-254A-474C-93A5-094D70F0F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93060F-0702-42B0-8357-B5F7055E6A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918D57-8A50-4021-9AFE-9F6C2D91D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54FCEB-7563-43F8-9FE5-30672B5EE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30E6E3-224D-49C7-A6B7-E9A3D18FEF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57F4D2-02B3-4548-9A08-4A3861B76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0ADD06-0AEF-44B8-8D34-854837C54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3F5CB2-9D7F-4F0C-BB2D-A96C16A74F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054C0-961B-429B-BA60-8E45639B0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655930-5D58-4DD3-AE29-2B55FAEC9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11c96b63d4967" /><Relationship Type="http://schemas.openxmlformats.org/officeDocument/2006/relationships/slideLayout" Target="/ppt/slideLayouts/slideLayout1.xml" Id="Rf9dede4448474b33" /><Relationship Type="http://schemas.openxmlformats.org/officeDocument/2006/relationships/slideLayout" Target="/ppt/slideLayouts/slideLayout2.xml" Id="R4b2e0a7584ce4dc3" /><Relationship Type="http://schemas.openxmlformats.org/officeDocument/2006/relationships/slideLayout" Target="/ppt/slideLayouts/slideLayout3.xml" Id="R4e01ac709bd24376" /><Relationship Type="http://schemas.openxmlformats.org/officeDocument/2006/relationships/slideLayout" Target="/ppt/slideLayouts/slideLayout4.xml" Id="Rec157c8a5bf44166" /><Relationship Type="http://schemas.openxmlformats.org/officeDocument/2006/relationships/slideLayout" Target="/ppt/slideLayouts/slideLayout5.xml" Id="R757f0433a8db4617" /><Relationship Type="http://schemas.openxmlformats.org/officeDocument/2006/relationships/slideLayout" Target="/ppt/slideLayouts/slideLayout6.xml" Id="Raf307aded7844c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ede4448474b33"/>
    <p:sldLayoutId xmlns:r="http://schemas.openxmlformats.org/officeDocument/2006/relationships" id="2147483650" r:id="R4b2e0a7584ce4dc3"/>
    <p:sldLayoutId xmlns:r="http://schemas.openxmlformats.org/officeDocument/2006/relationships" id="2147483651" r:id="R4e01ac709bd24376"/>
    <p:sldLayoutId xmlns:r="http://schemas.openxmlformats.org/officeDocument/2006/relationships" id="2147483652" r:id="Rec157c8a5bf44166"/>
    <p:sldLayoutId xmlns:r="http://schemas.openxmlformats.org/officeDocument/2006/relationships" id="2147483653" r:id="R757f0433a8db4617"/>
    <p:sldLayoutId xmlns:r="http://schemas.openxmlformats.org/officeDocument/2006/relationships" id="2147483654" r:id="Raf307aded7844c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d1d434c314b8d" /><Relationship Type="http://schemas.openxmlformats.org/officeDocument/2006/relationships/notesSlide" Target="/ppt/notesSlides/notesSlide1.xml" Id="Reb74c32022c1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9ec9dd9e841ce" /><Relationship Type="http://schemas.openxmlformats.org/officeDocument/2006/relationships/notesSlide" Target="/ppt/notesSlides/notesSlide2.xml" Id="Rbd44776d9d23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35380955d43d8" /><Relationship Type="http://schemas.openxmlformats.org/officeDocument/2006/relationships/notesSlide" Target="/ppt/notesSlides/notesSlide3.xml" Id="Rfd8579be6a36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46cf7e33043d3" /><Relationship Type="http://schemas.openxmlformats.org/officeDocument/2006/relationships/notesSlide" Target="/ppt/notesSlides/notesSlide4.xml" Id="R9d2f3b4eea3940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d3679787647a8" /><Relationship Type="http://schemas.openxmlformats.org/officeDocument/2006/relationships/notesSlide" Target="/ppt/notesSlides/notesSlide5.xml" Id="R262e07ecd6f6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a556797bf4503" /><Relationship Type="http://schemas.openxmlformats.org/officeDocument/2006/relationships/notesSlide" Target="/ppt/notesSlides/notesSlide6.xml" Id="Rcc8f419d33064d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32a7e6e1943f5" /><Relationship Type="http://schemas.openxmlformats.org/officeDocument/2006/relationships/notesSlide" Target="/ppt/notesSlides/notesSlide7.xml" Id="Ree6b4df1b44c42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d8d52c64f4fa2" /><Relationship Type="http://schemas.openxmlformats.org/officeDocument/2006/relationships/notesSlide" Target="/ppt/notesSlides/notesSlide8.xml" Id="R5c4fa973ed7f44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1/8 · Delimiters">
            <a:extLst xmlns:a="http://schemas.openxmlformats.org/drawingml/2006/main">
              <a:ext uri="{FF2B5EF4-FFF2-40B4-BE49-F238E27FC236}">
                <a16:creationId xmlns:a16="http://schemas.microsoft.com/office/drawing/2014/main" id="{EAFDFD86-91BB-4CDE-A264-B10E26FE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1/8 · Delimiters</a:t>
            </a:r>
          </a:p>
        </p:txBody>
      </p:sp>
      <p:sp>
        <p:nvSpPr>
          <p:cNvPr id="2" name="S22">
            <a:extLst xmlns:a="http://schemas.openxmlformats.org/drawingml/2006/main">
              <a:ext uri="{FF2B5EF4-FFF2-40B4-BE49-F238E27FC236}">
                <a16:creationId xmlns:a16="http://schemas.microsoft.com/office/drawing/2014/main" id="{1E3AEDD6-2F6E-454D-BC5C-445D6BA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S22</a:t>
            </a:r>
          </a:p>
        </p:txBody>
      </p:sp>
      <p:sp>
        <p:nvSpPr>
          <p:cNvPr id="3" name="지시와 참고 자료의 구분">
            <a:extLst xmlns:a="http://schemas.openxmlformats.org/drawingml/2006/main">
              <a:ext uri="{FF2B5EF4-FFF2-40B4-BE49-F238E27FC236}">
                <a16:creationId xmlns:a16="http://schemas.microsoft.com/office/drawing/2014/main" id="{6B5411E1-A4EB-4BF0-9449-21667324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지시와 참고 자료의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2DBD2-AC3A-43E6-9595-0ED94E6E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Prompt engineering · Markdown / XML 구획 · 2026-10-21 확">
            <a:extLst xmlns:a="http://schemas.openxmlformats.org/drawingml/2006/main">
              <a:ext uri="{FF2B5EF4-FFF2-40B4-BE49-F238E27FC236}">
                <a16:creationId xmlns:a16="http://schemas.microsoft.com/office/drawing/2014/main" id="{D9AA9635-6299-4FFA-87B4-57A3F4F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Prompt engineering · Markdown / XML 구획 · 2026-10-21 확인</a:t>
            </a:r>
          </a:p>
        </p:txBody>
      </p:sp>
      <p:sp>
        <p:nvSpPr>
          <p:cNvPr id="6" name="구획은 읽을 경계를 알리는 수단입니다. 보안 격리나 자료의 진위를 보장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9B4F8568-4020-49B3-9081-FB50D91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구획은 읽을 경계를 알리는 수단입니다. 보안 격리나 자료의 진위를 보장하지 않습니다.</a:t>
            </a:r>
          </a:p>
        </p:txBody>
      </p:sp>
      <p:sp>
        <p:nvSpPr>
          <p:cNvPr id="7" name="언제  로그·명세·요청이 섞여 있을 때">
            <a:extLst xmlns:a="http://schemas.openxmlformats.org/drawingml/2006/main">
              <a:ext uri="{FF2B5EF4-FFF2-40B4-BE49-F238E27FC236}">
                <a16:creationId xmlns:a16="http://schemas.microsoft.com/office/drawing/2014/main" id="{4A773215-B404-49E4-A2E0-87A28B0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로그·명세·요청이 섞여 있을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E23EF-C238-4CEE-9198-92635453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42FF9BAA-D378-41A2-8570-D13C387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A2144-C437-4753-AC6E-123778B8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# 요청&#10;crop 경계 오류의 원인 후보만 설명해줘.&#10;코드는 아직 수정하지 마.&#10;자료에 없는 내용은 미확인으">
            <a:extLst xmlns:a="http://schemas.openxmlformats.org/drawingml/2006/main">
              <a:ext uri="{FF2B5EF4-FFF2-40B4-BE49-F238E27FC236}">
                <a16:creationId xmlns:a16="http://schemas.microsoft.com/office/drawing/2014/main" id="{EE4220C5-5F55-4E0C-A13F-F9E2F92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# 요청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경계 오류의 원인 후보만 설명해줘.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코드는 아직 수정하지 마.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자료에 없는 내용은 미확인으로 표시해줘.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# 참고 자료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명세: crop [1,3)의 폭은 2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로그 예: expected=2, actual=3</a:t>
            </a:r>
          </a:p>
        </p:txBody>
      </p:sp>
      <p:sp>
        <p:nvSpPr>
          <p:cNvPr id="12" name="따라야 할 요청">
            <a:extLst xmlns:a="http://schemas.openxmlformats.org/drawingml/2006/main">
              <a:ext uri="{FF2B5EF4-FFF2-40B4-BE49-F238E27FC236}">
                <a16:creationId xmlns:a16="http://schemas.microsoft.com/office/drawing/2014/main" id="{B8513F10-ED35-416C-8866-C63D5E76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따라야 할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2969B-46CD-4747-A8C6-8D59E0FD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원인 후보 설명&#10;지금은 읽기 전용">
            <a:extLst xmlns:a="http://schemas.openxmlformats.org/drawingml/2006/main">
              <a:ext uri="{FF2B5EF4-FFF2-40B4-BE49-F238E27FC236}">
                <a16:creationId xmlns:a16="http://schemas.microsoft.com/office/drawing/2014/main" id="{684DA8AD-800F-4CDE-A55A-0F95054E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원인 후보 설명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지금은 읽기 전용</a:t>
            </a:r>
          </a:p>
        </p:txBody>
      </p:sp>
      <p:sp>
        <p:nvSpPr>
          <p:cNvPr id="15" name="분석할 자료">
            <a:extLst xmlns:a="http://schemas.openxmlformats.org/drawingml/2006/main">
              <a:ext uri="{FF2B5EF4-FFF2-40B4-BE49-F238E27FC236}">
                <a16:creationId xmlns:a16="http://schemas.microsoft.com/office/drawing/2014/main" id="{244F7B31-F73E-4E3F-AAD8-AF8D064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분석할 자료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D4CCD-262E-460A-9004-765CC02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명세·로그 예시&#10;새 지시와 구분">
            <a:extLst xmlns:a="http://schemas.openxmlformats.org/drawingml/2006/main">
              <a:ext uri="{FF2B5EF4-FFF2-40B4-BE49-F238E27FC236}">
                <a16:creationId xmlns:a16="http://schemas.microsoft.com/office/drawing/2014/main" id="{DF713ABB-130E-47E3-9292-163DAC9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명세·로그 예시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새 지시와 구분</a:t>
            </a:r>
          </a:p>
        </p:txBody>
      </p:sp>
      <p:sp>
        <p:nvSpPr>
          <p:cNvPr id="18" name="제목과 태그로 지시와 분석 자료의 경계를 표시한다.">
            <a:extLst xmlns:a="http://schemas.openxmlformats.org/drawingml/2006/main">
              <a:ext uri="{FF2B5EF4-FFF2-40B4-BE49-F238E27FC236}">
                <a16:creationId xmlns:a16="http://schemas.microsoft.com/office/drawing/2014/main" id="{985BF266-D0F7-4C0F-8539-686BE0B8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제목과 태그로 지시와 분석 자료의 경계를 표시한다.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9EF0BBED-DE53-4569-861C-034D314E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294120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2/8 · Few-shot examples">
            <a:extLst xmlns:a="http://schemas.openxmlformats.org/drawingml/2006/main">
              <a:ext uri="{FF2B5EF4-FFF2-40B4-BE49-F238E27FC236}">
                <a16:creationId xmlns:a16="http://schemas.microsoft.com/office/drawing/2014/main" id="{DC86C5B6-54E7-4643-8E97-9D5A7F24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2/8 · Few-shot examples</a:t>
            </a:r>
          </a:p>
        </p:txBody>
      </p:sp>
      <p:sp>
        <p:nvSpPr>
          <p:cNvPr id="2" name="S23">
            <a:extLst xmlns:a="http://schemas.openxmlformats.org/drawingml/2006/main">
              <a:ext uri="{FF2B5EF4-FFF2-40B4-BE49-F238E27FC236}">
                <a16:creationId xmlns:a16="http://schemas.microsoft.com/office/drawing/2014/main" id="{476C84BE-E1BB-43CB-A5E5-40A67825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S23</a:t>
            </a:r>
          </a:p>
        </p:txBody>
      </p:sp>
      <p:sp>
        <p:nvSpPr>
          <p:cNvPr id="3" name="입력과 기대 결과의 작은 예시">
            <a:extLst xmlns:a="http://schemas.openxmlformats.org/drawingml/2006/main">
              <a:ext uri="{FF2B5EF4-FFF2-40B4-BE49-F238E27FC236}">
                <a16:creationId xmlns:a16="http://schemas.microsoft.com/office/drawing/2014/main" id="{028EAEAD-6A8F-409B-A24C-8C83BEA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입력과 기대 결과의 작은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A86A5-282D-4936-B8A0-DBD5242F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Prompt engineering · Few-shot / Reasoning best practi">
            <a:extLst xmlns:a="http://schemas.openxmlformats.org/drawingml/2006/main">
              <a:ext uri="{FF2B5EF4-FFF2-40B4-BE49-F238E27FC236}">
                <a16:creationId xmlns:a16="http://schemas.microsoft.com/office/drawing/2014/main" id="{850D5D8B-1B7C-4BEB-BEEC-71C8CD59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Prompt engineering · Few-shot / Reasoning best practices · 2026-10-21</a:t>
            </a:r>
          </a:p>
        </p:txBody>
      </p:sp>
      <p:sp>
        <p:nvSpPr>
          <p:cNvPr id="6" name="예시와 명세를 일치시킵니다. 예시 몇 개가 모든 경계 조건의 명세를 대신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FB3EE05C-7E69-4CB4-904D-F26922B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예시와 명세를 일치시킵니다. 예시 몇 개가 모든 경계 조건의 명세를 대신하지 않습니다.</a:t>
            </a:r>
          </a:p>
        </p:txBody>
      </p:sp>
      <p:sp>
        <p:nvSpPr>
          <p:cNvPr id="7" name="언제  범위·출력 패턴의 뜻이 엇갈릴 때">
            <a:extLst xmlns:a="http://schemas.openxmlformats.org/drawingml/2006/main">
              <a:ext uri="{FF2B5EF4-FFF2-40B4-BE49-F238E27FC236}">
                <a16:creationId xmlns:a16="http://schemas.microsoft.com/office/drawing/2014/main" id="{3567C3AA-EEAB-46A9-B2E9-CA518DD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범위·출력 패턴의 뜻이 엇갈릴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CC63-8CF1-4944-A476-C2186B11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5FA8FFDB-EBF3-4EBF-9F30-698ECDF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27E03-8567-4B2C-B46F-B188085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crop 범위 설명을 아래 형식으로 작성해줘.&#10;입력 {1,2,3,4}에 대한 예시:&#10;[1,3) ⇒ {2,3}">
            <a:extLst xmlns:a="http://schemas.openxmlformats.org/drawingml/2006/main">
              <a:ext uri="{FF2B5EF4-FFF2-40B4-BE49-F238E27FC236}">
                <a16:creationId xmlns:a16="http://schemas.microsoft.com/office/drawing/2014/main" id="{FE29F964-0351-4A14-9BA9-9BFC1A44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범위 설명을 아래 형식으로 작성해줘.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입력 {1,2,3,4}에 대한 예시: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[1,3) ⇒ {2,3}, 폭 2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[0,1) ⇒ {1}, 폭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형식으로 [2,4)를 설명해줘.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빈 범위·범위 초과 정책은 만들지 마.</a:t>
            </a:r>
          </a:p>
        </p:txBody>
      </p:sp>
      <p:sp>
        <p:nvSpPr>
          <p:cNvPr id="12" name="보여주는 패턴">
            <a:extLst xmlns:a="http://schemas.openxmlformats.org/drawingml/2006/main">
              <a:ext uri="{FF2B5EF4-FFF2-40B4-BE49-F238E27FC236}">
                <a16:creationId xmlns:a16="http://schemas.microsoft.com/office/drawing/2014/main" id="{BC7660CA-66CA-4BC9-B587-1004F09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보여주는 패턴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3C279-437D-45E7-8C8D-E8D7FCCC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범위&#10;포함한 값&#10;결과의 폭">
            <a:extLst xmlns:a="http://schemas.openxmlformats.org/drawingml/2006/main">
              <a:ext uri="{FF2B5EF4-FFF2-40B4-BE49-F238E27FC236}">
                <a16:creationId xmlns:a16="http://schemas.microsoft.com/office/drawing/2014/main" id="{51DE1FA3-45E6-4B0C-A477-5F4B5F84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포함한 값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결과의 폭</a:t>
            </a:r>
          </a:p>
        </p:txBody>
      </p:sp>
      <p:sp>
        <p:nvSpPr>
          <p:cNvPr id="15" name="추가할 때">
            <a:extLst xmlns:a="http://schemas.openxmlformats.org/drawingml/2006/main">
              <a:ext uri="{FF2B5EF4-FFF2-40B4-BE49-F238E27FC236}">
                <a16:creationId xmlns:a16="http://schemas.microsoft.com/office/drawing/2014/main" id="{256D5512-8AEB-491E-A0F6-C6A6C6E3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추가할 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6ECD2-6AD9-419E-98EB-4BD7F87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설명만으로&#10;의도가 안 맞을 때">
            <a:extLst xmlns:a="http://schemas.openxmlformats.org/drawingml/2006/main">
              <a:ext uri="{FF2B5EF4-FFF2-40B4-BE49-F238E27FC236}">
                <a16:creationId xmlns:a16="http://schemas.microsoft.com/office/drawing/2014/main" id="{8D8E4F72-B505-4777-B3F6-7FAE373C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설명만으로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의도가 안 맞을 때</a:t>
            </a:r>
          </a:p>
        </p:txBody>
      </p:sp>
      <p:sp>
        <p:nvSpPr>
          <p:cNvPr id="18" name="설명만으로 부족할 때 입력과 원하는 결과를 함께 준다.">
            <a:extLst xmlns:a="http://schemas.openxmlformats.org/drawingml/2006/main">
              <a:ext uri="{FF2B5EF4-FFF2-40B4-BE49-F238E27FC236}">
                <a16:creationId xmlns:a16="http://schemas.microsoft.com/office/drawing/2014/main" id="{A86E58ED-1268-4052-97F5-39183E7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설명만으로 부족할 때 입력과 원하는 결과를 함께 준다.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5E26C431-7A1C-478A-B402-DA4746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430968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3/8 · Output format">
            <a:extLst xmlns:a="http://schemas.openxmlformats.org/drawingml/2006/main">
              <a:ext uri="{FF2B5EF4-FFF2-40B4-BE49-F238E27FC236}">
                <a16:creationId xmlns:a16="http://schemas.microsoft.com/office/drawing/2014/main" id="{02C83E22-EB9D-42B3-BBE2-6C97713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3/8 · Output format</a:t>
            </a:r>
          </a:p>
        </p:txBody>
      </p:sp>
      <p:sp>
        <p:nvSpPr>
          <p:cNvPr id="2" name="S24">
            <a:extLst xmlns:a="http://schemas.openxmlformats.org/drawingml/2006/main">
              <a:ext uri="{FF2B5EF4-FFF2-40B4-BE49-F238E27FC236}">
                <a16:creationId xmlns:a16="http://schemas.microsoft.com/office/drawing/2014/main" id="{1693CC74-9173-4307-9283-5CB2189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S24</a:t>
            </a:r>
          </a:p>
        </p:txBody>
      </p:sp>
      <p:sp>
        <p:nvSpPr>
          <p:cNvPr id="3" name="바로 검토할 수 있는 결과 형식">
            <a:extLst xmlns:a="http://schemas.openxmlformats.org/drawingml/2006/main">
              <a:ext uri="{FF2B5EF4-FFF2-40B4-BE49-F238E27FC236}">
                <a16:creationId xmlns:a16="http://schemas.microsoft.com/office/drawing/2014/main" id="{A99ADB39-1761-4410-A195-B9AD6DBB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바로 검토할 수 있는 결과 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AB4B2-C208-49C4-9BA0-1C424A7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Prompting / Structured model outputs · 출력 형식·내용 오류 구분">
            <a:extLst xmlns:a="http://schemas.openxmlformats.org/drawingml/2006/main">
              <a:ext uri="{FF2B5EF4-FFF2-40B4-BE49-F238E27FC236}">
                <a16:creationId xmlns:a16="http://schemas.microsoft.com/office/drawing/2014/main" id="{26AA4519-C22B-45A4-B987-E1B0C972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Prompting / Structured model outputs · 출력 형식·내용 오류 구분 · 2026-10-21</a:t>
            </a:r>
          </a:p>
        </p:txBody>
      </p:sp>
      <p:sp>
        <p:nvSpPr>
          <p:cNvPr id="6" name="형식이 맞아도 내용은 확인해야 합니다. 채팅의 형식 요청은 API Structured Outputs와 별개입">
            <a:extLst xmlns:a="http://schemas.openxmlformats.org/drawingml/2006/main">
              <a:ext uri="{FF2B5EF4-FFF2-40B4-BE49-F238E27FC236}">
                <a16:creationId xmlns:a16="http://schemas.microsoft.com/office/drawing/2014/main" id="{7C509FDD-528F-4959-B4C0-07F71655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형식이 맞아도 내용은 확인해야 합니다. 채팅의 형식 요청은 API Structured Outputs와 별개입니다.</a:t>
            </a:r>
          </a:p>
        </p:txBody>
      </p:sp>
      <p:sp>
        <p:nvSpPr>
          <p:cNvPr id="7" name="언제  장황한 답을 다시 가공하게 될 때">
            <a:extLst xmlns:a="http://schemas.openxmlformats.org/drawingml/2006/main">
              <a:ext uri="{FF2B5EF4-FFF2-40B4-BE49-F238E27FC236}">
                <a16:creationId xmlns:a16="http://schemas.microsoft.com/office/drawing/2014/main" id="{D12C59EE-CC9C-4836-AC47-9CEC27D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장황한 답을 다시 가공하게 될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53D8E-D877-475E-8453-70C3DA8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A48D1FAE-CAB5-47A1-96E2-5C92285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82404-7FCE-44D0-B539-FF22388C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crop 수정 결과를 다음 순서로 보고해줘.&#10;1. 변경 파일과 바꾼 이유&#10;2. 실제 실행한 확인 명령과 결과">
            <a:extLst xmlns:a="http://schemas.openxmlformats.org/drawingml/2006/main">
              <a:ext uri="{FF2B5EF4-FFF2-40B4-BE49-F238E27FC236}">
                <a16:creationId xmlns:a16="http://schemas.microsoft.com/office/drawing/2014/main" id="{48929AE6-C769-4A8C-BDA9-330BFA3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수정 결과를 다음 순서로 보고해줘.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1. 변경 파일과 바꾼 이유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2. 실제 실행한 확인 명령과 결과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3. 실행하지 못한 확인과 이유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4. 남은 위험과 확인이 필요한 결정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각 항목은 두 문장 이내로 써줘.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실행하지 않은 검사를 통과로 쓰지 마.</a:t>
            </a:r>
          </a:p>
        </p:txBody>
      </p:sp>
      <p:sp>
        <p:nvSpPr>
          <p:cNvPr id="12" name="보고할 순서">
            <a:extLst xmlns:a="http://schemas.openxmlformats.org/drawingml/2006/main">
              <a:ext uri="{FF2B5EF4-FFF2-40B4-BE49-F238E27FC236}">
                <a16:creationId xmlns:a16="http://schemas.microsoft.com/office/drawing/2014/main" id="{D089D843-8194-4CE2-8910-1A4A4AC3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보고할 순서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6573A-19E6-450C-BF6D-6E2D1B3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변경 내용&#10;실행한 확인&#10;미확인·남은 결정">
            <a:extLst xmlns:a="http://schemas.openxmlformats.org/drawingml/2006/main">
              <a:ext uri="{FF2B5EF4-FFF2-40B4-BE49-F238E27FC236}">
                <a16:creationId xmlns:a16="http://schemas.microsoft.com/office/drawing/2014/main" id="{698EF2E2-A956-4FD4-B19F-2E94AB13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변경 내용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실행한 확인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미확인·남은 결정</a:t>
            </a:r>
          </a:p>
        </p:txBody>
      </p:sp>
      <p:sp>
        <p:nvSpPr>
          <p:cNvPr id="15" name="사용할 곳">
            <a:extLst xmlns:a="http://schemas.openxmlformats.org/drawingml/2006/main">
              <a:ext uri="{FF2B5EF4-FFF2-40B4-BE49-F238E27FC236}">
                <a16:creationId xmlns:a16="http://schemas.microsoft.com/office/drawing/2014/main" id="{85458327-0AE2-49C0-A4A4-0736111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사용할 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21AB7-63E7-4439-8DA0-E422EE40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검토·회의·인계&#10;필요한 형태를 지정">
            <a:extLst xmlns:a="http://schemas.openxmlformats.org/drawingml/2006/main">
              <a:ext uri="{FF2B5EF4-FFF2-40B4-BE49-F238E27FC236}">
                <a16:creationId xmlns:a16="http://schemas.microsoft.com/office/drawing/2014/main" id="{AD74FA5D-0E11-4BCC-895C-03E0F75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검토·회의·인계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필요한 형태를 지정</a:t>
            </a:r>
          </a:p>
        </p:txBody>
      </p:sp>
      <p:sp>
        <p:nvSpPr>
          <p:cNvPr id="18" name="받고 싶은 항목과 길이를 요청에 적는다.">
            <a:extLst xmlns:a="http://schemas.openxmlformats.org/drawingml/2006/main">
              <a:ext uri="{FF2B5EF4-FFF2-40B4-BE49-F238E27FC236}">
                <a16:creationId xmlns:a16="http://schemas.microsoft.com/office/drawing/2014/main" id="{1053A56B-9375-41E0-A148-D7420AA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받고 싶은 항목과 길이를 요청에 적는다.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5B29AAB2-52D9-4639-9C07-C57E41A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745424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4/8 · Grounding">
            <a:extLst xmlns:a="http://schemas.openxmlformats.org/drawingml/2006/main">
              <a:ext uri="{FF2B5EF4-FFF2-40B4-BE49-F238E27FC236}">
                <a16:creationId xmlns:a16="http://schemas.microsoft.com/office/drawing/2014/main" id="{7DE193C7-6CBA-4636-9705-AC0D772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4/8 · Grounding</a:t>
            </a:r>
          </a:p>
        </p:txBody>
      </p:sp>
      <p:sp>
        <p:nvSpPr>
          <p:cNvPr id="2" name="S25">
            <a:extLst xmlns:a="http://schemas.openxmlformats.org/drawingml/2006/main">
              <a:ext uri="{FF2B5EF4-FFF2-40B4-BE49-F238E27FC236}">
                <a16:creationId xmlns:a16="http://schemas.microsoft.com/office/drawing/2014/main" id="{797081B8-C000-439E-A940-7C245EB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S25</a:t>
            </a:r>
          </a:p>
        </p:txBody>
      </p:sp>
      <p:sp>
        <p:nvSpPr>
          <p:cNvPr id="3" name="근거가 있는 설명과 미확인의 구분">
            <a:extLst xmlns:a="http://schemas.openxmlformats.org/drawingml/2006/main">
              <a:ext uri="{FF2B5EF4-FFF2-40B4-BE49-F238E27FC236}">
                <a16:creationId xmlns:a16="http://schemas.microsoft.com/office/drawing/2014/main" id="{7FB599FD-52CF-4E1D-AF36-9A241E2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근거가 있는 설명과 미확인의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22B8E-332B-4F3B-BC30-F2D9EF81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Prompt engineering / Prompting · 관련 자료·출처·불확실성 · 2026">
            <a:extLst xmlns:a="http://schemas.openxmlformats.org/drawingml/2006/main">
              <a:ext uri="{FF2B5EF4-FFF2-40B4-BE49-F238E27FC236}">
                <a16:creationId xmlns:a16="http://schemas.microsoft.com/office/drawing/2014/main" id="{5961053A-6BAD-4EC8-9CB0-2436BD0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Prompt engineering / Prompting · 관련 자료·출처·불확실성 · 2026-10-21</a:t>
            </a:r>
          </a:p>
        </p:txBody>
      </p:sp>
      <p:sp>
        <p:nvSpPr>
          <p:cNvPr id="6" name="파일·줄 인용도 실제 내용과 대조합니다. 인용이 있다는 사실만으로 정확성이 보장되지는 않습니다.">
            <a:extLst xmlns:a="http://schemas.openxmlformats.org/drawingml/2006/main">
              <a:ext uri="{FF2B5EF4-FFF2-40B4-BE49-F238E27FC236}">
                <a16:creationId xmlns:a16="http://schemas.microsoft.com/office/drawing/2014/main" id="{A363FA8C-9297-4BFB-B1F1-4B30A444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파일·줄 인용도 실제 내용과 대조합니다. 인용이 있다는 사실만으로 정확성이 보장되지는 않습니다.</a:t>
            </a:r>
          </a:p>
        </p:txBody>
      </p:sp>
      <p:sp>
        <p:nvSpPr>
          <p:cNvPr id="7" name="언제  저장소 설명의 출처를 확인해야 할 때">
            <a:extLst xmlns:a="http://schemas.openxmlformats.org/drawingml/2006/main">
              <a:ext uri="{FF2B5EF4-FFF2-40B4-BE49-F238E27FC236}">
                <a16:creationId xmlns:a16="http://schemas.microsoft.com/office/drawing/2014/main" id="{1CD0A564-ABAD-4CD8-AFC6-4A72F54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저장소 설명의 출처를 확인해야 할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61627-81FB-4617-9B30-14869AC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F6994081-98E9-4A87-ABCA-D683419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C1F4B-807F-43A8-9694-6FBD4A92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crop의 명세·구현·테스트를 찾아 비교해줘.&#10;결론마다 실제 파일·함수·줄을 붙여줘.&#10;다음 세 상태를 구분해">
            <a:extLst xmlns:a="http://schemas.openxmlformats.org/drawingml/2006/main">
              <a:ext uri="{FF2B5EF4-FFF2-40B4-BE49-F238E27FC236}">
                <a16:creationId xmlns:a16="http://schemas.microsoft.com/office/drawing/2014/main" id="{4A3F58CD-E8F7-4B34-8F9E-45F69267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crop의 명세·구현·테스트를 찾아 비교해줘.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결론마다 실제 파일·함수·줄을 붙여줘.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세 상태를 구분해줘.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자료에서 확인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코드로부터 추정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아직 미확인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근거가 충돌하면 차이를 먼저 알려줘.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찾지 못한 정책은 관례로 채우지 마.</a:t>
            </a:r>
          </a:p>
        </p:txBody>
      </p:sp>
      <p:sp>
        <p:nvSpPr>
          <p:cNvPr id="12" name="받아야 할 연결">
            <a:extLst xmlns:a="http://schemas.openxmlformats.org/drawingml/2006/main">
              <a:ext uri="{FF2B5EF4-FFF2-40B4-BE49-F238E27FC236}">
                <a16:creationId xmlns:a16="http://schemas.microsoft.com/office/drawing/2014/main" id="{ACB4DD96-0F48-47CB-9E45-761BD414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받아야 할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A7613-314D-4BEE-9ED5-6AF5AFB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주장과 자료 위치&#10;확인과 추정의 구분">
            <a:extLst xmlns:a="http://schemas.openxmlformats.org/drawingml/2006/main">
              <a:ext uri="{FF2B5EF4-FFF2-40B4-BE49-F238E27FC236}">
                <a16:creationId xmlns:a16="http://schemas.microsoft.com/office/drawing/2014/main" id="{44D7D82B-373F-47A5-851B-7983ABD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주장과 자료 위치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확인과 추정의 구분</a:t>
            </a:r>
          </a:p>
        </p:txBody>
      </p:sp>
      <p:sp>
        <p:nvSpPr>
          <p:cNvPr id="15" name="다시 확인할 것">
            <a:extLst xmlns:a="http://schemas.openxmlformats.org/drawingml/2006/main">
              <a:ext uri="{FF2B5EF4-FFF2-40B4-BE49-F238E27FC236}">
                <a16:creationId xmlns:a16="http://schemas.microsoft.com/office/drawing/2014/main" id="{5FB3EC4D-658B-4F54-97D5-A06E298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다시 확인할 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461B1-0F5F-4D72-9814-8148E877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인용한 위치에&#10;실제 근거가 있나?">
            <a:extLst xmlns:a="http://schemas.openxmlformats.org/drawingml/2006/main">
              <a:ext uri="{FF2B5EF4-FFF2-40B4-BE49-F238E27FC236}">
                <a16:creationId xmlns:a16="http://schemas.microsoft.com/office/drawing/2014/main" id="{3B63E3DC-17FF-4EAB-8407-006D464B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인용한 위치에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 근거가 있나?</a:t>
            </a:r>
          </a:p>
        </p:txBody>
      </p:sp>
      <p:sp>
        <p:nvSpPr>
          <p:cNvPr id="18" name="결론에 자료 위치를 붙이고, 확인하지 못한 것은 남긴다.">
            <a:extLst xmlns:a="http://schemas.openxmlformats.org/drawingml/2006/main">
              <a:ext uri="{FF2B5EF4-FFF2-40B4-BE49-F238E27FC236}">
                <a16:creationId xmlns:a16="http://schemas.microsoft.com/office/drawing/2014/main" id="{828EA0EE-7FCC-41A6-ABA3-AB015A8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결론에 자료 위치를 붙이고, 확인하지 못한 것은 남긴다.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05D5086B-CBF4-4179-9E78-85A75F9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396230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5/8 · Clarification">
            <a:extLst xmlns:a="http://schemas.openxmlformats.org/drawingml/2006/main">
              <a:ext uri="{FF2B5EF4-FFF2-40B4-BE49-F238E27FC236}">
                <a16:creationId xmlns:a16="http://schemas.microsoft.com/office/drawing/2014/main" id="{FC8CA43E-4E3C-4DF1-82B8-2945B4B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5/8 · Clarification</a:t>
            </a:r>
          </a:p>
        </p:txBody>
      </p:sp>
      <p:sp>
        <p:nvSpPr>
          <p:cNvPr id="2" name="S26">
            <a:extLst xmlns:a="http://schemas.openxmlformats.org/drawingml/2006/main">
              <a:ext uri="{FF2B5EF4-FFF2-40B4-BE49-F238E27FC236}">
                <a16:creationId xmlns:a16="http://schemas.microsoft.com/office/drawing/2014/main" id="{D30D943D-4D79-4284-A85B-4859B70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S26</a:t>
            </a:r>
          </a:p>
        </p:txBody>
      </p:sp>
      <p:sp>
        <p:nvSpPr>
          <p:cNvPr id="3" name="결과를 바꾸는 결정에서 확인 질문">
            <a:extLst xmlns:a="http://schemas.openxmlformats.org/drawingml/2006/main">
              <a:ext uri="{FF2B5EF4-FFF2-40B4-BE49-F238E27FC236}">
                <a16:creationId xmlns:a16="http://schemas.microsoft.com/office/drawing/2014/main" id="{01088F3A-95AE-49F9-AFAA-0E2FA70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결과를 바꾸는 결정에서 확인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C0AD5-12BC-4947-9CBF-61BEE70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Best practices · Plan first / Prompting · Boundaries ">
            <a:extLst xmlns:a="http://schemas.openxmlformats.org/drawingml/2006/main">
              <a:ext uri="{FF2B5EF4-FFF2-40B4-BE49-F238E27FC236}">
                <a16:creationId xmlns:a16="http://schemas.microsoft.com/office/drawing/2014/main" id="{41DE3746-505C-4763-8633-7859271A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Best practices · Plan first / Prompting · Boundaries · 2026-10-21</a:t>
            </a:r>
          </a:p>
        </p:txBody>
      </p:sp>
      <p:sp>
        <p:nvSpPr>
          <p:cNvPr id="6" name="모든 세부를 질문으로 돌리지 않습니다. 답에 따라 결과가 달라지는 선택에 집중합니다.">
            <a:extLst xmlns:a="http://schemas.openxmlformats.org/drawingml/2006/main">
              <a:ext uri="{FF2B5EF4-FFF2-40B4-BE49-F238E27FC236}">
                <a16:creationId xmlns:a16="http://schemas.microsoft.com/office/drawing/2014/main" id="{BCAB0267-FB58-495B-BAE2-A9A1B1B8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모든 세부를 질문으로 돌리지 않습니다. 답에 따라 결과가 달라지는 선택에 집중합니다.</a:t>
            </a:r>
          </a:p>
        </p:txBody>
      </p:sp>
      <p:sp>
        <p:nvSpPr>
          <p:cNvPr id="7" name="언제  정책을 사람이 선택해야 할 때">
            <a:extLst xmlns:a="http://schemas.openxmlformats.org/drawingml/2006/main">
              <a:ext uri="{FF2B5EF4-FFF2-40B4-BE49-F238E27FC236}">
                <a16:creationId xmlns:a16="http://schemas.microsoft.com/office/drawing/2014/main" id="{D24DA0AE-A1A3-404D-89CB-1953433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정책을 사람이 선택해야 할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9EF9C-96D6-4BC4-B5C8-E32A6FF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B13B18C2-BD06-4C96-8C45-C9E99657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BA509-FB71-45B1-A1E4-03E4116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빈 crop 범위의 처리 정책을 조사해줘.&#10;문서·테스트·호출부의 근거를 먼저 찾아줘.&#10;근거 없이 빈 결과와 ">
            <a:extLst xmlns:a="http://schemas.openxmlformats.org/drawingml/2006/main">
              <a:ext uri="{FF2B5EF4-FFF2-40B4-BE49-F238E27FC236}">
                <a16:creationId xmlns:a16="http://schemas.microsoft.com/office/drawing/2014/main" id="{0A65C879-943A-49A0-A190-8E8A6584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빈 crop 범위의 처리 정책을 조사해줘.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문서·테스트·호출부의 근거를 먼저 찾아줘.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 없이 빈 결과와 오류 중 골라야 하면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각 선택의 영향을 적고 질문해줘.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그 결정에 의존하는 수정은 답변 뒤 진행해줘.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그 선택과 무관한 조사는 계속해줘.</a:t>
            </a:r>
          </a:p>
        </p:txBody>
      </p:sp>
      <p:sp>
        <p:nvSpPr>
          <p:cNvPr id="12" name="저장소에 답이 있다">
            <a:extLst xmlns:a="http://schemas.openxmlformats.org/drawingml/2006/main">
              <a:ext uri="{FF2B5EF4-FFF2-40B4-BE49-F238E27FC236}">
                <a16:creationId xmlns:a16="http://schemas.microsoft.com/office/drawing/2014/main" id="{57D8AE23-CB5A-482D-A0B6-8FEAB75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저장소에 답이 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6A8A4-BE38-4621-9182-E4920330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조사하고&#10;근거를 보고">
            <a:extLst xmlns:a="http://schemas.openxmlformats.org/drawingml/2006/main">
              <a:ext uri="{FF2B5EF4-FFF2-40B4-BE49-F238E27FC236}">
                <a16:creationId xmlns:a16="http://schemas.microsoft.com/office/drawing/2014/main" id="{B7136734-075A-4E40-9CA7-72B02C35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조사하고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근거를 보고</a:t>
            </a:r>
          </a:p>
        </p:txBody>
      </p:sp>
      <p:sp>
        <p:nvSpPr>
          <p:cNvPr id="15" name="정책 선택이 남았다">
            <a:extLst xmlns:a="http://schemas.openxmlformats.org/drawingml/2006/main">
              <a:ext uri="{FF2B5EF4-FFF2-40B4-BE49-F238E27FC236}">
                <a16:creationId xmlns:a16="http://schemas.microsoft.com/office/drawing/2014/main" id="{1BDE1006-6955-4F44-ACD9-DBE6004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정책 선택이 남았다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1D7BA-5350-466E-9A3C-CD8780A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영향을 설명하고&#10;사람에게 질문">
            <a:extLst xmlns:a="http://schemas.openxmlformats.org/drawingml/2006/main">
              <a:ext uri="{FF2B5EF4-FFF2-40B4-BE49-F238E27FC236}">
                <a16:creationId xmlns:a16="http://schemas.microsoft.com/office/drawing/2014/main" id="{702132AD-E3E4-4770-97FF-62773619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영향을 설명하고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사람에게 질문</a:t>
            </a:r>
          </a:p>
        </p:txBody>
      </p:sp>
      <p:sp>
        <p:nvSpPr>
          <p:cNvPr id="18" name="조사할 사실과 답을 받아야 할 결정을 구분한다.">
            <a:extLst xmlns:a="http://schemas.openxmlformats.org/drawingml/2006/main">
              <a:ext uri="{FF2B5EF4-FFF2-40B4-BE49-F238E27FC236}">
                <a16:creationId xmlns:a16="http://schemas.microsoft.com/office/drawing/2014/main" id="{7BB452E3-894A-4940-A050-DCC825E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조사할 사실과 답을 받아야 할 결정을 구분한다.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AFA7003C-63BB-4CA8-800C-91C06F8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965413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6/8 · Task decomposition">
            <a:extLst xmlns:a="http://schemas.openxmlformats.org/drawingml/2006/main">
              <a:ext uri="{FF2B5EF4-FFF2-40B4-BE49-F238E27FC236}">
                <a16:creationId xmlns:a16="http://schemas.microsoft.com/office/drawing/2014/main" id="{5475BC4F-EAE4-406D-AD60-94554B8B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6/8 · Task decomposition</a:t>
            </a:r>
          </a:p>
        </p:txBody>
      </p:sp>
      <p:sp>
        <p:nvSpPr>
          <p:cNvPr id="2" name="S27">
            <a:extLst xmlns:a="http://schemas.openxmlformats.org/drawingml/2006/main">
              <a:ext uri="{FF2B5EF4-FFF2-40B4-BE49-F238E27FC236}">
                <a16:creationId xmlns:a16="http://schemas.microsoft.com/office/drawing/2014/main" id="{75BE5E77-C8FC-4523-9225-C6A43A7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S27</a:t>
            </a:r>
          </a:p>
        </p:txBody>
      </p:sp>
      <p:sp>
        <p:nvSpPr>
          <p:cNvPr id="3" name="큰 작업을 검토할 결과물로 나누기">
            <a:extLst xmlns:a="http://schemas.openxmlformats.org/drawingml/2006/main">
              <a:ext uri="{FF2B5EF4-FFF2-40B4-BE49-F238E27FC236}">
                <a16:creationId xmlns:a16="http://schemas.microsoft.com/office/drawing/2014/main" id="{59BF6EE5-47BD-4F92-AFF0-CC89DD79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큰 작업을 검토할 결과물로 나누기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55274-A311-4803-8D07-F97192F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Best practices · Plan first for difficult tasks · 202">
            <a:extLst xmlns:a="http://schemas.openxmlformats.org/drawingml/2006/main">
              <a:ext uri="{FF2B5EF4-FFF2-40B4-BE49-F238E27FC236}">
                <a16:creationId xmlns:a16="http://schemas.microsoft.com/office/drawing/2014/main" id="{0724217F-7D34-4702-ADB9-0CD930E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Best practices · Plan first for difficult tasks · 2026-10-21 확인</a:t>
            </a:r>
          </a:p>
        </p:txBody>
      </p:sp>
      <p:sp>
        <p:nvSpPr>
          <p:cNvPr id="6" name="단계는 작업·산출물의 경계입니다. 숨은 사고 과정을 길게 출력하라는 요청이 아닙니다.">
            <a:extLst xmlns:a="http://schemas.openxmlformats.org/drawingml/2006/main">
              <a:ext uri="{FF2B5EF4-FFF2-40B4-BE49-F238E27FC236}">
                <a16:creationId xmlns:a16="http://schemas.microsoft.com/office/drawing/2014/main" id="{5F05DE00-4E04-4C91-875F-C754E53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단계는 작업·산출물의 경계입니다. 숨은 사고 과정을 길게 출력하라는 요청이 아닙니다.</a:t>
            </a:r>
          </a:p>
        </p:txBody>
      </p:sp>
      <p:sp>
        <p:nvSpPr>
          <p:cNvPr id="7" name="언제  조사 결과에 따라 구현 범위가 달라질 때">
            <a:extLst xmlns:a="http://schemas.openxmlformats.org/drawingml/2006/main">
              <a:ext uri="{FF2B5EF4-FFF2-40B4-BE49-F238E27FC236}">
                <a16:creationId xmlns:a16="http://schemas.microsoft.com/office/drawing/2014/main" id="{DD80F2E1-24C8-42A7-9041-9D4DDB9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조사 결과에 따라 구현 범위가 달라질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54A8B-E87B-4622-A3C5-B29B5BA3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502E1933-5EA1-4E64-81C3-3F16A1A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9FFA4-4CD5-4CCC-AD93-301C05D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검사 pipeline에 ROI 설정을 연결하려 한다.&#10;이번에는 설정 입력에서 crop까지의 경로만&#10;조사하고,">
            <a:extLst xmlns:a="http://schemas.openxmlformats.org/drawingml/2006/main">
              <a:ext uri="{FF2B5EF4-FFF2-40B4-BE49-F238E27FC236}">
                <a16:creationId xmlns:a16="http://schemas.microsoft.com/office/drawing/2014/main" id="{2BA3C1AC-88A4-4CED-9744-EE9B3505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검사 pipeline에 ROI 설정을 연결하려 한다.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이번에는 설정 입력에서 crop까지의 경로만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조사하고, 변경 후보·미확인을 표로 정리해줘.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코드는 아직 수정하지 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그 결과를 보고 다음 요청에서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파싱·유효성 확인 구현 범위를 정하겠다.</a:t>
            </a:r>
          </a:p>
        </p:txBody>
      </p:sp>
      <p:sp>
        <p:nvSpPr>
          <p:cNvPr id="12" name="첫 요청의 결과">
            <a:extLst xmlns:a="http://schemas.openxmlformats.org/drawingml/2006/main">
              <a:ext uri="{FF2B5EF4-FFF2-40B4-BE49-F238E27FC236}">
                <a16:creationId xmlns:a16="http://schemas.microsoft.com/office/drawing/2014/main" id="{10133943-8CE6-44AE-96A9-91035529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첫 요청의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D0D0A-0EDB-4E4F-923B-DEF36EEF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현재 전달 경로&#10;변경 후보·미확인">
            <a:extLst xmlns:a="http://schemas.openxmlformats.org/drawingml/2006/main">
              <a:ext uri="{FF2B5EF4-FFF2-40B4-BE49-F238E27FC236}">
                <a16:creationId xmlns:a16="http://schemas.microsoft.com/office/drawing/2014/main" id="{9BA29AC5-3A00-48C8-ADFC-3C9D669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현재 전달 경로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변경 후보·미확인</a:t>
            </a:r>
          </a:p>
        </p:txBody>
      </p:sp>
      <p:sp>
        <p:nvSpPr>
          <p:cNvPr id="15" name="다음 요청의 범위">
            <a:extLst xmlns:a="http://schemas.openxmlformats.org/drawingml/2006/main">
              <a:ext uri="{FF2B5EF4-FFF2-40B4-BE49-F238E27FC236}">
                <a16:creationId xmlns:a16="http://schemas.microsoft.com/office/drawing/2014/main" id="{74D9B915-8CF9-432E-8672-7667670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다음 요청의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AAB07-6D0E-4CF0-A9D8-E002AE29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선택한 경로에서&#10;한 부분만 구현">
            <a:extLst xmlns:a="http://schemas.openxmlformats.org/drawingml/2006/main">
              <a:ext uri="{FF2B5EF4-FFF2-40B4-BE49-F238E27FC236}">
                <a16:creationId xmlns:a16="http://schemas.microsoft.com/office/drawing/2014/main" id="{8BB5B552-CC8C-4566-A491-5255A65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선택한 경로에서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한 부분만 구현</a:t>
            </a:r>
          </a:p>
        </p:txBody>
      </p:sp>
      <p:sp>
        <p:nvSpPr>
          <p:cNvPr id="18" name="다음 결정을 할 수 있는 작은 결과부터 요청한다.">
            <a:extLst xmlns:a="http://schemas.openxmlformats.org/drawingml/2006/main">
              <a:ext uri="{FF2B5EF4-FFF2-40B4-BE49-F238E27FC236}">
                <a16:creationId xmlns:a16="http://schemas.microsoft.com/office/drawing/2014/main" id="{8B6A0A7E-D1A0-4A2F-95AC-268D6A1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다음 결정을 할 수 있는 작은 결과부터 요청한다.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4B2C9575-638E-49A8-A0A5-74D46C4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635273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7/8 · Criteria-focused review">
            <a:extLst xmlns:a="http://schemas.openxmlformats.org/drawingml/2006/main">
              <a:ext uri="{FF2B5EF4-FFF2-40B4-BE49-F238E27FC236}">
                <a16:creationId xmlns:a16="http://schemas.microsoft.com/office/drawing/2014/main" id="{A7D8C60B-C0E4-4220-8A9C-32E93E4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7/8 · Criteria-focused review</a:t>
            </a:r>
          </a:p>
        </p:txBody>
      </p:sp>
      <p:sp>
        <p:nvSpPr>
          <p:cNvPr id="2" name="S28">
            <a:extLst xmlns:a="http://schemas.openxmlformats.org/drawingml/2006/main">
              <a:ext uri="{FF2B5EF4-FFF2-40B4-BE49-F238E27FC236}">
                <a16:creationId xmlns:a16="http://schemas.microsoft.com/office/drawing/2014/main" id="{45A09C0E-95BF-4762-831F-7EC238E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S28</a:t>
            </a:r>
          </a:p>
        </p:txBody>
      </p:sp>
      <p:sp>
        <p:nvSpPr>
          <p:cNvPr id="3" name="기준을 지정한 코드 리뷰 요청">
            <a:extLst xmlns:a="http://schemas.openxmlformats.org/drawingml/2006/main">
              <a:ext uri="{FF2B5EF4-FFF2-40B4-BE49-F238E27FC236}">
                <a16:creationId xmlns:a16="http://schemas.microsoft.com/office/drawing/2014/main" id="{D7F7553D-8BB3-42F2-A826-0FD54ACD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기준을 지정한 코드 리뷰 요청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6170-618B-4A54-9714-2E40324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Best practices · Testing and review / Prompting · Cus">
            <a:extLst xmlns:a="http://schemas.openxmlformats.org/drawingml/2006/main">
              <a:ext uri="{FF2B5EF4-FFF2-40B4-BE49-F238E27FC236}">
                <a16:creationId xmlns:a16="http://schemas.microsoft.com/office/drawing/2014/main" id="{586EF328-830F-4DA5-BBD6-BB59B3D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Best practices · Testing and review / Prompting · Custom focus · 2026-10-21</a:t>
            </a:r>
          </a:p>
        </p:txBody>
      </p:sp>
      <p:sp>
        <p:nvSpPr>
          <p:cNvPr id="6" name="리뷰 답변도 누락할 수 있습니다. 필요한 실행 확인·변경 검토·사람의 완료 판단을 함께 사용합니다.">
            <a:extLst xmlns:a="http://schemas.openxmlformats.org/drawingml/2006/main">
              <a:ext uri="{FF2B5EF4-FFF2-40B4-BE49-F238E27FC236}">
                <a16:creationId xmlns:a16="http://schemas.microsoft.com/office/drawing/2014/main" id="{2E84ECDF-C0CF-4D55-82A7-66FD06EA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리뷰 답변도 누락할 수 있습니다. 필요한 실행 확인·변경 검토·사람의 완료 판단을 함께 사용합니다.</a:t>
            </a:r>
          </a:p>
        </p:txBody>
      </p:sp>
      <p:sp>
        <p:nvSpPr>
          <p:cNvPr id="7" name="언제  “검토해줘”의 범위를 분명히 할 때">
            <a:extLst xmlns:a="http://schemas.openxmlformats.org/drawingml/2006/main">
              <a:ext uri="{FF2B5EF4-FFF2-40B4-BE49-F238E27FC236}">
                <a16:creationId xmlns:a16="http://schemas.microsoft.com/office/drawing/2014/main" id="{34B967B4-81B2-4F40-A268-DED672A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“검토해줘”의 범위를 분명히 할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3A6EC-E56E-45E1-B26D-43FD3F7D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2B02A05E-32DA-4E08-B074-4B27A3DD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8FB9A-9165-4985-96DB-A2DFBD6B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crop 변경안을 코드 리뷰 관점에서 봐줘.&#10;검토 기준은 다음과 같아.&#10;1. 끝 좌표 제외 명세 보존&#10;2. ">
            <a:extLst xmlns:a="http://schemas.openxmlformats.org/drawingml/2006/main">
              <a:ext uri="{FF2B5EF4-FFF2-40B4-BE49-F238E27FC236}">
                <a16:creationId xmlns:a16="http://schemas.microsoft.com/office/drawing/2014/main" id="{48D0FCE2-D524-474A-A598-A3F0C08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변경안을 코드 리뷰 관점에서 봐줘.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 기준은 다음과 같아.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1. 끝 좌표 제외 명세 보존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2. 공개 API와 기존 오류 정책 보존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3. 요청과 무관한 변경 없음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위반마다 위치·근거·영향·수정 제안을 써줘.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자료로 판단 못 하면 미확인으로 남겨줘.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이번 요청에서는 코드를 바꾸지 마.</a:t>
            </a:r>
          </a:p>
        </p:txBody>
      </p:sp>
      <p:sp>
        <p:nvSpPr>
          <p:cNvPr id="12" name="역할은 검토 관점">
            <a:extLst xmlns:a="http://schemas.openxmlformats.org/drawingml/2006/main">
              <a:ext uri="{FF2B5EF4-FFF2-40B4-BE49-F238E27FC236}">
                <a16:creationId xmlns:a16="http://schemas.microsoft.com/office/drawing/2014/main" id="{5E241A7C-0142-4C7A-AD60-18E8625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역할은 검토 관점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512FE-5547-420E-93A3-BBD666C9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검토할 문제를&#10;구체적으로 지정">
            <a:extLst xmlns:a="http://schemas.openxmlformats.org/drawingml/2006/main">
              <a:ext uri="{FF2B5EF4-FFF2-40B4-BE49-F238E27FC236}">
                <a16:creationId xmlns:a16="http://schemas.microsoft.com/office/drawing/2014/main" id="{48D7AB8E-0AEC-47AB-B7C0-C9B19365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검토할 문제를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구체적으로 지정</a:t>
            </a:r>
          </a:p>
        </p:txBody>
      </p:sp>
      <p:sp>
        <p:nvSpPr>
          <p:cNvPr id="15" name="리뷰 항목의 형태">
            <a:extLst xmlns:a="http://schemas.openxmlformats.org/drawingml/2006/main">
              <a:ext uri="{FF2B5EF4-FFF2-40B4-BE49-F238E27FC236}">
                <a16:creationId xmlns:a16="http://schemas.microsoft.com/office/drawing/2014/main" id="{43D4B1DB-5AC9-4635-8E26-F8E34EF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리뷰 항목의 형태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D1254-D630-4FB0-880C-30C7C5A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위치·기준·영향&#10;수정 제안과 근거">
            <a:extLst xmlns:a="http://schemas.openxmlformats.org/drawingml/2006/main">
              <a:ext uri="{FF2B5EF4-FFF2-40B4-BE49-F238E27FC236}">
                <a16:creationId xmlns:a16="http://schemas.microsoft.com/office/drawing/2014/main" id="{407F5C42-8FBA-4122-8363-53EFC1E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위치·기준·영향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 제안과 근거</a:t>
            </a:r>
          </a:p>
        </p:txBody>
      </p:sp>
      <p:sp>
        <p:nvSpPr>
          <p:cNvPr id="18" name="무엇을 찾을지와 어떤 근거로 보고할지를 지정한다.">
            <a:extLst xmlns:a="http://schemas.openxmlformats.org/drawingml/2006/main">
              <a:ext uri="{FF2B5EF4-FFF2-40B4-BE49-F238E27FC236}">
                <a16:creationId xmlns:a16="http://schemas.microsoft.com/office/drawing/2014/main" id="{F91CCB75-F5E8-4974-B79C-AAE94C9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무엇을 찾을지와 어떤 근거로 보고할지를 지정한다.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78B4B62B-C546-4831-B90A-CC0A7FB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820286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1 · 요청 문장 도구 8/8 · Iterative refinement">
            <a:extLst xmlns:a="http://schemas.openxmlformats.org/drawingml/2006/main">
              <a:ext uri="{FF2B5EF4-FFF2-40B4-BE49-F238E27FC236}">
                <a16:creationId xmlns:a16="http://schemas.microsoft.com/office/drawing/2014/main" id="{A9D64280-1E26-4E61-8387-4025B45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1 · 요청 문장 도구 8/8 · Iterative refinement</a:t>
            </a:r>
          </a:p>
        </p:txBody>
      </p:sp>
      <p:sp>
        <p:nvSpPr>
          <p:cNvPr id="2" name="S29">
            <a:extLst xmlns:a="http://schemas.openxmlformats.org/drawingml/2006/main">
              <a:ext uri="{FF2B5EF4-FFF2-40B4-BE49-F238E27FC236}">
                <a16:creationId xmlns:a16="http://schemas.microsoft.com/office/drawing/2014/main" id="{6E9BCB5A-E1C3-4B3C-98CE-51390FA2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S29</a:t>
            </a:r>
          </a:p>
        </p:txBody>
      </p:sp>
      <p:sp>
        <p:nvSpPr>
          <p:cNvPr id="3" name="구체적인 근거로 수정 방향 피드백">
            <a:extLst xmlns:a="http://schemas.openxmlformats.org/drawingml/2006/main">
              <a:ext uri="{FF2B5EF4-FFF2-40B4-BE49-F238E27FC236}">
                <a16:creationId xmlns:a16="http://schemas.microsoft.com/office/drawing/2014/main" id="{83222098-2531-4B66-9A78-DD03645C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구체적인 근거로 수정 방향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CD874-F735-4032-A028-6AC043CD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OpenAI Prompting · Improve the result with follow-up message">
            <a:extLst xmlns:a="http://schemas.openxmlformats.org/drawingml/2006/main">
              <a:ext uri="{FF2B5EF4-FFF2-40B4-BE49-F238E27FC236}">
                <a16:creationId xmlns:a16="http://schemas.microsoft.com/office/drawing/2014/main" id="{62385BC8-D620-4523-861E-2E9BE79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OpenAI Prompting · Improve the result with follow-up messages · 2026-10-21 확인</a:t>
            </a:r>
          </a:p>
        </p:txBody>
      </p:sp>
      <p:sp>
        <p:nvSpPr>
          <p:cNvPr id="6" name="앞선 제안은 가상 예시입니다. 원하는 답만 반복시키지 말고 명세와 실제 근거로 방향을 고칩니다.">
            <a:extLst xmlns:a="http://schemas.openxmlformats.org/drawingml/2006/main">
              <a:ext uri="{FF2B5EF4-FFF2-40B4-BE49-F238E27FC236}">
                <a16:creationId xmlns:a16="http://schemas.microsoft.com/office/drawing/2014/main" id="{48B772B9-74C5-48E2-A271-5DAEDE3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앞선 제안은 가상 예시입니다. 원하는 답만 반복시키지 말고 명세와 실제 근거로 방향을 고칩니다.</a:t>
            </a:r>
          </a:p>
        </p:txBody>
      </p:sp>
      <p:sp>
        <p:nvSpPr>
          <p:cNvPr id="7" name="언제  첫 제안의 일부가 의도와 다를 때">
            <a:extLst xmlns:a="http://schemas.openxmlformats.org/drawingml/2006/main">
              <a:ext uri="{FF2B5EF4-FFF2-40B4-BE49-F238E27FC236}">
                <a16:creationId xmlns:a16="http://schemas.microsoft.com/office/drawing/2014/main" id="{20B83CE6-18DB-4BD2-B64D-CF9280EA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언제  첫 제안의 일부가 의도와 다를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354D9-D6BB-4983-8EC4-F56E591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818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요청 예시 · 교육용 구성">
            <a:extLst xmlns:a="http://schemas.openxmlformats.org/drawingml/2006/main">
              <a:ext uri="{FF2B5EF4-FFF2-40B4-BE49-F238E27FC236}">
                <a16:creationId xmlns:a16="http://schemas.microsoft.com/office/drawing/2014/main" id="{916820E5-4F28-4E03-90B6-DD0A421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요청 예시 · 교육용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A0B38-5065-45BA-9746-9E0D6C1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앞선 “테스트 기대 폭을 3으로 바꾸자”는&#10;제안을 수정해줘. 원하는 명세는&#10;crop [1,3)에서 폭 2야.">
            <a:extLst xmlns:a="http://schemas.openxmlformats.org/drawingml/2006/main">
              <a:ext uri="{FF2B5EF4-FFF2-40B4-BE49-F238E27FC236}">
                <a16:creationId xmlns:a16="http://schemas.microsoft.com/office/drawing/2014/main" id="{A8A3E9ED-104C-4BBE-8418-EA79A43E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800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앞선 “테스트 기대 폭을 3으로 바꾸자”는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제안을 수정해줘. 원하는 명세는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crop [1,3)에서 폭 2야.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테스트 기대값은 유지하고,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구현의 끝 좌표 처리만 다시 검토해줘.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기존 API·의존성은 유지해줘.</a:t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바꾼 제안과 미확인 사항만 보고해줘.</a:t>
            </a:r>
          </a:p>
        </p:txBody>
      </p:sp>
      <p:sp>
        <p:nvSpPr>
          <p:cNvPr id="12" name="피드백에 담을 것">
            <a:extLst xmlns:a="http://schemas.openxmlformats.org/drawingml/2006/main">
              <a:ext uri="{FF2B5EF4-FFF2-40B4-BE49-F238E27FC236}">
                <a16:creationId xmlns:a16="http://schemas.microsoft.com/office/drawing/2014/main" id="{6F5A2CFA-CE01-483A-8BCD-19AEDFC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피드백에 담을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726C7-63EC-4F20-92E7-4139073D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틀린 지점과 근거&#10;원하는 변경&#10;유지할 조건">
            <a:extLst xmlns:a="http://schemas.openxmlformats.org/drawingml/2006/main">
              <a:ext uri="{FF2B5EF4-FFF2-40B4-BE49-F238E27FC236}">
                <a16:creationId xmlns:a16="http://schemas.microsoft.com/office/drawing/2014/main" id="{4F789E3F-C4C2-4B4D-ADF6-E9548C1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틀린 지점과 근거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원하는 변경</a:t>
            </a:r>
          </a:p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유지할 조건</a:t>
            </a:r>
          </a:p>
        </p:txBody>
      </p:sp>
      <p:sp>
        <p:nvSpPr>
          <p:cNvPr id="15" name="남는 질문">
            <a:extLst xmlns:a="http://schemas.openxmlformats.org/drawingml/2006/main">
              <a:ext uri="{FF2B5EF4-FFF2-40B4-BE49-F238E27FC236}">
                <a16:creationId xmlns:a16="http://schemas.microsoft.com/office/drawing/2014/main" id="{D0BCE06E-288E-4E8F-A3F0-4F77E56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남는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49F0E-D7B1-4820-BFEC-21047BB1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다음 작업에도&#10;같은 조건을 쓴다면?">
            <a:extLst xmlns:a="http://schemas.openxmlformats.org/drawingml/2006/main">
              <a:ext uri="{FF2B5EF4-FFF2-40B4-BE49-F238E27FC236}">
                <a16:creationId xmlns:a16="http://schemas.microsoft.com/office/drawing/2014/main" id="{6F952D0E-0810-4BA0-B080-4BC0058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8150"/>
            <a:ext cx="335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다음 작업에도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조건을 쓴다면?</a:t>
            </a:r>
          </a:p>
        </p:txBody>
      </p:sp>
      <p:sp>
        <p:nvSpPr>
          <p:cNvPr id="18" name="어긋난 지점과 원하는 변경, 유지할 조건을 적는다.">
            <a:extLst xmlns:a="http://schemas.openxmlformats.org/drawingml/2006/main">
              <a:ext uri="{FF2B5EF4-FFF2-40B4-BE49-F238E27FC236}">
                <a16:creationId xmlns:a16="http://schemas.microsoft.com/office/drawing/2014/main" id="{8913FCFA-F61F-43EF-955E-714F85A1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어긋난 지점과 원하는 변경, 유지할 조건을 적는다.</a:t>
            </a:r>
          </a:p>
        </p:txBody>
      </p:sp>
      <p:sp>
        <p:nvSpPr>
          <p:cNvPr id="19" name="M 연계 · M2">
            <a:extLst xmlns:a="http://schemas.openxmlformats.org/drawingml/2006/main">
              <a:ext uri="{FF2B5EF4-FFF2-40B4-BE49-F238E27FC236}">
                <a16:creationId xmlns:a16="http://schemas.microsoft.com/office/drawing/2014/main" id="{1AE882F0-550D-421A-8B06-8851947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M2</a:t>
            </a:r>
          </a:p>
        </p:txBody>
      </p:sp>
    </p:spTree>
    <p:extLst>
      <p:ext uri="{BB962C8B-B14F-4D97-AF65-F5344CB8AC3E}">
        <p14:creationId xmlns:p14="http://schemas.microsoft.com/office/powerpoint/2010/main" val="1454694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2026-10-21T13:35:39.0250000Z</dcterms:created>
  <dcterms:modified xsi:type="dcterms:W3CDTF">2026-10-21T13:35:39.0250000Z</dcterms:modified>
</coreProperties>
</file>