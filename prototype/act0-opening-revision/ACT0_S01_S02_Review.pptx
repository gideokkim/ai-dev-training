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17984307984277" /><Relationship Type="http://schemas.openxmlformats.org/officeDocument/2006/relationships/extended-properties" Target="/docProps/app.xml" Id="R40afb6a700e1451c" /><Relationship Type="http://schemas.openxmlformats.org/officeDocument/2006/relationships/officeDocument" Target="/ppt/presentation.xml" Id="Rbdbdcaa9315242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160f40ced247ba"/>
  </p:sldMasterIdLst>
  <p:notesMasterIdLst>
    <p:notesMasterId xmlns:r="http://schemas.openxmlformats.org/officeDocument/2006/relationships" r:id="Rbd2a81f600c24751"/>
  </p:notesMasterIdLst>
  <p:sldIdLst>
    <p:sldId xmlns:r="http://schemas.openxmlformats.org/officeDocument/2006/relationships" id="256" r:id="Rf883ecae530e49f3"/>
    <p:sldId xmlns:r="http://schemas.openxmlformats.org/officeDocument/2006/relationships" id="257" r:id="R92ac3dfdc03944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1ad141efb145fd" /><Relationship Type="http://schemas.openxmlformats.org/officeDocument/2006/relationships/slideMaster" Target="/ppt/slideMasters/slideMaster1.xml" Id="R5c160f40ced247ba" /><Relationship Type="http://schemas.openxmlformats.org/officeDocument/2006/relationships/notesMaster" Target="/ppt/notesMasters/notesMaster1.xml" Id="Rbd2a81f600c24751" /><Relationship Type="http://schemas.openxmlformats.org/officeDocument/2006/relationships/presProps" Target="/ppt/presProps.xml" Id="Ra993fb5cd3724e93" /><Relationship Type="http://schemas.openxmlformats.org/officeDocument/2006/relationships/tableStyles" Target="/ppt/tableStyles.xml" Id="Rab30dfe597bf4383" /><Relationship Type="http://schemas.openxmlformats.org/officeDocument/2006/relationships/slide" Target="/ppt/slides/slide1.xml" Id="Rf883ecae530e49f3" /><Relationship Type="http://schemas.openxmlformats.org/officeDocument/2006/relationships/slide" Target="/ppt/slides/slide2.xml" Id="R92ac3dfdc03944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3db69fc18c43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9fb9f418ad4bb6" /><Relationship Type="http://schemas.openxmlformats.org/officeDocument/2006/relationships/notesMaster" Target="/ppt/notesMasters/notesMaster1.xml" Id="R04188939ce5c41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b4e63206784147" /><Relationship Type="http://schemas.openxmlformats.org/officeDocument/2006/relationships/notesMaster" Target="/ppt/notesMasters/notesMaster1.xml" Id="Rc33b27798d8345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S01 — AI에게 지금 무엇을 맡기고 있는가?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AI에게 지금 무엇을 맡기고 있는가?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0 / 0A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5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Lecture 1 minute + Reflection 4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자기 AI 활용을 평가하지 않고, 현재 맡기는 업무 범위를 돌아본다.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“나는 지금 AI에게 무엇을 맡기고 있는가?” 화면의 한 줄 안내처럼 최근 AI에 맡긴 일 하나를 떠올리게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 1. **OPEN (0:00–0:15 / Lecture):** 기존 제목과 “최근 AI에 맡긴 일 하나를 떠올려보세요”를 읽는다. 사용 수준을 평가하는 자리가 아니며 익숙한 경험 하나면 충분하다고 말한다.</a:t>
            </a:r>
          </a:p>
          <a:p xmlns:a="http://schemas.openxmlformats.org/drawingml/2006/main">
            <a:r>
              <a:t>2. **THREE CASES (0:15–0:45 / Lecture):** 같은 인물이 등장하는 세 장면을 각각 약 10초씩 가리킨다. “설명받기”에서는 코드 설명을 질문하는 장면, “조사맡기기”에서는 파일과 돋보기로 필요한 근거를 찾는 장면, “결과확인”에서는 변경 코드와 확인 근거를 함께 살피는 장면을 짧게 짚는다. 세 장면은 경험의 예시이며 서열이나 필수 발전 단계가 아니다.</a:t>
            </a:r>
          </a:p>
          <a:p xmlns:a="http://schemas.openxmlformats.org/drawingml/2006/main">
            <a:r>
              <a:t>3. **INVITE (0:45–1:00 / Lecture):** 이 중 최근 자신의 경험과 가까운 일 하나만 조용히 떠올리면 된다고 안내한다. Prompt·Context·Harness·Loop의 이름이나 성숙도 설명을 덧붙이지 않는다.</a:t>
            </a:r>
          </a:p>
          <a:p xmlns:a="http://schemas.openxmlformats.org/drawingml/2006/main">
            <a:r>
              <a:t>4. **REFLECTION (1:00–5:00):** 네 분의 개인 생각 시간을 보존한다. 응답·기록·공유·실천 약속을 요구하지 않고 예시 설명을 계속하지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BEAT-001, CLM-0001, CLM-0002. TEACHING_MODEL. 삽화: `prototype/act0-opening-revision/assets/S01-cases.png`, image_gen으로 만든 동일 인물의 세 교육용 장면이다. 실제 제품 화면·회사 현장·관찰된 작업 결과가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특정 AI 제품의 성능·우열 또는 개인의 숙련도를 평가하지 않는다. 질문과 업무 범위는 교육을 여는 모델이다. 세 그림은 image_gen 교육용 삽화이며 실제 사용 화면이나 관찰 근거가 아니다. 설명·조사·결과 확인을 숙련도 순위 또는 모든 사람이 거쳐야 하는 단계로 제시하지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지금 자주 맡기는 작은 일 하나를 떠올리면 충분하다. 아직 해보지 않은 사용법을 아는 척할 필요는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서로 다른 출발점을 같은 문제 중심 Story에서 다룬다. 세 장면으로 익숙한 경험을 떠올리게 하며 다음 단계 이름이나 고급 구성요소를 이 장에서 미리 설명하지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N/A.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N/A. 삽화 세 장면을 강사가 가리키는 도입이다. 실제 제품 조작·새 Trial·실행 결과 시연이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Reflection은 개인적인 생각 시간이다. 답변·기록·공유·실천 약속을 요구하지 않는다. 세 사례 중 경험을 발표하거나 자신의 수준을 고르게 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작은 코드나 오류를 질문하는 익숙한 방식부터 인정하며 S02로 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Lecture 1분 안에 세 장면을 각각 약 10초씩 짚고 1분에 설명을 멈춘다. Reflection 4분간 침묵을 허용한다. 강사의 예시 해설이나 청중 응답으로 생각 시간을 대체하지 않는다. 5분 배분은 유지하며 실제 발화·운영 시간은 아직 측정하지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검토용 정적 PNG `prototype/act0-opening-revision/preview/S01.png`와 같은 질문을 사용한다. 청중 반응이 없어도 기다린 뒤 다음 장으로 간다. 실제 제품 화면이나 개인 경험 발표로 대체하지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REVIEW COPY — S01/S02 두 장 검토본용 Notes다. 두 레코드의 PPT 내장 Notes 삽입과 로컬 PNG 대조를 확인했다. 공식 80장 통합본과 발표자 묶음은 수정하지 않는다. Windows PowerPoint·실제 발표 PC 글꼴·교육장 투사·제품/계정·실측 리허설 검증은 수행하지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S02 — 작은 질문에는 Chatbot이 유용하다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작은 질문에는 Chatbot이 유용하다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0 / 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5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Lecture 5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필요한 코드나 오류를 전달해 답을 받는 방식은 작은 질문에서 빠르고 유용할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“이 초기화는 어떤 원소를 만들까?” 작은 코드의 뜻을 묻는 교육용 질문으로 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 1. **OPEN (0:00–0:45):** `std::vector&lt;int&gt; values{1, 2, 3, 4};`와 “이 초기화는 어떤 원소를 만들까?”를 보여 준다. 실제 ChatGPT 대화나 컴파일 실행 화면이 아니라 작은 코드 질문을 설명하기 위한 예시라고 알린다.</a:t>
            </a:r>
          </a:p>
          <a:p xmlns:a="http://schemas.openxmlformats.org/drawingml/2006/main">
            <a:r>
              <a:t>2. **EXPLAIN (0:45–1:45):** 도식의 원소 1·2·3·4를 차례로 가리키고 원소가 네 개라는 뜻을 확인한다. 도식은 이 코드의 뜻을 설명하며 실행 출력이나 실제 Chatbot 응답을 재현하지 않는다.</a:t>
            </a:r>
          </a:p>
          <a:p xmlns:a="http://schemas.openxmlformats.org/drawingml/2006/main">
            <a:r>
              <a:t>3. **FOLLOW THE LOOP (1:45–3:45):** 연결된 세 노드를 각각 약 40초씩 따라간다. 첫 IDE에서 “코드 선택·복사”, Chatbot에서 “붙여넣고 질문”, 마지막 IDE에서 “답 확인·적용”의 관계를 설명한다. 마지막 단계는 답이 원래 코드·요청과 맞는지 확인한 뒤 필요한 부분을 적용하는 교육용 흐름이다. 세 화면 사이의 자동 연동이나 실제 코드 변경·실행 결과를 보여 주는 것이 아니다.</a:t>
            </a:r>
          </a:p>
          <a:p xmlns:a="http://schemas.openxmlformats.org/drawingml/2006/main">
            <a:r>
              <a:t>4. **INTERPRET (3:45–4:30):** 필요한 코드와 질문의 범위를 사람이 골라 전달하고 답을 확인한다는 점을 짚는다. 작은 코드 조각의 뜻을 이해하는 데 이런 방식이 유용할 수 있음을 인정한다.</a:t>
            </a:r>
          </a:p>
          <a:p xmlns:a="http://schemas.openxmlformats.org/drawingml/2006/main">
            <a:r>
              <a:t>5. **TRANSITION (4:30–5:00):** 질문이 여러 파일과 구현 경로로 커지면 무엇부터 찾아 전달해야 할지 S03의 질문으로 연결한다. 현재 방식을 낡았거나 잘못된 사용법으로 평가하지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BEAT-001, CLM-0001, CLM-0002. TEACHING_MODEL / CONCEPTUAL. `std::vector&lt;int&gt; values{1, 2, 3, 4};`와 네 원소 1·2·3·4의 도식은 화면 설명용 코드 예시다. IDE → Chatbot → IDE의 세 노드는 강의용 native 도식이며 실제 ChatGPT 응답·제품 UI·컴파일 실행 또는 새 Trial 기록이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일반적인 예시이며 특정 제품 기능, 정확도, 성능 또는 다른 방식보다 우월하다는 주장으로 말하지 않는다. C++ 코드와 원소 도식은 교육용 설명이고 실제 컴파일·실행 결과나 ChatGPT 대화가 아니다. IDE의 코드 선택·복사, 대화에 붙여넣고 질문, IDE에서 답 확인·적용은 사람이 연결하는 흐름이며 자동 IDE 연동을 뜻하지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작은 코드 조각을 함께 보여 주고 어떤 원소가 만들어지는지 설명을 받는 것은 자연스러운 시작점이다. 답을 받은 뒤 원래 코드와 맞는지 확인하는 과정도 사람이 맡는다.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흐름에 필요한 Context를 개발자가 직접 선택해 복사한다. 세 노드를 연결해 선택·전달·답 확인의 책임을 보이며 여기서는 그 수고가 항상 문제라고 단정하지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설명용 C++ 표준 라이브러리 코드 한 줄을 사용한다. 특정 IDE·컴파일러·Windows 빌드 조건이나 Vision 장비 실행을 가르치는 예시는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N/A. 코드와 네 원소의 도식, 연결된 IDE → Chatbot → IDE native 흐름을 강사가 설명한다. 실제 대화·IDE 자동 연동·컴파일 실행·새 Trial은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Opening question은 생각을 여는 질문이다. 코드 작성·실행·손들기·경험 발표나 답변을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질문이 여러 파일·구현 경로로 커지면 무엇을 먼저 찾아야 하는지 S03에서 묻는다.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Lecture 5분을 유지한다. 코드 질문 45초, 네 원소 도식 1분, 연결된 세 노드 2분, 사람이 선택하는 Context 해석 45초, S03 연결 30초로 편성한다. 상세 Prompt 작성법이나 초기화 문법 전반의 강의를 추가하지 않는다. 실제 발화·운영 시간은 아직 측정하지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검토용 정적 PNG `prototype/act0-opening-revision/preview/S02.png`의 C++ 코드·원소 도식·연결된 세 노드를 설명한다. 실제 ChatGPT 대화나 즉석 제품 화면으로 대체하지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REVIEW COPY — S01/S02 두 장 검토본용 Notes다. 두 레코드의 PPT 내장 Notes 삽입과 로컬 PNG 대조를 확인했다. 공식 80장 통합본과 발표자 묶음은 수정하지 않는다. Windows PowerPoint·실제 발표 PC 글꼴·교육장 투사·제품/계정·실측 리허설 검증은 수행하지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1967ceb214c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c0a2d6b104e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ec12cd92945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de76db20b45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2eb0d17304c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6b2612d2b46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F1C850-F6B9-42B0-84F1-93C2BDFE1F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C96F5D-57E7-4CAF-9A11-AC142457FF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668B851-6EFA-4146-9774-F6DB412809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494C21-30FE-4343-9A8F-41CC16ED86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D4F311-753E-498A-AE1D-9AD307F6B9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02303E-AAFB-4681-A29C-EEB6DF224D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E1D6C7-56D8-4FF5-B76F-D9C2E03518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AD3E390-6277-4C36-B802-3E543C62C8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BE3572-0A2C-4828-A3C1-2646E4C4F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82CFD1-5B1E-496C-8CC8-F0CCCCDF8A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97091f39c24aa7" /><Relationship Type="http://schemas.openxmlformats.org/officeDocument/2006/relationships/slideLayout" Target="/ppt/slideLayouts/slideLayout1.xml" Id="Raada53d9f7e74152" /><Relationship Type="http://schemas.openxmlformats.org/officeDocument/2006/relationships/slideLayout" Target="/ppt/slideLayouts/slideLayout2.xml" Id="Reddddbc8163647c2" /><Relationship Type="http://schemas.openxmlformats.org/officeDocument/2006/relationships/slideLayout" Target="/ppt/slideLayouts/slideLayout3.xml" Id="R173ce51fd815455a" /><Relationship Type="http://schemas.openxmlformats.org/officeDocument/2006/relationships/slideLayout" Target="/ppt/slideLayouts/slideLayout4.xml" Id="R453406ae72a142d3" /><Relationship Type="http://schemas.openxmlformats.org/officeDocument/2006/relationships/slideLayout" Target="/ppt/slideLayouts/slideLayout5.xml" Id="R2ec071b147314c3d" /><Relationship Type="http://schemas.openxmlformats.org/officeDocument/2006/relationships/slideLayout" Target="/ppt/slideLayouts/slideLayout6.xml" Id="Re65f2ce71cbe47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da53d9f7e74152"/>
    <p:sldLayoutId xmlns:r="http://schemas.openxmlformats.org/officeDocument/2006/relationships" id="2147483650" r:id="Reddddbc8163647c2"/>
    <p:sldLayoutId xmlns:r="http://schemas.openxmlformats.org/officeDocument/2006/relationships" id="2147483651" r:id="R173ce51fd815455a"/>
    <p:sldLayoutId xmlns:r="http://schemas.openxmlformats.org/officeDocument/2006/relationships" id="2147483652" r:id="R453406ae72a142d3"/>
    <p:sldLayoutId xmlns:r="http://schemas.openxmlformats.org/officeDocument/2006/relationships" id="2147483653" r:id="R2ec071b147314c3d"/>
    <p:sldLayoutId xmlns:r="http://schemas.openxmlformats.org/officeDocument/2006/relationships" id="2147483654" r:id="Re65f2ce71cbe47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87fc3f76444bb" /><Relationship Type="http://schemas.openxmlformats.org/officeDocument/2006/relationships/image" Target="/ppt/media/image.png" Id="R0ae91421ca894ff8" /><Relationship Type="http://schemas.openxmlformats.org/officeDocument/2006/relationships/notesSlide" Target="/ppt/notesSlides/notesSlide1.xml" Id="Ra314cc80a8df41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2eaf98371c40c6" /><Relationship Type="http://schemas.openxmlformats.org/officeDocument/2006/relationships/notesSlide" Target="/ppt/notesSlides/notesSlide2.xml" Id="Rf6abacbd27d24f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CT 0 · 익숙한 사용에서 출발하기">
            <a:extLst xmlns:a="http://schemas.openxmlformats.org/drawingml/2006/main">
              <a:ext uri="{FF2B5EF4-FFF2-40B4-BE49-F238E27FC236}">
                <a16:creationId xmlns:a16="http://schemas.microsoft.com/office/drawing/2014/main" id="{9D02A025-ABB2-4873-AF55-94DF6DC0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0 · 익숙한 사용에서 출발하기</a:t>
            </a:r>
          </a:p>
        </p:txBody>
      </p:sp>
      <p:sp>
        <p:nvSpPr>
          <p:cNvPr id="2" name="S01">
            <a:extLst xmlns:a="http://schemas.openxmlformats.org/drawingml/2006/main">
              <a:ext uri="{FF2B5EF4-FFF2-40B4-BE49-F238E27FC236}">
                <a16:creationId xmlns:a16="http://schemas.microsoft.com/office/drawing/2014/main" id="{CBFDE4FB-9E12-4A25-AC14-172A6C85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S01</a:t>
            </a:r>
          </a:p>
        </p:txBody>
      </p:sp>
      <p:sp>
        <p:nvSpPr>
          <p:cNvPr id="3" name="AI에게 지금 무엇을 맡기고 있는가?">
            <a:extLst xmlns:a="http://schemas.openxmlformats.org/drawingml/2006/main">
              <a:ext uri="{FF2B5EF4-FFF2-40B4-BE49-F238E27FC236}">
                <a16:creationId xmlns:a16="http://schemas.microsoft.com/office/drawing/2014/main" id="{BACD2645-7F61-408F-8A3F-6BA6DE35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AI에게 지금 무엇을 맡기고 있는가?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064AF-FE14-4B7D-A8AE-7C7E5487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교육용 사례 삽화 · AI 생성 이미지 · 실제 제품 실행 화면 아님">
            <a:extLst xmlns:a="http://schemas.openxmlformats.org/drawingml/2006/main">
              <a:ext uri="{FF2B5EF4-FFF2-40B4-BE49-F238E27FC236}">
                <a16:creationId xmlns:a16="http://schemas.microsoft.com/office/drawing/2014/main" id="{3237CCB7-EF0C-40AD-BB6D-269434D8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교육용 사례 삽화 · AI 생성 이미지 · 실제 제품 실행 화면 아님</a:t>
            </a:r>
          </a:p>
        </p:txBody>
      </p:sp>
      <p:sp>
        <p:nvSpPr>
          <p:cNvPr id="6" name="자신의 경험 하나만 떠올려 보세요. 사용 수준을 평가하는 질문이 아닙니다.">
            <a:extLst xmlns:a="http://schemas.openxmlformats.org/drawingml/2006/main">
              <a:ext uri="{FF2B5EF4-FFF2-40B4-BE49-F238E27FC236}">
                <a16:creationId xmlns:a16="http://schemas.microsoft.com/office/drawing/2014/main" id="{ABA5FD91-0B55-4F76-9C42-818CCB75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자신의 경험 하나만 떠올려 보세요. 사용 수준을 평가하는 질문이 아닙니다.</a:t>
            </a:r>
          </a:p>
        </p:txBody>
      </p:sp>
      <p:sp>
        <p:nvSpPr>
          <p:cNvPr id="7" name="최근 AI에 맡긴 일 하나를 떠올려 보세요.">
            <a:extLst xmlns:a="http://schemas.openxmlformats.org/drawingml/2006/main">
              <a:ext uri="{FF2B5EF4-FFF2-40B4-BE49-F238E27FC236}">
                <a16:creationId xmlns:a16="http://schemas.microsoft.com/office/drawing/2014/main" id="{E9E6D376-AB05-4560-A057-566080C6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최근 AI에 맡긴 일 하나를 떠올려 보세요.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E7227-1FE8-4F63-9CF8-858C94C9CA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91421ca894ff8"/>
          <a:stretch xmlns:a="http://schemas.openxmlformats.org/drawingml/2006/main"/>
        </p:blipFill>
        <p:spPr>
          <a:xfrm xmlns:a="http://schemas.openxmlformats.org/drawingml/2006/main">
            <a:off x="609600" y="2038350"/>
            <a:ext cx="10972800" cy="3657600"/>
          </a:xfrm>
          <a:prstGeom xmlns:a="http://schemas.openxmlformats.org/drawingml/2006/main" prst="rect">
            <a:avLst/>
          </a:prstGeom>
        </p:spPr>
      </p:pic>
      <p:sp>
        <p:nvSpPr>
          <p:cNvPr id="9" name="설명 받기">
            <a:extLst xmlns:a="http://schemas.openxmlformats.org/drawingml/2006/main">
              <a:ext uri="{FF2B5EF4-FFF2-40B4-BE49-F238E27FC236}">
                <a16:creationId xmlns:a16="http://schemas.microsoft.com/office/drawing/2014/main" id="{9138C480-4363-4309-8AD6-3AF19DE8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350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설명 받기</a:t>
            </a:r>
          </a:p>
        </p:txBody>
      </p:sp>
      <p:sp>
        <p:nvSpPr>
          <p:cNvPr id="10" name="조사 맡기기">
            <a:extLst xmlns:a="http://schemas.openxmlformats.org/drawingml/2006/main">
              <a:ext uri="{FF2B5EF4-FFF2-40B4-BE49-F238E27FC236}">
                <a16:creationId xmlns:a16="http://schemas.microsoft.com/office/drawing/2014/main" id="{A04DCD5E-4D41-4E16-99A8-1697D94C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29225"/>
            <a:ext cx="350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조사 맡기기</a:t>
            </a:r>
          </a:p>
        </p:txBody>
      </p:sp>
      <p:sp>
        <p:nvSpPr>
          <p:cNvPr id="11" name="결과 확인">
            <a:extLst xmlns:a="http://schemas.openxmlformats.org/drawingml/2006/main">
              <a:ext uri="{FF2B5EF4-FFF2-40B4-BE49-F238E27FC236}">
                <a16:creationId xmlns:a16="http://schemas.microsoft.com/office/drawing/2014/main" id="{1DECBCF4-FBF3-47BF-AA58-DD3463FD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29225"/>
            <a:ext cx="350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결과 확인</a:t>
            </a:r>
          </a:p>
        </p:txBody>
      </p:sp>
      <p:sp>
        <p:nvSpPr>
          <p:cNvPr id="12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ACE1EB9D-DD76-4326-8AC5-3988BA55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M1</a:t>
            </a:r>
          </a:p>
        </p:txBody>
      </p:sp>
    </p:spTree>
    <p:extLst>
      <p:ext uri="{BB962C8B-B14F-4D97-AF65-F5344CB8AC3E}">
        <p14:creationId xmlns:p14="http://schemas.microsoft.com/office/powerpoint/2010/main" val="93091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ACT 0 · 코드 조각의 뜻을 묻는 익숙한 방식">
            <a:extLst xmlns:a="http://schemas.openxmlformats.org/drawingml/2006/main">
              <a:ext uri="{FF2B5EF4-FFF2-40B4-BE49-F238E27FC236}">
                <a16:creationId xmlns:a16="http://schemas.microsoft.com/office/drawing/2014/main" id="{9A1E1625-6303-41F7-BBB2-1969176A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0 · 코드 조각의 뜻을 묻는 익숙한 방식</a:t>
            </a:r>
          </a:p>
        </p:txBody>
      </p:sp>
      <p:sp>
        <p:nvSpPr>
          <p:cNvPr id="2" name="S02">
            <a:extLst xmlns:a="http://schemas.openxmlformats.org/drawingml/2006/main">
              <a:ext uri="{FF2B5EF4-FFF2-40B4-BE49-F238E27FC236}">
                <a16:creationId xmlns:a16="http://schemas.microsoft.com/office/drawing/2014/main" id="{07057B5E-4381-4533-B675-49C0D2C4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S02</a:t>
            </a:r>
          </a:p>
        </p:txBody>
      </p:sp>
      <p:sp>
        <p:nvSpPr>
          <p:cNvPr id="3" name="작은 질문에는 Chatbot이 유용하다">
            <a:extLst xmlns:a="http://schemas.openxmlformats.org/drawingml/2006/main">
              <a:ext uri="{FF2B5EF4-FFF2-40B4-BE49-F238E27FC236}">
                <a16:creationId xmlns:a16="http://schemas.microsoft.com/office/drawing/2014/main" id="{1B39C842-5BA6-4787-88F7-817A1A01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작은 질문에는 Chatbot이 유용하다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C07D9-05CF-4B09-91FB-6FC68CF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C++ 초기화·질문 흐름의 교육용 예시 · 실제 ChatGPT 대화 캡처 아님">
            <a:extLst xmlns:a="http://schemas.openxmlformats.org/drawingml/2006/main">
              <a:ext uri="{FF2B5EF4-FFF2-40B4-BE49-F238E27FC236}">
                <a16:creationId xmlns:a16="http://schemas.microsoft.com/office/drawing/2014/main" id="{A37D460A-5C4A-4793-BADD-30A56B59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C++ 초기화·질문 흐름의 교육용 예시 · 실제 ChatGPT 대화 캡처 아님</a:t>
            </a:r>
          </a:p>
        </p:txBody>
      </p:sp>
      <p:sp>
        <p:nvSpPr>
          <p:cNvPr id="6" name="초기값을 설명하는 도식입니다. 실제 실행 결과나 자동 IDE 연동을 뜻하지 않습니다.">
            <a:extLst xmlns:a="http://schemas.openxmlformats.org/drawingml/2006/main">
              <a:ext uri="{FF2B5EF4-FFF2-40B4-BE49-F238E27FC236}">
                <a16:creationId xmlns:a16="http://schemas.microsoft.com/office/drawing/2014/main" id="{A50CD583-7877-4E59-BBE7-F3638099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초기값을 설명하는 도식입니다. 실제 실행 결과나 자동 IDE 연동을 뜻하지 않습니다.</a:t>
            </a:r>
          </a:p>
        </p:txBody>
      </p:sp>
      <p:sp>
        <p:nvSpPr>
          <p:cNvPr id="7" name="이 초기화는 어떤 원소를 만들까?">
            <a:extLst xmlns:a="http://schemas.openxmlformats.org/drawingml/2006/main">
              <a:ext uri="{FF2B5EF4-FFF2-40B4-BE49-F238E27FC236}">
                <a16:creationId xmlns:a16="http://schemas.microsoft.com/office/drawing/2014/main" id="{EE5E0285-82FF-43B0-B0BF-EEDEE1E0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이 초기화는 어떤 원소를 만들까?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52D2D-14B5-433C-83F4-94BBEE19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657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d::vector&lt;int&gt; values{1, 2, 3, 4};">
            <a:extLst xmlns:a="http://schemas.openxmlformats.org/drawingml/2006/main">
              <a:ext uri="{FF2B5EF4-FFF2-40B4-BE49-F238E27FC236}">
                <a16:creationId xmlns:a16="http://schemas.microsoft.com/office/drawing/2014/main" id="{81443A0F-8E4B-4917-BA58-CAD15665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611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std::vector&lt;int&gt; values{1, 2, 3, 4};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DFE58-B0A8-4800-9F72-9073E5C8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828925"/>
            <a:ext cx="400050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617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763DE-B6B6-46D9-B756-CFFBA287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800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09EA1828-C47C-4F79-967A-7383CED3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80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9E861-E7C5-4A69-AF94-0AD0ECF6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800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4" name="2">
            <a:extLst xmlns:a="http://schemas.openxmlformats.org/drawingml/2006/main">
              <a:ext uri="{FF2B5EF4-FFF2-40B4-BE49-F238E27FC236}">
                <a16:creationId xmlns:a16="http://schemas.microsoft.com/office/drawing/2014/main" id="{83E3947E-4446-420A-84BB-AA25ADFB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80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30532-F76E-47C9-AA9A-A68DC00A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33650"/>
            <a:ext cx="800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50738D57-24B2-4E7F-A8E0-087B1CC5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33650"/>
            <a:ext cx="80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E32937-2D4F-4A94-B44D-CFA374F2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33650"/>
            <a:ext cx="800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8" name="4">
            <a:extLst xmlns:a="http://schemas.openxmlformats.org/drawingml/2006/main">
              <a:ext uri="{FF2B5EF4-FFF2-40B4-BE49-F238E27FC236}">
                <a16:creationId xmlns:a16="http://schemas.microsoft.com/office/drawing/2014/main" id="{E470A80B-A504-498A-954E-48FCF6C3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33650"/>
            <a:ext cx="80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4개 원소">
            <a:extLst xmlns:a="http://schemas.openxmlformats.org/drawingml/2006/main">
              <a:ext uri="{FF2B5EF4-FFF2-40B4-BE49-F238E27FC236}">
                <a16:creationId xmlns:a16="http://schemas.microsoft.com/office/drawing/2014/main" id="{FF3E2795-B305-4E10-BC1D-FC7DFB7B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1470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4개 원소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0E919-E7A6-4C2F-A088-12DD909C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009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21" name="IDE">
            <a:extLst xmlns:a="http://schemas.openxmlformats.org/drawingml/2006/main">
              <a:ext uri="{FF2B5EF4-FFF2-40B4-BE49-F238E27FC236}">
                <a16:creationId xmlns:a16="http://schemas.microsoft.com/office/drawing/2014/main" id="{89DCEE96-3AE0-43CB-8A3B-AB6395FB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705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IDE</a:t>
            </a:r>
          </a:p>
        </p:txBody>
      </p:sp>
      <p:sp>
        <p:nvSpPr>
          <p:cNvPr id="22" name="코드 선택·복사">
            <a:extLst xmlns:a="http://schemas.openxmlformats.org/drawingml/2006/main">
              <a:ext uri="{FF2B5EF4-FFF2-40B4-BE49-F238E27FC236}">
                <a16:creationId xmlns:a16="http://schemas.microsoft.com/office/drawing/2014/main" id="{5A508EB4-A920-4FE7-ABC5-27385FD8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705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코드 선택·복사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8BD0E6-6AAB-468C-A69A-0DA296A1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3009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0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24" name="Chatbot">
            <a:extLst xmlns:a="http://schemas.openxmlformats.org/drawingml/2006/main">
              <a:ext uri="{FF2B5EF4-FFF2-40B4-BE49-F238E27FC236}">
                <a16:creationId xmlns:a16="http://schemas.microsoft.com/office/drawing/2014/main" id="{3F158079-61D1-4BBC-A09A-9159048E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62450"/>
            <a:ext cx="2705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Chatbot</a:t>
            </a:r>
          </a:p>
        </p:txBody>
      </p:sp>
      <p:sp>
        <p:nvSpPr>
          <p:cNvPr id="25" name="붙여넣고 질문">
            <a:extLst xmlns:a="http://schemas.openxmlformats.org/drawingml/2006/main">
              <a:ext uri="{FF2B5EF4-FFF2-40B4-BE49-F238E27FC236}">
                <a16:creationId xmlns:a16="http://schemas.microsoft.com/office/drawing/2014/main" id="{55163801-BB1E-42FA-B4A9-B9196D13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2705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붙여넣고 질문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3DFE3-45E5-461A-A413-862B2A4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29100"/>
            <a:ext cx="3009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27" name="IDE">
            <a:extLst xmlns:a="http://schemas.openxmlformats.org/drawingml/2006/main">
              <a:ext uri="{FF2B5EF4-FFF2-40B4-BE49-F238E27FC236}">
                <a16:creationId xmlns:a16="http://schemas.microsoft.com/office/drawing/2014/main" id="{C65E2D96-A4D0-4C69-AEC5-02EBB3DD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62450"/>
            <a:ext cx="2705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IDE</a:t>
            </a:r>
          </a:p>
        </p:txBody>
      </p:sp>
      <p:sp>
        <p:nvSpPr>
          <p:cNvPr id="28" name="답 확인·적용">
            <a:extLst xmlns:a="http://schemas.openxmlformats.org/drawingml/2006/main">
              <a:ext uri="{FF2B5EF4-FFF2-40B4-BE49-F238E27FC236}">
                <a16:creationId xmlns:a16="http://schemas.microsoft.com/office/drawing/2014/main" id="{B24323D9-E3E3-4A78-A2E2-71CFE9E0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62500"/>
            <a:ext cx="2705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답 확인·적용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50C87A-FA8E-477A-B7C9-8296F072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86300"/>
            <a:ext cx="704850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617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1F4F0C-762E-4692-B3C2-ADFDBBC5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86300"/>
            <a:ext cx="704850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6172"/>
          </a:solidFill>
          <a:ln xmlns:a="http://schemas.openxmlformats.org/drawingml/2006/main" w="0">
            <a:noFill/>
          </a:ln>
        </p:spPr>
      </p:sp>
      <p:sp>
        <p:nvSpPr>
          <p:cNvPr id="31" name="필요한 코드와 맥락을 사람이 골라 전달한다.">
            <a:extLst xmlns:a="http://schemas.openxmlformats.org/drawingml/2006/main">
              <a:ext uri="{FF2B5EF4-FFF2-40B4-BE49-F238E27FC236}">
                <a16:creationId xmlns:a16="http://schemas.microsoft.com/office/drawing/2014/main" id="{30D119D2-C15E-491C-8C35-3E0EE1C6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필요한 코드와 맥락을 사람이 골라 전달한다.</a:t>
            </a:r>
          </a:p>
        </p:txBody>
      </p:sp>
      <p:sp>
        <p:nvSpPr>
          <p:cNvPr id="32" name="Legacy module connection">
            <a:extLst xmlns:a="http://schemas.openxmlformats.org/drawingml/2006/main">
              <a:ext uri="{FF2B5EF4-FFF2-40B4-BE49-F238E27FC236}">
                <a16:creationId xmlns:a16="http://schemas.microsoft.com/office/drawing/2014/main" id="{1B3E49A8-2527-4588-A8B4-2D78D71E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 연계 · M1</a:t>
            </a:r>
          </a:p>
        </p:txBody>
      </p:sp>
    </p:spTree>
    <p:extLst>
      <p:ext uri="{BB962C8B-B14F-4D97-AF65-F5344CB8AC3E}">
        <p14:creationId xmlns:p14="http://schemas.microsoft.com/office/powerpoint/2010/main" val="199864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2026-10-21T11:47:27.7060000Z</dcterms:created>
  <dcterms:modified xsi:type="dcterms:W3CDTF">2026-10-21T11:47:27.7060000Z</dcterms:modified>
</coreProperties>
</file>