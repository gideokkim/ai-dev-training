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8866a3700844df" /><Relationship Type="http://schemas.openxmlformats.org/officeDocument/2006/relationships/extended-properties" Target="/docProps/app.xml" Id="Rf7c86507bd1946c7" /><Relationship Type="http://schemas.openxmlformats.org/officeDocument/2006/relationships/officeDocument" Target="/ppt/presentation.xml" Id="Rcb28550fd93545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b80b4b7d004e79"/>
  </p:sldMasterIdLst>
  <p:notesMasterIdLst>
    <p:notesMasterId xmlns:r="http://schemas.openxmlformats.org/officeDocument/2006/relationships" r:id="R4083392563a34666"/>
  </p:notesMasterIdLst>
  <p:sldIdLst>
    <p:sldId xmlns:r="http://schemas.openxmlformats.org/officeDocument/2006/relationships" id="256" r:id="Refaa798c97be4b2c"/>
    <p:sldId xmlns:r="http://schemas.openxmlformats.org/officeDocument/2006/relationships" id="263" r:id="rId1"/>
    <p:sldId xmlns:r="http://schemas.openxmlformats.org/officeDocument/2006/relationships" id="257" r:id="R56befadc1c494caa"/>
    <p:sldId xmlns:r="http://schemas.openxmlformats.org/officeDocument/2006/relationships" id="258" r:id="R1b2a550712b04af6"/>
    <p:sldId xmlns:r="http://schemas.openxmlformats.org/officeDocument/2006/relationships" id="259" r:id="R09e8cfb96b8d4105"/>
    <p:sldId xmlns:r="http://schemas.openxmlformats.org/officeDocument/2006/relationships" id="260" r:id="Rd6801faacc8645e5"/>
    <p:sldId xmlns:r="http://schemas.openxmlformats.org/officeDocument/2006/relationships" id="261" r:id="Rad34abc047334652"/>
    <p:sldId xmlns:r="http://schemas.openxmlformats.org/officeDocument/2006/relationships" id="262" r:id="R5d2380124ef84f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baea6c79144c96" /><Relationship Type="http://schemas.openxmlformats.org/officeDocument/2006/relationships/slideMaster" Target="/ppt/slideMasters/slideMaster1.xml" Id="R8eb80b4b7d004e79" /><Relationship Type="http://schemas.openxmlformats.org/officeDocument/2006/relationships/notesMaster" Target="/ppt/notesMasters/notesMaster1.xml" Id="R4083392563a34666" /><Relationship Type="http://schemas.openxmlformats.org/officeDocument/2006/relationships/presProps" Target="/ppt/presProps.xml" Id="R21815c21721b4aee" /><Relationship Type="http://schemas.openxmlformats.org/officeDocument/2006/relationships/tableStyles" Target="/ppt/tableStyles.xml" Id="R7135d3f949104a54" /><Relationship Type="http://schemas.openxmlformats.org/officeDocument/2006/relationships/slide" Target="/ppt/slides/slide1.xml" Id="Refaa798c97be4b2c" /><Relationship Type="http://schemas.openxmlformats.org/officeDocument/2006/relationships/slide" Target="/ppt/slides/slide2.xml" Id="R56befadc1c494caa" /><Relationship Type="http://schemas.openxmlformats.org/officeDocument/2006/relationships/slide" Target="/ppt/slides/slide3.xml" Id="R1b2a550712b04af6" /><Relationship Type="http://schemas.openxmlformats.org/officeDocument/2006/relationships/slide" Target="/ppt/slides/slide4.xml" Id="R09e8cfb96b8d4105" /><Relationship Type="http://schemas.openxmlformats.org/officeDocument/2006/relationships/slide" Target="/ppt/slides/slide5.xml" Id="Rd6801faacc8645e5" /><Relationship Type="http://schemas.openxmlformats.org/officeDocument/2006/relationships/slide" Target="/ppt/slides/slide6.xml" Id="Rad34abc047334652" /><Relationship Type="http://schemas.openxmlformats.org/officeDocument/2006/relationships/slide" Target="/ppt/slides/slide7.xml" Id="R5d2380124ef84f0a" />  <Relationship Id="rId1" Type="http://schemas.openxmlformats.org/officeDocument/2006/relationships/slide" Target="slides/slide8.xml"/>
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ea0a4f2e4944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d431c0d1324a08" /><Relationship Type="http://schemas.openxmlformats.org/officeDocument/2006/relationships/notesMaster" Target="/ppt/notesMasters/notesMaster1.xml" Id="Rf2a6320352744d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3c283d9c5b4404" /><Relationship Type="http://schemas.openxmlformats.org/officeDocument/2006/relationships/notesMaster" Target="/ppt/notesMasters/notesMaster1.xml" Id="Re24d04701f5f43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98c456209c4a2f" /><Relationship Type="http://schemas.openxmlformats.org/officeDocument/2006/relationships/notesMaster" Target="/ppt/notesMasters/notesMaster1.xml" Id="Rb2fa45cae12c47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04383213c8455f" /><Relationship Type="http://schemas.openxmlformats.org/officeDocument/2006/relationships/notesMaster" Target="/ppt/notesMasters/notesMaster1.xml" Id="R58569fcc46524f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bdc0f56a60495a" /><Relationship Type="http://schemas.openxmlformats.org/officeDocument/2006/relationships/notesMaster" Target="/ppt/notesMasters/notesMaster1.xml" Id="Rc7a38fae049c44a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889cd2050b44f4" /><Relationship Type="http://schemas.openxmlformats.org/officeDocument/2006/relationships/notesMaster" Target="/ppt/notesMasters/notesMaster1.xml" Id="R892c7f64b5c344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031bd2b0d04b65" /><Relationship Type="http://schemas.openxmlformats.org/officeDocument/2006/relationships/notesMaster" Target="/ppt/notesMasters/notesMaster1.xml" Id="Rcb01f21b61d544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3aad1b9f1b4b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a597cd04064d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e2f7cc0264e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89c46973e746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a4a72754ce41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0b22b334648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C17578-DA16-40AE-93A9-958A7C3505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982451-02FC-439C-BC66-365C016908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EE02E9D-29D6-4E50-9FAF-4E4B8E5519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A8493A-05FA-439A-A3F7-26D6ACB46F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538671-C2F7-4259-8BCC-89C037D9F4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8151DE2-5925-4641-B457-87A80B8BE1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D0BE3E-541E-4599-B72B-FE7A1822F7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C5B1295-17EF-412D-8DB4-A3B0720274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A77DCF-DC08-40E8-A525-955CC45663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57EA4B-5787-4F00-BBED-98E4D72BF2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c301f0d9894825" /><Relationship Type="http://schemas.openxmlformats.org/officeDocument/2006/relationships/slideLayout" Target="/ppt/slideLayouts/slideLayout1.xml" Id="R718267ce01374432" /><Relationship Type="http://schemas.openxmlformats.org/officeDocument/2006/relationships/slideLayout" Target="/ppt/slideLayouts/slideLayout2.xml" Id="Rfe954cfa22a94045" /><Relationship Type="http://schemas.openxmlformats.org/officeDocument/2006/relationships/slideLayout" Target="/ppt/slideLayouts/slideLayout3.xml" Id="Rd984a78efd5243c0" /><Relationship Type="http://schemas.openxmlformats.org/officeDocument/2006/relationships/slideLayout" Target="/ppt/slideLayouts/slideLayout4.xml" Id="R32487ae3557e404e" /><Relationship Type="http://schemas.openxmlformats.org/officeDocument/2006/relationships/slideLayout" Target="/ppt/slideLayouts/slideLayout5.xml" Id="Rc223a2c04f5743d2" /><Relationship Type="http://schemas.openxmlformats.org/officeDocument/2006/relationships/slideLayout" Target="/ppt/slideLayouts/slideLayout6.xml" Id="Rc12af8ca8c8a4b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8267ce01374432"/>
    <p:sldLayoutId xmlns:r="http://schemas.openxmlformats.org/officeDocument/2006/relationships" id="2147483650" r:id="Rfe954cfa22a94045"/>
    <p:sldLayoutId xmlns:r="http://schemas.openxmlformats.org/officeDocument/2006/relationships" id="2147483651" r:id="Rd984a78efd5243c0"/>
    <p:sldLayoutId xmlns:r="http://schemas.openxmlformats.org/officeDocument/2006/relationships" id="2147483652" r:id="R32487ae3557e404e"/>
    <p:sldLayoutId xmlns:r="http://schemas.openxmlformats.org/officeDocument/2006/relationships" id="2147483653" r:id="Rc223a2c04f5743d2"/>
    <p:sldLayoutId xmlns:r="http://schemas.openxmlformats.org/officeDocument/2006/relationships" id="2147483654" r:id="Rc12af8ca8c8a4b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49e00e459042f5" /><Relationship Type="http://schemas.openxmlformats.org/officeDocument/2006/relationships/notesSlide" Target="/ppt/notesSlides/notesSlide1.xml" Id="R5e025313b3e846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cdd7ef09c44f18" /><Relationship Type="http://schemas.openxmlformats.org/officeDocument/2006/relationships/notesSlide" Target="/ppt/notesSlides/notesSlide2.xml" Id="Rd6c5d8352bc24a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05a8f931184737" /><Relationship Type="http://schemas.openxmlformats.org/officeDocument/2006/relationships/notesSlide" Target="/ppt/notesSlides/notesSlide3.xml" Id="R8c1dd51d61c247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34e82a96914688" /><Relationship Type="http://schemas.openxmlformats.org/officeDocument/2006/relationships/notesSlide" Target="/ppt/notesSlides/notesSlide4.xml" Id="Re5ded1d5936347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1c78d7d3a04282" /><Relationship Type="http://schemas.openxmlformats.org/officeDocument/2006/relationships/notesSlide" Target="/ppt/notesSlides/notesSlide5.xml" Id="R62c46102b51d4f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b24ea66d484be1" /><Relationship Type="http://schemas.openxmlformats.org/officeDocument/2006/relationships/notesSlide" Target="/ppt/notesSlides/notesSlide6.xml" Id="R8a3801ffd1664a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ac2aceca2447d1" /><Relationship Type="http://schemas.openxmlformats.org/officeDocument/2006/relationships/notesSlide" Target="/ppt/notesSlides/notesSlide7.xml" Id="Red6f39476d894c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49e00e459042f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644CFE-DBFF-468C-B731-E15ABD92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AI + CODEX  /  DEVELOPER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C939A-C4D2-47C2-8CEB-873D5C01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더 긴 Prompt보다 분명한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8F3FAD-00C2-47FC-A914-926CB276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COURSE MODEL  •  ILLUSTRATIVE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847A7-3521-4EE7-9BAC-F64F0708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38250"/>
            <a:ext cx="2133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8054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31ECD-E896-483A-AAB8-74E3C108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477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PROTOTYPE COPY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56EE6-DC1A-4A95-AA4B-EC276A59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52D03-EFB4-4A4F-88F7-86C3AF81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S14  •  ACT 1  •  PROTOTYPE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EB627-7F64-4C01-BEC5-6F6608DA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153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VISUAL PROTOTYPE  /  16:9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B4336-B798-4D70-891B-E88CD8F6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3048000" cy="3276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91E724-E0BC-4E42-8259-700609D1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WEAK 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159C3-FF83-4579-90E1-AE16CC71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2514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75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2775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2775" b="1" i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crop test</a:t>
            </a:r>
          </a:p>
          <a:p xmlns:a="http://schemas.openxmlformats.org/drawingml/2006/main">
            <a:pPr algn="l">
              <a:defRPr sz="2775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2775" b="1" i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고쳐줘.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E3A94-7E58-48A4-B60E-F4001F67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251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A7B22-C29B-4B86-BCCF-DB2B2A63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2514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목표 외의 범위와</a:t>
            </a:r>
          </a:p>
          <a:p xmlns:a="http://schemas.openxmlformats.org/drawingml/2006/main">
            <a:pPr algn="l">
              <a:defRPr sz="1650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완료 증거는 미정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A88B0-8432-46C8-901F-83F5169F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739140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513C6-639B-4935-86D7-5254E710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192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SPECIFIED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8AD02-8798-4051-B587-0542E2F4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57425"/>
            <a:ext cx="142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GOAL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93F92-5905-457C-AFC8-A359F2A0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479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Investigate and fix the failing crop boundary.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90924-5198-4F13-B080-8F9B2FAD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051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02B9E-4937-45E7-80E7-CF1B0A82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52725"/>
            <a:ext cx="142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ADF654-31E8-44C4-AD1E-FEAE2FC5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432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Current repository and failing test.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1A1F7-D70D-4446-8409-B200BC1F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004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4F95C3-1815-4630-A503-57C0335B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48025"/>
            <a:ext cx="142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CONSTRAINTS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2B3572-9ED3-43FB-BA84-94A78D9C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Keep public contract; no unrelated API or dependency changes.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DF4174-4539-42E0-9EF3-CDC17754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022D36-3CCC-4A5E-AA6B-AF567800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43325"/>
            <a:ext cx="142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PROCESS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678140-85EC-42BE-B805-53A76286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7338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Reproduce → inspect → plan → minimal change.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8BAAF8-6637-48C3-AF1D-6A1AAE49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910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6D9A49-3D7D-46B5-94E2-7948AE33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38625"/>
            <a:ext cx="142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VERIFY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B9AFC5-83E2-4B99-9CAE-4BC0D163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291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Focused + full tests; smoke if practical; review diff.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9AC7D3-7FDD-45E8-9731-CF5ABE49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0668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808C7C-B39E-4060-AC7E-1ED8873F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C++ VISION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C0AAA0-EAAA-4655-9C24-15857F88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같은 경계 사고: Release build · public API / ABI · hardware 가정 · test / benchmark 증거</a:t>
            </a:r>
          </a:p>
        </p:txBody>
      </p:sp>
    </p:spTree>
    <p:extLst>
      <p:ext uri="{BB962C8B-B14F-4D97-AF65-F5344CB8AC3E}">
        <p14:creationId xmlns:p14="http://schemas.microsoft.com/office/powerpoint/2010/main" val="1356547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69C425-97BE-4728-B230-CEF3CEDC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AI + CODEX  /  DEVELOPER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27F6A-0B5E-4CE2-B881-47C1DC25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Task별 접근은 달랐지만 완벽하지는 않다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637BE-CF1B-4939-B4C5-DFDE57E0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OBSERVED PRODUCT  •  TRIAL-005A / TRIAL-005B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0002D-FB2C-455C-872D-E9162840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38250"/>
            <a:ext cx="2133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8054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8AB4A-2DAF-4331-818B-FD7AA59D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477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PROTOTYPE COPY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0D2E9-597E-4FF2-A637-56E6A828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83179-6117-400D-B0BD-54A2F337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S35  •  ACT 2  •  PROTOTYPE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FEDB1-C083-45A2-BCB4-D8DDB2C6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153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VISUAL PROTOTYPE  /  16:9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0EA2C3-CBCB-4A37-AF56-F93F61D5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28775"/>
            <a:ext cx="10668000" cy="3295650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075E0-504D-46A3-84A1-ACB64979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DOCUMENT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C5B9B-44C8-4404-A764-FE0B5893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A  •  CROP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777FC-7C0A-43CD-8DB5-EAC49873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B  •  RUNTIME DEPENDENCIES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2E4B6-1669-497F-9C7D-130B160C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FBAFC-B5DF-44EA-97EB-B0782D8F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docs/image-contracts.md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6E48FA-A371-4D01-BB64-941F9A3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7172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2307D-7EAC-43B4-A123-2761662A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71725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NOT READ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40FBB-35B0-4756-AEA9-244D37C3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CD1F7-FC80-4165-BC6B-87B5C677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docs/architecture.md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275461-2623-4F64-8DE4-8714D79F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1467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READ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CF536-7E1E-43DE-A09A-55710447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14675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READ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28BD5A-83BC-4D91-A8B3-32AD1D01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63E3ED-F430-473D-8FE6-049441CB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docs/testing.md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7D045-E1F3-41C1-9B78-9BFF0224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57625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Final run only</a:t>
            </a:r>
          </a:p>
          <a:p xmlns:a="http://schemas.openxmlformats.org/drawingml/2006/main">
            <a: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(variable across runs)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F3CE1A-2BF4-43D3-ABC1-C35F3EFB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57625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NOT 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91D6D-4B3D-45C3-B1E7-2F8A8968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Both tasks also read README and source material; access traces were broader than the task-specific file.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159CF7-875E-4C70-BB12-CEF562AC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0DD1D7-7C2F-4CE6-8BDD-93E607A8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00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OBSERVED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D5AB92-645A-4205-8E87-CCF3EA3E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8640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Task별 상세 문서 접근 차이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702205-8239-46AC-B158-586A897B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2387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58BADA-3764-46D0-8862-25B8AC73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006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NOT ESTABLISHED / NOT MEASURED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946CE9-7343-4F31-AC99-5BC0F5A0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8640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perfect routing · token savings · performance gain</a:t>
            </a:r>
          </a:p>
        </p:txBody>
      </p:sp>
    </p:spTree>
    <p:extLst>
      <p:ext uri="{BB962C8B-B14F-4D97-AF65-F5344CB8AC3E}">
        <p14:creationId xmlns:p14="http://schemas.microsoft.com/office/powerpoint/2010/main" val="9526259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246E50-B849-4C5F-A37D-82A89829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AI + CODEX  /  DEVELOPER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52122-4D00-4DD1-9E22-B8AF2CE0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Working Harness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E08E2-08A9-4038-81A1-501ADAA2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OBSERVED PRODUCT  •  STATE-04 → STATE-04-PERF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417FD-8141-4E96-A5CD-E647F18F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38250"/>
            <a:ext cx="2133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8054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165A7-55B8-4C93-BE7F-8A86FC74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477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PROTOTYPE COPY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E3ACF-FC4A-4DC4-97BB-C53B6C7F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879FD-9E8A-49E6-BAB1-0B897863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S45  •  ACT 3  •  PROTOTYPE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B2EA4-42AD-4AEE-8244-2B453E53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153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VISUAL PROTOTYPE  /  16:9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7F98F-8352-418F-A5E6-553731D9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10668000" cy="4314825"/>
          </a:xfrm>
          <a:prstGeom xmlns:a="http://schemas.openxmlformats.org/drawingml/2006/main" prst="roundRect">
            <a:avLst>
              <a:gd name="adj" fmla="val 3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1A5B1-38CE-4151-BFB6-DD3F28CE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9070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BOUNDED RESULT  /  image_statistics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7E7C1-93A6-4FB1-B428-B63EBF58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MEDIAN RUNTIME  •  ms / 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0D44C-327A-4CB8-8CC0-0F7B2FD9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8127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15.468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9D1FB-4521-41A4-9085-4920DA60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193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6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6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62F97-CFAB-4264-89E4-56E0B939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8127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10.769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7C937F-710F-472A-AA1F-F2C8CD67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765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STATE-04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C41F4-EEDE-45B5-A2A4-D311F34D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765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STATE-04-PERF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C0D91-E896-43F3-80F2-E7D997C3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11A38-325B-4390-8E95-C9F2CC32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528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TRACEMALLOC PEAK  •  Python allocation, not RSS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DD03C3-A14F-48E4-BA27-E378D5A6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204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6,675,804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D1BF2-D97F-4DA3-B5D3-31DD4539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243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6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6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9977ED-C6EC-42A8-820D-6E185848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88620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9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380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5820AB-880F-41B9-8A38-7DAA67FD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STATE-04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8F4BF-1A41-478B-B141-F71A048E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381500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STATE-04-PERF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A9EFB-0C56-4158-98F0-DAD075DE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9525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4B1930-DBDA-4535-B529-1B01EF05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716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RECORDED CHECKS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B27737-15B8-4A0B-82D7-D50C8A47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6697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5EA54F-7D93-4BFA-9F46-672DD179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907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Focused tests  1 /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0E3502-60F1-444C-8C18-D742F269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8132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317878-486A-41CB-8290-A27A91E6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Full suite  11 / 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07B801-0FAA-4AFC-9A12-7B814EEC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9567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EEA880-BC55-42E5-B6B6-CC764707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CLI smoke  PASS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A6E0C2-5DDF-48B5-8D24-01DB3FEE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002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213910-BD3F-4046-8FFE-B1123F6C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338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Input / six-field guards  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804F64-B18E-43CD-84A5-E7012063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3870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3EC41C-4CAB-4DE2-BF74-65EAB11A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1014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Synthetic 1024×768 input (max 255; same fingerprint) · CPython 3.9.6 / macOS 26.6.2 arm64</a:t>
            </a:r>
          </a:p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7 one-call samples per state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672B52-A746-4529-87C2-B677AD70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014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관찰된 code-change 결과다. Harness 단독 원인으로 해석하지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317455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73A2F7-1FDF-4A9B-ABD9-EA483FC0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AI + CODEX  /  DEVELOPER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885D7-97F1-4259-BD6A-C1565586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개념 사례: Project와 Workflow는 현재 맞다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85D1A-BAA6-4F56-B0B4-364366A6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CONCEPTUAL CASE  •  DEMO-04A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D55C1-6F7D-42D7-BBC9-5544AD1C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38250"/>
            <a:ext cx="2133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8054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F50AB-324C-43A2-809D-E0A2AC04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477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PROTOTYPE COPY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736AB-9F54-4E90-B30B-D7E01153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3BB85-F13E-420E-9995-BA2082FA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S56  •  ACT 4  •  PROTOTYPE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FF389-FCCA-4393-9ABA-E1567758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153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VISUAL PROTOTYPE  /  16:9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4B2593-41F4-4C27-8798-A155A828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28775"/>
            <a:ext cx="1066800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23813">
            <a:solidFill>
              <a:srgbClr val="805400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7BA7A-4BBB-43E3-963D-B6ED6468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288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805400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BF1E3-2DB3-4B25-9764-D0E4DB7C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183832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CONCEPTUAL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E6DD3-8EEE-4DFF-B691-965E7DBC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9552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CONCEPTUAL STARTING CONDITION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0EE5A-1650-40F2-B19D-3CF3E2AE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67025"/>
            <a:ext cx="338137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44F5A-D39B-4202-8B2E-BDA89B39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2905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PROJECT 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AF66C-47C5-47B6-9E0B-7B605EBE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9090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current test entry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4A20A-EE2C-4B19-91B8-4DDCB104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19450"/>
            <a:ext cx="144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MATCHES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EE921-89B2-4496-A733-80A88538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8615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1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92100-127E-4C3B-BB5E-D9F64632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4861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1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C19FD6-9D7E-4CB0-B271-F0E3473F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67025"/>
            <a:ext cx="3381375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13ACA-D90B-47ED-AAA2-589F0D07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28950"/>
            <a:ext cx="2905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REUSABLE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D94128-A1B6-44D5-ADF0-57613639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90900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same current entry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121469-55FE-4725-89AC-7DBDFB42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71975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Possible later Project change (illustrative cue)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144F7A-168D-439F-9EA7-37BD5B6D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958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2175" b="1" i="0">
                <a:solidFill>
                  <a:srgbClr val="17212B"/>
                </a:solidFill>
                <a:latin typeface="Consolas"/>
                <a:ea typeface="Consolas"/>
                <a:cs typeface="Consolas"/>
              </a:defRPr>
            </a:pPr>
            <a:r>
              <a:rPr sz="2175" b="1" i="0">
                <a:solidFill>
                  <a:srgbClr val="17212B"/>
                </a:solidFill>
                <a:latin typeface="Consolas"/>
                <a:ea typeface="Consolas"/>
                <a:cs typeface="Consolas"/>
              </a:rPr>
              <a:t>OLD TEST ENTRY    →    NEW TEST ENTRY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E0733F-AF4E-4CA6-8BF8-48287F17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76850"/>
            <a:ext cx="962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No actual Trial, failure, stale workflow, or result is asserted.</a:t>
            </a:r>
          </a:p>
        </p:txBody>
      </p:sp>
    </p:spTree>
    <p:extLst>
      <p:ext uri="{BB962C8B-B14F-4D97-AF65-F5344CB8AC3E}">
        <p14:creationId xmlns:p14="http://schemas.microsoft.com/office/powerpoint/2010/main" val="5517987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A1D5D9-8070-4674-8160-24385AB2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AI + CODEX  /  DEVELOPER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CACFA-4813-4415-9283-CCB3FED4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실제 제작 기록: TRIAL-006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E7D23-435A-47B4-AB6B-869D25DD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OBSERVED META  •  TRAINING PRODUCTION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66B76-7D5E-4690-9AFC-843CC736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38250"/>
            <a:ext cx="2133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8054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323AC-EB26-4B5B-96F9-99AFFCB9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477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PROTOTYPE COPY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E4164-91DD-436C-A822-E3F9A8EA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D1FAD-64C9-4E53-ACDE-02AD8C4D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S67  •  ACT 4  •  PROTOTYPE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CFF11-7200-4385-B88C-5C0A3819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153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VISUAL PROTOTYPE  /  16:9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EE4C9-C5F9-4E59-9060-0553C1D2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28775"/>
            <a:ext cx="1066800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617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55F95-4D7B-443E-B95B-1619FED4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04975"/>
            <a:ext cx="1051560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B61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0E98C-98AD-483C-801C-EE3EFC62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TRIAL-006  /  Codex CLI performance investigation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B4D20-F769-4046-9111-10067B6C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Observed influences in the training-production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6FC79-EE23-48FC-84B2-295E37CE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86075"/>
            <a:ext cx="3048000" cy="1724025"/>
          </a:xfrm>
          <a:prstGeom xmlns:a="http://schemas.openxmlformats.org/drawingml/2006/main" prst="roundRect">
            <a:avLst>
              <a:gd name="adj" fmla="val 884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632AB-872B-43F8-A602-B4C338D2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DC932-A600-4AF1-8B34-C531AE81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480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Performance investigation</a:t>
            </a:r>
          </a:p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in a disposable worktree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3F6A6-AF40-4AE4-920F-8D6920BD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956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1202C-DE23-400E-9A8A-1A4EFB48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86075"/>
            <a:ext cx="3048000" cy="1724025"/>
          </a:xfrm>
          <a:prstGeom xmlns:a="http://schemas.openxmlformats.org/drawingml/2006/main" prst="roundRect">
            <a:avLst>
              <a:gd name="adj" fmla="val 884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38122-EC20-49F6-8547-5F466009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670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AMBIENT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6D168-7E19-4A2F-9DEE-EAAEFB47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480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4 global Skills listed</a:t>
            </a:r>
          </a:p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Hook / config and MCP</a:t>
            </a:r>
          </a:p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startup warnings recorded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82312B-ADC0-4299-A357-E95E05C5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95675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0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0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C78FEC-638E-4028-8403-C4D7420A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86075"/>
            <a:ext cx="3086100" cy="1724025"/>
          </a:xfrm>
          <a:prstGeom xmlns:a="http://schemas.openxmlformats.org/drawingml/2006/main" prst="roundRect">
            <a:avLst>
              <a:gd name="adj" fmla="val 8840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96B291-AE67-40BA-A720-3B866FD4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670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ATTRIBUTION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07B3E8-3938-49B7-A529-A4A50B2F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48050"/>
            <a:ext cx="2705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PARTIAL</a:t>
            </a:r>
          </a:p>
          <a:p xmlns:a="http://schemas.openxmlformats.org/drawingml/2006/main">
            <a:pPr algn="l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Prompt-only effect</a:t>
            </a:r>
          </a:p>
          <a:p xmlns:a="http://schemas.openxmlformats.org/drawingml/2006/main">
            <a:pPr algn="l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not isolated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F0ADFF-EDE7-4191-95B2-2302A483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843368-3784-4998-8F09-52E94255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434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No MCP task result is evidenced. This is Meta evidence, not a Demo Product change.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288383-5E4C-4035-9C9E-94661B22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1009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Source: TRIAL-006 · DEC-0016 · DEC-0021</a:t>
            </a:r>
          </a:p>
        </p:txBody>
      </p:sp>
    </p:spTree>
    <p:extLst>
      <p:ext uri="{BB962C8B-B14F-4D97-AF65-F5344CB8AC3E}">
        <p14:creationId xmlns:p14="http://schemas.microsoft.com/office/powerpoint/2010/main" val="8079254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7A3B84-13DE-44F6-A567-CC772ABE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AI + CODEX  /  DEVELOPER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7BBCC-0A7B-4339-B898-F7201EA4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Project와 환경이 바뀌면 검증도 다시 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2EAF1-256B-4182-BCCF-C9F39C75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TEACHING MODEL  •  PRIMARY C++ VISION TRANSFER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23FB4-5D1B-41A3-9420-2731E35C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38250"/>
            <a:ext cx="2133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8054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8DF4E-84B4-450D-9D90-9BCE2193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477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PROTOTYPE COPY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89B1C-5264-43F7-995A-F02B281B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7ABB4-1699-495E-9CAA-1F652ED1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S72  •  ACT 4  •  PROTOTYPE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410D4-8F84-4B2E-88A4-13E3AA53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153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VISUAL PROTOTYPE  /  16:9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71374-65FD-4E16-B0B1-5FB6A48C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25241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C2BAF-640D-4EB5-82E8-63A359D2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571625"/>
            <a:ext cx="235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PYTHON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A7A16-CA7A-4C83-A599-49F6C0B6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62100"/>
            <a:ext cx="3238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9D383-9394-47CE-A5BF-19E3E9CD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57162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ENGINEERING PATTERN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B7F3DB-E4C9-44BF-9A9C-BC3F0A3C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6210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C180E-07B5-43C6-9B3D-933A4C32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571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C++ VISION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EE122-BE5D-4AC5-A66D-A51C9EDE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525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AC12A-ED1C-42F5-B8C4-801C55A7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525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DA2DD-59FC-44CC-9852-4DEE10DF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943100" cy="20193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0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8AA67A-B08B-4DF8-8779-5C7A47CA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952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D98746-9F3A-4BD6-9682-628492BF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2193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R1 · 0–1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148FA0-0586-4B21-834E-F1D1573D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4795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Project /</a:t>
            </a:r>
          </a:p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environment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AFC627-8B87-43AC-96DA-A95B869B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480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Assumption changes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768D3B-91AD-4EA3-A934-64AA926B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0512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06A09A-3570-46E8-8308-AC687493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76450"/>
            <a:ext cx="1943100" cy="20193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0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B50DBB-8ACB-4E2B-B42E-6ECDB667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09800"/>
            <a:ext cx="952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D09D56-3B53-41A8-ABB9-397875A0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2193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R2 · 1–2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09C12C-A477-46E8-935C-CEE7059E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64795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Observe</a:t>
            </a:r>
          </a:p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friction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20352F-DBCD-4CDF-89A4-9787EA07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480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State what changed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E150E2-7519-40C1-B8CC-9D7A3853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0512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621DFA-FD74-41FF-89F0-E62F3B27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76450"/>
            <a:ext cx="1943100" cy="20193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B6C22D-C842-43DD-874A-424B450B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09800"/>
            <a:ext cx="952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B34AC8-419A-4953-9B76-DA75F7C6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2193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R3 · 2–4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8040D1-A7B3-4C28-B2AA-82FFBDC6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64795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Assess</a:t>
            </a:r>
          </a:p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cause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74BF97-23CA-45BB-96B5-D8FADB91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4480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Facts ≠ hypothesis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F94845-5E0C-4422-93A8-8EA62D6D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90512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58D44C-3AF4-4020-ADBE-B26E8D78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76450"/>
            <a:ext cx="1943100" cy="20193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0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6780C9-8665-4C12-AD78-E6742A01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952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8C8E05-CC78-4B86-B244-163DB951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2193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R4 · 4–5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B72AFC-F833-4B75-A130-8F840702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4795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Change the</a:t>
            </a:r>
          </a:p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right layer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A1F54B-FA55-43B7-B615-F7BF2B4A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480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Match change to cause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65F939-D2CB-4A60-B5CF-B06B08A2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905125"/>
            <a:ext cx="209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0CDBBF-E32D-4276-8028-C32B5C87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76450"/>
            <a:ext cx="1943100" cy="201930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0D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332FB7-23EC-49AA-8E1B-8C92D252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09800"/>
            <a:ext cx="952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9AB297-5E47-4516-8893-6FC886E4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21932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R5 · 5–7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FB8CF3-E58A-4A45-88FD-3353B84B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647950"/>
            <a:ext cx="1657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Reverify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730ABB-A757-40C7-AA71-60F7A338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448050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Benchmark + regression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4BEE29-DB16-4B4A-A145-F004960E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58102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7"/>
          </a:solidFill>
          <a:ln xmlns:a="http://schemas.openxmlformats.org/drawingml/2006/main" w="16193">
            <a:solidFill>
              <a:srgbClr val="805400"/>
            </a:solidFill>
            <a:prstDash val="dash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A3E78E-2E23-4D9A-AF7B-3E23FCAD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CONCEPTUAL EXAMPLE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C55FCA-9FB3-4CB2-9AC1-099027C2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GPU architecture change → revisit assumptions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60CF12-DE67-4267-A80A-21DB4EF5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24475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Illustrative; no Product Trial is claimed.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023A53-A7BE-4616-8FB9-49EE8052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81500"/>
            <a:ext cx="4648200" cy="1266825"/>
          </a:xfrm>
          <a:prstGeom xmlns:a="http://schemas.openxmlformats.org/drawingml/2006/main" prst="roundRect">
            <a:avLst>
              <a:gd name="adj" fmla="val 1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C76367-A510-43FC-84A0-DD8E81D0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76750"/>
            <a:ext cx="419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R6  •  7–20 MIN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5B2F7B-8DBA-4B89-A3D6-36B06C87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339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Reflection 2 · Transition 4 · Q&amp;A 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ED521A-0870-4A86-9B2F-0984C5DC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10150"/>
            <a:ext cx="4191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어떤 증거가 기존 가정을</a:t>
            </a:r>
          </a:p>
          <a:p xmlns:a="http://schemas.openxmlformats.org/drawingml/2006/main">
            <a:pPr algn="l">
              <a:def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다시 살펴보게 할까?</a:t>
            </a:r>
          </a:p>
        </p:txBody>
      </p:sp>
    </p:spTree>
    <p:extLst>
      <p:ext uri="{BB962C8B-B14F-4D97-AF65-F5344CB8AC3E}">
        <p14:creationId xmlns:p14="http://schemas.microsoft.com/office/powerpoint/2010/main" val="4715335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12BC44-E5ED-4AFB-864E-A63A5DAC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AI + CODEX  /  DEVELOPER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23E35-6DA7-4BEA-9628-29815991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여섯 시간의 Story를 한 장으로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63266-7B14-49EB-80F2-78E4ED19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TEACHING MODEL  •  ONE PROBLEM-DRIVEN COURSE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99750-878B-44A6-B82A-D264F21F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238250"/>
            <a:ext cx="2133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8054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790E6-1B52-4732-90B1-653E13CB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247775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805400"/>
                </a:solidFill>
                <a:latin typeface="Malgun Gothic"/>
                <a:ea typeface="Malgun Gothic"/>
                <a:cs typeface="Malgun Gothic"/>
              </a:rPr>
              <a:t>PROTOTYPE COPY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535B7-ED4D-403D-AF94-6F1A39C2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FFFA3-C9F3-4E98-88D0-547283A8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S73  •  ACT 5  •  PROTOTYPE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735A2-6144-447E-A1F2-27CD2D9C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1531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 i="0">
                <a:solidFill>
                  <a:srgbClr val="4D5A68"/>
                </a:solidFill>
                <a:latin typeface="Malgun Gothic"/>
                <a:ea typeface="Malgun Gothic"/>
                <a:cs typeface="Malgun Gothic"/>
              </a:rPr>
              <a:t>VISUAL PROTOTYPE  /  16:9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AFB85-BE1A-4EDC-8C41-1F6CB7AF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2095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021B9-D467-4F36-875E-C8A9B56D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6478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TEACHING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368F0-6E6D-43EF-A099-82E77DEB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943100" cy="23050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0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48CC7-EF2F-4021-89B9-574E292F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C0AFF-A624-496C-AA58-97BC3178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CHATBOT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09385-EEC7-4670-8487-030C6904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1638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답과 아이디어를</a:t>
            </a:r>
          </a:p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얻는다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39CE8-9BE3-4E53-98A5-2182C445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908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EA4C0-892D-405E-81A2-128EB5EA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943100" cy="23050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0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DBDFD-A1CE-4890-8812-F298C06B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09C16-8188-4D6A-9A50-4C9F71E2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907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PROMPT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9266B-5136-4C55-BFA8-3B8743F1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62275"/>
            <a:ext cx="1638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현재 Task의</a:t>
            </a:r>
          </a:p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목표와 경계를 정한다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C82B5E-20E5-495F-8B74-3CFAB071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908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EC8AE5-F17C-42E6-96C5-C93B72CA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95500"/>
            <a:ext cx="1943100" cy="23050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0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3501C-9717-494A-B020-AD25F9CC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95500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045FB-F6F1-40D3-98F3-67FB970D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907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A83079-08FF-4F2C-923B-3BED85B1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62275"/>
            <a:ext cx="1638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필요한 Project</a:t>
            </a:r>
          </a:p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지식을 연결한다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F74ED-F046-4766-A802-227F67D6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9908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8C9CC3-E592-418D-86C1-24372734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95500"/>
            <a:ext cx="1943100" cy="23050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7D0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4C5670-C921-4A24-A0DC-55428967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95500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26CFDE-03C1-4C69-9DF3-4B2E014A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907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HARNESS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FCED72-ECBC-4B47-B7AF-290C0B9D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62275"/>
            <a:ext cx="1638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작업과 검증을</a:t>
            </a:r>
          </a:p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재사용 가능하게 한다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29CE64-C233-43B8-BF8D-D0D56C4C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990850"/>
            <a:ext cx="20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54E56F-62BE-48B1-8A60-E33F8BA7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943100" cy="23050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19050">
            <a:solidFill>
              <a:srgbClr val="0B617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F2CAD0-57B9-4C9E-940F-B2A66FB3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9431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1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26C49E-81FE-4C63-A35F-4BD616D4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907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LOOP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F974CD-6DC0-4F81-85D0-ABB06D5C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62275"/>
            <a:ext cx="1638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피드백으로</a:t>
            </a:r>
          </a:p>
          <a:p xmlns:a="http://schemas.openxmlformats.org/drawingml/2006/main">
            <a:pPr algn="l">
              <a:def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System을 개선한다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ECCD9A-0DB6-47B9-B640-1EA428D1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 i="0">
                <a:solidFill>
                  <a:srgbClr val="17212B"/>
                </a:solidFill>
                <a:latin typeface="Malgun Gothic"/>
                <a:ea typeface="Malgun Gothic"/>
                <a:cs typeface="Malgun Gothic"/>
              </a:rPr>
              <a:t>문제가 달라질 때마다 다음 Engineering 질문이 이어진다.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61BA7E-1C9C-4E17-B52F-3353D33D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19700"/>
            <a:ext cx="82296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AF1F3"/>
          </a:solidFill>
          <a:ln xmlns:a="http://schemas.openxmlformats.org/drawingml/2006/main" w="13335">
            <a:solidFill>
              <a:srgbClr val="C7D0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B7CB0C-1F06-4BC5-BE54-CAEEBBB9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53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6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 i="0">
                <a:solidFill>
                  <a:srgbClr val="0B6172"/>
                </a:solidFill>
                <a:latin typeface="Malgun Gothic"/>
                <a:ea typeface="Malgun Gothic"/>
                <a:cs typeface="Malgun Gothic"/>
              </a:rPr>
              <a:t>각 단계는 앞 단계를 대체하지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05851562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402336"/>
            <a:ext cx="5715000" cy="210312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D5A68"/>
                </a:solidFill>
                <a:latin typeface="Malgun Gothic"/>
              </a:rPr>
              <a:t>AI + CODEX  /  DEVELOPER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67512"/>
            <a:ext cx="10671048" cy="54864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>
                <a:solidFill>
                  <a:srgbClr val="17212B"/>
                </a:solidFill>
                <a:latin typeface="Malgun Gothic"/>
              </a:rPr>
              <a:t>조사에서 한 줄 변경까지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261872"/>
            <a:ext cx="7909560" cy="256032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B6172"/>
                </a:solidFill>
                <a:latin typeface="Malgun Gothic"/>
              </a:rPr>
              <a:t>OBSERVED PRODUCT  •  TRIAL-002  •  CODEX CLI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99448" y="1234440"/>
            <a:ext cx="2130552" cy="283464"/>
          </a:xfrm>
          <a:prstGeom prst="roundRect">
            <a:avLst>
              <a:gd name="adj" fmla="val 10000"/>
            </a:avLst>
          </a:prstGeom>
          <a:solidFill>
            <a:srgbClr val="F5F0E7"/>
          </a:solidFill>
          <a:ln w="10160">
            <a:solidFill>
              <a:srgbClr val="80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81744" y="1243584"/>
            <a:ext cx="1965960" cy="265176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>
                <a:solidFill>
                  <a:srgbClr val="805400"/>
                </a:solidFill>
                <a:latin typeface="Malgun Gothic"/>
              </a:rPr>
              <a:t>PROTOTYPE COPY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1627632"/>
            <a:ext cx="3383280" cy="13075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C7D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98264" y="1627632"/>
            <a:ext cx="3383280" cy="13075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C7D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37575" y="1627632"/>
            <a:ext cx="3392424" cy="13075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C7D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755648"/>
            <a:ext cx="2971800" cy="256032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B42318"/>
                </a:solidFill>
                <a:latin typeface="Malgun Gothic"/>
              </a:rPr>
              <a:t>FAILING TEST  ·  STATE-00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039112"/>
            <a:ext cx="2926080" cy="32004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212B"/>
                </a:solidFill>
                <a:latin typeface="Consolas"/>
              </a:rPr>
              <a:t>crop(1, 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432304"/>
            <a:ext cx="2944368" cy="27432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7212B"/>
                </a:solidFill>
                <a:latin typeface="Malgun Gothic"/>
              </a:rPr>
              <a:t>기대 2열  ·  관찰 3열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1755648"/>
            <a:ext cx="2953512" cy="256032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0B6172"/>
                </a:solidFill>
                <a:latin typeface="Malgun Gothic"/>
              </a:rPr>
              <a:t>OBSERVED CALL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039112"/>
            <a:ext cx="2971800" cy="32004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12B"/>
                </a:solidFill>
                <a:latin typeface="Malgun Gothic"/>
              </a:rPr>
              <a:t>CLI  →  pipeline  →  crop()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432304"/>
            <a:ext cx="2971800" cy="27432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D5A68"/>
                </a:solidFill>
                <a:latin typeface="Malgun Gothic"/>
              </a:rPr>
              <a:t>편집 전 호출 경로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755648"/>
            <a:ext cx="2944368" cy="256032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0B6172"/>
                </a:solidFill>
                <a:latin typeface="Malgun Gothic"/>
              </a:rPr>
              <a:t>PUBLIC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39112"/>
            <a:ext cx="2962656" cy="32004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212B"/>
                </a:solidFill>
                <a:latin typeface="Consolas"/>
              </a:rPr>
              <a:t>[x_start, x_end)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432304"/>
            <a:ext cx="2962656" cy="27432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D5A68"/>
                </a:solidFill>
                <a:latin typeface="Malgun Gothic"/>
              </a:rPr>
              <a:t>끝 좌표 x_end는 제외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3136392"/>
            <a:ext cx="5285232" cy="206654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C7D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44768" y="3136392"/>
            <a:ext cx="5285232" cy="206654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0B61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7" y="3227832"/>
            <a:ext cx="4846320" cy="256032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4D5A68"/>
                </a:solidFill>
                <a:latin typeface="Malgun Gothic"/>
              </a:rPr>
              <a:t>BEFORE  ·  STATE-00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227832"/>
            <a:ext cx="4846320" cy="256032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0B6172"/>
                </a:solidFill>
                <a:latin typeface="Malgun Gothic"/>
              </a:rPr>
              <a:t>AFTER  ·  TRIAL-002 ISOLATED DIFF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3" y="3648456"/>
            <a:ext cx="4636008" cy="27432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Consolas"/>
              </a:rPr>
              <a:t>pixels = tuple(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648456"/>
            <a:ext cx="4636008" cy="27432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Consolas"/>
              </a:rPr>
              <a:t>pixels = tuple(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" y="3936491"/>
            <a:ext cx="4855464" cy="310896"/>
          </a:xfrm>
          <a:prstGeom prst="rect">
            <a:avLst/>
          </a:prstGeom>
          <a:solidFill>
            <a:srgbClr val="F9EEEE"/>
          </a:solidFill>
          <a:ln w="1270">
            <a:solidFill>
              <a:srgbClr val="F9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28232" y="3936491"/>
            <a:ext cx="4855464" cy="310896"/>
          </a:xfrm>
          <a:prstGeom prst="rect">
            <a:avLst/>
          </a:prstGeom>
          <a:solidFill>
            <a:srgbClr val="EAF4F0"/>
          </a:solidFill>
          <a:ln w="1270">
            <a:solidFill>
              <a:srgbClr val="EAF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3" y="3959352"/>
            <a:ext cx="4636008" cy="27432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12B"/>
                </a:solidFill>
                <a:latin typeface="Consolas"/>
              </a:rPr>
              <a:t>  tuple(row[x_start : x_end + 1])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959352"/>
            <a:ext cx="4636008" cy="27432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7212B"/>
                </a:solidFill>
                <a:latin typeface="Consolas"/>
              </a:rPr>
              <a:t>  tuple(row[x_start : x_end])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4270248"/>
            <a:ext cx="4636008" cy="27432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Consolas"/>
              </a:rPr>
              <a:t>    for row in image.pixels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270248"/>
            <a:ext cx="4636008" cy="27432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Consolas"/>
              </a:rPr>
              <a:t>    for row in image.pixels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3" y="4581144"/>
            <a:ext cx="4636008" cy="27432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Consolas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581144"/>
            <a:ext cx="4636008" cy="27432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212B"/>
                </a:solidFill>
                <a:latin typeface="Consolas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7" y="4928616"/>
            <a:ext cx="4846320" cy="22860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B42318"/>
                </a:solidFill>
                <a:latin typeface="Malgun Gothic"/>
              </a:rPr>
              <a:t>BOUNDARY INCLUDES x_end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4928616"/>
            <a:ext cx="4846320" cy="22860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76B4D"/>
                </a:solidFill>
                <a:latin typeface="Malgun Gothic"/>
              </a:rPr>
              <a:t>BOUNDARY EXCLUDES x_end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2" y="5340096"/>
            <a:ext cx="10671048" cy="356616"/>
          </a:xfrm>
          <a:prstGeom prst="roundRect">
            <a:avLst>
              <a:gd name="adj" fmla="val 10000"/>
            </a:avLst>
          </a:prstGeom>
          <a:solidFill>
            <a:srgbClr val="E9F1F3"/>
          </a:solidFill>
          <a:ln w="10160">
            <a:solidFill>
              <a:srgbClr val="C7D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5376672"/>
            <a:ext cx="6903720" cy="27432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0B6172"/>
                </a:solidFill>
                <a:latin typeface="Malgun Gothic"/>
              </a:rPr>
              <a:t>BEFORE EDIT · crop slice의 끝 경계만 바꾼다는 계획을 먼저 표시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10144" y="5404104"/>
            <a:ext cx="10972" cy="228600"/>
          </a:xfrm>
          <a:prstGeom prst="rect">
            <a:avLst/>
          </a:prstGeom>
          <a:solidFill>
            <a:srgbClr val="C7D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5376672"/>
            <a:ext cx="2999232" cy="27432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17212B"/>
                </a:solidFill>
                <a:latin typeface="Malgun Gothic"/>
              </a:rPr>
              <a:t>NEXT · S17에서 검증 결과 확인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" y="5733288"/>
            <a:ext cx="10671048" cy="22860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4D5A68"/>
                </a:solidFill>
                <a:latin typeface="Malgun Gothic"/>
              </a:rPr>
              <a:t>Source: TRIAL-002 · editable source excerpt, reflowed; not a screenshot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" y="6099048"/>
            <a:ext cx="10671048" cy="9144"/>
          </a:xfrm>
          <a:prstGeom prst="rect">
            <a:avLst/>
          </a:prstGeom>
          <a:solidFill>
            <a:srgbClr val="C7D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2" y="6153912"/>
            <a:ext cx="5330952" cy="22860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4D5A68"/>
                </a:solidFill>
                <a:latin typeface="Malgun Gothic"/>
              </a:rPr>
              <a:t>S16  •  ACT 1  •  PROTOTYPE COPY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4464" y="6153912"/>
            <a:ext cx="3145536" cy="228600"/>
          </a:xfrm>
          <a:prstGeom prst="rect">
            <a:avLst/>
          </a:prstGeom>
          <a:noFill/>
        </p:spPr>
        <p:txBody>
          <a:bodyPr wrap="none" lIns="0" rIns="0" tIns="9144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>
                <a:solidFill>
                  <a:srgbClr val="4D5A68"/>
                </a:solidFill>
                <a:latin typeface="Malgun Gothic"/>
              </a:rPr>
              <a:t>VISUAL PROTOTYPE  /  16:9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2026-10-10T12:17:51.1310000Z</dcterms:created>
  <dcterms:modified xsi:type="dcterms:W3CDTF">2026-10-10T12:17:51.1310000Z</dcterms:modified>
</coreProperties>
</file>